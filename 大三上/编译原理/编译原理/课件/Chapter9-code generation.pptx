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</p:sldMasterIdLst>
  <p:notesMasterIdLst>
    <p:notesMasterId r:id="rId52"/>
  </p:notesMasterIdLst>
  <p:handoutMasterIdLst>
    <p:handoutMasterId r:id="rId53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305" r:id="rId20"/>
    <p:sldId id="276" r:id="rId21"/>
    <p:sldId id="277" r:id="rId22"/>
    <p:sldId id="278" r:id="rId23"/>
    <p:sldId id="279" r:id="rId24"/>
    <p:sldId id="280" r:id="rId25"/>
    <p:sldId id="281" r:id="rId26"/>
    <p:sldId id="304" r:id="rId27"/>
    <p:sldId id="275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6" r:id="rId51"/>
  </p:sldIdLst>
  <p:sldSz cx="9144000" cy="6858000" type="screen4x3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7770" autoAdjust="0"/>
  </p:normalViewPr>
  <p:slideViewPr>
    <p:cSldViewPr>
      <p:cViewPr varScale="1">
        <p:scale>
          <a:sx n="77" d="100"/>
          <a:sy n="77" d="100"/>
        </p:scale>
        <p:origin x="126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8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D9AC45B-DE1E-418C-8383-56220417C1B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614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50938" y="684213"/>
            <a:ext cx="4556125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14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614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614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81C2F4C-34D5-4D1B-9C43-D423ADFA761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wif.uniba.it/lei/foldop/foldoc.cgi?NP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swif.uniba.it/lei/foldop/foldoc.cgi?polynomial" TargetMode="External"/><Relationship Id="rId5" Type="http://schemas.openxmlformats.org/officeDocument/2006/relationships/hyperlink" Target="http://www.swif.uniba.it/lei/foldop/foldoc.cgi?Turing+Machine" TargetMode="External"/><Relationship Id="rId4" Type="http://schemas.openxmlformats.org/officeDocument/2006/relationships/hyperlink" Target="http://www.swif.uniba.it/lei/foldop/foldoc.cgi?non-deterministic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5FF467-22C1-49E3-89BE-04290025A527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3645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“simple is fast”</a:t>
            </a:r>
          </a:p>
          <a:p>
            <a:r>
              <a:rPr lang="en-US" altLang="zh-CN">
                <a:hlinkClick r:id="rId3"/>
              </a:rPr>
              <a:t>NP</a:t>
            </a:r>
            <a:r>
              <a:rPr lang="en-US" altLang="zh-CN"/>
              <a:t> (a </a:t>
            </a:r>
            <a:r>
              <a:rPr lang="en-US" altLang="zh-CN">
                <a:hlinkClick r:id="rId4"/>
              </a:rPr>
              <a:t>non-deterministic</a:t>
            </a:r>
            <a:r>
              <a:rPr lang="en-US" altLang="zh-CN"/>
              <a:t> </a:t>
            </a:r>
            <a:r>
              <a:rPr lang="en-US" altLang="zh-CN">
                <a:hlinkClick r:id="rId5"/>
              </a:rPr>
              <a:t>Turing Machine</a:t>
            </a:r>
            <a:r>
              <a:rPr lang="en-US" altLang="zh-CN"/>
              <a:t> in </a:t>
            </a:r>
            <a:r>
              <a:rPr lang="en-US" altLang="zh-CN">
                <a:hlinkClick r:id="rId6"/>
              </a:rPr>
              <a:t>polynomial</a:t>
            </a:r>
            <a:r>
              <a:rPr lang="en-US" altLang="zh-CN"/>
              <a:t> time)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A9BE35-2119-4BAB-A672-1B1435B791CE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3655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indexed address mode : offset(sp); *+sp(offset)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B43D80-16DA-4550-B892-298FD1F65487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3624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distinct</a:t>
            </a:r>
            <a:r>
              <a:rPr lang="zh-CN" altLang="en-US"/>
              <a:t>清楚的</a:t>
            </a:r>
            <a:r>
              <a:rPr lang="en-US" altLang="zh-CN"/>
              <a:t>, </a:t>
            </a:r>
            <a:r>
              <a:rPr lang="zh-CN" altLang="en-US"/>
              <a:t>明显的</a:t>
            </a:r>
            <a:r>
              <a:rPr lang="en-US" altLang="zh-CN"/>
              <a:t>, </a:t>
            </a:r>
            <a:r>
              <a:rPr lang="zh-CN" altLang="en-US"/>
              <a:t>截然不同的</a:t>
            </a:r>
            <a:r>
              <a:rPr lang="en-US" altLang="zh-CN"/>
              <a:t>, </a:t>
            </a:r>
            <a:r>
              <a:rPr lang="zh-CN" altLang="en-US"/>
              <a:t>独特的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4B378C-03AA-4334-9DD3-A456128BB14A}" type="slidenum">
              <a:rPr lang="zh-CN" altLang="en-US"/>
              <a:pPr/>
              <a:t>40</a:t>
            </a:fld>
            <a:endParaRPr lang="en-US" altLang="zh-CN"/>
          </a:p>
        </p:txBody>
      </p:sp>
      <p:sp>
        <p:nvSpPr>
          <p:cNvPr id="3676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MOV x, R0</a:t>
            </a:r>
          </a:p>
          <a:p>
            <a:r>
              <a:rPr lang="en-US" altLang="zh-CN"/>
              <a:t>SUB y, R0</a:t>
            </a:r>
          </a:p>
          <a:p>
            <a:r>
              <a:rPr lang="en-US" altLang="zh-CN"/>
              <a:t>CJ&lt; z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470BC3-74A9-4158-B0E6-2AB1541205C8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3686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CMP x, y</a:t>
            </a:r>
          </a:p>
          <a:p>
            <a:r>
              <a:rPr lang="en-US" altLang="zh-CN"/>
              <a:t>CJ&lt; z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3584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5841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 anchor="b"/>
          <a:lstStyle>
            <a:lvl1pPr eaLnBrk="1" hangingPunct="1"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5841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 anchor="b"/>
          <a:lstStyle>
            <a:lvl1pPr eaLnBrk="1" hangingPunct="1"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35841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 anchor="b"/>
          <a:lstStyle>
            <a:lvl1pPr eaLnBrk="1" hangingPunct="1"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fld id="{4C7978EF-417E-49AB-A0F9-1433BD19D08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F59F0D-5748-44D8-B7A3-05EA291DCA7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9955965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DCA627-1B7B-4059-86E5-2E61AC85AF2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5648238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219200"/>
            <a:ext cx="4495800" cy="5105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495800" cy="5105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B6CBE5-441B-466F-B7BA-022B57AC564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193951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6EA407-9025-4177-938E-8FC53CEB903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5007170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C7656E-A9BD-4E08-A37D-2618569AAD4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1428801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4BD712-E6A8-4925-BAE4-826698A3DC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8212051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2B885-21DC-4FE1-88C1-8E478F4E1AC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1615503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43B61-15F9-41C8-B56A-78FE677128F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473113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B549B6-FEA4-482F-B0E7-51EF93A55BD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8687895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2EB13F-8B2D-4372-9089-0FEB16FF7E2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4554983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219200"/>
            <a:ext cx="9144000" cy="24765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0" y="3848100"/>
            <a:ext cx="9144000" cy="24765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228600" y="6477000"/>
            <a:ext cx="1725613" cy="228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627313" y="6477000"/>
            <a:ext cx="3624262" cy="228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180263" y="6477000"/>
            <a:ext cx="1735137" cy="152400"/>
          </a:xfrm>
        </p:spPr>
        <p:txBody>
          <a:bodyPr/>
          <a:lstStyle>
            <a:lvl1pPr>
              <a:defRPr/>
            </a:lvl1pPr>
          </a:lstStyle>
          <a:p>
            <a:fld id="{8777BF83-D3E1-4E84-AD08-126FBC85D45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1343779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458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3573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573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77000"/>
            <a:ext cx="17256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800">
                <a:latin typeface="Times New Roman" panose="02020603050405020304" pitchFamily="18" charset="0"/>
              </a:defRPr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57393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27313" y="6477000"/>
            <a:ext cx="36242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800">
                <a:latin typeface="Times New Roman" panose="02020603050405020304" pitchFamily="18" charset="0"/>
              </a:defRPr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35739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80263" y="6477000"/>
            <a:ext cx="17351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latin typeface="Times New Roman" panose="02020603050405020304" pitchFamily="18" charset="0"/>
              </a:defRPr>
            </a:lvl1pPr>
          </a:lstStyle>
          <a:p>
            <a:fld id="{20DFEF7D-87AB-4A8A-BC61-8505AB1662C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ransition>
    <p:random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83D41-A060-4D07-BED4-DB74B20CDC3A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242692" name="Rectangle 4"/>
          <p:cNvSpPr>
            <a:spLocks noGrp="1" noChangeArrowheads="1"/>
          </p:cNvSpPr>
          <p:nvPr>
            <p:ph type="title"/>
          </p:nvPr>
        </p:nvSpPr>
        <p:spPr>
          <a:xfrm>
            <a:off x="1085850" y="152400"/>
            <a:ext cx="7207250" cy="914400"/>
          </a:xfrm>
        </p:spPr>
        <p:txBody>
          <a:bodyPr/>
          <a:lstStyle/>
          <a:p>
            <a:pPr algn="ctr"/>
            <a:r>
              <a:rPr lang="en-US" altLang="zh-CN"/>
              <a:t>Code Generation (P.513)</a:t>
            </a:r>
          </a:p>
        </p:txBody>
      </p:sp>
      <p:pic>
        <p:nvPicPr>
          <p:cNvPr id="242700" name="Picture 12" descr="cg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505200"/>
            <a:ext cx="8229600" cy="1930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2703" name="Rectangle 15"/>
          <p:cNvSpPr>
            <a:spLocks noChangeArrowheads="1"/>
          </p:cNvSpPr>
          <p:nvPr/>
        </p:nvSpPr>
        <p:spPr bwMode="auto">
          <a:xfrm>
            <a:off x="609600" y="1371600"/>
            <a:ext cx="75819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/>
              <a:t>The final phase is the code generator.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The requirements on a code generator are severe.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B5763-0999-40BB-9CC4-291ECE048ECE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/>
              <a:t>Code Generator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772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Severe requirements imposed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Output must be correct and high quality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Generator should run efficiently</a:t>
            </a:r>
          </a:p>
          <a:p>
            <a:pPr>
              <a:lnSpc>
                <a:spcPct val="90000"/>
              </a:lnSpc>
            </a:pPr>
            <a:r>
              <a:rPr lang="en-US" altLang="zh-CN"/>
              <a:t>Generating optimal code is undecidable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Must rely on heuristic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Choice of heuristic very important</a:t>
            </a:r>
          </a:p>
          <a:p>
            <a:pPr>
              <a:lnSpc>
                <a:spcPct val="90000"/>
              </a:lnSpc>
            </a:pPr>
            <a:r>
              <a:rPr lang="en-US" altLang="zh-CN"/>
              <a:t>Details are dependent on target language and operating system</a:t>
            </a:r>
          </a:p>
          <a:p>
            <a:pPr>
              <a:lnSpc>
                <a:spcPct val="90000"/>
              </a:lnSpc>
            </a:pPr>
            <a:r>
              <a:rPr lang="en-US" altLang="zh-CN"/>
              <a:t>Certain generic issues are inherent in the design of basically all code generators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804C9-DDA9-4EB4-83E3-5DA379272279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 sz="4000"/>
              <a:t>Input to Code Generator (P.514)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5819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The input to the code generator consists of: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Intermediate code produced by the front end (and perhaps optimizer)</a:t>
            </a:r>
          </a:p>
          <a:p>
            <a:pPr lvl="2">
              <a:lnSpc>
                <a:spcPct val="90000"/>
              </a:lnSpc>
            </a:pPr>
            <a:r>
              <a:rPr lang="en-US" altLang="zh-CN" sz="2000"/>
              <a:t>Remember that intermediate code can come in many forms</a:t>
            </a:r>
          </a:p>
          <a:p>
            <a:pPr lvl="2">
              <a:lnSpc>
                <a:spcPct val="90000"/>
              </a:lnSpc>
            </a:pPr>
            <a:r>
              <a:rPr lang="en-US" altLang="zh-CN" sz="2000"/>
              <a:t>We are concentrating on three-address code but several techniques apply to other possibilities as well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Information in the symbol table (used to determine run-time addresses of data objects)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The code generator typically assumes that: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The input is free of errors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Type checking has taken place and necessary type-conversion operators have already been inserted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C6933-4D8A-4C9A-AD2B-7837F3CFD33B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93038" cy="1143000"/>
          </a:xfrm>
        </p:spPr>
        <p:txBody>
          <a:bodyPr/>
          <a:lstStyle/>
          <a:p>
            <a:pPr algn="ctr"/>
            <a:r>
              <a:rPr lang="en-US" altLang="zh-CN" sz="4000"/>
              <a:t>Output of Code Generator (P.514)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5819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The target program is the output of the code generator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Can take a variety of forms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absolute machine language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relocatable machine language</a:t>
            </a:r>
          </a:p>
          <a:p>
            <a:pPr lvl="2">
              <a:lnSpc>
                <a:spcPct val="90000"/>
              </a:lnSpc>
            </a:pPr>
            <a:r>
              <a:rPr lang="en-US" altLang="zh-CN" sz="2000"/>
              <a:t>Can compile subprograms separately</a:t>
            </a:r>
          </a:p>
          <a:p>
            <a:pPr lvl="2">
              <a:lnSpc>
                <a:spcPct val="90000"/>
              </a:lnSpc>
            </a:pPr>
            <a:r>
              <a:rPr lang="en-US" altLang="zh-CN" sz="2000"/>
              <a:t>Added expense of linking and loading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assembly language</a:t>
            </a:r>
          </a:p>
          <a:p>
            <a:pPr lvl="2">
              <a:lnSpc>
                <a:spcPct val="90000"/>
              </a:lnSpc>
            </a:pPr>
            <a:r>
              <a:rPr lang="en-US" altLang="zh-CN" sz="2000"/>
              <a:t>Makes task of code generation simpler</a:t>
            </a:r>
          </a:p>
          <a:p>
            <a:pPr lvl="2">
              <a:lnSpc>
                <a:spcPct val="90000"/>
              </a:lnSpc>
            </a:pPr>
            <a:r>
              <a:rPr lang="en-US" altLang="zh-CN" sz="2000"/>
              <a:t>Added cost of assembly phase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7180-06A9-4071-A519-C6BCD7E33EDF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1066800"/>
          </a:xfrm>
        </p:spPr>
        <p:txBody>
          <a:bodyPr/>
          <a:lstStyle/>
          <a:p>
            <a:pPr algn="ctr"/>
            <a:r>
              <a:rPr lang="en-US" altLang="zh-CN"/>
              <a:t>Memory Management (P.515)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153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Compiler must map names in source code to addresses of data objects at run-time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Done cooperatively by front-end and code generator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Generator uses information in symbol table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If machine code is being generated: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Labels in three-address statements need to be converted to addresses of instructions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Process is analogous to backpatching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1AE6-454E-4BA0-AF3F-401ABA964A26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93038" cy="1066800"/>
          </a:xfrm>
        </p:spPr>
        <p:txBody>
          <a:bodyPr/>
          <a:lstStyle/>
          <a:p>
            <a:pPr algn="ctr"/>
            <a:r>
              <a:rPr lang="en-US" altLang="zh-CN" sz="4000"/>
              <a:t>Instruction Selection (1) (P.516)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001000" cy="4876800"/>
          </a:xfrm>
        </p:spPr>
        <p:txBody>
          <a:bodyPr/>
          <a:lstStyle/>
          <a:p>
            <a:r>
              <a:rPr lang="en-US" altLang="zh-CN" sz="2800"/>
              <a:t>Obviously this depends on the nature of the instruction set</a:t>
            </a:r>
          </a:p>
          <a:p>
            <a:r>
              <a:rPr lang="en-US" altLang="zh-CN" sz="2800"/>
              <a:t>If efficiency is not a concern, instruction selection is straight-forward</a:t>
            </a:r>
          </a:p>
          <a:p>
            <a:pPr lvl="1"/>
            <a:r>
              <a:rPr lang="en-US" altLang="zh-CN" sz="2400"/>
              <a:t>For each type of three-address statement, there is a code skeleton outlines target code</a:t>
            </a:r>
          </a:p>
          <a:p>
            <a:pPr lvl="1"/>
            <a:r>
              <a:rPr lang="en-US" altLang="zh-CN" sz="2400"/>
              <a:t>Example, </a:t>
            </a:r>
            <a:r>
              <a:rPr lang="en-US" altLang="zh-CN" sz="2400">
                <a:latin typeface="Courier New" panose="02070309020205020404" pitchFamily="49" charset="0"/>
              </a:rPr>
              <a:t>x := y + z</a:t>
            </a:r>
            <a:r>
              <a:rPr lang="en-US" altLang="zh-CN" sz="2400"/>
              <a:t>, where </a:t>
            </a:r>
            <a:r>
              <a:rPr lang="en-US" altLang="zh-CN" sz="2400">
                <a:latin typeface="Courier New" panose="02070309020205020404" pitchFamily="49" charset="0"/>
              </a:rPr>
              <a:t>x</a:t>
            </a:r>
            <a:r>
              <a:rPr lang="en-US" altLang="zh-CN" sz="2400"/>
              <a:t>, </a:t>
            </a:r>
            <a:r>
              <a:rPr lang="en-US" altLang="zh-CN" sz="2400">
                <a:latin typeface="Courier New" panose="02070309020205020404" pitchFamily="49" charset="0"/>
              </a:rPr>
              <a:t>y</a:t>
            </a:r>
            <a:r>
              <a:rPr lang="en-US" altLang="zh-CN" sz="2400"/>
              <a:t>, and </a:t>
            </a:r>
            <a:r>
              <a:rPr lang="en-US" altLang="zh-CN" sz="2400">
                <a:latin typeface="Courier New" panose="02070309020205020404" pitchFamily="49" charset="0"/>
              </a:rPr>
              <a:t>z</a:t>
            </a:r>
            <a:r>
              <a:rPr lang="en-US" altLang="zh-CN" sz="2400"/>
              <a:t> are statically located, can be translated as: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MOV R0,y /* load y into register r0 */</a:t>
            </a:r>
          </a:p>
          <a:p>
            <a:pPr lvl="2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ADD R0,R0,z /* add z to r0 */</a:t>
            </a:r>
          </a:p>
          <a:p>
            <a:pPr lvl="2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MOV x,R0 /* store R0 into x */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84AD-11CB-4F57-9C1F-09834CED78B2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algn="ctr"/>
            <a:r>
              <a:rPr lang="en-US" altLang="zh-CN"/>
              <a:t>Instruction Selection (2)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5029200"/>
          </a:xfrm>
        </p:spPr>
        <p:txBody>
          <a:bodyPr/>
          <a:lstStyle/>
          <a:p>
            <a:r>
              <a:rPr lang="en-US" altLang="zh-CN" sz="2800"/>
              <a:t>Often, the straight-forward technique produces poor code:</a:t>
            </a:r>
          </a:p>
          <a:p>
            <a:endParaRPr lang="en-US" altLang="zh-CN" sz="2800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 sz="2800"/>
              <a:t>A na</a:t>
            </a:r>
            <a:r>
              <a:rPr lang="en-US" altLang="zh-CN" sz="2800">
                <a:latin typeface="Arial" panose="020B0604020202020204" pitchFamily="34" charset="0"/>
              </a:rPr>
              <a:t>ï</a:t>
            </a:r>
            <a:r>
              <a:rPr lang="en-US" altLang="zh-CN" sz="2800"/>
              <a:t>ve translation may lead to correct but unacceptably inefficient target code:</a:t>
            </a:r>
          </a:p>
        </p:txBody>
      </p:sp>
      <p:sp>
        <p:nvSpPr>
          <p:cNvPr id="249860" name="Text Box 4"/>
          <p:cNvSpPr txBox="1">
            <a:spLocks noChangeArrowheads="1"/>
          </p:cNvSpPr>
          <p:nvPr/>
        </p:nvSpPr>
        <p:spPr bwMode="auto">
          <a:xfrm>
            <a:off x="1981200" y="2667000"/>
            <a:ext cx="16002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Courier New" panose="02070309020205020404" pitchFamily="49" charset="0"/>
              </a:rPr>
              <a:t>a := b + c</a:t>
            </a:r>
          </a:p>
          <a:p>
            <a:r>
              <a:rPr lang="en-US" altLang="zh-CN">
                <a:latin typeface="Courier New" panose="02070309020205020404" pitchFamily="49" charset="0"/>
              </a:rPr>
              <a:t>d := a + e</a:t>
            </a:r>
          </a:p>
        </p:txBody>
      </p:sp>
      <p:sp>
        <p:nvSpPr>
          <p:cNvPr id="249861" name="Text Box 5"/>
          <p:cNvSpPr txBox="1">
            <a:spLocks noChangeArrowheads="1"/>
          </p:cNvSpPr>
          <p:nvPr/>
        </p:nvSpPr>
        <p:spPr bwMode="auto">
          <a:xfrm>
            <a:off x="5334000" y="2133600"/>
            <a:ext cx="2057400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Courier New" panose="02070309020205020404" pitchFamily="49" charset="0"/>
              </a:rPr>
              <a:t>MOV R0, b</a:t>
            </a:r>
          </a:p>
          <a:p>
            <a:r>
              <a:rPr lang="en-US" altLang="zh-CN">
                <a:latin typeface="Courier New" panose="02070309020205020404" pitchFamily="49" charset="0"/>
              </a:rPr>
              <a:t>ADD R0,R0,c</a:t>
            </a:r>
          </a:p>
          <a:p>
            <a:r>
              <a:rPr lang="en-US" altLang="zh-CN">
                <a:latin typeface="Courier New" panose="02070309020205020404" pitchFamily="49" charset="0"/>
              </a:rPr>
              <a:t>MOV a, R0</a:t>
            </a:r>
          </a:p>
          <a:p>
            <a:r>
              <a:rPr lang="en-US" altLang="zh-CN">
                <a:latin typeface="Courier New" panose="02070309020205020404" pitchFamily="49" charset="0"/>
              </a:rPr>
              <a:t>MOV R0, a</a:t>
            </a:r>
          </a:p>
          <a:p>
            <a:r>
              <a:rPr lang="en-US" altLang="zh-CN">
                <a:latin typeface="Courier New" panose="02070309020205020404" pitchFamily="49" charset="0"/>
              </a:rPr>
              <a:t>ADD R0,R0,e</a:t>
            </a:r>
          </a:p>
          <a:p>
            <a:r>
              <a:rPr lang="en-US" altLang="zh-CN">
                <a:latin typeface="Courier New" panose="02070309020205020404" pitchFamily="49" charset="0"/>
              </a:rPr>
              <a:t>MOV d, R0</a:t>
            </a:r>
          </a:p>
        </p:txBody>
      </p:sp>
      <p:sp>
        <p:nvSpPr>
          <p:cNvPr id="249862" name="Line 6"/>
          <p:cNvSpPr>
            <a:spLocks noChangeShapeType="1"/>
          </p:cNvSpPr>
          <p:nvPr/>
        </p:nvSpPr>
        <p:spPr bwMode="auto">
          <a:xfrm>
            <a:off x="4038600" y="2971800"/>
            <a:ext cx="838200" cy="0"/>
          </a:xfrm>
          <a:prstGeom prst="line">
            <a:avLst/>
          </a:prstGeom>
          <a:noFill/>
          <a:ln w="889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864" name="Text Box 8"/>
          <p:cNvSpPr txBox="1">
            <a:spLocks noChangeArrowheads="1"/>
          </p:cNvSpPr>
          <p:nvPr/>
        </p:nvSpPr>
        <p:spPr bwMode="auto">
          <a:xfrm>
            <a:off x="5334000" y="5105400"/>
            <a:ext cx="2286000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Courier New" panose="02070309020205020404" pitchFamily="49" charset="0"/>
              </a:rPr>
              <a:t>MOV R0, a</a:t>
            </a:r>
          </a:p>
          <a:p>
            <a:r>
              <a:rPr lang="en-US" altLang="zh-CN">
                <a:latin typeface="Courier New" panose="02070309020205020404" pitchFamily="49" charset="0"/>
              </a:rPr>
              <a:t>ADD R0,R0,#1</a:t>
            </a:r>
          </a:p>
          <a:p>
            <a:r>
              <a:rPr lang="en-US" altLang="zh-CN">
                <a:latin typeface="Courier New" panose="02070309020205020404" pitchFamily="49" charset="0"/>
              </a:rPr>
              <a:t>MOV a, R0</a:t>
            </a:r>
          </a:p>
        </p:txBody>
      </p:sp>
      <p:sp>
        <p:nvSpPr>
          <p:cNvPr id="249865" name="Line 9"/>
          <p:cNvSpPr>
            <a:spLocks noChangeShapeType="1"/>
          </p:cNvSpPr>
          <p:nvPr/>
        </p:nvSpPr>
        <p:spPr bwMode="auto">
          <a:xfrm>
            <a:off x="4038600" y="5562600"/>
            <a:ext cx="838200" cy="0"/>
          </a:xfrm>
          <a:prstGeom prst="line">
            <a:avLst/>
          </a:prstGeom>
          <a:noFill/>
          <a:ln w="889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866" name="Text Box 10"/>
          <p:cNvSpPr txBox="1">
            <a:spLocks noChangeArrowheads="1"/>
          </p:cNvSpPr>
          <p:nvPr/>
        </p:nvSpPr>
        <p:spPr bwMode="auto">
          <a:xfrm>
            <a:off x="1981200" y="5334000"/>
            <a:ext cx="16002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Courier New" panose="02070309020205020404" pitchFamily="49" charset="0"/>
              </a:rPr>
              <a:t>a := a + 1</a:t>
            </a:r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4572000" y="6096000"/>
            <a:ext cx="2905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/>
              <a:t>(efficient code: </a:t>
            </a:r>
            <a:r>
              <a:rPr lang="en-US" altLang="zh-CN" sz="2000">
                <a:solidFill>
                  <a:schemeClr val="hlink"/>
                </a:solidFill>
              </a:rPr>
              <a:t>INC a</a:t>
            </a:r>
            <a:r>
              <a:rPr lang="en-US" altLang="zh-CN" sz="2000"/>
              <a:t>)</a:t>
            </a:r>
            <a:endParaRPr lang="zh-CN" altLang="en-US" sz="2000"/>
          </a:p>
        </p:txBody>
      </p:sp>
      <p:sp>
        <p:nvSpPr>
          <p:cNvPr id="249868" name="Rectangle 12"/>
          <p:cNvSpPr>
            <a:spLocks noChangeArrowheads="1"/>
          </p:cNvSpPr>
          <p:nvPr/>
        </p:nvSpPr>
        <p:spPr bwMode="auto">
          <a:xfrm>
            <a:off x="1219200" y="3581400"/>
            <a:ext cx="3429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hlink"/>
                </a:solidFill>
              </a:rPr>
              <a:t>Compare ARM assemble codes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1B3D2-956B-4C33-8877-202421785B2E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93038" cy="1066800"/>
          </a:xfrm>
        </p:spPr>
        <p:txBody>
          <a:bodyPr/>
          <a:lstStyle/>
          <a:p>
            <a:pPr algn="ctr"/>
            <a:r>
              <a:rPr lang="en-US" altLang="zh-CN"/>
              <a:t>Register Allocation (P.517)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0772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/>
              <a:t>Instructions are usually faster if operands are in registers instead of memory</a:t>
            </a:r>
          </a:p>
          <a:p>
            <a:pPr>
              <a:lnSpc>
                <a:spcPct val="80000"/>
              </a:lnSpc>
            </a:pPr>
            <a:r>
              <a:rPr lang="en-US" altLang="zh-CN" sz="2800"/>
              <a:t>Efficient utilization of registers is important in generating good code</a:t>
            </a:r>
          </a:p>
          <a:p>
            <a:pPr>
              <a:lnSpc>
                <a:spcPct val="80000"/>
              </a:lnSpc>
            </a:pPr>
            <a:r>
              <a:rPr lang="en-US" altLang="zh-CN" sz="2800"/>
              <a:t>Register allocation selects the set of variables that will reside in registers</a:t>
            </a:r>
          </a:p>
          <a:p>
            <a:pPr>
              <a:lnSpc>
                <a:spcPct val="80000"/>
              </a:lnSpc>
            </a:pPr>
            <a:r>
              <a:rPr lang="en-US" altLang="zh-CN" sz="2800"/>
              <a:t>A register assignment phase picks the specific register in which a variable resides</a:t>
            </a:r>
          </a:p>
          <a:p>
            <a:pPr>
              <a:lnSpc>
                <a:spcPct val="80000"/>
              </a:lnSpc>
            </a:pPr>
            <a:r>
              <a:rPr lang="en-US" altLang="zh-CN" sz="2800"/>
              <a:t>Finding an optimal assignment of registers to variables is difficult 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The problem is NP-complete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Certain machines require register-pairs for certain operators and results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4AFF5-5DB3-4D90-9B0D-ACE8D6A9A4AB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93038" cy="1066800"/>
          </a:xfrm>
        </p:spPr>
        <p:txBody>
          <a:bodyPr/>
          <a:lstStyle/>
          <a:p>
            <a:pPr algn="ctr"/>
            <a:r>
              <a:rPr lang="en-US" altLang="zh-CN"/>
              <a:t>The Target Machine (P.519)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153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Familiarity with instruction set of target is a prerequisite for good code generation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Textbook uses a representative assembly language of a representative target computer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solidFill>
                  <a:schemeClr val="folHlink"/>
                </a:solidFill>
              </a:rPr>
              <a:t>Byte-addressable machine with four bytes to a word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solidFill>
                  <a:schemeClr val="folHlink"/>
                </a:solidFill>
              </a:rPr>
              <a:t>Machine uses </a:t>
            </a:r>
            <a:r>
              <a:rPr lang="en-US" altLang="zh-CN" sz="2000">
                <a:solidFill>
                  <a:schemeClr val="folHlink"/>
                </a:solidFill>
                <a:latin typeface="Courier New" panose="02070309020205020404" pitchFamily="49" charset="0"/>
              </a:rPr>
              <a:t>n</a:t>
            </a:r>
            <a:r>
              <a:rPr lang="en-US" altLang="zh-CN" sz="2000">
                <a:solidFill>
                  <a:schemeClr val="folHlink"/>
                </a:solidFill>
              </a:rPr>
              <a:t> general-purpose registers </a:t>
            </a:r>
            <a:r>
              <a:rPr lang="en-US" altLang="zh-CN" sz="2000">
                <a:solidFill>
                  <a:schemeClr val="folHlink"/>
                </a:solidFill>
                <a:latin typeface="Courier New" panose="02070309020205020404" pitchFamily="49" charset="0"/>
              </a:rPr>
              <a:t>R0</a:t>
            </a:r>
            <a:r>
              <a:rPr lang="en-US" altLang="zh-CN" sz="2000">
                <a:solidFill>
                  <a:schemeClr val="folHlink"/>
                </a:solidFill>
              </a:rPr>
              <a:t>, </a:t>
            </a:r>
            <a:r>
              <a:rPr lang="en-US" altLang="zh-CN" sz="2000">
                <a:solidFill>
                  <a:schemeClr val="folHlink"/>
                </a:solidFill>
                <a:latin typeface="Courier New" panose="02070309020205020404" pitchFamily="49" charset="0"/>
              </a:rPr>
              <a:t>R1</a:t>
            </a:r>
            <a:r>
              <a:rPr lang="en-US" altLang="zh-CN" sz="2000">
                <a:solidFill>
                  <a:schemeClr val="folHlink"/>
                </a:solidFill>
              </a:rPr>
              <a:t>, </a:t>
            </a:r>
            <a:r>
              <a:rPr lang="en-US" altLang="zh-CN" sz="2000">
                <a:solidFill>
                  <a:schemeClr val="folHlink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000">
                <a:solidFill>
                  <a:schemeClr val="folHlink"/>
                </a:solidFill>
              </a:rPr>
              <a:t> </a:t>
            </a:r>
            <a:r>
              <a:rPr lang="en-US" altLang="zh-CN" sz="2000">
                <a:solidFill>
                  <a:schemeClr val="folHlink"/>
                </a:solidFill>
                <a:latin typeface="Courier New" panose="02070309020205020404" pitchFamily="49" charset="0"/>
              </a:rPr>
              <a:t>Rn-1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solidFill>
                  <a:schemeClr val="folHlink"/>
                </a:solidFill>
              </a:rPr>
              <a:t>Three-address instructions of form: </a:t>
            </a:r>
          </a:p>
          <a:p>
            <a:pPr lvl="2">
              <a:lnSpc>
                <a:spcPct val="90000"/>
              </a:lnSpc>
            </a:pPr>
            <a:r>
              <a:rPr lang="en-US" altLang="zh-CN" sz="1800" b="1">
                <a:solidFill>
                  <a:schemeClr val="hlink"/>
                </a:solidFill>
                <a:latin typeface="Courier New" panose="02070309020205020404" pitchFamily="49" charset="0"/>
              </a:rPr>
              <a:t>op destination,source1,source2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solidFill>
                  <a:schemeClr val="folHlink"/>
                </a:solidFill>
              </a:rPr>
              <a:t>The op-codes include </a:t>
            </a:r>
            <a:r>
              <a:rPr lang="en-US" altLang="zh-CN" sz="2000">
                <a:solidFill>
                  <a:schemeClr val="folHlink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000">
                <a:solidFill>
                  <a:schemeClr val="folHlink"/>
                </a:solidFill>
              </a:rPr>
              <a:t>, </a:t>
            </a:r>
            <a:r>
              <a:rPr lang="en-US" altLang="zh-CN" sz="2000">
                <a:solidFill>
                  <a:schemeClr val="folHlink"/>
                </a:solidFill>
                <a:latin typeface="Courier New" panose="02070309020205020404" pitchFamily="49" charset="0"/>
              </a:rPr>
              <a:t>ADD</a:t>
            </a:r>
            <a:r>
              <a:rPr lang="en-US" altLang="zh-CN" sz="2000">
                <a:solidFill>
                  <a:schemeClr val="folHlink"/>
                </a:solidFill>
              </a:rPr>
              <a:t>, and </a:t>
            </a:r>
            <a:r>
              <a:rPr lang="en-US" altLang="zh-CN" sz="2000">
                <a:solidFill>
                  <a:schemeClr val="folHlink"/>
                </a:solidFill>
                <a:latin typeface="Courier New" panose="02070309020205020404" pitchFamily="49" charset="0"/>
              </a:rPr>
              <a:t>SUB</a:t>
            </a:r>
            <a:r>
              <a:rPr lang="en-US" altLang="zh-CN" sz="2000">
                <a:solidFill>
                  <a:schemeClr val="folHlink"/>
                </a:solidFill>
              </a:rPr>
              <a:t> (among others)</a:t>
            </a:r>
            <a:endParaRPr lang="en-US" altLang="zh-CN" sz="200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>
                <a:solidFill>
                  <a:schemeClr val="folHlink"/>
                </a:solidFill>
              </a:rPr>
              <a:t>Certain bit patterns in source and destination fields specify that words following instruction contain operands and/or addresses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Techniques discussed are more general and have been used on several classes of machines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7DF9-E18D-49D8-902F-56C7D11EE16B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253956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50238" cy="1066800"/>
          </a:xfrm>
        </p:spPr>
        <p:txBody>
          <a:bodyPr/>
          <a:lstStyle/>
          <a:p>
            <a:pPr algn="ctr"/>
            <a:r>
              <a:rPr lang="en-US" altLang="zh-CN" sz="4000"/>
              <a:t>Address Modes of Sample Machine</a:t>
            </a:r>
          </a:p>
        </p:txBody>
      </p:sp>
      <p:graphicFrame>
        <p:nvGraphicFramePr>
          <p:cNvPr id="254052" name="Group 100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332788" cy="4532313"/>
        </p:xfrm>
        <a:graphic>
          <a:graphicData uri="http://schemas.openxmlformats.org/drawingml/2006/table">
            <a:tbl>
              <a:tblPr/>
              <a:tblGrid>
                <a:gridCol w="2005013">
                  <a:extLst>
                    <a:ext uri="{9D8B030D-6E8A-4147-A177-3AD203B41FA5}">
                      <a16:colId xmlns:a16="http://schemas.microsoft.com/office/drawing/2014/main" val="872993708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3031093678"/>
                    </a:ext>
                  </a:extLst>
                </a:gridCol>
                <a:gridCol w="2778125">
                  <a:extLst>
                    <a:ext uri="{9D8B030D-6E8A-4147-A177-3AD203B41FA5}">
                      <a16:colId xmlns:a16="http://schemas.microsoft.com/office/drawing/2014/main" val="67315722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90649073"/>
                    </a:ext>
                  </a:extLst>
                </a:gridCol>
              </a:tblGrid>
              <a:tr h="190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MODE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ADDRESS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ADDED COST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30940"/>
                  </a:ext>
                </a:extLst>
              </a:tr>
              <a:tr h="190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absolute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494808"/>
                  </a:ext>
                </a:extLst>
              </a:tr>
              <a:tr h="190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register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857300"/>
                  </a:ext>
                </a:extLst>
              </a:tr>
              <a:tr h="190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indexed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[R,#c]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[R],#c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contents(R)+ 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contents(R)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535549"/>
                  </a:ext>
                </a:extLst>
              </a:tr>
              <a:tr h="190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indirect register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[R]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contents(R)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786116"/>
                  </a:ext>
                </a:extLst>
              </a:tr>
              <a:tr h="190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indirect indexed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*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c(R)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contents(c + contents(R))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410603"/>
                  </a:ext>
                </a:extLst>
              </a:tr>
              <a:tr h="190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494646"/>
                  </a:ext>
                </a:extLst>
              </a:tr>
              <a:tr h="190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MODE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CONSTANT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ADDED COST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188645"/>
                  </a:ext>
                </a:extLst>
              </a:tr>
              <a:tr h="190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literal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13318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83C56-BE73-4D8E-ADEC-34C68EC7E31F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93038" cy="1066800"/>
          </a:xfrm>
        </p:spPr>
        <p:txBody>
          <a:bodyPr/>
          <a:lstStyle/>
          <a:p>
            <a:pPr algn="ctr"/>
            <a:r>
              <a:rPr lang="en-US" altLang="zh-CN"/>
              <a:t>Instruction Costs (P.520)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924800" cy="4724400"/>
          </a:xfrm>
        </p:spPr>
        <p:txBody>
          <a:bodyPr/>
          <a:lstStyle/>
          <a:p>
            <a:r>
              <a:rPr lang="en-US" altLang="zh-CN" sz="2800"/>
              <a:t>Cost of instruction for sample computer is:</a:t>
            </a:r>
          </a:p>
          <a:p>
            <a:pPr lvl="1"/>
            <a:r>
              <a:rPr lang="en-US" altLang="zh-CN" sz="2400"/>
              <a:t>Equal to one plus the costs associated with the source and destination address modes</a:t>
            </a:r>
          </a:p>
          <a:p>
            <a:pPr lvl="1"/>
            <a:r>
              <a:rPr lang="en-US" altLang="zh-CN" sz="2400"/>
              <a:t>Corresponds to the length (in words) of the instruction</a:t>
            </a:r>
          </a:p>
          <a:p>
            <a:pPr lvl="1"/>
            <a:r>
              <a:rPr lang="en-US" altLang="zh-CN" sz="2400"/>
              <a:t>Address modes involving registers have cost zero</a:t>
            </a:r>
          </a:p>
          <a:p>
            <a:pPr lvl="1"/>
            <a:r>
              <a:rPr lang="en-US" altLang="zh-CN" sz="2400"/>
              <a:t>Those with memory location or literal have cost one since operands have to be stored with instruction</a:t>
            </a:r>
          </a:p>
          <a:p>
            <a:r>
              <a:rPr lang="en-US" altLang="zh-CN" sz="2800"/>
              <a:t>Time taken to fetch instruction often exceeds time spent executing instruction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7A91-05BE-4DB0-8340-D83E3DEE947B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93038" cy="1066800"/>
          </a:xfrm>
        </p:spPr>
        <p:txBody>
          <a:bodyPr/>
          <a:lstStyle/>
          <a:p>
            <a:pPr algn="ctr"/>
            <a:r>
              <a:rPr lang="en-US" altLang="zh-CN"/>
              <a:t>Example</a:t>
            </a:r>
            <a:endParaRPr lang="en-US" altLang="zh-CN">
              <a:latin typeface="Courier New" panose="02070309020205020404" pitchFamily="49" charset="0"/>
            </a:endParaRPr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077200" cy="4953000"/>
          </a:xfrm>
        </p:spPr>
        <p:txBody>
          <a:bodyPr/>
          <a:lstStyle/>
          <a:p>
            <a:pPr marL="381000" indent="-381000">
              <a:lnSpc>
                <a:spcPct val="80000"/>
              </a:lnSpc>
            </a:pPr>
            <a:r>
              <a:rPr lang="en-US" altLang="zh-CN" sz="2400"/>
              <a:t>The following solution has cost 6:</a:t>
            </a:r>
          </a:p>
          <a:p>
            <a:pPr marL="800100" lvl="1" indent="-3429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MOV R0, b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ADD R0,R0,c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MOV a, R0</a:t>
            </a:r>
          </a:p>
          <a:p>
            <a:pPr marL="381000" indent="-381000">
              <a:lnSpc>
                <a:spcPct val="80000"/>
              </a:lnSpc>
            </a:pPr>
            <a:r>
              <a:rPr lang="en-US" altLang="zh-CN" sz="2400"/>
              <a:t>The following solution also has cost 6:</a:t>
            </a:r>
          </a:p>
          <a:p>
            <a:pPr marL="800100" lvl="1" indent="-3429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MOV a, b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ADD a,a,c</a:t>
            </a:r>
          </a:p>
          <a:p>
            <a:pPr marL="381000" indent="-381000">
              <a:lnSpc>
                <a:spcPct val="80000"/>
              </a:lnSpc>
            </a:pPr>
            <a:r>
              <a:rPr lang="en-US" altLang="zh-CN" sz="2400"/>
              <a:t>If </a:t>
            </a:r>
            <a:r>
              <a:rPr lang="en-US" altLang="zh-CN" sz="2400">
                <a:latin typeface="Courier New" panose="02070309020205020404" pitchFamily="49" charset="0"/>
              </a:rPr>
              <a:t>R0</a:t>
            </a:r>
            <a:r>
              <a:rPr lang="en-US" altLang="zh-CN" sz="2400"/>
              <a:t>, </a:t>
            </a:r>
            <a:r>
              <a:rPr lang="en-US" altLang="zh-CN" sz="2400">
                <a:latin typeface="Courier New" panose="02070309020205020404" pitchFamily="49" charset="0"/>
              </a:rPr>
              <a:t>R1</a:t>
            </a:r>
            <a:r>
              <a:rPr lang="en-US" altLang="zh-CN" sz="2400"/>
              <a:t>, and </a:t>
            </a:r>
            <a:r>
              <a:rPr lang="en-US" altLang="zh-CN" sz="2400">
                <a:latin typeface="Courier New" panose="02070309020205020404" pitchFamily="49" charset="0"/>
              </a:rPr>
              <a:t>R2</a:t>
            </a:r>
            <a:r>
              <a:rPr lang="en-US" altLang="zh-CN" sz="2400"/>
              <a:t> contain the addresses of </a:t>
            </a:r>
            <a:r>
              <a:rPr lang="en-US" altLang="zh-CN" sz="2400">
                <a:latin typeface="Courier New" panose="02070309020205020404" pitchFamily="49" charset="0"/>
              </a:rPr>
              <a:t>a</a:t>
            </a:r>
            <a:r>
              <a:rPr lang="en-US" altLang="zh-CN" sz="2400"/>
              <a:t>, </a:t>
            </a:r>
            <a:r>
              <a:rPr lang="en-US" altLang="zh-CN" sz="2400">
                <a:latin typeface="Courier New" panose="02070309020205020404" pitchFamily="49" charset="0"/>
              </a:rPr>
              <a:t>b</a:t>
            </a:r>
            <a:r>
              <a:rPr lang="en-US" altLang="zh-CN" sz="2400"/>
              <a:t>, and </a:t>
            </a:r>
            <a:r>
              <a:rPr lang="en-US" altLang="zh-CN" sz="2400">
                <a:latin typeface="Courier New" panose="02070309020205020404" pitchFamily="49" charset="0"/>
              </a:rPr>
              <a:t>c</a:t>
            </a:r>
            <a:r>
              <a:rPr lang="en-US" altLang="zh-CN" sz="2400"/>
              <a:t>, respectively, the cost can be reduced to 2:</a:t>
            </a:r>
          </a:p>
          <a:p>
            <a:pPr marL="800100" lvl="1" indent="-3429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MOV [R0], [R1]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ADD [R0],[R0],[R2]</a:t>
            </a:r>
          </a:p>
          <a:p>
            <a:pPr marL="381000" indent="-381000">
              <a:lnSpc>
                <a:spcPct val="80000"/>
              </a:lnSpc>
            </a:pPr>
            <a:r>
              <a:rPr lang="en-US" altLang="zh-CN" sz="2400"/>
              <a:t>If </a:t>
            </a:r>
            <a:r>
              <a:rPr lang="en-US" altLang="zh-CN" sz="2400">
                <a:latin typeface="Courier New" panose="02070309020205020404" pitchFamily="49" charset="0"/>
              </a:rPr>
              <a:t>R1</a:t>
            </a:r>
            <a:r>
              <a:rPr lang="en-US" altLang="zh-CN" sz="2400"/>
              <a:t> and </a:t>
            </a:r>
            <a:r>
              <a:rPr lang="en-US" altLang="zh-CN" sz="2400">
                <a:latin typeface="Courier New" panose="02070309020205020404" pitchFamily="49" charset="0"/>
              </a:rPr>
              <a:t>R2</a:t>
            </a:r>
            <a:r>
              <a:rPr lang="en-US" altLang="zh-CN" sz="2400"/>
              <a:t> contain the values of </a:t>
            </a:r>
            <a:r>
              <a:rPr lang="en-US" altLang="zh-CN" sz="2400">
                <a:latin typeface="Courier New" panose="02070309020205020404" pitchFamily="49" charset="0"/>
              </a:rPr>
              <a:t>b</a:t>
            </a:r>
            <a:r>
              <a:rPr lang="en-US" altLang="zh-CN" sz="2400"/>
              <a:t> and </a:t>
            </a:r>
            <a:r>
              <a:rPr lang="en-US" altLang="zh-CN" sz="2400">
                <a:latin typeface="Courier New" panose="02070309020205020404" pitchFamily="49" charset="0"/>
              </a:rPr>
              <a:t>c</a:t>
            </a:r>
            <a:r>
              <a:rPr lang="en-US" altLang="zh-CN" sz="2400"/>
              <a:t>, respectively, and </a:t>
            </a:r>
            <a:r>
              <a:rPr lang="en-US" altLang="zh-CN" sz="2400">
                <a:latin typeface="Courier New" panose="02070309020205020404" pitchFamily="49" charset="0"/>
              </a:rPr>
              <a:t>b</a:t>
            </a:r>
            <a:r>
              <a:rPr lang="en-US" altLang="zh-CN" sz="2400"/>
              <a:t> is not needed again, the cost can be reduced to 3:</a:t>
            </a:r>
          </a:p>
          <a:p>
            <a:pPr marL="800100" lvl="1" indent="-3429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ADD R1,R2,R1</a:t>
            </a:r>
          </a:p>
          <a:p>
            <a:pPr marL="800100" lvl="1" indent="-34290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MOV a, R1</a:t>
            </a:r>
          </a:p>
        </p:txBody>
      </p:sp>
      <p:sp>
        <p:nvSpPr>
          <p:cNvPr id="257028" name="Rectangle 4"/>
          <p:cNvSpPr>
            <a:spLocks noChangeArrowheads="1"/>
          </p:cNvSpPr>
          <p:nvPr/>
        </p:nvSpPr>
        <p:spPr bwMode="auto">
          <a:xfrm>
            <a:off x="6400800" y="11430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2"/>
                </a:solidFill>
              </a:rPr>
              <a:t>a := b + c</a:t>
            </a:r>
            <a:endParaRPr lang="zh-CN" altLang="en-US" sz="24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16757-0978-4347-893E-9A26D90F368D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001000" cy="990600"/>
          </a:xfrm>
        </p:spPr>
        <p:txBody>
          <a:bodyPr/>
          <a:lstStyle/>
          <a:p>
            <a:pPr algn="ctr"/>
            <a:r>
              <a:rPr lang="en-US" altLang="zh-CN" sz="3600"/>
              <a:t>Run-time storage management (P.522)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9248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Activation records store information needed during the execution of a procedure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Two possible storage-allocation strategies for activation records are: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static allocation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stack allocation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An activation record has fields which hold: 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result and parameters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machine-status information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local data and temporaries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Size and layout of activation records are communicated to code generator via information in the symbol table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39472-C050-42DB-A431-F21E0671A21F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93038" cy="1066800"/>
          </a:xfrm>
        </p:spPr>
        <p:txBody>
          <a:bodyPr/>
          <a:lstStyle/>
          <a:p>
            <a:pPr algn="ctr"/>
            <a:r>
              <a:rPr lang="en-US" altLang="zh-CN"/>
              <a:t>Sample of Activation Records</a:t>
            </a:r>
          </a:p>
        </p:txBody>
      </p:sp>
      <p:sp>
        <p:nvSpPr>
          <p:cNvPr id="26010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19200"/>
            <a:ext cx="8077200" cy="1989138"/>
          </a:xfrm>
        </p:spPr>
        <p:txBody>
          <a:bodyPr/>
          <a:lstStyle/>
          <a:p>
            <a:r>
              <a:rPr lang="en-US" altLang="zh-CN" sz="2800"/>
              <a:t>Assume that run-time memory has areas for code, static data, and optionally a stack</a:t>
            </a:r>
          </a:p>
          <a:p>
            <a:r>
              <a:rPr lang="en-US" altLang="zh-CN" sz="2800"/>
              <a:t>Heap is not being used in these examples</a:t>
            </a:r>
          </a:p>
          <a:p>
            <a:endParaRPr lang="zh-CN" altLang="en-US" sz="2800"/>
          </a:p>
        </p:txBody>
      </p:sp>
      <p:pic>
        <p:nvPicPr>
          <p:cNvPr id="260102" name="Picture 6" descr="ars"/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2971800"/>
            <a:ext cx="6756400" cy="2698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0103" name="Rectangle 7"/>
          <p:cNvSpPr>
            <a:spLocks noChangeArrowheads="1"/>
          </p:cNvSpPr>
          <p:nvPr/>
        </p:nvSpPr>
        <p:spPr bwMode="auto">
          <a:xfrm>
            <a:off x="2819400" y="5867400"/>
            <a:ext cx="3551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Fig.9.4 Input to a code generator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96727-3D3D-45EE-B0F5-8EDE3CA47995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/>
              <a:t>Static Allocation (P.522)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2296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A </a:t>
            </a:r>
            <a:r>
              <a:rPr lang="en-US" altLang="zh-CN" sz="2800">
                <a:latin typeface="Courier New" panose="02070309020205020404" pitchFamily="49" charset="0"/>
              </a:rPr>
              <a:t>call</a:t>
            </a:r>
            <a:r>
              <a:rPr lang="en-US" altLang="zh-CN" sz="2800"/>
              <a:t> statement in the intermediate code is implemented by two target-machine instructions: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MOV callee.static_area, #here+20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GOTO callee.code_area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The </a:t>
            </a:r>
            <a:r>
              <a:rPr lang="en-US" altLang="zh-CN" sz="2800">
                <a:latin typeface="Courier New" panose="02070309020205020404" pitchFamily="49" charset="0"/>
              </a:rPr>
              <a:t>MOV</a:t>
            </a:r>
            <a:r>
              <a:rPr lang="en-US" altLang="zh-CN" sz="2800"/>
              <a:t> instruction saves the return address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The </a:t>
            </a:r>
            <a:r>
              <a:rPr lang="en-US" altLang="zh-CN" sz="2800">
                <a:latin typeface="Courier New" panose="02070309020205020404" pitchFamily="49" charset="0"/>
              </a:rPr>
              <a:t>GOTO</a:t>
            </a:r>
            <a:r>
              <a:rPr lang="en-US" altLang="zh-CN" sz="2800"/>
              <a:t> statement transfers control to the target code of the called procedure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A return statement in the intermediate code is implemented by one target-machine instruction: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GOTO *callee.static_area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312-81A8-4B5D-99BE-0055198FEAF1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762000"/>
          </a:xfrm>
        </p:spPr>
        <p:txBody>
          <a:bodyPr/>
          <a:lstStyle/>
          <a:p>
            <a:pPr algn="ctr"/>
            <a:r>
              <a:rPr lang="en-US" altLang="zh-CN"/>
              <a:t>Sample Code</a:t>
            </a:r>
          </a:p>
        </p:txBody>
      </p:sp>
      <p:sp>
        <p:nvSpPr>
          <p:cNvPr id="263172" name="Text Box 4"/>
          <p:cNvSpPr txBox="1">
            <a:spLocks noChangeArrowheads="1"/>
          </p:cNvSpPr>
          <p:nvPr/>
        </p:nvSpPr>
        <p:spPr bwMode="auto">
          <a:xfrm>
            <a:off x="457200" y="1060450"/>
            <a:ext cx="8305800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latin typeface="Courier New" panose="02070309020205020404" pitchFamily="49" charset="0"/>
              </a:rPr>
              <a:t>                     </a:t>
            </a:r>
            <a:r>
              <a:rPr lang="en-US" altLang="zh-CN">
                <a:latin typeface="Courier New" panose="02070309020205020404" pitchFamily="49" charset="0"/>
              </a:rPr>
              <a:t>/* code for c */</a:t>
            </a:r>
          </a:p>
          <a:p>
            <a:r>
              <a:rPr lang="en-US" altLang="zh-CN">
                <a:latin typeface="Courier New" panose="02070309020205020404" pitchFamily="49" charset="0"/>
              </a:rPr>
              <a:t>100:  action1</a:t>
            </a:r>
          </a:p>
          <a:p>
            <a:r>
              <a:rPr lang="en-US" altLang="zh-CN">
                <a:latin typeface="Courier New" panose="02070309020205020404" pitchFamily="49" charset="0"/>
              </a:rPr>
              <a:t>120:  MOV 364, #140  /* save return address 140 */</a:t>
            </a:r>
          </a:p>
          <a:p>
            <a:r>
              <a:rPr lang="en-US" altLang="zh-CN">
                <a:latin typeface="Courier New" panose="02070309020205020404" pitchFamily="49" charset="0"/>
              </a:rPr>
              <a:t>132:  GOTO 200       /* call p */</a:t>
            </a:r>
          </a:p>
          <a:p>
            <a:r>
              <a:rPr lang="en-US" altLang="zh-CN">
                <a:latin typeface="Courier New" panose="02070309020205020404" pitchFamily="49" charset="0"/>
              </a:rPr>
              <a:t>140:  action2</a:t>
            </a:r>
          </a:p>
          <a:p>
            <a:r>
              <a:rPr lang="en-US" altLang="zh-CN">
                <a:latin typeface="Courier New" panose="02070309020205020404" pitchFamily="49" charset="0"/>
              </a:rPr>
              <a:t>160:  HALT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    …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                   /* code for p */</a:t>
            </a:r>
          </a:p>
          <a:p>
            <a:r>
              <a:rPr lang="en-US" altLang="zh-CN">
                <a:latin typeface="Courier New" panose="02070309020205020404" pitchFamily="49" charset="0"/>
              </a:rPr>
              <a:t>200:  action3</a:t>
            </a:r>
          </a:p>
          <a:p>
            <a:r>
              <a:rPr lang="en-US" altLang="zh-CN">
                <a:latin typeface="Courier New" panose="02070309020205020404" pitchFamily="49" charset="0"/>
              </a:rPr>
              <a:t>220:  GOTO *364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    …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                   /* 300-363: activation record for c */</a:t>
            </a:r>
          </a:p>
          <a:p>
            <a:r>
              <a:rPr lang="en-US" altLang="zh-CN">
                <a:latin typeface="Courier New" panose="02070309020205020404" pitchFamily="49" charset="0"/>
              </a:rPr>
              <a:t>300:                 /* return address */</a:t>
            </a:r>
          </a:p>
          <a:p>
            <a:r>
              <a:rPr lang="en-US" altLang="zh-CN">
                <a:latin typeface="Courier New" panose="02070309020205020404" pitchFamily="49" charset="0"/>
              </a:rPr>
              <a:t>304:                 /* local data for c */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    …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                   /* 364–451: activation record for p */</a:t>
            </a:r>
          </a:p>
          <a:p>
            <a:r>
              <a:rPr lang="en-US" altLang="zh-CN">
                <a:latin typeface="Courier New" panose="02070309020205020404" pitchFamily="49" charset="0"/>
              </a:rPr>
              <a:t>364: 140             /* return address */</a:t>
            </a:r>
          </a:p>
          <a:p>
            <a:r>
              <a:rPr lang="en-US" altLang="zh-CN">
                <a:latin typeface="Courier New" panose="02070309020205020404" pitchFamily="49" charset="0"/>
              </a:rPr>
              <a:t>368:                 /* local data for p */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6D44-F434-4FE0-B3D0-1B0FDA18FBAA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/>
              <a:t>Stack Allocation (1) (P.524)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r>
              <a:rPr lang="en-US" altLang="zh-CN" sz="2800"/>
              <a:t>Stack allocation uses relative addresses for storage in activation records</a:t>
            </a:r>
          </a:p>
          <a:p>
            <a:pPr lvl="1"/>
            <a:r>
              <a:rPr lang="en-US" altLang="zh-CN" sz="2400"/>
              <a:t>Address can be offset from any known position in activation record</a:t>
            </a:r>
          </a:p>
          <a:p>
            <a:pPr lvl="1"/>
            <a:r>
              <a:rPr lang="en-US" altLang="zh-CN" sz="2400"/>
              <a:t>Book uses positive offset from </a:t>
            </a:r>
            <a:r>
              <a:rPr lang="en-US" altLang="zh-CN" sz="2400">
                <a:latin typeface="Courier New" panose="02070309020205020404" pitchFamily="49" charset="0"/>
              </a:rPr>
              <a:t>SP</a:t>
            </a:r>
            <a:r>
              <a:rPr lang="en-US" altLang="zh-CN" sz="2400"/>
              <a:t>, a pointer to beginning of activation record at top of stack</a:t>
            </a:r>
          </a:p>
          <a:p>
            <a:r>
              <a:rPr lang="en-US" altLang="zh-CN" sz="2800"/>
              <a:t>The position of an activation record is not known until run-time</a:t>
            </a:r>
          </a:p>
          <a:p>
            <a:pPr lvl="1"/>
            <a:r>
              <a:rPr lang="en-US" altLang="zh-CN" sz="2400"/>
              <a:t>This position is usually stored in a register</a:t>
            </a:r>
          </a:p>
          <a:p>
            <a:pPr lvl="1"/>
            <a:r>
              <a:rPr lang="en-US" altLang="zh-CN" sz="2400"/>
              <a:t>The indexed address mode is convenient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6A00E-7A1F-419B-8DF7-398694EEAABD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620000" cy="990600"/>
          </a:xfrm>
        </p:spPr>
        <p:txBody>
          <a:bodyPr/>
          <a:lstStyle/>
          <a:p>
            <a:pPr algn="ctr"/>
            <a:r>
              <a:rPr lang="en-US" altLang="zh-CN"/>
              <a:t>Stack Allocation (2)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001000" cy="4419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The code for the first procedure initializes the stack: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MOV SP, #stackstart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…code for the first procedure…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HALT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A procedure call increments </a:t>
            </a:r>
            <a:r>
              <a:rPr lang="en-US" altLang="zh-CN" sz="2400">
                <a:latin typeface="Courier New" panose="02070309020205020404" pitchFamily="49" charset="0"/>
              </a:rPr>
              <a:t>SP</a:t>
            </a:r>
            <a:r>
              <a:rPr lang="en-US" altLang="zh-CN" sz="2400"/>
              <a:t>, saves the return address, and transfers control: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ADD SP,SP, #caller.recordsize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MOV SP, #here+16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GOTO callee.code_area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A return sequence has two parts: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First control is transferred to the return address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GOTO [SP,#0]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Next, in the caller, SP is restored to its previous value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SUB SP,SP, #caller.recordsize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2914A-01C3-41F5-8DCF-1F7535CC8454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685800"/>
          </a:xfrm>
        </p:spPr>
        <p:txBody>
          <a:bodyPr/>
          <a:lstStyle/>
          <a:p>
            <a:r>
              <a:rPr lang="en-US" altLang="zh-CN"/>
              <a:t>Activation record in stack</a:t>
            </a:r>
          </a:p>
        </p:txBody>
      </p:sp>
      <p:grpSp>
        <p:nvGrpSpPr>
          <p:cNvPr id="366618" name="Group 26"/>
          <p:cNvGrpSpPr>
            <a:grpSpLocks/>
          </p:cNvGrpSpPr>
          <p:nvPr/>
        </p:nvGrpSpPr>
        <p:grpSpPr bwMode="auto">
          <a:xfrm>
            <a:off x="1981200" y="2057400"/>
            <a:ext cx="4579938" cy="3924300"/>
            <a:chOff x="1104" y="1200"/>
            <a:chExt cx="2885" cy="2472"/>
          </a:xfrm>
        </p:grpSpPr>
        <p:sp>
          <p:nvSpPr>
            <p:cNvPr id="366596" name="Line 4"/>
            <p:cNvSpPr>
              <a:spLocks noChangeShapeType="1"/>
            </p:cNvSpPr>
            <p:nvPr/>
          </p:nvSpPr>
          <p:spPr bwMode="auto">
            <a:xfrm>
              <a:off x="2016" y="1344"/>
              <a:ext cx="0" cy="2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597" name="Line 5"/>
            <p:cNvSpPr>
              <a:spLocks noChangeShapeType="1"/>
            </p:cNvSpPr>
            <p:nvPr/>
          </p:nvSpPr>
          <p:spPr bwMode="auto">
            <a:xfrm>
              <a:off x="3360" y="1344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598" name="Line 6"/>
            <p:cNvSpPr>
              <a:spLocks noChangeShapeType="1"/>
            </p:cNvSpPr>
            <p:nvPr/>
          </p:nvSpPr>
          <p:spPr bwMode="auto">
            <a:xfrm>
              <a:off x="2016" y="206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599" name="Line 7"/>
            <p:cNvSpPr>
              <a:spLocks noChangeShapeType="1"/>
            </p:cNvSpPr>
            <p:nvPr/>
          </p:nvSpPr>
          <p:spPr bwMode="auto">
            <a:xfrm>
              <a:off x="2016" y="278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00" name="Line 8"/>
            <p:cNvSpPr>
              <a:spLocks noChangeShapeType="1"/>
            </p:cNvSpPr>
            <p:nvPr/>
          </p:nvSpPr>
          <p:spPr bwMode="auto">
            <a:xfrm>
              <a:off x="2016" y="297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05" name="Freeform 13"/>
            <p:cNvSpPr>
              <a:spLocks/>
            </p:cNvSpPr>
            <p:nvPr/>
          </p:nvSpPr>
          <p:spPr bwMode="auto">
            <a:xfrm>
              <a:off x="2024" y="3417"/>
              <a:ext cx="1333" cy="255"/>
            </a:xfrm>
            <a:custGeom>
              <a:avLst/>
              <a:gdLst>
                <a:gd name="T0" fmla="*/ 0 w 1333"/>
                <a:gd name="T1" fmla="*/ 143 h 255"/>
                <a:gd name="T2" fmla="*/ 24 w 1333"/>
                <a:gd name="T3" fmla="*/ 135 h 255"/>
                <a:gd name="T4" fmla="*/ 56 w 1333"/>
                <a:gd name="T5" fmla="*/ 183 h 255"/>
                <a:gd name="T6" fmla="*/ 72 w 1333"/>
                <a:gd name="T7" fmla="*/ 207 h 255"/>
                <a:gd name="T8" fmla="*/ 200 w 1333"/>
                <a:gd name="T9" fmla="*/ 231 h 255"/>
                <a:gd name="T10" fmla="*/ 248 w 1333"/>
                <a:gd name="T11" fmla="*/ 247 h 255"/>
                <a:gd name="T12" fmla="*/ 272 w 1333"/>
                <a:gd name="T13" fmla="*/ 255 h 255"/>
                <a:gd name="T14" fmla="*/ 448 w 1333"/>
                <a:gd name="T15" fmla="*/ 247 h 255"/>
                <a:gd name="T16" fmla="*/ 472 w 1333"/>
                <a:gd name="T17" fmla="*/ 239 h 255"/>
                <a:gd name="T18" fmla="*/ 480 w 1333"/>
                <a:gd name="T19" fmla="*/ 215 h 255"/>
                <a:gd name="T20" fmla="*/ 528 w 1333"/>
                <a:gd name="T21" fmla="*/ 175 h 255"/>
                <a:gd name="T22" fmla="*/ 544 w 1333"/>
                <a:gd name="T23" fmla="*/ 151 h 255"/>
                <a:gd name="T24" fmla="*/ 552 w 1333"/>
                <a:gd name="T25" fmla="*/ 127 h 255"/>
                <a:gd name="T26" fmla="*/ 672 w 1333"/>
                <a:gd name="T27" fmla="*/ 63 h 255"/>
                <a:gd name="T28" fmla="*/ 696 w 1333"/>
                <a:gd name="T29" fmla="*/ 47 h 255"/>
                <a:gd name="T30" fmla="*/ 744 w 1333"/>
                <a:gd name="T31" fmla="*/ 31 h 255"/>
                <a:gd name="T32" fmla="*/ 1184 w 1333"/>
                <a:gd name="T33" fmla="*/ 71 h 255"/>
                <a:gd name="T34" fmla="*/ 1232 w 1333"/>
                <a:gd name="T35" fmla="*/ 95 h 255"/>
                <a:gd name="T36" fmla="*/ 1328 w 1333"/>
                <a:gd name="T37" fmla="*/ 119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3" h="255">
                  <a:moveTo>
                    <a:pt x="0" y="143"/>
                  </a:moveTo>
                  <a:cubicBezTo>
                    <a:pt x="8" y="140"/>
                    <a:pt x="17" y="130"/>
                    <a:pt x="24" y="135"/>
                  </a:cubicBezTo>
                  <a:cubicBezTo>
                    <a:pt x="40" y="146"/>
                    <a:pt x="45" y="167"/>
                    <a:pt x="56" y="183"/>
                  </a:cubicBezTo>
                  <a:cubicBezTo>
                    <a:pt x="61" y="191"/>
                    <a:pt x="63" y="205"/>
                    <a:pt x="72" y="207"/>
                  </a:cubicBezTo>
                  <a:cubicBezTo>
                    <a:pt x="115" y="216"/>
                    <a:pt x="156" y="225"/>
                    <a:pt x="200" y="231"/>
                  </a:cubicBezTo>
                  <a:cubicBezTo>
                    <a:pt x="216" y="236"/>
                    <a:pt x="232" y="242"/>
                    <a:pt x="248" y="247"/>
                  </a:cubicBezTo>
                  <a:cubicBezTo>
                    <a:pt x="256" y="250"/>
                    <a:pt x="272" y="255"/>
                    <a:pt x="272" y="255"/>
                  </a:cubicBezTo>
                  <a:cubicBezTo>
                    <a:pt x="331" y="252"/>
                    <a:pt x="389" y="252"/>
                    <a:pt x="448" y="247"/>
                  </a:cubicBezTo>
                  <a:cubicBezTo>
                    <a:pt x="456" y="246"/>
                    <a:pt x="466" y="245"/>
                    <a:pt x="472" y="239"/>
                  </a:cubicBezTo>
                  <a:cubicBezTo>
                    <a:pt x="478" y="233"/>
                    <a:pt x="475" y="222"/>
                    <a:pt x="480" y="215"/>
                  </a:cubicBezTo>
                  <a:cubicBezTo>
                    <a:pt x="492" y="197"/>
                    <a:pt x="510" y="187"/>
                    <a:pt x="528" y="175"/>
                  </a:cubicBezTo>
                  <a:cubicBezTo>
                    <a:pt x="533" y="167"/>
                    <a:pt x="540" y="160"/>
                    <a:pt x="544" y="151"/>
                  </a:cubicBezTo>
                  <a:cubicBezTo>
                    <a:pt x="548" y="143"/>
                    <a:pt x="546" y="133"/>
                    <a:pt x="552" y="127"/>
                  </a:cubicBezTo>
                  <a:cubicBezTo>
                    <a:pt x="585" y="94"/>
                    <a:pt x="629" y="77"/>
                    <a:pt x="672" y="63"/>
                  </a:cubicBezTo>
                  <a:cubicBezTo>
                    <a:pt x="681" y="60"/>
                    <a:pt x="687" y="51"/>
                    <a:pt x="696" y="47"/>
                  </a:cubicBezTo>
                  <a:cubicBezTo>
                    <a:pt x="711" y="40"/>
                    <a:pt x="744" y="31"/>
                    <a:pt x="744" y="31"/>
                  </a:cubicBezTo>
                  <a:cubicBezTo>
                    <a:pt x="931" y="35"/>
                    <a:pt x="1043" y="0"/>
                    <a:pt x="1184" y="71"/>
                  </a:cubicBezTo>
                  <a:cubicBezTo>
                    <a:pt x="1200" y="79"/>
                    <a:pt x="1214" y="91"/>
                    <a:pt x="1232" y="95"/>
                  </a:cubicBezTo>
                  <a:cubicBezTo>
                    <a:pt x="1333" y="115"/>
                    <a:pt x="1328" y="69"/>
                    <a:pt x="1328" y="11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07" name="Line 15"/>
            <p:cNvSpPr>
              <a:spLocks noChangeShapeType="1"/>
            </p:cNvSpPr>
            <p:nvPr/>
          </p:nvSpPr>
          <p:spPr bwMode="auto">
            <a:xfrm>
              <a:off x="2016" y="134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08" name="Line 16"/>
            <p:cNvSpPr>
              <a:spLocks noChangeShapeType="1"/>
            </p:cNvSpPr>
            <p:nvPr/>
          </p:nvSpPr>
          <p:spPr bwMode="auto">
            <a:xfrm>
              <a:off x="3792" y="1488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09" name="Rectangle 17"/>
            <p:cNvSpPr>
              <a:spLocks noChangeArrowheads="1"/>
            </p:cNvSpPr>
            <p:nvPr/>
          </p:nvSpPr>
          <p:spPr bwMode="auto">
            <a:xfrm>
              <a:off x="3648" y="3264"/>
              <a:ext cx="3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low</a:t>
              </a:r>
              <a:endParaRPr lang="zh-CN" altLang="en-US"/>
            </a:p>
          </p:txBody>
        </p:sp>
        <p:sp>
          <p:nvSpPr>
            <p:cNvPr id="366610" name="Rectangle 18"/>
            <p:cNvSpPr>
              <a:spLocks noChangeArrowheads="1"/>
            </p:cNvSpPr>
            <p:nvPr/>
          </p:nvSpPr>
          <p:spPr bwMode="auto">
            <a:xfrm>
              <a:off x="3600" y="1200"/>
              <a:ext cx="3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high</a:t>
              </a:r>
              <a:endParaRPr lang="zh-CN" altLang="en-US"/>
            </a:p>
          </p:txBody>
        </p:sp>
        <p:sp>
          <p:nvSpPr>
            <p:cNvPr id="366611" name="Line 19"/>
            <p:cNvSpPr>
              <a:spLocks noChangeShapeType="1"/>
            </p:cNvSpPr>
            <p:nvPr/>
          </p:nvSpPr>
          <p:spPr bwMode="auto">
            <a:xfrm>
              <a:off x="1584" y="29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12" name="Rectangle 20"/>
            <p:cNvSpPr>
              <a:spLocks noChangeArrowheads="1"/>
            </p:cNvSpPr>
            <p:nvPr/>
          </p:nvSpPr>
          <p:spPr bwMode="auto">
            <a:xfrm>
              <a:off x="1248" y="2304"/>
              <a:ext cx="48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frame</a:t>
              </a:r>
              <a:endParaRPr lang="zh-CN" altLang="en-US"/>
            </a:p>
          </p:txBody>
        </p:sp>
        <p:sp>
          <p:nvSpPr>
            <p:cNvPr id="366613" name="Rectangle 21"/>
            <p:cNvSpPr>
              <a:spLocks noChangeArrowheads="1"/>
            </p:cNvSpPr>
            <p:nvPr/>
          </p:nvSpPr>
          <p:spPr bwMode="auto">
            <a:xfrm>
              <a:off x="1104" y="1920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SP(old)</a:t>
              </a:r>
              <a:endParaRPr lang="zh-CN" altLang="en-US"/>
            </a:p>
          </p:txBody>
        </p:sp>
        <p:sp>
          <p:nvSpPr>
            <p:cNvPr id="366614" name="Line 22"/>
            <p:cNvSpPr>
              <a:spLocks noChangeShapeType="1"/>
            </p:cNvSpPr>
            <p:nvPr/>
          </p:nvSpPr>
          <p:spPr bwMode="auto">
            <a:xfrm>
              <a:off x="1584" y="20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15" name="Line 23"/>
            <p:cNvSpPr>
              <a:spLocks noChangeShapeType="1"/>
            </p:cNvSpPr>
            <p:nvPr/>
          </p:nvSpPr>
          <p:spPr bwMode="auto">
            <a:xfrm>
              <a:off x="1728" y="2064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16" name="Rectangle 24"/>
            <p:cNvSpPr>
              <a:spLocks noChangeArrowheads="1"/>
            </p:cNvSpPr>
            <p:nvPr/>
          </p:nvSpPr>
          <p:spPr bwMode="auto">
            <a:xfrm>
              <a:off x="1344" y="2880"/>
              <a:ext cx="27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SP</a:t>
              </a:r>
              <a:endParaRPr lang="zh-CN" altLang="en-US"/>
            </a:p>
          </p:txBody>
        </p:sp>
        <p:sp>
          <p:nvSpPr>
            <p:cNvPr id="366617" name="Rectangle 25"/>
            <p:cNvSpPr>
              <a:spLocks noChangeArrowheads="1"/>
            </p:cNvSpPr>
            <p:nvPr/>
          </p:nvSpPr>
          <p:spPr bwMode="auto">
            <a:xfrm>
              <a:off x="2186" y="2784"/>
              <a:ext cx="10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Return address</a:t>
              </a:r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A3A2F-49C6-45A8-AE8D-A07F230B6CD8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1066800"/>
          </a:xfrm>
        </p:spPr>
        <p:txBody>
          <a:bodyPr/>
          <a:lstStyle/>
          <a:p>
            <a:pPr algn="ctr"/>
            <a:r>
              <a:rPr lang="en-US" altLang="zh-CN"/>
              <a:t>Basic Blocks (P.528)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305800" cy="4953000"/>
          </a:xfrm>
        </p:spPr>
        <p:txBody>
          <a:bodyPr/>
          <a:lstStyle/>
          <a:p>
            <a:r>
              <a:rPr lang="en-US" altLang="zh-CN" sz="2800"/>
              <a:t>A basic block is a sequence of statements such that:</a:t>
            </a:r>
          </a:p>
          <a:p>
            <a:pPr lvl="1"/>
            <a:r>
              <a:rPr lang="en-US" altLang="zh-CN" sz="2400"/>
              <a:t>Flow of control enters at start</a:t>
            </a:r>
          </a:p>
          <a:p>
            <a:pPr lvl="1"/>
            <a:r>
              <a:rPr lang="en-US" altLang="zh-CN" sz="2400"/>
              <a:t>Flow of control leaves at end</a:t>
            </a:r>
          </a:p>
          <a:p>
            <a:pPr lvl="1"/>
            <a:r>
              <a:rPr lang="en-US" altLang="zh-CN" sz="2400"/>
              <a:t>No possibility of halting or branching except at end</a:t>
            </a:r>
          </a:p>
          <a:p>
            <a:r>
              <a:rPr lang="en-US" altLang="zh-CN" sz="2800"/>
              <a:t>A name is "live" at a given point if its value will be used again in the program</a:t>
            </a:r>
          </a:p>
          <a:p>
            <a:r>
              <a:rPr lang="en-US" altLang="zh-CN" sz="2800"/>
              <a:t>Each basic block has a first statement known as the "leader" of the basic block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E6CF-E0B5-4B8F-B364-F15034E6E54F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402638" cy="1066800"/>
          </a:xfrm>
        </p:spPr>
        <p:txBody>
          <a:bodyPr/>
          <a:lstStyle/>
          <a:p>
            <a:pPr algn="ctr"/>
            <a:r>
              <a:rPr lang="en-US" altLang="zh-CN" sz="4000"/>
              <a:t>Partitioning Code into Basic Blocks</a:t>
            </a:r>
            <a:r>
              <a:rPr lang="en-US" altLang="zh-CN" sz="4000">
                <a:latin typeface="Arial" panose="020B0604020202020204" pitchFamily="34" charset="0"/>
              </a:rPr>
              <a:t>—</a:t>
            </a:r>
            <a:r>
              <a:rPr lang="en-US" altLang="zh-CN" sz="4000"/>
              <a:t>algorithm 9.1 (P.529)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001000" cy="4648200"/>
          </a:xfrm>
        </p:spPr>
        <p:txBody>
          <a:bodyPr/>
          <a:lstStyle/>
          <a:p>
            <a:r>
              <a:rPr lang="en-US" altLang="zh-CN" sz="2800"/>
              <a:t>First algorithm must determine all leaders:</a:t>
            </a:r>
          </a:p>
          <a:p>
            <a:pPr lvl="1"/>
            <a:r>
              <a:rPr lang="en-US" altLang="zh-CN" sz="2400"/>
              <a:t>The first statement is a leader</a:t>
            </a:r>
          </a:p>
          <a:p>
            <a:pPr lvl="1"/>
            <a:r>
              <a:rPr lang="en-US" altLang="zh-CN" sz="2400"/>
              <a:t>Any statement that is the target of a conditional or unconditional goto is a leader</a:t>
            </a:r>
          </a:p>
          <a:p>
            <a:pPr lvl="1"/>
            <a:r>
              <a:rPr lang="en-US" altLang="zh-CN" sz="2400"/>
              <a:t>Any statement immediately following a goto or unconditional goto is a leader</a:t>
            </a:r>
          </a:p>
          <a:p>
            <a:r>
              <a:rPr lang="en-US" altLang="zh-CN" sz="2800"/>
              <a:t>A basic block:</a:t>
            </a:r>
          </a:p>
          <a:p>
            <a:pPr lvl="1"/>
            <a:r>
              <a:rPr lang="en-US" altLang="zh-CN" sz="2400"/>
              <a:t>Starts with a leader</a:t>
            </a:r>
          </a:p>
          <a:p>
            <a:pPr lvl="1"/>
            <a:r>
              <a:rPr lang="en-US" altLang="zh-CN" sz="2400"/>
              <a:t>Includes all statements up to but not including the next leader</a:t>
            </a: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52CD-7EEC-4BB6-BE17-F7DC23A6EBAD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/>
              <a:t>Basic Block Example</a:t>
            </a:r>
          </a:p>
        </p:txBody>
      </p:sp>
      <p:sp>
        <p:nvSpPr>
          <p:cNvPr id="270340" name="Text Box 4"/>
          <p:cNvSpPr txBox="1">
            <a:spLocks noChangeArrowheads="1"/>
          </p:cNvSpPr>
          <p:nvPr/>
        </p:nvSpPr>
        <p:spPr bwMode="auto">
          <a:xfrm>
            <a:off x="304800" y="2438400"/>
            <a:ext cx="4648200" cy="2573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Courier New" panose="02070309020205020404" pitchFamily="49" charset="0"/>
              </a:rPr>
              <a:t>begin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prod := 0;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i := 1;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do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  begin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    prod := prod + a[i] * b[i]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  end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 while i &lt;= 20</a:t>
            </a:r>
          </a:p>
          <a:p>
            <a:r>
              <a:rPr lang="en-US" altLang="zh-CN">
                <a:latin typeface="Courier New" panose="02070309020205020404" pitchFamily="49" charset="0"/>
              </a:rPr>
              <a:t>end</a:t>
            </a:r>
          </a:p>
        </p:txBody>
      </p:sp>
      <p:sp>
        <p:nvSpPr>
          <p:cNvPr id="270342" name="Text Box 6"/>
          <p:cNvSpPr txBox="1">
            <a:spLocks noChangeArrowheads="1"/>
          </p:cNvSpPr>
          <p:nvPr/>
        </p:nvSpPr>
        <p:spPr bwMode="auto">
          <a:xfrm>
            <a:off x="5638800" y="2057400"/>
            <a:ext cx="3200400" cy="3671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latin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</a:rPr>
              <a:t>(1) prod := 0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(2) i := 1</a:t>
            </a:r>
          </a:p>
          <a:p>
            <a:r>
              <a:rPr lang="en-US" altLang="zh-CN" b="1">
                <a:latin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</a:rPr>
              <a:t>(3) t1 := 4 * i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(4) t2 := a[t1]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(5) t3 := 4 * i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(6) t4 := b[t3]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(7) t5 := t2 * t4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(8) t6 := prod + t5</a:t>
            </a:r>
          </a:p>
          <a:p>
            <a:r>
              <a:rPr lang="en-US" altLang="zh-CN">
                <a:latin typeface="Courier New" panose="02070309020205020404" pitchFamily="49" charset="0"/>
              </a:rPr>
              <a:t> (9) prod := t6</a:t>
            </a:r>
          </a:p>
          <a:p>
            <a:r>
              <a:rPr lang="en-US" altLang="zh-CN">
                <a:latin typeface="Courier New" panose="02070309020205020404" pitchFamily="49" charset="0"/>
              </a:rPr>
              <a:t>(10) t7 := i + 1</a:t>
            </a:r>
          </a:p>
          <a:p>
            <a:r>
              <a:rPr lang="en-US" altLang="zh-CN">
                <a:latin typeface="Courier New" panose="02070309020205020404" pitchFamily="49" charset="0"/>
              </a:rPr>
              <a:t>(11) i := t7</a:t>
            </a:r>
          </a:p>
          <a:p>
            <a:r>
              <a:rPr lang="en-US" altLang="zh-CN">
                <a:latin typeface="Courier New" panose="02070309020205020404" pitchFamily="49" charset="0"/>
              </a:rPr>
              <a:t>(12) if i &lt;= 20 goto 3</a:t>
            </a:r>
          </a:p>
          <a:p>
            <a:r>
              <a:rPr lang="en-US" altLang="zh-CN">
                <a:latin typeface="Courier New" panose="02070309020205020404" pitchFamily="49" charset="0"/>
              </a:rPr>
              <a:t>(13) …</a:t>
            </a:r>
          </a:p>
        </p:txBody>
      </p:sp>
      <p:sp>
        <p:nvSpPr>
          <p:cNvPr id="270343" name="Line 7"/>
          <p:cNvSpPr>
            <a:spLocks noChangeShapeType="1"/>
          </p:cNvSpPr>
          <p:nvPr/>
        </p:nvSpPr>
        <p:spPr bwMode="auto">
          <a:xfrm>
            <a:off x="5029200" y="3733800"/>
            <a:ext cx="533400" cy="0"/>
          </a:xfrm>
          <a:prstGeom prst="line">
            <a:avLst/>
          </a:prstGeom>
          <a:noFill/>
          <a:ln w="889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0344" name="Line 8"/>
          <p:cNvSpPr>
            <a:spLocks noChangeShapeType="1"/>
          </p:cNvSpPr>
          <p:nvPr/>
        </p:nvSpPr>
        <p:spPr bwMode="auto">
          <a:xfrm>
            <a:off x="5638800" y="26670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0345" name="Line 9"/>
          <p:cNvSpPr>
            <a:spLocks noChangeShapeType="1"/>
          </p:cNvSpPr>
          <p:nvPr/>
        </p:nvSpPr>
        <p:spPr bwMode="auto">
          <a:xfrm>
            <a:off x="5638800" y="54102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A5B8-4769-46F8-B4EE-80EC9D42D795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algn="ctr"/>
            <a:r>
              <a:rPr lang="en-US" altLang="zh-CN" sz="3600"/>
              <a:t>Transformations on Basic Blocks (P.530)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05800" cy="495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/>
              <a:t>A basic block computes a set of expressions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The expressions are the values of names that are live on exit from the block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Two basic blocks are equivalent if they compute the same set of expressions</a:t>
            </a:r>
          </a:p>
          <a:p>
            <a:pPr>
              <a:lnSpc>
                <a:spcPct val="80000"/>
              </a:lnSpc>
            </a:pPr>
            <a:r>
              <a:rPr lang="en-US" altLang="zh-CN" sz="2800"/>
              <a:t>Certain transformations can be applied without changing the computed expressions of a block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An optimizer uses such transformations to improve running time or space requirements of a program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Two important classes of local transformations:</a:t>
            </a:r>
          </a:p>
          <a:p>
            <a:pPr lvl="2">
              <a:lnSpc>
                <a:spcPct val="80000"/>
              </a:lnSpc>
            </a:pPr>
            <a:r>
              <a:rPr lang="en-US" altLang="zh-CN" sz="2000"/>
              <a:t>structure-preserving transformations</a:t>
            </a:r>
          </a:p>
          <a:p>
            <a:pPr lvl="2">
              <a:lnSpc>
                <a:spcPct val="80000"/>
              </a:lnSpc>
            </a:pPr>
            <a:r>
              <a:rPr lang="en-US" altLang="zh-CN" sz="2000"/>
              <a:t>algebraic transformations</a:t>
            </a: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2F759-6F5E-4AAC-AE46-590E826B29C1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1066800"/>
          </a:xfrm>
        </p:spPr>
        <p:txBody>
          <a:bodyPr/>
          <a:lstStyle/>
          <a:p>
            <a:pPr algn="ctr"/>
            <a:r>
              <a:rPr lang="en-US" altLang="zh-CN" sz="3600"/>
              <a:t>structure-preserving transformations (1)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305800" cy="4648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Common subexpression elimination:</a:t>
            </a:r>
          </a:p>
          <a:p>
            <a:pPr>
              <a:lnSpc>
                <a:spcPct val="80000"/>
              </a:lnSpc>
            </a:pPr>
            <a:endParaRPr lang="en-US" altLang="zh-CN" sz="2400"/>
          </a:p>
          <a:p>
            <a:pPr>
              <a:lnSpc>
                <a:spcPct val="80000"/>
              </a:lnSpc>
            </a:pPr>
            <a:endParaRPr lang="en-US" altLang="zh-CN" sz="2400"/>
          </a:p>
          <a:p>
            <a:pPr>
              <a:lnSpc>
                <a:spcPct val="80000"/>
              </a:lnSpc>
            </a:pPr>
            <a:endParaRPr lang="en-US" altLang="zh-CN" sz="2400"/>
          </a:p>
          <a:p>
            <a:pPr>
              <a:lnSpc>
                <a:spcPct val="80000"/>
              </a:lnSpc>
            </a:pPr>
            <a:endParaRPr lang="en-US" altLang="zh-CN" sz="2400"/>
          </a:p>
          <a:p>
            <a:pPr>
              <a:lnSpc>
                <a:spcPct val="80000"/>
              </a:lnSpc>
            </a:pPr>
            <a:endParaRPr lang="en-US" altLang="zh-CN" sz="2400"/>
          </a:p>
          <a:p>
            <a:pPr>
              <a:lnSpc>
                <a:spcPct val="80000"/>
              </a:lnSpc>
            </a:pPr>
            <a:r>
              <a:rPr lang="en-US" altLang="zh-CN" sz="2400"/>
              <a:t>Dead-code elimination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Suppose the statement </a:t>
            </a:r>
            <a:r>
              <a:rPr lang="en-US" altLang="zh-CN" sz="2000">
                <a:latin typeface="Courier New" panose="02070309020205020404" pitchFamily="49" charset="0"/>
              </a:rPr>
              <a:t>x := y + z</a:t>
            </a:r>
            <a:r>
              <a:rPr lang="en-US" altLang="zh-CN" sz="2000"/>
              <a:t> appears in a basic block and </a:t>
            </a:r>
            <a:r>
              <a:rPr lang="en-US" altLang="zh-CN" sz="2000">
                <a:latin typeface="Courier New" panose="02070309020205020404" pitchFamily="49" charset="0"/>
              </a:rPr>
              <a:t>x</a:t>
            </a:r>
            <a:r>
              <a:rPr lang="en-US" altLang="zh-CN" sz="2000"/>
              <a:t> is dead (i.e. never used again)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This statement can be safely removed from the code</a:t>
            </a:r>
          </a:p>
        </p:txBody>
      </p:sp>
      <p:sp>
        <p:nvSpPr>
          <p:cNvPr id="273413" name="Text Box 5"/>
          <p:cNvSpPr txBox="1">
            <a:spLocks noChangeArrowheads="1"/>
          </p:cNvSpPr>
          <p:nvPr/>
        </p:nvSpPr>
        <p:spPr bwMode="auto">
          <a:xfrm>
            <a:off x="1447800" y="1981200"/>
            <a:ext cx="1752600" cy="132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latin typeface="Courier New" panose="02070309020205020404" pitchFamily="49" charset="0"/>
              </a:rPr>
              <a:t>a := b + c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b := a – d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c := b + c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d := a - d</a:t>
            </a:r>
          </a:p>
        </p:txBody>
      </p:sp>
      <p:sp>
        <p:nvSpPr>
          <p:cNvPr id="273414" name="Text Box 6"/>
          <p:cNvSpPr txBox="1">
            <a:spLocks noChangeArrowheads="1"/>
          </p:cNvSpPr>
          <p:nvPr/>
        </p:nvSpPr>
        <p:spPr bwMode="auto">
          <a:xfrm>
            <a:off x="4038600" y="1981200"/>
            <a:ext cx="1752600" cy="132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latin typeface="Courier New" panose="02070309020205020404" pitchFamily="49" charset="0"/>
              </a:rPr>
              <a:t>a := b + c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b := a – d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c := b + c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d := b</a:t>
            </a:r>
          </a:p>
        </p:txBody>
      </p:sp>
      <p:sp>
        <p:nvSpPr>
          <p:cNvPr id="273415" name="Line 7"/>
          <p:cNvSpPr>
            <a:spLocks noChangeShapeType="1"/>
          </p:cNvSpPr>
          <p:nvPr/>
        </p:nvSpPr>
        <p:spPr bwMode="auto">
          <a:xfrm>
            <a:off x="3352800" y="2667000"/>
            <a:ext cx="533400" cy="0"/>
          </a:xfrm>
          <a:prstGeom prst="line">
            <a:avLst/>
          </a:prstGeom>
          <a:noFill/>
          <a:ln w="889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6ED09-BA82-4BA3-BB3D-3178BCAD6922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pPr algn="ctr"/>
            <a:r>
              <a:rPr lang="en-US" altLang="zh-CN" sz="3600"/>
              <a:t>structure-preserving transformations (2)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Renaming of Temporary variables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Suppose the statement </a:t>
            </a:r>
            <a:r>
              <a:rPr lang="en-US" altLang="zh-CN" sz="2000">
                <a:latin typeface="Courier New" panose="02070309020205020404" pitchFamily="49" charset="0"/>
              </a:rPr>
              <a:t>t := b + c</a:t>
            </a:r>
            <a:r>
              <a:rPr lang="en-US" altLang="zh-CN" sz="2000"/>
              <a:t> appears in a basic block and </a:t>
            </a:r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/>
              <a:t> is a temporary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We can safely rename all instances of this </a:t>
            </a:r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/>
              <a:t> to </a:t>
            </a:r>
            <a:r>
              <a:rPr lang="en-US" altLang="zh-CN" sz="2000">
                <a:latin typeface="Courier New" panose="02070309020205020404" pitchFamily="49" charset="0"/>
              </a:rPr>
              <a:t>u</a:t>
            </a:r>
            <a:r>
              <a:rPr lang="en-US" altLang="zh-CN" sz="2000"/>
              <a:t>, where </a:t>
            </a:r>
            <a:r>
              <a:rPr lang="en-US" altLang="zh-CN" sz="2000">
                <a:latin typeface="Courier New" panose="02070309020205020404" pitchFamily="49" charset="0"/>
              </a:rPr>
              <a:t>u</a:t>
            </a:r>
            <a:r>
              <a:rPr lang="en-US" altLang="zh-CN" sz="2000"/>
              <a:t> is a new temporary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A normal-form block uses a new temporary for every statement that defines a temporary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Interchange of two independent adjacent statements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Suppose we have a block with two adjacent statements: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t1 := b + c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t2 := x + y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If </a:t>
            </a:r>
            <a:r>
              <a:rPr lang="en-US" altLang="zh-CN" sz="1800"/>
              <a:t>t1</a:t>
            </a:r>
            <a:r>
              <a:rPr lang="en-US" altLang="zh-CN" sz="2000"/>
              <a:t> is distinct from </a:t>
            </a:r>
            <a:r>
              <a:rPr lang="en-US" altLang="zh-CN" sz="2000">
                <a:latin typeface="Courier New" panose="02070309020205020404" pitchFamily="49" charset="0"/>
              </a:rPr>
              <a:t>x</a:t>
            </a:r>
            <a:r>
              <a:rPr lang="en-US" altLang="zh-CN" sz="2000"/>
              <a:t> and </a:t>
            </a:r>
            <a:r>
              <a:rPr lang="en-US" altLang="zh-CN" sz="2000">
                <a:latin typeface="Courier New" panose="02070309020205020404" pitchFamily="49" charset="0"/>
              </a:rPr>
              <a:t>y</a:t>
            </a:r>
            <a:r>
              <a:rPr lang="en-US" altLang="zh-CN" sz="2000"/>
              <a:t> and </a:t>
            </a:r>
            <a:r>
              <a:rPr lang="en-US" altLang="zh-CN" sz="2000">
                <a:latin typeface="Courier New" panose="02070309020205020404" pitchFamily="49" charset="0"/>
              </a:rPr>
              <a:t>t2</a:t>
            </a:r>
            <a:r>
              <a:rPr lang="en-US" altLang="zh-CN" sz="2000"/>
              <a:t> is distinct from </a:t>
            </a:r>
            <a:r>
              <a:rPr lang="en-US" altLang="zh-CN" sz="2000">
                <a:latin typeface="Courier New" panose="02070309020205020404" pitchFamily="49" charset="0"/>
              </a:rPr>
              <a:t>b</a:t>
            </a:r>
            <a:r>
              <a:rPr lang="en-US" altLang="zh-CN" sz="2000"/>
              <a:t> and </a:t>
            </a:r>
            <a:r>
              <a:rPr lang="en-US" altLang="zh-CN" sz="2000">
                <a:latin typeface="Courier New" panose="02070309020205020404" pitchFamily="49" charset="0"/>
              </a:rPr>
              <a:t>c</a:t>
            </a:r>
            <a:r>
              <a:rPr lang="en-US" altLang="zh-CN" sz="2000"/>
              <a:t>, we can safely change the order of these two statements</a:t>
            </a: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273B-CC19-4E5C-9EA8-321711AB589C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/>
              <a:t>Algebraic Transformations</a:t>
            </a:r>
            <a:endParaRPr lang="zh-CN" altLang="en-US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029200"/>
          </a:xfrm>
        </p:spPr>
        <p:txBody>
          <a:bodyPr/>
          <a:lstStyle/>
          <a:p>
            <a:r>
              <a:rPr lang="en-US" altLang="zh-CN" sz="2800"/>
              <a:t>Algebraic Transformations:</a:t>
            </a:r>
          </a:p>
          <a:p>
            <a:pPr lvl="1"/>
            <a:r>
              <a:rPr lang="en-US" altLang="zh-CN" sz="2400"/>
              <a:t>Statements such as </a:t>
            </a:r>
            <a:r>
              <a:rPr lang="en-US" altLang="zh-CN" sz="2400">
                <a:latin typeface="Courier New" panose="02070309020205020404" pitchFamily="49" charset="0"/>
              </a:rPr>
              <a:t>x := x + 0</a:t>
            </a:r>
            <a:r>
              <a:rPr lang="en-US" altLang="zh-CN" sz="2400"/>
              <a:t> or </a:t>
            </a:r>
            <a:r>
              <a:rPr lang="en-US" altLang="zh-CN" sz="2400">
                <a:latin typeface="Courier New" panose="02070309020205020404" pitchFamily="49" charset="0"/>
              </a:rPr>
              <a:t>x := x * 1</a:t>
            </a:r>
            <a:r>
              <a:rPr lang="en-US" altLang="zh-CN" sz="2400"/>
              <a:t> can be safely removed</a:t>
            </a:r>
          </a:p>
          <a:p>
            <a:pPr lvl="1"/>
            <a:r>
              <a:rPr lang="en-US" altLang="zh-CN" sz="2400"/>
              <a:t>Statement </a:t>
            </a:r>
            <a:r>
              <a:rPr lang="en-US" altLang="zh-CN" sz="2400">
                <a:latin typeface="Courier New" panose="02070309020205020404" pitchFamily="49" charset="0"/>
              </a:rPr>
              <a:t>x := y ^ 2</a:t>
            </a:r>
            <a:r>
              <a:rPr lang="en-US" altLang="zh-CN" sz="2400"/>
              <a:t> can be safely changed to </a:t>
            </a:r>
            <a:r>
              <a:rPr lang="en-US" altLang="zh-CN" sz="2400">
                <a:latin typeface="Courier New" panose="02070309020205020404" pitchFamily="49" charset="0"/>
              </a:rPr>
              <a:t>x := y * y</a:t>
            </a:r>
          </a:p>
          <a:p>
            <a:endParaRPr lang="zh-CN" altLang="en-US" sz="2400"/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C239-6C06-4BED-A327-C084A3B22B6A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/>
              <a:t>Flow Graphs (P.532)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2296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A graphical representation of three-address statements, useful for optimization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Nodes represent computations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Each node represents a single basic blocks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One node is distinguished as </a:t>
            </a:r>
            <a:r>
              <a:rPr lang="en-US" altLang="zh-CN" sz="2400">
                <a:latin typeface="Courier New" panose="02070309020205020404" pitchFamily="49" charset="0"/>
              </a:rPr>
              <a:t>initial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Edges represent flow-of-control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There is an edge from </a:t>
            </a:r>
            <a:r>
              <a:rPr lang="en-US" altLang="zh-CN" sz="2400">
                <a:latin typeface="Courier New" panose="02070309020205020404" pitchFamily="49" charset="0"/>
              </a:rPr>
              <a:t>B1</a:t>
            </a:r>
            <a:r>
              <a:rPr lang="en-US" altLang="zh-CN" sz="2400"/>
              <a:t> to </a:t>
            </a:r>
            <a:r>
              <a:rPr lang="en-US" altLang="zh-CN" sz="2400">
                <a:latin typeface="Courier New" panose="02070309020205020404" pitchFamily="49" charset="0"/>
              </a:rPr>
              <a:t>B2</a:t>
            </a:r>
            <a:r>
              <a:rPr lang="en-US" altLang="zh-CN" sz="2400"/>
              <a:t> if and only if </a:t>
            </a:r>
            <a:r>
              <a:rPr lang="en-US" altLang="zh-CN" sz="2400">
                <a:latin typeface="Courier New" panose="02070309020205020404" pitchFamily="49" charset="0"/>
              </a:rPr>
              <a:t>B2</a:t>
            </a:r>
            <a:r>
              <a:rPr lang="en-US" altLang="zh-CN" sz="2400"/>
              <a:t> can immediately follow </a:t>
            </a:r>
            <a:r>
              <a:rPr lang="en-US" altLang="zh-CN" sz="2400">
                <a:latin typeface="Courier New" panose="02070309020205020404" pitchFamily="49" charset="0"/>
              </a:rPr>
              <a:t>B1</a:t>
            </a:r>
            <a:r>
              <a:rPr lang="en-US" altLang="zh-CN" sz="2400"/>
              <a:t> in some execution sequence:</a:t>
            </a:r>
          </a:p>
          <a:p>
            <a:pPr lvl="2">
              <a:lnSpc>
                <a:spcPct val="90000"/>
              </a:lnSpc>
            </a:pPr>
            <a:r>
              <a:rPr lang="en-US" altLang="zh-CN" sz="2000"/>
              <a:t>True if there is an conditional or unconditional jump from the last statement of </a:t>
            </a:r>
            <a:r>
              <a:rPr lang="en-US" altLang="zh-CN" sz="2000">
                <a:latin typeface="Courier New" panose="02070309020205020404" pitchFamily="49" charset="0"/>
              </a:rPr>
              <a:t>B1</a:t>
            </a:r>
            <a:r>
              <a:rPr lang="en-US" altLang="zh-CN" sz="2000"/>
              <a:t> to the first statement of </a:t>
            </a:r>
            <a:r>
              <a:rPr lang="en-US" altLang="zh-CN" sz="2000">
                <a:latin typeface="Courier New" panose="02070309020205020404" pitchFamily="49" charset="0"/>
              </a:rPr>
              <a:t>B2</a:t>
            </a:r>
          </a:p>
          <a:p>
            <a:pPr lvl="2">
              <a:lnSpc>
                <a:spcPct val="90000"/>
              </a:lnSpc>
            </a:pPr>
            <a:r>
              <a:rPr lang="en-US" altLang="zh-CN" sz="2000"/>
              <a:t>True if </a:t>
            </a:r>
            <a:r>
              <a:rPr lang="en-US" altLang="zh-CN" sz="2000">
                <a:latin typeface="Courier New" panose="02070309020205020404" pitchFamily="49" charset="0"/>
              </a:rPr>
              <a:t>B2</a:t>
            </a:r>
            <a:r>
              <a:rPr lang="en-US" altLang="zh-CN" sz="2000"/>
              <a:t> immediately follows </a:t>
            </a:r>
            <a:r>
              <a:rPr lang="en-US" altLang="zh-CN" sz="2000">
                <a:latin typeface="Courier New" panose="02070309020205020404" pitchFamily="49" charset="0"/>
              </a:rPr>
              <a:t>B1</a:t>
            </a:r>
            <a:r>
              <a:rPr lang="en-US" altLang="zh-CN" sz="2000"/>
              <a:t> and </a:t>
            </a:r>
            <a:r>
              <a:rPr lang="en-US" altLang="zh-CN" sz="2000">
                <a:latin typeface="Courier New" panose="02070309020205020404" pitchFamily="49" charset="0"/>
              </a:rPr>
              <a:t>B1</a:t>
            </a:r>
            <a:r>
              <a:rPr lang="en-US" altLang="zh-CN" sz="2000"/>
              <a:t> does not end with an unconditional jump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latin typeface="Courier New" panose="02070309020205020404" pitchFamily="49" charset="0"/>
              </a:rPr>
              <a:t>B1</a:t>
            </a:r>
            <a:r>
              <a:rPr lang="en-US" altLang="zh-CN" sz="2400"/>
              <a:t> is a predecessor of </a:t>
            </a:r>
            <a:r>
              <a:rPr lang="en-US" altLang="zh-CN" sz="2400">
                <a:latin typeface="Courier New" panose="02070309020205020404" pitchFamily="49" charset="0"/>
              </a:rPr>
              <a:t>B2</a:t>
            </a:r>
            <a:r>
              <a:rPr lang="en-US" altLang="zh-CN" sz="2400"/>
              <a:t>, </a:t>
            </a:r>
            <a:r>
              <a:rPr lang="en-US" altLang="zh-CN" sz="2400">
                <a:latin typeface="Courier New" panose="02070309020205020404" pitchFamily="49" charset="0"/>
              </a:rPr>
              <a:t>B2</a:t>
            </a:r>
            <a:r>
              <a:rPr lang="en-US" altLang="zh-CN" sz="2400"/>
              <a:t> is a successor of </a:t>
            </a:r>
            <a:r>
              <a:rPr lang="en-US" altLang="zh-CN" sz="2400">
                <a:latin typeface="Courier New" panose="02070309020205020404" pitchFamily="49" charset="0"/>
              </a:rPr>
              <a:t>B1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6E13-58CA-4D78-A2BA-363AAF4B8C26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478838" cy="1066800"/>
          </a:xfrm>
        </p:spPr>
        <p:txBody>
          <a:bodyPr/>
          <a:lstStyle/>
          <a:p>
            <a:pPr algn="ctr"/>
            <a:r>
              <a:rPr lang="en-US" altLang="zh-CN"/>
              <a:t>Representations of Flow Graphs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0772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A basic block can be represented by a record consisting of: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A count of the number of quadruples in the block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A pointer to the leader of the block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The list of predecessors and successors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Alternative is to use linked list of quadruples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Explicit references to quadruple numbers in jump statements can cause problems: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Quadruples can be moved during optimization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Better to have jumps point to blocks</a:t>
            </a: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D390-BA17-418C-930E-506C1B5F43B2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50238" cy="914400"/>
          </a:xfrm>
        </p:spPr>
        <p:txBody>
          <a:bodyPr/>
          <a:lstStyle/>
          <a:p>
            <a:pPr algn="ctr"/>
            <a:r>
              <a:rPr lang="en-US" altLang="zh-CN"/>
              <a:t>Loops and Flow Graphs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0772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A loop in a collection of nodes in a flow graph such that: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There must be a path of length one or more connecting any two nodes in the collection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If all such paths exist, the nodes in the collection are said to be strongly connected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The collection of nodes must have a unique </a:t>
            </a:r>
            <a:r>
              <a:rPr lang="en-US" altLang="zh-CN" sz="2400" b="1">
                <a:latin typeface="Courier New" panose="02070309020205020404" pitchFamily="49" charset="0"/>
              </a:rPr>
              <a:t>entry</a:t>
            </a:r>
            <a:r>
              <a:rPr lang="en-US" altLang="zh-CN" sz="2400"/>
              <a:t> node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The only way to reach a node in the loop from a node outside the loop is to go through </a:t>
            </a:r>
            <a:r>
              <a:rPr lang="en-US" altLang="zh-CN" sz="2400" b="1">
                <a:latin typeface="Courier New" panose="02070309020205020404" pitchFamily="49" charset="0"/>
              </a:rPr>
              <a:t>entry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A loop that contains no other loops is called an inner loop</a:t>
            </a: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5131-1545-4B7F-ADBA-515E6650F898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326438" cy="914400"/>
          </a:xfrm>
        </p:spPr>
        <p:txBody>
          <a:bodyPr/>
          <a:lstStyle/>
          <a:p>
            <a:pPr algn="ctr"/>
            <a:r>
              <a:rPr lang="en-US" altLang="zh-CN"/>
              <a:t>Next-Use Information (P.534)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820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/>
              <a:t>The use of a name in a three-address statement is defined as follows: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Suppose statement </a:t>
            </a:r>
            <a:r>
              <a:rPr lang="en-US" altLang="zh-CN" sz="2400">
                <a:latin typeface="Courier New" panose="02070309020205020404" pitchFamily="49" charset="0"/>
              </a:rPr>
              <a:t>i </a:t>
            </a:r>
            <a:r>
              <a:rPr lang="en-US" altLang="zh-CN" sz="2400"/>
              <a:t>assigns a value to </a:t>
            </a:r>
            <a:r>
              <a:rPr lang="en-US" altLang="zh-CN" sz="2400">
                <a:latin typeface="Courier New" panose="02070309020205020404" pitchFamily="49" charset="0"/>
              </a:rPr>
              <a:t>x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Suppose statement </a:t>
            </a:r>
            <a:r>
              <a:rPr lang="en-US" altLang="zh-CN" sz="2400">
                <a:latin typeface="Courier New" panose="02070309020205020404" pitchFamily="49" charset="0"/>
              </a:rPr>
              <a:t>j</a:t>
            </a:r>
            <a:r>
              <a:rPr lang="en-US" altLang="zh-CN" sz="2400"/>
              <a:t> has </a:t>
            </a:r>
            <a:r>
              <a:rPr lang="en-US" altLang="zh-CN" sz="2400">
                <a:latin typeface="Courier New" panose="02070309020205020404" pitchFamily="49" charset="0"/>
              </a:rPr>
              <a:t>x</a:t>
            </a:r>
            <a:r>
              <a:rPr lang="en-US" altLang="zh-CN" sz="2400"/>
              <a:t> as an operand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We say that </a:t>
            </a:r>
            <a:r>
              <a:rPr lang="en-US" altLang="zh-CN" sz="2400">
                <a:latin typeface="Courier New" panose="02070309020205020404" pitchFamily="49" charset="0"/>
              </a:rPr>
              <a:t>j</a:t>
            </a:r>
            <a:r>
              <a:rPr lang="en-US" altLang="zh-CN" sz="2400"/>
              <a:t> uses the value of </a:t>
            </a:r>
            <a:r>
              <a:rPr lang="en-US" altLang="zh-CN" sz="2400">
                <a:latin typeface="Courier New" panose="02070309020205020404" pitchFamily="49" charset="0"/>
              </a:rPr>
              <a:t>x</a:t>
            </a:r>
            <a:r>
              <a:rPr lang="en-US" altLang="zh-CN" sz="2400"/>
              <a:t> computed at </a:t>
            </a:r>
            <a:r>
              <a:rPr lang="en-US" altLang="zh-CN" sz="2400">
                <a:latin typeface="Courier New" panose="02070309020205020404" pitchFamily="49" charset="0"/>
              </a:rPr>
              <a:t>i</a:t>
            </a:r>
            <a:r>
              <a:rPr lang="en-US" altLang="zh-CN" sz="2400"/>
              <a:t> if:</a:t>
            </a:r>
          </a:p>
          <a:p>
            <a:pPr lvl="2">
              <a:lnSpc>
                <a:spcPct val="80000"/>
              </a:lnSpc>
            </a:pPr>
            <a:r>
              <a:rPr lang="en-US" altLang="zh-CN" sz="2000"/>
              <a:t>There is a path through which control can flow from statement i to statement j</a:t>
            </a:r>
          </a:p>
          <a:p>
            <a:pPr lvl="2">
              <a:lnSpc>
                <a:spcPct val="80000"/>
              </a:lnSpc>
            </a:pPr>
            <a:r>
              <a:rPr lang="en-US" altLang="zh-CN" sz="2000"/>
              <a:t>This path has no intervening assignments to x</a:t>
            </a:r>
          </a:p>
          <a:p>
            <a:pPr>
              <a:lnSpc>
                <a:spcPct val="80000"/>
              </a:lnSpc>
            </a:pPr>
            <a:r>
              <a:rPr lang="en-US" altLang="zh-CN" sz="2800"/>
              <a:t>For each three-address statement that is of the form </a:t>
            </a:r>
            <a:r>
              <a:rPr lang="en-US" altLang="zh-CN" sz="2800">
                <a:latin typeface="Courier New" panose="02070309020205020404" pitchFamily="49" charset="0"/>
              </a:rPr>
              <a:t>x := y op z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We want to determine the next uses of </a:t>
            </a:r>
            <a:r>
              <a:rPr lang="en-US" altLang="zh-CN" sz="2400">
                <a:latin typeface="Courier New" panose="02070309020205020404" pitchFamily="49" charset="0"/>
              </a:rPr>
              <a:t>x</a:t>
            </a:r>
            <a:r>
              <a:rPr lang="en-US" altLang="zh-CN" sz="2400"/>
              <a:t>, </a:t>
            </a:r>
            <a:r>
              <a:rPr lang="en-US" altLang="zh-CN" sz="2400">
                <a:latin typeface="Courier New" panose="02070309020205020404" pitchFamily="49" charset="0"/>
              </a:rPr>
              <a:t>y</a:t>
            </a:r>
            <a:r>
              <a:rPr lang="en-US" altLang="zh-CN" sz="2400"/>
              <a:t>, and </a:t>
            </a:r>
            <a:r>
              <a:rPr lang="en-US" altLang="zh-CN" sz="2400">
                <a:latin typeface="Courier New" panose="02070309020205020404" pitchFamily="49" charset="0"/>
              </a:rPr>
              <a:t>z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For now, we do not consider next uses outside of the current basic block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AD877-63DF-4B0F-8DCB-2CB002BE2FFD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01000" cy="1066800"/>
          </a:xfrm>
        </p:spPr>
        <p:txBody>
          <a:bodyPr/>
          <a:lstStyle/>
          <a:p>
            <a:pPr algn="ctr"/>
            <a:r>
              <a:rPr lang="en-US" altLang="zh-CN"/>
              <a:t>Determine Next-Use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3820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Scan each basic block from end to beginning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At start, record, if known, which names are live on exit from that block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Otherwise, assume all non-temporaries are live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If algorithm allows certain temporaries to be live on exit from block, consider them live as well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Whenever reaching a three address statement at line </a:t>
            </a:r>
            <a:r>
              <a:rPr lang="en-US" altLang="zh-CN" sz="2400">
                <a:latin typeface="Courier New" panose="02070309020205020404" pitchFamily="49" charset="0"/>
              </a:rPr>
              <a:t>i</a:t>
            </a:r>
            <a:r>
              <a:rPr lang="en-US" altLang="zh-CN" sz="2400"/>
              <a:t> with the form </a:t>
            </a:r>
            <a:r>
              <a:rPr lang="en-US" altLang="zh-CN" sz="2400">
                <a:latin typeface="Courier New" panose="02070309020205020404" pitchFamily="49" charset="0"/>
              </a:rPr>
              <a:t>x := y op z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200"/>
              <a:t>Attach statement </a:t>
            </a:r>
            <a:r>
              <a:rPr lang="en-US" altLang="zh-CN" sz="2200">
                <a:latin typeface="Courier New" panose="02070309020205020404" pitchFamily="49" charset="0"/>
              </a:rPr>
              <a:t>i</a:t>
            </a:r>
            <a:r>
              <a:rPr lang="en-US" altLang="zh-CN" sz="2200"/>
              <a:t> to information in symbol table regarding the next use and liveliness of </a:t>
            </a:r>
            <a:r>
              <a:rPr lang="en-US" altLang="zh-CN" sz="2200">
                <a:latin typeface="Courier New" panose="02070309020205020404" pitchFamily="49" charset="0"/>
              </a:rPr>
              <a:t>x</a:t>
            </a:r>
            <a:r>
              <a:rPr lang="en-US" altLang="zh-CN" sz="2200"/>
              <a:t>, </a:t>
            </a:r>
            <a:r>
              <a:rPr lang="en-US" altLang="zh-CN" sz="2200">
                <a:latin typeface="Courier New" panose="02070309020205020404" pitchFamily="49" charset="0"/>
              </a:rPr>
              <a:t>y</a:t>
            </a:r>
            <a:r>
              <a:rPr lang="en-US" altLang="zh-CN" sz="2200"/>
              <a:t>, and </a:t>
            </a:r>
            <a:r>
              <a:rPr lang="en-US" altLang="zh-CN" sz="2200">
                <a:latin typeface="Courier New" panose="02070309020205020404" pitchFamily="49" charset="0"/>
              </a:rPr>
              <a:t>z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Next, in symbol table, set </a:t>
            </a:r>
            <a:r>
              <a:rPr lang="en-US" altLang="zh-CN" sz="2200">
                <a:latin typeface="Courier New" panose="02070309020205020404" pitchFamily="49" charset="0"/>
              </a:rPr>
              <a:t>x</a:t>
            </a:r>
            <a:r>
              <a:rPr lang="en-US" altLang="zh-CN" sz="2200"/>
              <a:t> to "not live" and "no next use"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Then set </a:t>
            </a:r>
            <a:r>
              <a:rPr lang="en-US" altLang="zh-CN" sz="2200">
                <a:latin typeface="Courier New" panose="02070309020205020404" pitchFamily="49" charset="0"/>
              </a:rPr>
              <a:t>y</a:t>
            </a:r>
            <a:r>
              <a:rPr lang="en-US" altLang="zh-CN" sz="2200"/>
              <a:t> and </a:t>
            </a:r>
            <a:r>
              <a:rPr lang="en-US" altLang="zh-CN" sz="2200">
                <a:latin typeface="Courier New" panose="02070309020205020404" pitchFamily="49" charset="0"/>
              </a:rPr>
              <a:t>z</a:t>
            </a:r>
            <a:r>
              <a:rPr lang="en-US" altLang="zh-CN" sz="2200"/>
              <a:t> to "live" and the next uses of </a:t>
            </a:r>
            <a:r>
              <a:rPr lang="en-US" altLang="zh-CN" sz="2200">
                <a:latin typeface="Courier New" panose="02070309020205020404" pitchFamily="49" charset="0"/>
              </a:rPr>
              <a:t>y</a:t>
            </a:r>
            <a:r>
              <a:rPr lang="en-US" altLang="zh-CN" sz="2200"/>
              <a:t> and </a:t>
            </a:r>
            <a:r>
              <a:rPr lang="en-US" altLang="zh-CN" sz="2200">
                <a:latin typeface="Courier New" panose="02070309020205020404" pitchFamily="49" charset="0"/>
              </a:rPr>
              <a:t>z</a:t>
            </a:r>
            <a:r>
              <a:rPr lang="en-US" altLang="zh-CN" sz="2200"/>
              <a:t> to </a:t>
            </a:r>
            <a:r>
              <a:rPr lang="en-US" altLang="zh-CN" sz="2200">
                <a:latin typeface="Courier New" panose="02070309020205020404" pitchFamily="49" charset="0"/>
              </a:rPr>
              <a:t>I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A similar approach is taken for unary operators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A08-DDB4-40F8-A863-019FF5D7F6C2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01000" cy="914400"/>
          </a:xfrm>
        </p:spPr>
        <p:txBody>
          <a:bodyPr/>
          <a:lstStyle/>
          <a:p>
            <a:pPr algn="ctr"/>
            <a:r>
              <a:rPr lang="en-US" altLang="zh-CN"/>
              <a:t>Reusing Temporaries</a:t>
            </a:r>
          </a:p>
        </p:txBody>
      </p:sp>
      <p:sp>
        <p:nvSpPr>
          <p:cNvPr id="28160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47800"/>
            <a:ext cx="8229600" cy="19891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It is sometimes convenient during optimization for every temporary to have its own name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Space can be saved, however, by reusing temporary names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Two temporaries can be packed into the same location if they are not live simultaneously</a:t>
            </a:r>
          </a:p>
        </p:txBody>
      </p:sp>
      <p:sp>
        <p:nvSpPr>
          <p:cNvPr id="281606" name="Text Box 6"/>
          <p:cNvSpPr txBox="1">
            <a:spLocks noChangeArrowheads="1"/>
          </p:cNvSpPr>
          <p:nvPr/>
        </p:nvSpPr>
        <p:spPr bwMode="auto">
          <a:xfrm>
            <a:off x="1371600" y="3962400"/>
            <a:ext cx="2133600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Courier New" panose="02070309020205020404" pitchFamily="49" charset="0"/>
              </a:rPr>
              <a:t>t1 := a * a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t2 := a * b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t3 := 2 * t2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t4 := t1 + t3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t5 := b * b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t6 := t4 + t5</a:t>
            </a:r>
          </a:p>
        </p:txBody>
      </p:sp>
      <p:sp>
        <p:nvSpPr>
          <p:cNvPr id="281607" name="Text Box 7"/>
          <p:cNvSpPr txBox="1">
            <a:spLocks noChangeArrowheads="1"/>
          </p:cNvSpPr>
          <p:nvPr/>
        </p:nvSpPr>
        <p:spPr bwMode="auto">
          <a:xfrm>
            <a:off x="4495800" y="3962400"/>
            <a:ext cx="2133600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Courier New" panose="02070309020205020404" pitchFamily="49" charset="0"/>
              </a:rPr>
              <a:t>t1 := a * a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t2 := a * b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t2 := 2 * t2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t1 := t1 + t3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t2 := b * b</a:t>
            </a:r>
          </a:p>
          <a:p>
            <a:r>
              <a:rPr lang="en-US" altLang="zh-CN">
                <a:latin typeface="Courier New" panose="02070309020205020404" pitchFamily="49" charset="0"/>
              </a:rPr>
              <a:t>t1 := t1 + t2</a:t>
            </a:r>
          </a:p>
        </p:txBody>
      </p:sp>
      <p:sp>
        <p:nvSpPr>
          <p:cNvPr id="281608" name="Line 8"/>
          <p:cNvSpPr>
            <a:spLocks noChangeShapeType="1"/>
          </p:cNvSpPr>
          <p:nvPr/>
        </p:nvSpPr>
        <p:spPr bwMode="auto">
          <a:xfrm>
            <a:off x="3733800" y="4876800"/>
            <a:ext cx="533400" cy="0"/>
          </a:xfrm>
          <a:prstGeom prst="line">
            <a:avLst/>
          </a:prstGeom>
          <a:noFill/>
          <a:ln w="889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DF54C-040F-4C72-9C33-7AE62AB628BA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 sz="4000"/>
              <a:t>A Simple Code Generator (P.535)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153400" cy="5105400"/>
          </a:xfrm>
        </p:spPr>
        <p:txBody>
          <a:bodyPr/>
          <a:lstStyle/>
          <a:p>
            <a:r>
              <a:rPr lang="en-US" altLang="zh-CN" sz="2400"/>
              <a:t>The book describes a simple code generator</a:t>
            </a:r>
          </a:p>
          <a:p>
            <a:r>
              <a:rPr lang="en-US" altLang="zh-CN" sz="2400"/>
              <a:t>Generates target code for a sequence of three-address statements</a:t>
            </a:r>
          </a:p>
          <a:p>
            <a:r>
              <a:rPr lang="en-US" altLang="zh-CN" sz="2400"/>
              <a:t>Considers statements one at a time:</a:t>
            </a:r>
          </a:p>
          <a:p>
            <a:pPr lvl="1"/>
            <a:r>
              <a:rPr lang="en-US" altLang="zh-CN" sz="2000"/>
              <a:t>Remembers if any of the operands are currently in registers</a:t>
            </a:r>
          </a:p>
          <a:p>
            <a:pPr lvl="1"/>
            <a:r>
              <a:rPr lang="en-US" altLang="zh-CN" sz="2000"/>
              <a:t>Takes advantage of that if possible</a:t>
            </a:r>
          </a:p>
          <a:p>
            <a:r>
              <a:rPr lang="en-US" altLang="zh-CN" sz="2400"/>
              <a:t>Assumes that for each operator in three-address code there is a corresponding target-language operator</a:t>
            </a:r>
          </a:p>
          <a:p>
            <a:r>
              <a:rPr lang="en-US" altLang="zh-CN" sz="2400"/>
              <a:t>Also assumes that computed results can be left in registers as long as possible, storing them only:</a:t>
            </a:r>
          </a:p>
          <a:p>
            <a:pPr lvl="1"/>
            <a:r>
              <a:rPr lang="en-US" altLang="zh-CN" sz="2000"/>
              <a:t>If their register is needed for another computation</a:t>
            </a:r>
          </a:p>
          <a:p>
            <a:pPr lvl="1"/>
            <a:r>
              <a:rPr lang="en-US" altLang="zh-CN" sz="2000"/>
              <a:t>Just before a jump, labeled statement, or procedure call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45A-2357-414C-8C4E-3E012D3ED177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55038" cy="1066800"/>
          </a:xfrm>
        </p:spPr>
        <p:txBody>
          <a:bodyPr/>
          <a:lstStyle/>
          <a:p>
            <a:pPr algn="ctr"/>
            <a:r>
              <a:rPr lang="en-US" altLang="zh-CN" sz="4000"/>
              <a:t>Register and Address Descriptors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229600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/>
              <a:t>A register descriptor keeps track of what is currently in each register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Consulted whenever a new register is needed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Assumes that all registers are empty at the start of a basic block</a:t>
            </a:r>
          </a:p>
          <a:p>
            <a:pPr>
              <a:lnSpc>
                <a:spcPct val="80000"/>
              </a:lnSpc>
            </a:pPr>
            <a:r>
              <a:rPr lang="en-US" altLang="zh-CN" sz="2800"/>
              <a:t>An address descriptor keeps track of the location where the current value of a name can be found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The location might be a register, a memory address, a stack location, or some set of these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The information can be stored in a symbol table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The information is used to determine how to access the value of a name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8E417-E7AA-474E-81BD-1B1DCD869ECA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153400" cy="1066800"/>
          </a:xfrm>
        </p:spPr>
        <p:txBody>
          <a:bodyPr/>
          <a:lstStyle/>
          <a:p>
            <a:pPr algn="ctr"/>
            <a:r>
              <a:rPr lang="en-US" altLang="zh-CN" sz="4000"/>
              <a:t>Code-Generation Algorithm (P.537)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077200" cy="4724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For each three-address statement </a:t>
            </a:r>
            <a:r>
              <a:rPr lang="en-US" altLang="zh-CN" sz="2400">
                <a:latin typeface="Courier New" panose="02070309020205020404" pitchFamily="49" charset="0"/>
              </a:rPr>
              <a:t>x := y op z</a:t>
            </a:r>
            <a:r>
              <a:rPr lang="en-US" altLang="zh-CN" sz="2400"/>
              <a:t> perform the following actions: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Invoke a function </a:t>
            </a:r>
            <a:r>
              <a:rPr lang="en-US" altLang="zh-CN" sz="2000">
                <a:latin typeface="Courier New" panose="02070309020205020404" pitchFamily="49" charset="0"/>
              </a:rPr>
              <a:t>getreg</a:t>
            </a:r>
            <a:r>
              <a:rPr lang="en-US" altLang="zh-CN" sz="2000"/>
              <a:t> which determines the location </a:t>
            </a:r>
            <a:r>
              <a:rPr lang="en-US" altLang="zh-CN" sz="2000">
                <a:latin typeface="Courier New" panose="02070309020205020404" pitchFamily="49" charset="0"/>
              </a:rPr>
              <a:t>L</a:t>
            </a:r>
            <a:r>
              <a:rPr lang="en-US" altLang="zh-CN" sz="2000"/>
              <a:t> where the result should be stored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latin typeface="Courier New" panose="02070309020205020404" pitchFamily="49" charset="0"/>
              </a:rPr>
              <a:t>L</a:t>
            </a:r>
            <a:r>
              <a:rPr lang="en-US" altLang="zh-CN" sz="2000"/>
              <a:t> will usually be a register but could be a memory location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Consult the address descriptor for </a:t>
            </a:r>
            <a:r>
              <a:rPr lang="en-US" altLang="zh-CN" sz="2000">
                <a:latin typeface="Courier New" panose="02070309020205020404" pitchFamily="49" charset="0"/>
              </a:rPr>
              <a:t>y</a:t>
            </a:r>
            <a:r>
              <a:rPr lang="en-US" altLang="zh-CN" sz="2000"/>
              <a:t> to determine </a:t>
            </a:r>
            <a:r>
              <a:rPr lang="en-US" altLang="zh-CN" sz="2000">
                <a:latin typeface="Courier New" panose="02070309020205020404" pitchFamily="49" charset="0"/>
              </a:rPr>
              <a:t>y'</a:t>
            </a:r>
            <a:r>
              <a:rPr lang="en-US" altLang="zh-CN" sz="2000"/>
              <a:t>, one of the current locations of </a:t>
            </a:r>
            <a:r>
              <a:rPr lang="en-US" altLang="zh-CN" sz="2000">
                <a:latin typeface="Courier New" panose="02070309020205020404" pitchFamily="49" charset="0"/>
              </a:rPr>
              <a:t>y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If the value of y is not already in L, generate the instruction </a:t>
            </a:r>
            <a:r>
              <a:rPr lang="en-US" altLang="zh-CN" sz="2000">
                <a:latin typeface="Courier New" panose="02070309020205020404" pitchFamily="49" charset="0"/>
              </a:rPr>
              <a:t>MOV L, y'</a:t>
            </a:r>
            <a:r>
              <a:rPr lang="en-US" altLang="zh-CN" sz="2000"/>
              <a:t> to place a copy of </a:t>
            </a:r>
            <a:r>
              <a:rPr lang="en-US" altLang="zh-CN" sz="2000">
                <a:latin typeface="Courier New" panose="02070309020205020404" pitchFamily="49" charset="0"/>
              </a:rPr>
              <a:t>y</a:t>
            </a:r>
            <a:r>
              <a:rPr lang="en-US" altLang="zh-CN" sz="2000"/>
              <a:t> in </a:t>
            </a:r>
            <a:r>
              <a:rPr lang="en-US" altLang="zh-CN" sz="2000">
                <a:latin typeface="Courier New" panose="02070309020205020404" pitchFamily="49" charset="0"/>
              </a:rPr>
              <a:t>L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Generate the instruction </a:t>
            </a:r>
            <a:r>
              <a:rPr lang="en-US" altLang="zh-CN" sz="2000">
                <a:latin typeface="Courier New" panose="02070309020205020404" pitchFamily="49" charset="0"/>
              </a:rPr>
              <a:t>OP L,L,z',</a:t>
            </a:r>
            <a:r>
              <a:rPr lang="en-US" altLang="zh-CN" sz="2000"/>
              <a:t> where </a:t>
            </a:r>
            <a:r>
              <a:rPr lang="en-US" altLang="zh-CN" sz="2000">
                <a:latin typeface="Courier New" panose="02070309020205020404" pitchFamily="49" charset="0"/>
              </a:rPr>
              <a:t>z'</a:t>
            </a:r>
            <a:r>
              <a:rPr lang="en-US" altLang="zh-CN" sz="2000"/>
              <a:t> is the chosen current location of </a:t>
            </a:r>
            <a:r>
              <a:rPr lang="en-US" altLang="zh-CN" sz="2000">
                <a:latin typeface="Courier New" panose="02070309020205020404" pitchFamily="49" charset="0"/>
              </a:rPr>
              <a:t>z</a:t>
            </a:r>
            <a:endParaRPr lang="en-US" altLang="zh-CN" sz="2000"/>
          </a:p>
          <a:p>
            <a:pPr lvl="1">
              <a:lnSpc>
                <a:spcPct val="80000"/>
              </a:lnSpc>
            </a:pPr>
            <a:r>
              <a:rPr lang="en-US" altLang="zh-CN" sz="2000"/>
              <a:t>If the current value of y or z is in a register and is no longer needed, update the register descriptor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The actions for unary operators are analogous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A simple assignment statement is a special case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1CE1-3C6A-476D-9EB4-E05D77F4D362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algn="ctr"/>
            <a:r>
              <a:rPr lang="en-US" altLang="zh-CN" sz="4000"/>
              <a:t>Implementing </a:t>
            </a:r>
            <a:r>
              <a:rPr lang="en-US" altLang="zh-CN" sz="4000">
                <a:latin typeface="Courier New" panose="02070309020205020404" pitchFamily="49" charset="0"/>
              </a:rPr>
              <a:t>getreg</a:t>
            </a:r>
            <a:r>
              <a:rPr lang="en-US" altLang="zh-CN" sz="4000"/>
              <a:t> (1) (P.538)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077200" cy="4572000"/>
          </a:xfrm>
        </p:spPr>
        <p:txBody>
          <a:bodyPr/>
          <a:lstStyle/>
          <a:p>
            <a:r>
              <a:rPr lang="en-US" altLang="zh-CN" sz="2800"/>
              <a:t>The function returns the location </a:t>
            </a:r>
            <a:r>
              <a:rPr lang="en-US" altLang="zh-CN" sz="2800">
                <a:latin typeface="Courier New" panose="02070309020205020404" pitchFamily="49" charset="0"/>
              </a:rPr>
              <a:t>L</a:t>
            </a:r>
            <a:r>
              <a:rPr lang="en-US" altLang="zh-CN" sz="2800"/>
              <a:t> to hold the result of </a:t>
            </a:r>
            <a:r>
              <a:rPr lang="en-US" altLang="zh-CN" sz="2800">
                <a:latin typeface="Courier New" panose="02070309020205020404" pitchFamily="49" charset="0"/>
              </a:rPr>
              <a:t>x := y op z</a:t>
            </a:r>
          </a:p>
          <a:p>
            <a:r>
              <a:rPr lang="en-US" altLang="zh-CN" sz="2800"/>
              <a:t>If </a:t>
            </a:r>
            <a:r>
              <a:rPr lang="en-US" altLang="zh-CN" sz="2800">
                <a:latin typeface="Courier New" panose="02070309020205020404" pitchFamily="49" charset="0"/>
              </a:rPr>
              <a:t>y</a:t>
            </a:r>
            <a:r>
              <a:rPr lang="en-US" altLang="zh-CN" sz="2800"/>
              <a:t> is already in a register:</a:t>
            </a:r>
          </a:p>
          <a:p>
            <a:pPr lvl="1"/>
            <a:r>
              <a:rPr lang="en-US" altLang="zh-CN" sz="2400">
                <a:latin typeface="Courier New" panose="02070309020205020404" pitchFamily="49" charset="0"/>
              </a:rPr>
              <a:t>L</a:t>
            </a:r>
            <a:r>
              <a:rPr lang="en-US" altLang="zh-CN" sz="2400"/>
              <a:t> can be set to </a:t>
            </a:r>
            <a:r>
              <a:rPr lang="en-US" altLang="zh-CN" sz="2400">
                <a:latin typeface="Courier New" panose="02070309020205020404" pitchFamily="49" charset="0"/>
              </a:rPr>
              <a:t>y</a:t>
            </a:r>
            <a:r>
              <a:rPr lang="en-US" altLang="zh-CN" sz="2400"/>
              <a:t> if the following conditions are true:</a:t>
            </a:r>
          </a:p>
          <a:p>
            <a:pPr lvl="2"/>
            <a:r>
              <a:rPr lang="en-US" altLang="zh-CN" sz="2000"/>
              <a:t>The name </a:t>
            </a:r>
            <a:r>
              <a:rPr lang="en-US" altLang="zh-CN" sz="2000">
                <a:latin typeface="Courier New" panose="02070309020205020404" pitchFamily="49" charset="0"/>
              </a:rPr>
              <a:t>y</a:t>
            </a:r>
            <a:r>
              <a:rPr lang="en-US" altLang="zh-CN" sz="2000"/>
              <a:t> is not live after exiting the block</a:t>
            </a:r>
          </a:p>
          <a:p>
            <a:pPr lvl="2"/>
            <a:r>
              <a:rPr lang="en-US" altLang="zh-CN" sz="2000"/>
              <a:t>There is no next use of </a:t>
            </a:r>
            <a:r>
              <a:rPr lang="en-US" altLang="zh-CN" sz="2000">
                <a:latin typeface="Courier New" panose="02070309020205020404" pitchFamily="49" charset="0"/>
              </a:rPr>
              <a:t>y</a:t>
            </a:r>
            <a:r>
              <a:rPr lang="en-US" altLang="zh-CN" sz="2000"/>
              <a:t> after the execution of the statement, then return the register of y for L.</a:t>
            </a:r>
          </a:p>
          <a:p>
            <a:pPr lvl="1"/>
            <a:r>
              <a:rPr lang="en-US" altLang="zh-CN" sz="2400"/>
              <a:t>In this case, update the address descriptor of </a:t>
            </a:r>
            <a:r>
              <a:rPr lang="en-US" altLang="zh-CN" sz="2400">
                <a:latin typeface="Courier New" panose="02070309020205020404" pitchFamily="49" charset="0"/>
              </a:rPr>
              <a:t>y</a:t>
            </a:r>
            <a:r>
              <a:rPr lang="en-US" altLang="zh-CN" sz="2400"/>
              <a:t> to indicate that the value of </a:t>
            </a:r>
            <a:r>
              <a:rPr lang="en-US" altLang="zh-CN" sz="2400">
                <a:latin typeface="Courier New" panose="02070309020205020404" pitchFamily="49" charset="0"/>
              </a:rPr>
              <a:t>y</a:t>
            </a:r>
            <a:r>
              <a:rPr lang="en-US" altLang="zh-CN" sz="2400"/>
              <a:t> is no longer in </a:t>
            </a:r>
            <a:r>
              <a:rPr lang="en-US" altLang="zh-CN" sz="2400">
                <a:latin typeface="Courier New" panose="02070309020205020404" pitchFamily="49" charset="0"/>
              </a:rPr>
              <a:t>L.</a:t>
            </a:r>
          </a:p>
          <a:p>
            <a:r>
              <a:rPr lang="en-US" altLang="zh-CN" sz="2800"/>
              <a:t>Otherwise, if there is an empty register, use it</a:t>
            </a:r>
            <a:endParaRPr lang="en-US" altLang="zh-CN" sz="28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9AF1C-4747-4341-84F3-FA5996937BA2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077200" cy="990600"/>
          </a:xfrm>
        </p:spPr>
        <p:txBody>
          <a:bodyPr/>
          <a:lstStyle/>
          <a:p>
            <a:pPr algn="ctr"/>
            <a:r>
              <a:rPr lang="en-US" altLang="zh-CN"/>
              <a:t>Implementing </a:t>
            </a:r>
            <a:r>
              <a:rPr lang="en-US" altLang="zh-CN">
                <a:latin typeface="Courier New" panose="02070309020205020404" pitchFamily="49" charset="0"/>
              </a:rPr>
              <a:t>getreg</a:t>
            </a:r>
            <a:r>
              <a:rPr lang="en-US" altLang="zh-CN"/>
              <a:t> (2)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382000" cy="4495800"/>
          </a:xfrm>
        </p:spPr>
        <p:txBody>
          <a:bodyPr/>
          <a:lstStyle/>
          <a:p>
            <a:r>
              <a:rPr lang="en-US" altLang="zh-CN" sz="2800"/>
              <a:t>Otherwise, if </a:t>
            </a:r>
            <a:r>
              <a:rPr lang="en-US" altLang="zh-CN" sz="2800">
                <a:latin typeface="Courier New" panose="02070309020205020404" pitchFamily="49" charset="0"/>
              </a:rPr>
              <a:t>x</a:t>
            </a:r>
            <a:r>
              <a:rPr lang="en-US" altLang="zh-CN" sz="2800"/>
              <a:t> has a next use in the block or </a:t>
            </a:r>
            <a:r>
              <a:rPr lang="en-US" altLang="zh-CN" sz="2800">
                <a:latin typeface="Courier New" panose="02070309020205020404" pitchFamily="49" charset="0"/>
              </a:rPr>
              <a:t>op</a:t>
            </a:r>
            <a:r>
              <a:rPr lang="en-US" altLang="zh-CN" sz="2800"/>
              <a:t> requires a register, then:</a:t>
            </a:r>
          </a:p>
          <a:p>
            <a:pPr lvl="1"/>
            <a:r>
              <a:rPr lang="en-US" altLang="zh-CN" sz="2400"/>
              <a:t>Choose an occupied register </a:t>
            </a:r>
            <a:r>
              <a:rPr lang="en-US" altLang="zh-CN" sz="2400">
                <a:latin typeface="Courier New" panose="02070309020205020404" pitchFamily="49" charset="0"/>
              </a:rPr>
              <a:t>R</a:t>
            </a:r>
          </a:p>
          <a:p>
            <a:pPr lvl="1"/>
            <a:r>
              <a:rPr lang="en-US" altLang="zh-CN" sz="2400"/>
              <a:t>For every variable in </a:t>
            </a:r>
            <a:r>
              <a:rPr lang="en-US" altLang="zh-CN" sz="2400">
                <a:latin typeface="Courier New" panose="02070309020205020404" pitchFamily="49" charset="0"/>
              </a:rPr>
              <a:t>R</a:t>
            </a:r>
          </a:p>
          <a:p>
            <a:pPr lvl="2"/>
            <a:r>
              <a:rPr lang="en-US" altLang="zh-CN" sz="2000"/>
              <a:t>If the variable is not also in memory, execute an instruction </a:t>
            </a:r>
            <a:r>
              <a:rPr lang="en-US" altLang="zh-CN" sz="2000">
                <a:latin typeface="Courier New" panose="02070309020205020404" pitchFamily="49" charset="0"/>
              </a:rPr>
              <a:t>MOV M, R</a:t>
            </a:r>
            <a:endParaRPr lang="en-US" altLang="zh-CN" sz="2000"/>
          </a:p>
          <a:p>
            <a:pPr lvl="2"/>
            <a:r>
              <a:rPr lang="en-US" altLang="zh-CN" sz="2000"/>
              <a:t>Update the appropriate address descriptor</a:t>
            </a:r>
          </a:p>
          <a:p>
            <a:pPr lvl="1"/>
            <a:r>
              <a:rPr lang="en-US" altLang="zh-CN" sz="2400"/>
              <a:t>Set </a:t>
            </a:r>
            <a:r>
              <a:rPr lang="en-US" altLang="zh-CN" sz="2400">
                <a:latin typeface="Courier New" panose="02070309020205020404" pitchFamily="49" charset="0"/>
              </a:rPr>
              <a:t>L</a:t>
            </a:r>
            <a:r>
              <a:rPr lang="en-US" altLang="zh-CN" sz="2400"/>
              <a:t> to </a:t>
            </a:r>
            <a:r>
              <a:rPr lang="en-US" altLang="zh-CN" sz="2400">
                <a:latin typeface="Courier New" panose="02070309020205020404" pitchFamily="49" charset="0"/>
              </a:rPr>
              <a:t>R</a:t>
            </a:r>
          </a:p>
          <a:p>
            <a:r>
              <a:rPr lang="en-US" altLang="zh-CN" sz="2800"/>
              <a:t>Otherwise, select the memory location of </a:t>
            </a:r>
            <a:r>
              <a:rPr lang="en-US" altLang="zh-CN" sz="2800">
                <a:latin typeface="Courier New" panose="02070309020205020404" pitchFamily="49" charset="0"/>
              </a:rPr>
              <a:t>x </a:t>
            </a:r>
            <a:r>
              <a:rPr lang="en-US" altLang="zh-CN" sz="2800"/>
              <a:t>for </a:t>
            </a:r>
            <a:r>
              <a:rPr lang="en-US" altLang="zh-CN" sz="2800">
                <a:latin typeface="Courier New" panose="02070309020205020404" pitchFamily="49" charset="0"/>
              </a:rPr>
              <a:t>L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C2B4-726B-4393-9FE0-D9D2B5DDD0B9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458200" cy="1066800"/>
          </a:xfrm>
        </p:spPr>
        <p:txBody>
          <a:bodyPr/>
          <a:lstStyle/>
          <a:p>
            <a:pPr algn="ctr"/>
            <a:r>
              <a:rPr lang="en-US" altLang="zh-CN"/>
              <a:t>Code Generation Example (1)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058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Consider the statement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      d := (a - b) + (a - c) + (a - c)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This may be translated into the following three-address code: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t := a – b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u := a – c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v := t + u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d := v + u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Assume that </a:t>
            </a:r>
            <a:r>
              <a:rPr lang="en-US" altLang="zh-CN" sz="2400">
                <a:latin typeface="Courier New" panose="02070309020205020404" pitchFamily="49" charset="0"/>
              </a:rPr>
              <a:t>d</a:t>
            </a:r>
            <a:r>
              <a:rPr lang="en-US" altLang="zh-CN" sz="2400"/>
              <a:t> is live at end of block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Assume that </a:t>
            </a:r>
            <a:r>
              <a:rPr lang="en-US" altLang="zh-CN" sz="2400">
                <a:latin typeface="Courier New" panose="02070309020205020404" pitchFamily="49" charset="0"/>
              </a:rPr>
              <a:t>a</a:t>
            </a:r>
            <a:r>
              <a:rPr lang="en-US" altLang="zh-CN" sz="2400"/>
              <a:t>, </a:t>
            </a:r>
            <a:r>
              <a:rPr lang="en-US" altLang="zh-CN" sz="2400">
                <a:latin typeface="Courier New" panose="02070309020205020404" pitchFamily="49" charset="0"/>
              </a:rPr>
              <a:t>b</a:t>
            </a:r>
            <a:r>
              <a:rPr lang="en-US" altLang="zh-CN" sz="2400"/>
              <a:t>, and </a:t>
            </a:r>
            <a:r>
              <a:rPr lang="en-US" altLang="zh-CN" sz="2400">
                <a:latin typeface="Courier New" panose="02070309020205020404" pitchFamily="49" charset="0"/>
              </a:rPr>
              <a:t>c</a:t>
            </a:r>
            <a:r>
              <a:rPr lang="en-US" altLang="zh-CN" sz="2400"/>
              <a:t> are always in memory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Assume that </a:t>
            </a:r>
            <a:r>
              <a:rPr lang="en-US" altLang="zh-CN" sz="2400">
                <a:latin typeface="Courier New" panose="02070309020205020404" pitchFamily="49" charset="0"/>
              </a:rPr>
              <a:t>t</a:t>
            </a:r>
            <a:r>
              <a:rPr lang="en-US" altLang="zh-CN" sz="2400"/>
              <a:t>, </a:t>
            </a:r>
            <a:r>
              <a:rPr lang="en-US" altLang="zh-CN" sz="2400">
                <a:latin typeface="Courier New" panose="02070309020205020404" pitchFamily="49" charset="0"/>
              </a:rPr>
              <a:t>u</a:t>
            </a:r>
            <a:r>
              <a:rPr lang="en-US" altLang="zh-CN" sz="2400"/>
              <a:t>, and </a:t>
            </a:r>
            <a:r>
              <a:rPr lang="en-US" altLang="zh-CN" sz="2400">
                <a:latin typeface="Courier New" panose="02070309020205020404" pitchFamily="49" charset="0"/>
              </a:rPr>
              <a:t>v</a:t>
            </a:r>
            <a:r>
              <a:rPr lang="en-US" altLang="zh-CN" sz="2400"/>
              <a:t>, being temporaries, are not in memory unless explicitly stored with a </a:t>
            </a:r>
            <a:r>
              <a:rPr lang="en-US" altLang="zh-CN" sz="2400">
                <a:latin typeface="Courier New" panose="02070309020205020404" pitchFamily="49" charset="0"/>
              </a:rPr>
              <a:t>MOV</a:t>
            </a:r>
            <a:r>
              <a:rPr lang="en-US" altLang="zh-CN" sz="2400"/>
              <a:t> instruction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99AF-343B-4E93-89F6-B93BF5E8E340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05800" cy="1066800"/>
          </a:xfrm>
        </p:spPr>
        <p:txBody>
          <a:bodyPr/>
          <a:lstStyle/>
          <a:p>
            <a:pPr algn="ctr"/>
            <a:r>
              <a:rPr lang="en-US" altLang="zh-CN"/>
              <a:t>Code Generation Example (2)</a:t>
            </a:r>
          </a:p>
        </p:txBody>
      </p:sp>
      <p:graphicFrame>
        <p:nvGraphicFramePr>
          <p:cNvPr id="289913" name="Group 121"/>
          <p:cNvGraphicFramePr>
            <a:graphicFrameLocks noGrp="1"/>
          </p:cNvGraphicFramePr>
          <p:nvPr>
            <p:ph idx="1"/>
          </p:nvPr>
        </p:nvGraphicFramePr>
        <p:xfrm>
          <a:off x="304800" y="1447800"/>
          <a:ext cx="8534400" cy="4532313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492293528"/>
                    </a:ext>
                  </a:extLst>
                </a:gridCol>
                <a:gridCol w="2125663">
                  <a:extLst>
                    <a:ext uri="{9D8B030D-6E8A-4147-A177-3AD203B41FA5}">
                      <a16:colId xmlns:a16="http://schemas.microsoft.com/office/drawing/2014/main" val="3952202407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3044833413"/>
                    </a:ext>
                  </a:extLst>
                </a:gridCol>
                <a:gridCol w="1817687">
                  <a:extLst>
                    <a:ext uri="{9D8B030D-6E8A-4147-A177-3AD203B41FA5}">
                      <a16:colId xmlns:a16="http://schemas.microsoft.com/office/drawing/2014/main" val="3562244925"/>
                    </a:ext>
                  </a:extLst>
                </a:gridCol>
              </a:tblGrid>
              <a:tr h="268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Statements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Generated Code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Register Descriptor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Address Descriptor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136981"/>
                  </a:ext>
                </a:extLst>
              </a:tr>
              <a:tr h="173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registers empty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977607"/>
                  </a:ext>
                </a:extLst>
              </a:tr>
              <a:tr h="1730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 := a - 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MOV R0, 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R0 contains 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 in R0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836970"/>
                  </a:ext>
                </a:extLst>
              </a:tr>
              <a:tr h="1746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SUB R0,R0,b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52594"/>
                  </a:ext>
                </a:extLst>
              </a:tr>
              <a:tr h="1730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u := a - 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MOV R1, 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R0 contains 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R1 contains 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 in R0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u in R1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628373"/>
                  </a:ext>
                </a:extLst>
              </a:tr>
              <a:tr h="1730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SUB R1,R1,c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2362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 := t + u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ADD R0,R1,R0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R0 contains v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R1 contains 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 in R0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u in R1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64882"/>
                  </a:ext>
                </a:extLst>
              </a:tr>
              <a:tr h="173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 := v + u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ADD R0,R1,R0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R0 contains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 in R0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380556"/>
                  </a:ext>
                </a:extLst>
              </a:tr>
              <a:tr h="346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MOV d, R0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R0 contains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 in R0 and memory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31234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6557-8132-473F-B6A1-3B1E43CF3EAB}" type="slidenum">
              <a:rPr lang="zh-CN" altLang="en-US"/>
              <a:pPr/>
              <a:t>40</a:t>
            </a:fld>
            <a:endParaRPr lang="en-US" altLang="zh-CN"/>
          </a:p>
        </p:txBody>
      </p:sp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305800" cy="914400"/>
          </a:xfrm>
        </p:spPr>
        <p:txBody>
          <a:bodyPr/>
          <a:lstStyle/>
          <a:p>
            <a:pPr algn="ctr"/>
            <a:r>
              <a:rPr lang="en-US" altLang="zh-CN" sz="4000"/>
              <a:t>Conditional Statements (1) (P.541)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305800" cy="5105400"/>
          </a:xfrm>
        </p:spPr>
        <p:txBody>
          <a:bodyPr/>
          <a:lstStyle/>
          <a:p>
            <a:r>
              <a:rPr lang="en-US" altLang="zh-CN" sz="2800"/>
              <a:t>Implemented in one of two ways</a:t>
            </a:r>
          </a:p>
          <a:p>
            <a:r>
              <a:rPr lang="en-US" altLang="zh-CN" sz="2800"/>
              <a:t>One way: branch if value of designated register meets one of six conditions</a:t>
            </a:r>
          </a:p>
          <a:p>
            <a:pPr lvl="1"/>
            <a:r>
              <a:rPr lang="en-US" altLang="zh-CN" sz="2400"/>
              <a:t>Six conditions are negative, zero, positive, nonnegative, nonzero, and nonpositive</a:t>
            </a:r>
          </a:p>
          <a:p>
            <a:pPr lvl="1"/>
            <a:r>
              <a:rPr lang="en-US" altLang="zh-CN" sz="2400"/>
              <a:t>To implement a three-address statement such as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  if x &lt; y goto z</a:t>
            </a:r>
            <a:endParaRPr lang="en-US" altLang="zh-CN" sz="2400"/>
          </a:p>
          <a:p>
            <a:pPr lvl="2"/>
            <a:r>
              <a:rPr lang="en-US" altLang="zh-CN" sz="2000"/>
              <a:t>Subtract </a:t>
            </a:r>
            <a:r>
              <a:rPr lang="en-US" altLang="zh-CN" sz="2000">
                <a:latin typeface="Courier New" panose="02070309020205020404" pitchFamily="49" charset="0"/>
              </a:rPr>
              <a:t>x</a:t>
            </a:r>
            <a:r>
              <a:rPr lang="en-US" altLang="zh-CN" sz="2000"/>
              <a:t> from </a:t>
            </a:r>
            <a:r>
              <a:rPr lang="en-US" altLang="zh-CN" sz="2000">
                <a:latin typeface="Courier New" panose="02070309020205020404" pitchFamily="49" charset="0"/>
              </a:rPr>
              <a:t>y</a:t>
            </a:r>
            <a:r>
              <a:rPr lang="en-US" altLang="zh-CN" sz="2000"/>
              <a:t> in register </a:t>
            </a:r>
            <a:r>
              <a:rPr lang="en-US" altLang="zh-CN" sz="2000">
                <a:latin typeface="Courier New" panose="02070309020205020404" pitchFamily="49" charset="0"/>
              </a:rPr>
              <a:t>R</a:t>
            </a:r>
          </a:p>
          <a:p>
            <a:pPr lvl="2"/>
            <a:r>
              <a:rPr lang="en-US" altLang="zh-CN" sz="2000"/>
              <a:t>If value in </a:t>
            </a:r>
            <a:r>
              <a:rPr lang="en-US" altLang="zh-CN" sz="2000">
                <a:latin typeface="Courier New" panose="02070309020205020404" pitchFamily="49" charset="0"/>
              </a:rPr>
              <a:t>R</a:t>
            </a:r>
            <a:r>
              <a:rPr lang="en-US" altLang="zh-CN" sz="2000"/>
              <a:t> is negative jump to </a:t>
            </a:r>
            <a:r>
              <a:rPr lang="en-US" altLang="zh-CN" sz="2000">
                <a:latin typeface="Courier New" panose="02070309020205020404" pitchFamily="49" charset="0"/>
              </a:rPr>
              <a:t>z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18DD3-7D14-4572-954C-81F2792A0CD9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066800"/>
          </a:xfrm>
        </p:spPr>
        <p:txBody>
          <a:bodyPr/>
          <a:lstStyle/>
          <a:p>
            <a:pPr algn="ctr"/>
            <a:r>
              <a:rPr lang="en-US" altLang="zh-CN"/>
              <a:t>Conditional Statements (2)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3810000"/>
          </a:xfrm>
        </p:spPr>
        <p:txBody>
          <a:bodyPr/>
          <a:lstStyle/>
          <a:p>
            <a:r>
              <a:rPr lang="en-US" altLang="zh-CN" sz="2000"/>
              <a:t>A second approach uses a set of condition codes</a:t>
            </a:r>
          </a:p>
          <a:p>
            <a:r>
              <a:rPr lang="en-US" altLang="zh-CN" sz="2000"/>
              <a:t>Codes indicate whether the last quantity computed or loaded into a register is negative, zero, or positive</a:t>
            </a:r>
          </a:p>
          <a:p>
            <a:r>
              <a:rPr lang="en-US" altLang="zh-CN" sz="2000"/>
              <a:t>Many machines use a compare instruction </a:t>
            </a:r>
            <a:r>
              <a:rPr lang="en-US" altLang="zh-CN" sz="2000">
                <a:latin typeface="Courier New" panose="02070309020205020404" pitchFamily="49" charset="0"/>
              </a:rPr>
              <a:t>cmp</a:t>
            </a:r>
            <a:r>
              <a:rPr lang="en-US" altLang="zh-CN" sz="2000"/>
              <a:t> that sets a condition code without subtracting</a:t>
            </a:r>
          </a:p>
          <a:p>
            <a:r>
              <a:rPr lang="en-US" altLang="zh-CN" sz="2000"/>
              <a:t>Other instructions will compare and jump if the condition code meets certain criteria</a:t>
            </a:r>
          </a:p>
          <a:p>
            <a:r>
              <a:rPr lang="en-US" altLang="zh-CN" sz="2000"/>
              <a:t>To implement the statement </a:t>
            </a:r>
            <a:r>
              <a:rPr lang="en-US" altLang="zh-CN" sz="2000">
                <a:latin typeface="Courier New" panose="02070309020205020404" pitchFamily="49" charset="0"/>
              </a:rPr>
              <a:t>if x &lt; y goto z</a:t>
            </a:r>
            <a:r>
              <a:rPr lang="en-US" altLang="zh-CN" sz="2000"/>
              <a:t>, first execute </a:t>
            </a:r>
            <a:r>
              <a:rPr lang="en-US" altLang="zh-CN" sz="2000">
                <a:latin typeface="Courier New" panose="02070309020205020404" pitchFamily="49" charset="0"/>
              </a:rPr>
              <a:t>CMP x, y</a:t>
            </a:r>
            <a:r>
              <a:rPr lang="en-US" altLang="zh-CN" sz="2000"/>
              <a:t> and then </a:t>
            </a:r>
            <a:r>
              <a:rPr lang="en-US" altLang="zh-CN" sz="2000">
                <a:latin typeface="Courier New" panose="02070309020205020404" pitchFamily="49" charset="0"/>
              </a:rPr>
              <a:t>CJ&lt; z</a:t>
            </a:r>
          </a:p>
          <a:p>
            <a:r>
              <a:rPr lang="en-US" altLang="zh-CN" sz="2000"/>
              <a:t>A condition-code descriptor stores the name (or pair of names compared) that last set the condition code</a:t>
            </a:r>
          </a:p>
        </p:txBody>
      </p:sp>
      <p:sp>
        <p:nvSpPr>
          <p:cNvPr id="292868" name="Text Box 4"/>
          <p:cNvSpPr txBox="1">
            <a:spLocks noChangeArrowheads="1"/>
          </p:cNvSpPr>
          <p:nvPr/>
        </p:nvSpPr>
        <p:spPr bwMode="auto">
          <a:xfrm>
            <a:off x="5105400" y="4953000"/>
            <a:ext cx="26670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Courier New" panose="02070309020205020404" pitchFamily="49" charset="0"/>
              </a:rPr>
              <a:t>MOV R0, y</a:t>
            </a:r>
          </a:p>
          <a:p>
            <a:r>
              <a:rPr lang="en-US" altLang="zh-CN">
                <a:latin typeface="Courier New" panose="02070309020205020404" pitchFamily="49" charset="0"/>
              </a:rPr>
              <a:t>ADD R0,R0,z,</a:t>
            </a:r>
          </a:p>
          <a:p>
            <a:r>
              <a:rPr lang="en-US" altLang="zh-CN">
                <a:latin typeface="Courier New" panose="02070309020205020404" pitchFamily="49" charset="0"/>
              </a:rPr>
              <a:t>MOV x, R0</a:t>
            </a:r>
          </a:p>
          <a:p>
            <a:r>
              <a:rPr lang="en-US" altLang="zh-CN">
                <a:latin typeface="Courier New" panose="02070309020205020404" pitchFamily="49" charset="0"/>
              </a:rPr>
              <a:t>CJ&lt; z</a:t>
            </a:r>
          </a:p>
        </p:txBody>
      </p:sp>
      <p:sp>
        <p:nvSpPr>
          <p:cNvPr id="292869" name="Text Box 5"/>
          <p:cNvSpPr txBox="1">
            <a:spLocks noChangeArrowheads="1"/>
          </p:cNvSpPr>
          <p:nvPr/>
        </p:nvSpPr>
        <p:spPr bwMode="auto">
          <a:xfrm>
            <a:off x="1600200" y="5181600"/>
            <a:ext cx="23622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</a:rPr>
              <a:t>x := y + z</a:t>
            </a:r>
          </a:p>
          <a:p>
            <a:r>
              <a:rPr lang="en-US" altLang="zh-CN">
                <a:latin typeface="Courier New" panose="02070309020205020404" pitchFamily="49" charset="0"/>
              </a:rPr>
              <a:t>if x &lt; 0 goto z</a:t>
            </a:r>
          </a:p>
        </p:txBody>
      </p:sp>
      <p:sp>
        <p:nvSpPr>
          <p:cNvPr id="292870" name="Line 6"/>
          <p:cNvSpPr>
            <a:spLocks noChangeShapeType="1"/>
          </p:cNvSpPr>
          <p:nvPr/>
        </p:nvSpPr>
        <p:spPr bwMode="auto">
          <a:xfrm>
            <a:off x="4267200" y="5486400"/>
            <a:ext cx="533400" cy="0"/>
          </a:xfrm>
          <a:prstGeom prst="line">
            <a:avLst/>
          </a:prstGeom>
          <a:noFill/>
          <a:ln w="889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75D4-CAC3-4521-8C99-72187E0746F3}" type="slidenum">
              <a:rPr lang="zh-CN" altLang="en-US"/>
              <a:pPr/>
              <a:t>42</a:t>
            </a:fld>
            <a:endParaRPr lang="en-US" altLang="zh-CN"/>
          </a:p>
        </p:txBody>
      </p:sp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924800" cy="990600"/>
          </a:xfrm>
        </p:spPr>
        <p:txBody>
          <a:bodyPr/>
          <a:lstStyle/>
          <a:p>
            <a:pPr algn="ctr"/>
            <a:r>
              <a:rPr lang="en-US" altLang="zh-CN"/>
              <a:t>Register Allocation (P.541)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001000" cy="4648200"/>
          </a:xfrm>
        </p:spPr>
        <p:txBody>
          <a:bodyPr/>
          <a:lstStyle/>
          <a:p>
            <a:r>
              <a:rPr lang="en-US" altLang="zh-CN" sz="2800"/>
              <a:t>Register allocation decides which values in a program reside in registers</a:t>
            </a:r>
          </a:p>
          <a:p>
            <a:r>
              <a:rPr lang="en-US" altLang="zh-CN" sz="2800"/>
              <a:t>Register assignment decides in which register each value resides</a:t>
            </a:r>
          </a:p>
          <a:p>
            <a:r>
              <a:rPr lang="en-US" altLang="zh-CN" sz="2800"/>
              <a:t>Often certain registers are reserved for certain purposes:</a:t>
            </a:r>
          </a:p>
          <a:p>
            <a:pPr lvl="1"/>
            <a:r>
              <a:rPr lang="en-US" altLang="zh-CN" sz="2400"/>
              <a:t>base registers</a:t>
            </a:r>
          </a:p>
          <a:p>
            <a:pPr lvl="1"/>
            <a:r>
              <a:rPr lang="en-US" altLang="zh-CN" sz="2400"/>
              <a:t>stack pointers</a:t>
            </a:r>
          </a:p>
          <a:p>
            <a:r>
              <a:rPr lang="en-US" altLang="zh-CN" sz="2800"/>
              <a:t>Remaining registers remain free for compiler to do with what it likes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FA46-652B-47A7-9541-9EE61267FF31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 sz="4000"/>
              <a:t>Global Register Allocation (P.542)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Previously discussed strategy stores all registers at the end of each block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To eliminate stores and loads, assign some registers to frequently used variables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Keep these registers consistent across block boundaries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Assuming we know which values are used outside of a basic block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Fact: many programs spend most of their execution time in inner loops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Some compilers assign fixed number of registers to hold the most active values in each inner loop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Some languages allow programmer to specify register declarations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5F70-A72C-47F0-9C31-A0D01B5A2412}" type="slidenum">
              <a:rPr lang="zh-CN" altLang="en-US"/>
              <a:pPr/>
              <a:t>44</a:t>
            </a:fld>
            <a:endParaRPr lang="en-US" altLang="zh-CN"/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93038" cy="1066800"/>
          </a:xfrm>
        </p:spPr>
        <p:txBody>
          <a:bodyPr/>
          <a:lstStyle/>
          <a:p>
            <a:pPr algn="ctr"/>
            <a:r>
              <a:rPr lang="en-US" altLang="zh-CN"/>
              <a:t>Usage Counts (P.542)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Usage counts determine the benefit from allocating a register for a variable </a:t>
            </a:r>
            <a:r>
              <a:rPr lang="en-US" altLang="zh-CN" sz="2800">
                <a:latin typeface="Courier New" panose="02070309020205020404" pitchFamily="49" charset="0"/>
              </a:rPr>
              <a:t>x</a:t>
            </a:r>
            <a:r>
              <a:rPr lang="en-US" altLang="zh-CN" sz="2800"/>
              <a:t> in a loop </a:t>
            </a:r>
            <a:r>
              <a:rPr lang="en-US" altLang="zh-CN" sz="2800">
                <a:latin typeface="Courier New" panose="02070309020205020404" pitchFamily="49" charset="0"/>
              </a:rPr>
              <a:t>L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For each basic block </a:t>
            </a:r>
            <a:r>
              <a:rPr lang="en-US" altLang="zh-CN" sz="2800">
                <a:latin typeface="Courier New" panose="02070309020205020404" pitchFamily="49" charset="0"/>
              </a:rPr>
              <a:t>B</a:t>
            </a:r>
            <a:r>
              <a:rPr lang="en-US" altLang="zh-CN" sz="2800"/>
              <a:t> in </a:t>
            </a:r>
            <a:r>
              <a:rPr lang="en-US" altLang="zh-CN" sz="2800">
                <a:latin typeface="Courier New" panose="02070309020205020404" pitchFamily="49" charset="0"/>
              </a:rPr>
              <a:t>L</a:t>
            </a:r>
            <a:r>
              <a:rPr lang="en-US" altLang="zh-CN" sz="280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We save one unit cost for each use of </a:t>
            </a:r>
            <a:r>
              <a:rPr lang="en-US" altLang="zh-CN" sz="2400">
                <a:latin typeface="Courier New" panose="02070309020205020404" pitchFamily="49" charset="0"/>
              </a:rPr>
              <a:t>x</a:t>
            </a:r>
            <a:r>
              <a:rPr lang="en-US" altLang="zh-CN" sz="2400"/>
              <a:t> in </a:t>
            </a:r>
            <a:r>
              <a:rPr lang="en-US" altLang="zh-CN" sz="2400">
                <a:latin typeface="Courier New" panose="02070309020205020404" pitchFamily="49" charset="0"/>
              </a:rPr>
              <a:t>B</a:t>
            </a:r>
            <a:r>
              <a:rPr lang="en-US" altLang="zh-CN" sz="2400"/>
              <a:t> preceding a definition of </a:t>
            </a:r>
            <a:r>
              <a:rPr lang="en-US" altLang="zh-CN" sz="2400">
                <a:latin typeface="Courier New" panose="02070309020205020404" pitchFamily="49" charset="0"/>
              </a:rPr>
              <a:t>x</a:t>
            </a:r>
            <a:r>
              <a:rPr lang="en-US" altLang="zh-CN" sz="2400"/>
              <a:t> in </a:t>
            </a:r>
            <a:r>
              <a:rPr lang="en-US" altLang="zh-CN" sz="2400">
                <a:latin typeface="Courier New" panose="02070309020205020404" pitchFamily="49" charset="0"/>
              </a:rPr>
              <a:t>B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We save two units if we can avoid a store of x at the end of the block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Such storage would be necessary if </a:t>
            </a:r>
            <a:r>
              <a:rPr lang="en-US" altLang="zh-CN" sz="2400">
                <a:latin typeface="Courier New" panose="02070309020205020404" pitchFamily="49" charset="0"/>
              </a:rPr>
              <a:t>x</a:t>
            </a:r>
            <a:r>
              <a:rPr lang="en-US" altLang="zh-CN" sz="2400"/>
              <a:t> is assigned a value in </a:t>
            </a:r>
            <a:r>
              <a:rPr lang="en-US" altLang="zh-CN" sz="2400">
                <a:latin typeface="Courier New" panose="02070309020205020404" pitchFamily="49" charset="0"/>
              </a:rPr>
              <a:t>B</a:t>
            </a:r>
            <a:r>
              <a:rPr lang="en-US" altLang="zh-CN" sz="2400"/>
              <a:t> and live on exit from </a:t>
            </a:r>
            <a:r>
              <a:rPr lang="en-US" altLang="zh-CN" sz="2400">
                <a:latin typeface="Courier New" panose="02070309020205020404" pitchFamily="49" charset="0"/>
              </a:rPr>
              <a:t>B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There is some cost at entry and exit from loop, but if loop has many iterations, that is negligible</a:t>
            </a:r>
          </a:p>
          <a:p>
            <a:pPr>
              <a:lnSpc>
                <a:spcPct val="90000"/>
              </a:lnSpc>
            </a:pPr>
            <a:endParaRPr lang="en-US" altLang="zh-CN" sz="28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7A19-A8B2-413A-9170-BD7B42E8B722}" type="slidenum">
              <a:rPr lang="zh-CN" altLang="en-US"/>
              <a:pPr/>
              <a:t>45</a:t>
            </a:fld>
            <a:endParaRPr lang="en-US" altLang="zh-CN"/>
          </a:p>
        </p:txBody>
      </p:sp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60363" y="152400"/>
            <a:ext cx="8326437" cy="990600"/>
          </a:xfrm>
        </p:spPr>
        <p:txBody>
          <a:bodyPr/>
          <a:lstStyle/>
          <a:p>
            <a:pPr algn="ctr"/>
            <a:r>
              <a:rPr lang="en-US" altLang="zh-CN" sz="3600"/>
              <a:t>Directed Acyclic Graphs (DAGs) (P.546)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153400" cy="4648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/>
              <a:t>A dag for a basic block is a directed acyclic graph such that: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Leaves, represent the initial values of name</a:t>
            </a:r>
          </a:p>
          <a:p>
            <a:pPr lvl="2">
              <a:lnSpc>
                <a:spcPct val="80000"/>
              </a:lnSpc>
            </a:pPr>
            <a:r>
              <a:rPr lang="en-US" altLang="zh-CN" sz="2000"/>
              <a:t>Labeled by unique identifiers, either variable names or constants</a:t>
            </a:r>
          </a:p>
          <a:p>
            <a:pPr lvl="2">
              <a:lnSpc>
                <a:spcPct val="80000"/>
              </a:lnSpc>
            </a:pPr>
            <a:r>
              <a:rPr lang="en-US" altLang="zh-CN" sz="2000"/>
              <a:t>Operator applied to name determines if l-value or r-value is needed; usually it is r-value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Interior nodes are labeled by an operators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Nodes are optionally also given a sequence of identifiers (identifiers that are assigned its value)</a:t>
            </a:r>
          </a:p>
          <a:p>
            <a:pPr>
              <a:lnSpc>
                <a:spcPct val="80000"/>
              </a:lnSpc>
            </a:pPr>
            <a:r>
              <a:rPr lang="en-US" altLang="zh-CN" sz="2800"/>
              <a:t>Useful for implementing transformations on and determining information about a basic block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2D7D-341C-4DB1-9E77-2F4D67EBB3DA}" type="slidenum">
              <a:rPr lang="zh-CN" altLang="en-US"/>
              <a:pPr/>
              <a:t>46</a:t>
            </a:fld>
            <a:endParaRPr lang="en-US" altLang="zh-CN"/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/>
              <a:t>Dag Example</a:t>
            </a:r>
          </a:p>
        </p:txBody>
      </p:sp>
      <p:pic>
        <p:nvPicPr>
          <p:cNvPr id="297989" name="Picture 5" descr="dag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2057400"/>
            <a:ext cx="6670675" cy="301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A2094-8D02-4C61-8CA0-13AA25243475}" type="slidenum">
              <a:rPr lang="zh-CN" altLang="en-US"/>
              <a:pPr/>
              <a:t>47</a:t>
            </a:fld>
            <a:endParaRPr lang="en-US" altLang="zh-CN"/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93038" cy="990600"/>
          </a:xfrm>
        </p:spPr>
        <p:txBody>
          <a:bodyPr/>
          <a:lstStyle/>
          <a:p>
            <a:pPr algn="ctr"/>
            <a:r>
              <a:rPr lang="en-US" altLang="zh-CN"/>
              <a:t>Using Dags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153400" cy="4724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A dag can be automatically constructed from code using a simple algorithm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Several useful pieces of information can be obtained: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Common subexpressions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Which identifiers have their values used in the block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Which statements compute values that could be used outside the block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Can be used to reconstruct a simplified list of quadruples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Can evaluate interior nodes of dag in any order that is a topological sort (all children before parent)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Heuristics exist to find good orders</a:t>
            </a:r>
          </a:p>
          <a:p>
            <a:pPr lvl="1">
              <a:lnSpc>
                <a:spcPct val="80000"/>
              </a:lnSpc>
            </a:pPr>
            <a:r>
              <a:rPr lang="en-US" altLang="zh-CN" sz="2000"/>
              <a:t>If dag is a tree, a simple algorithm exists to give optimal order (order leading to shortest instruction sequence)</a:t>
            </a:r>
          </a:p>
          <a:p>
            <a:pPr>
              <a:lnSpc>
                <a:spcPct val="80000"/>
              </a:lnSpc>
            </a:pPr>
            <a:endParaRPr lang="en-US" altLang="zh-CN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05C0-D8B8-4C80-9B27-F7F4875A48CE}" type="slidenum">
              <a:rPr lang="zh-CN" altLang="en-US"/>
              <a:pPr/>
              <a:t>48</a:t>
            </a:fld>
            <a:endParaRPr lang="en-US" altLang="zh-CN"/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31238" cy="990600"/>
          </a:xfrm>
        </p:spPr>
        <p:txBody>
          <a:bodyPr/>
          <a:lstStyle/>
          <a:p>
            <a:pPr algn="ctr"/>
            <a:r>
              <a:rPr lang="en-US" altLang="zh-CN" sz="3600"/>
              <a:t>Generating Code from Dags (1) (P.557)</a:t>
            </a:r>
          </a:p>
        </p:txBody>
      </p:sp>
      <p:pic>
        <p:nvPicPr>
          <p:cNvPr id="302084" name="Picture 4" descr="dag2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524000"/>
            <a:ext cx="4457700" cy="1876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2086" name="Text Box 6"/>
          <p:cNvSpPr txBox="1">
            <a:spLocks noChangeArrowheads="1"/>
          </p:cNvSpPr>
          <p:nvPr/>
        </p:nvSpPr>
        <p:spPr bwMode="auto">
          <a:xfrm>
            <a:off x="1828800" y="4191000"/>
            <a:ext cx="2057400" cy="132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 baseline="-25000">
                <a:latin typeface="Courier New" panose="02070309020205020404" pitchFamily="49" charset="0"/>
              </a:rPr>
              <a:t>1</a:t>
            </a:r>
            <a:r>
              <a:rPr lang="en-US" altLang="zh-CN" sz="2000">
                <a:latin typeface="Courier New" panose="02070309020205020404" pitchFamily="49" charset="0"/>
              </a:rPr>
              <a:t> := a + b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 baseline="-25000">
                <a:latin typeface="Courier New" panose="02070309020205020404" pitchFamily="49" charset="0"/>
              </a:rPr>
              <a:t>2</a:t>
            </a:r>
            <a:r>
              <a:rPr lang="en-US" altLang="zh-CN" sz="2000">
                <a:latin typeface="Courier New" panose="02070309020205020404" pitchFamily="49" charset="0"/>
              </a:rPr>
              <a:t> := c + d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 baseline="-25000">
                <a:latin typeface="Courier New" panose="02070309020205020404" pitchFamily="49" charset="0"/>
              </a:rPr>
              <a:t>3</a:t>
            </a:r>
            <a:r>
              <a:rPr lang="en-US" altLang="zh-CN" sz="2000">
                <a:latin typeface="Courier New" panose="02070309020205020404" pitchFamily="49" charset="0"/>
              </a:rPr>
              <a:t> := e – t</a:t>
            </a:r>
            <a:r>
              <a:rPr lang="en-US" altLang="zh-CN" sz="2000" baseline="-25000">
                <a:latin typeface="Courier New" panose="02070309020205020404" pitchFamily="49" charset="0"/>
              </a:rPr>
              <a:t>2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 baseline="-25000">
                <a:latin typeface="Courier New" panose="02070309020205020404" pitchFamily="49" charset="0"/>
              </a:rPr>
              <a:t>4</a:t>
            </a:r>
            <a:r>
              <a:rPr lang="en-US" altLang="zh-CN" sz="2000">
                <a:latin typeface="Courier New" panose="02070309020205020404" pitchFamily="49" charset="0"/>
              </a:rPr>
              <a:t> := t</a:t>
            </a:r>
            <a:r>
              <a:rPr lang="en-US" altLang="zh-CN" sz="2000" baseline="-25000">
                <a:latin typeface="Courier New" panose="02070309020205020404" pitchFamily="49" charset="0"/>
              </a:rPr>
              <a:t>1</a:t>
            </a:r>
            <a:r>
              <a:rPr lang="en-US" altLang="zh-CN" sz="2000">
                <a:latin typeface="Courier New" panose="02070309020205020404" pitchFamily="49" charset="0"/>
              </a:rPr>
              <a:t> – t</a:t>
            </a:r>
            <a:r>
              <a:rPr lang="en-US" altLang="zh-CN" sz="2000" baseline="-25000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302088" name="Text Box 8"/>
          <p:cNvSpPr txBox="1">
            <a:spLocks noChangeArrowheads="1"/>
          </p:cNvSpPr>
          <p:nvPr/>
        </p:nvSpPr>
        <p:spPr bwMode="auto">
          <a:xfrm>
            <a:off x="4572000" y="4191000"/>
            <a:ext cx="2057400" cy="132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 baseline="-25000">
                <a:latin typeface="Courier New" panose="02070309020205020404" pitchFamily="49" charset="0"/>
              </a:rPr>
              <a:t>2</a:t>
            </a:r>
            <a:r>
              <a:rPr lang="en-US" altLang="zh-CN" sz="2000">
                <a:latin typeface="Courier New" panose="02070309020205020404" pitchFamily="49" charset="0"/>
              </a:rPr>
              <a:t> := c + d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 baseline="-25000">
                <a:latin typeface="Courier New" panose="02070309020205020404" pitchFamily="49" charset="0"/>
              </a:rPr>
              <a:t>3</a:t>
            </a:r>
            <a:r>
              <a:rPr lang="en-US" altLang="zh-CN" sz="2000">
                <a:latin typeface="Courier New" panose="02070309020205020404" pitchFamily="49" charset="0"/>
              </a:rPr>
              <a:t> := e – t</a:t>
            </a:r>
            <a:r>
              <a:rPr lang="en-US" altLang="zh-CN" sz="2000" baseline="-25000">
                <a:latin typeface="Courier New" panose="02070309020205020404" pitchFamily="49" charset="0"/>
              </a:rPr>
              <a:t>2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 baseline="-25000">
                <a:latin typeface="Courier New" panose="02070309020205020404" pitchFamily="49" charset="0"/>
              </a:rPr>
              <a:t>1</a:t>
            </a:r>
            <a:r>
              <a:rPr lang="en-US" altLang="zh-CN" sz="2000">
                <a:latin typeface="Courier New" panose="02070309020205020404" pitchFamily="49" charset="0"/>
              </a:rPr>
              <a:t> := a + b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t</a:t>
            </a:r>
            <a:r>
              <a:rPr lang="en-US" altLang="zh-CN" sz="2000" baseline="-25000">
                <a:latin typeface="Courier New" panose="02070309020205020404" pitchFamily="49" charset="0"/>
              </a:rPr>
              <a:t>4</a:t>
            </a:r>
            <a:r>
              <a:rPr lang="en-US" altLang="zh-CN" sz="2000">
                <a:latin typeface="Courier New" panose="02070309020205020404" pitchFamily="49" charset="0"/>
              </a:rPr>
              <a:t> := t</a:t>
            </a:r>
            <a:r>
              <a:rPr lang="en-US" altLang="zh-CN" sz="2000" baseline="-25000">
                <a:latin typeface="Courier New" panose="02070309020205020404" pitchFamily="49" charset="0"/>
              </a:rPr>
              <a:t>1</a:t>
            </a:r>
            <a:r>
              <a:rPr lang="en-US" altLang="zh-CN" sz="2000">
                <a:latin typeface="Courier New" panose="02070309020205020404" pitchFamily="49" charset="0"/>
              </a:rPr>
              <a:t> – t</a:t>
            </a:r>
            <a:r>
              <a:rPr lang="en-US" altLang="zh-CN" sz="2000" baseline="-25000">
                <a:latin typeface="Courier New" panose="02070309020205020404" pitchFamily="49" charset="0"/>
              </a:rPr>
              <a:t>3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3151C-7C2F-4107-A3FE-763A8A6D23AD}" type="slidenum">
              <a:rPr lang="zh-CN" altLang="en-US"/>
              <a:pPr/>
              <a:t>49</a:t>
            </a:fld>
            <a:endParaRPr lang="en-US" altLang="zh-CN"/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algn="ctr"/>
            <a:r>
              <a:rPr lang="en-US" altLang="zh-CN"/>
              <a:t>Generating Code from Dags (2)</a:t>
            </a:r>
          </a:p>
        </p:txBody>
      </p:sp>
      <p:sp>
        <p:nvSpPr>
          <p:cNvPr id="30515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143000"/>
            <a:ext cx="5638800" cy="2209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Assume only </a:t>
            </a:r>
            <a:r>
              <a:rPr lang="en-US" altLang="zh-CN" sz="2400">
                <a:latin typeface="Courier New" panose="02070309020205020404" pitchFamily="49" charset="0"/>
              </a:rPr>
              <a:t>t</a:t>
            </a:r>
            <a:r>
              <a:rPr lang="en-US" altLang="zh-CN" sz="2400" baseline="-25000">
                <a:latin typeface="Courier New" panose="02070309020205020404" pitchFamily="49" charset="0"/>
              </a:rPr>
              <a:t>4</a:t>
            </a:r>
            <a:r>
              <a:rPr lang="en-US" altLang="zh-CN" sz="2400"/>
              <a:t> is live on exit of previous example and two registers (</a:t>
            </a:r>
            <a:r>
              <a:rPr lang="en-US" altLang="zh-CN" sz="2400">
                <a:latin typeface="Courier New" panose="02070309020205020404" pitchFamily="49" charset="0"/>
              </a:rPr>
              <a:t>R0</a:t>
            </a:r>
            <a:r>
              <a:rPr lang="en-US" altLang="zh-CN" sz="2400"/>
              <a:t> and </a:t>
            </a:r>
            <a:r>
              <a:rPr lang="en-US" altLang="zh-CN" sz="2400">
                <a:latin typeface="Courier New" panose="02070309020205020404" pitchFamily="49" charset="0"/>
              </a:rPr>
              <a:t>R1</a:t>
            </a:r>
            <a:r>
              <a:rPr lang="en-US" altLang="zh-CN" sz="2400"/>
              <a:t>) exist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Code generation algorithm discussed earlier leads to following solutions (second saves two instructions)</a:t>
            </a:r>
          </a:p>
        </p:txBody>
      </p:sp>
      <p:sp>
        <p:nvSpPr>
          <p:cNvPr id="305156" name="Text Box 4"/>
          <p:cNvSpPr txBox="1">
            <a:spLocks noChangeArrowheads="1"/>
          </p:cNvSpPr>
          <p:nvPr/>
        </p:nvSpPr>
        <p:spPr bwMode="auto">
          <a:xfrm>
            <a:off x="762000" y="3276600"/>
            <a:ext cx="2133600" cy="31972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latin typeface="Courier New" panose="02070309020205020404" pitchFamily="49" charset="0"/>
              </a:rPr>
              <a:t>MOV R0, a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ADD R0,R0,b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MOV R1, c,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ADD R1,R1,d</a:t>
            </a:r>
          </a:p>
          <a:p>
            <a:r>
              <a:rPr lang="en-US" altLang="zh-CN" sz="2000">
                <a:solidFill>
                  <a:schemeClr val="hlink"/>
                </a:solidFill>
                <a:latin typeface="Courier New" panose="02070309020205020404" pitchFamily="49" charset="0"/>
              </a:rPr>
              <a:t>MOV t</a:t>
            </a:r>
            <a:r>
              <a:rPr lang="en-US" altLang="zh-CN" sz="2000" baseline="-25000">
                <a:solidFill>
                  <a:schemeClr val="hlink"/>
                </a:solidFill>
                <a:latin typeface="Courier New" panose="02070309020205020404" pitchFamily="49" charset="0"/>
              </a:rPr>
              <a:t>1, </a:t>
            </a:r>
            <a:r>
              <a:rPr lang="en-US" altLang="zh-CN" sz="2000">
                <a:solidFill>
                  <a:schemeClr val="hlink"/>
                </a:solidFill>
                <a:latin typeface="Courier New" panose="02070309020205020404" pitchFamily="49" charset="0"/>
              </a:rPr>
              <a:t>R0</a:t>
            </a:r>
            <a:endParaRPr lang="en-US" altLang="zh-CN" sz="2000" baseline="-25000">
              <a:solidFill>
                <a:schemeClr val="hlink"/>
              </a:solidFill>
              <a:latin typeface="Courier New" panose="02070309020205020404" pitchFamily="49" charset="0"/>
            </a:endParaRPr>
          </a:p>
          <a:p>
            <a:r>
              <a:rPr lang="en-US" altLang="zh-CN" sz="2000">
                <a:latin typeface="Courier New" panose="02070309020205020404" pitchFamily="49" charset="0"/>
              </a:rPr>
              <a:t>MOV R0,e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SUB R0,R0,R1</a:t>
            </a:r>
          </a:p>
          <a:p>
            <a:r>
              <a:rPr lang="en-US" altLang="zh-CN" sz="2000">
                <a:solidFill>
                  <a:schemeClr val="hlink"/>
                </a:solidFill>
                <a:latin typeface="Courier New" panose="02070309020205020404" pitchFamily="49" charset="0"/>
              </a:rPr>
              <a:t>MOV R1, t</a:t>
            </a:r>
            <a:r>
              <a:rPr lang="en-US" altLang="zh-CN" sz="2000" baseline="-2500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endParaRPr lang="en-US" altLang="zh-CN" sz="2000">
              <a:solidFill>
                <a:schemeClr val="hlink"/>
              </a:solidFill>
              <a:latin typeface="Courier New" panose="02070309020205020404" pitchFamily="49" charset="0"/>
            </a:endParaRPr>
          </a:p>
          <a:p>
            <a:r>
              <a:rPr lang="en-US" altLang="zh-CN" sz="2000">
                <a:latin typeface="Courier New" panose="02070309020205020404" pitchFamily="49" charset="0"/>
              </a:rPr>
              <a:t>SUB R1,R1,R0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MOV t</a:t>
            </a:r>
            <a:r>
              <a:rPr lang="en-US" altLang="zh-CN" sz="2000" baseline="-25000">
                <a:latin typeface="Courier New" panose="02070309020205020404" pitchFamily="49" charset="0"/>
              </a:rPr>
              <a:t>4</a:t>
            </a:r>
            <a:r>
              <a:rPr lang="en-US" altLang="zh-CN" sz="2000">
                <a:latin typeface="Courier New" panose="02070309020205020404" pitchFamily="49" charset="0"/>
              </a:rPr>
              <a:t>, R1</a:t>
            </a:r>
            <a:endParaRPr lang="en-US" altLang="zh-CN" sz="2000" baseline="-25000">
              <a:latin typeface="Courier New" panose="02070309020205020404" pitchFamily="49" charset="0"/>
            </a:endParaRPr>
          </a:p>
        </p:txBody>
      </p:sp>
      <p:sp>
        <p:nvSpPr>
          <p:cNvPr id="305159" name="Text Box 7"/>
          <p:cNvSpPr txBox="1">
            <a:spLocks noChangeArrowheads="1"/>
          </p:cNvSpPr>
          <p:nvPr/>
        </p:nvSpPr>
        <p:spPr bwMode="auto">
          <a:xfrm>
            <a:off x="3429000" y="3581400"/>
            <a:ext cx="2133600" cy="25876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latin typeface="Courier New" panose="02070309020205020404" pitchFamily="49" charset="0"/>
              </a:rPr>
              <a:t>MOV R0, c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ADD R0,R0,d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MOV R1, e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SUB R1,R1,R0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MOV R0, a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ADD R0,R0,b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SUB R0,R0,R1</a:t>
            </a:r>
          </a:p>
          <a:p>
            <a:r>
              <a:rPr lang="en-US" altLang="zh-CN" sz="2000">
                <a:latin typeface="Courier New" panose="02070309020205020404" pitchFamily="49" charset="0"/>
              </a:rPr>
              <a:t>MOV t</a:t>
            </a:r>
            <a:r>
              <a:rPr lang="en-US" altLang="zh-CN" sz="2000" baseline="-25000">
                <a:latin typeface="Courier New" panose="02070309020205020404" pitchFamily="49" charset="0"/>
              </a:rPr>
              <a:t>4</a:t>
            </a:r>
            <a:r>
              <a:rPr lang="en-US" altLang="zh-CN" sz="2000">
                <a:latin typeface="Courier New" panose="02070309020205020404" pitchFamily="49" charset="0"/>
              </a:rPr>
              <a:t>, R0</a:t>
            </a:r>
            <a:endParaRPr lang="en-US" altLang="zh-CN" sz="2000" baseline="-25000">
              <a:latin typeface="Courier New" panose="02070309020205020404" pitchFamily="49" charset="0"/>
            </a:endParaRPr>
          </a:p>
        </p:txBody>
      </p:sp>
      <p:sp>
        <p:nvSpPr>
          <p:cNvPr id="305162" name="Text Box 10"/>
          <p:cNvSpPr txBox="1">
            <a:spLocks noChangeArrowheads="1"/>
          </p:cNvSpPr>
          <p:nvPr/>
        </p:nvSpPr>
        <p:spPr bwMode="auto">
          <a:xfrm>
            <a:off x="6172200" y="1143000"/>
            <a:ext cx="2286000" cy="5045075"/>
          </a:xfrm>
          <a:prstGeom prst="rect">
            <a:avLst/>
          </a:prstGeom>
          <a:noFill/>
          <a:ln w="76200" cmpd="tri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R10, =c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R11, =d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R0, [R10]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R1, [R11]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ADD R0,R0,R1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R10, =e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R1,[R10]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SUB R1,R1,R0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R10, =a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R11, =b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R0, [R10]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R2, [R11]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ADD R0,R0,R2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SUB R0,R0,R1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LDR R10,=t4</a:t>
            </a:r>
          </a:p>
          <a:p>
            <a:r>
              <a:rPr lang="en-US" altLang="zh-CN" sz="2000" b="1">
                <a:solidFill>
                  <a:schemeClr val="hlink"/>
                </a:solidFill>
                <a:latin typeface="Courier New" panose="02070309020205020404" pitchFamily="49" charset="0"/>
              </a:rPr>
              <a:t>STR R0, [R10]</a:t>
            </a:r>
          </a:p>
        </p:txBody>
      </p:sp>
      <p:sp>
        <p:nvSpPr>
          <p:cNvPr id="305163" name="Rectangle 11"/>
          <p:cNvSpPr>
            <a:spLocks noChangeArrowheads="1"/>
          </p:cNvSpPr>
          <p:nvPr/>
        </p:nvSpPr>
        <p:spPr bwMode="auto">
          <a:xfrm>
            <a:off x="6172200" y="6248400"/>
            <a:ext cx="2295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hlink"/>
                </a:solidFill>
              </a:rPr>
              <a:t>ARM assemble codes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3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2000"/>
                                        <p:tgtEl>
                                          <p:spTgt spid="30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30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000"/>
                                        <p:tgtEl>
                                          <p:spTgt spid="30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6" grpId="0" animBg="1"/>
      <p:bldP spid="305159" grpId="0" animBg="1"/>
      <p:bldP spid="305162" grpId="0" animBg="1"/>
      <p:bldP spid="30516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4285-A81F-4B73-AE82-CF19AB7F662B}" type="slidenum">
              <a:rPr lang="zh-CN" altLang="en-US"/>
              <a:pPr/>
              <a:t>50</a:t>
            </a:fld>
            <a:endParaRPr lang="en-US" altLang="zh-CN"/>
          </a:p>
        </p:txBody>
      </p:sp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Exercises</a:t>
            </a:r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105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int i=1,j=2,a,b=2,c=3;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if (i&lt;j)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a=b+c;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else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a=b-c;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rvin liu">
  <a:themeElements>
    <a:clrScheme name="marvin liu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marvin liu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marvin liu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rvin liu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rvin liu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vin liu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vin liu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vin liu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5744</TotalTime>
  <Words>4849</Words>
  <Application>Microsoft Office PowerPoint</Application>
  <PresentationFormat>全屏显示(4:3)</PresentationFormat>
  <Paragraphs>716</Paragraphs>
  <Slides>50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7" baseType="lpstr">
      <vt:lpstr>Arial</vt:lpstr>
      <vt:lpstr>Tahoma</vt:lpstr>
      <vt:lpstr>宋体</vt:lpstr>
      <vt:lpstr>Wingdings</vt:lpstr>
      <vt:lpstr>Times New Roman</vt:lpstr>
      <vt:lpstr>Courier New</vt:lpstr>
      <vt:lpstr>marvin liu</vt:lpstr>
      <vt:lpstr>Code Generation (P.513)</vt:lpstr>
      <vt:lpstr>Code Generator</vt:lpstr>
      <vt:lpstr>Input to Code Generator (P.514)</vt:lpstr>
      <vt:lpstr>Output of Code Generator (P.514)</vt:lpstr>
      <vt:lpstr>Memory Management (P.515)</vt:lpstr>
      <vt:lpstr>Instruction Selection (1) (P.516)</vt:lpstr>
      <vt:lpstr>Instruction Selection (2)</vt:lpstr>
      <vt:lpstr>Register Allocation (P.517)</vt:lpstr>
      <vt:lpstr>The Target Machine (P.519)</vt:lpstr>
      <vt:lpstr>Address Modes of Sample Machine</vt:lpstr>
      <vt:lpstr>Instruction Costs (P.520)</vt:lpstr>
      <vt:lpstr>Example</vt:lpstr>
      <vt:lpstr>Run-time storage management (P.522)</vt:lpstr>
      <vt:lpstr>Sample of Activation Records</vt:lpstr>
      <vt:lpstr>Static Allocation (P.522)</vt:lpstr>
      <vt:lpstr>Sample Code</vt:lpstr>
      <vt:lpstr>Stack Allocation (1) (P.524)</vt:lpstr>
      <vt:lpstr>Stack Allocation (2)</vt:lpstr>
      <vt:lpstr>PowerPoint 演示文稿</vt:lpstr>
      <vt:lpstr>Basic Blocks (P.528)</vt:lpstr>
      <vt:lpstr>Partitioning Code into Basic Blocks—algorithm 9.1 (P.529)</vt:lpstr>
      <vt:lpstr>Basic Block Example</vt:lpstr>
      <vt:lpstr>Transformations on Basic Blocks (P.530)</vt:lpstr>
      <vt:lpstr>structure-preserving transformations (1)</vt:lpstr>
      <vt:lpstr>structure-preserving transformations (2)</vt:lpstr>
      <vt:lpstr>Algebraic Transformations</vt:lpstr>
      <vt:lpstr>Flow Graphs (P.532)</vt:lpstr>
      <vt:lpstr>Representations of Flow Graphs</vt:lpstr>
      <vt:lpstr>Loops and Flow Graphs</vt:lpstr>
      <vt:lpstr>Next-Use Information (P.534)</vt:lpstr>
      <vt:lpstr>Determine Next-Use</vt:lpstr>
      <vt:lpstr>Reusing Temporaries</vt:lpstr>
      <vt:lpstr>A Simple Code Generator (P.535)</vt:lpstr>
      <vt:lpstr>Register and Address Descriptors</vt:lpstr>
      <vt:lpstr>Code-Generation Algorithm (P.537)</vt:lpstr>
      <vt:lpstr>Implementing getreg (1) (P.538)</vt:lpstr>
      <vt:lpstr>Implementing getreg (2)</vt:lpstr>
      <vt:lpstr>Code Generation Example (1)</vt:lpstr>
      <vt:lpstr>Code Generation Example (2)</vt:lpstr>
      <vt:lpstr>Conditional Statements (1) (P.541)</vt:lpstr>
      <vt:lpstr>Conditional Statements (2)</vt:lpstr>
      <vt:lpstr>Register Allocation (P.541)</vt:lpstr>
      <vt:lpstr>Global Register Allocation (P.542)</vt:lpstr>
      <vt:lpstr>Usage Counts (P.542)</vt:lpstr>
      <vt:lpstr>Directed Acyclic Graphs (DAGs) (P.546)</vt:lpstr>
      <vt:lpstr>Dag Example</vt:lpstr>
      <vt:lpstr>Using Dags</vt:lpstr>
      <vt:lpstr>Generating Code from Dags (1) (P.557)</vt:lpstr>
      <vt:lpstr>Generating Code from Dags (2)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#9: Target Code</dc:title>
  <dc:creator>marvin liu</dc:creator>
  <cp:lastModifiedBy>Exin Y</cp:lastModifiedBy>
  <cp:revision>303</cp:revision>
  <dcterms:created xsi:type="dcterms:W3CDTF">2003-10-21T19:02:04Z</dcterms:created>
  <dcterms:modified xsi:type="dcterms:W3CDTF">2015-10-07T09:27:35Z</dcterms:modified>
</cp:coreProperties>
</file>