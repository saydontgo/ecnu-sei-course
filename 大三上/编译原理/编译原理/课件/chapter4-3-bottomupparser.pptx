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3"/>
  </p:notesMasterIdLst>
  <p:handoutMasterIdLst>
    <p:handoutMasterId r:id="rId84"/>
  </p:handoutMasterIdLst>
  <p:sldIdLst>
    <p:sldId id="357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358" r:id="rId22"/>
    <p:sldId id="363" r:id="rId23"/>
    <p:sldId id="298" r:id="rId24"/>
    <p:sldId id="299" r:id="rId25"/>
    <p:sldId id="300" r:id="rId26"/>
    <p:sldId id="351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6" r:id="rId42"/>
    <p:sldId id="317" r:id="rId43"/>
    <p:sldId id="318" r:id="rId44"/>
    <p:sldId id="319" r:id="rId45"/>
    <p:sldId id="320" r:id="rId46"/>
    <p:sldId id="370" r:id="rId47"/>
    <p:sldId id="361" r:id="rId48"/>
    <p:sldId id="321" r:id="rId49"/>
    <p:sldId id="369" r:id="rId50"/>
    <p:sldId id="359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2" r:id="rId60"/>
    <p:sldId id="355" r:id="rId61"/>
    <p:sldId id="331" r:id="rId62"/>
    <p:sldId id="333" r:id="rId63"/>
    <p:sldId id="334" r:id="rId64"/>
    <p:sldId id="336" r:id="rId65"/>
    <p:sldId id="337" r:id="rId66"/>
    <p:sldId id="335" r:id="rId67"/>
    <p:sldId id="338" r:id="rId68"/>
    <p:sldId id="339" r:id="rId69"/>
    <p:sldId id="340" r:id="rId70"/>
    <p:sldId id="341" r:id="rId71"/>
    <p:sldId id="366" r:id="rId72"/>
    <p:sldId id="371" r:id="rId73"/>
    <p:sldId id="342" r:id="rId74"/>
    <p:sldId id="343" r:id="rId75"/>
    <p:sldId id="345" r:id="rId76"/>
    <p:sldId id="346" r:id="rId77"/>
    <p:sldId id="347" r:id="rId78"/>
    <p:sldId id="348" r:id="rId79"/>
    <p:sldId id="349" r:id="rId80"/>
    <p:sldId id="350" r:id="rId81"/>
    <p:sldId id="352" r:id="rId82"/>
  </p:sldIdLst>
  <p:sldSz cx="9906000" cy="6858000" type="A4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0000CC"/>
    <a:srgbClr val="660033"/>
    <a:srgbClr val="99FF66"/>
    <a:srgbClr val="99CCFF"/>
    <a:srgbClr val="006600"/>
    <a:srgbClr val="66006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3091" autoAdjust="0"/>
    <p:restoredTop sz="91888" autoAdjust="0"/>
  </p:normalViewPr>
  <p:slideViewPr>
    <p:cSldViewPr>
      <p:cViewPr varScale="1">
        <p:scale>
          <a:sx n="74" d="100"/>
          <a:sy n="74" d="100"/>
        </p:scale>
        <p:origin x="432" y="72"/>
      </p:cViewPr>
      <p:guideLst>
        <p:guide orient="horz" pos="1680"/>
        <p:guide pos="307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30"/>
    </p:cViewPr>
  </p:sorterViewPr>
  <p:notesViewPr>
    <p:cSldViewPr>
      <p:cViewPr varScale="1">
        <p:scale>
          <a:sx n="60" d="100"/>
          <a:sy n="60" d="100"/>
        </p:scale>
        <p:origin x="-1698" y="-78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pPr>
              <a:defRPr/>
            </a:pPr>
            <a:r>
              <a:rPr lang="zh-CN" altLang="en-US"/>
              <a:t>lec04-bottomupparser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94125" y="0"/>
            <a:ext cx="2919413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pPr>
              <a:defRPr/>
            </a:pPr>
            <a:fld id="{C3FF1B12-4296-4F9E-B1A7-0FC232D0CCBD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19413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94125" y="9380538"/>
            <a:ext cx="2919413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6149AA9F-C3DC-4EED-87BB-AA8B7216203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r>
              <a:rPr lang="zh-CN" altLang="en-US"/>
              <a:t>lec04-bottomupparser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B6BF540B-45CD-40CA-94F9-EEDA504DD7F9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8499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696913" y="738188"/>
            <a:ext cx="5345112" cy="37004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7888"/>
            <a:ext cx="4938713" cy="444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A0D3FDB4-57E9-49B4-9EE4-5686302E974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efine.cnki.net/define_result.aspx?searchword=%e7%bb%88%e7%bb%93%e7%ac%a6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define.cnki.net/define_result.aspx?searchword=%e6%9c%80%e5%b7%a6%e7%b4%a0%e7%9f%ad%e8%af%ad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smtClean="0"/>
              <a:t>lec04-bottomupparser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671E89-D436-4C4E-9939-AB7A6D7EFC76}" type="datetime4">
              <a:rPr lang="zh-CN" altLang="en-US" sz="1200" smtClean="0"/>
              <a:pPr/>
              <a:t>2015年10月7日星期三</a:t>
            </a:fld>
            <a:endParaRPr lang="en-US" altLang="zh-CN" sz="1200" smtClean="0"/>
          </a:p>
        </p:txBody>
      </p:sp>
      <p:sp>
        <p:nvSpPr>
          <p:cNvPr id="860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219A1A-B95D-49E0-B31C-9A27B5DB90E7}" type="slidenum">
              <a:rPr lang="zh-CN" altLang="en-US" sz="1200"/>
              <a:pPr/>
              <a:t>2</a:t>
            </a:fld>
            <a:endParaRPr lang="en-US" altLang="zh-CN" sz="1200"/>
          </a:p>
        </p:txBody>
      </p:sp>
      <p:sp>
        <p:nvSpPr>
          <p:cNvPr id="8602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smtClean="0"/>
              <a:t>lec04-bottomupparser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3D4985-C2B5-46BE-9ABB-50BBF496A459}" type="datetime4">
              <a:rPr lang="zh-CN" altLang="en-US" sz="1200" smtClean="0"/>
              <a:pPr/>
              <a:t>2015年10月7日星期三</a:t>
            </a:fld>
            <a:endParaRPr lang="en-US" altLang="zh-CN" sz="1200" smtClean="0"/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55F14E-DD10-4DDB-AF9D-DBB17E7579EE}" type="slidenum">
              <a:rPr lang="zh-CN" altLang="en-US" sz="1200"/>
              <a:pPr/>
              <a:t>5</a:t>
            </a:fld>
            <a:endParaRPr lang="en-US" altLang="zh-CN" sz="1200"/>
          </a:p>
        </p:txBody>
      </p:sp>
      <p:sp>
        <p:nvSpPr>
          <p:cNvPr id="8704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宋体" panose="02010600030101010101" pitchFamily="2" charset="-122"/>
              </a:rPr>
              <a:t>有文法</a:t>
            </a:r>
            <a:r>
              <a:rPr lang="en-US" altLang="zh-CN" smtClean="0">
                <a:latin typeface="宋体" panose="02010600030101010101" pitchFamily="2" charset="-122"/>
              </a:rPr>
              <a:t>G</a:t>
            </a:r>
            <a:r>
              <a:rPr lang="zh-CN" altLang="en-US" smtClean="0">
                <a:latin typeface="宋体" panose="02010600030101010101" pitchFamily="2" charset="-122"/>
              </a:rPr>
              <a:t>，开始符号为</a:t>
            </a:r>
            <a:r>
              <a:rPr lang="en-US" altLang="zh-CN" smtClean="0">
                <a:latin typeface="宋体" panose="02010600030101010101" pitchFamily="2" charset="-122"/>
              </a:rPr>
              <a:t>S, </a:t>
            </a:r>
            <a:r>
              <a:rPr lang="zh-CN" altLang="en-US" smtClean="0">
                <a:latin typeface="宋体" panose="02010600030101010101" pitchFamily="2" charset="-122"/>
              </a:rPr>
              <a:t>如果有</a:t>
            </a:r>
            <a:r>
              <a:rPr lang="en-US" altLang="zh-CN" smtClean="0">
                <a:latin typeface="宋体" panose="02010600030101010101" pitchFamily="2" charset="-122"/>
              </a:rPr>
              <a:t>S=*&gt;xβy,</a:t>
            </a:r>
            <a:r>
              <a:rPr lang="zh-CN" altLang="en-US" smtClean="0">
                <a:latin typeface="宋体" panose="02010600030101010101" pitchFamily="2" charset="-122"/>
              </a:rPr>
              <a:t>则</a:t>
            </a:r>
            <a:r>
              <a:rPr lang="en-US" altLang="zh-CN" smtClean="0">
                <a:latin typeface="宋体" panose="02010600030101010101" pitchFamily="2" charset="-122"/>
              </a:rPr>
              <a:t>xβy</a:t>
            </a:r>
            <a:r>
              <a:rPr lang="zh-CN" altLang="en-US" smtClean="0">
                <a:latin typeface="宋体" panose="02010600030101010101" pitchFamily="2" charset="-122"/>
              </a:rPr>
              <a:t>是文法</a:t>
            </a:r>
            <a:r>
              <a:rPr lang="en-US" altLang="zh-CN" smtClean="0">
                <a:latin typeface="宋体" panose="02010600030101010101" pitchFamily="2" charset="-122"/>
              </a:rPr>
              <a:t>G</a:t>
            </a:r>
            <a:r>
              <a:rPr lang="zh-CN" altLang="en-US" smtClean="0">
                <a:latin typeface="宋体" panose="02010600030101010101" pitchFamily="2" charset="-122"/>
              </a:rPr>
              <a:t>的</a:t>
            </a:r>
            <a:r>
              <a:rPr lang="zh-CN" altLang="en-US" b="1" i="1" smtClean="0">
                <a:solidFill>
                  <a:schemeClr val="accent2"/>
                </a:solidFill>
                <a:latin typeface="宋体" panose="02010600030101010101" pitchFamily="2" charset="-122"/>
              </a:rPr>
              <a:t>句型</a:t>
            </a:r>
            <a:r>
              <a:rPr lang="zh-CN" altLang="en-US" smtClean="0">
                <a:latin typeface="宋体" panose="02010600030101010101" pitchFamily="2" charset="-122"/>
              </a:rPr>
              <a:t>，</a:t>
            </a:r>
            <a:r>
              <a:rPr lang="en-US" altLang="zh-CN" smtClean="0">
                <a:latin typeface="宋体" panose="02010600030101010101" pitchFamily="2" charset="-122"/>
              </a:rPr>
              <a:t>x,y</a:t>
            </a:r>
            <a:r>
              <a:rPr lang="zh-CN" altLang="en-US" smtClean="0">
                <a:latin typeface="宋体" panose="02010600030101010101" pitchFamily="2" charset="-122"/>
              </a:rPr>
              <a:t>是任意的符号串</a:t>
            </a:r>
          </a:p>
          <a:p>
            <a:r>
              <a:rPr lang="zh-CN" altLang="en-US" smtClean="0">
                <a:latin typeface="宋体" panose="02010600030101010101" pitchFamily="2" charset="-122"/>
              </a:rPr>
              <a:t>如果有</a:t>
            </a:r>
            <a:r>
              <a:rPr lang="en-US" altLang="zh-CN" smtClean="0">
                <a:latin typeface="宋体" panose="02010600030101010101" pitchFamily="2" charset="-122"/>
              </a:rPr>
              <a:t>S=*&gt;xAy, </a:t>
            </a:r>
            <a:r>
              <a:rPr lang="zh-CN" altLang="en-US" smtClean="0">
                <a:latin typeface="宋体" panose="02010600030101010101" pitchFamily="2" charset="-122"/>
              </a:rPr>
              <a:t>且有</a:t>
            </a:r>
            <a:r>
              <a:rPr lang="en-US" altLang="zh-CN" smtClean="0">
                <a:latin typeface="宋体" panose="02010600030101010101" pitchFamily="2" charset="-122"/>
              </a:rPr>
              <a:t>A=+&gt;β,</a:t>
            </a:r>
            <a:r>
              <a:rPr lang="zh-CN" altLang="en-US" smtClean="0">
                <a:latin typeface="宋体" panose="02010600030101010101" pitchFamily="2" charset="-122"/>
              </a:rPr>
              <a:t>则</a:t>
            </a:r>
            <a:r>
              <a:rPr lang="en-US" altLang="zh-CN" smtClean="0">
                <a:latin typeface="宋体" panose="02010600030101010101" pitchFamily="2" charset="-122"/>
              </a:rPr>
              <a:t>β</a:t>
            </a:r>
            <a:r>
              <a:rPr lang="zh-CN" altLang="en-US" smtClean="0">
                <a:latin typeface="宋体" panose="02010600030101010101" pitchFamily="2" charset="-122"/>
              </a:rPr>
              <a:t>是句型</a:t>
            </a:r>
            <a:r>
              <a:rPr lang="en-US" altLang="zh-CN" smtClean="0">
                <a:latin typeface="宋体" panose="02010600030101010101" pitchFamily="2" charset="-122"/>
              </a:rPr>
              <a:t>xβy</a:t>
            </a:r>
            <a:r>
              <a:rPr lang="zh-CN" altLang="en-US" smtClean="0">
                <a:latin typeface="宋体" panose="02010600030101010101" pitchFamily="2" charset="-122"/>
              </a:rPr>
              <a:t>相对于非终结符</a:t>
            </a:r>
            <a:r>
              <a:rPr lang="en-US" altLang="zh-CN" smtClean="0">
                <a:latin typeface="宋体" panose="02010600030101010101" pitchFamily="2" charset="-122"/>
              </a:rPr>
              <a:t>A</a:t>
            </a:r>
            <a:r>
              <a:rPr lang="zh-CN" altLang="en-US" smtClean="0">
                <a:latin typeface="宋体" panose="02010600030101010101" pitchFamily="2" charset="-122"/>
              </a:rPr>
              <a:t>的</a:t>
            </a:r>
            <a:r>
              <a:rPr lang="zh-CN" altLang="en-US" b="1" i="1" smtClean="0">
                <a:solidFill>
                  <a:schemeClr val="accent2"/>
                </a:solidFill>
                <a:latin typeface="宋体" panose="02010600030101010101" pitchFamily="2" charset="-122"/>
              </a:rPr>
              <a:t>短语</a:t>
            </a:r>
            <a:endParaRPr lang="zh-CN" altLang="en-US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r>
              <a:rPr lang="zh-CN" altLang="en-US" smtClean="0">
                <a:latin typeface="宋体" panose="02010600030101010101" pitchFamily="2" charset="-122"/>
              </a:rPr>
              <a:t>如果有</a:t>
            </a:r>
            <a:r>
              <a:rPr lang="en-US" altLang="zh-CN" smtClean="0">
                <a:latin typeface="宋体" panose="02010600030101010101" pitchFamily="2" charset="-122"/>
              </a:rPr>
              <a:t>S=*&gt;xAy, </a:t>
            </a:r>
            <a:r>
              <a:rPr lang="zh-CN" altLang="en-US" smtClean="0">
                <a:latin typeface="宋体" panose="02010600030101010101" pitchFamily="2" charset="-122"/>
              </a:rPr>
              <a:t>且有</a:t>
            </a:r>
            <a:r>
              <a:rPr lang="en-US" altLang="zh-CN" smtClean="0">
                <a:latin typeface="宋体" panose="02010600030101010101" pitchFamily="2" charset="-122"/>
              </a:rPr>
              <a:t>A-&gt;β,</a:t>
            </a:r>
            <a:r>
              <a:rPr lang="zh-CN" altLang="en-US" smtClean="0">
                <a:latin typeface="宋体" panose="02010600030101010101" pitchFamily="2" charset="-122"/>
              </a:rPr>
              <a:t>则</a:t>
            </a:r>
            <a:r>
              <a:rPr lang="en-US" altLang="zh-CN" smtClean="0">
                <a:latin typeface="宋体" panose="02010600030101010101" pitchFamily="2" charset="-122"/>
              </a:rPr>
              <a:t>β</a:t>
            </a:r>
            <a:r>
              <a:rPr lang="zh-CN" altLang="en-US" smtClean="0">
                <a:latin typeface="宋体" panose="02010600030101010101" pitchFamily="2" charset="-122"/>
              </a:rPr>
              <a:t>是句型</a:t>
            </a:r>
            <a:r>
              <a:rPr lang="en-US" altLang="zh-CN" smtClean="0">
                <a:latin typeface="宋体" panose="02010600030101010101" pitchFamily="2" charset="-122"/>
              </a:rPr>
              <a:t>xβy</a:t>
            </a:r>
            <a:r>
              <a:rPr lang="zh-CN" altLang="en-US" smtClean="0">
                <a:latin typeface="宋体" panose="02010600030101010101" pitchFamily="2" charset="-122"/>
              </a:rPr>
              <a:t>相对于</a:t>
            </a:r>
            <a:r>
              <a:rPr lang="en-US" altLang="zh-CN" smtClean="0">
                <a:latin typeface="宋体" panose="02010600030101010101" pitchFamily="2" charset="-122"/>
              </a:rPr>
              <a:t>A-&gt;β</a:t>
            </a:r>
            <a:r>
              <a:rPr lang="zh-CN" altLang="en-US" smtClean="0">
                <a:latin typeface="宋体" panose="02010600030101010101" pitchFamily="2" charset="-122"/>
              </a:rPr>
              <a:t>的</a:t>
            </a:r>
            <a:r>
              <a:rPr lang="zh-CN" altLang="en-US" b="1" i="1" smtClean="0">
                <a:solidFill>
                  <a:schemeClr val="accent2"/>
                </a:solidFill>
                <a:latin typeface="宋体" panose="02010600030101010101" pitchFamily="2" charset="-122"/>
              </a:rPr>
              <a:t>直接短语</a:t>
            </a:r>
            <a:endParaRPr lang="zh-CN" altLang="en-US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r>
              <a:rPr lang="zh-CN" altLang="en-US" smtClean="0">
                <a:latin typeface="宋体" panose="02010600030101010101" pitchFamily="2" charset="-122"/>
              </a:rPr>
              <a:t>位于</a:t>
            </a:r>
            <a:r>
              <a:rPr lang="zh-CN" altLang="en-US" b="1" smtClean="0">
                <a:solidFill>
                  <a:srgbClr val="9933CC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mtClean="0">
                <a:latin typeface="宋体" panose="02010600030101010101" pitchFamily="2" charset="-122"/>
              </a:rPr>
              <a:t>句型最左边的直接短语称为</a:t>
            </a:r>
            <a:r>
              <a:rPr lang="zh-CN" altLang="en-US" b="1" i="1" smtClean="0">
                <a:solidFill>
                  <a:schemeClr val="accent2"/>
                </a:solidFill>
                <a:latin typeface="宋体" panose="02010600030101010101" pitchFamily="2" charset="-122"/>
              </a:rPr>
              <a:t>句柄</a:t>
            </a:r>
            <a:r>
              <a:rPr lang="en-US" altLang="zh-CN" smtClean="0">
                <a:latin typeface="宋体" panose="02010600030101010101" pitchFamily="2" charset="-122"/>
              </a:rPr>
              <a:t>.</a:t>
            </a:r>
          </a:p>
          <a:p>
            <a:r>
              <a:rPr lang="zh-CN" altLang="en-US" smtClean="0">
                <a:latin typeface="宋体" panose="02010600030101010101" pitchFamily="2" charset="-122"/>
              </a:rPr>
              <a:t>句型</a:t>
            </a:r>
            <a:r>
              <a:rPr lang="en-US" altLang="zh-CN" smtClean="0"/>
              <a:t>---&gt; </a:t>
            </a:r>
            <a:r>
              <a:rPr lang="zh-CN" altLang="en-US" smtClean="0">
                <a:latin typeface="宋体" panose="02010600030101010101" pitchFamily="2" charset="-122"/>
              </a:rPr>
              <a:t>短语</a:t>
            </a:r>
            <a:r>
              <a:rPr lang="zh-CN" altLang="en-US" smtClean="0"/>
              <a:t> </a:t>
            </a:r>
            <a:r>
              <a:rPr lang="en-US" altLang="zh-CN" smtClean="0"/>
              <a:t>---&gt; </a:t>
            </a:r>
            <a:r>
              <a:rPr lang="zh-CN" altLang="en-US" smtClean="0">
                <a:latin typeface="宋体" panose="02010600030101010101" pitchFamily="2" charset="-122"/>
              </a:rPr>
              <a:t>直接短语</a:t>
            </a:r>
            <a:r>
              <a:rPr lang="zh-CN" altLang="en-US" smtClean="0"/>
              <a:t> </a:t>
            </a:r>
            <a:r>
              <a:rPr lang="en-US" altLang="zh-CN" smtClean="0"/>
              <a:t>---&gt;</a:t>
            </a:r>
            <a:r>
              <a:rPr lang="zh-CN" altLang="en-US" smtClean="0">
                <a:latin typeface="宋体" panose="02010600030101010101" pitchFamily="2" charset="-122"/>
              </a:rPr>
              <a:t>句柄</a:t>
            </a:r>
          </a:p>
          <a:p>
            <a:r>
              <a:rPr lang="zh-CN" altLang="en-US" smtClean="0"/>
              <a:t> 素短语是指至少含有一个</a:t>
            </a:r>
            <a:r>
              <a:rPr lang="zh-CN" altLang="en-US" u="sng" smtClean="0">
                <a:hlinkClick r:id="rId3"/>
              </a:rPr>
              <a:t>终结符</a:t>
            </a:r>
            <a:r>
              <a:rPr lang="zh-CN" altLang="en-US" smtClean="0"/>
              <a:t>的</a:t>
            </a:r>
            <a:r>
              <a:rPr lang="en-US" altLang="zh-CN" smtClean="0"/>
              <a:t>,</a:t>
            </a:r>
            <a:r>
              <a:rPr lang="zh-CN" altLang="en-US" smtClean="0"/>
              <a:t>并且除了它自身之外不再含有任何更小的短语</a:t>
            </a:r>
            <a:r>
              <a:rPr lang="en-US" altLang="zh-CN" smtClean="0"/>
              <a:t>.</a:t>
            </a:r>
            <a:r>
              <a:rPr lang="zh-CN" altLang="en-US" u="sng" smtClean="0">
                <a:hlinkClick r:id="rId4"/>
              </a:rPr>
              <a:t>最左素短语</a:t>
            </a:r>
            <a:r>
              <a:rPr lang="zh-CN" altLang="en-US" smtClean="0"/>
              <a:t>是指处于句型最左边的那个素短语</a:t>
            </a:r>
            <a:r>
              <a:rPr lang="en-US" altLang="zh-CN" smtClean="0"/>
              <a:t>. 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smtClean="0"/>
              <a:t>lec04-bottomupparser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CB7F7C-31EB-4FDF-959F-913C2C5FF6E7}" type="datetime4">
              <a:rPr lang="zh-CN" altLang="en-US" sz="1200" smtClean="0"/>
              <a:pPr/>
              <a:t>2015年10月7日星期三</a:t>
            </a:fld>
            <a:endParaRPr lang="en-US" altLang="zh-CN" sz="1200" smtClean="0"/>
          </a:p>
        </p:txBody>
      </p:sp>
      <p:sp>
        <p:nvSpPr>
          <p:cNvPr id="880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9B933B1-D92D-4A5A-A837-179C64355A62}" type="slidenum">
              <a:rPr lang="zh-CN" altLang="en-US" sz="1200"/>
              <a:pPr/>
              <a:t>59</a:t>
            </a:fld>
            <a:endParaRPr lang="en-US" altLang="zh-CN" sz="1200"/>
          </a:p>
        </p:txBody>
      </p:sp>
      <p:sp>
        <p:nvSpPr>
          <p:cNvPr id="8806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In shift action, the terminal a is not b, that is, the terminal b can not affect shift action;</a:t>
            </a:r>
          </a:p>
          <a:p>
            <a:r>
              <a:rPr lang="en-US" altLang="zh-CN" smtClean="0"/>
              <a:t>In reduce action, the terminal a is in b, which is the follow set of that production (not all relative productions).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smtClean="0"/>
              <a:t>lec04-bottomupparser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C7B36D-2850-46F2-81E4-72C1C40D985C}" type="datetime4">
              <a:rPr lang="zh-CN" altLang="en-US" sz="1200" smtClean="0"/>
              <a:pPr/>
              <a:t>2015年10月7日星期三</a:t>
            </a:fld>
            <a:endParaRPr lang="en-US" altLang="zh-CN" sz="1200" smtClean="0"/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4D0C80-035B-41E6-AC99-9B74CD74AA35}" type="slidenum">
              <a:rPr lang="zh-CN" altLang="en-US" sz="1200"/>
              <a:pPr/>
              <a:t>61</a:t>
            </a:fld>
            <a:endParaRPr lang="en-US" altLang="zh-CN" sz="1200"/>
          </a:p>
        </p:txBody>
      </p:sp>
      <p:sp>
        <p:nvSpPr>
          <p:cNvPr id="8909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sym typeface="Symbol" panose="05050102010706020507" pitchFamily="18" charset="2"/>
              </a:rPr>
              <a:t>S  L</a:t>
            </a:r>
            <a:r>
              <a:rPr lang="en-US" altLang="zh-CN" smtClean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lang="en-US" altLang="zh-CN" smtClean="0">
                <a:sym typeface="Symbol" panose="05050102010706020507" pitchFamily="18" charset="2"/>
              </a:rPr>
              <a:t>R ,R  L these two productions can make closure and get lookahead symbol “=“ and “$”</a:t>
            </a:r>
            <a:endParaRPr lang="en-US" altLang="zh-CN" smtClean="0"/>
          </a:p>
          <a:p>
            <a:endParaRPr lang="zh-CN" altLang="en-US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A5AB69-9A8D-4EC3-A18C-2D47140A86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499558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4CE08C-0D4D-44B6-BA40-9F3B538AE69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748015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9FFF00-4860-482B-8889-5B3DEC95458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593350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304D1D-7D85-4D2B-A3D9-D69F642E66A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9284400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26989-3D1B-49D3-A5C5-E9B6858DFE7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2947979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BE84EE-9F62-469B-8EB1-71D73B5773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3889991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E9E03A-0131-49C8-8D00-169B6DAA0D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6249542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0696D-EB32-47A5-B6A8-3D9F5537001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1621023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569DBE-A032-40BF-BB90-DF182D03600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236483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73BBEE-C023-4DF7-80BE-CA4DA7267C1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600262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0450" y="152400"/>
            <a:ext cx="23431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BF979-015C-4932-8305-5411B3ACA04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8272621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7949C5-F463-4800-851A-3A201F3ACCF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5242984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60158D-DE53-4D68-9737-064647ADDA2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9754069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CS416 Compiler Design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ea typeface="宋体" panose="02010600030101010101" pitchFamily="2" charset="-122"/>
              </a:defRPr>
            </a:lvl1pPr>
          </a:lstStyle>
          <a:p>
            <a:fld id="{6CF0099D-0228-448C-8939-269CE7D5EDF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0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0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91DF19-CE65-4524-8E44-60A252D1DE1D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80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smtClean="0">
                <a:ea typeface="宋体" panose="02010600030101010101" pitchFamily="2" charset="-122"/>
              </a:rPr>
              <a:t>Exercises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36050" cy="4802188"/>
          </a:xfrm>
        </p:spPr>
        <p:txBody>
          <a:bodyPr/>
          <a:lstStyle/>
          <a:p>
            <a:r>
              <a:rPr lang="en-US" altLang="zh-CN" sz="4000" smtClean="0">
                <a:ea typeface="宋体" panose="02010600030101010101" pitchFamily="2" charset="-122"/>
              </a:rPr>
              <a:t>P.273 4.37,4.39, 4.40</a:t>
            </a:r>
          </a:p>
          <a:p>
            <a:r>
              <a:rPr lang="en-US" altLang="zh-CN" sz="4000" smtClean="0">
                <a:ea typeface="宋体" panose="02010600030101010101" pitchFamily="2" charset="-122"/>
              </a:rPr>
              <a:t>P.267 4.2, 4.3 (thinking)</a:t>
            </a:r>
          </a:p>
          <a:p>
            <a:r>
              <a:rPr lang="en-US" altLang="zh-CN" sz="4000" smtClean="0">
                <a:ea typeface="宋体" panose="02010600030101010101" pitchFamily="2" charset="-122"/>
              </a:rPr>
              <a:t>due: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0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0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3BC40A-B38D-44AE-A635-CFDA35FC6BD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8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Bottom-Up Parsing (P.195)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81075"/>
            <a:ext cx="9372600" cy="532765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bottom-up parser</a:t>
            </a:r>
            <a:r>
              <a:rPr lang="en-US" altLang="zh-CN" smtClean="0">
                <a:ea typeface="宋体" panose="02010600030101010101" pitchFamily="2" charset="-122"/>
              </a:rPr>
              <a:t> creates the parse tree of the given input starting from leaves towards the root.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bottom-up parser tries to find the right-most derivation of the given input in the reverse order.</a:t>
            </a:r>
          </a:p>
          <a:p>
            <a:pPr lvl="1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2000" smtClean="0">
                <a:ea typeface="宋体" panose="02010600030101010101" pitchFamily="2" charset="-122"/>
              </a:rPr>
              <a:t>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 ...     (the right-most derivation of )</a:t>
            </a:r>
          </a:p>
          <a:p>
            <a:pPr lvl="1"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        (the bottom-up parser finds the right-most derivation in the reverse order)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Bottom-up parsing is also known as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shift-reduce parsing</a:t>
            </a:r>
            <a:r>
              <a:rPr lang="en-US" altLang="zh-CN" smtClean="0">
                <a:ea typeface="宋体" panose="02010600030101010101" pitchFamily="2" charset="-122"/>
              </a:rPr>
              <a:t> because its two main actions are shift and reduce.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At each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shift </a:t>
            </a:r>
            <a:r>
              <a:rPr lang="en-US" altLang="zh-CN" sz="2000" smtClean="0">
                <a:ea typeface="宋体" panose="02010600030101010101" pitchFamily="2" charset="-122"/>
              </a:rPr>
              <a:t>action, the current symbol in the input string is pushed to a stack.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At each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reduction</a:t>
            </a:r>
            <a:r>
              <a:rPr lang="en-US" altLang="zh-CN" sz="2000" smtClean="0">
                <a:ea typeface="宋体" panose="02010600030101010101" pitchFamily="2" charset="-122"/>
              </a:rPr>
              <a:t> step, the symbols at the top of the stack (this symbol sequence is the right side of a production) will replaced by the non-terminal at the left side of that production.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There are also two more actions: accept and error.</a:t>
            </a:r>
            <a:endParaRPr lang="zh-CN" altLang="en-US" sz="16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E31AB0-7491-49C0-93D7-02ECD33BAE9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8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Shift-Reduce Parsing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smtClean="0">
                <a:ea typeface="宋体" panose="02010600030101010101" pitchFamily="2" charset="-122"/>
              </a:rPr>
              <a:t>A shift-reduce parser tries to reduce the given input string into the starting symbol.</a:t>
            </a:r>
          </a:p>
          <a:p>
            <a:endParaRPr lang="en-US" altLang="zh-CN" sz="900" smtClean="0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a string   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    the starting symbol</a:t>
            </a:r>
            <a:endParaRPr lang="en-US" altLang="zh-CN" sz="700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lvl="1"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      </a:t>
            </a:r>
            <a:r>
              <a:rPr lang="en-US" altLang="zh-CN" sz="1600" smtClean="0">
                <a:ea typeface="宋体" panose="02010600030101010101" pitchFamily="2" charset="-122"/>
              </a:rPr>
              <a:t>reduced to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r>
              <a:rPr lang="en-US" altLang="zh-CN" sz="2000" smtClean="0">
                <a:ea typeface="宋体" panose="02010600030101010101" pitchFamily="2" charset="-122"/>
              </a:rPr>
              <a:t>At each reduction step, a substring of the input matching to the right side of a production rule is replaced by the non-terminal at the left side of that production rule.</a:t>
            </a:r>
          </a:p>
          <a:p>
            <a:r>
              <a:rPr lang="en-US" altLang="zh-CN" sz="2000" smtClean="0">
                <a:ea typeface="宋体" panose="02010600030101010101" pitchFamily="2" charset="-122"/>
              </a:rPr>
              <a:t>If the substring is chosen correctly, the right most derivation of that string is created in the reverse order.</a:t>
            </a:r>
          </a:p>
          <a:p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Rightmost Derivation:  		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 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Shift-Reduce Parser finds: 		  ...  S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5181600" y="43434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5181600" y="4519613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4105" name="Text Box 6"/>
          <p:cNvSpPr txBox="1">
            <a:spLocks noChangeArrowheads="1"/>
          </p:cNvSpPr>
          <p:nvPr/>
        </p:nvSpPr>
        <p:spPr bwMode="auto">
          <a:xfrm>
            <a:off x="5257800" y="52578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4106" name="Text Box 7"/>
          <p:cNvSpPr txBox="1">
            <a:spLocks noChangeArrowheads="1"/>
          </p:cNvSpPr>
          <p:nvPr/>
        </p:nvSpPr>
        <p:spPr bwMode="auto">
          <a:xfrm>
            <a:off x="5791200" y="52578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grpSp>
        <p:nvGrpSpPr>
          <p:cNvPr id="260106" name="Group 10"/>
          <p:cNvGrpSpPr>
            <a:grpSpLocks/>
          </p:cNvGrpSpPr>
          <p:nvPr/>
        </p:nvGrpSpPr>
        <p:grpSpPr bwMode="auto">
          <a:xfrm>
            <a:off x="4881563" y="5589588"/>
            <a:ext cx="1584325" cy="457200"/>
            <a:chOff x="3075" y="3521"/>
            <a:chExt cx="998" cy="288"/>
          </a:xfrm>
        </p:grpSpPr>
        <p:sp>
          <p:nvSpPr>
            <p:cNvPr id="4108" name="Line 8"/>
            <p:cNvSpPr>
              <a:spLocks noChangeShapeType="1"/>
            </p:cNvSpPr>
            <p:nvPr/>
          </p:nvSpPr>
          <p:spPr bwMode="auto">
            <a:xfrm>
              <a:off x="3165" y="3566"/>
              <a:ext cx="862" cy="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9" name="Rectangle 9"/>
            <p:cNvSpPr>
              <a:spLocks noChangeArrowheads="1"/>
            </p:cNvSpPr>
            <p:nvPr/>
          </p:nvSpPr>
          <p:spPr bwMode="auto">
            <a:xfrm>
              <a:off x="3075" y="3521"/>
              <a:ext cx="9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reduction</a:t>
              </a:r>
              <a:endParaRPr lang="zh-CN" altLang="en-US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remove" nodeType="afterEffect">
                                  <p:stCondLst>
                                    <p:cond delay="2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26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123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124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158421-6633-469C-B17E-2C406BA4572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8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Shift-Reduce Parsing -- Example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2195513" cy="16335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  | 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 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  |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61142" name="Group 22"/>
          <p:cNvGrpSpPr>
            <a:grpSpLocks/>
          </p:cNvGrpSpPr>
          <p:nvPr/>
        </p:nvGrpSpPr>
        <p:grpSpPr bwMode="auto">
          <a:xfrm>
            <a:off x="631825" y="3757613"/>
            <a:ext cx="4343400" cy="762000"/>
            <a:chOff x="336" y="2544"/>
            <a:chExt cx="2736" cy="480"/>
          </a:xfrm>
        </p:grpSpPr>
        <p:sp>
          <p:nvSpPr>
            <p:cNvPr id="5134" name="Text Box 13"/>
            <p:cNvSpPr txBox="1">
              <a:spLocks noChangeArrowheads="1"/>
            </p:cNvSpPr>
            <p:nvPr/>
          </p:nvSpPr>
          <p:spPr bwMode="auto">
            <a:xfrm>
              <a:off x="2640" y="254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rm</a:t>
              </a:r>
            </a:p>
          </p:txBody>
        </p:sp>
        <p:sp>
          <p:nvSpPr>
            <p:cNvPr id="5135" name="Text Box 14"/>
            <p:cNvSpPr txBox="1">
              <a:spLocks noChangeArrowheads="1"/>
            </p:cNvSpPr>
            <p:nvPr/>
          </p:nvSpPr>
          <p:spPr bwMode="auto">
            <a:xfrm>
              <a:off x="1824" y="254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rm</a:t>
              </a:r>
            </a:p>
          </p:txBody>
        </p:sp>
        <p:sp>
          <p:nvSpPr>
            <p:cNvPr id="5136" name="Text Box 15"/>
            <p:cNvSpPr txBox="1">
              <a:spLocks noChangeArrowheads="1"/>
            </p:cNvSpPr>
            <p:nvPr/>
          </p:nvSpPr>
          <p:spPr bwMode="auto">
            <a:xfrm>
              <a:off x="1152" y="254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rm</a:t>
              </a:r>
            </a:p>
          </p:txBody>
        </p:sp>
        <p:sp>
          <p:nvSpPr>
            <p:cNvPr id="5137" name="Text Box 16"/>
            <p:cNvSpPr txBox="1">
              <a:spLocks noChangeArrowheads="1"/>
            </p:cNvSpPr>
            <p:nvPr/>
          </p:nvSpPr>
          <p:spPr bwMode="auto">
            <a:xfrm>
              <a:off x="384" y="2544"/>
              <a:ext cx="2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rm</a:t>
              </a:r>
            </a:p>
          </p:txBody>
        </p:sp>
        <p:sp>
          <p:nvSpPr>
            <p:cNvPr id="5138" name="Line 17"/>
            <p:cNvSpPr>
              <a:spLocks noChangeShapeType="1"/>
            </p:cNvSpPr>
            <p:nvPr/>
          </p:nvSpPr>
          <p:spPr bwMode="auto">
            <a:xfrm flipH="1" flipV="1">
              <a:off x="912" y="2688"/>
              <a:ext cx="100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9" name="Line 18"/>
            <p:cNvSpPr>
              <a:spLocks noChangeShapeType="1"/>
            </p:cNvSpPr>
            <p:nvPr/>
          </p:nvSpPr>
          <p:spPr bwMode="auto">
            <a:xfrm flipH="1" flipV="1">
              <a:off x="1584" y="2688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0" name="Line 19"/>
            <p:cNvSpPr>
              <a:spLocks noChangeShapeType="1"/>
            </p:cNvSpPr>
            <p:nvPr/>
          </p:nvSpPr>
          <p:spPr bwMode="auto">
            <a:xfrm flipV="1">
              <a:off x="1920" y="2688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1" name="Line 20"/>
            <p:cNvSpPr>
              <a:spLocks noChangeShapeType="1"/>
            </p:cNvSpPr>
            <p:nvPr/>
          </p:nvSpPr>
          <p:spPr bwMode="auto">
            <a:xfrm flipV="1">
              <a:off x="1920" y="2736"/>
              <a:ext cx="115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2" name="Line 21"/>
            <p:cNvSpPr>
              <a:spLocks noChangeShapeType="1"/>
            </p:cNvSpPr>
            <p:nvPr/>
          </p:nvSpPr>
          <p:spPr bwMode="auto">
            <a:xfrm flipH="1" flipV="1">
              <a:off x="336" y="2736"/>
              <a:ext cx="15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1143" name="Rectangle 23"/>
          <p:cNvSpPr>
            <a:spLocks noChangeArrowheads="1"/>
          </p:cNvSpPr>
          <p:nvPr/>
        </p:nvSpPr>
        <p:spPr bwMode="auto">
          <a:xfrm>
            <a:off x="415925" y="3500438"/>
            <a:ext cx="51847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 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aABb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 aA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  a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bb  aa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bb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   Right Sentential Forms</a:t>
            </a:r>
          </a:p>
        </p:txBody>
      </p:sp>
      <p:sp>
        <p:nvSpPr>
          <p:cNvPr id="261144" name="Rectangle 24"/>
          <p:cNvSpPr>
            <a:spLocks noChangeArrowheads="1"/>
          </p:cNvSpPr>
          <p:nvPr/>
        </p:nvSpPr>
        <p:spPr bwMode="auto">
          <a:xfrm>
            <a:off x="273050" y="5492750"/>
            <a:ext cx="9359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How do we know which substring to be replaced at each reduction step</a:t>
            </a:r>
            <a:endParaRPr lang="en-US" altLang="zh-CN" sz="3600" b="1" i="1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1145" name="Rectangle 25"/>
          <p:cNvSpPr>
            <a:spLocks noChangeArrowheads="1"/>
          </p:cNvSpPr>
          <p:nvPr/>
        </p:nvSpPr>
        <p:spPr bwMode="auto">
          <a:xfrm>
            <a:off x="9129713" y="5229225"/>
            <a:ext cx="431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</a:t>
            </a:r>
            <a:endParaRPr lang="zh-CN" altLang="en-US" sz="4400" b="1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61148" name="Object 28"/>
          <p:cNvGraphicFramePr>
            <a:graphicFrameLocks noChangeAspect="1"/>
          </p:cNvGraphicFramePr>
          <p:nvPr>
            <p:ph sz="half" idx="2"/>
          </p:nvPr>
        </p:nvGraphicFramePr>
        <p:xfrm>
          <a:off x="6537325" y="3082925"/>
          <a:ext cx="26638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Visio" r:id="rId3" imgW="1267968" imgH="979932" progId="Visio.Drawing.11">
                  <p:embed/>
                </p:oleObj>
              </mc:Choice>
              <mc:Fallback>
                <p:oleObj name="Visio" r:id="rId3" imgW="1267968" imgH="979932" progId="Visio.Drawing.11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325" y="3082925"/>
                        <a:ext cx="26638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50" name="Rectangle 30"/>
          <p:cNvSpPr>
            <a:spLocks noChangeArrowheads="1"/>
          </p:cNvSpPr>
          <p:nvPr/>
        </p:nvSpPr>
        <p:spPr bwMode="auto">
          <a:xfrm>
            <a:off x="4592638" y="1196975"/>
            <a:ext cx="4175125" cy="163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 sz="2000" b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bb</a:t>
            </a:r>
            <a:endParaRPr lang="en-US" altLang="zh-CN" sz="2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b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bb</a:t>
            </a:r>
            <a:endParaRPr lang="en-US" altLang="zh-CN" sz="2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 sz="2000" b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b	   </a:t>
            </a: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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reduction</a:t>
            </a:r>
            <a:endParaRPr lang="en-US" altLang="zh-CN" sz="20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b="1">
                <a:solidFill>
                  <a:srgbClr val="CC00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aABb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S</a:t>
            </a:r>
          </a:p>
        </p:txBody>
      </p:sp>
      <p:sp>
        <p:nvSpPr>
          <p:cNvPr id="5133" name="Rectangle 31"/>
          <p:cNvSpPr>
            <a:spLocks noChangeArrowheads="1"/>
          </p:cNvSpPr>
          <p:nvPr/>
        </p:nvSpPr>
        <p:spPr bwMode="auto">
          <a:xfrm>
            <a:off x="3440113" y="1160463"/>
            <a:ext cx="14144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input string:</a:t>
            </a:r>
            <a:endParaRPr lang="zh-CN" altLang="en-US" sz="20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1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61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6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6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6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44" grpId="0"/>
      <p:bldP spid="261145" grpId="0"/>
      <p:bldP spid="2611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86A77E-CA24-4ECA-9385-7C4B937D516D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8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8286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Handle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08050"/>
            <a:ext cx="9372600" cy="5416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Informally, a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handle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mtClean="0">
                <a:solidFill>
                  <a:srgbClr val="CC0000"/>
                </a:solidFill>
                <a:ea typeface="宋体" panose="02010600030101010101" pitchFamily="2" charset="-122"/>
              </a:rPr>
              <a:t>句柄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of a string is a substring that matches the right side of a production rule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But not every substring matches the right side of a production rule is handle</a:t>
            </a:r>
          </a:p>
          <a:p>
            <a:pPr>
              <a:lnSpc>
                <a:spcPct val="90000"/>
              </a:lnSpc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b="1" smtClean="0">
                <a:ea typeface="宋体" panose="02010600030101010101" pitchFamily="2" charset="-122"/>
              </a:rPr>
              <a:t>handle</a:t>
            </a:r>
            <a:r>
              <a:rPr lang="en-US" altLang="zh-CN" smtClean="0">
                <a:ea typeface="宋体" panose="02010600030101010101" pitchFamily="2" charset="-122"/>
              </a:rPr>
              <a:t> of a right sentential form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 ( )  is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   a production rule 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 and a position of 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where the string  may be found and replaced by A to produce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the previous right-sentential form in  a rightmost derivation of .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900" smtClean="0">
                <a:ea typeface="宋体" panose="02010600030101010101" pitchFamily="2" charset="-122"/>
                <a:sym typeface="Symbol" panose="05050102010706020507" pitchFamily="18" charset="2"/>
              </a:rPr>
              <a:t>	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S  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  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If the grammar is unambiguous, then every right-sentential form of the grammar has exactly one handle.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We will see that  is a string of terminals.</a:t>
            </a:r>
          </a:p>
        </p:txBody>
      </p:sp>
      <p:sp>
        <p:nvSpPr>
          <p:cNvPr id="6151" name="Text Box 4"/>
          <p:cNvSpPr txBox="1">
            <a:spLocks noChangeArrowheads="1"/>
          </p:cNvSpPr>
          <p:nvPr/>
        </p:nvSpPr>
        <p:spPr bwMode="auto">
          <a:xfrm>
            <a:off x="2438400" y="44196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6152" name="Text Box 5"/>
          <p:cNvSpPr txBox="1">
            <a:spLocks noChangeArrowheads="1"/>
          </p:cNvSpPr>
          <p:nvPr/>
        </p:nvSpPr>
        <p:spPr bwMode="auto">
          <a:xfrm>
            <a:off x="3581400" y="44196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6153" name="Text Box 6"/>
          <p:cNvSpPr txBox="1">
            <a:spLocks noChangeArrowheads="1"/>
          </p:cNvSpPr>
          <p:nvPr/>
        </p:nvSpPr>
        <p:spPr bwMode="auto">
          <a:xfrm>
            <a:off x="2514600" y="40290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ea typeface="宋体" panose="02010600030101010101" pitchFamily="2" charset="-122"/>
              </a:rPr>
              <a:t>*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E1C33D-B627-4168-A745-A51185FC2C5E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8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Handle Pruning (P.197)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51485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right-most derivation in reverse can be obtained by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handle-pruning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S=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... 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n-1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		input string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Start from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find a handle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in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                                                and replace 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in by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to get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Then find a handle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in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                                                   and replace 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in by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to get 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n-2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Repeat this, until we reach S.</a:t>
            </a:r>
          </a:p>
        </p:txBody>
      </p:sp>
      <p:sp>
        <p:nvSpPr>
          <p:cNvPr id="7175" name="Line 4"/>
          <p:cNvSpPr>
            <a:spLocks noChangeShapeType="1"/>
          </p:cNvSpPr>
          <p:nvPr/>
        </p:nvSpPr>
        <p:spPr bwMode="auto">
          <a:xfrm flipH="1" flipV="1">
            <a:off x="5334000" y="25146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6" name="Text Box 5"/>
          <p:cNvSpPr txBox="1">
            <a:spLocks noChangeArrowheads="1"/>
          </p:cNvSpPr>
          <p:nvPr/>
        </p:nvSpPr>
        <p:spPr bwMode="auto">
          <a:xfrm>
            <a:off x="3352800" y="22860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7177" name="Text Box 6"/>
          <p:cNvSpPr txBox="1">
            <a:spLocks noChangeArrowheads="1"/>
          </p:cNvSpPr>
          <p:nvPr/>
        </p:nvSpPr>
        <p:spPr bwMode="auto">
          <a:xfrm>
            <a:off x="2667000" y="22860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7178" name="Text Box 7"/>
          <p:cNvSpPr txBox="1">
            <a:spLocks noChangeArrowheads="1"/>
          </p:cNvSpPr>
          <p:nvPr/>
        </p:nvSpPr>
        <p:spPr bwMode="auto">
          <a:xfrm>
            <a:off x="1981200" y="22860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7179" name="Text Box 8"/>
          <p:cNvSpPr txBox="1">
            <a:spLocks noChangeArrowheads="1"/>
          </p:cNvSpPr>
          <p:nvPr/>
        </p:nvSpPr>
        <p:spPr bwMode="auto">
          <a:xfrm>
            <a:off x="4191000" y="22860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  <p:sp>
        <p:nvSpPr>
          <p:cNvPr id="7180" name="Text Box 9"/>
          <p:cNvSpPr txBox="1">
            <a:spLocks noChangeArrowheads="1"/>
          </p:cNvSpPr>
          <p:nvPr/>
        </p:nvSpPr>
        <p:spPr bwMode="auto">
          <a:xfrm>
            <a:off x="1371600" y="2286000"/>
            <a:ext cx="41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rm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AE146A-6C02-475B-995B-785C355392E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800"/>
          </a:p>
        </p:txBody>
      </p:sp>
      <p:grpSp>
        <p:nvGrpSpPr>
          <p:cNvPr id="264210" name="Group 18"/>
          <p:cNvGrpSpPr>
            <a:grpSpLocks/>
          </p:cNvGrpSpPr>
          <p:nvPr/>
        </p:nvGrpSpPr>
        <p:grpSpPr bwMode="auto">
          <a:xfrm>
            <a:off x="1208088" y="2997200"/>
            <a:ext cx="720725" cy="3168650"/>
            <a:chOff x="761" y="1888"/>
            <a:chExt cx="454" cy="1996"/>
          </a:xfrm>
        </p:grpSpPr>
        <p:sp>
          <p:nvSpPr>
            <p:cNvPr id="8203" name="Line 10"/>
            <p:cNvSpPr>
              <a:spLocks noChangeShapeType="1"/>
            </p:cNvSpPr>
            <p:nvPr/>
          </p:nvSpPr>
          <p:spPr bwMode="auto">
            <a:xfrm flipH="1" flipV="1">
              <a:off x="852" y="3521"/>
              <a:ext cx="136" cy="317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Line 11"/>
            <p:cNvSpPr>
              <a:spLocks noChangeShapeType="1"/>
            </p:cNvSpPr>
            <p:nvPr/>
          </p:nvSpPr>
          <p:spPr bwMode="auto">
            <a:xfrm flipH="1" flipV="1">
              <a:off x="1124" y="3294"/>
              <a:ext cx="45" cy="59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Line 12"/>
            <p:cNvSpPr>
              <a:spLocks noChangeShapeType="1"/>
            </p:cNvSpPr>
            <p:nvPr/>
          </p:nvSpPr>
          <p:spPr bwMode="auto">
            <a:xfrm flipH="1" flipV="1">
              <a:off x="1215" y="3067"/>
              <a:ext cx="0" cy="771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Line 13"/>
            <p:cNvSpPr>
              <a:spLocks noChangeShapeType="1"/>
            </p:cNvSpPr>
            <p:nvPr/>
          </p:nvSpPr>
          <p:spPr bwMode="auto">
            <a:xfrm flipH="1" flipV="1">
              <a:off x="988" y="2840"/>
              <a:ext cx="91" cy="953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Line 14"/>
            <p:cNvSpPr>
              <a:spLocks noChangeShapeType="1"/>
            </p:cNvSpPr>
            <p:nvPr/>
          </p:nvSpPr>
          <p:spPr bwMode="auto">
            <a:xfrm flipH="1" flipV="1">
              <a:off x="988" y="2568"/>
              <a:ext cx="136" cy="1225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Line 15"/>
            <p:cNvSpPr>
              <a:spLocks noChangeShapeType="1"/>
            </p:cNvSpPr>
            <p:nvPr/>
          </p:nvSpPr>
          <p:spPr bwMode="auto">
            <a:xfrm flipH="1" flipV="1">
              <a:off x="761" y="2341"/>
              <a:ext cx="227" cy="1497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Line 16"/>
            <p:cNvSpPr>
              <a:spLocks noChangeShapeType="1"/>
            </p:cNvSpPr>
            <p:nvPr/>
          </p:nvSpPr>
          <p:spPr bwMode="auto">
            <a:xfrm flipH="1" flipV="1">
              <a:off x="761" y="2115"/>
              <a:ext cx="272" cy="1678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Line 17"/>
            <p:cNvSpPr>
              <a:spLocks noChangeShapeType="1"/>
            </p:cNvSpPr>
            <p:nvPr/>
          </p:nvSpPr>
          <p:spPr bwMode="auto">
            <a:xfrm flipH="1" flipV="1">
              <a:off x="807" y="1888"/>
              <a:ext cx="226" cy="1905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42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Shift-Reduce Parser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6613"/>
            <a:ext cx="9372600" cy="14890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 | T	       Right-Most Derivation of   id+id*id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T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T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  | F		E 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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 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*id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F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|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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+id*id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T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+id*id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F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+id*id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id+id*id</a:t>
            </a:r>
          </a:p>
        </p:txBody>
      </p:sp>
      <p:sp>
        <p:nvSpPr>
          <p:cNvPr id="264199" name="Rectangle 7"/>
          <p:cNvSpPr>
            <a:spLocks noChangeArrowheads="1"/>
          </p:cNvSpPr>
          <p:nvPr/>
        </p:nvSpPr>
        <p:spPr bwMode="auto">
          <a:xfrm>
            <a:off x="1352550" y="6021388"/>
            <a:ext cx="75311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Handles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are red and underlined in the right-sentential forms.</a:t>
            </a:r>
          </a:p>
        </p:txBody>
      </p:sp>
      <p:sp>
        <p:nvSpPr>
          <p:cNvPr id="264200" name="Rectangle 8"/>
          <p:cNvSpPr>
            <a:spLocks noChangeArrowheads="1"/>
          </p:cNvSpPr>
          <p:nvPr/>
        </p:nvSpPr>
        <p:spPr bwMode="auto">
          <a:xfrm>
            <a:off x="992188" y="2276475"/>
            <a:ext cx="6913562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u="sng">
                <a:ea typeface="宋体" panose="02010600030101010101" pitchFamily="2" charset="-122"/>
                <a:sym typeface="Symbol" panose="05050102010706020507" pitchFamily="18" charset="2"/>
              </a:rPr>
              <a:t>Right-Most Sentential Form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u="sng">
                <a:ea typeface="宋体" panose="02010600030101010101" pitchFamily="2" charset="-122"/>
                <a:sym typeface="Symbol" panose="05050102010706020507" pitchFamily="18" charset="2"/>
              </a:rPr>
              <a:t>Reducing Production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+id*id			</a:t>
            </a:r>
            <a:r>
              <a:rPr lang="en-US" altLang="zh-CN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+id*id			</a:t>
            </a:r>
            <a:r>
              <a:rPr lang="en-US" altLang="zh-CN">
                <a:ea typeface="宋体" panose="02010600030101010101" pitchFamily="2" charset="-122"/>
              </a:rPr>
              <a:t>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+id*id			</a:t>
            </a: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E+</a:t>
            </a: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*id			</a:t>
            </a:r>
            <a:r>
              <a:rPr lang="en-US" altLang="zh-CN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E+</a:t>
            </a: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*id			</a:t>
            </a:r>
            <a:r>
              <a:rPr lang="en-US" altLang="zh-CN">
                <a:ea typeface="宋体" panose="02010600030101010101" pitchFamily="2" charset="-122"/>
              </a:rPr>
              <a:t>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E+T*</a:t>
            </a: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  <a:r>
              <a:rPr lang="en-US" altLang="zh-CN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E+</a:t>
            </a: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T*F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	</a:t>
            </a:r>
            <a:r>
              <a:rPr lang="en-US" altLang="zh-CN">
                <a:ea typeface="宋体" panose="02010600030101010101" pitchFamily="2" charset="-122"/>
              </a:rPr>
              <a:t>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T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u="sng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E+T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	</a:t>
            </a: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	</a:t>
            </a:r>
          </a:p>
        </p:txBody>
      </p:sp>
      <p:sp>
        <p:nvSpPr>
          <p:cNvPr id="8202" name="Line 9"/>
          <p:cNvSpPr>
            <a:spLocks noChangeShapeType="1"/>
          </p:cNvSpPr>
          <p:nvPr/>
        </p:nvSpPr>
        <p:spPr bwMode="auto">
          <a:xfrm>
            <a:off x="200025" y="2276475"/>
            <a:ext cx="9432925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64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64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64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64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64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64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4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64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64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64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64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64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64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64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642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642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642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642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000"/>
                                        <p:tgtEl>
                                          <p:spTgt spid="26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B86ABA-129C-48AA-88F5-9C25D07413A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8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A Stack Implementation of A Shift-Reduce Parser (P.198)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There are four possible actions of a shift-parser action:</a:t>
            </a:r>
          </a:p>
          <a:p>
            <a:pPr marL="457200" indent="-457200"/>
            <a:endParaRPr lang="en-US" altLang="zh-CN" smtClean="0">
              <a:ea typeface="宋体" panose="02010600030101010101" pitchFamily="2" charset="-122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Shift</a:t>
            </a:r>
            <a:r>
              <a:rPr lang="en-US" altLang="zh-CN" sz="2400" smtClean="0">
                <a:ea typeface="宋体" panose="02010600030101010101" pitchFamily="2" charset="-122"/>
              </a:rPr>
              <a:t> :  The next input symbol is shifted onto the top of the stack.</a:t>
            </a:r>
          </a:p>
          <a:p>
            <a:pPr marL="800100" lvl="1" indent="-342900">
              <a:buFontTx/>
              <a:buAutoNum type="arabicPeriod"/>
            </a:pP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Reduce</a:t>
            </a:r>
            <a:r>
              <a:rPr lang="en-US" altLang="zh-CN" sz="2400" smtClean="0">
                <a:ea typeface="宋体" panose="02010600030101010101" pitchFamily="2" charset="-122"/>
              </a:rPr>
              <a:t>: Replace the handle on the top of the stack by the non-terminal.</a:t>
            </a:r>
          </a:p>
          <a:p>
            <a:pPr marL="800100" lvl="1" indent="-342900">
              <a:buFontTx/>
              <a:buAutoNum type="arabicPeriod"/>
            </a:pP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Accept</a:t>
            </a:r>
            <a:r>
              <a:rPr lang="en-US" altLang="zh-CN" sz="2400" smtClean="0">
                <a:ea typeface="宋体" panose="02010600030101010101" pitchFamily="2" charset="-122"/>
              </a:rPr>
              <a:t>: Successful completion of parsing.</a:t>
            </a:r>
          </a:p>
          <a:p>
            <a:pPr marL="800100" lvl="1" indent="-342900">
              <a:buFontTx/>
              <a:buAutoNum type="arabicPeriod"/>
            </a:pP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Error</a:t>
            </a:r>
            <a:r>
              <a:rPr lang="en-US" altLang="zh-CN" sz="2400" smtClean="0">
                <a:ea typeface="宋体" panose="02010600030101010101" pitchFamily="2" charset="-122"/>
              </a:rPr>
              <a:t>: Parser discovers a syntax error, and calls an error recovery routine.</a:t>
            </a:r>
          </a:p>
          <a:p>
            <a:pPr marL="457200" indent="-457200">
              <a:buFontTx/>
              <a:buNone/>
            </a:pPr>
            <a:endParaRPr lang="en-US" altLang="zh-CN" sz="3200" smtClean="0"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Initial stack just contains only the end-marker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$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The end of the input string is marked by the end-marker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$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223" name="Rectangle 4"/>
          <p:cNvSpPr>
            <a:spLocks noChangeArrowheads="1"/>
          </p:cNvSpPr>
          <p:nvPr/>
        </p:nvSpPr>
        <p:spPr bwMode="auto">
          <a:xfrm>
            <a:off x="7545388" y="4868863"/>
            <a:ext cx="173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</a:rPr>
              <a:t>Initial stack</a:t>
            </a:r>
            <a:endParaRPr lang="zh-CN" altLang="en-US" b="1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9224" name="Line 5"/>
          <p:cNvSpPr>
            <a:spLocks noChangeShapeType="1"/>
          </p:cNvSpPr>
          <p:nvPr/>
        </p:nvSpPr>
        <p:spPr bwMode="auto">
          <a:xfrm flipH="1">
            <a:off x="6897688" y="5229225"/>
            <a:ext cx="576262" cy="1444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B70D04-A41F-4124-9886-0518CA3FE6E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80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Stack Implementation of A Shift-Reduce Parser 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88" y="1196975"/>
            <a:ext cx="6337300" cy="5105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b="1" u="sng" smtClean="0">
                <a:ea typeface="宋体" panose="02010600030101010101" pitchFamily="2" charset="-122"/>
              </a:rPr>
              <a:t>Stack</a:t>
            </a:r>
            <a:r>
              <a:rPr lang="en-US" altLang="zh-CN" smtClean="0">
                <a:ea typeface="宋体" panose="02010600030101010101" pitchFamily="2" charset="-122"/>
              </a:rPr>
              <a:t>		</a:t>
            </a:r>
            <a:r>
              <a:rPr lang="en-US" altLang="zh-CN" b="1" u="sng" smtClean="0">
                <a:ea typeface="宋体" panose="02010600030101010101" pitchFamily="2" charset="-122"/>
              </a:rPr>
              <a:t>Input</a:t>
            </a:r>
            <a:r>
              <a:rPr lang="en-US" altLang="zh-CN" smtClean="0">
                <a:ea typeface="宋体" panose="02010600030101010101" pitchFamily="2" charset="-122"/>
              </a:rPr>
              <a:t>		</a:t>
            </a:r>
            <a:r>
              <a:rPr lang="en-US" altLang="zh-CN" b="1" u="sng" smtClean="0">
                <a:ea typeface="宋体" panose="02010600030101010101" pitchFamily="2" charset="-122"/>
              </a:rPr>
              <a:t>Action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			id+id*id$	shift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</a:rPr>
              <a:t>			+id*id$		reduce by F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+id*id$		reduce by T  F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+id*id$		reduce by E  T	</a:t>
            </a:r>
            <a:endParaRPr lang="en-US" altLang="zh-CN" sz="2000" smtClean="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			+id*id$		shift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$E+		id*id$		shift	</a:t>
            </a:r>
            <a:endParaRPr lang="en-US" altLang="zh-CN" sz="2000" smtClean="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$E+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*id$		reduce by F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$E+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*id$		reduce by T  F	</a:t>
            </a:r>
            <a:endParaRPr lang="en-US" altLang="zh-CN" sz="2000" smtClean="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$E+T		*id$		shift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$E+T*		id$		shift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$E+T*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$		reduce by F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$E+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T*F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$		reduce by T  T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E+T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$		reduce by E  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$E			$		accept</a:t>
            </a:r>
          </a:p>
        </p:txBody>
      </p:sp>
      <p:sp>
        <p:nvSpPr>
          <p:cNvPr id="266268" name="Rectangle 28"/>
          <p:cNvSpPr>
            <a:spLocks noChangeArrowheads="1"/>
          </p:cNvSpPr>
          <p:nvPr/>
        </p:nvSpPr>
        <p:spPr bwMode="auto">
          <a:xfrm>
            <a:off x="6054725" y="1412875"/>
            <a:ext cx="3851275" cy="401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3200">
                <a:ea typeface="宋体" panose="02010600030101010101" pitchFamily="2" charset="-122"/>
                <a:sym typeface="Symbol" panose="05050102010706020507" pitchFamily="18" charset="2"/>
              </a:rPr>
              <a:t>         </a:t>
            </a:r>
            <a:r>
              <a:rPr lang="en-US" altLang="zh-CN" sz="1800" b="1" u="sng">
                <a:ea typeface="宋体" panose="02010600030101010101" pitchFamily="2" charset="-122"/>
                <a:sym typeface="Symbol" panose="05050102010706020507" pitchFamily="18" charset="2"/>
              </a:rPr>
              <a:t>Parse Tree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     E 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</a:p>
          <a:p>
            <a:endParaRPr lang="en-US" altLang="zh-CN" sz="18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E 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       T 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T 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 T 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 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  F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</a:p>
          <a:p>
            <a:pPr>
              <a:buFontTx/>
              <a:buNone/>
            </a:pPr>
            <a:endParaRPr lang="en-US" altLang="zh-CN" sz="18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F 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  F  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       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buFontTx/>
              <a:buNone/>
            </a:pP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	       id</a:t>
            </a:r>
          </a:p>
        </p:txBody>
      </p:sp>
      <p:grpSp>
        <p:nvGrpSpPr>
          <p:cNvPr id="266269" name="Group 29"/>
          <p:cNvGrpSpPr>
            <a:grpSpLocks/>
          </p:cNvGrpSpPr>
          <p:nvPr/>
        </p:nvGrpSpPr>
        <p:grpSpPr bwMode="auto">
          <a:xfrm>
            <a:off x="6602413" y="2614613"/>
            <a:ext cx="2743200" cy="2362200"/>
            <a:chOff x="4368" y="1824"/>
            <a:chExt cx="1728" cy="1488"/>
          </a:xfrm>
        </p:grpSpPr>
        <p:sp>
          <p:nvSpPr>
            <p:cNvPr id="10249" name="Line 30"/>
            <p:cNvSpPr>
              <a:spLocks noChangeShapeType="1"/>
            </p:cNvSpPr>
            <p:nvPr/>
          </p:nvSpPr>
          <p:spPr bwMode="auto">
            <a:xfrm flipH="1">
              <a:off x="4368" y="1824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" name="Line 31"/>
            <p:cNvSpPr>
              <a:spLocks noChangeShapeType="1"/>
            </p:cNvSpPr>
            <p:nvPr/>
          </p:nvSpPr>
          <p:spPr bwMode="auto">
            <a:xfrm>
              <a:off x="4944" y="1824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Line 32"/>
            <p:cNvSpPr>
              <a:spLocks noChangeShapeType="1"/>
            </p:cNvSpPr>
            <p:nvPr/>
          </p:nvSpPr>
          <p:spPr bwMode="auto">
            <a:xfrm>
              <a:off x="4944" y="18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Line 33"/>
            <p:cNvSpPr>
              <a:spLocks noChangeShapeType="1"/>
            </p:cNvSpPr>
            <p:nvPr/>
          </p:nvSpPr>
          <p:spPr bwMode="auto">
            <a:xfrm>
              <a:off x="4368" y="22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Line 34"/>
            <p:cNvSpPr>
              <a:spLocks noChangeShapeType="1"/>
            </p:cNvSpPr>
            <p:nvPr/>
          </p:nvSpPr>
          <p:spPr bwMode="auto">
            <a:xfrm>
              <a:off x="4944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Line 35"/>
            <p:cNvSpPr>
              <a:spLocks noChangeShapeType="1"/>
            </p:cNvSpPr>
            <p:nvPr/>
          </p:nvSpPr>
          <p:spPr bwMode="auto">
            <a:xfrm>
              <a:off x="4368" y="307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5" name="Line 36"/>
            <p:cNvSpPr>
              <a:spLocks noChangeShapeType="1"/>
            </p:cNvSpPr>
            <p:nvPr/>
          </p:nvSpPr>
          <p:spPr bwMode="auto">
            <a:xfrm>
              <a:off x="436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6" name="Line 37"/>
            <p:cNvSpPr>
              <a:spLocks noChangeShapeType="1"/>
            </p:cNvSpPr>
            <p:nvPr/>
          </p:nvSpPr>
          <p:spPr bwMode="auto">
            <a:xfrm>
              <a:off x="6096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7" name="Line 38"/>
            <p:cNvSpPr>
              <a:spLocks noChangeShapeType="1"/>
            </p:cNvSpPr>
            <p:nvPr/>
          </p:nvSpPr>
          <p:spPr bwMode="auto">
            <a:xfrm>
              <a:off x="4944" y="307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8" name="Line 39"/>
            <p:cNvSpPr>
              <a:spLocks noChangeShapeType="1"/>
            </p:cNvSpPr>
            <p:nvPr/>
          </p:nvSpPr>
          <p:spPr bwMode="auto">
            <a:xfrm>
              <a:off x="5520" y="22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9" name="Line 40"/>
            <p:cNvSpPr>
              <a:spLocks noChangeShapeType="1"/>
            </p:cNvSpPr>
            <p:nvPr/>
          </p:nvSpPr>
          <p:spPr bwMode="auto">
            <a:xfrm flipH="1">
              <a:off x="4944" y="2256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0" name="Line 41"/>
            <p:cNvSpPr>
              <a:spLocks noChangeShapeType="1"/>
            </p:cNvSpPr>
            <p:nvPr/>
          </p:nvSpPr>
          <p:spPr bwMode="auto">
            <a:xfrm>
              <a:off x="5520" y="2256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66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66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6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66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66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66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66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66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66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66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66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66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66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66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66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66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66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66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66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266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2662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662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2000"/>
                                        <p:tgtEl>
                                          <p:spTgt spid="26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2000"/>
                                        <p:tgtEl>
                                          <p:spTgt spid="26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3C1CE8-6553-4916-B1C4-990BAE47D11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80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Conflicts During Shift-Reduce Parsing (P.201)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There are context-free grammars for which shift-reduce parsers cannot be used.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Stack contents and the next input symbol may not decide action:</a:t>
            </a:r>
          </a:p>
          <a:p>
            <a:pPr lvl="1"/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shift/reduce conflict</a:t>
            </a:r>
            <a:r>
              <a:rPr lang="en-US" altLang="zh-CN" sz="2400" smtClean="0">
                <a:ea typeface="宋体" panose="02010600030101010101" pitchFamily="2" charset="-122"/>
              </a:rPr>
              <a:t>: Whether make a shift operation or a reduction.</a:t>
            </a:r>
          </a:p>
          <a:p>
            <a:pPr lvl="1"/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reduce/reduce conflict</a:t>
            </a:r>
            <a:r>
              <a:rPr lang="en-US" altLang="zh-CN" sz="2400" smtClean="0">
                <a:ea typeface="宋体" panose="02010600030101010101" pitchFamily="2" charset="-122"/>
              </a:rPr>
              <a:t>: The parser cannot decide which of several reductions to make.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If a shift-reduce parser cannot be used for a grammar, that grammar is called as non-LR(k) grammar.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1800" smtClean="0">
                <a:ea typeface="宋体" panose="02010600030101010101" pitchFamily="2" charset="-122"/>
              </a:rPr>
              <a:t>	left to right 	right-most	k lookhead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scanning 		derivation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</a:rPr>
              <a:t>An ambiguous grammar can never be a LR grammar.</a:t>
            </a:r>
          </a:p>
        </p:txBody>
      </p:sp>
      <p:sp>
        <p:nvSpPr>
          <p:cNvPr id="11271" name="Line 4"/>
          <p:cNvSpPr>
            <a:spLocks noChangeShapeType="1"/>
          </p:cNvSpPr>
          <p:nvPr/>
        </p:nvSpPr>
        <p:spPr bwMode="auto">
          <a:xfrm flipV="1">
            <a:off x="1828800" y="44196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Line 5"/>
          <p:cNvSpPr>
            <a:spLocks noChangeShapeType="1"/>
          </p:cNvSpPr>
          <p:nvPr/>
        </p:nvSpPr>
        <p:spPr bwMode="auto">
          <a:xfrm flipH="1" flipV="1">
            <a:off x="2819400" y="4419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3" name="Line 6"/>
          <p:cNvSpPr>
            <a:spLocks noChangeShapeType="1"/>
          </p:cNvSpPr>
          <p:nvPr/>
        </p:nvSpPr>
        <p:spPr bwMode="auto">
          <a:xfrm flipH="1" flipV="1">
            <a:off x="3124200" y="4419600"/>
            <a:ext cx="2133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2291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229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F11D7-18E4-45F9-8761-A0F429CE583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8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Shift-Reduce Parsers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052513"/>
            <a:ext cx="6659563" cy="5400675"/>
          </a:xfrm>
        </p:spPr>
        <p:txBody>
          <a:bodyPr/>
          <a:lstStyle/>
          <a:p>
            <a:pPr marL="457200" indent="-457200"/>
            <a:r>
              <a:rPr lang="en-US" altLang="zh-CN" sz="2000" smtClean="0">
                <a:ea typeface="宋体" panose="02010600030101010101" pitchFamily="2" charset="-122"/>
              </a:rPr>
              <a:t>There are two main categories of shift-reduce parsers</a:t>
            </a:r>
          </a:p>
          <a:p>
            <a:pPr marL="457200" indent="-457200"/>
            <a:endParaRPr lang="en-US" altLang="zh-CN" sz="2000" smtClean="0"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eriod"/>
            </a:pPr>
            <a:r>
              <a:rPr lang="en-US" altLang="zh-CN" b="1" smtClean="0">
                <a:ea typeface="宋体" panose="02010600030101010101" pitchFamily="2" charset="-122"/>
              </a:rPr>
              <a:t>Operator-Precedence Parser</a:t>
            </a:r>
          </a:p>
          <a:p>
            <a:pPr marL="800100" lvl="1" indent="-342900"/>
            <a:r>
              <a:rPr lang="en-US" altLang="zh-CN" sz="2000" smtClean="0">
                <a:ea typeface="宋体" panose="02010600030101010101" pitchFamily="2" charset="-122"/>
              </a:rPr>
              <a:t>	simple, but only a small class of grammars.</a:t>
            </a:r>
          </a:p>
          <a:p>
            <a:pPr marL="800100" lvl="1" indent="-342900"/>
            <a:endParaRPr lang="en-US" altLang="zh-CN" sz="2000" b="1" smtClean="0">
              <a:ea typeface="宋体" panose="02010600030101010101" pitchFamily="2" charset="-122"/>
            </a:endParaRPr>
          </a:p>
          <a:p>
            <a:pPr marL="800100" lvl="1" indent="-342900"/>
            <a:endParaRPr lang="en-US" altLang="zh-CN" sz="1600" b="1" smtClean="0">
              <a:ea typeface="宋体" panose="02010600030101010101" pitchFamily="2" charset="-122"/>
            </a:endParaRPr>
          </a:p>
          <a:p>
            <a:pPr marL="800100" lvl="1" indent="-342900"/>
            <a:endParaRPr lang="en-US" altLang="zh-CN" sz="1600" b="1" smtClean="0"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eriod"/>
            </a:pPr>
            <a:r>
              <a:rPr lang="en-US" altLang="zh-CN" b="1" smtClean="0">
                <a:ea typeface="宋体" panose="02010600030101010101" pitchFamily="2" charset="-122"/>
              </a:rPr>
              <a:t>LR-Parsers</a:t>
            </a:r>
          </a:p>
          <a:p>
            <a:pPr marL="800100" lvl="1" indent="-342900"/>
            <a:r>
              <a:rPr lang="en-US" altLang="zh-CN" sz="2000" smtClean="0">
                <a:ea typeface="宋体" panose="02010600030101010101" pitchFamily="2" charset="-122"/>
              </a:rPr>
              <a:t>covers wide range of grammars.</a:t>
            </a:r>
          </a:p>
          <a:p>
            <a:pPr marL="1219200" lvl="2" indent="-304800"/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</a:rPr>
              <a:t>SLR</a:t>
            </a:r>
            <a:r>
              <a:rPr lang="en-US" altLang="zh-CN" sz="1800" smtClean="0">
                <a:ea typeface="宋体" panose="02010600030101010101" pitchFamily="2" charset="-122"/>
              </a:rPr>
              <a:t> – simple LR parser </a:t>
            </a:r>
          </a:p>
          <a:p>
            <a:pPr marL="1219200" lvl="2" indent="-304800"/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</a:rPr>
              <a:t>LR</a:t>
            </a:r>
            <a:r>
              <a:rPr lang="en-US" altLang="zh-CN" sz="1800" smtClean="0">
                <a:ea typeface="宋体" panose="02010600030101010101" pitchFamily="2" charset="-122"/>
              </a:rPr>
              <a:t> – most general LR parser</a:t>
            </a:r>
          </a:p>
          <a:p>
            <a:pPr marL="1219200" lvl="2" indent="-304800"/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</a:rPr>
              <a:t>LALR</a:t>
            </a:r>
            <a:r>
              <a:rPr lang="en-US" altLang="zh-CN" sz="1800" smtClean="0">
                <a:ea typeface="宋体" panose="02010600030101010101" pitchFamily="2" charset="-122"/>
              </a:rPr>
              <a:t> – intermediate LR parser (lookhead LR parser)</a:t>
            </a:r>
          </a:p>
          <a:p>
            <a:pPr marL="800100" lvl="1" indent="-342900"/>
            <a:r>
              <a:rPr lang="en-US" altLang="zh-CN" sz="2000" smtClean="0">
                <a:ea typeface="宋体" panose="02010600030101010101" pitchFamily="2" charset="-122"/>
              </a:rPr>
              <a:t>SLR, LR and LALR work same, only their parsing tables are different.</a:t>
            </a:r>
          </a:p>
        </p:txBody>
      </p:sp>
      <p:graphicFrame>
        <p:nvGraphicFramePr>
          <p:cNvPr id="268305" name="Object 17"/>
          <p:cNvGraphicFramePr>
            <a:graphicFrameLocks noChangeAspect="1"/>
          </p:cNvGraphicFramePr>
          <p:nvPr>
            <p:ph sz="half" idx="2"/>
          </p:nvPr>
        </p:nvGraphicFramePr>
        <p:xfrm>
          <a:off x="6326188" y="1844675"/>
          <a:ext cx="2935287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Visio" r:id="rId3" imgW="2194560" imgH="2206828" progId="Visio.Drawing.11">
                  <p:embed/>
                </p:oleObj>
              </mc:Choice>
              <mc:Fallback>
                <p:oleObj name="Visio" r:id="rId3" imgW="2194560" imgH="2206828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188" y="1844675"/>
                        <a:ext cx="2935287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6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6B0916-0BD0-4384-B739-BCF8C261BC9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80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Operator-Precedence Parser (P.203)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25538"/>
            <a:ext cx="9372600" cy="3095625"/>
          </a:xfrm>
        </p:spPr>
        <p:txBody>
          <a:bodyPr/>
          <a:lstStyle/>
          <a:p>
            <a:r>
              <a:rPr lang="en-US" altLang="zh-CN" b="1" smtClean="0">
                <a:ea typeface="宋体" panose="02010600030101010101" pitchFamily="2" charset="-122"/>
              </a:rPr>
              <a:t>Operator grammar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small, but an important class of grammars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we may have an efficient operator precedence parser (a shift-reduce parser) for an operator grammar.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In an </a:t>
            </a:r>
            <a:r>
              <a:rPr lang="en-US" altLang="zh-CN" i="1" smtClean="0">
                <a:ea typeface="宋体" panose="02010600030101010101" pitchFamily="2" charset="-122"/>
              </a:rPr>
              <a:t>operator grammar</a:t>
            </a:r>
            <a:r>
              <a:rPr lang="en-US" altLang="zh-CN" smtClean="0">
                <a:ea typeface="宋体" panose="02010600030101010101" pitchFamily="2" charset="-122"/>
              </a:rPr>
              <a:t>, no production rule can have:</a:t>
            </a:r>
          </a:p>
          <a:p>
            <a:pPr lvl="1"/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at the right side</a:t>
            </a:r>
          </a:p>
          <a:p>
            <a:pPr lvl="1"/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two adjacent non-terminals at the right side.</a:t>
            </a:r>
            <a:endParaRPr lang="en-US" altLang="zh-CN" b="1" smtClean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3584575" y="4535488"/>
            <a:ext cx="30972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EOE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O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/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</p:txBody>
      </p:sp>
      <p:sp>
        <p:nvSpPr>
          <p:cNvPr id="13320" name="Rectangle 5"/>
          <p:cNvSpPr>
            <a:spLocks noChangeArrowheads="1"/>
          </p:cNvSpPr>
          <p:nvPr/>
        </p:nvSpPr>
        <p:spPr bwMode="auto">
          <a:xfrm>
            <a:off x="488950" y="4149725"/>
            <a:ext cx="29527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Ex: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AB	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A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B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321" name="Rectangle 6"/>
          <p:cNvSpPr>
            <a:spLocks noChangeArrowheads="1"/>
          </p:cNvSpPr>
          <p:nvPr/>
        </p:nvSpPr>
        <p:spPr bwMode="auto">
          <a:xfrm>
            <a:off x="6608763" y="4540250"/>
            <a:ext cx="29527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         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|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     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|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     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/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 |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endParaRPr lang="zh-CN" altLang="en-US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488950" y="5661025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not operator grammar	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9320" name="Rectangle 8"/>
          <p:cNvSpPr>
            <a:spLocks noChangeArrowheads="1"/>
          </p:cNvSpPr>
          <p:nvPr/>
        </p:nvSpPr>
        <p:spPr bwMode="auto">
          <a:xfrm>
            <a:off x="3729038" y="5661025"/>
            <a:ext cx="3024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not operator grammar	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9321" name="Rectangle 9"/>
          <p:cNvSpPr>
            <a:spLocks noChangeArrowheads="1"/>
          </p:cNvSpPr>
          <p:nvPr/>
        </p:nvSpPr>
        <p:spPr bwMode="auto">
          <a:xfrm>
            <a:off x="7040563" y="5661025"/>
            <a:ext cx="237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operator grammar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6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9" grpId="0"/>
      <p:bldP spid="269320" grpId="0"/>
      <p:bldP spid="2693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3770DA-5DE7-45F0-8FF0-3E7BF2117A6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80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Precedence Relations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 operator-precedence parsing, we define three disjoint precedence relations between certain pairs of terminals.</a:t>
            </a:r>
          </a:p>
          <a:p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a &lt;</a:t>
            </a:r>
            <a:r>
              <a:rPr lang="en-US" altLang="zh-CN" b="1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mtClean="0">
                <a:ea typeface="宋体" panose="02010600030101010101" pitchFamily="2" charset="-122"/>
              </a:rPr>
              <a:t>	b has higher precedence than a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a =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 b</a:t>
            </a:r>
            <a:r>
              <a:rPr lang="en-US" altLang="zh-CN" smtClean="0">
                <a:ea typeface="宋体" panose="02010600030101010101" pitchFamily="2" charset="-122"/>
              </a:rPr>
              <a:t>	b has same precedence as a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&gt; b</a:t>
            </a:r>
            <a:r>
              <a:rPr lang="en-US" altLang="zh-CN" smtClean="0">
                <a:ea typeface="宋体" panose="02010600030101010101" pitchFamily="2" charset="-122"/>
              </a:rPr>
              <a:t>	b has lower precedence than a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The determination of correct precedence relations between terminals  are based on the traditional notions of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associativity</a:t>
            </a:r>
            <a:r>
              <a:rPr lang="en-US" altLang="zh-CN" smtClean="0">
                <a:ea typeface="宋体" panose="02010600030101010101" pitchFamily="2" charset="-122"/>
              </a:rPr>
              <a:t> and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precedence</a:t>
            </a:r>
            <a:r>
              <a:rPr lang="en-US" altLang="zh-CN" smtClean="0">
                <a:ea typeface="宋体" panose="02010600030101010101" pitchFamily="2" charset="-122"/>
              </a:rPr>
              <a:t> of operators. (Unary minus causes a problem).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966D9D-4B9D-403C-A130-3BF1A59595F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8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Using Operator-Precedence Relations (P.204)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36050" cy="4514850"/>
          </a:xfrm>
        </p:spPr>
        <p:txBody>
          <a:bodyPr/>
          <a:lstStyle/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The intention of the precedence relations is to find the handle of            a right-sentential form</a:t>
            </a:r>
            <a:r>
              <a:rPr lang="en-US" altLang="zh-CN" smtClean="0">
                <a:ea typeface="宋体" panose="02010600030101010101" pitchFamily="2" charset="-122"/>
              </a:rPr>
              <a:t>, with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b="1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   marking the left end, </a:t>
            </a:r>
          </a:p>
          <a:p>
            <a:pPr>
              <a:buFontTx/>
              <a:buNone/>
            </a:pP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	 =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   appearing in the interior of the handle, and</a:t>
            </a:r>
          </a:p>
          <a:p>
            <a:pPr>
              <a:buFontTx/>
              <a:buNone/>
            </a:pP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	 </a:t>
            </a:r>
            <a:r>
              <a:rPr lang="en-US" altLang="zh-CN" b="1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&gt;   marking the right hand.</a:t>
            </a:r>
          </a:p>
          <a:p>
            <a:pPr>
              <a:buFontTx/>
              <a:buNone/>
            </a:pPr>
            <a:endParaRPr lang="en-US" altLang="zh-CN" b="1" smtClean="0">
              <a:solidFill>
                <a:srgbClr val="CC0000"/>
              </a:solidFill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In our input string  $a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a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...a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$, we insert the precedence relation between the pairs of terminals (the precedence relation holds between the terminals in that pair).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812C8E-DDB8-45F2-BFA8-C00A3BEB797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8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Using Operator -Precedence Relations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893175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/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^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|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The partial operator-precedence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table for this grammar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Then the input string id+id*id with the precedence relations inserted will be:</a:t>
            </a:r>
          </a:p>
          <a:p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$ </a:t>
            </a:r>
            <a:r>
              <a:rPr lang="en-US" altLang="zh-CN" smtClean="0">
                <a:ea typeface="宋体" panose="02010600030101010101" pitchFamily="2" charset="-122"/>
              </a:rPr>
              <a:t>&lt;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</a:rPr>
              <a:t>&gt;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mtClean="0">
                <a:ea typeface="宋体" panose="02010600030101010101" pitchFamily="2" charset="-122"/>
              </a:rPr>
              <a:t>&lt;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</a:rPr>
              <a:t>&gt;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mtClean="0">
                <a:ea typeface="宋体" panose="02010600030101010101" pitchFamily="2" charset="-122"/>
              </a:rPr>
              <a:t>&lt;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</a:rPr>
              <a:t>&gt;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$</a:t>
            </a: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72428" name="Group 44"/>
          <p:cNvGraphicFramePr>
            <a:graphicFrameLocks noGrp="1"/>
          </p:cNvGraphicFramePr>
          <p:nvPr/>
        </p:nvGraphicFramePr>
        <p:xfrm>
          <a:off x="5457825" y="1989138"/>
          <a:ext cx="3452813" cy="1981200"/>
        </p:xfrm>
        <a:graphic>
          <a:graphicData uri="http://schemas.openxmlformats.org/drawingml/2006/table">
            <a:tbl>
              <a:tblPr/>
              <a:tblGrid>
                <a:gridCol w="69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7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741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EC987B-B79B-46B1-933D-FEB0D606552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8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To Find The Handles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76288" y="4076700"/>
            <a:ext cx="7920037" cy="2160588"/>
          </a:xfrm>
        </p:spPr>
        <p:txBody>
          <a:bodyPr/>
          <a:lstStyle/>
          <a:p>
            <a:pPr marL="457200" indent="-457200"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800" smtClean="0"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z="1800" smtClean="0"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		</a:t>
            </a:r>
            <a:r>
              <a:rPr lang="en-US" altLang="zh-CN" sz="1800" smtClean="0">
                <a:ea typeface="宋体" panose="02010600030101010101" pitchFamily="2" charset="-122"/>
              </a:rPr>
              <a:t>E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id		 $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+ id  *  id $</a:t>
            </a:r>
          </a:p>
          <a:p>
            <a:pPr marL="457200" indent="-457200"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z="1800" smtClean="0"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 		</a:t>
            </a:r>
            <a:r>
              <a:rPr lang="en-US" altLang="zh-CN" sz="1800" smtClean="0">
                <a:ea typeface="宋体" panose="02010600030101010101" pitchFamily="2" charset="-122"/>
              </a:rPr>
              <a:t>E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id		 $  E +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*  id  $ </a:t>
            </a:r>
          </a:p>
          <a:p>
            <a:pPr marL="457200" indent="-457200"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800" smtClean="0"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 		</a:t>
            </a:r>
            <a:r>
              <a:rPr lang="en-US" altLang="zh-CN" sz="1800" smtClean="0">
                <a:ea typeface="宋体" panose="02010600030101010101" pitchFamily="2" charset="-122"/>
              </a:rPr>
              <a:t>E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id		 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 </a:t>
            </a:r>
          </a:p>
          <a:p>
            <a:pPr marL="457200" indent="-457200"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			</a:t>
            </a:r>
            <a:r>
              <a:rPr lang="en-US" altLang="zh-CN" sz="1800" smtClean="0">
                <a:ea typeface="宋体" panose="02010600030101010101" pitchFamily="2" charset="-122"/>
              </a:rPr>
              <a:t>E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E*E	 	 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+ 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* 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</a:t>
            </a:r>
          </a:p>
          <a:p>
            <a:pPr marL="457200" indent="-457200"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1800" baseline="30000" smtClean="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			</a:t>
            </a:r>
            <a:r>
              <a:rPr lang="en-US" altLang="zh-CN" sz="1800" smtClean="0">
                <a:ea typeface="宋体" panose="02010600030101010101" pitchFamily="2" charset="-122"/>
              </a:rPr>
              <a:t>E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E+E	 	 $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 E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$</a:t>
            </a:r>
          </a:p>
          <a:p>
            <a:pPr marL="457200" indent="-457200"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$							 $ E $</a:t>
            </a:r>
            <a:endParaRPr lang="zh-CN" altLang="en-US" sz="2000" smtClean="0">
              <a:ea typeface="宋体" panose="02010600030101010101" pitchFamily="2" charset="-122"/>
            </a:endParaRPr>
          </a:p>
        </p:txBody>
      </p:sp>
      <p:graphicFrame>
        <p:nvGraphicFramePr>
          <p:cNvPr id="273537" name="Group 129"/>
          <p:cNvGraphicFramePr>
            <a:graphicFrameLocks noGrp="1"/>
          </p:cNvGraphicFramePr>
          <p:nvPr>
            <p:ph sz="half" idx="2"/>
          </p:nvPr>
        </p:nvGraphicFramePr>
        <p:xfrm>
          <a:off x="7040563" y="1844675"/>
          <a:ext cx="2305050" cy="1981200"/>
        </p:xfrm>
        <a:graphic>
          <a:graphicData uri="http://schemas.openxmlformats.org/drawingml/2006/table">
            <a:tbl>
              <a:tblPr/>
              <a:tblGrid>
                <a:gridCol w="461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3538" name="Rectangle 130"/>
          <p:cNvSpPr>
            <a:spLocks noChangeArrowheads="1"/>
          </p:cNvSpPr>
          <p:nvPr/>
        </p:nvSpPr>
        <p:spPr bwMode="auto">
          <a:xfrm>
            <a:off x="415925" y="1125538"/>
            <a:ext cx="6192838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b="1">
                <a:solidFill>
                  <a:srgbClr val="660033"/>
                </a:solidFill>
                <a:ea typeface="宋体" panose="02010600030101010101" pitchFamily="2" charset="-122"/>
              </a:rPr>
              <a:t>1. Scan the string from left end until the first ·&gt; is encountered. </a:t>
            </a:r>
          </a:p>
          <a:p>
            <a:r>
              <a:rPr lang="en-US" altLang="zh-CN" b="1">
                <a:solidFill>
                  <a:srgbClr val="660033"/>
                </a:solidFill>
                <a:ea typeface="宋体" panose="02010600030101010101" pitchFamily="2" charset="-122"/>
              </a:rPr>
              <a:t>2. Then scan backwards (to the left) over any =· until a &lt;·  is encountered. </a:t>
            </a:r>
          </a:p>
          <a:p>
            <a:r>
              <a:rPr lang="en-US" altLang="zh-CN" b="1">
                <a:solidFill>
                  <a:srgbClr val="660033"/>
                </a:solidFill>
                <a:ea typeface="宋体" panose="02010600030101010101" pitchFamily="2" charset="-122"/>
              </a:rPr>
              <a:t>3. The handle contains everything to left of the first ·&gt; and to the right of the &lt;·  is encountered. </a:t>
            </a:r>
          </a:p>
        </p:txBody>
      </p:sp>
      <p:sp>
        <p:nvSpPr>
          <p:cNvPr id="17454" name="Rectangle 131"/>
          <p:cNvSpPr>
            <a:spLocks noChangeArrowheads="1"/>
          </p:cNvSpPr>
          <p:nvPr/>
        </p:nvSpPr>
        <p:spPr bwMode="auto">
          <a:xfrm>
            <a:off x="6753225" y="1125538"/>
            <a:ext cx="2855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 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</a:t>
            </a:r>
            <a:endParaRPr lang="zh-CN" altLang="en-US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3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7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7E4B30-AFA4-4B4A-8168-953C535AD38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8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Operator-Precedence Parsing Algorithm (P.206)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3605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The input string  is w$, the initial stack is $ and a table holds precedence relations  between certain terminals</a:t>
            </a:r>
          </a:p>
          <a:p>
            <a:pPr>
              <a:lnSpc>
                <a:spcPct val="90000"/>
              </a:lnSpc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 i="1" smtClean="0">
                <a:ea typeface="宋体" panose="02010600030101010101" pitchFamily="2" charset="-122"/>
              </a:rPr>
              <a:t>Algorithm4.5 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400" b="1" i="1" smtClean="0">
                <a:ea typeface="宋体" panose="02010600030101010101" pitchFamily="2" charset="-122"/>
              </a:rPr>
              <a:t>	</a:t>
            </a:r>
            <a:r>
              <a:rPr lang="en-US" altLang="zh-CN" sz="1600" smtClean="0">
                <a:ea typeface="宋体" panose="02010600030101010101" pitchFamily="2" charset="-122"/>
              </a:rPr>
              <a:t>set p to point to the first symbol of w$ 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</a:t>
            </a:r>
            <a:r>
              <a:rPr lang="en-US" altLang="zh-CN" sz="1600" b="1" smtClean="0">
                <a:ea typeface="宋体" panose="02010600030101010101" pitchFamily="2" charset="-122"/>
              </a:rPr>
              <a:t>repeat forever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</a:t>
            </a:r>
            <a:r>
              <a:rPr lang="en-US" altLang="zh-CN" sz="1600" b="1" smtClean="0">
                <a:ea typeface="宋体" panose="02010600030101010101" pitchFamily="2" charset="-122"/>
              </a:rPr>
              <a:t>if</a:t>
            </a:r>
            <a:r>
              <a:rPr lang="en-US" altLang="zh-CN" sz="1600" smtClean="0">
                <a:ea typeface="宋体" panose="02010600030101010101" pitchFamily="2" charset="-122"/>
              </a:rPr>
              <a:t>  ( $ is on top of the stack </a:t>
            </a:r>
            <a:r>
              <a:rPr lang="en-US" altLang="zh-CN" sz="1600" b="1" smtClean="0">
                <a:ea typeface="宋体" panose="02010600030101010101" pitchFamily="2" charset="-122"/>
              </a:rPr>
              <a:t>and</a:t>
            </a:r>
            <a:r>
              <a:rPr lang="en-US" altLang="zh-CN" sz="1600" smtClean="0">
                <a:ea typeface="宋体" panose="02010600030101010101" pitchFamily="2" charset="-122"/>
              </a:rPr>
              <a:t> p points to $ ) </a:t>
            </a:r>
            <a:r>
              <a:rPr lang="en-US" altLang="zh-CN" sz="1600" b="1" smtClean="0">
                <a:ea typeface="宋体" panose="02010600030101010101" pitchFamily="2" charset="-122"/>
              </a:rPr>
              <a:t>then  return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</a:t>
            </a:r>
            <a:r>
              <a:rPr lang="en-US" altLang="zh-CN" sz="1600" b="1" smtClean="0">
                <a:ea typeface="宋体" panose="02010600030101010101" pitchFamily="2" charset="-122"/>
              </a:rPr>
              <a:t>else</a:t>
            </a:r>
            <a:r>
              <a:rPr lang="en-US" altLang="zh-CN" sz="1600" smtClean="0">
                <a:ea typeface="宋体" panose="02010600030101010101" pitchFamily="2" charset="-122"/>
              </a:rPr>
              <a:t> {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 let a be the topmost terminal symbol on the stack and let b be the symbol pointed to by p;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 </a:t>
            </a:r>
            <a:r>
              <a:rPr lang="en-US" altLang="zh-CN" sz="1600" b="1" smtClean="0">
                <a:ea typeface="宋体" panose="02010600030101010101" pitchFamily="2" charset="-122"/>
              </a:rPr>
              <a:t>if</a:t>
            </a:r>
            <a:r>
              <a:rPr lang="en-US" altLang="zh-CN" sz="1600" smtClean="0">
                <a:ea typeface="宋体" panose="02010600030101010101" pitchFamily="2" charset="-122"/>
              </a:rPr>
              <a:t>  ( a &lt;</a:t>
            </a:r>
            <a:r>
              <a:rPr lang="en-US" altLang="zh-CN" sz="16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600" smtClean="0">
                <a:ea typeface="宋体" panose="02010600030101010101" pitchFamily="2" charset="-122"/>
              </a:rPr>
              <a:t> b  or  a </a:t>
            </a:r>
            <a:r>
              <a:rPr lang="en-US" altLang="zh-CN" sz="2000" smtClean="0">
                <a:ea typeface="宋体" panose="02010600030101010101" pitchFamily="2" charset="-122"/>
              </a:rPr>
              <a:t>=</a:t>
            </a:r>
            <a:r>
              <a:rPr lang="en-US" altLang="zh-CN" sz="2000" smtClean="0"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1600" smtClean="0">
                <a:ea typeface="宋体" panose="02010600030101010101" pitchFamily="2" charset="-122"/>
              </a:rPr>
              <a:t> b  ) </a:t>
            </a:r>
            <a:r>
              <a:rPr lang="en-US" altLang="zh-CN" sz="1600" b="1" smtClean="0">
                <a:ea typeface="宋体" panose="02010600030101010101" pitchFamily="2" charset="-122"/>
              </a:rPr>
              <a:t>then</a:t>
            </a:r>
            <a:r>
              <a:rPr lang="en-US" altLang="zh-CN" sz="1600" smtClean="0">
                <a:ea typeface="宋体" panose="02010600030101010101" pitchFamily="2" charset="-122"/>
              </a:rPr>
              <a:t> {   	/* SHIFT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     push b onto the stack;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     advance p to the next input symbol;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</a:t>
            </a:r>
            <a:r>
              <a:rPr lang="en-US" altLang="zh-CN" sz="1600" b="1" smtClean="0">
                <a:ea typeface="宋体" panose="02010600030101010101" pitchFamily="2" charset="-122"/>
              </a:rPr>
              <a:t>else if</a:t>
            </a:r>
            <a:r>
              <a:rPr lang="en-US" altLang="zh-CN" sz="1600" smtClean="0">
                <a:ea typeface="宋体" panose="02010600030101010101" pitchFamily="2" charset="-122"/>
              </a:rPr>
              <a:t>  ( a </a:t>
            </a:r>
            <a:r>
              <a:rPr lang="en-US" altLang="zh-CN" sz="16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600" smtClean="0">
                <a:ea typeface="宋体" panose="02010600030101010101" pitchFamily="2" charset="-122"/>
              </a:rPr>
              <a:t>&gt; b )  </a:t>
            </a:r>
            <a:r>
              <a:rPr lang="en-US" altLang="zh-CN" sz="1600" b="1" smtClean="0">
                <a:ea typeface="宋体" panose="02010600030101010101" pitchFamily="2" charset="-122"/>
              </a:rPr>
              <a:t>then</a:t>
            </a:r>
            <a:r>
              <a:rPr lang="en-US" altLang="zh-CN" sz="1600" smtClean="0">
                <a:ea typeface="宋体" panose="02010600030101010101" pitchFamily="2" charset="-122"/>
              </a:rPr>
              <a:t>		/* REDUCE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     </a:t>
            </a:r>
            <a:r>
              <a:rPr lang="en-US" altLang="zh-CN" sz="1600" b="1" smtClean="0">
                <a:ea typeface="宋体" panose="02010600030101010101" pitchFamily="2" charset="-122"/>
              </a:rPr>
              <a:t>repeat</a:t>
            </a:r>
            <a:r>
              <a:rPr lang="en-US" altLang="zh-CN" sz="1600" smtClean="0">
                <a:ea typeface="宋体" panose="02010600030101010101" pitchFamily="2" charset="-122"/>
              </a:rPr>
              <a:t>  pop stack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     </a:t>
            </a:r>
            <a:r>
              <a:rPr lang="en-US" altLang="zh-CN" sz="1600" b="1" smtClean="0">
                <a:ea typeface="宋体" panose="02010600030101010101" pitchFamily="2" charset="-122"/>
              </a:rPr>
              <a:t>until</a:t>
            </a:r>
            <a:r>
              <a:rPr lang="en-US" altLang="zh-CN" sz="1600" smtClean="0">
                <a:ea typeface="宋体" panose="02010600030101010101" pitchFamily="2" charset="-122"/>
              </a:rPr>
              <a:t>  ( the top of stack terminal is related by &lt;</a:t>
            </a:r>
            <a:r>
              <a:rPr lang="en-US" altLang="zh-CN" sz="1600" baseline="30000" smtClean="0">
                <a:ea typeface="宋体" panose="02010600030101010101" pitchFamily="2" charset="-122"/>
              </a:rPr>
              <a:t>.</a:t>
            </a:r>
            <a:r>
              <a:rPr lang="en-US" altLang="zh-CN" sz="1600" smtClean="0">
                <a:ea typeface="宋体" panose="02010600030101010101" pitchFamily="2" charset="-122"/>
              </a:rPr>
              <a:t> to the terminal most recently popped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    </a:t>
            </a:r>
            <a:r>
              <a:rPr lang="en-US" altLang="zh-CN" sz="1600" b="1" smtClean="0">
                <a:ea typeface="宋体" panose="02010600030101010101" pitchFamily="2" charset="-122"/>
              </a:rPr>
              <a:t>else </a:t>
            </a:r>
            <a:r>
              <a:rPr lang="en-US" altLang="zh-CN" sz="1600" smtClean="0">
                <a:ea typeface="宋体" panose="02010600030101010101" pitchFamily="2" charset="-122"/>
              </a:rPr>
              <a:t> error();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    }</a:t>
            </a:r>
            <a:endParaRPr lang="en-US" altLang="zh-CN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622DFA-67D0-485A-996F-6C5F6735632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8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Operator-Precedence Parsing Algorithm -- Example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825" y="1196975"/>
            <a:ext cx="6192838" cy="44640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i="1" u="sng" smtClean="0">
                <a:ea typeface="宋体" panose="02010600030101010101" pitchFamily="2" charset="-122"/>
              </a:rPr>
              <a:t>stack</a:t>
            </a: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b="1" i="1" u="sng" smtClean="0">
                <a:ea typeface="宋体" panose="02010600030101010101" pitchFamily="2" charset="-122"/>
              </a:rPr>
              <a:t>input</a:t>
            </a:r>
            <a:r>
              <a:rPr lang="en-US" altLang="zh-CN" b="1" i="1" smtClean="0">
                <a:ea typeface="宋体" panose="02010600030101010101" pitchFamily="2" charset="-122"/>
              </a:rPr>
              <a:t>		</a:t>
            </a:r>
            <a:r>
              <a:rPr lang="en-US" altLang="zh-CN" b="1" i="1" u="sng" smtClean="0">
                <a:ea typeface="宋体" panose="02010600030101010101" pitchFamily="2" charset="-122"/>
              </a:rPr>
              <a:t>action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 		id+id*id$	$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 </a:t>
            </a:r>
            <a:r>
              <a:rPr lang="en-US" altLang="zh-CN" sz="2000" smtClean="0">
                <a:ea typeface="宋体" panose="02010600030101010101" pitchFamily="2" charset="-122"/>
              </a:rPr>
              <a:t>id 	shift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$id		+id*id$		id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+	reduce	E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		+id*id$		shift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$+		id*id$		shift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$+id	*id$	 	id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*	reduce	E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$+		*id$		shift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$+*	id$		shift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$+*id	$		id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$	reduce	E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$+*	$		*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$	reduce	E  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$+		$		+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$	reduce	E  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$		$		accept</a:t>
            </a:r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7689850" y="1700213"/>
            <a:ext cx="15843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|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75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75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75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75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3F4C89-364E-4786-83AE-21F52F0F9AF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80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How to Create Operator-Precedence Relations (P.207)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748713" cy="5105400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We use associativity and precedence relations among operators.</a:t>
            </a:r>
          </a:p>
          <a:p>
            <a:pPr marL="457200" indent="-457200">
              <a:lnSpc>
                <a:spcPct val="90000"/>
              </a:lnSpc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 sz="2000" smtClean="0">
                <a:ea typeface="宋体" panose="02010600030101010101" pitchFamily="2" charset="-122"/>
              </a:rPr>
              <a:t>If operator O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 has higher precedence than operator O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,                                             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  and  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altLang="zh-CN" sz="2000" baseline="-25000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If operator </a:t>
            </a:r>
            <a:r>
              <a:rPr lang="en-US" altLang="zh-CN" sz="2000" smtClean="0">
                <a:ea typeface="宋体" panose="02010600030101010101" pitchFamily="2" charset="-122"/>
              </a:rPr>
              <a:t>O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 and operator O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 have equal precedence,                                              they are left-associative  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  and  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                                                                     </a:t>
            </a:r>
            <a:r>
              <a:rPr lang="en-US" altLang="zh-CN" sz="2000" smtClean="0">
                <a:ea typeface="宋体" panose="02010600030101010101" pitchFamily="2" charset="-122"/>
              </a:rPr>
              <a:t>they are right-associative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  and  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</a:t>
            </a:r>
            <a:r>
              <a:rPr lang="en-US" altLang="zh-CN" sz="2000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altLang="zh-CN" sz="2000" baseline="-25000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For all operators O,                                                                                                        O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id,    id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O,    O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(,    (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O,    O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),    )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O,    O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$,  and   $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O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altLang="zh-CN" sz="2000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Also, let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	(</a:t>
            </a:r>
            <a:r>
              <a:rPr lang="en-US" altLang="zh-CN" sz="2000" smtClean="0">
                <a:ea typeface="宋体" panose="02010600030101010101" pitchFamily="2" charset="-122"/>
              </a:rPr>
              <a:t>=</a:t>
            </a:r>
            <a:r>
              <a:rPr lang="en-US" altLang="zh-CN" sz="2000" smtClean="0"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)		$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(		id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)		)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$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	(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(	$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id		id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$		) 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)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	( </a:t>
            </a:r>
            <a:r>
              <a:rPr lang="en-US" altLang="zh-CN" sz="2000" smtClean="0">
                <a:ea typeface="宋体" panose="02010600030101010101" pitchFamily="2" charset="-122"/>
              </a:rPr>
              <a:t>&lt;</a:t>
            </a:r>
            <a:r>
              <a:rPr lang="en-US" altLang="zh-CN" sz="2000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id</a:t>
            </a:r>
            <a:endParaRPr lang="zh-CN" altLang="en-US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7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7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150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150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FF7038-5DF5-4739-ABF5-0D5CA526CA2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80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Operator-Precedence Relations (P.208)</a:t>
            </a:r>
          </a:p>
        </p:txBody>
      </p:sp>
      <p:graphicFrame>
        <p:nvGraphicFramePr>
          <p:cNvPr id="277643" name="Group 139"/>
          <p:cNvGraphicFramePr>
            <a:graphicFrameLocks noGrp="1"/>
          </p:cNvGraphicFramePr>
          <p:nvPr/>
        </p:nvGraphicFramePr>
        <p:xfrm>
          <a:off x="631825" y="1341438"/>
          <a:ext cx="8713788" cy="4622800"/>
        </p:xfrm>
        <a:graphic>
          <a:graphicData uri="http://schemas.openxmlformats.org/drawingml/2006/table">
            <a:tbl>
              <a:tblPr/>
              <a:tblGrid>
                <a:gridCol w="86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F8AA2C-7251-49FB-9768-EFAD3721E05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8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 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25538"/>
            <a:ext cx="2484438" cy="554037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id+(id-id*id)</a:t>
            </a:r>
          </a:p>
        </p:txBody>
      </p:sp>
      <p:sp>
        <p:nvSpPr>
          <p:cNvPr id="359428" name="Rectangle 4"/>
          <p:cNvSpPr>
            <a:spLocks noChangeArrowheads="1"/>
          </p:cNvSpPr>
          <p:nvPr/>
        </p:nvSpPr>
        <p:spPr bwMode="auto">
          <a:xfrm>
            <a:off x="415925" y="1773238"/>
            <a:ext cx="6481763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$ 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id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+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id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-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id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*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id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+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id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-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id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*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id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+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- 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id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*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id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+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-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* 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id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+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- 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*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+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-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) 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 sz="2800"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 </a:t>
            </a:r>
            <a:r>
              <a:rPr lang="en-US" altLang="zh-CN" sz="2800"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+ 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(=·)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800" baseline="30000">
                <a:solidFill>
                  <a:srgbClr val="CC0000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 $</a:t>
            </a:r>
          </a:p>
        </p:txBody>
      </p:sp>
      <p:sp>
        <p:nvSpPr>
          <p:cNvPr id="359430" name="Rectangle 6"/>
          <p:cNvSpPr>
            <a:spLocks noChangeArrowheads="1"/>
          </p:cNvSpPr>
          <p:nvPr/>
        </p:nvSpPr>
        <p:spPr bwMode="auto">
          <a:xfrm>
            <a:off x="3729038" y="5013325"/>
            <a:ext cx="576103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id + id / ( id – id )</a:t>
            </a:r>
          </a:p>
          <a:p>
            <a:pPr algn="ctr">
              <a:buFontTx/>
              <a:buNone/>
            </a:pPr>
            <a:r>
              <a:rPr lang="en-US" altLang="zh-CN" sz="3200">
                <a:ea typeface="宋体" panose="02010600030101010101" pitchFamily="2" charset="-122"/>
              </a:rPr>
              <a:t>Using </a:t>
            </a:r>
            <a:r>
              <a:rPr lang="en-US" altLang="zh-CN" sz="3200" b="1">
                <a:solidFill>
                  <a:srgbClr val="0000CC"/>
                </a:solidFill>
                <a:ea typeface="宋体" panose="02010600030101010101" pitchFamily="2" charset="-122"/>
              </a:rPr>
              <a:t>relation symbols</a:t>
            </a:r>
            <a:r>
              <a:rPr lang="en-US" altLang="zh-CN" sz="3200">
                <a:ea typeface="宋体" panose="02010600030101010101" pitchFamily="2" charset="-122"/>
              </a:rPr>
              <a:t> or stack</a:t>
            </a:r>
            <a:r>
              <a:rPr lang="en-US" altLang="zh-CN" sz="3200" b="1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59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59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59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59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59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59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59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594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594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1498D1-856C-402F-823F-D0E3FEB66BD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800"/>
          </a:p>
        </p:txBody>
      </p:sp>
      <p:sp>
        <p:nvSpPr>
          <p:cNvPr id="374788" name="Rectangle 4"/>
          <p:cNvSpPr>
            <a:spLocks noChangeArrowheads="1"/>
          </p:cNvSpPr>
          <p:nvPr/>
        </p:nvSpPr>
        <p:spPr bwMode="auto">
          <a:xfrm>
            <a:off x="704850" y="188913"/>
            <a:ext cx="6481763" cy="619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$ </a:t>
            </a:r>
            <a:r>
              <a:rPr lang="en-US" altLang="zh-CN" sz="2800">
                <a:solidFill>
                  <a:srgbClr val="CC0000"/>
                </a:solidFill>
                <a:ea typeface="宋体" panose="02010600030101010101" pitchFamily="2" charset="-122"/>
              </a:rPr>
              <a:t>			</a:t>
            </a:r>
            <a:r>
              <a:rPr lang="en-US" altLang="zh-CN">
                <a:ea typeface="宋体" panose="02010600030101010101" pitchFamily="2" charset="-122"/>
              </a:rPr>
              <a:t>id + (id - id * 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id 			</a:t>
            </a:r>
            <a:r>
              <a:rPr lang="en-US" altLang="zh-CN">
                <a:ea typeface="宋体" panose="02010600030101010101" pitchFamily="2" charset="-122"/>
              </a:rPr>
              <a:t>+ (id - id * 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+			(id - id * 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		id - id * 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id</a:t>
            </a:r>
            <a:r>
              <a:rPr lang="en-US" altLang="zh-CN">
                <a:ea typeface="宋体" panose="02010600030101010101" pitchFamily="2" charset="-122"/>
              </a:rPr>
              <a:t>		- id * 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(- 		id * 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(-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id</a:t>
            </a:r>
            <a:r>
              <a:rPr lang="en-US" altLang="zh-CN">
                <a:ea typeface="宋体" panose="02010600030101010101" pitchFamily="2" charset="-122"/>
              </a:rPr>
              <a:t>		* 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(- * 		id)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(- *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id</a:t>
            </a:r>
            <a:r>
              <a:rPr lang="en-US" altLang="zh-CN">
                <a:ea typeface="宋体" panose="02010600030101010101" pitchFamily="2" charset="-122"/>
              </a:rPr>
              <a:t>		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(-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* </a:t>
            </a:r>
            <a:r>
              <a:rPr lang="en-US" altLang="zh-CN">
                <a:ea typeface="宋体" panose="02010600030101010101" pitchFamily="2" charset="-122"/>
              </a:rPr>
              <a:t>		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(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-  </a:t>
            </a:r>
            <a:r>
              <a:rPr lang="en-US" altLang="zh-CN">
                <a:ea typeface="宋体" panose="02010600030101010101" pitchFamily="2" charset="-122"/>
              </a:rPr>
              <a:t>		) $</a:t>
            </a:r>
          </a:p>
          <a:p>
            <a:r>
              <a:rPr lang="en-US" altLang="zh-CN">
                <a:ea typeface="宋体" panose="02010600030101010101" pitchFamily="2" charset="-122"/>
              </a:rPr>
              <a:t>$ +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()		</a:t>
            </a:r>
            <a:r>
              <a:rPr lang="en-US" altLang="zh-CN">
                <a:ea typeface="宋体" panose="02010600030101010101" pitchFamily="2" charset="-122"/>
              </a:rPr>
              <a:t> $</a:t>
            </a:r>
          </a:p>
          <a:p>
            <a:r>
              <a:rPr lang="en-US" altLang="zh-CN">
                <a:ea typeface="宋体" panose="02010600030101010101" pitchFamily="2" charset="-122"/>
              </a:rPr>
              <a:t>$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+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		</a:t>
            </a:r>
            <a:r>
              <a:rPr lang="en-US" altLang="zh-CN">
                <a:ea typeface="宋体" panose="02010600030101010101" pitchFamily="2" charset="-122"/>
              </a:rPr>
              <a:t> 	$</a:t>
            </a:r>
          </a:p>
          <a:p>
            <a:r>
              <a:rPr lang="en-US" altLang="zh-CN">
                <a:ea typeface="宋体" panose="02010600030101010101" pitchFamily="2" charset="-122"/>
              </a:rPr>
              <a:t>$  			$</a:t>
            </a:r>
          </a:p>
        </p:txBody>
      </p:sp>
      <p:sp>
        <p:nvSpPr>
          <p:cNvPr id="374789" name="Rectangle 5"/>
          <p:cNvSpPr>
            <a:spLocks noChangeArrowheads="1"/>
          </p:cNvSpPr>
          <p:nvPr/>
        </p:nvSpPr>
        <p:spPr bwMode="auto">
          <a:xfrm>
            <a:off x="4016375" y="5013325"/>
            <a:ext cx="54737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id + id / ( id – id )</a:t>
            </a:r>
          </a:p>
          <a:p>
            <a:pPr algn="ctr">
              <a:buFontTx/>
              <a:buNone/>
            </a:pPr>
            <a:r>
              <a:rPr lang="en-US" altLang="zh-CN" sz="3200">
                <a:ea typeface="宋体" panose="02010600030101010101" pitchFamily="2" charset="-122"/>
              </a:rPr>
              <a:t>Using relation symbols or</a:t>
            </a:r>
            <a:r>
              <a:rPr lang="en-US" altLang="zh-CN" sz="3200" b="1">
                <a:ea typeface="宋体" panose="02010600030101010101" pitchFamily="2" charset="-122"/>
              </a:rPr>
              <a:t> </a:t>
            </a:r>
            <a:r>
              <a:rPr lang="en-US" altLang="zh-CN" sz="3200" b="1">
                <a:solidFill>
                  <a:srgbClr val="0000CC"/>
                </a:solidFill>
                <a:ea typeface="宋体" panose="02010600030101010101" pitchFamily="2" charset="-122"/>
              </a:rPr>
              <a:t>stack</a:t>
            </a:r>
            <a:r>
              <a:rPr lang="en-US" altLang="zh-CN" sz="32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74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74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74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74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74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747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747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747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747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747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747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4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3747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8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3747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3747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5ADF18-6679-4879-8BB5-575DF68A702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8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Handling Unary Minus (P.208)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Operator-Precedence parsing cannot handle the unary minus when we also the binary minus in our grammar.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best approach to solve this problem, let the lexical analyzer handle this problem.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The lexical analyzer will return two different operators for the unary minus and the binary minus.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The lexical analyzer will need a lookhead to distinguish the binary minus from the unary minus.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Then, we make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</a:t>
            </a:r>
            <a:r>
              <a:rPr lang="en-US" altLang="zh-CN" sz="2000" smtClean="0">
                <a:ea typeface="宋体" panose="02010600030101010101" pitchFamily="2" charset="-122"/>
              </a:rPr>
              <a:t>O </a:t>
            </a:r>
            <a:r>
              <a:rPr lang="en-US" altLang="zh-CN" smtClean="0">
                <a:ea typeface="宋体" panose="02010600030101010101" pitchFamily="2" charset="-122"/>
              </a:rPr>
              <a:t>&lt;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 unary-minus           for any operator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unary-minus 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</a:rPr>
              <a:t>&gt;</a:t>
            </a:r>
            <a:r>
              <a:rPr lang="en-US" altLang="zh-CN" sz="2000" smtClean="0">
                <a:ea typeface="宋体" panose="02010600030101010101" pitchFamily="2" charset="-122"/>
              </a:rPr>
              <a:t> O	           if unary-minus has higher precedence than O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unary-minus </a:t>
            </a:r>
            <a:r>
              <a:rPr lang="en-US" altLang="zh-CN" smtClean="0">
                <a:ea typeface="宋体" panose="02010600030101010101" pitchFamily="2" charset="-122"/>
              </a:rPr>
              <a:t>&lt;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</a:rPr>
              <a:t> O	           if unary-minus has lower (or equal) precedence than O</a:t>
            </a:r>
          </a:p>
          <a:p>
            <a:pPr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1BDBAC-DAEF-4392-88E3-738EF50C48F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8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Precedence Functions (P.208)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1125538"/>
            <a:ext cx="9372600" cy="395922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Compilers using operator precedence parsers do not need to store the table of precedence relations.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table can be encoded by two precedence functions f and g that map terminal symbols to integers.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For symbols a and b.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f(a) &lt; g(b) 	whenever  a &lt;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</a:rPr>
              <a:t> b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f(a) = g(b) 	whenever  a =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mtClean="0">
                <a:ea typeface="宋体" panose="02010600030101010101" pitchFamily="2" charset="-122"/>
              </a:rPr>
              <a:t> b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f(a) &gt; g(b)	whenever  a </a:t>
            </a:r>
            <a:r>
              <a:rPr lang="en-US" altLang="zh-CN" sz="2000" smtClean="0">
                <a:ea typeface="宋体" panose="02010600030101010101" pitchFamily="2" charset="-122"/>
              </a:rPr>
              <a:t> </a:t>
            </a:r>
            <a:r>
              <a:rPr lang="en-US" altLang="zh-CN" baseline="30000" smtClean="0"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</a:rPr>
              <a:t>&gt; b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24577D-F225-4424-A052-24911657ACD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8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Disadvantages of Operator Precedence Parsing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smtClean="0">
                <a:ea typeface="宋体" panose="02010600030101010101" pitchFamily="2" charset="-122"/>
              </a:rPr>
              <a:t>Disadvantages</a:t>
            </a:r>
            <a:r>
              <a:rPr lang="en-US" altLang="zh-CN" smtClean="0">
                <a:ea typeface="宋体" panose="02010600030101010101" pitchFamily="2" charset="-122"/>
              </a:rPr>
              <a:t>: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It cannot handle the unary minus (the lexical analyzer should handle   the unary minus).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Small class of grammars.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Difficult to decide which language is recognized by the grammar.</a:t>
            </a:r>
          </a:p>
          <a:p>
            <a:pPr lvl="1"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ea typeface="宋体" panose="02010600030101010101" pitchFamily="2" charset="-122"/>
              </a:rPr>
              <a:t>Advantages</a:t>
            </a:r>
            <a:r>
              <a:rPr lang="en-US" altLang="zh-CN" smtClean="0">
                <a:ea typeface="宋体" panose="02010600030101010101" pitchFamily="2" charset="-122"/>
              </a:rPr>
              <a:t>: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simple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powerful enough for expressions in programming languages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593CA3-44A6-4350-8B86-E28FA3BE8BDA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80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Error</a:t>
            </a:r>
            <a:r>
              <a:rPr lang="en-US" altLang="zh-CN" b="0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Recovery in Operator-Precedence Parsing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Error Cases:</a:t>
            </a:r>
          </a:p>
          <a:p>
            <a:pPr marL="800100" lvl="1" indent="-342900">
              <a:buFontTx/>
              <a:buAutoNum type="arabicPeriod"/>
            </a:pPr>
            <a:r>
              <a:rPr lang="en-US" altLang="zh-CN" sz="2400" smtClean="0">
                <a:ea typeface="宋体" panose="02010600030101010101" pitchFamily="2" charset="-122"/>
              </a:rPr>
              <a:t>No relation holds between the terminal on the top of stack and the next input symbol. </a:t>
            </a:r>
          </a:p>
          <a:p>
            <a:pPr marL="800100" lvl="1" indent="-342900">
              <a:buFontTx/>
              <a:buAutoNum type="arabicPeriod"/>
            </a:pPr>
            <a:r>
              <a:rPr lang="en-US" altLang="zh-CN" sz="2400" smtClean="0">
                <a:ea typeface="宋体" panose="02010600030101010101" pitchFamily="2" charset="-122"/>
              </a:rPr>
              <a:t>A handle is found (reduction step), but there is no production with this handle as a right side</a:t>
            </a:r>
          </a:p>
          <a:p>
            <a:pPr marL="800100" lvl="1" indent="-342900">
              <a:buFontTx/>
              <a:buNone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marL="457200" indent="-457200"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Error Recovery:</a:t>
            </a:r>
            <a:endParaRPr lang="en-US" altLang="zh-CN" sz="3200" smtClean="0">
              <a:ea typeface="宋体" panose="02010600030101010101" pitchFamily="2" charset="-122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Each empty entry is filled with a pointer to an error routine.</a:t>
            </a:r>
          </a:p>
          <a:p>
            <a:pPr marL="800100" lvl="1" indent="-342900">
              <a:buFontTx/>
              <a:buAutoNum type="arabicPeriod"/>
            </a:pP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Decides the popped handle “looks like” which right hand side. And tries to recover from that situation.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marL="457200" indent="-457200"/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E5973-33E1-485F-83CC-0626CF09BC0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8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LR Parsers (P.215)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08050"/>
            <a:ext cx="9372600" cy="5113338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The most powerful shift-reduce parsing (yet efficient) is:</a:t>
            </a:r>
          </a:p>
          <a:p>
            <a:pPr>
              <a:lnSpc>
                <a:spcPct val="90000"/>
              </a:lnSpc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 </a:t>
            </a:r>
            <a:r>
              <a:rPr lang="en-US" altLang="zh-CN" sz="3200" smtClean="0">
                <a:ea typeface="宋体" panose="02010600030101010101" pitchFamily="2" charset="-122"/>
              </a:rPr>
              <a:t>LR(k) parsing.</a:t>
            </a:r>
          </a:p>
          <a:p>
            <a:pPr>
              <a:lnSpc>
                <a:spcPct val="90000"/>
              </a:lnSpc>
            </a:pPr>
            <a:endParaRPr lang="en-US" altLang="zh-CN" sz="320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1800" smtClean="0">
                <a:ea typeface="宋体" panose="02010600030101010101" pitchFamily="2" charset="-122"/>
              </a:rPr>
              <a:t>	left to right 	right-most	k lookhead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scanning 		derivation	(k is omitted </a:t>
            </a:r>
            <a:r>
              <a:rPr lang="en-US" altLang="zh-CN" sz="1800" smtClean="0">
                <a:ea typeface="宋体" panose="02010600030101010101" pitchFamily="2" charset="-122"/>
                <a:sym typeface="Wingdings" panose="05000000000000000000" pitchFamily="2" charset="2"/>
              </a:rPr>
              <a:t> it is 1)</a:t>
            </a:r>
            <a:endParaRPr lang="en-US" altLang="zh-CN" sz="1800" smtClean="0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endParaRPr lang="en-US" altLang="zh-CN" sz="1800" smtClean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mtClean="0">
                <a:ea typeface="宋体" panose="02010600030101010101" pitchFamily="2" charset="-122"/>
              </a:rPr>
              <a:t>LR parsing is attractive because: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smtClean="0">
                <a:ea typeface="宋体" panose="02010600030101010101" pitchFamily="2" charset="-122"/>
              </a:rPr>
              <a:t>LR parsing is most general non-backtracking shift-reduce parsing, yet it is still efficient.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smtClean="0">
                <a:ea typeface="宋体" panose="02010600030101010101" pitchFamily="2" charset="-122"/>
              </a:rPr>
              <a:t>The class of grammars that can be parsed using LR methods is a proper superset of the class of grammars that can be parsed with predictive parsers.                                                    			</a:t>
            </a:r>
            <a:r>
              <a:rPr lang="en-US" altLang="zh-CN" b="1" smtClean="0">
                <a:solidFill>
                  <a:srgbClr val="0000CC"/>
                </a:solidFill>
                <a:ea typeface="宋体" panose="02010600030101010101" pitchFamily="2" charset="-122"/>
              </a:rPr>
              <a:t>LL(1)-Grammars   </a:t>
            </a:r>
            <a:r>
              <a:rPr lang="en-US" altLang="zh-CN" b="1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   </a:t>
            </a:r>
            <a:r>
              <a:rPr lang="en-US" altLang="zh-CN" b="1" smtClean="0">
                <a:solidFill>
                  <a:srgbClr val="0000CC"/>
                </a:solidFill>
                <a:ea typeface="宋体" panose="02010600030101010101" pitchFamily="2" charset="-122"/>
              </a:rPr>
              <a:t>LR(1)-Grammars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smtClean="0">
                <a:ea typeface="宋体" panose="02010600030101010101" pitchFamily="2" charset="-122"/>
              </a:rPr>
              <a:t>An LR-parser can detect a syntactic error as soon as it is possible to do so a left-to-right scan of the input.</a:t>
            </a:r>
            <a:endParaRPr lang="zh-CN" altLang="en-US" sz="1400" smtClean="0">
              <a:ea typeface="宋体" panose="02010600030101010101" pitchFamily="2" charset="-122"/>
            </a:endParaRPr>
          </a:p>
        </p:txBody>
      </p:sp>
      <p:sp>
        <p:nvSpPr>
          <p:cNvPr id="28679" name="Line 4"/>
          <p:cNvSpPr>
            <a:spLocks noChangeShapeType="1"/>
          </p:cNvSpPr>
          <p:nvPr/>
        </p:nvSpPr>
        <p:spPr bwMode="auto">
          <a:xfrm flipV="1">
            <a:off x="2039938" y="2276475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0" name="Line 5"/>
          <p:cNvSpPr>
            <a:spLocks noChangeShapeType="1"/>
          </p:cNvSpPr>
          <p:nvPr/>
        </p:nvSpPr>
        <p:spPr bwMode="auto">
          <a:xfrm flipH="1" flipV="1">
            <a:off x="2743200" y="2314575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1" name="Line 6"/>
          <p:cNvSpPr>
            <a:spLocks noChangeShapeType="1"/>
          </p:cNvSpPr>
          <p:nvPr/>
        </p:nvSpPr>
        <p:spPr bwMode="auto">
          <a:xfrm flipH="1" flipV="1">
            <a:off x="3124200" y="2276475"/>
            <a:ext cx="2286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3AB235-049D-4EE2-A801-9D77738A4F8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8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LR Parsers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altLang="zh-CN" b="1" smtClean="0">
                <a:ea typeface="宋体" panose="02010600030101010101" pitchFamily="2" charset="-122"/>
              </a:rPr>
              <a:t>LR-Parsers</a:t>
            </a:r>
          </a:p>
          <a:p>
            <a:pPr marL="800100" lvl="1" indent="-342900"/>
            <a:r>
              <a:rPr lang="en-US" altLang="zh-CN" sz="2400" smtClean="0">
                <a:ea typeface="宋体" panose="02010600030101010101" pitchFamily="2" charset="-122"/>
              </a:rPr>
              <a:t>covers wide range of grammars.</a:t>
            </a:r>
          </a:p>
          <a:p>
            <a:pPr marL="800100" lvl="1" indent="-342900"/>
            <a:r>
              <a:rPr lang="en-US" altLang="zh-CN" sz="2400" smtClean="0">
                <a:ea typeface="宋体" panose="02010600030101010101" pitchFamily="2" charset="-122"/>
              </a:rPr>
              <a:t>SLR – simple LR parser </a:t>
            </a:r>
          </a:p>
          <a:p>
            <a:pPr marL="800100" lvl="1" indent="-342900"/>
            <a:r>
              <a:rPr lang="en-US" altLang="zh-CN" sz="2400" smtClean="0">
                <a:ea typeface="宋体" panose="02010600030101010101" pitchFamily="2" charset="-122"/>
              </a:rPr>
              <a:t>LR – most general LR parser</a:t>
            </a:r>
          </a:p>
          <a:p>
            <a:pPr marL="800100" lvl="1" indent="-342900"/>
            <a:r>
              <a:rPr lang="en-US" altLang="zh-CN" sz="2400" smtClean="0">
                <a:ea typeface="宋体" panose="02010600030101010101" pitchFamily="2" charset="-122"/>
              </a:rPr>
              <a:t>LALR – intermediate LR parser (look-head LR parser)</a:t>
            </a:r>
          </a:p>
          <a:p>
            <a:pPr marL="800100" lvl="1" indent="-342900"/>
            <a:endParaRPr lang="en-US" altLang="zh-CN" sz="2400" smtClean="0">
              <a:ea typeface="宋体" panose="02010600030101010101" pitchFamily="2" charset="-122"/>
            </a:endParaRPr>
          </a:p>
          <a:p>
            <a:pPr marL="800100" lvl="1" indent="-342900"/>
            <a:r>
              <a:rPr lang="en-US" altLang="zh-CN" sz="2400" smtClean="0">
                <a:ea typeface="宋体" panose="02010600030101010101" pitchFamily="2" charset="-122"/>
              </a:rPr>
              <a:t>SLR, LR and LALR work same (they used the same algorithm), only their parsing tables are different.</a:t>
            </a:r>
          </a:p>
          <a:p>
            <a:pPr marL="800100" lvl="1" indent="-342900">
              <a:buFontTx/>
              <a:buNone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marL="457200" indent="-457200"/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072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072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D990B7-63B8-4F2F-99B9-F303FE25CA1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800"/>
          </a:p>
        </p:txBody>
      </p:sp>
      <p:sp>
        <p:nvSpPr>
          <p:cNvPr id="3072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42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LR Parsing Algorithm (P.216)</a:t>
            </a:r>
          </a:p>
        </p:txBody>
      </p:sp>
      <p:graphicFrame>
        <p:nvGraphicFramePr>
          <p:cNvPr id="284731" name="Group 1083"/>
          <p:cNvGraphicFramePr>
            <a:graphicFrameLocks noGrp="1"/>
          </p:cNvGraphicFramePr>
          <p:nvPr/>
        </p:nvGraphicFramePr>
        <p:xfrm>
          <a:off x="1066800" y="2035175"/>
          <a:ext cx="685800" cy="360362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m-1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m-1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4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84722" name="Group 1074"/>
          <p:cNvGraphicFramePr>
            <a:graphicFrameLocks noGrp="1"/>
          </p:cNvGraphicFramePr>
          <p:nvPr/>
        </p:nvGraphicFramePr>
        <p:xfrm>
          <a:off x="4191000" y="1196975"/>
          <a:ext cx="2921000" cy="396875"/>
        </p:xfrm>
        <a:graphic>
          <a:graphicData uri="http://schemas.openxmlformats.org/drawingml/2006/table">
            <a:tbl>
              <a:tblPr/>
              <a:tblGrid>
                <a:gridCol w="487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4759" name="Group 1111"/>
          <p:cNvGraphicFramePr>
            <a:graphicFrameLocks noGrp="1"/>
          </p:cNvGraphicFramePr>
          <p:nvPr/>
        </p:nvGraphicFramePr>
        <p:xfrm>
          <a:off x="3200400" y="4168775"/>
          <a:ext cx="4978400" cy="2078038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8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Action Table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terminals and $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        four different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        actions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T="45626" marB="456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Goto Table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non-terminal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           each item is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          a state number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T="45626" marB="456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84777" name="Group 1129"/>
          <p:cNvGrpSpPr>
            <a:grpSpLocks/>
          </p:cNvGrpSpPr>
          <p:nvPr/>
        </p:nvGrpSpPr>
        <p:grpSpPr bwMode="auto">
          <a:xfrm>
            <a:off x="3581400" y="4930775"/>
            <a:ext cx="4038600" cy="1295400"/>
            <a:chOff x="2256" y="3106"/>
            <a:chExt cx="2544" cy="816"/>
          </a:xfrm>
        </p:grpSpPr>
        <p:sp>
          <p:nvSpPr>
            <p:cNvPr id="30788" name="Line 1106"/>
            <p:cNvSpPr>
              <a:spLocks noChangeShapeType="1"/>
            </p:cNvSpPr>
            <p:nvPr/>
          </p:nvSpPr>
          <p:spPr bwMode="auto">
            <a:xfrm>
              <a:off x="2256" y="310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9" name="Line 1107"/>
            <p:cNvSpPr>
              <a:spLocks noChangeShapeType="1"/>
            </p:cNvSpPr>
            <p:nvPr/>
          </p:nvSpPr>
          <p:spPr bwMode="auto">
            <a:xfrm>
              <a:off x="2256" y="310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0" name="Line 1108"/>
            <p:cNvSpPr>
              <a:spLocks noChangeShapeType="1"/>
            </p:cNvSpPr>
            <p:nvPr/>
          </p:nvSpPr>
          <p:spPr bwMode="auto">
            <a:xfrm>
              <a:off x="3840" y="310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1" name="Line 1109"/>
            <p:cNvSpPr>
              <a:spLocks noChangeShapeType="1"/>
            </p:cNvSpPr>
            <p:nvPr/>
          </p:nvSpPr>
          <p:spPr bwMode="auto">
            <a:xfrm>
              <a:off x="3840" y="310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84768" name="Group 1120"/>
          <p:cNvGraphicFramePr>
            <a:graphicFrameLocks noGrp="1"/>
          </p:cNvGraphicFramePr>
          <p:nvPr/>
        </p:nvGraphicFramePr>
        <p:xfrm>
          <a:off x="3886200" y="2263775"/>
          <a:ext cx="2921000" cy="1211263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1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LR Parsing Algorithm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4769" name="Text Box 1121"/>
          <p:cNvSpPr txBox="1">
            <a:spLocks noChangeArrowheads="1"/>
          </p:cNvSpPr>
          <p:nvPr/>
        </p:nvSpPr>
        <p:spPr bwMode="auto">
          <a:xfrm>
            <a:off x="914400" y="1577975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stack</a:t>
            </a:r>
          </a:p>
        </p:txBody>
      </p:sp>
      <p:sp>
        <p:nvSpPr>
          <p:cNvPr id="284770" name="Text Box 1122"/>
          <p:cNvSpPr txBox="1">
            <a:spLocks noChangeArrowheads="1"/>
          </p:cNvSpPr>
          <p:nvPr/>
        </p:nvSpPr>
        <p:spPr bwMode="auto">
          <a:xfrm>
            <a:off x="3276600" y="1196975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input</a:t>
            </a:r>
          </a:p>
        </p:txBody>
      </p:sp>
      <p:sp>
        <p:nvSpPr>
          <p:cNvPr id="284772" name="Line 1124"/>
          <p:cNvSpPr>
            <a:spLocks noChangeShapeType="1"/>
          </p:cNvSpPr>
          <p:nvPr/>
        </p:nvSpPr>
        <p:spPr bwMode="auto">
          <a:xfrm flipH="1" flipV="1">
            <a:off x="1752600" y="2339975"/>
            <a:ext cx="2133600" cy="45720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84778" name="Group 1130"/>
          <p:cNvGrpSpPr>
            <a:grpSpLocks/>
          </p:cNvGrpSpPr>
          <p:nvPr/>
        </p:nvGrpSpPr>
        <p:grpSpPr bwMode="auto">
          <a:xfrm>
            <a:off x="4343400" y="3482975"/>
            <a:ext cx="1905000" cy="685800"/>
            <a:chOff x="2736" y="2194"/>
            <a:chExt cx="1200" cy="432"/>
          </a:xfrm>
        </p:grpSpPr>
        <p:sp>
          <p:nvSpPr>
            <p:cNvPr id="30786" name="Line 1125"/>
            <p:cNvSpPr>
              <a:spLocks noChangeShapeType="1"/>
            </p:cNvSpPr>
            <p:nvPr/>
          </p:nvSpPr>
          <p:spPr bwMode="auto">
            <a:xfrm flipH="1">
              <a:off x="2736" y="2194"/>
              <a:ext cx="576" cy="43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7" name="Line 1126"/>
            <p:cNvSpPr>
              <a:spLocks noChangeShapeType="1"/>
            </p:cNvSpPr>
            <p:nvPr/>
          </p:nvSpPr>
          <p:spPr bwMode="auto">
            <a:xfrm>
              <a:off x="3312" y="2194"/>
              <a:ext cx="624" cy="43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4775" name="Line 1127"/>
          <p:cNvSpPr>
            <a:spLocks noChangeShapeType="1"/>
          </p:cNvSpPr>
          <p:nvPr/>
        </p:nvSpPr>
        <p:spPr bwMode="auto">
          <a:xfrm flipV="1">
            <a:off x="5334000" y="1577975"/>
            <a:ext cx="0" cy="68580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4776" name="Line 1128"/>
          <p:cNvSpPr>
            <a:spLocks noChangeShapeType="1"/>
          </p:cNvSpPr>
          <p:nvPr/>
        </p:nvSpPr>
        <p:spPr bwMode="auto">
          <a:xfrm>
            <a:off x="6858000" y="2873375"/>
            <a:ext cx="1219200" cy="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4779" name="Text Box 1131"/>
          <p:cNvSpPr txBox="1">
            <a:spLocks noChangeArrowheads="1"/>
          </p:cNvSpPr>
          <p:nvPr/>
        </p:nvSpPr>
        <p:spPr bwMode="auto">
          <a:xfrm>
            <a:off x="8193088" y="2636838"/>
            <a:ext cx="96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output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8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2000"/>
                                        <p:tgtEl>
                                          <p:spTgt spid="28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2000"/>
                                        <p:tgtEl>
                                          <p:spTgt spid="28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28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28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8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28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000"/>
                                        <p:tgtEl>
                                          <p:spTgt spid="28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2000"/>
                                        <p:tgtEl>
                                          <p:spTgt spid="28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28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8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4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2000"/>
                                        <p:tgtEl>
                                          <p:spTgt spid="28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53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2000"/>
                                        <p:tgtEl>
                                          <p:spTgt spid="28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769" grpId="0"/>
      <p:bldP spid="284770" grpId="0"/>
      <p:bldP spid="284779" grpId="0"/>
      <p:bldP spid="284779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1DB800-899E-4D93-959B-0E2EC5E585C7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8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Configuration of LR Parsing Algorithm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80513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configuration of a LR parsing is:</a:t>
            </a:r>
          </a:p>
          <a:p>
            <a:pPr>
              <a:buFontTx/>
              <a:buNone/>
            </a:pPr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( S</a:t>
            </a:r>
            <a:r>
              <a:rPr lang="en-US" altLang="zh-CN" baseline="-25000" smtClean="0">
                <a:ea typeface="宋体" panose="02010600030101010101" pitchFamily="2" charset="-122"/>
              </a:rPr>
              <a:t>o</a:t>
            </a:r>
            <a:r>
              <a:rPr lang="en-US" altLang="zh-CN" smtClean="0">
                <a:ea typeface="宋体" panose="02010600030101010101" pitchFamily="2" charset="-122"/>
              </a:rPr>
              <a:t> X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S</a:t>
            </a:r>
            <a:r>
              <a:rPr lang="en-US" altLang="zh-CN" baseline="-25000" smtClean="0">
                <a:ea typeface="宋体" panose="02010600030101010101" pitchFamily="2" charset="-122"/>
              </a:rPr>
              <a:t>1 </a:t>
            </a:r>
            <a:r>
              <a:rPr lang="en-US" altLang="zh-CN" smtClean="0">
                <a:ea typeface="宋体" panose="02010600030101010101" pitchFamily="2" charset="-122"/>
              </a:rPr>
              <a:t>... X</a:t>
            </a:r>
            <a:r>
              <a:rPr lang="en-US" altLang="zh-CN" baseline="-25000" smtClean="0"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,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a</a:t>
            </a:r>
            <a:r>
              <a:rPr lang="en-US" altLang="zh-CN" baseline="-25000" smtClean="0">
                <a:ea typeface="宋体" panose="02010600030101010101" pitchFamily="2" charset="-122"/>
              </a:rPr>
              <a:t>i+1</a:t>
            </a:r>
            <a:r>
              <a:rPr lang="en-US" altLang="zh-CN" smtClean="0">
                <a:ea typeface="宋体" panose="02010600030101010101" pitchFamily="2" charset="-122"/>
              </a:rPr>
              <a:t> ... a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 $ )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Stack			Rest of Input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 and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i</a:t>
            </a:r>
            <a:r>
              <a:rPr lang="en-US" altLang="zh-CN" baseline="-25000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 decides the parser action by consulting the parsing action table.  (</a:t>
            </a:r>
            <a:r>
              <a:rPr lang="en-US" altLang="zh-CN" b="1" i="1" smtClean="0">
                <a:solidFill>
                  <a:srgbClr val="660066"/>
                </a:solidFill>
                <a:ea typeface="宋体" panose="02010600030101010101" pitchFamily="2" charset="-122"/>
              </a:rPr>
              <a:t>Initial Stack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  contains just S</a:t>
            </a:r>
            <a:r>
              <a:rPr lang="en-US" altLang="zh-CN" b="1" baseline="-25000" smtClean="0">
                <a:solidFill>
                  <a:srgbClr val="660066"/>
                </a:solidFill>
                <a:ea typeface="宋体" panose="02010600030101010101" pitchFamily="2" charset="-122"/>
              </a:rPr>
              <a:t>o</a:t>
            </a:r>
            <a:r>
              <a:rPr lang="en-US" altLang="zh-CN" smtClean="0">
                <a:ea typeface="宋体" panose="02010600030101010101" pitchFamily="2" charset="-122"/>
              </a:rPr>
              <a:t> )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A configuration of a LR parsing represents the right sentential form:</a:t>
            </a:r>
          </a:p>
          <a:p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X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... X</a:t>
            </a:r>
            <a:r>
              <a:rPr lang="en-US" altLang="zh-CN" baseline="-25000" smtClean="0"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 a</a:t>
            </a:r>
            <a:r>
              <a:rPr lang="en-US" altLang="zh-CN" baseline="-25000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a</a:t>
            </a:r>
            <a:r>
              <a:rPr lang="en-US" altLang="zh-CN" baseline="-25000" smtClean="0">
                <a:ea typeface="宋体" panose="02010600030101010101" pitchFamily="2" charset="-122"/>
              </a:rPr>
              <a:t>i+1</a:t>
            </a:r>
            <a:r>
              <a:rPr lang="en-US" altLang="zh-CN" smtClean="0">
                <a:ea typeface="宋体" panose="02010600030101010101" pitchFamily="2" charset="-122"/>
              </a:rPr>
              <a:t> ... a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 $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1751" name="Line 4"/>
          <p:cNvSpPr>
            <a:spLocks noChangeShapeType="1"/>
          </p:cNvSpPr>
          <p:nvPr/>
        </p:nvSpPr>
        <p:spPr bwMode="auto">
          <a:xfrm>
            <a:off x="1600200" y="2286000"/>
            <a:ext cx="21336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2" name="Line 5"/>
          <p:cNvSpPr>
            <a:spLocks noChangeShapeType="1"/>
          </p:cNvSpPr>
          <p:nvPr/>
        </p:nvSpPr>
        <p:spPr bwMode="auto">
          <a:xfrm>
            <a:off x="3962400" y="2286000"/>
            <a:ext cx="15240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3" name="Line 6"/>
          <p:cNvSpPr>
            <a:spLocks noChangeShapeType="1"/>
          </p:cNvSpPr>
          <p:nvPr/>
        </p:nvSpPr>
        <p:spPr bwMode="auto">
          <a:xfrm flipV="1">
            <a:off x="1752600" y="22860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Line 7"/>
          <p:cNvSpPr>
            <a:spLocks noChangeShapeType="1"/>
          </p:cNvSpPr>
          <p:nvPr/>
        </p:nvSpPr>
        <p:spPr bwMode="auto">
          <a:xfrm flipH="1" flipV="1">
            <a:off x="4648200" y="2286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5FF7D2-E660-4FED-9B6F-FD5AC0E6D14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8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Actions of A LR-Parser (P.218)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6613"/>
            <a:ext cx="9372600" cy="548798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shift s</a:t>
            </a:r>
            <a:r>
              <a:rPr lang="en-US" altLang="zh-CN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-- shifts the next input symbol and the state 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onto the stack (s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where n is a state number)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</a:t>
            </a:r>
            <a:r>
              <a:rPr lang="en-US" altLang="zh-CN" sz="2000" smtClean="0">
                <a:ea typeface="宋体" panose="02010600030101010101" pitchFamily="2" charset="-122"/>
              </a:rPr>
              <a:t>(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o</a:t>
            </a:r>
            <a:r>
              <a:rPr lang="en-US" altLang="zh-CN" sz="2000" smtClean="0">
                <a:ea typeface="宋体" panose="02010600030101010101" pitchFamily="2" charset="-122"/>
              </a:rPr>
              <a:t>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2000" smtClean="0">
                <a:ea typeface="宋体" panose="02010600030101010101" pitchFamily="2" charset="-122"/>
              </a:rPr>
              <a:t>...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m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m</a:t>
            </a:r>
            <a:r>
              <a:rPr lang="en-US" altLang="zh-CN" sz="2000" smtClean="0">
                <a:ea typeface="宋体" panose="02010600030101010101" pitchFamily="2" charset="-122"/>
              </a:rPr>
              <a:t>,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</a:rPr>
              <a:t>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i+1</a:t>
            </a:r>
            <a:r>
              <a:rPr lang="en-US" altLang="zh-CN" sz="2000" smtClean="0">
                <a:ea typeface="宋体" panose="02010600030101010101" pitchFamily="2" charset="-122"/>
              </a:rPr>
              <a:t> ...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n</a:t>
            </a:r>
            <a:r>
              <a:rPr lang="en-US" altLang="zh-CN" sz="2000" smtClean="0">
                <a:ea typeface="宋体" panose="02010600030101010101" pitchFamily="2" charset="-122"/>
              </a:rPr>
              <a:t> $ )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</a:rPr>
              <a:t>(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o</a:t>
            </a:r>
            <a:r>
              <a:rPr lang="en-US" altLang="zh-CN" sz="2000" smtClean="0">
                <a:ea typeface="宋体" panose="02010600030101010101" pitchFamily="2" charset="-122"/>
              </a:rPr>
              <a:t>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2000" smtClean="0">
                <a:ea typeface="宋体" panose="02010600030101010101" pitchFamily="2" charset="-122"/>
              </a:rPr>
              <a:t>...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m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m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i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smtClean="0">
                <a:ea typeface="宋体" panose="02010600030101010101" pitchFamily="2" charset="-122"/>
              </a:rPr>
              <a:t>,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i+1</a:t>
            </a:r>
            <a:r>
              <a:rPr lang="en-US" altLang="zh-CN" sz="2000" smtClean="0">
                <a:ea typeface="宋体" panose="02010600030101010101" pitchFamily="2" charset="-122"/>
              </a:rPr>
              <a:t> ...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n</a:t>
            </a:r>
            <a:r>
              <a:rPr lang="en-US" altLang="zh-CN" sz="2000" smtClean="0">
                <a:ea typeface="宋体" panose="02010600030101010101" pitchFamily="2" charset="-122"/>
              </a:rPr>
              <a:t> $ )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 startAt="2"/>
            </a:pP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reduce 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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 (or </a:t>
            </a:r>
            <a:r>
              <a:rPr lang="en-US" altLang="zh-CN" b="1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baseline="-25000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where n is a production number)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pop 2|</a:t>
            </a:r>
            <a:r>
              <a:rPr lang="en-US" altLang="zh-CN" sz="2400" b="1" smtClean="0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|  (=r) items from the stack; 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then push </a:t>
            </a:r>
            <a:r>
              <a:rPr lang="en-US" altLang="zh-CN" sz="2400" b="1" smtClean="0">
                <a:ea typeface="宋体" panose="02010600030101010101" pitchFamily="2" charset="-122"/>
                <a:sym typeface="Wingdings" panose="05000000000000000000" pitchFamily="2" charset="2"/>
              </a:rPr>
              <a:t>A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 and </a:t>
            </a:r>
            <a:r>
              <a:rPr lang="en-US" altLang="zh-CN" sz="2400" b="1" smtClean="0"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  where  </a:t>
            </a:r>
            <a:r>
              <a:rPr lang="en-US" altLang="zh-CN" sz="2400" b="1" smtClean="0">
                <a:ea typeface="宋体" panose="02010600030101010101" pitchFamily="2" charset="-122"/>
                <a:sym typeface="Wingdings" panose="05000000000000000000" pitchFamily="2" charset="2"/>
              </a:rPr>
              <a:t>s=goto[s</a:t>
            </a:r>
            <a:r>
              <a:rPr lang="en-US" altLang="zh-CN" sz="2400" b="1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m-r</a:t>
            </a:r>
            <a:r>
              <a:rPr lang="en-US" altLang="zh-CN" sz="2400" b="1" smtClean="0">
                <a:ea typeface="宋体" panose="02010600030101010101" pitchFamily="2" charset="-122"/>
                <a:sym typeface="Wingdings" panose="05000000000000000000" pitchFamily="2" charset="2"/>
              </a:rPr>
              <a:t>,A]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800" smtClean="0">
                <a:ea typeface="宋体" panose="02010600030101010101" pitchFamily="2" charset="-122"/>
              </a:rPr>
              <a:t>	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(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o</a:t>
            </a:r>
            <a:r>
              <a:rPr lang="en-US" altLang="zh-CN" sz="2000" smtClean="0">
                <a:ea typeface="宋体" panose="02010600030101010101" pitchFamily="2" charset="-122"/>
              </a:rPr>
              <a:t>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2000" smtClean="0">
                <a:ea typeface="宋体" panose="02010600030101010101" pitchFamily="2" charset="-122"/>
              </a:rPr>
              <a:t>...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m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m</a:t>
            </a:r>
            <a:r>
              <a:rPr lang="en-US" altLang="zh-CN" sz="2000" smtClean="0">
                <a:ea typeface="宋体" panose="02010600030101010101" pitchFamily="2" charset="-122"/>
              </a:rPr>
              <a:t>,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</a:rPr>
              <a:t>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i+1</a:t>
            </a:r>
            <a:r>
              <a:rPr lang="en-US" altLang="zh-CN" sz="2000" smtClean="0">
                <a:ea typeface="宋体" panose="02010600030101010101" pitchFamily="2" charset="-122"/>
              </a:rPr>
              <a:t> ...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n</a:t>
            </a:r>
            <a:r>
              <a:rPr lang="en-US" altLang="zh-CN" sz="2000" smtClean="0">
                <a:ea typeface="宋体" panose="02010600030101010101" pitchFamily="2" charset="-122"/>
              </a:rPr>
              <a:t> $ )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</a:rPr>
              <a:t>(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o</a:t>
            </a:r>
            <a:r>
              <a:rPr lang="en-US" altLang="zh-CN" sz="2000" smtClean="0">
                <a:ea typeface="宋体" panose="02010600030101010101" pitchFamily="2" charset="-122"/>
              </a:rPr>
              <a:t>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2000" smtClean="0">
                <a:ea typeface="宋体" panose="02010600030101010101" pitchFamily="2" charset="-122"/>
              </a:rPr>
              <a:t>... X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m-r</a:t>
            </a:r>
            <a:r>
              <a:rPr lang="en-US" altLang="zh-CN" sz="2000" smtClean="0">
                <a:ea typeface="宋体" panose="02010600030101010101" pitchFamily="2" charset="-122"/>
              </a:rPr>
              <a:t>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m-r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A s</a:t>
            </a:r>
            <a:r>
              <a:rPr lang="en-US" altLang="zh-CN" sz="2000" smtClean="0">
                <a:ea typeface="宋体" panose="02010600030101010101" pitchFamily="2" charset="-122"/>
              </a:rPr>
              <a:t>,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</a:rPr>
              <a:t> ... a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n</a:t>
            </a:r>
            <a:r>
              <a:rPr lang="en-US" altLang="zh-CN" sz="2000" smtClean="0">
                <a:ea typeface="宋体" panose="02010600030101010101" pitchFamily="2" charset="-122"/>
              </a:rPr>
              <a:t> $ )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en-US" altLang="zh-CN" sz="900" smtClean="0">
              <a:ea typeface="宋体" panose="02010600030101010101" pitchFamily="2" charset="-122"/>
            </a:endParaRPr>
          </a:p>
          <a:p>
            <a:pPr marL="800100" lvl="1" indent="-342900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Output is the reducing production 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reduce </a:t>
            </a:r>
            <a:r>
              <a:rPr lang="en-US" altLang="zh-CN" sz="2400" smtClean="0">
                <a:ea typeface="宋体" panose="02010600030101010101" pitchFamily="2" charset="-122"/>
              </a:rPr>
              <a:t>A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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z="1600" smtClean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 startAt="3"/>
            </a:pP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Accept</a:t>
            </a:r>
            <a:r>
              <a:rPr lang="en-US" altLang="zh-CN" smtClean="0">
                <a:ea typeface="宋体" panose="02010600030101010101" pitchFamily="2" charset="-122"/>
              </a:rPr>
              <a:t> – Parsing successfully completed</a:t>
            </a:r>
          </a:p>
          <a:p>
            <a:pPr marL="457200" indent="-457200">
              <a:lnSpc>
                <a:spcPct val="90000"/>
              </a:lnSpc>
              <a:buFontTx/>
              <a:buAutoNum type="arabicPeriod" startAt="3"/>
            </a:pPr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 startAt="3"/>
            </a:pP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Error</a:t>
            </a:r>
            <a:r>
              <a:rPr lang="en-US" altLang="zh-CN" smtClean="0">
                <a:ea typeface="宋体" panose="02010600030101010101" pitchFamily="2" charset="-122"/>
              </a:rPr>
              <a:t>  -- Parser detected an error (an empty entry in the action table)</a:t>
            </a:r>
          </a:p>
        </p:txBody>
      </p:sp>
      <p:sp>
        <p:nvSpPr>
          <p:cNvPr id="286724" name="Rectangle 4"/>
          <p:cNvSpPr>
            <a:spLocks noChangeArrowheads="1"/>
          </p:cNvSpPr>
          <p:nvPr/>
        </p:nvSpPr>
        <p:spPr bwMode="auto">
          <a:xfrm>
            <a:off x="5529263" y="2565400"/>
            <a:ext cx="4889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800" b="1" i="1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?</a:t>
            </a:r>
            <a:endParaRPr lang="zh-CN" altLang="en-US" sz="4800" b="1" i="1">
              <a:solidFill>
                <a:srgbClr val="CC0000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86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2EDA85-4760-476A-8E84-3F4421107D8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80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Reduce Action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pop 2|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|  (=r) items from the stack;  let us assume that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= Y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Y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...Y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then push 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and 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 where  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s=goto[s</a:t>
            </a:r>
            <a:r>
              <a:rPr lang="en-US" altLang="zh-CN" b="1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m-r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,A]</a:t>
            </a:r>
          </a:p>
          <a:p>
            <a:pPr>
              <a:buFontTx/>
              <a:buNone/>
            </a:pPr>
            <a:r>
              <a:rPr lang="en-US" altLang="zh-CN" sz="800" smtClean="0">
                <a:ea typeface="宋体" panose="02010600030101010101" pitchFamily="2" charset="-122"/>
              </a:rPr>
              <a:t>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( S</a:t>
            </a:r>
            <a:r>
              <a:rPr lang="en-US" altLang="zh-CN" baseline="-25000" smtClean="0">
                <a:ea typeface="宋体" panose="02010600030101010101" pitchFamily="2" charset="-122"/>
              </a:rPr>
              <a:t>o</a:t>
            </a:r>
            <a:r>
              <a:rPr lang="en-US" altLang="zh-CN" smtClean="0">
                <a:ea typeface="宋体" panose="02010600030101010101" pitchFamily="2" charset="-122"/>
              </a:rPr>
              <a:t> X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S</a:t>
            </a:r>
            <a:r>
              <a:rPr lang="en-US" altLang="zh-CN" baseline="-25000" smtClean="0">
                <a:ea typeface="宋体" panose="02010600030101010101" pitchFamily="2" charset="-122"/>
              </a:rPr>
              <a:t>1 </a:t>
            </a:r>
            <a:r>
              <a:rPr lang="en-US" altLang="zh-CN" smtClean="0">
                <a:ea typeface="宋体" panose="02010600030101010101" pitchFamily="2" charset="-122"/>
              </a:rPr>
              <a:t>... X</a:t>
            </a:r>
            <a:r>
              <a:rPr lang="en-US" altLang="zh-CN" baseline="-25000" smtClean="0">
                <a:ea typeface="宋体" panose="02010600030101010101" pitchFamily="2" charset="-122"/>
              </a:rPr>
              <a:t>m-r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m-r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Y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S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m-r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...Y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S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, a</a:t>
            </a:r>
            <a:r>
              <a:rPr lang="en-US" altLang="zh-CN" baseline="-25000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a</a:t>
            </a:r>
            <a:r>
              <a:rPr lang="en-US" altLang="zh-CN" baseline="-25000" smtClean="0">
                <a:ea typeface="宋体" panose="02010600030101010101" pitchFamily="2" charset="-122"/>
              </a:rPr>
              <a:t>i+1</a:t>
            </a:r>
            <a:r>
              <a:rPr lang="en-US" altLang="zh-CN" smtClean="0">
                <a:ea typeface="宋体" panose="02010600030101010101" pitchFamily="2" charset="-122"/>
              </a:rPr>
              <a:t> ... a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 $ ) 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		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mtClean="0">
                <a:ea typeface="宋体" panose="02010600030101010101" pitchFamily="2" charset="-122"/>
              </a:rPr>
              <a:t>( S</a:t>
            </a:r>
            <a:r>
              <a:rPr lang="en-US" altLang="zh-CN" baseline="-25000" smtClean="0">
                <a:ea typeface="宋体" panose="02010600030101010101" pitchFamily="2" charset="-122"/>
              </a:rPr>
              <a:t>o</a:t>
            </a:r>
            <a:r>
              <a:rPr lang="en-US" altLang="zh-CN" smtClean="0">
                <a:ea typeface="宋体" panose="02010600030101010101" pitchFamily="2" charset="-122"/>
              </a:rPr>
              <a:t> X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S</a:t>
            </a:r>
            <a:r>
              <a:rPr lang="en-US" altLang="zh-CN" baseline="-25000" smtClean="0">
                <a:ea typeface="宋体" panose="02010600030101010101" pitchFamily="2" charset="-122"/>
              </a:rPr>
              <a:t>1 </a:t>
            </a:r>
            <a:r>
              <a:rPr lang="en-US" altLang="zh-CN" smtClean="0">
                <a:ea typeface="宋体" panose="02010600030101010101" pitchFamily="2" charset="-122"/>
              </a:rPr>
              <a:t>... X</a:t>
            </a:r>
            <a:r>
              <a:rPr lang="en-US" altLang="zh-CN" baseline="-25000" smtClean="0">
                <a:ea typeface="宋体" panose="02010600030101010101" pitchFamily="2" charset="-122"/>
              </a:rPr>
              <a:t>m-r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 baseline="-25000" smtClean="0">
                <a:solidFill>
                  <a:schemeClr val="accent2"/>
                </a:solidFill>
                <a:ea typeface="宋体" panose="02010600030101010101" pitchFamily="2" charset="-122"/>
              </a:rPr>
              <a:t>m-r</a:t>
            </a:r>
            <a:r>
              <a:rPr lang="en-US" altLang="zh-CN" baseline="-25000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A s</a:t>
            </a:r>
            <a:r>
              <a:rPr lang="en-US" altLang="zh-CN" smtClean="0">
                <a:ea typeface="宋体" panose="02010600030101010101" pitchFamily="2" charset="-122"/>
              </a:rPr>
              <a:t>, a</a:t>
            </a:r>
            <a:r>
              <a:rPr lang="en-US" altLang="zh-CN" baseline="-25000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... a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 $ )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In fact,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Y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Y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...Y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r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is a handle.</a:t>
            </a:r>
          </a:p>
          <a:p>
            <a:endParaRPr lang="en-US" altLang="zh-CN" sz="800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X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... X</a:t>
            </a:r>
            <a:r>
              <a:rPr lang="en-US" altLang="zh-CN" baseline="-25000" smtClean="0">
                <a:ea typeface="宋体" panose="02010600030101010101" pitchFamily="2" charset="-122"/>
              </a:rPr>
              <a:t>m-r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 a</a:t>
            </a:r>
            <a:r>
              <a:rPr lang="en-US" altLang="zh-CN" baseline="-25000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... a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 $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mtClean="0">
                <a:ea typeface="宋体" panose="02010600030101010101" pitchFamily="2" charset="-122"/>
              </a:rPr>
              <a:t> X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... X</a:t>
            </a:r>
            <a:r>
              <a:rPr lang="en-US" altLang="zh-CN" baseline="-25000" smtClean="0">
                <a:ea typeface="宋体" panose="02010600030101010101" pitchFamily="2" charset="-122"/>
              </a:rPr>
              <a:t>m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Y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</a:rPr>
              <a:t>...Y</a:t>
            </a:r>
            <a:r>
              <a:rPr lang="en-US" altLang="zh-CN" baseline="-25000" smtClean="0">
                <a:solidFill>
                  <a:srgbClr val="CC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mtClean="0">
                <a:ea typeface="宋体" panose="02010600030101010101" pitchFamily="2" charset="-122"/>
              </a:rPr>
              <a:t> a</a:t>
            </a:r>
            <a:r>
              <a:rPr lang="en-US" altLang="zh-CN" baseline="-25000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a</a:t>
            </a:r>
            <a:r>
              <a:rPr lang="en-US" altLang="zh-CN" baseline="-25000" smtClean="0">
                <a:ea typeface="宋体" panose="02010600030101010101" pitchFamily="2" charset="-122"/>
              </a:rPr>
              <a:t>i+1</a:t>
            </a:r>
            <a:r>
              <a:rPr lang="en-US" altLang="zh-CN" smtClean="0">
                <a:ea typeface="宋体" panose="02010600030101010101" pitchFamily="2" charset="-122"/>
              </a:rPr>
              <a:t> ... a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 $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87748" name="Line 4"/>
          <p:cNvSpPr>
            <a:spLocks noChangeShapeType="1"/>
          </p:cNvSpPr>
          <p:nvPr/>
        </p:nvSpPr>
        <p:spPr bwMode="auto">
          <a:xfrm flipH="1" flipV="1">
            <a:off x="5097463" y="2636838"/>
            <a:ext cx="2447925" cy="2873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49" name="Rectangle 5"/>
          <p:cNvSpPr>
            <a:spLocks noChangeArrowheads="1"/>
          </p:cNvSpPr>
          <p:nvPr/>
        </p:nvSpPr>
        <p:spPr bwMode="auto">
          <a:xfrm>
            <a:off x="7185025" y="2827338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</a:rPr>
              <a:t>handle</a:t>
            </a:r>
          </a:p>
        </p:txBody>
      </p:sp>
      <p:sp>
        <p:nvSpPr>
          <p:cNvPr id="287750" name="Oval 6"/>
          <p:cNvSpPr>
            <a:spLocks noChangeArrowheads="1"/>
          </p:cNvSpPr>
          <p:nvPr/>
        </p:nvSpPr>
        <p:spPr bwMode="auto">
          <a:xfrm>
            <a:off x="3368675" y="2205038"/>
            <a:ext cx="1944688" cy="50482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8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9" grpId="0"/>
      <p:bldP spid="2877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8946C0-EE8D-4D32-AE6A-25CDFA03BFC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80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75565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(SLR) Parsing Tables for Expression Grammar (P.219)</a:t>
            </a:r>
          </a:p>
        </p:txBody>
      </p:sp>
      <p:graphicFrame>
        <p:nvGraphicFramePr>
          <p:cNvPr id="289143" name="Group 375"/>
          <p:cNvGraphicFramePr>
            <a:graphicFrameLocks noGrp="1"/>
          </p:cNvGraphicFramePr>
          <p:nvPr/>
        </p:nvGraphicFramePr>
        <p:xfrm>
          <a:off x="2971800" y="1447800"/>
          <a:ext cx="5813425" cy="4754563"/>
        </p:xfrm>
        <a:graphic>
          <a:graphicData uri="http://schemas.openxmlformats.org/drawingml/2006/table">
            <a:tbl>
              <a:tblPr/>
              <a:tblGrid>
                <a:gridCol w="68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7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97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3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state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35" marR="91435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4992" name="Text Box 367"/>
          <p:cNvSpPr txBox="1">
            <a:spLocks noChangeArrowheads="1"/>
          </p:cNvSpPr>
          <p:nvPr/>
        </p:nvSpPr>
        <p:spPr bwMode="auto">
          <a:xfrm>
            <a:off x="4419600" y="990600"/>
            <a:ext cx="178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Action Table</a:t>
            </a:r>
          </a:p>
        </p:txBody>
      </p:sp>
      <p:sp>
        <p:nvSpPr>
          <p:cNvPr id="34993" name="Text Box 369"/>
          <p:cNvSpPr txBox="1">
            <a:spLocks noChangeArrowheads="1"/>
          </p:cNvSpPr>
          <p:nvPr/>
        </p:nvSpPr>
        <p:spPr bwMode="auto">
          <a:xfrm>
            <a:off x="7162800" y="990600"/>
            <a:ext cx="1562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Goto Table</a:t>
            </a:r>
          </a:p>
        </p:txBody>
      </p:sp>
      <p:sp>
        <p:nvSpPr>
          <p:cNvPr id="34994" name="Text Box 370"/>
          <p:cNvSpPr txBox="1">
            <a:spLocks noChangeArrowheads="1"/>
          </p:cNvSpPr>
          <p:nvPr/>
        </p:nvSpPr>
        <p:spPr bwMode="auto">
          <a:xfrm>
            <a:off x="533400" y="1447800"/>
            <a:ext cx="18478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1)   E 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2)   E  T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3)   T  T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4)   T  F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5)   F 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6)   F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C55D68-6381-4ED0-BE73-C492D9C2438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80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53975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Actions of A (S)LR-Parser – Example (P.220)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2188" y="765175"/>
            <a:ext cx="8135937" cy="56880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 u="sng" smtClean="0">
                <a:ea typeface="宋体" panose="02010600030101010101" pitchFamily="2" charset="-122"/>
              </a:rPr>
              <a:t>stack</a:t>
            </a:r>
            <a:r>
              <a:rPr lang="en-US" altLang="zh-CN" sz="2000" b="1" smtClean="0">
                <a:ea typeface="宋体" panose="02010600030101010101" pitchFamily="2" charset="-122"/>
              </a:rPr>
              <a:t>		</a:t>
            </a:r>
            <a:r>
              <a:rPr lang="en-US" altLang="zh-CN" sz="2000" b="1" u="sng" smtClean="0">
                <a:ea typeface="宋体" panose="02010600030101010101" pitchFamily="2" charset="-122"/>
              </a:rPr>
              <a:t>input</a:t>
            </a:r>
            <a:r>
              <a:rPr lang="en-US" altLang="zh-CN" sz="2000" b="1" smtClean="0">
                <a:ea typeface="宋体" panose="02010600030101010101" pitchFamily="2" charset="-122"/>
              </a:rPr>
              <a:t>		</a:t>
            </a:r>
            <a:r>
              <a:rPr lang="en-US" altLang="zh-CN" sz="2000" b="1" u="sng" smtClean="0">
                <a:ea typeface="宋体" panose="02010600030101010101" pitchFamily="2" charset="-122"/>
              </a:rPr>
              <a:t>action</a:t>
            </a:r>
            <a:r>
              <a:rPr lang="en-US" altLang="zh-CN" sz="2000" b="1" smtClean="0">
                <a:ea typeface="宋体" panose="02010600030101010101" pitchFamily="2" charset="-122"/>
              </a:rPr>
              <a:t>			</a:t>
            </a:r>
            <a:r>
              <a:rPr lang="en-US" altLang="zh-CN" sz="2000" b="1" u="sng" smtClean="0">
                <a:ea typeface="宋体" panose="02010600030101010101" pitchFamily="2" charset="-122"/>
              </a:rPr>
              <a:t>output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$ 0			id*id+id$	shift 5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$ 0id5		    *id+id$	reduce by 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	</a:t>
            </a:r>
            <a:r>
              <a:rPr lang="en-US" altLang="zh-CN" sz="2000" smtClean="0">
                <a:ea typeface="宋体" panose="02010600030101010101" pitchFamily="2" charset="-122"/>
              </a:rPr>
              <a:t>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0F3		    </a:t>
            </a:r>
            <a:r>
              <a:rPr lang="en-US" altLang="zh-CN" sz="2000" smtClean="0">
                <a:ea typeface="宋体" panose="02010600030101010101" pitchFamily="2" charset="-122"/>
              </a:rPr>
              <a:t>*id+id$	reduce by 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F	 	</a:t>
            </a:r>
            <a:r>
              <a:rPr lang="en-US" altLang="zh-CN" sz="2000" smtClean="0">
                <a:ea typeface="宋体" panose="02010600030101010101" pitchFamily="2" charset="-122"/>
              </a:rPr>
              <a:t>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F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0T2		    </a:t>
            </a:r>
            <a:r>
              <a:rPr lang="en-US" altLang="zh-CN" sz="2000" smtClean="0">
                <a:ea typeface="宋体" panose="02010600030101010101" pitchFamily="2" charset="-122"/>
              </a:rPr>
              <a:t>*id+id$	shift 7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$ 0T2*7		      id+id$	shift 5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$ 0T2*7id5	         +id$	reduce by 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r>
              <a:rPr lang="en-US" altLang="zh-CN" sz="2000" smtClean="0">
                <a:ea typeface="宋体" panose="02010600030101010101" pitchFamily="2" charset="-122"/>
              </a:rPr>
              <a:t>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$ 0T2*7F10	         +id$	 reduce by 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T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	</a:t>
            </a:r>
            <a:r>
              <a:rPr lang="en-US" altLang="zh-CN" sz="2000" smtClean="0">
                <a:ea typeface="宋体" panose="02010600030101010101" pitchFamily="2" charset="-122"/>
              </a:rPr>
              <a:t>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T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$ 0T2		         +id$	reduce by E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T	 	</a:t>
            </a:r>
            <a:r>
              <a:rPr lang="en-US" altLang="zh-CN" sz="2000" smtClean="0">
                <a:ea typeface="宋体" panose="02010600030101010101" pitchFamily="2" charset="-122"/>
              </a:rPr>
              <a:t>E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T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0E1		         +id$	shift 6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0E1+6		           id$	shift 5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0E1+6id5	              $	</a:t>
            </a:r>
            <a:r>
              <a:rPr lang="en-US" altLang="zh-CN" sz="2000" smtClean="0">
                <a:ea typeface="宋体" panose="02010600030101010101" pitchFamily="2" charset="-122"/>
              </a:rPr>
              <a:t>reduce by 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 	</a:t>
            </a:r>
            <a:r>
              <a:rPr lang="en-US" altLang="zh-CN" sz="2000" smtClean="0">
                <a:ea typeface="宋体" panose="02010600030101010101" pitchFamily="2" charset="-122"/>
              </a:rPr>
              <a:t>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0E1+6F3	              $	</a:t>
            </a:r>
            <a:r>
              <a:rPr lang="en-US" altLang="zh-CN" sz="2000" smtClean="0">
                <a:ea typeface="宋体" panose="02010600030101010101" pitchFamily="2" charset="-122"/>
              </a:rPr>
              <a:t>reduce by 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F	 	</a:t>
            </a:r>
            <a:r>
              <a:rPr lang="en-US" altLang="zh-CN" sz="2000" smtClean="0">
                <a:ea typeface="宋体" panose="02010600030101010101" pitchFamily="2" charset="-122"/>
              </a:rPr>
              <a:t>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F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0E1+6T9	              $	</a:t>
            </a:r>
            <a:r>
              <a:rPr lang="en-US" altLang="zh-CN" sz="2000" smtClean="0">
                <a:ea typeface="宋体" panose="02010600030101010101" pitchFamily="2" charset="-122"/>
              </a:rPr>
              <a:t>reduce by E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	</a:t>
            </a:r>
            <a:r>
              <a:rPr lang="en-US" altLang="zh-CN" sz="2000" smtClean="0">
                <a:ea typeface="宋体" panose="02010600030101010101" pitchFamily="2" charset="-122"/>
              </a:rPr>
              <a:t>E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$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0E1		              $	accept</a:t>
            </a:r>
            <a:endParaRPr lang="zh-CN" altLang="en-US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90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90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90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90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90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90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90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90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90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290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290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90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C5C843-A992-44AB-B959-F518554FA807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80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Constructing SLR Parsing Tables – LR(0) Item (P.221)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An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</a:rPr>
              <a:t>LR(0) item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of a grammar G is a production of G a dot at the some position of the right side.</a:t>
            </a:r>
          </a:p>
          <a:p>
            <a:pPr>
              <a:lnSpc>
                <a:spcPts val="2400"/>
              </a:lnSpc>
              <a:spcBef>
                <a:spcPts val="400"/>
              </a:spcBef>
            </a:pPr>
            <a:r>
              <a:rPr lang="en-US" altLang="zh-CN" smtClean="0">
                <a:ea typeface="宋体" panose="02010600030101010101" pitchFamily="2" charset="-122"/>
              </a:rPr>
              <a:t>Ex:	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   Possible LR(0) Items:	</a:t>
            </a:r>
          </a:p>
          <a:p>
            <a:pPr>
              <a:lnSpc>
                <a:spcPts val="2400"/>
              </a:lnSpc>
              <a:spcBef>
                <a:spcPts val="4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   </a:t>
            </a:r>
            <a:r>
              <a:rPr lang="en-US" altLang="zh-CN" sz="1800" smtClean="0">
                <a:ea typeface="宋体" panose="02010600030101010101" pitchFamily="2" charset="-122"/>
              </a:rPr>
              <a:t>(four different possibility)</a:t>
            </a:r>
            <a:r>
              <a:rPr lang="en-US" altLang="zh-CN" smtClean="0">
                <a:ea typeface="宋体" panose="02010600030101010101" pitchFamily="2" charset="-122"/>
              </a:rPr>
              <a:t>	 	</a:t>
            </a: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400"/>
              </a:lnSpc>
              <a:spcBef>
                <a:spcPts val="4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		 	</a:t>
            </a:r>
          </a:p>
          <a:p>
            <a:pPr>
              <a:lnSpc>
                <a:spcPts val="2400"/>
              </a:lnSpc>
              <a:spcBef>
                <a:spcPts val="4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 			</a:t>
            </a:r>
            <a:endParaRPr lang="en-US" altLang="zh-CN" sz="66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Sets of LR(0) items will be the states of action and goto table of the SLR parser.</a:t>
            </a: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 collection of sets of LR(0) items (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 canonical LR(0) collection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 is the basis  for constructing SLR parsers.</a:t>
            </a:r>
          </a:p>
          <a:p>
            <a:r>
              <a:rPr lang="en-US" altLang="zh-CN" i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Augmented Grammar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G’ is G with a new production rule S’S where S’ is the new starting symbol.</a:t>
            </a:r>
          </a:p>
        </p:txBody>
      </p:sp>
      <p:sp>
        <p:nvSpPr>
          <p:cNvPr id="36871" name="Rectangle 4"/>
          <p:cNvSpPr>
            <a:spLocks noChangeArrowheads="1"/>
          </p:cNvSpPr>
          <p:nvPr/>
        </p:nvSpPr>
        <p:spPr bwMode="auto">
          <a:xfrm>
            <a:off x="6681788" y="1916113"/>
            <a:ext cx="1800225" cy="161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78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67029B-C662-4730-AB3D-D6D0457AC9E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80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Closure Operation (P.222)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5105400"/>
          </a:xfrm>
        </p:spPr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If</a:t>
            </a:r>
            <a:r>
              <a:rPr lang="en-US" altLang="zh-CN" b="1" i="1" smtClean="0">
                <a:ea typeface="宋体" panose="02010600030101010101" pitchFamily="2" charset="-122"/>
              </a:rPr>
              <a:t>  I</a:t>
            </a:r>
            <a:r>
              <a:rPr lang="en-US" altLang="zh-CN" smtClean="0">
                <a:ea typeface="宋体" panose="02010600030101010101" pitchFamily="2" charset="-122"/>
              </a:rPr>
              <a:t>  is a set of LR(0) items for a grammar G, then 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closure(I)</a:t>
            </a:r>
            <a:r>
              <a:rPr lang="en-US" altLang="zh-CN" smtClean="0">
                <a:ea typeface="宋体" panose="02010600030101010101" pitchFamily="2" charset="-122"/>
              </a:rPr>
              <a:t>  is the set of LR(0) items constructed from I by the two rules:</a:t>
            </a:r>
          </a:p>
          <a:p>
            <a:pPr marL="457200" indent="-457200"/>
            <a:endParaRPr lang="en-US" altLang="zh-CN" sz="1000" smtClean="0">
              <a:ea typeface="宋体" panose="02010600030101010101" pitchFamily="2" charset="-122"/>
            </a:endParaRPr>
          </a:p>
          <a:p>
            <a:pPr marL="800100" lvl="1" indent="-342900">
              <a:lnSpc>
                <a:spcPts val="2800"/>
              </a:lnSpc>
              <a:spcBef>
                <a:spcPts val="400"/>
              </a:spcBef>
              <a:buFontTx/>
              <a:buAutoNum type="arabicPeriod"/>
            </a:pP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Initially, every LR(0) item in I is added to closure(I).</a:t>
            </a:r>
          </a:p>
          <a:p>
            <a:pPr marL="800100" lvl="1" indent="-342900">
              <a:lnSpc>
                <a:spcPts val="2800"/>
              </a:lnSpc>
              <a:spcBef>
                <a:spcPts val="400"/>
              </a:spcBef>
              <a:buFontTx/>
              <a:buAutoNum type="arabicPeriod"/>
            </a:pP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</a:rPr>
              <a:t>If A 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66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B  is in closure(I)  and 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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</a:rPr>
              <a:t> is a production rule of G;</a:t>
            </a:r>
            <a:r>
              <a:rPr lang="en-US" altLang="zh-CN" b="1" smtClean="0">
                <a:solidFill>
                  <a:srgbClr val="660033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</a:rPr>
              <a:t>then B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66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</a:rPr>
              <a:t>  will be in the closure(I). </a:t>
            </a:r>
          </a:p>
          <a:p>
            <a:pPr marL="800100" lvl="1" indent="-342900">
              <a:lnSpc>
                <a:spcPts val="2800"/>
              </a:lnSpc>
              <a:spcBef>
                <a:spcPts val="400"/>
              </a:spcBef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    We will apply this rule until no more new LR(0) items can be added to closure(I).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4C0812-4F81-49F8-9F59-BBDBA2B9E31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80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Closure Operation  -- Example (P.223)</a:t>
            </a:r>
          </a:p>
        </p:txBody>
      </p:sp>
      <p:sp>
        <p:nvSpPr>
          <p:cNvPr id="38918" name="Line 4"/>
          <p:cNvSpPr>
            <a:spLocks noChangeShapeType="1"/>
          </p:cNvSpPr>
          <p:nvPr/>
        </p:nvSpPr>
        <p:spPr bwMode="auto">
          <a:xfrm flipH="1">
            <a:off x="6537325" y="1916113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2438" y="1219200"/>
            <a:ext cx="9180512" cy="4081463"/>
          </a:xfrm>
        </p:spPr>
        <p:txBody>
          <a:bodyPr/>
          <a:lstStyle/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E’  E 		I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:  closure({E’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E}) = </a:t>
            </a:r>
          </a:p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 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			        { 	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E’  </a:t>
            </a:r>
            <a:r>
              <a:rPr lang="en-US" altLang="zh-CN" sz="66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		kernel items</a:t>
            </a:r>
          </a:p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 T					E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 T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				E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 F					T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</a:p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 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T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	</a:t>
            </a:r>
          </a:p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 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F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ts val="3000"/>
              </a:lnSpc>
              <a:spcBef>
                <a:spcPts val="6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	F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 }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28DA48-0C14-43E2-B357-E9E3C162109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80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Goto Operation (P.224)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08050"/>
            <a:ext cx="8964613" cy="541655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If I is a set of LR(0) items and X is a grammar symbol (terminal or non-terminal), then 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goto(I,X)</a:t>
            </a:r>
            <a:r>
              <a:rPr lang="en-US" altLang="zh-CN" smtClean="0">
                <a:ea typeface="宋体" panose="02010600030101010101" pitchFamily="2" charset="-122"/>
              </a:rPr>
              <a:t> is defined as follows:</a:t>
            </a:r>
          </a:p>
          <a:p>
            <a:pPr lvl="1">
              <a:lnSpc>
                <a:spcPts val="2800"/>
              </a:lnSpc>
              <a:spcBef>
                <a:spcPts val="600"/>
              </a:spcBef>
            </a:pP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If  A </a:t>
            </a: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6600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X  in I                                                                           then every item in </a:t>
            </a:r>
            <a:r>
              <a:rPr lang="en-US" altLang="zh-CN" sz="24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closure({</a:t>
            </a:r>
            <a:r>
              <a:rPr lang="en-US" altLang="zh-CN" sz="2400" b="1" smtClean="0">
                <a:solidFill>
                  <a:srgbClr val="CC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sz="24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X</a:t>
            </a:r>
            <a:r>
              <a:rPr lang="en-US" altLang="zh-CN" sz="66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4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})</a:t>
            </a: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will be in goto(I,X).</a:t>
            </a:r>
            <a:r>
              <a:rPr lang="en-US" altLang="zh-CN" sz="2400" b="1" smtClean="0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z="800" b="1" smtClean="0">
              <a:solidFill>
                <a:schemeClr val="accent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ts val="1000"/>
              </a:lnSpc>
              <a:spcBef>
                <a:spcPts val="200"/>
              </a:spcBef>
              <a:buFontTx/>
              <a:buNone/>
            </a:pPr>
            <a:endParaRPr lang="en-US" altLang="zh-CN" sz="800" b="1" smtClean="0">
              <a:solidFill>
                <a:schemeClr val="accent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600"/>
              </a:lnSpc>
              <a:spcBef>
                <a:spcPts val="4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Example: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 ={	 E’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E,   E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E+T,   E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T, 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 T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T*F,  T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F, 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 F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(E),   F  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id  }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goto(I,E) = {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E’  E</a:t>
            </a:r>
            <a:r>
              <a:rPr lang="en-US" altLang="zh-CN" sz="66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E  E</a:t>
            </a:r>
            <a:r>
              <a:rPr lang="en-US" altLang="zh-CN" sz="66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}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goto(I,T) = {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T</a:t>
            </a:r>
            <a:r>
              <a:rPr lang="en-US" altLang="zh-CN" sz="66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T  T</a:t>
            </a:r>
            <a:r>
              <a:rPr lang="en-US" altLang="zh-CN" sz="66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}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goto(I,F) = {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 F</a:t>
            </a:r>
            <a:r>
              <a:rPr lang="en-US" altLang="zh-CN" sz="66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}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goto(I,() = {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 (</a:t>
            </a:r>
            <a:r>
              <a:rPr lang="en-US" altLang="zh-CN" sz="66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E),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</a:t>
            </a:r>
            <a:r>
              <a:rPr lang="en-US" altLang="zh-CN" sz="66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E+T, E  </a:t>
            </a:r>
            <a:r>
              <a:rPr lang="en-US" altLang="zh-CN" sz="66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T, T  </a:t>
            </a:r>
            <a:r>
              <a:rPr lang="en-US" altLang="zh-CN" sz="66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T*F, T  </a:t>
            </a:r>
            <a:r>
              <a:rPr lang="en-US" altLang="zh-CN" sz="66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F, 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 </a:t>
            </a:r>
            <a:r>
              <a:rPr lang="en-US" altLang="zh-CN" sz="66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(E), F  </a:t>
            </a:r>
            <a:r>
              <a:rPr lang="en-US" altLang="zh-CN" sz="66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}</a:t>
            </a:r>
          </a:p>
          <a:p>
            <a:pPr>
              <a:lnSpc>
                <a:spcPts val="2400"/>
              </a:lnSpc>
              <a:spcBef>
                <a:spcPts val="2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goto(I,id) = {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 id</a:t>
            </a:r>
            <a:r>
              <a:rPr lang="en-US" altLang="zh-CN" sz="66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}</a:t>
            </a: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94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94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94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94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94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94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94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94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94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94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B43985-B78C-411F-B655-B88807C970CA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800"/>
          </a:p>
        </p:txBody>
      </p:sp>
      <p:sp>
        <p:nvSpPr>
          <p:cNvPr id="295940" name="Oval 4"/>
          <p:cNvSpPr>
            <a:spLocks noChangeArrowheads="1"/>
          </p:cNvSpPr>
          <p:nvPr/>
        </p:nvSpPr>
        <p:spPr bwMode="auto">
          <a:xfrm>
            <a:off x="2000250" y="3933825"/>
            <a:ext cx="1152525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Construction of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The Canonical LR(0) Collection (P.224)</a:t>
            </a:r>
          </a:p>
        </p:txBody>
      </p:sp>
      <p:sp>
        <p:nvSpPr>
          <p:cNvPr id="409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52513"/>
            <a:ext cx="9180513" cy="4897437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To create the SLR parsing tables for a grammar G, we will create the canonical LR(0) collection of the grammar G’.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b="1" i="1" smtClean="0">
                <a:ea typeface="宋体" panose="02010600030101010101" pitchFamily="2" charset="-122"/>
              </a:rPr>
              <a:t>Algorithm</a:t>
            </a:r>
            <a:r>
              <a:rPr lang="en-US" altLang="zh-CN" smtClean="0">
                <a:ea typeface="宋体" panose="02010600030101010101" pitchFamily="2" charset="-122"/>
              </a:rPr>
              <a:t>:</a:t>
            </a:r>
          </a:p>
          <a:p>
            <a:pPr lvl="1">
              <a:lnSpc>
                <a:spcPts val="2600"/>
              </a:lnSpc>
              <a:spcBef>
                <a:spcPts val="400"/>
              </a:spcBef>
              <a:buFontTx/>
              <a:buNone/>
            </a:pPr>
            <a:r>
              <a:rPr lang="en-US" altLang="zh-CN" sz="2000" b="1" i="1" smtClean="0">
                <a:ea typeface="宋体" panose="02010600030101010101" pitchFamily="2" charset="-12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</a:rPr>
              <a:t> is { closure({S’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66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S}) }</a:t>
            </a:r>
          </a:p>
          <a:p>
            <a:pPr lvl="1">
              <a:lnSpc>
                <a:spcPts val="2600"/>
              </a:lnSpc>
              <a:spcBef>
                <a:spcPts val="400"/>
              </a:spcBef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repeat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the followings until no more set of LR(0) items can be added to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lvl="2">
              <a:lnSpc>
                <a:spcPts val="2600"/>
              </a:lnSpc>
              <a:spcBef>
                <a:spcPts val="400"/>
              </a:spcBef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for each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I in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and each grammar symbol X</a:t>
            </a:r>
          </a:p>
          <a:p>
            <a:pPr lvl="3">
              <a:lnSpc>
                <a:spcPts val="2600"/>
              </a:lnSpc>
              <a:spcBef>
                <a:spcPts val="400"/>
              </a:spcBef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goto(I,X) is not empty and not in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lvl="4">
              <a:lnSpc>
                <a:spcPts val="2600"/>
              </a:lnSpc>
              <a:spcBef>
                <a:spcPts val="4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add goto(I,X) to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goto function is a DFA on the sets in C.</a:t>
            </a:r>
          </a:p>
        </p:txBody>
      </p:sp>
      <p:sp>
        <p:nvSpPr>
          <p:cNvPr id="295941" name="Line 5"/>
          <p:cNvSpPr>
            <a:spLocks noChangeShapeType="1"/>
          </p:cNvSpPr>
          <p:nvPr/>
        </p:nvSpPr>
        <p:spPr bwMode="auto">
          <a:xfrm flipH="1" flipV="1">
            <a:off x="3008313" y="4221163"/>
            <a:ext cx="3097212" cy="360362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42" name="Rectangle 6"/>
          <p:cNvSpPr>
            <a:spLocks noChangeArrowheads="1"/>
          </p:cNvSpPr>
          <p:nvPr/>
        </p:nvSpPr>
        <p:spPr bwMode="auto">
          <a:xfrm>
            <a:off x="5961063" y="4292600"/>
            <a:ext cx="34559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New item, corresponding to new state in DFA</a:t>
            </a:r>
            <a:endParaRPr lang="zh-CN" altLang="en-US">
              <a:solidFill>
                <a:srgbClr val="660066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9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0" grpId="0" animBg="1"/>
      <p:bldP spid="29594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222906-6FC7-46EE-A6DE-04296DAFB91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80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53975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The Canonical LR(0) Collection -- Example</a:t>
            </a:r>
          </a:p>
        </p:txBody>
      </p:sp>
      <p:sp>
        <p:nvSpPr>
          <p:cNvPr id="296990" name="Rectangle 30"/>
          <p:cNvSpPr>
            <a:spLocks noChangeArrowheads="1"/>
          </p:cNvSpPr>
          <p:nvPr/>
        </p:nvSpPr>
        <p:spPr bwMode="auto">
          <a:xfrm>
            <a:off x="344488" y="836613"/>
            <a:ext cx="2032000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E’  .E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E  .E+T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E  .T 	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T  .T*F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T  .F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F  .(E)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F  .id</a:t>
            </a:r>
          </a:p>
        </p:txBody>
      </p:sp>
      <p:sp>
        <p:nvSpPr>
          <p:cNvPr id="296992" name="Rectangle 32"/>
          <p:cNvSpPr>
            <a:spLocks noChangeArrowheads="1"/>
          </p:cNvSpPr>
          <p:nvPr/>
        </p:nvSpPr>
        <p:spPr bwMode="auto">
          <a:xfrm>
            <a:off x="7185025" y="908050"/>
            <a:ext cx="2087563" cy="424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E+T.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 T.*F</a:t>
            </a:r>
          </a:p>
          <a:p>
            <a:pPr>
              <a:buFontTx/>
              <a:buNone/>
            </a:pP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z="18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z="18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z="18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 T*F.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 (E).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6993" name="Rectangle 33"/>
          <p:cNvSpPr>
            <a:spLocks noChangeArrowheads="1"/>
          </p:cNvSpPr>
          <p:nvPr/>
        </p:nvSpPr>
        <p:spPr bwMode="auto">
          <a:xfrm>
            <a:off x="4448175" y="908050"/>
            <a:ext cx="2376488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E+.T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T  .T*F	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T  .F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F  .(E) 	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F  .id 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 T*.F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F  .(E)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F  .id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	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 (E.)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	    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E.+T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</p:txBody>
      </p:sp>
      <p:sp>
        <p:nvSpPr>
          <p:cNvPr id="42044" name="Line 35"/>
          <p:cNvSpPr>
            <a:spLocks noChangeShapeType="1"/>
          </p:cNvSpPr>
          <p:nvPr/>
        </p:nvSpPr>
        <p:spPr bwMode="auto">
          <a:xfrm flipV="1">
            <a:off x="1784350" y="1090613"/>
            <a:ext cx="647700" cy="106362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45" name="Line 36"/>
          <p:cNvSpPr>
            <a:spLocks noChangeShapeType="1"/>
          </p:cNvSpPr>
          <p:nvPr/>
        </p:nvSpPr>
        <p:spPr bwMode="auto">
          <a:xfrm>
            <a:off x="1712913" y="1773238"/>
            <a:ext cx="719137" cy="71437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46" name="Line 37"/>
          <p:cNvSpPr>
            <a:spLocks noChangeShapeType="1"/>
          </p:cNvSpPr>
          <p:nvPr/>
        </p:nvSpPr>
        <p:spPr bwMode="auto">
          <a:xfrm>
            <a:off x="1568450" y="2349500"/>
            <a:ext cx="808038" cy="352425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47" name="Line 38"/>
          <p:cNvSpPr>
            <a:spLocks noChangeShapeType="1"/>
          </p:cNvSpPr>
          <p:nvPr/>
        </p:nvSpPr>
        <p:spPr bwMode="auto">
          <a:xfrm>
            <a:off x="1639888" y="2708275"/>
            <a:ext cx="792162" cy="671513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48" name="Line 39"/>
          <p:cNvSpPr>
            <a:spLocks noChangeShapeType="1"/>
          </p:cNvSpPr>
          <p:nvPr/>
        </p:nvSpPr>
        <p:spPr bwMode="auto">
          <a:xfrm>
            <a:off x="1497013" y="3068638"/>
            <a:ext cx="1008062" cy="2447925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49" name="Rectangle 77"/>
          <p:cNvSpPr>
            <a:spLocks noChangeArrowheads="1"/>
          </p:cNvSpPr>
          <p:nvPr/>
        </p:nvSpPr>
        <p:spPr bwMode="auto">
          <a:xfrm>
            <a:off x="1857375" y="386080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50" name="Rectangle 78"/>
          <p:cNvSpPr>
            <a:spLocks noChangeArrowheads="1"/>
          </p:cNvSpPr>
          <p:nvPr/>
        </p:nvSpPr>
        <p:spPr bwMode="auto">
          <a:xfrm>
            <a:off x="1857375" y="2665413"/>
            <a:ext cx="26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51" name="Rectangle 79"/>
          <p:cNvSpPr>
            <a:spLocks noChangeArrowheads="1"/>
          </p:cNvSpPr>
          <p:nvPr/>
        </p:nvSpPr>
        <p:spPr bwMode="auto">
          <a:xfrm>
            <a:off x="1857375" y="22050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52" name="Rectangle 80"/>
          <p:cNvSpPr>
            <a:spLocks noChangeArrowheads="1"/>
          </p:cNvSpPr>
          <p:nvPr/>
        </p:nvSpPr>
        <p:spPr bwMode="auto">
          <a:xfrm>
            <a:off x="1857375" y="148431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53" name="Rectangle 81"/>
          <p:cNvSpPr>
            <a:spLocks noChangeArrowheads="1"/>
          </p:cNvSpPr>
          <p:nvPr/>
        </p:nvSpPr>
        <p:spPr bwMode="auto">
          <a:xfrm>
            <a:off x="1928813" y="83661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26" name="Line 40"/>
          <p:cNvSpPr>
            <a:spLocks noChangeShapeType="1"/>
          </p:cNvSpPr>
          <p:nvPr/>
        </p:nvSpPr>
        <p:spPr bwMode="auto">
          <a:xfrm flipV="1">
            <a:off x="3944938" y="1144588"/>
            <a:ext cx="863600" cy="195262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7" name="Line 41"/>
          <p:cNvSpPr>
            <a:spLocks noChangeShapeType="1"/>
          </p:cNvSpPr>
          <p:nvPr/>
        </p:nvSpPr>
        <p:spPr bwMode="auto">
          <a:xfrm>
            <a:off x="3800475" y="2132013"/>
            <a:ext cx="1008063" cy="900112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8" name="Line 45"/>
          <p:cNvSpPr>
            <a:spLocks noChangeShapeType="1"/>
          </p:cNvSpPr>
          <p:nvPr/>
        </p:nvSpPr>
        <p:spPr bwMode="auto">
          <a:xfrm>
            <a:off x="3729038" y="3644900"/>
            <a:ext cx="1079500" cy="720725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9" name="Line 49"/>
          <p:cNvSpPr>
            <a:spLocks noChangeShapeType="1"/>
          </p:cNvSpPr>
          <p:nvPr/>
        </p:nvSpPr>
        <p:spPr bwMode="auto">
          <a:xfrm>
            <a:off x="3513138" y="5157788"/>
            <a:ext cx="576262" cy="287337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0" name="Line 50"/>
          <p:cNvSpPr>
            <a:spLocks noChangeShapeType="1"/>
          </p:cNvSpPr>
          <p:nvPr/>
        </p:nvSpPr>
        <p:spPr bwMode="auto">
          <a:xfrm>
            <a:off x="3584575" y="4938713"/>
            <a:ext cx="576263" cy="290512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1" name="Line 51"/>
          <p:cNvSpPr>
            <a:spLocks noChangeShapeType="1"/>
          </p:cNvSpPr>
          <p:nvPr/>
        </p:nvSpPr>
        <p:spPr bwMode="auto">
          <a:xfrm>
            <a:off x="3440113" y="4579938"/>
            <a:ext cx="720725" cy="36195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2" name="Line 53"/>
          <p:cNvSpPr>
            <a:spLocks noChangeShapeType="1"/>
          </p:cNvSpPr>
          <p:nvPr/>
        </p:nvSpPr>
        <p:spPr bwMode="auto">
          <a:xfrm>
            <a:off x="3584575" y="4149725"/>
            <a:ext cx="576263" cy="2159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3" name="Rectangle 64"/>
          <p:cNvSpPr>
            <a:spLocks noChangeArrowheads="1"/>
          </p:cNvSpPr>
          <p:nvPr/>
        </p:nvSpPr>
        <p:spPr bwMode="auto">
          <a:xfrm>
            <a:off x="4160838" y="42211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34" name="Rectangle 74"/>
          <p:cNvSpPr>
            <a:spLocks noChangeArrowheads="1"/>
          </p:cNvSpPr>
          <p:nvPr/>
        </p:nvSpPr>
        <p:spPr bwMode="auto">
          <a:xfrm>
            <a:off x="4232275" y="908050"/>
            <a:ext cx="3127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35" name="Rectangle 75"/>
          <p:cNvSpPr>
            <a:spLocks noChangeArrowheads="1"/>
          </p:cNvSpPr>
          <p:nvPr/>
        </p:nvSpPr>
        <p:spPr bwMode="auto">
          <a:xfrm>
            <a:off x="4232275" y="22764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36" name="Rectangle 76"/>
          <p:cNvSpPr>
            <a:spLocks noChangeArrowheads="1"/>
          </p:cNvSpPr>
          <p:nvPr/>
        </p:nvSpPr>
        <p:spPr bwMode="auto">
          <a:xfrm>
            <a:off x="4089400" y="35734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37" name="Rectangle 82"/>
          <p:cNvSpPr>
            <a:spLocks noChangeArrowheads="1"/>
          </p:cNvSpPr>
          <p:nvPr/>
        </p:nvSpPr>
        <p:spPr bwMode="auto">
          <a:xfrm>
            <a:off x="3729038" y="4797425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38" name="Rectangle 84"/>
          <p:cNvSpPr>
            <a:spLocks noChangeArrowheads="1"/>
          </p:cNvSpPr>
          <p:nvPr/>
        </p:nvSpPr>
        <p:spPr bwMode="auto">
          <a:xfrm>
            <a:off x="3657600" y="3860800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39" name="Rectangle 89"/>
          <p:cNvSpPr>
            <a:spLocks noChangeArrowheads="1"/>
          </p:cNvSpPr>
          <p:nvPr/>
        </p:nvSpPr>
        <p:spPr bwMode="auto">
          <a:xfrm>
            <a:off x="3657600" y="5013325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40" name="Rectangle 92"/>
          <p:cNvSpPr>
            <a:spLocks noChangeArrowheads="1"/>
          </p:cNvSpPr>
          <p:nvPr/>
        </p:nvSpPr>
        <p:spPr bwMode="auto">
          <a:xfrm>
            <a:off x="3657600" y="44370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41" name="Rectangle 95"/>
          <p:cNvSpPr>
            <a:spLocks noChangeArrowheads="1"/>
          </p:cNvSpPr>
          <p:nvPr/>
        </p:nvSpPr>
        <p:spPr bwMode="auto">
          <a:xfrm>
            <a:off x="4160838" y="47244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42" name="Rectangle 97"/>
          <p:cNvSpPr>
            <a:spLocks noChangeArrowheads="1"/>
          </p:cNvSpPr>
          <p:nvPr/>
        </p:nvSpPr>
        <p:spPr bwMode="auto">
          <a:xfrm>
            <a:off x="4160838" y="50133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43" name="Rectangle 98"/>
          <p:cNvSpPr>
            <a:spLocks noChangeArrowheads="1"/>
          </p:cNvSpPr>
          <p:nvPr/>
        </p:nvSpPr>
        <p:spPr bwMode="auto">
          <a:xfrm>
            <a:off x="4160838" y="53006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97068" name="Group 108"/>
          <p:cNvGrpSpPr>
            <a:grpSpLocks/>
          </p:cNvGrpSpPr>
          <p:nvPr/>
        </p:nvGrpSpPr>
        <p:grpSpPr bwMode="auto">
          <a:xfrm>
            <a:off x="8482013" y="1117600"/>
            <a:ext cx="719137" cy="439738"/>
            <a:chOff x="5343" y="799"/>
            <a:chExt cx="453" cy="277"/>
          </a:xfrm>
        </p:grpSpPr>
        <p:sp>
          <p:nvSpPr>
            <p:cNvPr id="2" name="Line 57"/>
            <p:cNvSpPr>
              <a:spLocks noChangeShapeType="1"/>
            </p:cNvSpPr>
            <p:nvPr/>
          </p:nvSpPr>
          <p:spPr bwMode="auto">
            <a:xfrm>
              <a:off x="5388" y="981"/>
              <a:ext cx="181" cy="1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68"/>
            <p:cNvSpPr>
              <a:spLocks noChangeArrowheads="1"/>
            </p:cNvSpPr>
            <p:nvPr/>
          </p:nvSpPr>
          <p:spPr bwMode="auto">
            <a:xfrm>
              <a:off x="5584" y="845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  <a:endParaRPr lang="zh-CN" altLang="en-US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" name="Rectangle 103"/>
            <p:cNvSpPr>
              <a:spLocks noChangeArrowheads="1"/>
            </p:cNvSpPr>
            <p:nvPr/>
          </p:nvSpPr>
          <p:spPr bwMode="auto">
            <a:xfrm>
              <a:off x="5343" y="79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0066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endParaRPr lang="zh-CN" altLang="en-US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1999" name="Line 42"/>
          <p:cNvSpPr>
            <a:spLocks noChangeShapeType="1"/>
          </p:cNvSpPr>
          <p:nvPr/>
        </p:nvSpPr>
        <p:spPr bwMode="auto">
          <a:xfrm flipV="1">
            <a:off x="6176963" y="1125538"/>
            <a:ext cx="1081087" cy="149225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0" name="Line 43"/>
          <p:cNvSpPr>
            <a:spLocks noChangeShapeType="1"/>
          </p:cNvSpPr>
          <p:nvPr/>
        </p:nvSpPr>
        <p:spPr bwMode="auto">
          <a:xfrm>
            <a:off x="6176963" y="3067050"/>
            <a:ext cx="1008062" cy="7938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1" name="Line 44"/>
          <p:cNvSpPr>
            <a:spLocks noChangeShapeType="1"/>
          </p:cNvSpPr>
          <p:nvPr/>
        </p:nvSpPr>
        <p:spPr bwMode="auto">
          <a:xfrm flipV="1">
            <a:off x="6032500" y="4364038"/>
            <a:ext cx="1152525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2" name="Line 46"/>
          <p:cNvSpPr>
            <a:spLocks noChangeShapeType="1"/>
          </p:cNvSpPr>
          <p:nvPr/>
        </p:nvSpPr>
        <p:spPr bwMode="auto">
          <a:xfrm flipV="1">
            <a:off x="5889625" y="1771650"/>
            <a:ext cx="696913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3" name="Line 48"/>
          <p:cNvSpPr>
            <a:spLocks noChangeShapeType="1"/>
          </p:cNvSpPr>
          <p:nvPr/>
        </p:nvSpPr>
        <p:spPr bwMode="auto">
          <a:xfrm flipV="1">
            <a:off x="6176963" y="4724400"/>
            <a:ext cx="360362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4" name="Line 55"/>
          <p:cNvSpPr>
            <a:spLocks noChangeShapeType="1"/>
          </p:cNvSpPr>
          <p:nvPr/>
        </p:nvSpPr>
        <p:spPr bwMode="auto">
          <a:xfrm>
            <a:off x="6032500" y="2133600"/>
            <a:ext cx="576263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5" name="Line 56"/>
          <p:cNvSpPr>
            <a:spLocks noChangeShapeType="1"/>
          </p:cNvSpPr>
          <p:nvPr/>
        </p:nvSpPr>
        <p:spPr bwMode="auto">
          <a:xfrm flipV="1">
            <a:off x="5961063" y="2420938"/>
            <a:ext cx="647700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6" name="Line 58"/>
          <p:cNvSpPr>
            <a:spLocks noChangeShapeType="1"/>
          </p:cNvSpPr>
          <p:nvPr/>
        </p:nvSpPr>
        <p:spPr bwMode="auto">
          <a:xfrm>
            <a:off x="5961063" y="3746500"/>
            <a:ext cx="528637" cy="11113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7" name="Line 59"/>
          <p:cNvSpPr>
            <a:spLocks noChangeShapeType="1"/>
          </p:cNvSpPr>
          <p:nvPr/>
        </p:nvSpPr>
        <p:spPr bwMode="auto">
          <a:xfrm flipV="1">
            <a:off x="6032500" y="3429000"/>
            <a:ext cx="457200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8" name="Rectangle 67"/>
          <p:cNvSpPr>
            <a:spLocks noChangeArrowheads="1"/>
          </p:cNvSpPr>
          <p:nvPr/>
        </p:nvSpPr>
        <p:spPr bwMode="auto">
          <a:xfrm>
            <a:off x="6465888" y="45085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09" name="Rectangle 83"/>
          <p:cNvSpPr>
            <a:spLocks noChangeArrowheads="1"/>
          </p:cNvSpPr>
          <p:nvPr/>
        </p:nvSpPr>
        <p:spPr bwMode="auto">
          <a:xfrm>
            <a:off x="6080125" y="3379788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0" name="Rectangle 85"/>
          <p:cNvSpPr>
            <a:spLocks noChangeArrowheads="1"/>
          </p:cNvSpPr>
          <p:nvPr/>
        </p:nvSpPr>
        <p:spPr bwMode="auto">
          <a:xfrm>
            <a:off x="6421438" y="4005263"/>
            <a:ext cx="26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1" name="Rectangle 86"/>
          <p:cNvSpPr>
            <a:spLocks noChangeArrowheads="1"/>
          </p:cNvSpPr>
          <p:nvPr/>
        </p:nvSpPr>
        <p:spPr bwMode="auto">
          <a:xfrm>
            <a:off x="6565900" y="270192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2" name="Rectangle 87"/>
          <p:cNvSpPr>
            <a:spLocks noChangeArrowheads="1"/>
          </p:cNvSpPr>
          <p:nvPr/>
        </p:nvSpPr>
        <p:spPr bwMode="auto">
          <a:xfrm>
            <a:off x="6319838" y="8921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3" name="Rectangle 88"/>
          <p:cNvSpPr>
            <a:spLocks noChangeArrowheads="1"/>
          </p:cNvSpPr>
          <p:nvPr/>
        </p:nvSpPr>
        <p:spPr bwMode="auto">
          <a:xfrm>
            <a:off x="6105525" y="141287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4" name="Rectangle 90"/>
          <p:cNvSpPr>
            <a:spLocks noChangeArrowheads="1"/>
          </p:cNvSpPr>
          <p:nvPr/>
        </p:nvSpPr>
        <p:spPr bwMode="auto">
          <a:xfrm>
            <a:off x="6059488" y="213360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5" name="Rectangle 91"/>
          <p:cNvSpPr>
            <a:spLocks noChangeArrowheads="1"/>
          </p:cNvSpPr>
          <p:nvPr/>
        </p:nvSpPr>
        <p:spPr bwMode="auto">
          <a:xfrm>
            <a:off x="6105525" y="1773238"/>
            <a:ext cx="26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6" name="Rectangle 93"/>
          <p:cNvSpPr>
            <a:spLocks noChangeArrowheads="1"/>
          </p:cNvSpPr>
          <p:nvPr/>
        </p:nvSpPr>
        <p:spPr bwMode="auto">
          <a:xfrm>
            <a:off x="6032500" y="3068638"/>
            <a:ext cx="26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7" name="Rectangle 94"/>
          <p:cNvSpPr>
            <a:spLocks noChangeArrowheads="1"/>
          </p:cNvSpPr>
          <p:nvPr/>
        </p:nvSpPr>
        <p:spPr bwMode="auto">
          <a:xfrm>
            <a:off x="6608763" y="184467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8" name="Rectangle 96"/>
          <p:cNvSpPr>
            <a:spLocks noChangeArrowheads="1"/>
          </p:cNvSpPr>
          <p:nvPr/>
        </p:nvSpPr>
        <p:spPr bwMode="auto">
          <a:xfrm>
            <a:off x="6586538" y="15700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19" name="Rectangle 100"/>
          <p:cNvSpPr>
            <a:spLocks noChangeArrowheads="1"/>
          </p:cNvSpPr>
          <p:nvPr/>
        </p:nvSpPr>
        <p:spPr bwMode="auto">
          <a:xfrm>
            <a:off x="6586538" y="22050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20" name="Rectangle 101"/>
          <p:cNvSpPr>
            <a:spLocks noChangeArrowheads="1"/>
          </p:cNvSpPr>
          <p:nvPr/>
        </p:nvSpPr>
        <p:spPr bwMode="auto">
          <a:xfrm>
            <a:off x="6465888" y="361315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21" name="Rectangle 102"/>
          <p:cNvSpPr>
            <a:spLocks noChangeArrowheads="1"/>
          </p:cNvSpPr>
          <p:nvPr/>
        </p:nvSpPr>
        <p:spPr bwMode="auto">
          <a:xfrm>
            <a:off x="6513513" y="31972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endParaRPr lang="zh-CN" altLang="en-US" sz="1800" baseline="-250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2022" name="Rectangle 104"/>
          <p:cNvSpPr>
            <a:spLocks noChangeArrowheads="1"/>
          </p:cNvSpPr>
          <p:nvPr/>
        </p:nvSpPr>
        <p:spPr bwMode="auto">
          <a:xfrm>
            <a:off x="6176963" y="4437063"/>
            <a:ext cx="3127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endParaRPr lang="zh-CN" altLang="en-US" sz="1800">
              <a:solidFill>
                <a:srgbClr val="0066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7069" name="Rectangle 109"/>
          <p:cNvSpPr>
            <a:spLocks noChangeArrowheads="1"/>
          </p:cNvSpPr>
          <p:nvPr/>
        </p:nvSpPr>
        <p:spPr bwMode="auto">
          <a:xfrm>
            <a:off x="2359025" y="909638"/>
            <a:ext cx="2233613" cy="518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E’  E.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E.+T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	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 T.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T  T.*F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 F.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 (.E)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E  .E+T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E  .T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T  .T*F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T  .F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F  .(E)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F  .id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180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 id.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</p:txBody>
      </p:sp>
      <p:sp>
        <p:nvSpPr>
          <p:cNvPr id="5" name="Rectangle 111"/>
          <p:cNvSpPr>
            <a:spLocks noChangeArrowheads="1"/>
          </p:cNvSpPr>
          <p:nvPr/>
        </p:nvSpPr>
        <p:spPr bwMode="auto">
          <a:xfrm>
            <a:off x="273050" y="836613"/>
            <a:ext cx="433388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 b="1">
                <a:solidFill>
                  <a:srgbClr val="99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  <a:p>
            <a:pPr>
              <a:buFontTx/>
              <a:buNone/>
            </a:pPr>
            <a:r>
              <a:rPr lang="en-US" altLang="zh-CN" sz="1800" b="1">
                <a:solidFill>
                  <a:srgbClr val="99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  <a:p>
            <a:pPr>
              <a:buFontTx/>
              <a:buNone/>
            </a:pPr>
            <a:r>
              <a:rPr lang="en-US" altLang="zh-CN" sz="1800" b="1">
                <a:solidFill>
                  <a:srgbClr val="99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</a:p>
          <a:p>
            <a:pPr>
              <a:buFontTx/>
              <a:buNone/>
            </a:pPr>
            <a:r>
              <a:rPr lang="en-US" altLang="zh-CN" sz="1800" b="1">
                <a:solidFill>
                  <a:srgbClr val="99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</a:p>
          <a:p>
            <a:pPr>
              <a:buFontTx/>
              <a:buNone/>
            </a:pPr>
            <a:r>
              <a:rPr lang="en-US" altLang="zh-CN" sz="1800" b="1">
                <a:solidFill>
                  <a:srgbClr val="99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</a:p>
          <a:p>
            <a:pPr>
              <a:buFontTx/>
              <a:buNone/>
            </a:pPr>
            <a:r>
              <a:rPr lang="en-US" altLang="zh-CN" sz="1800" b="1">
                <a:solidFill>
                  <a:srgbClr val="99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6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6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6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69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69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7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7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70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70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70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70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70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70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70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9706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9706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9706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96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96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96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96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969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969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969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2969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969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2969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4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4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4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4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4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296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296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2969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 nodeType="clickPar">
                      <p:stCondLst>
                        <p:cond delay="indefinite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2969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 nodeType="clickPar">
                      <p:stCondLst>
                        <p:cond delay="indefinite"/>
                      </p:stCondLst>
                      <p:childTnLst>
                        <p:par>
                          <p:cTn id="3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29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49" grpId="0"/>
      <p:bldP spid="42050" grpId="0"/>
      <p:bldP spid="42051" grpId="0"/>
      <p:bldP spid="42052" grpId="0"/>
      <p:bldP spid="42053" grpId="0"/>
      <p:bldP spid="42033" grpId="0"/>
      <p:bldP spid="42034" grpId="0"/>
      <p:bldP spid="42035" grpId="0"/>
      <p:bldP spid="42036" grpId="0"/>
      <p:bldP spid="42037" grpId="0"/>
      <p:bldP spid="42038" grpId="0"/>
      <p:bldP spid="42039" grpId="0"/>
      <p:bldP spid="42040" grpId="0"/>
      <p:bldP spid="42041" grpId="0"/>
      <p:bldP spid="42042" grpId="0"/>
      <p:bldP spid="42043" grpId="0"/>
      <p:bldP spid="42008" grpId="0"/>
      <p:bldP spid="42009" grpId="0"/>
      <p:bldP spid="42010" grpId="0"/>
      <p:bldP spid="42011" grpId="0"/>
      <p:bldP spid="42012" grpId="0"/>
      <p:bldP spid="42013" grpId="0"/>
      <p:bldP spid="42014" grpId="0"/>
      <p:bldP spid="42015" grpId="0"/>
      <p:bldP spid="42016" grpId="0"/>
      <p:bldP spid="42017" grpId="0"/>
      <p:bldP spid="42018" grpId="0"/>
      <p:bldP spid="42019" grpId="0"/>
      <p:bldP spid="42020" grpId="0"/>
      <p:bldP spid="42021" grpId="0"/>
      <p:bldP spid="420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C0749B-EDBF-4CA0-B619-E6DED7AE573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80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Constructing SLR Parsing Table (P.227)</a:t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z="1800" smtClean="0">
                <a:ea typeface="宋体" panose="02010600030101010101" pitchFamily="2" charset="-122"/>
              </a:rPr>
              <a:t>(of an augumented grammar G’)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51054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 smtClean="0">
                <a:ea typeface="宋体" panose="02010600030101010101" pitchFamily="2" charset="-122"/>
              </a:rPr>
              <a:t>Construct the canonical collection of sets of LR(0) items  for G’.    	C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{I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,...,I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altLang="zh-CN" sz="1000" smtClean="0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 smtClean="0">
                <a:ea typeface="宋体" panose="02010600030101010101" pitchFamily="2" charset="-122"/>
              </a:rPr>
              <a:t>Create the parsing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action table</a:t>
            </a:r>
            <a:r>
              <a:rPr lang="en-US" altLang="zh-CN" smtClean="0">
                <a:ea typeface="宋体" panose="02010600030101010101" pitchFamily="2" charset="-122"/>
              </a:rPr>
              <a:t> as follows:</a:t>
            </a:r>
          </a:p>
          <a:p>
            <a:pPr marL="800100" lvl="1" indent="-342900">
              <a:lnSpc>
                <a:spcPct val="90000"/>
              </a:lnSpc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</a:rPr>
              <a:t>If  a is a terminal, 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.a in 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and goto(I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,a)=I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then action[i,a] is  </a:t>
            </a:r>
            <a:r>
              <a:rPr lang="en-US" altLang="zh-CN" sz="2000" b="1" i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shift j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800100" lvl="1" indent="-342900">
              <a:lnSpc>
                <a:spcPct val="90000"/>
              </a:lnSpc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 </a:t>
            </a:r>
            <a:r>
              <a:rPr lang="en-US" altLang="zh-CN" sz="2000" smtClean="0">
                <a:ea typeface="宋体" panose="02010600030101010101" pitchFamily="2" charset="-12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.  is in 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then action[i,a] is  </a:t>
            </a:r>
            <a:r>
              <a:rPr lang="en-US" altLang="zh-CN" sz="2000" b="1" i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reduce </a:t>
            </a:r>
            <a:r>
              <a:rPr lang="en-US" altLang="zh-CN" sz="2000" b="1" i="1" smtClean="0">
                <a:solidFill>
                  <a:srgbClr val="660066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 i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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for all a in FOLLOW(A)   where AS’.</a:t>
            </a:r>
          </a:p>
          <a:p>
            <a:pPr marL="800100" lvl="1" indent="-342900">
              <a:lnSpc>
                <a:spcPct val="90000"/>
              </a:lnSpc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 </a:t>
            </a:r>
            <a:r>
              <a:rPr lang="en-US" altLang="zh-CN" sz="2000" smtClean="0">
                <a:ea typeface="宋体" panose="02010600030101010101" pitchFamily="2" charset="-122"/>
              </a:rPr>
              <a:t>S’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S.  is in 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then action[i,$] is  </a:t>
            </a:r>
            <a:r>
              <a:rPr lang="en-US" altLang="zh-CN" sz="2000" b="1" i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accept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800100" lvl="1" indent="-342900">
              <a:lnSpc>
                <a:spcPct val="90000"/>
              </a:lnSpc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any conflicting actions generated by these rules, the grammar is not SLR(1).</a:t>
            </a:r>
          </a:p>
          <a:p>
            <a:pPr marL="457200" indent="-457200">
              <a:lnSpc>
                <a:spcPct val="90000"/>
              </a:lnSpc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 startAt="3"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Create the parsing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goto table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:</a:t>
            </a:r>
          </a:p>
          <a:p>
            <a:pPr marL="800100" lvl="1" indent="-342900">
              <a:lnSpc>
                <a:spcPct val="90000"/>
              </a:lnSpc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for all non-terminals A,  if goto(I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,A)=I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then goto[i,A]=j</a:t>
            </a:r>
          </a:p>
          <a:p>
            <a:pPr marL="457200" indent="-457200">
              <a:lnSpc>
                <a:spcPct val="90000"/>
              </a:lnSpc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 startAt="4"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All entries not defined by (2) and (3) are errors.</a:t>
            </a:r>
          </a:p>
          <a:p>
            <a:pPr marL="457200" indent="-457200">
              <a:lnSpc>
                <a:spcPct val="90000"/>
              </a:lnSpc>
              <a:buFontTx/>
              <a:buAutoNum type="arabicPeriod" startAt="4"/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 startAt="4"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Initial state of the parser contains  S’.S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9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9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9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9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99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99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7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990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4035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403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E03CD4-DC42-41C8-A7FC-0B3C495937EE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80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42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Parsing Tables of Expression Grammar</a:t>
            </a:r>
          </a:p>
        </p:txBody>
      </p:sp>
      <p:graphicFrame>
        <p:nvGraphicFramePr>
          <p:cNvPr id="300216" name="Group 184"/>
          <p:cNvGraphicFramePr>
            <a:graphicFrameLocks noGrp="1"/>
          </p:cNvGraphicFramePr>
          <p:nvPr/>
        </p:nvGraphicFramePr>
        <p:xfrm>
          <a:off x="2906713" y="1447800"/>
          <a:ext cx="5813425" cy="4760913"/>
        </p:xfrm>
        <a:graphic>
          <a:graphicData uri="http://schemas.openxmlformats.org/drawingml/2006/table">
            <a:tbl>
              <a:tblPr/>
              <a:tblGrid>
                <a:gridCol w="68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71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3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state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4208" name="Text Box 173"/>
          <p:cNvSpPr txBox="1">
            <a:spLocks noChangeArrowheads="1"/>
          </p:cNvSpPr>
          <p:nvPr/>
        </p:nvSpPr>
        <p:spPr bwMode="auto">
          <a:xfrm>
            <a:off x="3892550" y="908050"/>
            <a:ext cx="178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Action Table</a:t>
            </a:r>
          </a:p>
        </p:txBody>
      </p:sp>
      <p:sp>
        <p:nvSpPr>
          <p:cNvPr id="44209" name="Text Box 174"/>
          <p:cNvSpPr txBox="1">
            <a:spLocks noChangeArrowheads="1"/>
          </p:cNvSpPr>
          <p:nvPr/>
        </p:nvSpPr>
        <p:spPr bwMode="auto">
          <a:xfrm>
            <a:off x="7062788" y="908050"/>
            <a:ext cx="1562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Goto Table</a:t>
            </a:r>
          </a:p>
        </p:txBody>
      </p:sp>
      <p:sp>
        <p:nvSpPr>
          <p:cNvPr id="44210" name="Text Box 175"/>
          <p:cNvSpPr txBox="1">
            <a:spLocks noChangeArrowheads="1"/>
          </p:cNvSpPr>
          <p:nvPr/>
        </p:nvSpPr>
        <p:spPr bwMode="auto">
          <a:xfrm>
            <a:off x="415925" y="1447800"/>
            <a:ext cx="18478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1)   E  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2)   E  T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3)   T  T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4)   T  F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5)   F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6)   F 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30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EE949A-F822-422F-9C85-3AAED8A6072F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8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SLR(1) Grammar</a:t>
            </a: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An LR parser using SLR(1) parsing tables for a grammar G is called as the SLR(1) parser for G.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If a grammar G has an SLR(1) parsing table, it is called SLR(1) grammar (or SLR grammar in short).</a:t>
            </a: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Every SLR grammar is unambiguous, but every unambiguous grammar is not a SLR grammar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3E3906-D01D-44F4-AA95-1D2AA65E011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80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shift/reduce and reduce/reduce conflicts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893175" cy="408146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If a state does not know whether it will make a shift operation or reduction for a terminal, we say that there is a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shift/reduce conflict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If a state does not know whether it will make a reduction operation using the production rule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or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  <a:r>
              <a:rPr lang="en-US" altLang="zh-CN" smtClean="0">
                <a:ea typeface="宋体" panose="02010600030101010101" pitchFamily="2" charset="-122"/>
              </a:rPr>
              <a:t> for a terminal, we say that there is a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reduce/reduce conflict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If the SLR parsing table of a grammar G has a conflict, we say that that grammar is not SLR grammar.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7A2D6D-4EEF-499E-B624-56492EA80F6F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800"/>
          </a:p>
        </p:txBody>
      </p:sp>
      <p:sp>
        <p:nvSpPr>
          <p:cNvPr id="303109" name="Oval 5"/>
          <p:cNvSpPr>
            <a:spLocks noChangeArrowheads="1"/>
          </p:cNvSpPr>
          <p:nvPr/>
        </p:nvSpPr>
        <p:spPr bwMode="auto">
          <a:xfrm>
            <a:off x="4000500" y="1752600"/>
            <a:ext cx="1600200" cy="914400"/>
          </a:xfrm>
          <a:prstGeom prst="ellipse">
            <a:avLst/>
          </a:prstGeom>
          <a:solidFill>
            <a:srgbClr val="CC99FF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1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Conflict Example1 (P.229)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8488" y="1219200"/>
            <a:ext cx="8675687" cy="46577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S  L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R	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 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S’  .S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S’  S.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 L=.R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 L=R.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S  R		 S  .L=R			R  .L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L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R		 S  .R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 L.=R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L .*R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L 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L  .*R	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 L.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L  .id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R  L		 L  .id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 R  .L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 R.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  *.R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L  *R.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    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	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R  .L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L .*R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 L.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L  .id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  id.</a:t>
            </a:r>
            <a:endParaRPr lang="zh-CN" altLang="en-US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3108" name="Line 4"/>
          <p:cNvSpPr>
            <a:spLocks noChangeShapeType="1"/>
          </p:cNvSpPr>
          <p:nvPr/>
        </p:nvSpPr>
        <p:spPr bwMode="auto">
          <a:xfrm flipV="1">
            <a:off x="2432050" y="2636838"/>
            <a:ext cx="1944688" cy="13684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12" name="Rectangle 8"/>
          <p:cNvSpPr>
            <a:spLocks noChangeArrowheads="1"/>
          </p:cNvSpPr>
          <p:nvPr/>
        </p:nvSpPr>
        <p:spPr bwMode="auto">
          <a:xfrm>
            <a:off x="7832725" y="4856163"/>
            <a:ext cx="1512888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S  L=R	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S  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L *R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L  id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R  L</a:t>
            </a:r>
            <a:endParaRPr lang="zh-CN" altLang="en-US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03115" name="Group 11"/>
          <p:cNvGrpSpPr>
            <a:grpSpLocks/>
          </p:cNvGrpSpPr>
          <p:nvPr/>
        </p:nvGrpSpPr>
        <p:grpSpPr bwMode="auto">
          <a:xfrm>
            <a:off x="849313" y="3933825"/>
            <a:ext cx="3379787" cy="1465263"/>
            <a:chOff x="809" y="2507"/>
            <a:chExt cx="2129" cy="923"/>
          </a:xfrm>
        </p:grpSpPr>
        <p:sp>
          <p:nvSpPr>
            <p:cNvPr id="47148" name="Line 6"/>
            <p:cNvSpPr>
              <a:spLocks noChangeShapeType="1"/>
            </p:cNvSpPr>
            <p:nvPr/>
          </p:nvSpPr>
          <p:spPr bwMode="auto">
            <a:xfrm>
              <a:off x="809" y="2976"/>
              <a:ext cx="192" cy="0"/>
            </a:xfrm>
            <a:prstGeom prst="line">
              <a:avLst/>
            </a:prstGeom>
            <a:noFill/>
            <a:ln w="9525">
              <a:solidFill>
                <a:srgbClr val="66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9" name="Line 7"/>
            <p:cNvSpPr>
              <a:spLocks noChangeShapeType="1"/>
            </p:cNvSpPr>
            <p:nvPr/>
          </p:nvSpPr>
          <p:spPr bwMode="auto">
            <a:xfrm>
              <a:off x="809" y="2976"/>
              <a:ext cx="192" cy="192"/>
            </a:xfrm>
            <a:prstGeom prst="line">
              <a:avLst/>
            </a:prstGeom>
            <a:noFill/>
            <a:ln w="9525">
              <a:solidFill>
                <a:srgbClr val="66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0" name="Rectangle 9"/>
            <p:cNvSpPr>
              <a:spLocks noChangeArrowheads="1"/>
            </p:cNvSpPr>
            <p:nvPr/>
          </p:nvSpPr>
          <p:spPr bwMode="auto">
            <a:xfrm>
              <a:off x="1033" y="2507"/>
              <a:ext cx="1905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 </a:t>
              </a: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Problem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	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FOLLOW(R)={=,$}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=  	shift 6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	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	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reduce by R  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shift/reduce conflict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	</a:t>
              </a:r>
              <a:endParaRPr lang="zh-CN" altLang="en-US" sz="1800"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cxnSp>
        <p:nvCxnSpPr>
          <p:cNvPr id="47115" name="直接箭头连接符 2"/>
          <p:cNvCxnSpPr>
            <a:cxnSpLocks noChangeShapeType="1"/>
          </p:cNvCxnSpPr>
          <p:nvPr/>
        </p:nvCxnSpPr>
        <p:spPr bwMode="auto">
          <a:xfrm>
            <a:off x="3405188" y="1412875"/>
            <a:ext cx="59531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6" name="直接箭头连接符 4"/>
          <p:cNvCxnSpPr>
            <a:cxnSpLocks noChangeShapeType="1"/>
          </p:cNvCxnSpPr>
          <p:nvPr/>
        </p:nvCxnSpPr>
        <p:spPr bwMode="auto">
          <a:xfrm>
            <a:off x="3440113" y="1916113"/>
            <a:ext cx="560387" cy="730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7" name="直接箭头连接符 6"/>
          <p:cNvCxnSpPr>
            <a:cxnSpLocks noChangeShapeType="1"/>
          </p:cNvCxnSpPr>
          <p:nvPr/>
        </p:nvCxnSpPr>
        <p:spPr bwMode="auto">
          <a:xfrm>
            <a:off x="3297238" y="2133600"/>
            <a:ext cx="792162" cy="863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8" name="直接箭头连接符 8"/>
          <p:cNvCxnSpPr>
            <a:cxnSpLocks noChangeShapeType="1"/>
          </p:cNvCxnSpPr>
          <p:nvPr/>
        </p:nvCxnSpPr>
        <p:spPr bwMode="auto">
          <a:xfrm>
            <a:off x="3297238" y="2565400"/>
            <a:ext cx="792162" cy="1150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9" name="直接箭头连接符 10"/>
          <p:cNvCxnSpPr>
            <a:cxnSpLocks noChangeShapeType="1"/>
          </p:cNvCxnSpPr>
          <p:nvPr/>
        </p:nvCxnSpPr>
        <p:spPr bwMode="auto">
          <a:xfrm>
            <a:off x="3297238" y="2924175"/>
            <a:ext cx="863600" cy="23050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0" name="直接箭头连接符 12"/>
          <p:cNvCxnSpPr>
            <a:cxnSpLocks noChangeShapeType="1"/>
          </p:cNvCxnSpPr>
          <p:nvPr/>
        </p:nvCxnSpPr>
        <p:spPr bwMode="auto">
          <a:xfrm flipV="1">
            <a:off x="5529263" y="1484313"/>
            <a:ext cx="431800" cy="5048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1" name="直接箭头连接符 14"/>
          <p:cNvCxnSpPr>
            <a:cxnSpLocks noChangeShapeType="1"/>
          </p:cNvCxnSpPr>
          <p:nvPr/>
        </p:nvCxnSpPr>
        <p:spPr bwMode="auto">
          <a:xfrm>
            <a:off x="5240338" y="3716338"/>
            <a:ext cx="64928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2" name="直接箭头连接符 16"/>
          <p:cNvCxnSpPr>
            <a:cxnSpLocks noChangeShapeType="1"/>
          </p:cNvCxnSpPr>
          <p:nvPr/>
        </p:nvCxnSpPr>
        <p:spPr bwMode="auto">
          <a:xfrm>
            <a:off x="5097463" y="4076700"/>
            <a:ext cx="792162" cy="288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3" name="直接箭头连接符 18"/>
          <p:cNvCxnSpPr>
            <a:cxnSpLocks noChangeShapeType="1"/>
          </p:cNvCxnSpPr>
          <p:nvPr/>
        </p:nvCxnSpPr>
        <p:spPr bwMode="auto">
          <a:xfrm>
            <a:off x="5168900" y="4437063"/>
            <a:ext cx="792163" cy="546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4" name="直接箭头连接符 20"/>
          <p:cNvCxnSpPr>
            <a:cxnSpLocks noChangeShapeType="1"/>
          </p:cNvCxnSpPr>
          <p:nvPr/>
        </p:nvCxnSpPr>
        <p:spPr bwMode="auto">
          <a:xfrm>
            <a:off x="5168900" y="4830763"/>
            <a:ext cx="792163" cy="7588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5" name="直接箭头连接符 22"/>
          <p:cNvCxnSpPr>
            <a:cxnSpLocks noChangeShapeType="1"/>
          </p:cNvCxnSpPr>
          <p:nvPr/>
        </p:nvCxnSpPr>
        <p:spPr bwMode="auto">
          <a:xfrm>
            <a:off x="7256463" y="1412875"/>
            <a:ext cx="43338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26" name="矩形 23"/>
          <p:cNvSpPr>
            <a:spLocks noChangeArrowheads="1"/>
          </p:cNvSpPr>
          <p:nvPr/>
        </p:nvSpPr>
        <p:spPr bwMode="auto">
          <a:xfrm>
            <a:off x="5961063" y="4840288"/>
            <a:ext cx="338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7127" name="矩形 36"/>
          <p:cNvSpPr>
            <a:spLocks noChangeArrowheads="1"/>
          </p:cNvSpPr>
          <p:nvPr/>
        </p:nvSpPr>
        <p:spPr bwMode="auto">
          <a:xfrm>
            <a:off x="6003925" y="5461000"/>
            <a:ext cx="339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cxnSp>
        <p:nvCxnSpPr>
          <p:cNvPr id="47128" name="直接箭头连接符 25"/>
          <p:cNvCxnSpPr>
            <a:cxnSpLocks noChangeShapeType="1"/>
          </p:cNvCxnSpPr>
          <p:nvPr/>
        </p:nvCxnSpPr>
        <p:spPr bwMode="auto">
          <a:xfrm>
            <a:off x="7040563" y="1752600"/>
            <a:ext cx="649287" cy="1174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9" name="直接箭头连接符 27"/>
          <p:cNvCxnSpPr>
            <a:cxnSpLocks noChangeShapeType="1"/>
          </p:cNvCxnSpPr>
          <p:nvPr/>
        </p:nvCxnSpPr>
        <p:spPr bwMode="auto">
          <a:xfrm>
            <a:off x="7040563" y="2133600"/>
            <a:ext cx="649287" cy="1079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30" name="直接箭头连接符 303103"/>
          <p:cNvCxnSpPr>
            <a:cxnSpLocks noChangeShapeType="1"/>
          </p:cNvCxnSpPr>
          <p:nvPr/>
        </p:nvCxnSpPr>
        <p:spPr bwMode="auto">
          <a:xfrm>
            <a:off x="6969125" y="2492375"/>
            <a:ext cx="720725" cy="1444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31" name="矩形 45"/>
          <p:cNvSpPr>
            <a:spLocks noChangeArrowheads="1"/>
          </p:cNvSpPr>
          <p:nvPr/>
        </p:nvSpPr>
        <p:spPr bwMode="auto">
          <a:xfrm>
            <a:off x="7799388" y="2492375"/>
            <a:ext cx="338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7132" name="矩形 46"/>
          <p:cNvSpPr>
            <a:spLocks noChangeArrowheads="1"/>
          </p:cNvSpPr>
          <p:nvPr/>
        </p:nvSpPr>
        <p:spPr bwMode="auto">
          <a:xfrm>
            <a:off x="7754938" y="2076450"/>
            <a:ext cx="338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7133" name="矩形 47"/>
          <p:cNvSpPr>
            <a:spLocks noChangeArrowheads="1"/>
          </p:cNvSpPr>
          <p:nvPr/>
        </p:nvSpPr>
        <p:spPr bwMode="auto">
          <a:xfrm>
            <a:off x="7785100" y="1685925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7134" name="矩形 48"/>
          <p:cNvSpPr>
            <a:spLocks noChangeArrowheads="1"/>
          </p:cNvSpPr>
          <p:nvPr/>
        </p:nvSpPr>
        <p:spPr bwMode="auto">
          <a:xfrm>
            <a:off x="3440113" y="1042988"/>
            <a:ext cx="2984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35" name="矩形 49"/>
          <p:cNvSpPr>
            <a:spLocks noChangeArrowheads="1"/>
          </p:cNvSpPr>
          <p:nvPr/>
        </p:nvSpPr>
        <p:spPr bwMode="auto">
          <a:xfrm>
            <a:off x="3592513" y="1660525"/>
            <a:ext cx="3111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36" name="矩形 50"/>
          <p:cNvSpPr>
            <a:spLocks noChangeArrowheads="1"/>
          </p:cNvSpPr>
          <p:nvPr/>
        </p:nvSpPr>
        <p:spPr bwMode="auto">
          <a:xfrm>
            <a:off x="3592513" y="2241550"/>
            <a:ext cx="298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37" name="矩形 51"/>
          <p:cNvSpPr>
            <a:spLocks noChangeArrowheads="1"/>
          </p:cNvSpPr>
          <p:nvPr/>
        </p:nvSpPr>
        <p:spPr bwMode="auto">
          <a:xfrm>
            <a:off x="5480050" y="1473200"/>
            <a:ext cx="298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38" name="矩形 52"/>
          <p:cNvSpPr>
            <a:spLocks noChangeArrowheads="1"/>
          </p:cNvSpPr>
          <p:nvPr/>
        </p:nvSpPr>
        <p:spPr bwMode="auto">
          <a:xfrm>
            <a:off x="5380038" y="3344863"/>
            <a:ext cx="3206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39" name="矩形 53"/>
          <p:cNvSpPr>
            <a:spLocks noChangeArrowheads="1"/>
          </p:cNvSpPr>
          <p:nvPr/>
        </p:nvSpPr>
        <p:spPr bwMode="auto">
          <a:xfrm>
            <a:off x="3616325" y="3667125"/>
            <a:ext cx="3460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0" name="矩形 54"/>
          <p:cNvSpPr>
            <a:spLocks noChangeArrowheads="1"/>
          </p:cNvSpPr>
          <p:nvPr/>
        </p:nvSpPr>
        <p:spPr bwMode="auto">
          <a:xfrm>
            <a:off x="3605213" y="2827338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1" name="矩形 58"/>
          <p:cNvSpPr>
            <a:spLocks noChangeArrowheads="1"/>
          </p:cNvSpPr>
          <p:nvPr/>
        </p:nvSpPr>
        <p:spPr bwMode="auto">
          <a:xfrm>
            <a:off x="5480050" y="4918075"/>
            <a:ext cx="3444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2" name="矩形 59"/>
          <p:cNvSpPr>
            <a:spLocks noChangeArrowheads="1"/>
          </p:cNvSpPr>
          <p:nvPr/>
        </p:nvSpPr>
        <p:spPr bwMode="auto">
          <a:xfrm>
            <a:off x="5434013" y="4437063"/>
            <a:ext cx="2984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3" name="矩形 60"/>
          <p:cNvSpPr>
            <a:spLocks noChangeArrowheads="1"/>
          </p:cNvSpPr>
          <p:nvPr/>
        </p:nvSpPr>
        <p:spPr bwMode="auto">
          <a:xfrm>
            <a:off x="5434013" y="3940175"/>
            <a:ext cx="3095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4" name="矩形 61"/>
          <p:cNvSpPr>
            <a:spLocks noChangeArrowheads="1"/>
          </p:cNvSpPr>
          <p:nvPr/>
        </p:nvSpPr>
        <p:spPr bwMode="auto">
          <a:xfrm>
            <a:off x="7256463" y="2279650"/>
            <a:ext cx="346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5" name="矩形 62"/>
          <p:cNvSpPr>
            <a:spLocks noChangeArrowheads="1"/>
          </p:cNvSpPr>
          <p:nvPr/>
        </p:nvSpPr>
        <p:spPr bwMode="auto">
          <a:xfrm>
            <a:off x="7216775" y="1901825"/>
            <a:ext cx="2984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6" name="矩形 63"/>
          <p:cNvSpPr>
            <a:spLocks noChangeArrowheads="1"/>
          </p:cNvSpPr>
          <p:nvPr/>
        </p:nvSpPr>
        <p:spPr bwMode="auto">
          <a:xfrm>
            <a:off x="7256463" y="1566863"/>
            <a:ext cx="311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47147" name="矩形 64"/>
          <p:cNvSpPr>
            <a:spLocks noChangeArrowheads="1"/>
          </p:cNvSpPr>
          <p:nvPr/>
        </p:nvSpPr>
        <p:spPr bwMode="auto">
          <a:xfrm>
            <a:off x="7299325" y="1074738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zh-CN" altLang="en-US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500"/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500"/>
                                        <p:tgtEl>
                                          <p:spTgt spid="303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303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500"/>
                                        <p:tgtEl>
                                          <p:spTgt spid="303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500"/>
                                        <p:tgtEl>
                                          <p:spTgt spid="303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500"/>
                                        <p:tgtEl>
                                          <p:spTgt spid="303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500"/>
                                        <p:tgtEl>
                                          <p:spTgt spid="303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20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9" grpId="0" animBg="1"/>
      <p:bldP spid="303107" grpId="0" build="p"/>
      <p:bldP spid="3031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813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813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81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50F526-475B-4633-B1D7-23E590B445E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800"/>
          </a:p>
        </p:txBody>
      </p:sp>
      <p:graphicFrame>
        <p:nvGraphicFramePr>
          <p:cNvPr id="7" name="Group 171"/>
          <p:cNvGraphicFramePr>
            <a:graphicFrameLocks noGrp="1"/>
          </p:cNvGraphicFramePr>
          <p:nvPr/>
        </p:nvGraphicFramePr>
        <p:xfrm>
          <a:off x="2505075" y="1484313"/>
          <a:ext cx="4548188" cy="3721100"/>
        </p:xfrm>
        <a:graphic>
          <a:graphicData uri="http://schemas.openxmlformats.org/drawingml/2006/table">
            <a:tbl>
              <a:tblPr/>
              <a:tblGrid>
                <a:gridCol w="431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r3,r4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r3,r4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s8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s9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49155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49156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12447A-E737-469A-8A09-DD2C2763C5B8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80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Exercise-Review LL(1) </a:t>
            </a:r>
          </a:p>
        </p:txBody>
      </p:sp>
      <p:graphicFrame>
        <p:nvGraphicFramePr>
          <p:cNvPr id="364547" name="Group 3"/>
          <p:cNvGraphicFramePr>
            <a:graphicFrameLocks noGrp="1"/>
          </p:cNvGraphicFramePr>
          <p:nvPr>
            <p:ph sz="half" idx="1"/>
          </p:nvPr>
        </p:nvGraphicFramePr>
        <p:xfrm>
          <a:off x="4232275" y="1268413"/>
          <a:ext cx="3924300" cy="1633537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*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$, =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*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$, 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4569" name="Group 25"/>
          <p:cNvGraphicFramePr>
            <a:graphicFrameLocks noGrp="1"/>
          </p:cNvGraphicFramePr>
          <p:nvPr>
            <p:ph sz="half" idx="2"/>
          </p:nvPr>
        </p:nvGraphicFramePr>
        <p:xfrm>
          <a:off x="4160838" y="3716338"/>
          <a:ext cx="4032250" cy="2052637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1, 2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1, 2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207" name="Rectangle 52"/>
          <p:cNvSpPr>
            <a:spLocks noChangeArrowheads="1"/>
          </p:cNvSpPr>
          <p:nvPr/>
        </p:nvSpPr>
        <p:spPr bwMode="auto">
          <a:xfrm>
            <a:off x="560388" y="1341438"/>
            <a:ext cx="2720975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产生式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1. S  L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R	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2. S  R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3. L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4. L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5. R  L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9208" name="Rectangle 53"/>
          <p:cNvSpPr>
            <a:spLocks noChangeArrowheads="1"/>
          </p:cNvSpPr>
          <p:nvPr/>
        </p:nvSpPr>
        <p:spPr bwMode="auto">
          <a:xfrm>
            <a:off x="4521200" y="3213100"/>
            <a:ext cx="182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LL(1)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分析表</a:t>
            </a:r>
            <a:endParaRPr lang="zh-CN" altLang="en-US" b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64598" name="Rectangle 54"/>
          <p:cNvSpPr>
            <a:spLocks noChangeArrowheads="1"/>
          </p:cNvSpPr>
          <p:nvPr/>
        </p:nvSpPr>
        <p:spPr bwMode="auto">
          <a:xfrm>
            <a:off x="2366963" y="5949950"/>
            <a:ext cx="647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chemeClr val="accent2"/>
                </a:solidFill>
                <a:ea typeface="宋体" panose="02010600030101010101" pitchFamily="2" charset="-122"/>
              </a:rPr>
              <a:t>因为表项有冲突 ，所以该文法不是</a:t>
            </a:r>
            <a:r>
              <a:rPr kumimoji="1"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LL(1)</a:t>
            </a:r>
            <a:r>
              <a:rPr kumimoji="1" lang="zh-CN" altLang="en-US">
                <a:solidFill>
                  <a:schemeClr val="accent2"/>
                </a:solidFill>
                <a:ea typeface="宋体" panose="02010600030101010101" pitchFamily="2" charset="-122"/>
              </a:rPr>
              <a:t>文法。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6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6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9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C0F45A-02AC-4362-A347-0AE57705814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800"/>
          </a:p>
        </p:txBody>
      </p:sp>
      <p:sp>
        <p:nvSpPr>
          <p:cNvPr id="304134" name="Oval 6"/>
          <p:cNvSpPr>
            <a:spLocks noChangeArrowheads="1"/>
          </p:cNvSpPr>
          <p:nvPr/>
        </p:nvSpPr>
        <p:spPr bwMode="auto">
          <a:xfrm>
            <a:off x="3922713" y="990600"/>
            <a:ext cx="1905000" cy="20574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Conflict Example2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2913" y="1219200"/>
            <a:ext cx="6804025" cy="458628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S  A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       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	S’  .S 	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S  B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S  .AaAb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A  			S  .BbBa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B   			A  .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	B  .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Problem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FOLLOW(A)={a,b}</a:t>
            </a:r>
          </a:p>
          <a:p>
            <a:pPr>
              <a:buFontTx/>
              <a:buNone/>
            </a:pPr>
            <a:r>
              <a:rPr lang="en-US" altLang="zh-CN" sz="18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FOLLOW(B)={a,b}</a:t>
            </a:r>
          </a:p>
          <a:p>
            <a:pPr>
              <a:buFontTx/>
              <a:buNone/>
            </a:pPr>
            <a:r>
              <a:rPr lang="en-US" altLang="zh-CN" sz="18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a	reduce by A  		 b	reduce by A  </a:t>
            </a:r>
          </a:p>
          <a:p>
            <a:pPr>
              <a:buFontTx/>
              <a:buNone/>
            </a:pPr>
            <a:r>
              <a:rPr lang="en-US" altLang="zh-CN" sz="18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reduce by B  			reduce by B  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reduce/reduce conflict		reduce/reduce conflict</a:t>
            </a:r>
          </a:p>
        </p:txBody>
      </p:sp>
      <p:sp>
        <p:nvSpPr>
          <p:cNvPr id="304133" name="Line 5"/>
          <p:cNvSpPr>
            <a:spLocks noChangeShapeType="1"/>
          </p:cNvSpPr>
          <p:nvPr/>
        </p:nvSpPr>
        <p:spPr bwMode="auto">
          <a:xfrm flipV="1">
            <a:off x="3008313" y="2514600"/>
            <a:ext cx="990600" cy="9906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4135" name="Line 7"/>
          <p:cNvSpPr>
            <a:spLocks noChangeShapeType="1"/>
          </p:cNvSpPr>
          <p:nvPr/>
        </p:nvSpPr>
        <p:spPr bwMode="auto">
          <a:xfrm>
            <a:off x="2322513" y="4724400"/>
            <a:ext cx="381000" cy="0"/>
          </a:xfrm>
          <a:prstGeom prst="line">
            <a:avLst/>
          </a:prstGeom>
          <a:noFill/>
          <a:ln w="952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4136" name="Line 8"/>
          <p:cNvSpPr>
            <a:spLocks noChangeShapeType="1"/>
          </p:cNvSpPr>
          <p:nvPr/>
        </p:nvSpPr>
        <p:spPr bwMode="auto">
          <a:xfrm>
            <a:off x="2322513" y="4724400"/>
            <a:ext cx="381000" cy="381000"/>
          </a:xfrm>
          <a:prstGeom prst="line">
            <a:avLst/>
          </a:prstGeom>
          <a:noFill/>
          <a:ln w="952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4137" name="Line 9"/>
          <p:cNvSpPr>
            <a:spLocks noChangeShapeType="1"/>
          </p:cNvSpPr>
          <p:nvPr/>
        </p:nvSpPr>
        <p:spPr bwMode="auto">
          <a:xfrm>
            <a:off x="5751513" y="4724400"/>
            <a:ext cx="609600" cy="0"/>
          </a:xfrm>
          <a:prstGeom prst="line">
            <a:avLst/>
          </a:prstGeom>
          <a:noFill/>
          <a:ln w="952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4138" name="Line 10"/>
          <p:cNvSpPr>
            <a:spLocks noChangeShapeType="1"/>
          </p:cNvSpPr>
          <p:nvPr/>
        </p:nvSpPr>
        <p:spPr bwMode="auto">
          <a:xfrm>
            <a:off x="5751513" y="4724400"/>
            <a:ext cx="609600" cy="381000"/>
          </a:xfrm>
          <a:prstGeom prst="line">
            <a:avLst/>
          </a:prstGeom>
          <a:noFill/>
          <a:ln w="952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4139" name="Rectangle 11"/>
          <p:cNvSpPr>
            <a:spLocks noChangeArrowheads="1"/>
          </p:cNvSpPr>
          <p:nvPr/>
        </p:nvSpPr>
        <p:spPr bwMode="auto">
          <a:xfrm>
            <a:off x="4089400" y="1125538"/>
            <a:ext cx="15843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S  AaAb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S  BbBa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  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B  </a:t>
            </a:r>
            <a:endParaRPr lang="zh-CN" altLang="en-US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0190" name="Rectangle 12"/>
          <p:cNvSpPr>
            <a:spLocks noChangeArrowheads="1"/>
          </p:cNvSpPr>
          <p:nvPr/>
        </p:nvSpPr>
        <p:spPr bwMode="auto">
          <a:xfrm>
            <a:off x="6753225" y="549275"/>
            <a:ext cx="226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Cf. P.273 4.37 a)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04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04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04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04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04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04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4" grpId="0" animBg="1"/>
      <p:bldP spid="304131" grpId="0" build="p"/>
      <p:bldP spid="30413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B6F704-BB54-4693-A241-35DBA241992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80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Canonical LR(0) Collection – Example2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925" y="2852738"/>
            <a:ext cx="2303463" cy="2160587"/>
          </a:xfrm>
        </p:spPr>
        <p:txBody>
          <a:bodyPr/>
          <a:lstStyle/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 S  Aa.Ab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    A  . 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 S  Bb.Ba 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    B  . </a:t>
            </a:r>
          </a:p>
        </p:txBody>
      </p:sp>
      <p:grpSp>
        <p:nvGrpSpPr>
          <p:cNvPr id="312347" name="Group 27"/>
          <p:cNvGrpSpPr>
            <a:grpSpLocks/>
          </p:cNvGrpSpPr>
          <p:nvPr/>
        </p:nvGrpSpPr>
        <p:grpSpPr bwMode="auto">
          <a:xfrm>
            <a:off x="4876800" y="1257300"/>
            <a:ext cx="990600" cy="1485900"/>
            <a:chOff x="3072" y="792"/>
            <a:chExt cx="624" cy="936"/>
          </a:xfrm>
        </p:grpSpPr>
        <p:sp>
          <p:nvSpPr>
            <p:cNvPr id="51229" name="Line 4"/>
            <p:cNvSpPr>
              <a:spLocks noChangeShapeType="1"/>
            </p:cNvSpPr>
            <p:nvPr/>
          </p:nvSpPr>
          <p:spPr bwMode="auto">
            <a:xfrm flipV="1">
              <a:off x="3072" y="960"/>
              <a:ext cx="62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0" name="Line 6"/>
            <p:cNvSpPr>
              <a:spLocks noChangeShapeType="1"/>
            </p:cNvSpPr>
            <p:nvPr/>
          </p:nvSpPr>
          <p:spPr bwMode="auto">
            <a:xfrm>
              <a:off x="3072" y="1008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1" name="Line 7"/>
            <p:cNvSpPr>
              <a:spLocks noChangeShapeType="1"/>
            </p:cNvSpPr>
            <p:nvPr/>
          </p:nvSpPr>
          <p:spPr bwMode="auto">
            <a:xfrm>
              <a:off x="3072" y="1008"/>
              <a:ext cx="62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2" name="Text Box 14"/>
            <p:cNvSpPr txBox="1">
              <a:spLocks noChangeArrowheads="1"/>
            </p:cNvSpPr>
            <p:nvPr/>
          </p:nvSpPr>
          <p:spPr bwMode="auto">
            <a:xfrm>
              <a:off x="3206" y="79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51233" name="Text Box 15"/>
            <p:cNvSpPr txBox="1">
              <a:spLocks noChangeArrowheads="1"/>
            </p:cNvSpPr>
            <p:nvPr/>
          </p:nvSpPr>
          <p:spPr bwMode="auto">
            <a:xfrm>
              <a:off x="3408" y="1008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1234" name="Text Box 16"/>
            <p:cNvSpPr txBox="1">
              <a:spLocks noChangeArrowheads="1"/>
            </p:cNvSpPr>
            <p:nvPr/>
          </p:nvSpPr>
          <p:spPr bwMode="auto">
            <a:xfrm>
              <a:off x="3456" y="1344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12349" name="Group 29"/>
          <p:cNvGrpSpPr>
            <a:grpSpLocks/>
          </p:cNvGrpSpPr>
          <p:nvPr/>
        </p:nvGrpSpPr>
        <p:grpSpPr bwMode="auto">
          <a:xfrm>
            <a:off x="2133600" y="3124200"/>
            <a:ext cx="990600" cy="1357313"/>
            <a:chOff x="1344" y="1968"/>
            <a:chExt cx="624" cy="855"/>
          </a:xfrm>
        </p:grpSpPr>
        <p:sp>
          <p:nvSpPr>
            <p:cNvPr id="51225" name="Line 8"/>
            <p:cNvSpPr>
              <a:spLocks noChangeShapeType="1"/>
            </p:cNvSpPr>
            <p:nvPr/>
          </p:nvSpPr>
          <p:spPr bwMode="auto">
            <a:xfrm>
              <a:off x="1344" y="21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6" name="Line 9"/>
            <p:cNvSpPr>
              <a:spLocks noChangeShapeType="1"/>
            </p:cNvSpPr>
            <p:nvPr/>
          </p:nvSpPr>
          <p:spPr bwMode="auto">
            <a:xfrm>
              <a:off x="1344" y="278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7" name="Text Box 20"/>
            <p:cNvSpPr txBox="1">
              <a:spLocks noChangeArrowheads="1"/>
            </p:cNvSpPr>
            <p:nvPr/>
          </p:nvSpPr>
          <p:spPr bwMode="auto">
            <a:xfrm>
              <a:off x="1440" y="1968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1228" name="Text Box 21"/>
            <p:cNvSpPr txBox="1">
              <a:spLocks noChangeArrowheads="1"/>
            </p:cNvSpPr>
            <p:nvPr/>
          </p:nvSpPr>
          <p:spPr bwMode="auto">
            <a:xfrm>
              <a:off x="1488" y="2592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12350" name="Group 30"/>
          <p:cNvGrpSpPr>
            <a:grpSpLocks/>
          </p:cNvGrpSpPr>
          <p:nvPr/>
        </p:nvGrpSpPr>
        <p:grpSpPr bwMode="auto">
          <a:xfrm>
            <a:off x="4876800" y="3124200"/>
            <a:ext cx="1066800" cy="1357313"/>
            <a:chOff x="3072" y="1968"/>
            <a:chExt cx="672" cy="855"/>
          </a:xfrm>
        </p:grpSpPr>
        <p:sp>
          <p:nvSpPr>
            <p:cNvPr id="51221" name="Line 10"/>
            <p:cNvSpPr>
              <a:spLocks noChangeShapeType="1"/>
            </p:cNvSpPr>
            <p:nvPr/>
          </p:nvSpPr>
          <p:spPr bwMode="auto">
            <a:xfrm>
              <a:off x="3120" y="21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2" name="Line 11"/>
            <p:cNvSpPr>
              <a:spLocks noChangeShapeType="1"/>
            </p:cNvSpPr>
            <p:nvPr/>
          </p:nvSpPr>
          <p:spPr bwMode="auto">
            <a:xfrm>
              <a:off x="3072" y="278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3" name="Text Box 22"/>
            <p:cNvSpPr txBox="1">
              <a:spLocks noChangeArrowheads="1"/>
            </p:cNvSpPr>
            <p:nvPr/>
          </p:nvSpPr>
          <p:spPr bwMode="auto">
            <a:xfrm>
              <a:off x="3264" y="196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51224" name="Text Box 23"/>
            <p:cNvSpPr txBox="1">
              <a:spLocks noChangeArrowheads="1"/>
            </p:cNvSpPr>
            <p:nvPr/>
          </p:nvSpPr>
          <p:spPr bwMode="auto">
            <a:xfrm>
              <a:off x="3264" y="2592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312348" name="Group 28"/>
          <p:cNvGrpSpPr>
            <a:grpSpLocks/>
          </p:cNvGrpSpPr>
          <p:nvPr/>
        </p:nvGrpSpPr>
        <p:grpSpPr bwMode="auto">
          <a:xfrm>
            <a:off x="7620000" y="1752600"/>
            <a:ext cx="1409700" cy="1128713"/>
            <a:chOff x="4800" y="1104"/>
            <a:chExt cx="888" cy="711"/>
          </a:xfrm>
        </p:grpSpPr>
        <p:sp>
          <p:nvSpPr>
            <p:cNvPr id="51215" name="Line 12"/>
            <p:cNvSpPr>
              <a:spLocks noChangeShapeType="1"/>
            </p:cNvSpPr>
            <p:nvPr/>
          </p:nvSpPr>
          <p:spPr bwMode="auto">
            <a:xfrm>
              <a:off x="4800" y="12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6" name="Line 13"/>
            <p:cNvSpPr>
              <a:spLocks noChangeShapeType="1"/>
            </p:cNvSpPr>
            <p:nvPr/>
          </p:nvSpPr>
          <p:spPr bwMode="auto">
            <a:xfrm>
              <a:off x="4800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7" name="Text Box 17"/>
            <p:cNvSpPr txBox="1">
              <a:spLocks noChangeArrowheads="1"/>
            </p:cNvSpPr>
            <p:nvPr/>
          </p:nvSpPr>
          <p:spPr bwMode="auto">
            <a:xfrm>
              <a:off x="4848" y="1104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1218" name="Text Box 18"/>
            <p:cNvSpPr txBox="1">
              <a:spLocks noChangeArrowheads="1"/>
            </p:cNvSpPr>
            <p:nvPr/>
          </p:nvSpPr>
          <p:spPr bwMode="auto">
            <a:xfrm>
              <a:off x="4848" y="153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51219" name="Text Box 25"/>
            <p:cNvSpPr txBox="1">
              <a:spLocks noChangeArrowheads="1"/>
            </p:cNvSpPr>
            <p:nvPr/>
          </p:nvSpPr>
          <p:spPr bwMode="auto">
            <a:xfrm>
              <a:off x="5280" y="1152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20" name="Text Box 26"/>
            <p:cNvSpPr txBox="1">
              <a:spLocks noChangeArrowheads="1"/>
            </p:cNvSpPr>
            <p:nvPr/>
          </p:nvSpPr>
          <p:spPr bwMode="auto">
            <a:xfrm>
              <a:off x="5328" y="1584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12351" name="Rectangle 31"/>
          <p:cNvSpPr>
            <a:spLocks noChangeArrowheads="1"/>
          </p:cNvSpPr>
          <p:nvPr/>
        </p:nvSpPr>
        <p:spPr bwMode="auto">
          <a:xfrm>
            <a:off x="5889625" y="1341438"/>
            <a:ext cx="2016125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I1: S’  S.  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I2: S  A.aAb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I3: S  B.bBa </a:t>
            </a:r>
          </a:p>
        </p:txBody>
      </p:sp>
      <p:sp>
        <p:nvSpPr>
          <p:cNvPr id="312352" name="Rectangle 32"/>
          <p:cNvSpPr>
            <a:spLocks noChangeArrowheads="1"/>
          </p:cNvSpPr>
          <p:nvPr/>
        </p:nvSpPr>
        <p:spPr bwMode="auto">
          <a:xfrm>
            <a:off x="631825" y="1125538"/>
            <a:ext cx="4392613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1)S  A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      I0:	S’  .S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2)S  B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S  .AaAb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3)A  			S  .BbBa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4)B  			A  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	B  . 	</a:t>
            </a:r>
          </a:p>
        </p:txBody>
      </p:sp>
      <p:sp>
        <p:nvSpPr>
          <p:cNvPr id="312353" name="Rectangle 33"/>
          <p:cNvSpPr>
            <a:spLocks noChangeArrowheads="1"/>
          </p:cNvSpPr>
          <p:nvPr/>
        </p:nvSpPr>
        <p:spPr bwMode="auto">
          <a:xfrm>
            <a:off x="3081338" y="2852738"/>
            <a:ext cx="2233612" cy="192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AaA.b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BbB.a </a:t>
            </a:r>
          </a:p>
        </p:txBody>
      </p:sp>
      <p:sp>
        <p:nvSpPr>
          <p:cNvPr id="312354" name="Rectangle 34"/>
          <p:cNvSpPr>
            <a:spLocks noChangeArrowheads="1"/>
          </p:cNvSpPr>
          <p:nvPr/>
        </p:nvSpPr>
        <p:spPr bwMode="auto">
          <a:xfrm>
            <a:off x="5961063" y="2852738"/>
            <a:ext cx="2160587" cy="192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AaAb.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BbBa.	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1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1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1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1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1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1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31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31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build="p"/>
      <p:bldP spid="312351" grpId="0"/>
      <p:bldP spid="312352" grpId="0"/>
      <p:bldP spid="312353" grpId="0"/>
      <p:bldP spid="31235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2227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2228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C1A11F-1DED-4A0C-A299-A512ED6B23C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800"/>
          </a:p>
        </p:txBody>
      </p:sp>
      <p:sp>
        <p:nvSpPr>
          <p:cNvPr id="52229" name="Rectangle 5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Exercise- review LL(1)</a:t>
            </a:r>
          </a:p>
        </p:txBody>
      </p:sp>
      <p:graphicFrame>
        <p:nvGraphicFramePr>
          <p:cNvPr id="360478" name="Group 30"/>
          <p:cNvGraphicFramePr>
            <a:graphicFrameLocks noGrp="1"/>
          </p:cNvGraphicFramePr>
          <p:nvPr>
            <p:ph sz="half" idx="1"/>
          </p:nvPr>
        </p:nvGraphicFramePr>
        <p:xfrm>
          <a:off x="4232275" y="1268413"/>
          <a:ext cx="3924300" cy="1633537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a, b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0512" name="Group 64"/>
          <p:cNvGraphicFramePr>
            <a:graphicFrameLocks noGrp="1"/>
          </p:cNvGraphicFramePr>
          <p:nvPr>
            <p:ph sz="half" idx="2"/>
          </p:nvPr>
        </p:nvGraphicFramePr>
        <p:xfrm>
          <a:off x="4376738" y="3716338"/>
          <a:ext cx="3409950" cy="2052637"/>
        </p:xfrm>
        <a:graphic>
          <a:graphicData uri="http://schemas.openxmlformats.org/drawingml/2006/table">
            <a:tbl>
              <a:tblPr/>
              <a:tblGrid>
                <a:gridCol w="852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79" name="Rectangle 60"/>
          <p:cNvSpPr>
            <a:spLocks noChangeArrowheads="1"/>
          </p:cNvSpPr>
          <p:nvPr/>
        </p:nvSpPr>
        <p:spPr bwMode="auto">
          <a:xfrm>
            <a:off x="560388" y="1341438"/>
            <a:ext cx="2720975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产生式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1. S</a:t>
            </a:r>
            <a:r>
              <a:rPr lang="zh-CN" altLang="en-US">
                <a:ea typeface="宋体" panose="02010600030101010101" pitchFamily="2" charset="-122"/>
              </a:rPr>
              <a:t>－</a:t>
            </a:r>
            <a:r>
              <a:rPr lang="en-US" altLang="zh-CN">
                <a:ea typeface="宋体" panose="02010600030101010101" pitchFamily="2" charset="-122"/>
              </a:rPr>
              <a:t>&gt; A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2. S</a:t>
            </a:r>
            <a:r>
              <a:rPr lang="zh-CN" altLang="en-US">
                <a:ea typeface="宋体" panose="02010600030101010101" pitchFamily="2" charset="-122"/>
              </a:rPr>
              <a:t>－</a:t>
            </a:r>
            <a:r>
              <a:rPr lang="en-US" altLang="zh-CN">
                <a:ea typeface="宋体" panose="02010600030101010101" pitchFamily="2" charset="-122"/>
              </a:rPr>
              <a:t>&gt; 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3. A</a:t>
            </a:r>
            <a:r>
              <a:rPr lang="zh-CN" altLang="en-US">
                <a:ea typeface="宋体" panose="02010600030101010101" pitchFamily="2" charset="-122"/>
              </a:rPr>
              <a:t>－</a:t>
            </a:r>
            <a:r>
              <a:rPr lang="en-US" altLang="zh-CN">
                <a:ea typeface="宋体" panose="02010600030101010101" pitchFamily="2" charset="-122"/>
              </a:rPr>
              <a:t>&gt;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4. B 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80" name="Rectangle 61"/>
          <p:cNvSpPr>
            <a:spLocks noChangeArrowheads="1"/>
          </p:cNvSpPr>
          <p:nvPr/>
        </p:nvSpPr>
        <p:spPr bwMode="auto">
          <a:xfrm>
            <a:off x="4521200" y="3213100"/>
            <a:ext cx="182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LL(1)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分析表</a:t>
            </a:r>
            <a:endParaRPr lang="zh-CN" altLang="en-US" b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60511" name="Rectangle 63"/>
          <p:cNvSpPr>
            <a:spLocks noChangeArrowheads="1"/>
          </p:cNvSpPr>
          <p:nvPr/>
        </p:nvSpPr>
        <p:spPr bwMode="auto">
          <a:xfrm>
            <a:off x="2366963" y="5949950"/>
            <a:ext cx="647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chemeClr val="accent2"/>
                </a:solidFill>
                <a:ea typeface="宋体" panose="02010600030101010101" pitchFamily="2" charset="-122"/>
              </a:rPr>
              <a:t>因为表项没有冲突 ，所以该文法是</a:t>
            </a:r>
            <a:r>
              <a:rPr kumimoji="1"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LL(1)</a:t>
            </a:r>
            <a:r>
              <a:rPr kumimoji="1" lang="zh-CN" altLang="en-US">
                <a:solidFill>
                  <a:schemeClr val="accent2"/>
                </a:solidFill>
                <a:ea typeface="宋体" panose="02010600030101010101" pitchFamily="2" charset="-122"/>
              </a:rPr>
              <a:t>文法。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6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36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6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5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32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32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6C94C0-3BD2-42D8-B1A2-0D2E5ADF015D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80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75565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Constructing Canonical LR(1) Parsing Tables (P.230)</a:t>
            </a:r>
          </a:p>
        </p:txBody>
      </p:sp>
      <p:sp>
        <p:nvSpPr>
          <p:cNvPr id="5325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487362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 SLR method, the state i makes a reduction by 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 when the current token is a: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if the </a:t>
            </a:r>
            <a:r>
              <a:rPr lang="en-US" altLang="zh-CN" sz="2400" smtClean="0">
                <a:ea typeface="宋体" panose="02010600030101010101" pitchFamily="2" charset="-122"/>
              </a:rPr>
              <a:t>A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. in the I</a:t>
            </a:r>
            <a:r>
              <a:rPr lang="en-US" altLang="zh-CN" sz="24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 and  a  is FOLLOW(A)</a:t>
            </a:r>
          </a:p>
          <a:p>
            <a:pPr lvl="1"/>
            <a:endParaRPr lang="en-US" altLang="zh-CN" sz="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In some situations, A  cannot be followed by the terminal a in              a right-sentential form when  and the state i are on the top stack.       This means that making reduction in this case is not correct. 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  A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SAaAbAabab 		SBbBaBbaba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  B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 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		Aa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  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Aa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		Bb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 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 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		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ab 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 			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ba 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000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255" name="Line 5"/>
          <p:cNvSpPr>
            <a:spLocks noChangeShapeType="1"/>
          </p:cNvSpPr>
          <p:nvPr/>
        </p:nvSpPr>
        <p:spPr bwMode="auto">
          <a:xfrm>
            <a:off x="4089400" y="45815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6" name="Line 6"/>
          <p:cNvSpPr>
            <a:spLocks noChangeShapeType="1"/>
          </p:cNvSpPr>
          <p:nvPr/>
        </p:nvSpPr>
        <p:spPr bwMode="auto">
          <a:xfrm>
            <a:off x="7616825" y="458152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42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42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E99373-2B67-4F75-8036-B44F3814D7B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80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LR(1) Item (P.230)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3605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To avoid some of invalid reductions, the states need to carry more information.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Extra information is put into a state by including a terminal symbol as a second component in an item.</a:t>
            </a:r>
          </a:p>
          <a:p>
            <a:endParaRPr lang="en-US" altLang="zh-CN" sz="8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A LR(1) item is: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z="3200" smtClean="0">
                <a:ea typeface="宋体" panose="02010600030101010101" pitchFamily="2" charset="-122"/>
              </a:rPr>
              <a:t>		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, a	where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is the look-head of the LR(1) item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(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is a terminal or end-marker.)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53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59C01D-B44E-4BB9-B842-E29C5B188348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80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LR(1) Item  (cont.)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</a:rPr>
              <a:t>When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</a:rPr>
              <a:t>  ( in the LR(1) item A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, a ) is not empty, the  look-head does not have any affect.</a:t>
            </a:r>
          </a:p>
          <a:p>
            <a:pPr>
              <a:lnSpc>
                <a:spcPts val="2800"/>
              </a:lnSpc>
            </a:pP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When 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</a:rPr>
              <a:t>  is empty  (A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a ), we do the reduction by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</a:rPr>
              <a:t>A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 only if the next input symbol is </a:t>
            </a:r>
            <a:r>
              <a:rPr lang="en-US" altLang="zh-CN" b="1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(not for any terminal in FOLLOW(A)).</a:t>
            </a:r>
          </a:p>
          <a:p>
            <a:pPr>
              <a:buFontTx/>
              <a:buNone/>
            </a:pPr>
            <a:r>
              <a:rPr lang="en-US" altLang="zh-CN" sz="800" smtClean="0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ts val="28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 state will contain	   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	where {a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,...,a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}  FOLLOW(A)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...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E20694-4D41-43BB-AE0F-1D3275D5E8F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80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Canonical Collection of Sets of LR(1) Items</a:t>
            </a: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80513" cy="5105400"/>
          </a:xfrm>
        </p:spPr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The construction of the canonical collection of the sets of LR(1) items are similar to the construction of the canonical collection of the sets of LR(0) items, except that </a:t>
            </a:r>
            <a:r>
              <a:rPr lang="en-US" altLang="zh-CN" i="1" smtClean="0">
                <a:ea typeface="宋体" panose="02010600030101010101" pitchFamily="2" charset="-122"/>
              </a:rPr>
              <a:t>closure</a:t>
            </a:r>
            <a:r>
              <a:rPr lang="en-US" altLang="zh-CN" smtClean="0">
                <a:ea typeface="宋体" panose="02010600030101010101" pitchFamily="2" charset="-122"/>
              </a:rPr>
              <a:t> and </a:t>
            </a:r>
            <a:r>
              <a:rPr lang="en-US" altLang="zh-CN" i="1" smtClean="0">
                <a:ea typeface="宋体" panose="02010600030101010101" pitchFamily="2" charset="-122"/>
              </a:rPr>
              <a:t>goto</a:t>
            </a:r>
            <a:r>
              <a:rPr lang="en-US" altLang="zh-CN" smtClean="0">
                <a:ea typeface="宋体" panose="02010600030101010101" pitchFamily="2" charset="-122"/>
              </a:rPr>
              <a:t> operations work a little bit different.</a:t>
            </a:r>
          </a:p>
          <a:p>
            <a:pPr marL="457200" indent="-457200"/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>
              <a:buFontTx/>
              <a:buNone/>
            </a:pPr>
            <a:r>
              <a:rPr lang="en-US" altLang="zh-CN" sz="2800" b="1" smtClean="0">
                <a:ea typeface="宋体" panose="02010600030101010101" pitchFamily="2" charset="-122"/>
              </a:rPr>
              <a:t>closure(I)</a:t>
            </a:r>
            <a:r>
              <a:rPr lang="en-US" altLang="zh-CN" smtClean="0">
                <a:ea typeface="宋体" panose="02010600030101010101" pitchFamily="2" charset="-122"/>
              </a:rPr>
              <a:t>  is: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 ( where I is a set of LR(1) items)</a:t>
            </a:r>
          </a:p>
          <a:p>
            <a:pPr marL="800100" lvl="1" indent="-342900">
              <a:lnSpc>
                <a:spcPts val="2800"/>
              </a:lnSpc>
            </a:pP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</a:rPr>
              <a:t>every LR(1) item in I is in closure(I)</a:t>
            </a:r>
          </a:p>
          <a:p>
            <a:pPr marL="800100" lvl="1" indent="-342900">
              <a:lnSpc>
                <a:spcPts val="2800"/>
              </a:lnSpc>
            </a:pP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</a:rPr>
              <a:t>if  A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</a:t>
            </a:r>
            <a:r>
              <a:rPr lang="en-US" altLang="zh-CN" sz="4400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B, a  in closure(I) and 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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</a:rPr>
              <a:t> is a production rule of G;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</a:rPr>
              <a:t>then  B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., </a:t>
            </a:r>
            <a:r>
              <a:rPr lang="en-US" altLang="zh-CN" sz="24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smtClean="0">
                <a:solidFill>
                  <a:srgbClr val="0000CC"/>
                </a:solidFill>
                <a:ea typeface="宋体" panose="02010600030101010101" pitchFamily="2" charset="-122"/>
              </a:rPr>
              <a:t>  will be in the closure(I) for each terminal b in</a:t>
            </a:r>
            <a:r>
              <a:rPr lang="en-US" altLang="zh-CN" sz="2400" smtClean="0">
                <a:ea typeface="宋体" panose="02010600030101010101" pitchFamily="2" charset="-122"/>
              </a:rPr>
              <a:t> </a:t>
            </a:r>
            <a:r>
              <a:rPr lang="en-US" altLang="zh-CN" sz="2400" b="1" smtClean="0">
                <a:solidFill>
                  <a:srgbClr val="CC0000"/>
                </a:solidFill>
                <a:ea typeface="宋体" panose="02010600030101010101" pitchFamily="2" charset="-122"/>
              </a:rPr>
              <a:t>FIRST(</a:t>
            </a:r>
            <a:r>
              <a:rPr lang="en-US" altLang="zh-CN" sz="24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a)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smtClean="0">
                <a:ea typeface="宋体" panose="02010600030101010101" pitchFamily="2" charset="-122"/>
              </a:rPr>
              <a:t>.                                                         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73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73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2B3FCF-D105-4DC7-8158-9E039069077E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80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goto operation</a:t>
            </a:r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If I is a set of LR(1) items and X is a grammar symbol (terminal or non-terminal), then goto(I,X) is defined as follows: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If  A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 .X, a  in I                                                                           then every item in 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closure({</a:t>
            </a:r>
            <a:r>
              <a:rPr lang="en-US" altLang="zh-CN" sz="2800" b="1" smtClean="0">
                <a:ea typeface="宋体" panose="02010600030101010101" pitchFamily="2" charset="-122"/>
              </a:rPr>
              <a:t>A 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 X., a})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 will be in goto(I,X). 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83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83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C10295-5F86-4307-8DDD-B356D48EB54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80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Construction of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The Canonical LR(1) Collection (P.232)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i="1" smtClean="0">
                <a:ea typeface="宋体" panose="02010600030101010101" pitchFamily="2" charset="-122"/>
              </a:rPr>
              <a:t>Algorithm</a:t>
            </a:r>
            <a:r>
              <a:rPr lang="en-US" altLang="zh-CN" smtClean="0">
                <a:ea typeface="宋体" panose="02010600030101010101" pitchFamily="2" charset="-122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b="1" i="1" smtClean="0">
                <a:ea typeface="宋体" panose="02010600030101010101" pitchFamily="2" charset="-12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</a:rPr>
              <a:t> is {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</a:rPr>
              <a:t>closure({S’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.S, $})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}</a:t>
            </a:r>
          </a:p>
          <a:p>
            <a:pPr lvl="1"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repeat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the followings until no more set of LR(1) items can be added to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lvl="2"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for each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I in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and each grammar symbol X</a:t>
            </a:r>
          </a:p>
          <a:p>
            <a:pPr lvl="3">
              <a:buFontTx/>
              <a:buNone/>
            </a:pP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if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goto(I,X) is not empty and not in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lvl="4"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add goto(I,X) to </a:t>
            </a:r>
            <a:r>
              <a:rPr lang="en-US" altLang="zh-CN" sz="2000" b="1" i="1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goto function is a DFA on the sets in C.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593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593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AE1DFD-F094-4117-9394-DC77AD69462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80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Short Notation for The Sets of LR(1) Items</a:t>
            </a: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set of LR(1) items containing the following items 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,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		        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... 					   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,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</a:p>
          <a:p>
            <a:pPr>
              <a:lnSpc>
                <a:spcPts val="2800"/>
              </a:lnSpc>
              <a:buFontTx/>
              <a:buNone/>
            </a:pPr>
            <a:endParaRPr lang="en-US" altLang="zh-CN" baseline="-25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can be written as</a:t>
            </a:r>
          </a:p>
          <a:p>
            <a:pPr>
              <a:lnSpc>
                <a:spcPts val="2800"/>
              </a:lnSpc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, 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/a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/.../a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04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04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DF7903-5E85-41C1-AB89-25770F60396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80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Canonical LR(1) Collection – Example1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925" y="2852738"/>
            <a:ext cx="2303463" cy="2160587"/>
          </a:xfrm>
        </p:spPr>
        <p:txBody>
          <a:bodyPr/>
          <a:lstStyle/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 S  Aa.Ab ,$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    A  . ,b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: S  Bb.Ba ,$</a:t>
            </a:r>
          </a:p>
          <a:p>
            <a:pPr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    B  . ,a</a:t>
            </a:r>
          </a:p>
        </p:txBody>
      </p:sp>
      <p:grpSp>
        <p:nvGrpSpPr>
          <p:cNvPr id="312347" name="Group 27"/>
          <p:cNvGrpSpPr>
            <a:grpSpLocks/>
          </p:cNvGrpSpPr>
          <p:nvPr/>
        </p:nvGrpSpPr>
        <p:grpSpPr bwMode="auto">
          <a:xfrm>
            <a:off x="4876800" y="1257300"/>
            <a:ext cx="990600" cy="1485900"/>
            <a:chOff x="3072" y="792"/>
            <a:chExt cx="624" cy="936"/>
          </a:xfrm>
        </p:grpSpPr>
        <p:sp>
          <p:nvSpPr>
            <p:cNvPr id="60445" name="Line 4"/>
            <p:cNvSpPr>
              <a:spLocks noChangeShapeType="1"/>
            </p:cNvSpPr>
            <p:nvPr/>
          </p:nvSpPr>
          <p:spPr bwMode="auto">
            <a:xfrm flipV="1">
              <a:off x="3072" y="960"/>
              <a:ext cx="62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6" name="Line 6"/>
            <p:cNvSpPr>
              <a:spLocks noChangeShapeType="1"/>
            </p:cNvSpPr>
            <p:nvPr/>
          </p:nvSpPr>
          <p:spPr bwMode="auto">
            <a:xfrm>
              <a:off x="3072" y="1008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7" name="Line 7"/>
            <p:cNvSpPr>
              <a:spLocks noChangeShapeType="1"/>
            </p:cNvSpPr>
            <p:nvPr/>
          </p:nvSpPr>
          <p:spPr bwMode="auto">
            <a:xfrm>
              <a:off x="3072" y="1008"/>
              <a:ext cx="62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8" name="Text Box 14"/>
            <p:cNvSpPr txBox="1">
              <a:spLocks noChangeArrowheads="1"/>
            </p:cNvSpPr>
            <p:nvPr/>
          </p:nvSpPr>
          <p:spPr bwMode="auto">
            <a:xfrm>
              <a:off x="3206" y="79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60449" name="Text Box 15"/>
            <p:cNvSpPr txBox="1">
              <a:spLocks noChangeArrowheads="1"/>
            </p:cNvSpPr>
            <p:nvPr/>
          </p:nvSpPr>
          <p:spPr bwMode="auto">
            <a:xfrm>
              <a:off x="3408" y="1008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0450" name="Text Box 16"/>
            <p:cNvSpPr txBox="1">
              <a:spLocks noChangeArrowheads="1"/>
            </p:cNvSpPr>
            <p:nvPr/>
          </p:nvSpPr>
          <p:spPr bwMode="auto">
            <a:xfrm>
              <a:off x="3456" y="1344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12349" name="Group 29"/>
          <p:cNvGrpSpPr>
            <a:grpSpLocks/>
          </p:cNvGrpSpPr>
          <p:nvPr/>
        </p:nvGrpSpPr>
        <p:grpSpPr bwMode="auto">
          <a:xfrm>
            <a:off x="2133600" y="3124200"/>
            <a:ext cx="990600" cy="1357313"/>
            <a:chOff x="1344" y="1968"/>
            <a:chExt cx="624" cy="855"/>
          </a:xfrm>
        </p:grpSpPr>
        <p:sp>
          <p:nvSpPr>
            <p:cNvPr id="60441" name="Line 8"/>
            <p:cNvSpPr>
              <a:spLocks noChangeShapeType="1"/>
            </p:cNvSpPr>
            <p:nvPr/>
          </p:nvSpPr>
          <p:spPr bwMode="auto">
            <a:xfrm>
              <a:off x="1344" y="21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Line 9"/>
            <p:cNvSpPr>
              <a:spLocks noChangeShapeType="1"/>
            </p:cNvSpPr>
            <p:nvPr/>
          </p:nvSpPr>
          <p:spPr bwMode="auto">
            <a:xfrm>
              <a:off x="1344" y="278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3" name="Text Box 20"/>
            <p:cNvSpPr txBox="1">
              <a:spLocks noChangeArrowheads="1"/>
            </p:cNvSpPr>
            <p:nvPr/>
          </p:nvSpPr>
          <p:spPr bwMode="auto">
            <a:xfrm>
              <a:off x="1440" y="1968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0444" name="Text Box 21"/>
            <p:cNvSpPr txBox="1">
              <a:spLocks noChangeArrowheads="1"/>
            </p:cNvSpPr>
            <p:nvPr/>
          </p:nvSpPr>
          <p:spPr bwMode="auto">
            <a:xfrm>
              <a:off x="1488" y="2592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12350" name="Group 30"/>
          <p:cNvGrpSpPr>
            <a:grpSpLocks/>
          </p:cNvGrpSpPr>
          <p:nvPr/>
        </p:nvGrpSpPr>
        <p:grpSpPr bwMode="auto">
          <a:xfrm>
            <a:off x="4876800" y="3124200"/>
            <a:ext cx="1066800" cy="1357313"/>
            <a:chOff x="3072" y="1968"/>
            <a:chExt cx="672" cy="855"/>
          </a:xfrm>
        </p:grpSpPr>
        <p:sp>
          <p:nvSpPr>
            <p:cNvPr id="60437" name="Line 10"/>
            <p:cNvSpPr>
              <a:spLocks noChangeShapeType="1"/>
            </p:cNvSpPr>
            <p:nvPr/>
          </p:nvSpPr>
          <p:spPr bwMode="auto">
            <a:xfrm>
              <a:off x="3120" y="21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Line 11"/>
            <p:cNvSpPr>
              <a:spLocks noChangeShapeType="1"/>
            </p:cNvSpPr>
            <p:nvPr/>
          </p:nvSpPr>
          <p:spPr bwMode="auto">
            <a:xfrm>
              <a:off x="3072" y="278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9" name="Text Box 22"/>
            <p:cNvSpPr txBox="1">
              <a:spLocks noChangeArrowheads="1"/>
            </p:cNvSpPr>
            <p:nvPr/>
          </p:nvSpPr>
          <p:spPr bwMode="auto">
            <a:xfrm>
              <a:off x="3264" y="196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0440" name="Text Box 23"/>
            <p:cNvSpPr txBox="1">
              <a:spLocks noChangeArrowheads="1"/>
            </p:cNvSpPr>
            <p:nvPr/>
          </p:nvSpPr>
          <p:spPr bwMode="auto">
            <a:xfrm>
              <a:off x="3264" y="2592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312348" name="Group 28"/>
          <p:cNvGrpSpPr>
            <a:grpSpLocks/>
          </p:cNvGrpSpPr>
          <p:nvPr/>
        </p:nvGrpSpPr>
        <p:grpSpPr bwMode="auto">
          <a:xfrm>
            <a:off x="7620000" y="1752600"/>
            <a:ext cx="1409700" cy="1128713"/>
            <a:chOff x="4800" y="1104"/>
            <a:chExt cx="888" cy="711"/>
          </a:xfrm>
        </p:grpSpPr>
        <p:sp>
          <p:nvSpPr>
            <p:cNvPr id="60431" name="Line 12"/>
            <p:cNvSpPr>
              <a:spLocks noChangeShapeType="1"/>
            </p:cNvSpPr>
            <p:nvPr/>
          </p:nvSpPr>
          <p:spPr bwMode="auto">
            <a:xfrm>
              <a:off x="4800" y="12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3"/>
            <p:cNvSpPr>
              <a:spLocks noChangeShapeType="1"/>
            </p:cNvSpPr>
            <p:nvPr/>
          </p:nvSpPr>
          <p:spPr bwMode="auto">
            <a:xfrm>
              <a:off x="4800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Text Box 17"/>
            <p:cNvSpPr txBox="1">
              <a:spLocks noChangeArrowheads="1"/>
            </p:cNvSpPr>
            <p:nvPr/>
          </p:nvSpPr>
          <p:spPr bwMode="auto">
            <a:xfrm>
              <a:off x="4848" y="1104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0434" name="Text Box 18"/>
            <p:cNvSpPr txBox="1">
              <a:spLocks noChangeArrowheads="1"/>
            </p:cNvSpPr>
            <p:nvPr/>
          </p:nvSpPr>
          <p:spPr bwMode="auto">
            <a:xfrm>
              <a:off x="4848" y="153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0435" name="Text Box 25"/>
            <p:cNvSpPr txBox="1">
              <a:spLocks noChangeArrowheads="1"/>
            </p:cNvSpPr>
            <p:nvPr/>
          </p:nvSpPr>
          <p:spPr bwMode="auto">
            <a:xfrm>
              <a:off x="5280" y="1152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436" name="Text Box 26"/>
            <p:cNvSpPr txBox="1">
              <a:spLocks noChangeArrowheads="1"/>
            </p:cNvSpPr>
            <p:nvPr/>
          </p:nvSpPr>
          <p:spPr bwMode="auto">
            <a:xfrm>
              <a:off x="5328" y="1584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12351" name="Rectangle 31"/>
          <p:cNvSpPr>
            <a:spLocks noChangeArrowheads="1"/>
          </p:cNvSpPr>
          <p:nvPr/>
        </p:nvSpPr>
        <p:spPr bwMode="auto">
          <a:xfrm>
            <a:off x="5889625" y="1341438"/>
            <a:ext cx="2016125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I1: S’  S. ,$ 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I2: S  A.aAb ,$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I3: S  B.bBa ,$ </a:t>
            </a:r>
          </a:p>
        </p:txBody>
      </p:sp>
      <p:sp>
        <p:nvSpPr>
          <p:cNvPr id="312352" name="Rectangle 32"/>
          <p:cNvSpPr>
            <a:spLocks noChangeArrowheads="1"/>
          </p:cNvSpPr>
          <p:nvPr/>
        </p:nvSpPr>
        <p:spPr bwMode="auto">
          <a:xfrm>
            <a:off x="631825" y="1125538"/>
            <a:ext cx="4392613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1)S  A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           I0:	S’  .S ,$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2)S  B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S  .AaAb ,$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3)A  			S  .BbBa ,$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4)B  			A  . ,a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		B  . ,b	</a:t>
            </a:r>
          </a:p>
        </p:txBody>
      </p:sp>
      <p:sp>
        <p:nvSpPr>
          <p:cNvPr id="312353" name="Rectangle 33"/>
          <p:cNvSpPr>
            <a:spLocks noChangeArrowheads="1"/>
          </p:cNvSpPr>
          <p:nvPr/>
        </p:nvSpPr>
        <p:spPr bwMode="auto">
          <a:xfrm>
            <a:off x="3081338" y="2852738"/>
            <a:ext cx="2233612" cy="192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AaA.b ,$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7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BbB.a ,$</a:t>
            </a:r>
          </a:p>
        </p:txBody>
      </p:sp>
      <p:sp>
        <p:nvSpPr>
          <p:cNvPr id="312354" name="Rectangle 34"/>
          <p:cNvSpPr>
            <a:spLocks noChangeArrowheads="1"/>
          </p:cNvSpPr>
          <p:nvPr/>
        </p:nvSpPr>
        <p:spPr bwMode="auto">
          <a:xfrm>
            <a:off x="5961063" y="2852738"/>
            <a:ext cx="2160587" cy="192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8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AaAb. ,$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</a:p>
          <a:p>
            <a:pPr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 S  BbBa. ,$	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1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1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1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1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1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1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31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31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build="p"/>
      <p:bldP spid="312351" grpId="0"/>
      <p:bldP spid="312352" grpId="0"/>
      <p:bldP spid="312353" grpId="0"/>
      <p:bldP spid="31235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14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14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82D0DC-E3C5-4B26-A794-ABB7D2A0066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80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Construction of LR(1) Parsing Tables (P.234)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52513"/>
            <a:ext cx="9372600" cy="5272087"/>
          </a:xfrm>
        </p:spPr>
        <p:txBody>
          <a:bodyPr/>
          <a:lstStyle/>
          <a:p>
            <a:pPr marL="457200" indent="-457200">
              <a:buFontTx/>
              <a:buAutoNum type="arabicPeriod"/>
            </a:pPr>
            <a:r>
              <a:rPr lang="en-US" altLang="zh-CN" smtClean="0">
                <a:ea typeface="宋体" panose="02010600030101010101" pitchFamily="2" charset="-122"/>
              </a:rPr>
              <a:t>Construct the canonical collection of sets of LR(1) items  for G’.    	C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{I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,...,I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eriod"/>
            </a:pPr>
            <a:endParaRPr lang="en-US" altLang="zh-CN" sz="1000" smtClean="0">
              <a:ea typeface="宋体" panose="02010600030101010101" pitchFamily="2" charset="-122"/>
            </a:endParaRPr>
          </a:p>
          <a:p>
            <a:pPr marL="457200" indent="-457200">
              <a:buFontTx/>
              <a:buAutoNum type="arabicPeriod"/>
            </a:pPr>
            <a:r>
              <a:rPr lang="en-US" altLang="zh-CN" smtClean="0">
                <a:ea typeface="宋体" panose="02010600030101010101" pitchFamily="2" charset="-122"/>
              </a:rPr>
              <a:t>Create the parsing action table as follows</a:t>
            </a:r>
          </a:p>
          <a:p>
            <a:pPr marL="800100" lvl="1" indent="-342900">
              <a:lnSpc>
                <a:spcPts val="2600"/>
              </a:lnSpc>
              <a:spcBef>
                <a:spcPct val="0"/>
              </a:spcBef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</a:rPr>
              <a:t>If  a is a terminal, 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a, b in 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and goto(I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,a)=I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then action[i,a] is  </a:t>
            </a:r>
            <a:r>
              <a:rPr lang="en-US" altLang="zh-CN" sz="2000" b="1" i="1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shift j</a:t>
            </a:r>
            <a:r>
              <a:rPr lang="en-US" altLang="zh-CN" sz="2000" b="1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800100" lvl="1" indent="-342900">
              <a:lnSpc>
                <a:spcPts val="2600"/>
              </a:lnSpc>
              <a:spcBef>
                <a:spcPct val="0"/>
              </a:spcBef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 </a:t>
            </a:r>
            <a:r>
              <a:rPr lang="en-US" altLang="zh-CN" sz="2000" smtClean="0">
                <a:ea typeface="宋体" panose="02010600030101010101" pitchFamily="2" charset="-12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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a  is in 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then action[i,a] is  </a:t>
            </a:r>
            <a:r>
              <a:rPr lang="en-US" altLang="zh-CN" sz="2000" b="1" i="1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reduce </a:t>
            </a:r>
            <a:r>
              <a:rPr lang="en-US" altLang="zh-CN" sz="2000" b="1" i="1" smtClean="0">
                <a:solidFill>
                  <a:srgbClr val="0000CC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 i="1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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where AS’.</a:t>
            </a:r>
          </a:p>
          <a:p>
            <a:pPr marL="800100" lvl="1" indent="-342900">
              <a:lnSpc>
                <a:spcPts val="2600"/>
              </a:lnSpc>
              <a:spcBef>
                <a:spcPct val="0"/>
              </a:spcBef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 </a:t>
            </a:r>
            <a:r>
              <a:rPr lang="en-US" altLang="zh-CN" sz="2000" smtClean="0">
                <a:ea typeface="宋体" panose="02010600030101010101" pitchFamily="2" charset="-122"/>
              </a:rPr>
              <a:t>S’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S</a:t>
            </a:r>
            <a:r>
              <a:rPr lang="en-US" altLang="zh-CN" sz="4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$  is in 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then action[i,$] is  </a:t>
            </a:r>
            <a:r>
              <a:rPr lang="en-US" altLang="zh-CN" sz="2000" b="1" i="1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accept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800100" lvl="1" indent="-342900">
              <a:lnSpc>
                <a:spcPts val="2600"/>
              </a:lnSpc>
              <a:spcBef>
                <a:spcPct val="0"/>
              </a:spcBef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If any conflicting actions generated by these rules, the grammar is not LR(1).</a:t>
            </a:r>
          </a:p>
          <a:p>
            <a:pPr marL="457200" indent="-457200"/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buFontTx/>
              <a:buAutoNum type="arabicPeriod" startAt="3"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Create the parsing goto table</a:t>
            </a:r>
          </a:p>
          <a:p>
            <a:pPr marL="800100" lvl="1" indent="-342900"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for all non-terminals A,  if goto(I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,A)=I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then goto[i,A]=j</a:t>
            </a:r>
          </a:p>
          <a:p>
            <a:pPr marL="457200" indent="-457200"/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buFontTx/>
              <a:buAutoNum type="arabicPeriod" startAt="4"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All entries not defined by (2) and (3) are errors.</a:t>
            </a:r>
          </a:p>
          <a:p>
            <a:pPr marL="457200" indent="-457200">
              <a:buFontTx/>
              <a:buAutoNum type="arabicPeriod" startAt="4"/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buFontTx/>
              <a:buAutoNum type="arabicPeriod" startAt="4"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Initial state of the parser contains  S’.S, $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1447" name="Rectangle 4"/>
          <p:cNvSpPr>
            <a:spLocks noChangeArrowheads="1"/>
          </p:cNvSpPr>
          <p:nvPr/>
        </p:nvSpPr>
        <p:spPr bwMode="auto">
          <a:xfrm>
            <a:off x="7473950" y="5300663"/>
            <a:ext cx="1885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Cf. p227 SLR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parsing table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1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1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1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1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1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15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15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15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15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15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246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246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41A153-B0E3-4EBE-8574-E9F9B23C8F4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80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LR(1) Parsing Tables – (for Example1)</a:t>
            </a:r>
          </a:p>
        </p:txBody>
      </p:sp>
      <p:graphicFrame>
        <p:nvGraphicFramePr>
          <p:cNvPr id="356523" name="Group 171"/>
          <p:cNvGraphicFramePr>
            <a:graphicFrameLocks noGrp="1"/>
          </p:cNvGraphicFramePr>
          <p:nvPr/>
        </p:nvGraphicFramePr>
        <p:xfrm>
          <a:off x="5313363" y="1052513"/>
          <a:ext cx="4267200" cy="37211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s8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s9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2568" name="Line 149"/>
          <p:cNvSpPr>
            <a:spLocks noChangeShapeType="1"/>
          </p:cNvSpPr>
          <p:nvPr/>
        </p:nvSpPr>
        <p:spPr bwMode="auto">
          <a:xfrm>
            <a:off x="7832725" y="1052513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69" name="Text Box 151"/>
          <p:cNvSpPr txBox="1">
            <a:spLocks noChangeArrowheads="1"/>
          </p:cNvSpPr>
          <p:nvPr/>
        </p:nvSpPr>
        <p:spPr bwMode="auto">
          <a:xfrm>
            <a:off x="4143375" y="5084763"/>
            <a:ext cx="253206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no shift/reduce 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no reduce/reduce conflict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so, it is a LR(1) grammar</a:t>
            </a:r>
          </a:p>
        </p:txBody>
      </p:sp>
      <p:graphicFrame>
        <p:nvGraphicFramePr>
          <p:cNvPr id="9" name="Group 171"/>
          <p:cNvGraphicFramePr>
            <a:graphicFrameLocks noGrp="1"/>
          </p:cNvGraphicFramePr>
          <p:nvPr/>
        </p:nvGraphicFramePr>
        <p:xfrm>
          <a:off x="488950" y="1052513"/>
          <a:ext cx="4548188" cy="3721100"/>
        </p:xfrm>
        <a:graphic>
          <a:graphicData uri="http://schemas.openxmlformats.org/drawingml/2006/table">
            <a:tbl>
              <a:tblPr/>
              <a:tblGrid>
                <a:gridCol w="431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9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r3,r4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r3,r4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s8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s9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22" marR="91422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2" marR="91422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2668" name="矩形 1"/>
          <p:cNvSpPr>
            <a:spLocks noChangeArrowheads="1"/>
          </p:cNvSpPr>
          <p:nvPr/>
        </p:nvSpPr>
        <p:spPr bwMode="auto">
          <a:xfrm>
            <a:off x="849313" y="4854575"/>
            <a:ext cx="304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Parsing table for LR(0)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669" name="矩形 10"/>
          <p:cNvSpPr>
            <a:spLocks noChangeArrowheads="1"/>
          </p:cNvSpPr>
          <p:nvPr/>
        </p:nvSpPr>
        <p:spPr bwMode="auto">
          <a:xfrm>
            <a:off x="6176963" y="4930775"/>
            <a:ext cx="3046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Parsing table for LR(1)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5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349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349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A7C91E-9631-4D14-A9AB-5C371C684A3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800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Canonical LR(1) Collection – Example2</a:t>
            </a:r>
          </a:p>
        </p:txBody>
      </p:sp>
      <p:sp>
        <p:nvSpPr>
          <p:cNvPr id="63494" name="Text Box 4"/>
          <p:cNvSpPr txBox="1">
            <a:spLocks noChangeArrowheads="1"/>
          </p:cNvSpPr>
          <p:nvPr/>
        </p:nvSpPr>
        <p:spPr bwMode="auto">
          <a:xfrm>
            <a:off x="273050" y="4076700"/>
            <a:ext cx="1441450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S’  S	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1) S  L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2) S  R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3) L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4) L 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id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5) R  L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14373" name="Text Box 5"/>
          <p:cNvSpPr txBox="1">
            <a:spLocks noChangeArrowheads="1"/>
          </p:cNvSpPr>
          <p:nvPr/>
        </p:nvSpPr>
        <p:spPr bwMode="auto">
          <a:xfrm>
            <a:off x="200025" y="1295400"/>
            <a:ext cx="1692275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S’  .S,$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S  .L=R,$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S  .R,$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L  .*R,$/=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L  .id,$/=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R  .L,$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14385" name="Text Box 17"/>
          <p:cNvSpPr txBox="1">
            <a:spLocks noChangeArrowheads="1"/>
          </p:cNvSpPr>
          <p:nvPr/>
        </p:nvSpPr>
        <p:spPr bwMode="auto">
          <a:xfrm>
            <a:off x="6248400" y="1268413"/>
            <a:ext cx="1516063" cy="311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9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 L=R.,$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10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 L.,$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  *.R,$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R  .L,$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L .*R,$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L  .id,$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12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  id.,$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</a:p>
        </p:txBody>
      </p:sp>
      <p:sp>
        <p:nvSpPr>
          <p:cNvPr id="314386" name="Text Box 18"/>
          <p:cNvSpPr txBox="1">
            <a:spLocks noChangeArrowheads="1"/>
          </p:cNvSpPr>
          <p:nvPr/>
        </p:nvSpPr>
        <p:spPr bwMode="auto">
          <a:xfrm>
            <a:off x="8048625" y="2492375"/>
            <a:ext cx="1450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13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  *R.,$</a:t>
            </a:r>
          </a:p>
        </p:txBody>
      </p:sp>
      <p:grpSp>
        <p:nvGrpSpPr>
          <p:cNvPr id="314449" name="Group 81"/>
          <p:cNvGrpSpPr>
            <a:grpSpLocks/>
          </p:cNvGrpSpPr>
          <p:nvPr/>
        </p:nvGrpSpPr>
        <p:grpSpPr bwMode="auto">
          <a:xfrm>
            <a:off x="7545388" y="2422525"/>
            <a:ext cx="1223962" cy="1687513"/>
            <a:chOff x="4753" y="1526"/>
            <a:chExt cx="771" cy="1063"/>
          </a:xfrm>
        </p:grpSpPr>
        <p:sp>
          <p:nvSpPr>
            <p:cNvPr id="63545" name="Line 46"/>
            <p:cNvSpPr>
              <a:spLocks noChangeShapeType="1"/>
            </p:cNvSpPr>
            <p:nvPr/>
          </p:nvSpPr>
          <p:spPr bwMode="auto">
            <a:xfrm flipV="1">
              <a:off x="4753" y="1706"/>
              <a:ext cx="363" cy="1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46" name="Line 47"/>
            <p:cNvSpPr>
              <a:spLocks noChangeShapeType="1"/>
            </p:cNvSpPr>
            <p:nvPr/>
          </p:nvSpPr>
          <p:spPr bwMode="auto">
            <a:xfrm>
              <a:off x="4753" y="1722"/>
              <a:ext cx="363" cy="2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47" name="Line 48"/>
            <p:cNvSpPr>
              <a:spLocks noChangeShapeType="1"/>
            </p:cNvSpPr>
            <p:nvPr/>
          </p:nvSpPr>
          <p:spPr bwMode="auto">
            <a:xfrm>
              <a:off x="4753" y="1712"/>
              <a:ext cx="363" cy="44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48" name="Line 49"/>
            <p:cNvSpPr>
              <a:spLocks noChangeShapeType="1"/>
            </p:cNvSpPr>
            <p:nvPr/>
          </p:nvSpPr>
          <p:spPr bwMode="auto">
            <a:xfrm>
              <a:off x="4753" y="1722"/>
              <a:ext cx="363" cy="71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49" name="Text Box 50"/>
            <p:cNvSpPr txBox="1">
              <a:spLocks noChangeArrowheads="1"/>
            </p:cNvSpPr>
            <p:nvPr/>
          </p:nvSpPr>
          <p:spPr bwMode="auto">
            <a:xfrm>
              <a:off x="5116" y="1869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10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50" name="Text Box 51"/>
            <p:cNvSpPr txBox="1">
              <a:spLocks noChangeArrowheads="1"/>
            </p:cNvSpPr>
            <p:nvPr/>
          </p:nvSpPr>
          <p:spPr bwMode="auto">
            <a:xfrm>
              <a:off x="5116" y="2114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11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51" name="Text Box 52"/>
            <p:cNvSpPr txBox="1">
              <a:spLocks noChangeArrowheads="1"/>
            </p:cNvSpPr>
            <p:nvPr/>
          </p:nvSpPr>
          <p:spPr bwMode="auto">
            <a:xfrm>
              <a:off x="5116" y="2358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12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52" name="Text Box 55"/>
            <p:cNvSpPr txBox="1">
              <a:spLocks noChangeArrowheads="1"/>
            </p:cNvSpPr>
            <p:nvPr/>
          </p:nvSpPr>
          <p:spPr bwMode="auto">
            <a:xfrm>
              <a:off x="4980" y="2115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63553" name="Text Box 60"/>
            <p:cNvSpPr txBox="1">
              <a:spLocks noChangeArrowheads="1"/>
            </p:cNvSpPr>
            <p:nvPr/>
          </p:nvSpPr>
          <p:spPr bwMode="auto">
            <a:xfrm>
              <a:off x="4844" y="1526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63554" name="Text Box 67"/>
            <p:cNvSpPr txBox="1">
              <a:spLocks noChangeArrowheads="1"/>
            </p:cNvSpPr>
            <p:nvPr/>
          </p:nvSpPr>
          <p:spPr bwMode="auto">
            <a:xfrm>
              <a:off x="4980" y="170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63555" name="Text Box 69"/>
            <p:cNvSpPr txBox="1">
              <a:spLocks noChangeArrowheads="1"/>
            </p:cNvSpPr>
            <p:nvPr/>
          </p:nvSpPr>
          <p:spPr bwMode="auto">
            <a:xfrm>
              <a:off x="4934" y="188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</p:grpSp>
      <p:grpSp>
        <p:nvGrpSpPr>
          <p:cNvPr id="314450" name="Group 82"/>
          <p:cNvGrpSpPr>
            <a:grpSpLocks/>
          </p:cNvGrpSpPr>
          <p:nvPr/>
        </p:nvGrpSpPr>
        <p:grpSpPr bwMode="auto">
          <a:xfrm>
            <a:off x="2320925" y="1295400"/>
            <a:ext cx="2025650" cy="4438650"/>
            <a:chOff x="1462" y="816"/>
            <a:chExt cx="1276" cy="2796"/>
          </a:xfrm>
        </p:grpSpPr>
        <p:sp>
          <p:nvSpPr>
            <p:cNvPr id="63540" name="Text Box 6"/>
            <p:cNvSpPr txBox="1">
              <a:spLocks noChangeArrowheads="1"/>
            </p:cNvSpPr>
            <p:nvPr/>
          </p:nvSpPr>
          <p:spPr bwMode="auto">
            <a:xfrm>
              <a:off x="1470" y="816"/>
              <a:ext cx="1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S’  S.,$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	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63541" name="Text Box 8"/>
            <p:cNvSpPr txBox="1">
              <a:spLocks noChangeArrowheads="1"/>
            </p:cNvSpPr>
            <p:nvPr/>
          </p:nvSpPr>
          <p:spPr bwMode="auto">
            <a:xfrm>
              <a:off x="1470" y="1200"/>
              <a:ext cx="95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  L.=R,$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 R  L.,$</a:t>
              </a:r>
            </a:p>
          </p:txBody>
        </p:sp>
        <p:sp>
          <p:nvSpPr>
            <p:cNvPr id="63542" name="Text Box 10"/>
            <p:cNvSpPr txBox="1">
              <a:spLocks noChangeArrowheads="1"/>
            </p:cNvSpPr>
            <p:nvPr/>
          </p:nvSpPr>
          <p:spPr bwMode="auto">
            <a:xfrm>
              <a:off x="1470" y="1728"/>
              <a:ext cx="78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  R.,$</a:t>
              </a:r>
            </a:p>
          </p:txBody>
        </p:sp>
        <p:sp>
          <p:nvSpPr>
            <p:cNvPr id="63543" name="Text Box 11"/>
            <p:cNvSpPr txBox="1">
              <a:spLocks noChangeArrowheads="1"/>
            </p:cNvSpPr>
            <p:nvPr/>
          </p:nvSpPr>
          <p:spPr bwMode="auto">
            <a:xfrm>
              <a:off x="1462" y="2348"/>
              <a:ext cx="1066" cy="8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4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L  *.R,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$/=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R  .L,$/=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L .*R,$/= 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  .id,$/=</a:t>
              </a:r>
            </a:p>
          </p:txBody>
        </p:sp>
        <p:sp>
          <p:nvSpPr>
            <p:cNvPr id="63544" name="Text Box 12"/>
            <p:cNvSpPr txBox="1">
              <a:spLocks noChangeArrowheads="1"/>
            </p:cNvSpPr>
            <p:nvPr/>
          </p:nvSpPr>
          <p:spPr bwMode="auto">
            <a:xfrm>
              <a:off x="1462" y="3381"/>
              <a:ext cx="93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L  id.,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$/=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grpSp>
        <p:nvGrpSpPr>
          <p:cNvPr id="314446" name="Group 78"/>
          <p:cNvGrpSpPr>
            <a:grpSpLocks/>
          </p:cNvGrpSpPr>
          <p:nvPr/>
        </p:nvGrpSpPr>
        <p:grpSpPr bwMode="auto">
          <a:xfrm>
            <a:off x="1876425" y="1484313"/>
            <a:ext cx="701675" cy="4032250"/>
            <a:chOff x="1182" y="935"/>
            <a:chExt cx="442" cy="2540"/>
          </a:xfrm>
        </p:grpSpPr>
        <p:sp>
          <p:nvSpPr>
            <p:cNvPr id="63529" name="Text Box 7"/>
            <p:cNvSpPr txBox="1">
              <a:spLocks noChangeArrowheads="1"/>
            </p:cNvSpPr>
            <p:nvPr/>
          </p:nvSpPr>
          <p:spPr bwMode="auto">
            <a:xfrm>
              <a:off x="1508" y="122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3530" name="Line 19"/>
            <p:cNvSpPr>
              <a:spLocks noChangeShapeType="1"/>
            </p:cNvSpPr>
            <p:nvPr/>
          </p:nvSpPr>
          <p:spPr bwMode="auto">
            <a:xfrm flipV="1">
              <a:off x="1182" y="960"/>
              <a:ext cx="336" cy="3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1" name="Line 20"/>
            <p:cNvSpPr>
              <a:spLocks noChangeShapeType="1"/>
            </p:cNvSpPr>
            <p:nvPr/>
          </p:nvSpPr>
          <p:spPr bwMode="auto">
            <a:xfrm>
              <a:off x="1182" y="1344"/>
              <a:ext cx="28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2" name="Line 21"/>
            <p:cNvSpPr>
              <a:spLocks noChangeShapeType="1"/>
            </p:cNvSpPr>
            <p:nvPr/>
          </p:nvSpPr>
          <p:spPr bwMode="auto">
            <a:xfrm>
              <a:off x="1182" y="1344"/>
              <a:ext cx="325" cy="113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3" name="Line 22"/>
            <p:cNvSpPr>
              <a:spLocks noChangeShapeType="1"/>
            </p:cNvSpPr>
            <p:nvPr/>
          </p:nvSpPr>
          <p:spPr bwMode="auto">
            <a:xfrm>
              <a:off x="1182" y="1344"/>
              <a:ext cx="288" cy="52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4" name="Line 23"/>
            <p:cNvSpPr>
              <a:spLocks noChangeShapeType="1"/>
            </p:cNvSpPr>
            <p:nvPr/>
          </p:nvSpPr>
          <p:spPr bwMode="auto">
            <a:xfrm>
              <a:off x="1182" y="1344"/>
              <a:ext cx="325" cy="213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5" name="Text Box 56"/>
            <p:cNvSpPr txBox="1">
              <a:spLocks noChangeArrowheads="1"/>
            </p:cNvSpPr>
            <p:nvPr/>
          </p:nvSpPr>
          <p:spPr bwMode="auto">
            <a:xfrm>
              <a:off x="1230" y="93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63536" name="Text Box 59"/>
            <p:cNvSpPr txBox="1">
              <a:spLocks noChangeArrowheads="1"/>
            </p:cNvSpPr>
            <p:nvPr/>
          </p:nvSpPr>
          <p:spPr bwMode="auto">
            <a:xfrm>
              <a:off x="1280" y="115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63537" name="Text Box 62"/>
            <p:cNvSpPr txBox="1">
              <a:spLocks noChangeArrowheads="1"/>
            </p:cNvSpPr>
            <p:nvPr/>
          </p:nvSpPr>
          <p:spPr bwMode="auto">
            <a:xfrm>
              <a:off x="1326" y="1525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63538" name="Text Box 65"/>
            <p:cNvSpPr txBox="1">
              <a:spLocks noChangeArrowheads="1"/>
            </p:cNvSpPr>
            <p:nvPr/>
          </p:nvSpPr>
          <p:spPr bwMode="auto">
            <a:xfrm>
              <a:off x="1371" y="2659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63539" name="Text Box 71"/>
            <p:cNvSpPr txBox="1">
              <a:spLocks noChangeArrowheads="1"/>
            </p:cNvSpPr>
            <p:nvPr/>
          </p:nvSpPr>
          <p:spPr bwMode="auto">
            <a:xfrm>
              <a:off x="1371" y="197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</p:grpSp>
      <p:sp>
        <p:nvSpPr>
          <p:cNvPr id="314440" name="Text Box 72"/>
          <p:cNvSpPr txBox="1">
            <a:spLocks noChangeArrowheads="1"/>
          </p:cNvSpPr>
          <p:nvPr/>
        </p:nvSpPr>
        <p:spPr bwMode="auto">
          <a:xfrm>
            <a:off x="8077200" y="4343400"/>
            <a:ext cx="1123950" cy="192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4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 baseline="-250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7  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13</a:t>
            </a: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8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10</a:t>
            </a: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  <p:grpSp>
        <p:nvGrpSpPr>
          <p:cNvPr id="314452" name="Group 84"/>
          <p:cNvGrpSpPr>
            <a:grpSpLocks/>
          </p:cNvGrpSpPr>
          <p:nvPr/>
        </p:nvGrpSpPr>
        <p:grpSpPr bwMode="auto">
          <a:xfrm>
            <a:off x="4232275" y="1268413"/>
            <a:ext cx="1855788" cy="3529012"/>
            <a:chOff x="2666" y="799"/>
            <a:chExt cx="1169" cy="2223"/>
          </a:xfrm>
        </p:grpSpPr>
        <p:sp>
          <p:nvSpPr>
            <p:cNvPr id="63526" name="Text Box 13"/>
            <p:cNvSpPr txBox="1">
              <a:spLocks noChangeArrowheads="1"/>
            </p:cNvSpPr>
            <p:nvPr/>
          </p:nvSpPr>
          <p:spPr bwMode="auto">
            <a:xfrm>
              <a:off x="2666" y="799"/>
              <a:ext cx="955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6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  L=.R,$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R  .L,$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  .*R,$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  .id,$</a:t>
              </a:r>
            </a:p>
          </p:txBody>
        </p:sp>
        <p:sp>
          <p:nvSpPr>
            <p:cNvPr id="63527" name="Text Box 15"/>
            <p:cNvSpPr txBox="1">
              <a:spLocks noChangeArrowheads="1"/>
            </p:cNvSpPr>
            <p:nvPr/>
          </p:nvSpPr>
          <p:spPr bwMode="auto">
            <a:xfrm>
              <a:off x="2813" y="2470"/>
              <a:ext cx="98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L  *R.,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$/=</a:t>
              </a:r>
            </a:p>
          </p:txBody>
        </p:sp>
        <p:sp>
          <p:nvSpPr>
            <p:cNvPr id="63528" name="Text Box 16"/>
            <p:cNvSpPr txBox="1">
              <a:spLocks noChangeArrowheads="1"/>
            </p:cNvSpPr>
            <p:nvPr/>
          </p:nvSpPr>
          <p:spPr bwMode="auto">
            <a:xfrm>
              <a:off x="2848" y="2791"/>
              <a:ext cx="98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8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  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R  L.,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$/=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grpSp>
        <p:nvGrpSpPr>
          <p:cNvPr id="314448" name="Group 80"/>
          <p:cNvGrpSpPr>
            <a:grpSpLocks/>
          </p:cNvGrpSpPr>
          <p:nvPr/>
        </p:nvGrpSpPr>
        <p:grpSpPr bwMode="auto">
          <a:xfrm>
            <a:off x="5600700" y="1341438"/>
            <a:ext cx="793750" cy="2592387"/>
            <a:chOff x="3528" y="845"/>
            <a:chExt cx="500" cy="1633"/>
          </a:xfrm>
        </p:grpSpPr>
        <p:sp>
          <p:nvSpPr>
            <p:cNvPr id="63518" name="Line 26"/>
            <p:cNvSpPr>
              <a:spLocks noChangeShapeType="1"/>
            </p:cNvSpPr>
            <p:nvPr/>
          </p:nvSpPr>
          <p:spPr bwMode="auto">
            <a:xfrm flipV="1">
              <a:off x="3528" y="981"/>
              <a:ext cx="454" cy="22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9" name="Line 27"/>
            <p:cNvSpPr>
              <a:spLocks noChangeShapeType="1"/>
            </p:cNvSpPr>
            <p:nvPr/>
          </p:nvSpPr>
          <p:spPr bwMode="auto">
            <a:xfrm>
              <a:off x="3528" y="1208"/>
              <a:ext cx="454" cy="9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28"/>
            <p:cNvSpPr>
              <a:spLocks noChangeShapeType="1"/>
            </p:cNvSpPr>
            <p:nvPr/>
          </p:nvSpPr>
          <p:spPr bwMode="auto">
            <a:xfrm>
              <a:off x="3528" y="1208"/>
              <a:ext cx="454" cy="40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Line 29"/>
            <p:cNvSpPr>
              <a:spLocks noChangeShapeType="1"/>
            </p:cNvSpPr>
            <p:nvPr/>
          </p:nvSpPr>
          <p:spPr bwMode="auto">
            <a:xfrm>
              <a:off x="3528" y="1208"/>
              <a:ext cx="454" cy="127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2" name="Text Box 57"/>
            <p:cNvSpPr txBox="1">
              <a:spLocks noChangeArrowheads="1"/>
            </p:cNvSpPr>
            <p:nvPr/>
          </p:nvSpPr>
          <p:spPr bwMode="auto">
            <a:xfrm>
              <a:off x="3710" y="106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63523" name="Text Box 61"/>
            <p:cNvSpPr txBox="1">
              <a:spLocks noChangeArrowheads="1"/>
            </p:cNvSpPr>
            <p:nvPr/>
          </p:nvSpPr>
          <p:spPr bwMode="auto">
            <a:xfrm>
              <a:off x="3710" y="845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63524" name="Text Box 63"/>
            <p:cNvSpPr txBox="1">
              <a:spLocks noChangeArrowheads="1"/>
            </p:cNvSpPr>
            <p:nvPr/>
          </p:nvSpPr>
          <p:spPr bwMode="auto">
            <a:xfrm>
              <a:off x="3800" y="1842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63525" name="Text Box 68"/>
            <p:cNvSpPr txBox="1">
              <a:spLocks noChangeArrowheads="1"/>
            </p:cNvSpPr>
            <p:nvPr/>
          </p:nvSpPr>
          <p:spPr bwMode="auto">
            <a:xfrm>
              <a:off x="3710" y="129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</p:grpSp>
      <p:grpSp>
        <p:nvGrpSpPr>
          <p:cNvPr id="314447" name="Group 79"/>
          <p:cNvGrpSpPr>
            <a:grpSpLocks/>
          </p:cNvGrpSpPr>
          <p:nvPr/>
        </p:nvGrpSpPr>
        <p:grpSpPr bwMode="auto">
          <a:xfrm>
            <a:off x="3832225" y="1557338"/>
            <a:ext cx="1333500" cy="3965575"/>
            <a:chOff x="2414" y="981"/>
            <a:chExt cx="840" cy="2498"/>
          </a:xfrm>
        </p:grpSpPr>
        <p:sp>
          <p:nvSpPr>
            <p:cNvPr id="63505" name="Line 36"/>
            <p:cNvSpPr>
              <a:spLocks noChangeShapeType="1"/>
            </p:cNvSpPr>
            <p:nvPr/>
          </p:nvSpPr>
          <p:spPr bwMode="auto">
            <a:xfrm flipV="1">
              <a:off x="2414" y="2614"/>
              <a:ext cx="434" cy="1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6" name="Line 37"/>
            <p:cNvSpPr>
              <a:spLocks noChangeShapeType="1"/>
            </p:cNvSpPr>
            <p:nvPr/>
          </p:nvSpPr>
          <p:spPr bwMode="auto">
            <a:xfrm>
              <a:off x="2414" y="2624"/>
              <a:ext cx="480" cy="2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7" name="Line 38"/>
            <p:cNvSpPr>
              <a:spLocks noChangeShapeType="1"/>
            </p:cNvSpPr>
            <p:nvPr/>
          </p:nvSpPr>
          <p:spPr bwMode="auto">
            <a:xfrm>
              <a:off x="2414" y="2624"/>
              <a:ext cx="432" cy="52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8" name="Line 39"/>
            <p:cNvSpPr>
              <a:spLocks noChangeShapeType="1"/>
            </p:cNvSpPr>
            <p:nvPr/>
          </p:nvSpPr>
          <p:spPr bwMode="auto">
            <a:xfrm>
              <a:off x="2414" y="2624"/>
              <a:ext cx="480" cy="76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9" name="Text Box 41"/>
            <p:cNvSpPr txBox="1">
              <a:spLocks noChangeArrowheads="1"/>
            </p:cNvSpPr>
            <p:nvPr/>
          </p:nvSpPr>
          <p:spPr bwMode="auto">
            <a:xfrm>
              <a:off x="2894" y="3008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10" name="Text Box 42"/>
            <p:cNvSpPr txBox="1">
              <a:spLocks noChangeArrowheads="1"/>
            </p:cNvSpPr>
            <p:nvPr/>
          </p:nvSpPr>
          <p:spPr bwMode="auto">
            <a:xfrm>
              <a:off x="2894" y="3248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511" name="Text Box 58"/>
            <p:cNvSpPr txBox="1">
              <a:spLocks noChangeArrowheads="1"/>
            </p:cNvSpPr>
            <p:nvPr/>
          </p:nvSpPr>
          <p:spPr bwMode="auto">
            <a:xfrm>
              <a:off x="2666" y="2642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63512" name="Text Box 64"/>
            <p:cNvSpPr txBox="1">
              <a:spLocks noChangeArrowheads="1"/>
            </p:cNvSpPr>
            <p:nvPr/>
          </p:nvSpPr>
          <p:spPr bwMode="auto">
            <a:xfrm>
              <a:off x="2766" y="3104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63513" name="Text Box 66"/>
            <p:cNvSpPr txBox="1">
              <a:spLocks noChangeArrowheads="1"/>
            </p:cNvSpPr>
            <p:nvPr/>
          </p:nvSpPr>
          <p:spPr bwMode="auto">
            <a:xfrm>
              <a:off x="2530" y="2432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63514" name="Text Box 70"/>
            <p:cNvSpPr txBox="1">
              <a:spLocks noChangeArrowheads="1"/>
            </p:cNvSpPr>
            <p:nvPr/>
          </p:nvSpPr>
          <p:spPr bwMode="auto">
            <a:xfrm>
              <a:off x="2715" y="291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63515" name="Text Box 9"/>
            <p:cNvSpPr txBox="1">
              <a:spLocks noChangeArrowheads="1"/>
            </p:cNvSpPr>
            <p:nvPr/>
          </p:nvSpPr>
          <p:spPr bwMode="auto">
            <a:xfrm>
              <a:off x="2704" y="146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3516" name="Line 24"/>
            <p:cNvSpPr>
              <a:spLocks noChangeShapeType="1"/>
            </p:cNvSpPr>
            <p:nvPr/>
          </p:nvSpPr>
          <p:spPr bwMode="auto">
            <a:xfrm flipV="1">
              <a:off x="2430" y="1026"/>
              <a:ext cx="282" cy="31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7" name="Text Box 77"/>
            <p:cNvSpPr txBox="1">
              <a:spLocks noChangeArrowheads="1"/>
            </p:cNvSpPr>
            <p:nvPr/>
          </p:nvSpPr>
          <p:spPr bwMode="auto">
            <a:xfrm>
              <a:off x="2440" y="981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=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1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1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1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1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1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3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1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8" presetClass="entr" presetSubtype="16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31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3" grpId="0"/>
      <p:bldP spid="314385" grpId="0"/>
      <p:bldP spid="314386" grpId="0"/>
      <p:bldP spid="31444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4515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451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1A0CC5-EA72-435C-8032-60AF1184031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800"/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LR(1) Parsing Tables – (for Example2)</a:t>
            </a:r>
          </a:p>
        </p:txBody>
      </p:sp>
      <p:graphicFrame>
        <p:nvGraphicFramePr>
          <p:cNvPr id="316601" name="Group 185"/>
          <p:cNvGraphicFramePr>
            <a:graphicFrameLocks noGrp="1"/>
          </p:cNvGraphicFramePr>
          <p:nvPr/>
        </p:nvGraphicFramePr>
        <p:xfrm>
          <a:off x="914400" y="990600"/>
          <a:ext cx="4876800" cy="51085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1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4664" name="Line 171"/>
          <p:cNvSpPr>
            <a:spLocks noChangeShapeType="1"/>
          </p:cNvSpPr>
          <p:nvPr/>
        </p:nvSpPr>
        <p:spPr bwMode="auto">
          <a:xfrm>
            <a:off x="4038600" y="990600"/>
            <a:ext cx="0" cy="510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65" name="Line 172"/>
          <p:cNvSpPr>
            <a:spLocks noChangeShapeType="1"/>
          </p:cNvSpPr>
          <p:nvPr/>
        </p:nvSpPr>
        <p:spPr bwMode="auto">
          <a:xfrm>
            <a:off x="3886200" y="990600"/>
            <a:ext cx="0" cy="510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66" name="Text Box 175"/>
          <p:cNvSpPr txBox="1">
            <a:spLocks noChangeArrowheads="1"/>
          </p:cNvSpPr>
          <p:nvPr/>
        </p:nvSpPr>
        <p:spPr bwMode="auto">
          <a:xfrm>
            <a:off x="6094413" y="1557338"/>
            <a:ext cx="327660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no shift/reduce 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no reduce/reduce conflict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</a:t>
            </a:r>
            <a:endParaRPr lang="en-US" altLang="zh-CN" sz="4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so, it is a LR(1) grammar</a:t>
            </a:r>
          </a:p>
        </p:txBody>
      </p:sp>
      <p:sp>
        <p:nvSpPr>
          <p:cNvPr id="10" name="Text Box 72"/>
          <p:cNvSpPr txBox="1">
            <a:spLocks noChangeArrowheads="1"/>
          </p:cNvSpPr>
          <p:nvPr/>
        </p:nvSpPr>
        <p:spPr bwMode="auto">
          <a:xfrm>
            <a:off x="7400925" y="3860800"/>
            <a:ext cx="1123950" cy="192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4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 baseline="-250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7  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13</a:t>
            </a: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8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10</a:t>
            </a: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55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55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A165BE-BCF9-4205-924E-922C2058ABC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80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LALR Parsing Tables (P.236)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4730750"/>
          </a:xfrm>
        </p:spPr>
        <p:txBody>
          <a:bodyPr/>
          <a:lstStyle/>
          <a:p>
            <a:r>
              <a:rPr lang="en-US" altLang="zh-CN" b="1" smtClean="0">
                <a:ea typeface="宋体" panose="02010600030101010101" pitchFamily="2" charset="-122"/>
              </a:rPr>
              <a:t>LALR</a:t>
            </a:r>
            <a:r>
              <a:rPr lang="en-US" altLang="zh-CN" smtClean="0">
                <a:ea typeface="宋体" panose="02010600030101010101" pitchFamily="2" charset="-122"/>
              </a:rPr>
              <a:t>  stands for </a:t>
            </a:r>
            <a:r>
              <a:rPr lang="en-US" altLang="zh-CN" b="1" smtClean="0">
                <a:ea typeface="宋体" panose="02010600030101010101" pitchFamily="2" charset="-122"/>
              </a:rPr>
              <a:t>LookAhead LR.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LALR parsers are often used in practice because LALR parsing tables are smaller than LR(1) parsing tables.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number of states in SLR and LALR parsing tables for a grammar G are equal.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But LALR parsers recognize more grammars than SLR parsers.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YACC</a:t>
            </a:r>
            <a:r>
              <a:rPr lang="en-US" altLang="zh-CN" smtClean="0">
                <a:ea typeface="宋体" panose="02010600030101010101" pitchFamily="2" charset="-122"/>
              </a:rPr>
              <a:t> creates a LALR parser for the given grammar.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state of LALR parser will be again a set of LR(1) items.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65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65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FF8373-C35E-436B-93A1-46455A66BDC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zh-CN" sz="800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The Core of A Set of LR(1) Items</a:t>
            </a:r>
          </a:p>
        </p:txBody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The core of  a set of LR(1) items is the set of its first component.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00" smtClean="0">
              <a:ea typeface="宋体" panose="02010600030101010101" pitchFamily="2" charset="-122"/>
            </a:endParaRPr>
          </a:p>
          <a:p>
            <a:pPr>
              <a:lnSpc>
                <a:spcPts val="2200"/>
              </a:lnSpc>
              <a:spcBef>
                <a:spcPts val="5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Ex: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  L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=R, $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	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  L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=R		</a:t>
            </a:r>
            <a:endParaRPr lang="en-US" altLang="zh-CN" sz="2000" smtClean="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200"/>
              </a:lnSpc>
              <a:spcBef>
                <a:spcPts val="5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R  L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$		 R  L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We will find the states (sets of LR(1) items) in a canonical LR(1) parser with </a:t>
            </a:r>
            <a:r>
              <a:rPr lang="en-US" altLang="zh-CN" sz="20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same cores (</a:t>
            </a:r>
            <a:r>
              <a:rPr lang="zh-CN" altLang="en-US" sz="20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同心核</a:t>
            </a:r>
            <a:r>
              <a:rPr lang="en-US" altLang="zh-CN" sz="2000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. Then we will merge them as a single state.</a:t>
            </a:r>
          </a:p>
          <a:p>
            <a:pPr>
              <a:lnSpc>
                <a:spcPct val="90000"/>
              </a:lnSpc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800"/>
              </a:lnSpc>
              <a:spcBef>
                <a:spcPts val="4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: L  id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= 			A new state: 	 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: L  id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,= </a:t>
            </a:r>
          </a:p>
          <a:p>
            <a:pPr>
              <a:lnSpc>
                <a:spcPts val="2800"/>
              </a:lnSpc>
              <a:spcBef>
                <a:spcPts val="4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	      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			      	      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L  id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,$</a:t>
            </a:r>
          </a:p>
          <a:p>
            <a:pPr>
              <a:lnSpc>
                <a:spcPts val="2800"/>
              </a:lnSpc>
              <a:spcBef>
                <a:spcPts val="4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I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: L  id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 $		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have same core, merge them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We will do this for all states of a canonical LR(1) parser to get the states of the LALR parser.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In fact, the number of the states of the LALR parser for a grammar will be equal to the number of states of the SLR parser for that grammar.</a:t>
            </a:r>
            <a:endParaRPr lang="zh-CN" altLang="en-US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9492" name="Line 4"/>
          <p:cNvSpPr>
            <a:spLocks noChangeShapeType="1"/>
          </p:cNvSpPr>
          <p:nvPr/>
        </p:nvSpPr>
        <p:spPr bwMode="auto">
          <a:xfrm flipH="1">
            <a:off x="5715000" y="1905000"/>
            <a:ext cx="9906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494" name="Rectangle 6"/>
          <p:cNvSpPr>
            <a:spLocks noChangeArrowheads="1"/>
          </p:cNvSpPr>
          <p:nvPr/>
        </p:nvSpPr>
        <p:spPr bwMode="auto">
          <a:xfrm>
            <a:off x="6523038" y="4365625"/>
            <a:ext cx="2101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or  I</a:t>
            </a:r>
            <a:r>
              <a:rPr lang="en-US" altLang="zh-CN" sz="2000" baseline="-2500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12</a:t>
            </a:r>
            <a:r>
              <a:rPr lang="en-US" altLang="zh-CN" sz="200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L  id.,=/$</a:t>
            </a:r>
            <a:endParaRPr lang="zh-CN" altLang="en-US" sz="2000">
              <a:solidFill>
                <a:srgbClr val="660066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9495" name="Rectangle 7"/>
          <p:cNvSpPr>
            <a:spLocks noChangeArrowheads="1"/>
          </p:cNvSpPr>
          <p:nvPr/>
        </p:nvSpPr>
        <p:spPr bwMode="auto">
          <a:xfrm>
            <a:off x="6824663" y="1628775"/>
            <a:ext cx="74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core</a:t>
            </a:r>
            <a:endParaRPr lang="zh-CN" altLang="en-US" b="1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/>
      <p:bldP spid="31949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75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75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63733F-BC5C-4D60-B43E-0F2CE3CC8F6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zh-CN" sz="800"/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Creation of LALR Parsing Tables</a:t>
            </a:r>
          </a:p>
        </p:txBody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089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Create the canonical LR(1) collection of the sets of LR(1) items for    the given grammar.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Find each core; find all sets having that same core; replace those sets having same cores with a single set which is their union.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C={I</a:t>
            </a:r>
            <a:r>
              <a:rPr lang="en-US" altLang="zh-CN" baseline="-25000" smtClean="0">
                <a:ea typeface="宋体" panose="02010600030101010101" pitchFamily="2" charset="-122"/>
              </a:rPr>
              <a:t>0</a:t>
            </a:r>
            <a:r>
              <a:rPr lang="en-US" altLang="zh-CN" smtClean="0">
                <a:ea typeface="宋体" panose="02010600030101010101" pitchFamily="2" charset="-122"/>
              </a:rPr>
              <a:t>,...,I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} 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 C’={J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,...,J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m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}	where m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Create the parsing tables (action and goto tables) same as the construction of the parsing tables of LR(1) parser.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Note that: 	If  J=I</a:t>
            </a:r>
            <a:r>
              <a:rPr lang="en-US" altLang="zh-CN" baseline="-25000" smtClean="0">
                <a:ea typeface="宋体" panose="02010600030101010101" pitchFamily="2" charset="-122"/>
              </a:rPr>
              <a:t>1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smtClean="0">
                <a:ea typeface="宋体" panose="02010600030101010101" pitchFamily="2" charset="-122"/>
              </a:rPr>
              <a:t>...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smtClean="0">
                <a:ea typeface="宋体" panose="02010600030101010101" pitchFamily="2" charset="-122"/>
              </a:rPr>
              <a:t> I</a:t>
            </a:r>
            <a:r>
              <a:rPr lang="en-US" altLang="zh-CN" baseline="-25000" smtClean="0">
                <a:ea typeface="宋体" panose="02010600030101010101" pitchFamily="2" charset="-122"/>
              </a:rPr>
              <a:t>k</a:t>
            </a:r>
            <a:r>
              <a:rPr lang="en-US" altLang="zh-CN" smtClean="0">
                <a:ea typeface="宋体" panose="02010600030101010101" pitchFamily="2" charset="-122"/>
              </a:rPr>
              <a:t>  since 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,...,I</a:t>
            </a:r>
            <a:r>
              <a:rPr lang="en-US" altLang="zh-CN" baseline="-25000" smtClean="0">
                <a:ea typeface="宋体" panose="02010600030101010101" pitchFamily="2" charset="-122"/>
              </a:rPr>
              <a:t>k</a:t>
            </a:r>
            <a:r>
              <a:rPr lang="en-US" altLang="zh-CN" smtClean="0">
                <a:ea typeface="宋体" panose="02010600030101010101" pitchFamily="2" charset="-122"/>
              </a:rPr>
              <a:t> have same cores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cores of goto(I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,X),...,goto(I</a:t>
            </a:r>
            <a:r>
              <a:rPr lang="en-US" altLang="zh-CN" baseline="-25000" smtClean="0"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,X) must be same. 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So, goto(J,X)=K  where K is the union of all sets of items having same cores as goto(I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,X).</a:t>
            </a:r>
          </a:p>
          <a:p>
            <a:pPr>
              <a:lnSpc>
                <a:spcPct val="90000"/>
              </a:lnSpc>
            </a:pPr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If no conflict is introduced, the grammar is LALR(1) grammar</a:t>
            </a:r>
            <a:r>
              <a:rPr lang="en-US" altLang="zh-CN" smtClean="0">
                <a:solidFill>
                  <a:srgbClr val="660066"/>
                </a:solidFill>
                <a:ea typeface="宋体" panose="02010600030101010101" pitchFamily="2" charset="-122"/>
              </a:rPr>
              <a:t>.</a:t>
            </a:r>
            <a:r>
              <a:rPr lang="en-US" altLang="zh-CN" smtClean="0">
                <a:ea typeface="宋体" panose="02010600030101010101" pitchFamily="2" charset="-122"/>
              </a:rPr>
              <a:t>          (We may only introduce reduce/reduce conflicts; we cannot introduce     a shift/reduce conflict)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86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6460AF-7D52-47C1-8FFF-26A6EEB3FBB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zh-CN" sz="80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Creating LALR Parsing Tables</a:t>
            </a:r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370388"/>
          </a:xfrm>
        </p:spPr>
        <p:txBody>
          <a:bodyPr/>
          <a:lstStyle/>
          <a:p>
            <a:pPr>
              <a:buFontTx/>
              <a:buNone/>
            </a:pPr>
            <a:endParaRPr lang="zh-CN" altLang="en-US" sz="1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Canonical LR(1) Parser      		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     		LALR Parser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			   	shrink # of states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This shrink process may introduce a </a:t>
            </a:r>
            <a:r>
              <a:rPr lang="en-US" altLang="zh-CN" b="1" smtClean="0">
                <a:ea typeface="宋体" panose="02010600030101010101" pitchFamily="2" charset="-122"/>
              </a:rPr>
              <a:t>reduce/reduce</a:t>
            </a:r>
            <a:r>
              <a:rPr lang="en-US" altLang="zh-CN" smtClean="0">
                <a:ea typeface="宋体" panose="02010600030101010101" pitchFamily="2" charset="-122"/>
              </a:rPr>
              <a:t> conflict in the resulting LALR parser (so the grammar is NOT LALR)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But, this shrink process does not produce a </a:t>
            </a:r>
            <a:r>
              <a:rPr lang="en-US" altLang="zh-CN" b="1" smtClean="0">
                <a:ea typeface="宋体" panose="02010600030101010101" pitchFamily="2" charset="-122"/>
              </a:rPr>
              <a:t>shift/reduce</a:t>
            </a:r>
            <a:r>
              <a:rPr lang="en-US" altLang="zh-CN" smtClean="0">
                <a:ea typeface="宋体" panose="02010600030101010101" pitchFamily="2" charset="-122"/>
              </a:rPr>
              <a:t> conflict.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8615" name="Rectangle 4"/>
          <p:cNvSpPr>
            <a:spLocks noChangeArrowheads="1"/>
          </p:cNvSpPr>
          <p:nvPr/>
        </p:nvSpPr>
        <p:spPr bwMode="auto">
          <a:xfrm>
            <a:off x="8624888" y="3141663"/>
            <a:ext cx="60325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6600" b="1" i="1">
                <a:solidFill>
                  <a:srgbClr val="CC0000"/>
                </a:solidFill>
                <a:ea typeface="宋体" panose="02010600030101010101" pitchFamily="2" charset="-122"/>
              </a:rPr>
              <a:t>?</a:t>
            </a:r>
            <a:endParaRPr lang="zh-CN" altLang="en-US" sz="6600" b="1" i="1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696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696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351CB-73ED-4EE0-8044-39DC96D5F1E8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80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Shift/Reduce Conflict</a:t>
            </a:r>
          </a:p>
        </p:txBody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80513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We say that we </a:t>
            </a:r>
            <a:r>
              <a:rPr lang="en-US" altLang="zh-CN" smtClean="0">
                <a:solidFill>
                  <a:srgbClr val="9900CC"/>
                </a:solidFill>
                <a:ea typeface="宋体" panose="02010600030101010101" pitchFamily="2" charset="-122"/>
              </a:rPr>
              <a:t>cannot introduce a shift/reduce conflict </a:t>
            </a:r>
            <a:r>
              <a:rPr lang="en-US" altLang="zh-CN" smtClean="0">
                <a:ea typeface="宋体" panose="02010600030101010101" pitchFamily="2" charset="-122"/>
              </a:rPr>
              <a:t>during the shrink process for the creation of the states of a LALR parser.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Assume that we can introduce a shift/reduce conflict. In this case, a state of LALR parser must have: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 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a	and	</a:t>
            </a:r>
            <a:r>
              <a:rPr lang="en-US" altLang="zh-CN" smtClean="0">
                <a:ea typeface="宋体" panose="02010600030101010101" pitchFamily="2" charset="-122"/>
              </a:rPr>
              <a:t>B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a, b</a:t>
            </a:r>
          </a:p>
          <a:p>
            <a:pPr>
              <a:lnSpc>
                <a:spcPts val="28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This means that a state of the canonical LR(1) parser must have: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and	</a:t>
            </a:r>
            <a:r>
              <a:rPr lang="en-US" altLang="zh-CN" smtClean="0">
                <a:ea typeface="宋体" panose="02010600030101010101" pitchFamily="2" charset="-122"/>
              </a:rPr>
              <a:t>B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, c	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But, this state has also a shift/reduce conflict. i.e. The original canonical LR(1) parser has a conflict. 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(Reason for this,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 shift operation does not depend on lookaheads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</a:rPr>
              <a:t>	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06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06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920AD0-91BB-4081-97FE-A40117D6479D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800"/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Reduce/Reduce Conflict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487362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But, we may introduce a reduce/reduce conflict during the shrink process for the creation of the states of a LALR parser.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 I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: 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a		 	I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b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</a:t>
            </a:r>
            <a:r>
              <a:rPr lang="en-US" altLang="zh-CN" smtClean="0">
                <a:ea typeface="宋体" panose="02010600030101010101" pitchFamily="2" charset="-122"/>
              </a:rPr>
              <a:t>B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b			     </a:t>
            </a:r>
            <a:r>
              <a:rPr lang="en-US" altLang="zh-CN" smtClean="0">
                <a:ea typeface="宋体" panose="02010600030101010101" pitchFamily="2" charset="-122"/>
              </a:rPr>
              <a:t>B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c</a:t>
            </a: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 </a:t>
            </a:r>
            <a:r>
              <a:rPr lang="en-US" altLang="zh-CN" sz="4400" smtClean="0">
                <a:ea typeface="宋体" panose="02010600030101010101" pitchFamily="2" charset="-122"/>
                <a:sym typeface="Symbol" panose="05050102010706020507" pitchFamily="18" charset="2"/>
              </a:rPr>
              <a:t></a:t>
            </a: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I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a/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	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 reduce/reduce conflict</a:t>
            </a:r>
            <a:endParaRPr lang="en-US" altLang="zh-CN" smtClean="0">
              <a:solidFill>
                <a:srgbClr val="CC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8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     </a:t>
            </a:r>
            <a:r>
              <a:rPr lang="en-US" altLang="zh-CN" smtClean="0">
                <a:ea typeface="宋体" panose="02010600030101010101" pitchFamily="2" charset="-122"/>
              </a:rPr>
              <a:t>B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</a:t>
            </a:r>
            <a:r>
              <a:rPr lang="en-US" altLang="zh-CN" sz="60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/c		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168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168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BFEA25-ECCB-4D02-9F5B-88D6754199A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800"/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Canonical LALR(1) Collection – Example2</a:t>
            </a:r>
          </a:p>
        </p:txBody>
      </p:sp>
      <p:sp>
        <p:nvSpPr>
          <p:cNvPr id="71686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1600200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S’  S	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1) S  L=R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2) S  R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3) L *R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4) L  id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5) R  L 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23654" name="Group 70"/>
          <p:cNvGrpSpPr>
            <a:grpSpLocks/>
          </p:cNvGrpSpPr>
          <p:nvPr/>
        </p:nvGrpSpPr>
        <p:grpSpPr bwMode="auto">
          <a:xfrm>
            <a:off x="415925" y="3657600"/>
            <a:ext cx="5310188" cy="2581275"/>
            <a:chOff x="262" y="2304"/>
            <a:chExt cx="3345" cy="1626"/>
          </a:xfrm>
        </p:grpSpPr>
        <p:sp>
          <p:nvSpPr>
            <p:cNvPr id="71723" name="Text Box 12"/>
            <p:cNvSpPr txBox="1">
              <a:spLocks noChangeArrowheads="1"/>
            </p:cNvSpPr>
            <p:nvPr/>
          </p:nvSpPr>
          <p:spPr bwMode="auto">
            <a:xfrm>
              <a:off x="278" y="2421"/>
              <a:ext cx="1015" cy="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6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  L=</a:t>
              </a:r>
              <a:r>
                <a:rPr lang="en-US" altLang="zh-CN" sz="4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R,$</a:t>
              </a:r>
            </a:p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R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L,$</a:t>
              </a:r>
            </a:p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*R,$</a:t>
              </a:r>
            </a:p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id,$</a:t>
              </a:r>
            </a:p>
          </p:txBody>
        </p:sp>
        <p:sp>
          <p:nvSpPr>
            <p:cNvPr id="71724" name="Text Box 13"/>
            <p:cNvSpPr txBox="1">
              <a:spLocks noChangeArrowheads="1"/>
            </p:cNvSpPr>
            <p:nvPr/>
          </p:nvSpPr>
          <p:spPr bwMode="auto">
            <a:xfrm>
              <a:off x="262" y="3381"/>
              <a:ext cx="114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713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:L  *R</a:t>
              </a:r>
              <a:r>
                <a:rPr lang="en-US" altLang="zh-CN" sz="4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,$/=</a:t>
              </a:r>
            </a:p>
          </p:txBody>
        </p:sp>
        <p:sp>
          <p:nvSpPr>
            <p:cNvPr id="71725" name="Text Box 14"/>
            <p:cNvSpPr txBox="1">
              <a:spLocks noChangeArrowheads="1"/>
            </p:cNvSpPr>
            <p:nvPr/>
          </p:nvSpPr>
          <p:spPr bwMode="auto">
            <a:xfrm>
              <a:off x="262" y="3696"/>
              <a:ext cx="114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810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:  R  L</a:t>
              </a:r>
              <a:r>
                <a:rPr lang="en-US" altLang="zh-CN" sz="4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,$/=</a:t>
              </a:r>
              <a:endParaRPr lang="en-US" altLang="zh-CN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726" name="Text Box 15"/>
            <p:cNvSpPr txBox="1">
              <a:spLocks noChangeArrowheads="1"/>
            </p:cNvSpPr>
            <p:nvPr/>
          </p:nvSpPr>
          <p:spPr bwMode="auto">
            <a:xfrm>
              <a:off x="2592" y="2352"/>
              <a:ext cx="1015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9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  L=R</a:t>
              </a:r>
              <a:r>
                <a:rPr lang="en-US" altLang="zh-CN" sz="4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,$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</a:t>
              </a:r>
            </a:p>
          </p:txBody>
        </p:sp>
        <p:grpSp>
          <p:nvGrpSpPr>
            <p:cNvPr id="71727" name="Group 33"/>
            <p:cNvGrpSpPr>
              <a:grpSpLocks/>
            </p:cNvGrpSpPr>
            <p:nvPr/>
          </p:nvGrpSpPr>
          <p:grpSpPr bwMode="auto">
            <a:xfrm>
              <a:off x="1248" y="2400"/>
              <a:ext cx="936" cy="951"/>
              <a:chOff x="1248" y="2400"/>
              <a:chExt cx="936" cy="951"/>
            </a:xfrm>
          </p:grpSpPr>
          <p:sp>
            <p:nvSpPr>
              <p:cNvPr id="71732" name="Line 34"/>
              <p:cNvSpPr>
                <a:spLocks noChangeShapeType="1"/>
              </p:cNvSpPr>
              <p:nvPr/>
            </p:nvSpPr>
            <p:spPr bwMode="auto">
              <a:xfrm>
                <a:off x="1248" y="2496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3" name="Line 35"/>
              <p:cNvSpPr>
                <a:spLocks noChangeShapeType="1"/>
              </p:cNvSpPr>
              <p:nvPr/>
            </p:nvSpPr>
            <p:spPr bwMode="auto">
              <a:xfrm>
                <a:off x="1248" y="2496"/>
                <a:ext cx="480" cy="2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4" name="Line 36"/>
              <p:cNvSpPr>
                <a:spLocks noChangeShapeType="1"/>
              </p:cNvSpPr>
              <p:nvPr/>
            </p:nvSpPr>
            <p:spPr bwMode="auto">
              <a:xfrm>
                <a:off x="1248" y="2496"/>
                <a:ext cx="432" cy="52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5" name="Line 37"/>
              <p:cNvSpPr>
                <a:spLocks noChangeShapeType="1"/>
              </p:cNvSpPr>
              <p:nvPr/>
            </p:nvSpPr>
            <p:spPr bwMode="auto">
              <a:xfrm>
                <a:off x="1248" y="2496"/>
                <a:ext cx="480" cy="7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6" name="Text Box 38"/>
              <p:cNvSpPr txBox="1">
                <a:spLocks noChangeArrowheads="1"/>
              </p:cNvSpPr>
              <p:nvPr/>
            </p:nvSpPr>
            <p:spPr bwMode="auto">
              <a:xfrm>
                <a:off x="1728" y="2640"/>
                <a:ext cx="4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CC0000"/>
                    </a:solidFill>
                    <a:ea typeface="宋体" panose="02010600030101010101" pitchFamily="2" charset="-122"/>
                  </a:rPr>
                  <a:t>to I</a:t>
                </a:r>
                <a:r>
                  <a:rPr lang="en-US" altLang="zh-CN" sz="1800" baseline="-25000">
                    <a:solidFill>
                      <a:srgbClr val="CC0000"/>
                    </a:solidFill>
                    <a:ea typeface="宋体" panose="02010600030101010101" pitchFamily="2" charset="-122"/>
                  </a:rPr>
                  <a:t>810</a:t>
                </a:r>
                <a:endPara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737" name="Text Box 39"/>
              <p:cNvSpPr txBox="1">
                <a:spLocks noChangeArrowheads="1"/>
              </p:cNvSpPr>
              <p:nvPr/>
            </p:nvSpPr>
            <p:spPr bwMode="auto">
              <a:xfrm>
                <a:off x="1728" y="2880"/>
                <a:ext cx="4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CC0000"/>
                    </a:solidFill>
                    <a:ea typeface="宋体" panose="02010600030101010101" pitchFamily="2" charset="-122"/>
                  </a:rPr>
                  <a:t>to I</a:t>
                </a:r>
                <a:r>
                  <a:rPr lang="en-US" altLang="zh-CN" sz="1800" baseline="-25000">
                    <a:solidFill>
                      <a:srgbClr val="CC0000"/>
                    </a:solidFill>
                    <a:ea typeface="宋体" panose="02010600030101010101" pitchFamily="2" charset="-122"/>
                  </a:rPr>
                  <a:t>411</a:t>
                </a:r>
                <a:endPara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738" name="Text Box 40"/>
              <p:cNvSpPr txBox="1">
                <a:spLocks noChangeArrowheads="1"/>
              </p:cNvSpPr>
              <p:nvPr/>
            </p:nvSpPr>
            <p:spPr bwMode="auto">
              <a:xfrm>
                <a:off x="1728" y="3120"/>
                <a:ext cx="4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CC0000"/>
                    </a:solidFill>
                    <a:ea typeface="宋体" panose="02010600030101010101" pitchFamily="2" charset="-122"/>
                  </a:rPr>
                  <a:t>to I</a:t>
                </a:r>
                <a:r>
                  <a:rPr lang="en-US" altLang="zh-CN" sz="1800" baseline="-25000">
                    <a:solidFill>
                      <a:srgbClr val="CC0000"/>
                    </a:solidFill>
                    <a:ea typeface="宋体" panose="02010600030101010101" pitchFamily="2" charset="-122"/>
                  </a:rPr>
                  <a:t>512</a:t>
                </a:r>
                <a:endPara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739" name="Text Box 41"/>
              <p:cNvSpPr txBox="1">
                <a:spLocks noChangeArrowheads="1"/>
              </p:cNvSpPr>
              <p:nvPr/>
            </p:nvSpPr>
            <p:spPr bwMode="auto">
              <a:xfrm>
                <a:off x="1776" y="2400"/>
                <a:ext cx="3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CC0000"/>
                    </a:solidFill>
                    <a:ea typeface="宋体" panose="02010600030101010101" pitchFamily="2" charset="-122"/>
                  </a:rPr>
                  <a:t>to I</a:t>
                </a:r>
                <a:r>
                  <a:rPr lang="en-US" altLang="zh-CN" sz="1800" baseline="-25000">
                    <a:solidFill>
                      <a:srgbClr val="CC0000"/>
                    </a:solidFill>
                    <a:ea typeface="宋体" panose="02010600030101010101" pitchFamily="2" charset="-122"/>
                  </a:rPr>
                  <a:t>9</a:t>
                </a:r>
                <a:endPara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728" name="Text Box 52"/>
            <p:cNvSpPr txBox="1">
              <a:spLocks noChangeArrowheads="1"/>
            </p:cNvSpPr>
            <p:nvPr/>
          </p:nvSpPr>
          <p:spPr bwMode="auto">
            <a:xfrm>
              <a:off x="1488" y="247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71729" name="Text Box 56"/>
            <p:cNvSpPr txBox="1">
              <a:spLocks noChangeArrowheads="1"/>
            </p:cNvSpPr>
            <p:nvPr/>
          </p:nvSpPr>
          <p:spPr bwMode="auto">
            <a:xfrm>
              <a:off x="1502" y="2304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71730" name="Text Box 58"/>
            <p:cNvSpPr txBox="1">
              <a:spLocks noChangeArrowheads="1"/>
            </p:cNvSpPr>
            <p:nvPr/>
          </p:nvSpPr>
          <p:spPr bwMode="auto">
            <a:xfrm>
              <a:off x="1440" y="3024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1731" name="Text Box 63"/>
            <p:cNvSpPr txBox="1">
              <a:spLocks noChangeArrowheads="1"/>
            </p:cNvSpPr>
            <p:nvPr/>
          </p:nvSpPr>
          <p:spPr bwMode="auto">
            <a:xfrm>
              <a:off x="1488" y="273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</p:grpSp>
      <p:grpSp>
        <p:nvGrpSpPr>
          <p:cNvPr id="323653" name="Group 69"/>
          <p:cNvGrpSpPr>
            <a:grpSpLocks/>
          </p:cNvGrpSpPr>
          <p:nvPr/>
        </p:nvGrpSpPr>
        <p:grpSpPr bwMode="auto">
          <a:xfrm>
            <a:off x="1752600" y="1295400"/>
            <a:ext cx="7581900" cy="2022475"/>
            <a:chOff x="1104" y="816"/>
            <a:chExt cx="4776" cy="1274"/>
          </a:xfrm>
        </p:grpSpPr>
        <p:sp>
          <p:nvSpPr>
            <p:cNvPr id="71690" name="Text Box 4"/>
            <p:cNvSpPr txBox="1">
              <a:spLocks noChangeArrowheads="1"/>
            </p:cNvSpPr>
            <p:nvPr/>
          </p:nvSpPr>
          <p:spPr bwMode="auto">
            <a:xfrm>
              <a:off x="1104" y="816"/>
              <a:ext cx="1066" cy="1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S’  </a:t>
              </a:r>
              <a:r>
                <a:rPr lang="en-US" altLang="zh-CN" sz="4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S,$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S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L=R,$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S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R,$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*R,</a:t>
              </a:r>
              <a:r>
                <a:rPr lang="en-US" altLang="zh-CN" sz="1800">
                  <a:solidFill>
                    <a:schemeClr val="bg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$/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L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id,</a:t>
              </a:r>
              <a:r>
                <a:rPr lang="en-US" altLang="zh-CN" sz="1800">
                  <a:solidFill>
                    <a:schemeClr val="bg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$/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R  </a:t>
              </a:r>
              <a:r>
                <a:rPr lang="en-US" altLang="zh-CN" sz="4800"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L,$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1691" name="Text Box 5"/>
            <p:cNvSpPr txBox="1">
              <a:spLocks noChangeArrowheads="1"/>
            </p:cNvSpPr>
            <p:nvPr/>
          </p:nvSpPr>
          <p:spPr bwMode="auto">
            <a:xfrm>
              <a:off x="2448" y="816"/>
              <a:ext cx="126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S’  S</a:t>
              </a:r>
              <a:r>
                <a:rPr lang="en-US" altLang="zh-CN" sz="4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,$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	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  <p:sp>
          <p:nvSpPr>
            <p:cNvPr id="71692" name="Text Box 6"/>
            <p:cNvSpPr txBox="1">
              <a:spLocks noChangeArrowheads="1"/>
            </p:cNvSpPr>
            <p:nvPr/>
          </p:nvSpPr>
          <p:spPr bwMode="auto">
            <a:xfrm>
              <a:off x="2486" y="122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693" name="Text Box 7"/>
            <p:cNvSpPr txBox="1">
              <a:spLocks noChangeArrowheads="1"/>
            </p:cNvSpPr>
            <p:nvPr/>
          </p:nvSpPr>
          <p:spPr bwMode="auto">
            <a:xfrm>
              <a:off x="2448" y="1200"/>
              <a:ext cx="1015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  L</a:t>
              </a:r>
              <a:r>
                <a:rPr lang="en-US" altLang="zh-CN" sz="4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=R,$</a:t>
              </a:r>
            </a:p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 R  L</a:t>
              </a:r>
              <a:r>
                <a:rPr lang="en-US" altLang="zh-CN" sz="4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,$</a:t>
              </a:r>
            </a:p>
          </p:txBody>
        </p:sp>
        <p:sp>
          <p:nvSpPr>
            <p:cNvPr id="71694" name="Text Box 8"/>
            <p:cNvSpPr txBox="1">
              <a:spLocks noChangeArrowheads="1"/>
            </p:cNvSpPr>
            <p:nvPr/>
          </p:nvSpPr>
          <p:spPr bwMode="auto">
            <a:xfrm>
              <a:off x="3974" y="146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695" name="Text Box 9"/>
            <p:cNvSpPr txBox="1">
              <a:spLocks noChangeArrowheads="1"/>
            </p:cNvSpPr>
            <p:nvPr/>
          </p:nvSpPr>
          <p:spPr bwMode="auto">
            <a:xfrm>
              <a:off x="2448" y="1728"/>
              <a:ext cx="84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: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S  R</a:t>
              </a:r>
              <a:r>
                <a:rPr lang="en-US" altLang="zh-CN" sz="4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,$</a:t>
              </a:r>
            </a:p>
          </p:txBody>
        </p:sp>
        <p:sp>
          <p:nvSpPr>
            <p:cNvPr id="71696" name="Text Box 10"/>
            <p:cNvSpPr txBox="1">
              <a:spLocks noChangeArrowheads="1"/>
            </p:cNvSpPr>
            <p:nvPr/>
          </p:nvSpPr>
          <p:spPr bwMode="auto">
            <a:xfrm>
              <a:off x="3792" y="816"/>
              <a:ext cx="1200" cy="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411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:L  *</a:t>
              </a:r>
              <a:r>
                <a:rPr lang="en-US" altLang="zh-CN" sz="4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R,$/=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   R  </a:t>
              </a:r>
              <a:r>
                <a:rPr lang="en-US" altLang="zh-CN" sz="4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L,$/=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   L </a:t>
              </a:r>
              <a:r>
                <a:rPr lang="en-US" altLang="zh-CN" sz="4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*R,$/= </a:t>
              </a:r>
            </a:p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     L  </a:t>
              </a:r>
              <a:r>
                <a:rPr lang="en-US" altLang="zh-CN" sz="4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id,$/=</a:t>
              </a:r>
            </a:p>
          </p:txBody>
        </p:sp>
        <p:sp>
          <p:nvSpPr>
            <p:cNvPr id="71697" name="Text Box 11"/>
            <p:cNvSpPr txBox="1">
              <a:spLocks noChangeArrowheads="1"/>
            </p:cNvSpPr>
            <p:nvPr/>
          </p:nvSpPr>
          <p:spPr bwMode="auto">
            <a:xfrm>
              <a:off x="3840" y="1776"/>
              <a:ext cx="108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ts val="2200"/>
                </a:lnSpc>
                <a:spcBef>
                  <a:spcPts val="400"/>
                </a:spcBef>
                <a:buFontTx/>
                <a:buNone/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1800" baseline="-250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512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:L  id</a:t>
              </a:r>
              <a:r>
                <a:rPr lang="en-US" altLang="zh-CN" sz="4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.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,$/=</a:t>
              </a:r>
              <a:endParaRPr lang="en-US" altLang="zh-CN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698" name="Line 17"/>
            <p:cNvSpPr>
              <a:spLocks noChangeShapeType="1"/>
            </p:cNvSpPr>
            <p:nvPr/>
          </p:nvSpPr>
          <p:spPr bwMode="auto">
            <a:xfrm flipV="1">
              <a:off x="2160" y="960"/>
              <a:ext cx="336" cy="3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Line 18"/>
            <p:cNvSpPr>
              <a:spLocks noChangeShapeType="1"/>
            </p:cNvSpPr>
            <p:nvPr/>
          </p:nvSpPr>
          <p:spPr bwMode="auto">
            <a:xfrm>
              <a:off x="2160" y="1344"/>
              <a:ext cx="28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19"/>
            <p:cNvSpPr>
              <a:spLocks noChangeShapeType="1"/>
            </p:cNvSpPr>
            <p:nvPr/>
          </p:nvSpPr>
          <p:spPr bwMode="auto">
            <a:xfrm flipV="1">
              <a:off x="2160" y="960"/>
              <a:ext cx="1632" cy="3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20"/>
            <p:cNvSpPr>
              <a:spLocks noChangeShapeType="1"/>
            </p:cNvSpPr>
            <p:nvPr/>
          </p:nvSpPr>
          <p:spPr bwMode="auto">
            <a:xfrm>
              <a:off x="2160" y="1344"/>
              <a:ext cx="288" cy="52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Line 21"/>
            <p:cNvSpPr>
              <a:spLocks noChangeShapeType="1"/>
            </p:cNvSpPr>
            <p:nvPr/>
          </p:nvSpPr>
          <p:spPr bwMode="auto">
            <a:xfrm>
              <a:off x="2160" y="1344"/>
              <a:ext cx="1680" cy="57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Line 22"/>
            <p:cNvSpPr>
              <a:spLocks noChangeShapeType="1"/>
            </p:cNvSpPr>
            <p:nvPr/>
          </p:nvSpPr>
          <p:spPr bwMode="auto">
            <a:xfrm>
              <a:off x="3408" y="1344"/>
              <a:ext cx="19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Text Box 23"/>
            <p:cNvSpPr txBox="1">
              <a:spLocks noChangeArrowheads="1"/>
            </p:cNvSpPr>
            <p:nvPr/>
          </p:nvSpPr>
          <p:spPr bwMode="auto">
            <a:xfrm>
              <a:off x="3552" y="1200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6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705" name="Text Box 24"/>
            <p:cNvSpPr txBox="1">
              <a:spLocks noChangeArrowheads="1"/>
            </p:cNvSpPr>
            <p:nvPr/>
          </p:nvSpPr>
          <p:spPr bwMode="auto">
            <a:xfrm>
              <a:off x="5424" y="864"/>
              <a:ext cx="4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to 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713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71706" name="Group 25"/>
            <p:cNvGrpSpPr>
              <a:grpSpLocks/>
            </p:cNvGrpSpPr>
            <p:nvPr/>
          </p:nvGrpSpPr>
          <p:grpSpPr bwMode="auto">
            <a:xfrm>
              <a:off x="4944" y="1008"/>
              <a:ext cx="936" cy="855"/>
              <a:chOff x="4848" y="912"/>
              <a:chExt cx="936" cy="855"/>
            </a:xfrm>
          </p:grpSpPr>
          <p:sp>
            <p:nvSpPr>
              <p:cNvPr id="71716" name="Line 26"/>
              <p:cNvSpPr>
                <a:spLocks noChangeShapeType="1"/>
              </p:cNvSpPr>
              <p:nvPr/>
            </p:nvSpPr>
            <p:spPr bwMode="auto">
              <a:xfrm>
                <a:off x="4848" y="912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7" name="Line 27"/>
              <p:cNvSpPr>
                <a:spLocks noChangeShapeType="1"/>
              </p:cNvSpPr>
              <p:nvPr/>
            </p:nvSpPr>
            <p:spPr bwMode="auto">
              <a:xfrm>
                <a:off x="4848" y="912"/>
                <a:ext cx="480" cy="2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8" name="Line 28"/>
              <p:cNvSpPr>
                <a:spLocks noChangeShapeType="1"/>
              </p:cNvSpPr>
              <p:nvPr/>
            </p:nvSpPr>
            <p:spPr bwMode="auto">
              <a:xfrm>
                <a:off x="4848" y="912"/>
                <a:ext cx="432" cy="52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Line 29"/>
              <p:cNvSpPr>
                <a:spLocks noChangeShapeType="1"/>
              </p:cNvSpPr>
              <p:nvPr/>
            </p:nvSpPr>
            <p:spPr bwMode="auto">
              <a:xfrm>
                <a:off x="4848" y="912"/>
                <a:ext cx="480" cy="76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0" name="Text Box 30"/>
              <p:cNvSpPr txBox="1">
                <a:spLocks noChangeArrowheads="1"/>
              </p:cNvSpPr>
              <p:nvPr/>
            </p:nvSpPr>
            <p:spPr bwMode="auto">
              <a:xfrm>
                <a:off x="5328" y="1056"/>
                <a:ext cx="4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CC0000"/>
                    </a:solidFill>
                    <a:ea typeface="宋体" panose="02010600030101010101" pitchFamily="2" charset="-122"/>
                  </a:rPr>
                  <a:t>to I</a:t>
                </a:r>
                <a:r>
                  <a:rPr lang="en-US" altLang="zh-CN" sz="1800" baseline="-25000">
                    <a:solidFill>
                      <a:srgbClr val="CC0000"/>
                    </a:solidFill>
                    <a:ea typeface="宋体" panose="02010600030101010101" pitchFamily="2" charset="-122"/>
                  </a:rPr>
                  <a:t>810</a:t>
                </a:r>
                <a:endPara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721" name="Text Box 31"/>
              <p:cNvSpPr txBox="1">
                <a:spLocks noChangeArrowheads="1"/>
              </p:cNvSpPr>
              <p:nvPr/>
            </p:nvSpPr>
            <p:spPr bwMode="auto">
              <a:xfrm>
                <a:off x="5328" y="1296"/>
                <a:ext cx="4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CC0000"/>
                    </a:solidFill>
                    <a:ea typeface="宋体" panose="02010600030101010101" pitchFamily="2" charset="-122"/>
                  </a:rPr>
                  <a:t>to I</a:t>
                </a:r>
                <a:r>
                  <a:rPr lang="en-US" altLang="zh-CN" sz="1800" baseline="-25000">
                    <a:solidFill>
                      <a:srgbClr val="CC0000"/>
                    </a:solidFill>
                    <a:ea typeface="宋体" panose="02010600030101010101" pitchFamily="2" charset="-122"/>
                  </a:rPr>
                  <a:t>411</a:t>
                </a:r>
                <a:endPara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1722" name="Text Box 32"/>
              <p:cNvSpPr txBox="1">
                <a:spLocks noChangeArrowheads="1"/>
              </p:cNvSpPr>
              <p:nvPr/>
            </p:nvSpPr>
            <p:spPr bwMode="auto">
              <a:xfrm>
                <a:off x="5328" y="1536"/>
                <a:ext cx="4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>
                    <a:solidFill>
                      <a:srgbClr val="CC0000"/>
                    </a:solidFill>
                    <a:ea typeface="宋体" panose="02010600030101010101" pitchFamily="2" charset="-122"/>
                  </a:rPr>
                  <a:t>to I</a:t>
                </a:r>
                <a:r>
                  <a:rPr lang="en-US" altLang="zh-CN" sz="1800" baseline="-25000">
                    <a:solidFill>
                      <a:srgbClr val="CC0000"/>
                    </a:solidFill>
                    <a:ea typeface="宋体" panose="02010600030101010101" pitchFamily="2" charset="-122"/>
                  </a:rPr>
                  <a:t>512</a:t>
                </a:r>
                <a:endPara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707" name="Text Box 51"/>
            <p:cNvSpPr txBox="1">
              <a:spLocks noChangeArrowheads="1"/>
            </p:cNvSpPr>
            <p:nvPr/>
          </p:nvSpPr>
          <p:spPr bwMode="auto">
            <a:xfrm>
              <a:off x="2208" y="100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71708" name="Text Box 53"/>
            <p:cNvSpPr txBox="1">
              <a:spLocks noChangeArrowheads="1"/>
            </p:cNvSpPr>
            <p:nvPr/>
          </p:nvSpPr>
          <p:spPr bwMode="auto">
            <a:xfrm>
              <a:off x="5275" y="105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71709" name="Text Box 54"/>
            <p:cNvSpPr txBox="1">
              <a:spLocks noChangeArrowheads="1"/>
            </p:cNvSpPr>
            <p:nvPr/>
          </p:nvSpPr>
          <p:spPr bwMode="auto">
            <a:xfrm>
              <a:off x="2352" y="124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71710" name="Text Box 57"/>
            <p:cNvSpPr txBox="1">
              <a:spLocks noChangeArrowheads="1"/>
            </p:cNvSpPr>
            <p:nvPr/>
          </p:nvSpPr>
          <p:spPr bwMode="auto">
            <a:xfrm>
              <a:off x="2304" y="1525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71711" name="Text Box 59"/>
            <p:cNvSpPr txBox="1">
              <a:spLocks noChangeArrowheads="1"/>
            </p:cNvSpPr>
            <p:nvPr/>
          </p:nvSpPr>
          <p:spPr bwMode="auto">
            <a:xfrm>
              <a:off x="5116" y="1488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1712" name="Text Box 60"/>
            <p:cNvSpPr txBox="1">
              <a:spLocks noChangeArrowheads="1"/>
            </p:cNvSpPr>
            <p:nvPr/>
          </p:nvSpPr>
          <p:spPr bwMode="auto">
            <a:xfrm>
              <a:off x="3456" y="1616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1713" name="Text Box 61"/>
            <p:cNvSpPr txBox="1">
              <a:spLocks noChangeArrowheads="1"/>
            </p:cNvSpPr>
            <p:nvPr/>
          </p:nvSpPr>
          <p:spPr bwMode="auto">
            <a:xfrm>
              <a:off x="5136" y="816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71714" name="Text Box 65"/>
            <p:cNvSpPr txBox="1">
              <a:spLocks noChangeArrowheads="1"/>
            </p:cNvSpPr>
            <p:nvPr/>
          </p:nvSpPr>
          <p:spPr bwMode="auto">
            <a:xfrm>
              <a:off x="5200" y="124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1715" name="Text Box 66"/>
            <p:cNvSpPr txBox="1">
              <a:spLocks noChangeArrowheads="1"/>
            </p:cNvSpPr>
            <p:nvPr/>
          </p:nvSpPr>
          <p:spPr bwMode="auto">
            <a:xfrm>
              <a:off x="2984" y="97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</p:grpSp>
      <p:sp>
        <p:nvSpPr>
          <p:cNvPr id="323651" name="Text Box 67"/>
          <p:cNvSpPr txBox="1">
            <a:spLocks noChangeArrowheads="1"/>
          </p:cNvSpPr>
          <p:nvPr/>
        </p:nvSpPr>
        <p:spPr bwMode="auto">
          <a:xfrm>
            <a:off x="7162800" y="3886200"/>
            <a:ext cx="1295400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Same Cores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4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5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 baseline="-250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7  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and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13</a:t>
            </a: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8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and  I</a:t>
            </a:r>
            <a:r>
              <a:rPr lang="en-US" altLang="zh-CN" sz="1800" baseline="-25000">
                <a:solidFill>
                  <a:srgbClr val="660066"/>
                </a:solidFill>
                <a:ea typeface="宋体" panose="02010600030101010101" pitchFamily="2" charset="-122"/>
              </a:rPr>
              <a:t>10</a:t>
            </a:r>
            <a:endParaRPr lang="en-US" altLang="zh-CN" sz="180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2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2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8" presetClass="entr" presetSubtype="16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2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65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27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27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E4B5E0-D624-484C-8D01-4DEC0556EB8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zh-CN" sz="800"/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LALR(1) Parsing Tables – (for Example2)</a:t>
            </a:r>
          </a:p>
        </p:txBody>
      </p:sp>
      <p:graphicFrame>
        <p:nvGraphicFramePr>
          <p:cNvPr id="324922" name="Group 314"/>
          <p:cNvGraphicFramePr>
            <a:graphicFrameLocks noGrp="1"/>
          </p:cNvGraphicFramePr>
          <p:nvPr/>
        </p:nvGraphicFramePr>
        <p:xfrm>
          <a:off x="200025" y="1700213"/>
          <a:ext cx="5040313" cy="3721100"/>
        </p:xfrm>
        <a:graphic>
          <a:graphicData uri="http://schemas.openxmlformats.org/drawingml/2006/table">
            <a:tbl>
              <a:tblPr/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810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4759" name="Text Box 151"/>
          <p:cNvSpPr txBox="1">
            <a:spLocks noChangeArrowheads="1"/>
          </p:cNvSpPr>
          <p:nvPr/>
        </p:nvSpPr>
        <p:spPr bwMode="auto">
          <a:xfrm>
            <a:off x="5673725" y="2924175"/>
            <a:ext cx="3671888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no shift/reduce or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no reduce/reduce conflict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</a:t>
            </a:r>
            <a:endParaRPr lang="en-US" altLang="zh-CN" sz="4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so, it is a LALR(1) grammar</a:t>
            </a:r>
          </a:p>
        </p:txBody>
      </p:sp>
      <p:sp>
        <p:nvSpPr>
          <p:cNvPr id="324763" name="Line 155"/>
          <p:cNvSpPr>
            <a:spLocks noChangeShapeType="1"/>
          </p:cNvSpPr>
          <p:nvPr/>
        </p:nvSpPr>
        <p:spPr bwMode="auto">
          <a:xfrm>
            <a:off x="3440113" y="1700213"/>
            <a:ext cx="0" cy="3744912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764" name="Line 156"/>
          <p:cNvSpPr>
            <a:spLocks noChangeShapeType="1"/>
          </p:cNvSpPr>
          <p:nvPr/>
        </p:nvSpPr>
        <p:spPr bwMode="auto">
          <a:xfrm>
            <a:off x="7977188" y="1125538"/>
            <a:ext cx="0" cy="511175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4915" name="Group 307"/>
          <p:cNvGraphicFramePr>
            <a:graphicFrameLocks noGrp="1"/>
          </p:cNvGraphicFramePr>
          <p:nvPr>
            <p:ph idx="1"/>
          </p:nvPr>
        </p:nvGraphicFramePr>
        <p:xfrm>
          <a:off x="5392738" y="1125538"/>
          <a:ext cx="4024312" cy="5108575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1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2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24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2000"/>
                                        <p:tgtEl>
                                          <p:spTgt spid="32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2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759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SLR(1) vs. LALR(1)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3731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3732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373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50CE6A-3307-4DDC-B4A4-26163D70593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zh-CN" sz="800"/>
          </a:p>
        </p:txBody>
      </p:sp>
      <p:graphicFrame>
        <p:nvGraphicFramePr>
          <p:cNvPr id="7" name="Group 185"/>
          <p:cNvGraphicFramePr>
            <a:graphicFrameLocks noGrp="1"/>
          </p:cNvGraphicFramePr>
          <p:nvPr/>
        </p:nvGraphicFramePr>
        <p:xfrm>
          <a:off x="128588" y="1196975"/>
          <a:ext cx="4895850" cy="3754438"/>
        </p:xfrm>
        <a:graphic>
          <a:graphicData uri="http://schemas.openxmlformats.org/drawingml/2006/table">
            <a:tbl>
              <a:tblPr/>
              <a:tblGrid>
                <a:gridCol w="359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9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9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s6,r5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3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27" marR="91427"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7" marR="91427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Group 314"/>
          <p:cNvGraphicFramePr>
            <a:graphicFrameLocks noGrp="1"/>
          </p:cNvGraphicFramePr>
          <p:nvPr/>
        </p:nvGraphicFramePr>
        <p:xfrm>
          <a:off x="5168900" y="1196975"/>
          <a:ext cx="4679950" cy="3721100"/>
        </p:xfrm>
        <a:graphic>
          <a:graphicData uri="http://schemas.openxmlformats.org/drawingml/2006/table">
            <a:tbl>
              <a:tblPr/>
              <a:tblGrid>
                <a:gridCol w="431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810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29" marR="91429"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9" marR="91429"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3954" name="矩形 1"/>
          <p:cNvSpPr>
            <a:spLocks noChangeArrowheads="1"/>
          </p:cNvSpPr>
          <p:nvPr/>
        </p:nvSpPr>
        <p:spPr bwMode="auto">
          <a:xfrm>
            <a:off x="920750" y="5084763"/>
            <a:ext cx="3071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LR(0) item for SLR(1)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955" name="矩形 2"/>
          <p:cNvSpPr>
            <a:spLocks noChangeArrowheads="1"/>
          </p:cNvSpPr>
          <p:nvPr/>
        </p:nvSpPr>
        <p:spPr bwMode="auto">
          <a:xfrm>
            <a:off x="5861050" y="5081588"/>
            <a:ext cx="3309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LR(1) item for LALR(1)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956" name="矩形 10"/>
          <p:cNvSpPr>
            <a:spLocks noChangeArrowheads="1"/>
          </p:cNvSpPr>
          <p:nvPr/>
        </p:nvSpPr>
        <p:spPr bwMode="auto">
          <a:xfrm>
            <a:off x="1120775" y="5546725"/>
            <a:ext cx="6064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The same states, normally except LR(1)</a:t>
            </a:r>
          </a:p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The different on ambiguous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The Canonical LR(1) Collection -- Exercise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475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4756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475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E367DD-56D4-427B-B753-D05FEFD85E8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zh-CN" sz="800"/>
          </a:p>
        </p:txBody>
      </p:sp>
      <p:sp>
        <p:nvSpPr>
          <p:cNvPr id="7" name="Rectangle 30"/>
          <p:cNvSpPr>
            <a:spLocks noChangeArrowheads="1"/>
          </p:cNvSpPr>
          <p:nvPr/>
        </p:nvSpPr>
        <p:spPr bwMode="auto">
          <a:xfrm>
            <a:off x="415925" y="984250"/>
            <a:ext cx="20320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solidFill>
                  <a:srgbClr val="CC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E’  .E, $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</a:t>
            </a:r>
          </a:p>
        </p:txBody>
      </p:sp>
      <p:grpSp>
        <p:nvGrpSpPr>
          <p:cNvPr id="74759" name="组合 10"/>
          <p:cNvGrpSpPr>
            <a:grpSpLocks/>
          </p:cNvGrpSpPr>
          <p:nvPr/>
        </p:nvGrpSpPr>
        <p:grpSpPr bwMode="auto">
          <a:xfrm>
            <a:off x="200025" y="2479675"/>
            <a:ext cx="1871663" cy="2592388"/>
            <a:chOff x="201612" y="1556792"/>
            <a:chExt cx="1871068" cy="2592387"/>
          </a:xfrm>
        </p:grpSpPr>
        <p:sp>
          <p:nvSpPr>
            <p:cNvPr id="74930" name="Rectangle 30"/>
            <p:cNvSpPr>
              <a:spLocks noChangeArrowheads="1"/>
            </p:cNvSpPr>
            <p:nvPr/>
          </p:nvSpPr>
          <p:spPr bwMode="auto">
            <a:xfrm>
              <a:off x="273050" y="1556792"/>
              <a:ext cx="1799630" cy="2592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E  .E+T 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E  .T 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T  .T*F</a:t>
              </a:r>
              <a:endPara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T  .F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F  .(E) </a:t>
              </a:r>
            </a:p>
            <a:p>
              <a:pPr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F  .id</a:t>
              </a:r>
            </a:p>
          </p:txBody>
        </p:sp>
        <p:sp>
          <p:nvSpPr>
            <p:cNvPr id="74931" name="Rectangle 111"/>
            <p:cNvSpPr>
              <a:spLocks noChangeArrowheads="1"/>
            </p:cNvSpPr>
            <p:nvPr/>
          </p:nvSpPr>
          <p:spPr bwMode="auto">
            <a:xfrm>
              <a:off x="201612" y="1556792"/>
              <a:ext cx="492508" cy="2592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None/>
              </a:pPr>
              <a:endPara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>
                <a:buFontTx/>
                <a:buNone/>
              </a:pPr>
              <a:r>
                <a:rPr lang="en-US" altLang="zh-CN" sz="1800" b="1">
                  <a:solidFill>
                    <a:srgbClr val="9900CC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>
                <a:buFontTx/>
                <a:buNone/>
              </a:pPr>
              <a:r>
                <a:rPr lang="en-US" altLang="zh-CN" sz="1800" b="1">
                  <a:solidFill>
                    <a:srgbClr val="9900CC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  <a:p>
              <a:pPr>
                <a:buFontTx/>
                <a:buNone/>
              </a:pPr>
              <a:r>
                <a:rPr lang="en-US" altLang="zh-CN" sz="1800" b="1">
                  <a:solidFill>
                    <a:srgbClr val="9900CC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</a:p>
            <a:p>
              <a:pPr>
                <a:buFontTx/>
                <a:buNone/>
              </a:pPr>
              <a:r>
                <a:rPr lang="en-US" altLang="zh-CN" sz="1800" b="1">
                  <a:solidFill>
                    <a:srgbClr val="9900CC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4</a:t>
              </a:r>
            </a:p>
            <a:p>
              <a:pPr>
                <a:buFontTx/>
                <a:buNone/>
              </a:pPr>
              <a:r>
                <a:rPr lang="en-US" altLang="zh-CN" sz="1800" b="1">
                  <a:solidFill>
                    <a:srgbClr val="9900CC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</a:p>
            <a:p>
              <a:pPr>
                <a:buFontTx/>
                <a:buNone/>
              </a:pPr>
              <a:r>
                <a:rPr lang="en-US" altLang="zh-CN" sz="1800" b="1">
                  <a:solidFill>
                    <a:srgbClr val="9900CC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6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</a:t>
              </a:r>
            </a:p>
          </p:txBody>
        </p:sp>
      </p:grpSp>
      <p:graphicFrame>
        <p:nvGraphicFramePr>
          <p:cNvPr id="10" name="Group 184"/>
          <p:cNvGraphicFramePr>
            <a:graphicFrameLocks noGrp="1"/>
          </p:cNvGraphicFramePr>
          <p:nvPr/>
        </p:nvGraphicFramePr>
        <p:xfrm>
          <a:off x="2906713" y="1447800"/>
          <a:ext cx="5813425" cy="4760913"/>
        </p:xfrm>
        <a:graphic>
          <a:graphicData uri="http://schemas.openxmlformats.org/drawingml/2006/table">
            <a:tbl>
              <a:tblPr/>
              <a:tblGrid>
                <a:gridCol w="68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71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9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3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state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91435" marR="91435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57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57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8EB737-8065-4611-ABB7-5F7C5F55513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800"/>
          </a:p>
        </p:txBody>
      </p:sp>
      <p:sp>
        <p:nvSpPr>
          <p:cNvPr id="7578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Using Ambiguous Grammars</a:t>
            </a:r>
          </a:p>
        </p:txBody>
      </p:sp>
      <p:sp>
        <p:nvSpPr>
          <p:cNvPr id="7578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25195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All grammars used in the construction of LR-parsing tables must be   un-ambiguous.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Can we create LR-parsing tables for ambiguous grammars ?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Yes, but they will have conflicts.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We can resolve these conflicts in favor of one of them to disambiguate the grammar.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At the end, we will have again an unambiguous grammar.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Why we want to use an ambiguous grammar?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Some of the ambiguous grammars are </a:t>
            </a:r>
            <a:r>
              <a:rPr lang="en-US" altLang="zh-CN" b="1" smtClean="0">
                <a:ea typeface="宋体" panose="02010600030101010101" pitchFamily="2" charset="-122"/>
              </a:rPr>
              <a:t>much natural</a:t>
            </a:r>
            <a:r>
              <a:rPr lang="en-US" altLang="zh-CN" smtClean="0">
                <a:ea typeface="宋体" panose="02010600030101010101" pitchFamily="2" charset="-122"/>
              </a:rPr>
              <a:t>, and a corresponding unambiguous grammar can be very complex.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Usage of an ambiguous grammar may </a:t>
            </a:r>
            <a:r>
              <a:rPr lang="en-US" altLang="zh-CN" b="1" smtClean="0">
                <a:ea typeface="宋体" panose="02010600030101010101" pitchFamily="2" charset="-122"/>
              </a:rPr>
              <a:t>eliminate unnecessary reductions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Ex.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		E  E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  |  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E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 | 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| 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	     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r>
              <a:rPr lang="en-US" altLang="zh-CN" smtClean="0">
                <a:ea typeface="宋体" panose="02010600030101010101" pitchFamily="2" charset="-122"/>
              </a:rPr>
              <a:t>		T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T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  |  F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			F 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|  </a:t>
            </a:r>
            <a:r>
              <a:rPr lang="en-US" altLang="zh-CN" smtClean="0">
                <a:solidFill>
                  <a:srgbClr val="00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en-US" altLang="zh-CN" smtClean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680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680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352379-B38C-4E40-966A-D45A7254B85F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800"/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Sets of LR(0) Items for Ambiguous Grammar</a:t>
            </a:r>
          </a:p>
        </p:txBody>
      </p:sp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533400" y="1219200"/>
            <a:ext cx="1600200" cy="148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0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E’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E+E  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E*E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(E)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326660" name="Text Box 4"/>
          <p:cNvSpPr txBox="1">
            <a:spLocks noChangeArrowheads="1"/>
          </p:cNvSpPr>
          <p:nvPr/>
        </p:nvSpPr>
        <p:spPr bwMode="auto">
          <a:xfrm>
            <a:off x="2514600" y="1219200"/>
            <a:ext cx="17526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1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E’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 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+E  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 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*E</a:t>
            </a:r>
          </a:p>
        </p:txBody>
      </p:sp>
      <p:sp>
        <p:nvSpPr>
          <p:cNvPr id="326661" name="Text Box 5"/>
          <p:cNvSpPr txBox="1">
            <a:spLocks noChangeArrowheads="1"/>
          </p:cNvSpPr>
          <p:nvPr/>
        </p:nvSpPr>
        <p:spPr bwMode="auto">
          <a:xfrm>
            <a:off x="2514600" y="3276600"/>
            <a:ext cx="1600200" cy="148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2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(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E)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E+E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E*E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(E)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2514600" y="5181600"/>
            <a:ext cx="12954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3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id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4724400" y="1219200"/>
            <a:ext cx="1752600" cy="148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4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 +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E+E  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E*E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(E)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id  </a:t>
            </a:r>
          </a:p>
        </p:txBody>
      </p:sp>
      <p:sp>
        <p:nvSpPr>
          <p:cNvPr id="326664" name="Text Box 8"/>
          <p:cNvSpPr txBox="1">
            <a:spLocks noChangeArrowheads="1"/>
          </p:cNvSpPr>
          <p:nvPr/>
        </p:nvSpPr>
        <p:spPr bwMode="auto">
          <a:xfrm>
            <a:off x="4724400" y="2895600"/>
            <a:ext cx="1752600" cy="148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5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 *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E+E  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E*E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(E)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     E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440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id  </a:t>
            </a:r>
          </a:p>
        </p:txBody>
      </p:sp>
      <p:sp>
        <p:nvSpPr>
          <p:cNvPr id="326665" name="Text Box 9"/>
          <p:cNvSpPr txBox="1">
            <a:spLocks noChangeArrowheads="1"/>
          </p:cNvSpPr>
          <p:nvPr/>
        </p:nvSpPr>
        <p:spPr bwMode="auto">
          <a:xfrm>
            <a:off x="4724400" y="4648200"/>
            <a:ext cx="17526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6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(E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+E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*E</a:t>
            </a:r>
          </a:p>
        </p:txBody>
      </p:sp>
      <p:sp>
        <p:nvSpPr>
          <p:cNvPr id="326666" name="Text Box 10"/>
          <p:cNvSpPr txBox="1">
            <a:spLocks noChangeArrowheads="1"/>
          </p:cNvSpPr>
          <p:nvPr/>
        </p:nvSpPr>
        <p:spPr bwMode="auto">
          <a:xfrm>
            <a:off x="7391400" y="1219200"/>
            <a:ext cx="17526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7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E+E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+E  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*E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7467600" y="3048000"/>
            <a:ext cx="17526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8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E*E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sz="180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+E  </a:t>
            </a:r>
          </a:p>
          <a:p>
            <a:pPr>
              <a:lnSpc>
                <a:spcPts val="2200"/>
              </a:lnSpc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     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*E</a:t>
            </a:r>
          </a:p>
        </p:txBody>
      </p:sp>
      <p:sp>
        <p:nvSpPr>
          <p:cNvPr id="326668" name="Text Box 12"/>
          <p:cNvSpPr txBox="1">
            <a:spLocks noChangeArrowheads="1"/>
          </p:cNvSpPr>
          <p:nvPr/>
        </p:nvSpPr>
        <p:spPr bwMode="auto">
          <a:xfrm>
            <a:off x="7543800" y="4648200"/>
            <a:ext cx="14478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200"/>
              </a:lnSpc>
            </a:pPr>
            <a:r>
              <a:rPr lang="en-US" altLang="zh-CN" sz="1800">
                <a:ea typeface="宋体" panose="02010600030101010101" pitchFamily="2" charset="-122"/>
              </a:rPr>
              <a:t>I</a:t>
            </a:r>
            <a:r>
              <a:rPr lang="en-US" altLang="zh-CN" sz="1800" baseline="-25000">
                <a:ea typeface="宋体" panose="02010600030101010101" pitchFamily="2" charset="-122"/>
              </a:rPr>
              <a:t>9</a:t>
            </a:r>
            <a:r>
              <a:rPr lang="en-US" altLang="zh-CN" sz="1800">
                <a:ea typeface="宋体" panose="02010600030101010101" pitchFamily="2" charset="-122"/>
              </a:rPr>
              <a:t>: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(E)</a:t>
            </a:r>
            <a:r>
              <a:rPr lang="en-US" altLang="zh-CN" sz="44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326724" name="Group 68"/>
          <p:cNvGrpSpPr>
            <a:grpSpLocks/>
          </p:cNvGrpSpPr>
          <p:nvPr/>
        </p:nvGrpSpPr>
        <p:grpSpPr bwMode="auto">
          <a:xfrm>
            <a:off x="2057400" y="1143000"/>
            <a:ext cx="565150" cy="4191000"/>
            <a:chOff x="1296" y="720"/>
            <a:chExt cx="356" cy="2640"/>
          </a:xfrm>
        </p:grpSpPr>
        <p:sp>
          <p:nvSpPr>
            <p:cNvPr id="76866" name="Line 15"/>
            <p:cNvSpPr>
              <a:spLocks noChangeShapeType="1"/>
            </p:cNvSpPr>
            <p:nvPr/>
          </p:nvSpPr>
          <p:spPr bwMode="auto">
            <a:xfrm>
              <a:off x="1296" y="912"/>
              <a:ext cx="336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7" name="Line 16"/>
            <p:cNvSpPr>
              <a:spLocks noChangeShapeType="1"/>
            </p:cNvSpPr>
            <p:nvPr/>
          </p:nvSpPr>
          <p:spPr bwMode="auto">
            <a:xfrm>
              <a:off x="1296" y="912"/>
              <a:ext cx="336" cy="124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8" name="Line 17"/>
            <p:cNvSpPr>
              <a:spLocks noChangeShapeType="1"/>
            </p:cNvSpPr>
            <p:nvPr/>
          </p:nvSpPr>
          <p:spPr bwMode="auto">
            <a:xfrm>
              <a:off x="1296" y="912"/>
              <a:ext cx="336" cy="244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69" name="Text Box 42"/>
            <p:cNvSpPr txBox="1">
              <a:spLocks noChangeArrowheads="1"/>
            </p:cNvSpPr>
            <p:nvPr/>
          </p:nvSpPr>
          <p:spPr bwMode="auto">
            <a:xfrm>
              <a:off x="1344" y="720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6870" name="Text Box 54"/>
            <p:cNvSpPr txBox="1">
              <a:spLocks noChangeArrowheads="1"/>
            </p:cNvSpPr>
            <p:nvPr/>
          </p:nvSpPr>
          <p:spPr bwMode="auto">
            <a:xfrm>
              <a:off x="1488" y="1584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6871" name="Text Box 57"/>
            <p:cNvSpPr txBox="1">
              <a:spLocks noChangeArrowheads="1"/>
            </p:cNvSpPr>
            <p:nvPr/>
          </p:nvSpPr>
          <p:spPr bwMode="auto">
            <a:xfrm>
              <a:off x="1344" y="2736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</p:grpSp>
      <p:grpSp>
        <p:nvGrpSpPr>
          <p:cNvPr id="326725" name="Group 69"/>
          <p:cNvGrpSpPr>
            <a:grpSpLocks/>
          </p:cNvGrpSpPr>
          <p:nvPr/>
        </p:nvGrpSpPr>
        <p:grpSpPr bwMode="auto">
          <a:xfrm>
            <a:off x="3314700" y="1143000"/>
            <a:ext cx="1485900" cy="4114800"/>
            <a:chOff x="2088" y="720"/>
            <a:chExt cx="936" cy="2592"/>
          </a:xfrm>
        </p:grpSpPr>
        <p:sp>
          <p:nvSpPr>
            <p:cNvPr id="76856" name="Line 18"/>
            <p:cNvSpPr>
              <a:spLocks noChangeShapeType="1"/>
            </p:cNvSpPr>
            <p:nvPr/>
          </p:nvSpPr>
          <p:spPr bwMode="auto">
            <a:xfrm>
              <a:off x="2640" y="912"/>
              <a:ext cx="336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7" name="Line 19"/>
            <p:cNvSpPr>
              <a:spLocks noChangeShapeType="1"/>
            </p:cNvSpPr>
            <p:nvPr/>
          </p:nvSpPr>
          <p:spPr bwMode="auto">
            <a:xfrm>
              <a:off x="2640" y="912"/>
              <a:ext cx="384" cy="100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8" name="Line 20"/>
            <p:cNvSpPr>
              <a:spLocks noChangeShapeType="1"/>
            </p:cNvSpPr>
            <p:nvPr/>
          </p:nvSpPr>
          <p:spPr bwMode="auto">
            <a:xfrm>
              <a:off x="2592" y="2208"/>
              <a:ext cx="432" cy="81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59" name="Line 21"/>
            <p:cNvSpPr>
              <a:spLocks noChangeShapeType="1"/>
            </p:cNvSpPr>
            <p:nvPr/>
          </p:nvSpPr>
          <p:spPr bwMode="auto">
            <a:xfrm flipH="1">
              <a:off x="2304" y="2208"/>
              <a:ext cx="288" cy="110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6860" name="AutoShape 22"/>
            <p:cNvCxnSpPr>
              <a:cxnSpLocks noChangeShapeType="1"/>
              <a:stCxn id="76859" idx="0"/>
              <a:endCxn id="326661" idx="0"/>
            </p:cNvCxnSpPr>
            <p:nvPr/>
          </p:nvCxnSpPr>
          <p:spPr bwMode="auto">
            <a:xfrm rot="5400000" flipH="1">
              <a:off x="2268" y="1884"/>
              <a:ext cx="144" cy="504"/>
            </a:xfrm>
            <a:prstGeom prst="curvedConnector3">
              <a:avLst>
                <a:gd name="adj1" fmla="val 200000"/>
              </a:avLst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861" name="Text Box 41"/>
            <p:cNvSpPr txBox="1">
              <a:spLocks noChangeArrowheads="1"/>
            </p:cNvSpPr>
            <p:nvPr/>
          </p:nvSpPr>
          <p:spPr bwMode="auto">
            <a:xfrm>
              <a:off x="2780" y="244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6862" name="Text Box 43"/>
            <p:cNvSpPr txBox="1">
              <a:spLocks noChangeArrowheads="1"/>
            </p:cNvSpPr>
            <p:nvPr/>
          </p:nvSpPr>
          <p:spPr bwMode="auto">
            <a:xfrm>
              <a:off x="2784" y="124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6863" name="Text Box 47"/>
            <p:cNvSpPr txBox="1">
              <a:spLocks noChangeArrowheads="1"/>
            </p:cNvSpPr>
            <p:nvPr/>
          </p:nvSpPr>
          <p:spPr bwMode="auto">
            <a:xfrm>
              <a:off x="2688" y="720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6864" name="Text Box 53"/>
            <p:cNvSpPr txBox="1">
              <a:spLocks noChangeArrowheads="1"/>
            </p:cNvSpPr>
            <p:nvPr/>
          </p:nvSpPr>
          <p:spPr bwMode="auto">
            <a:xfrm>
              <a:off x="2304" y="1706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6865" name="Text Box 58"/>
            <p:cNvSpPr txBox="1">
              <a:spLocks noChangeArrowheads="1"/>
            </p:cNvSpPr>
            <p:nvPr/>
          </p:nvSpPr>
          <p:spPr bwMode="auto">
            <a:xfrm>
              <a:off x="2393" y="2832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</p:grpSp>
      <p:grpSp>
        <p:nvGrpSpPr>
          <p:cNvPr id="326727" name="Group 71"/>
          <p:cNvGrpSpPr>
            <a:grpSpLocks/>
          </p:cNvGrpSpPr>
          <p:nvPr/>
        </p:nvGrpSpPr>
        <p:grpSpPr bwMode="auto">
          <a:xfrm>
            <a:off x="8913813" y="1143000"/>
            <a:ext cx="642937" cy="2790825"/>
            <a:chOff x="5615" y="720"/>
            <a:chExt cx="405" cy="1758"/>
          </a:xfrm>
        </p:grpSpPr>
        <p:sp>
          <p:nvSpPr>
            <p:cNvPr id="76844" name="Line 32"/>
            <p:cNvSpPr>
              <a:spLocks noChangeShapeType="1"/>
            </p:cNvSpPr>
            <p:nvPr/>
          </p:nvSpPr>
          <p:spPr bwMode="auto">
            <a:xfrm>
              <a:off x="5616" y="912"/>
              <a:ext cx="19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5" name="Line 33"/>
            <p:cNvSpPr>
              <a:spLocks noChangeShapeType="1"/>
            </p:cNvSpPr>
            <p:nvPr/>
          </p:nvSpPr>
          <p:spPr bwMode="auto">
            <a:xfrm>
              <a:off x="5616" y="912"/>
              <a:ext cx="144" cy="24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6" name="Line 34"/>
            <p:cNvSpPr>
              <a:spLocks noChangeShapeType="1"/>
            </p:cNvSpPr>
            <p:nvPr/>
          </p:nvSpPr>
          <p:spPr bwMode="auto">
            <a:xfrm>
              <a:off x="5664" y="2064"/>
              <a:ext cx="19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7" name="Line 35"/>
            <p:cNvSpPr>
              <a:spLocks noChangeShapeType="1"/>
            </p:cNvSpPr>
            <p:nvPr/>
          </p:nvSpPr>
          <p:spPr bwMode="auto">
            <a:xfrm>
              <a:off x="5664" y="2064"/>
              <a:ext cx="96" cy="24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8" name="Text Box 37"/>
            <p:cNvSpPr txBox="1">
              <a:spLocks noChangeArrowheads="1"/>
            </p:cNvSpPr>
            <p:nvPr/>
          </p:nvSpPr>
          <p:spPr bwMode="auto">
            <a:xfrm>
              <a:off x="5712" y="1008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49" name="Text Box 44"/>
            <p:cNvSpPr txBox="1">
              <a:spLocks noChangeArrowheads="1"/>
            </p:cNvSpPr>
            <p:nvPr/>
          </p:nvSpPr>
          <p:spPr bwMode="auto">
            <a:xfrm>
              <a:off x="5615" y="720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6850" name="Text Box 45"/>
            <p:cNvSpPr txBox="1">
              <a:spLocks noChangeArrowheads="1"/>
            </p:cNvSpPr>
            <p:nvPr/>
          </p:nvSpPr>
          <p:spPr bwMode="auto">
            <a:xfrm>
              <a:off x="5616" y="1872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6851" name="Text Box 48"/>
            <p:cNvSpPr txBox="1">
              <a:spLocks noChangeArrowheads="1"/>
            </p:cNvSpPr>
            <p:nvPr/>
          </p:nvSpPr>
          <p:spPr bwMode="auto">
            <a:xfrm>
              <a:off x="5654" y="206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6852" name="Text Box 49"/>
            <p:cNvSpPr txBox="1">
              <a:spLocks noChangeArrowheads="1"/>
            </p:cNvSpPr>
            <p:nvPr/>
          </p:nvSpPr>
          <p:spPr bwMode="auto">
            <a:xfrm>
              <a:off x="5654" y="91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6853" name="Text Box 64"/>
            <p:cNvSpPr txBox="1">
              <a:spLocks noChangeArrowheads="1"/>
            </p:cNvSpPr>
            <p:nvPr/>
          </p:nvSpPr>
          <p:spPr bwMode="auto">
            <a:xfrm>
              <a:off x="5808" y="1920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54" name="Text Box 65"/>
            <p:cNvSpPr txBox="1">
              <a:spLocks noChangeArrowheads="1"/>
            </p:cNvSpPr>
            <p:nvPr/>
          </p:nvSpPr>
          <p:spPr bwMode="auto">
            <a:xfrm>
              <a:off x="5760" y="768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55" name="Text Box 66"/>
            <p:cNvSpPr txBox="1">
              <a:spLocks noChangeArrowheads="1"/>
            </p:cNvSpPr>
            <p:nvPr/>
          </p:nvSpPr>
          <p:spPr bwMode="auto">
            <a:xfrm>
              <a:off x="5705" y="2247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26726" name="Group 70"/>
          <p:cNvGrpSpPr>
            <a:grpSpLocks/>
          </p:cNvGrpSpPr>
          <p:nvPr/>
        </p:nvGrpSpPr>
        <p:grpSpPr bwMode="auto">
          <a:xfrm>
            <a:off x="6248400" y="1143000"/>
            <a:ext cx="1295400" cy="4710113"/>
            <a:chOff x="3936" y="720"/>
            <a:chExt cx="816" cy="2967"/>
          </a:xfrm>
        </p:grpSpPr>
        <p:sp>
          <p:nvSpPr>
            <p:cNvPr id="76820" name="Line 23"/>
            <p:cNvSpPr>
              <a:spLocks noChangeShapeType="1"/>
            </p:cNvSpPr>
            <p:nvPr/>
          </p:nvSpPr>
          <p:spPr bwMode="auto">
            <a:xfrm>
              <a:off x="3984" y="912"/>
              <a:ext cx="72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1" name="Line 24"/>
            <p:cNvSpPr>
              <a:spLocks noChangeShapeType="1"/>
            </p:cNvSpPr>
            <p:nvPr/>
          </p:nvSpPr>
          <p:spPr bwMode="auto">
            <a:xfrm>
              <a:off x="3984" y="912"/>
              <a:ext cx="384" cy="33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2" name="Line 25"/>
            <p:cNvSpPr>
              <a:spLocks noChangeShapeType="1"/>
            </p:cNvSpPr>
            <p:nvPr/>
          </p:nvSpPr>
          <p:spPr bwMode="auto">
            <a:xfrm>
              <a:off x="3984" y="912"/>
              <a:ext cx="240" cy="57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3" name="Line 26"/>
            <p:cNvSpPr>
              <a:spLocks noChangeShapeType="1"/>
            </p:cNvSpPr>
            <p:nvPr/>
          </p:nvSpPr>
          <p:spPr bwMode="auto">
            <a:xfrm>
              <a:off x="4032" y="1968"/>
              <a:ext cx="720" cy="9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4" name="Line 27"/>
            <p:cNvSpPr>
              <a:spLocks noChangeShapeType="1"/>
            </p:cNvSpPr>
            <p:nvPr/>
          </p:nvSpPr>
          <p:spPr bwMode="auto">
            <a:xfrm>
              <a:off x="4032" y="1968"/>
              <a:ext cx="336" cy="2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5" name="Line 28"/>
            <p:cNvSpPr>
              <a:spLocks noChangeShapeType="1"/>
            </p:cNvSpPr>
            <p:nvPr/>
          </p:nvSpPr>
          <p:spPr bwMode="auto">
            <a:xfrm>
              <a:off x="4032" y="1968"/>
              <a:ext cx="192" cy="48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6" name="Line 29"/>
            <p:cNvSpPr>
              <a:spLocks noChangeShapeType="1"/>
            </p:cNvSpPr>
            <p:nvPr/>
          </p:nvSpPr>
          <p:spPr bwMode="auto">
            <a:xfrm>
              <a:off x="3984" y="3072"/>
              <a:ext cx="76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7" name="Line 30"/>
            <p:cNvSpPr>
              <a:spLocks noChangeShapeType="1"/>
            </p:cNvSpPr>
            <p:nvPr/>
          </p:nvSpPr>
          <p:spPr bwMode="auto">
            <a:xfrm>
              <a:off x="3984" y="3072"/>
              <a:ext cx="384" cy="2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8" name="Line 31"/>
            <p:cNvSpPr>
              <a:spLocks noChangeShapeType="1"/>
            </p:cNvSpPr>
            <p:nvPr/>
          </p:nvSpPr>
          <p:spPr bwMode="auto">
            <a:xfrm>
              <a:off x="3984" y="3072"/>
              <a:ext cx="336" cy="52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9" name="Text Box 38"/>
            <p:cNvSpPr txBox="1">
              <a:spLocks noChangeArrowheads="1"/>
            </p:cNvSpPr>
            <p:nvPr/>
          </p:nvSpPr>
          <p:spPr bwMode="auto">
            <a:xfrm>
              <a:off x="4320" y="2880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76830" name="Text Box 39"/>
            <p:cNvSpPr txBox="1">
              <a:spLocks noChangeArrowheads="1"/>
            </p:cNvSpPr>
            <p:nvPr/>
          </p:nvSpPr>
          <p:spPr bwMode="auto">
            <a:xfrm>
              <a:off x="4272" y="1824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6831" name="Text Box 40"/>
            <p:cNvSpPr txBox="1">
              <a:spLocks noChangeArrowheads="1"/>
            </p:cNvSpPr>
            <p:nvPr/>
          </p:nvSpPr>
          <p:spPr bwMode="auto">
            <a:xfrm>
              <a:off x="4224" y="720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6832" name="Text Box 46"/>
            <p:cNvSpPr txBox="1">
              <a:spLocks noChangeArrowheads="1"/>
            </p:cNvSpPr>
            <p:nvPr/>
          </p:nvSpPr>
          <p:spPr bwMode="auto">
            <a:xfrm>
              <a:off x="4148" y="3072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6833" name="Text Box 50"/>
            <p:cNvSpPr txBox="1">
              <a:spLocks noChangeArrowheads="1"/>
            </p:cNvSpPr>
            <p:nvPr/>
          </p:nvSpPr>
          <p:spPr bwMode="auto">
            <a:xfrm>
              <a:off x="4163" y="329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CC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6834" name="Text Box 51"/>
            <p:cNvSpPr txBox="1">
              <a:spLocks noChangeArrowheads="1"/>
            </p:cNvSpPr>
            <p:nvPr/>
          </p:nvSpPr>
          <p:spPr bwMode="auto">
            <a:xfrm>
              <a:off x="4181" y="912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6835" name="Text Box 52"/>
            <p:cNvSpPr txBox="1">
              <a:spLocks noChangeArrowheads="1"/>
            </p:cNvSpPr>
            <p:nvPr/>
          </p:nvSpPr>
          <p:spPr bwMode="auto">
            <a:xfrm>
              <a:off x="4226" y="1968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6836" name="Text Box 55"/>
            <p:cNvSpPr txBox="1">
              <a:spLocks noChangeArrowheads="1"/>
            </p:cNvSpPr>
            <p:nvPr/>
          </p:nvSpPr>
          <p:spPr bwMode="auto">
            <a:xfrm>
              <a:off x="3984" y="1200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6837" name="Text Box 56"/>
            <p:cNvSpPr txBox="1">
              <a:spLocks noChangeArrowheads="1"/>
            </p:cNvSpPr>
            <p:nvPr/>
          </p:nvSpPr>
          <p:spPr bwMode="auto">
            <a:xfrm>
              <a:off x="3936" y="2160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6838" name="Text Box 59"/>
            <p:cNvSpPr txBox="1">
              <a:spLocks noChangeArrowheads="1"/>
            </p:cNvSpPr>
            <p:nvPr/>
          </p:nvSpPr>
          <p:spPr bwMode="auto">
            <a:xfrm>
              <a:off x="4320" y="3216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39" name="Text Box 60"/>
            <p:cNvSpPr txBox="1">
              <a:spLocks noChangeArrowheads="1"/>
            </p:cNvSpPr>
            <p:nvPr/>
          </p:nvSpPr>
          <p:spPr bwMode="auto">
            <a:xfrm>
              <a:off x="4320" y="2112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40" name="Text Box 61"/>
            <p:cNvSpPr txBox="1">
              <a:spLocks noChangeArrowheads="1"/>
            </p:cNvSpPr>
            <p:nvPr/>
          </p:nvSpPr>
          <p:spPr bwMode="auto">
            <a:xfrm>
              <a:off x="4320" y="1104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41" name="Text Box 62"/>
            <p:cNvSpPr txBox="1">
              <a:spLocks noChangeArrowheads="1"/>
            </p:cNvSpPr>
            <p:nvPr/>
          </p:nvSpPr>
          <p:spPr bwMode="auto">
            <a:xfrm>
              <a:off x="4176" y="1344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42" name="Text Box 63"/>
            <p:cNvSpPr txBox="1">
              <a:spLocks noChangeArrowheads="1"/>
            </p:cNvSpPr>
            <p:nvPr/>
          </p:nvSpPr>
          <p:spPr bwMode="auto">
            <a:xfrm>
              <a:off x="4176" y="2304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843" name="Text Box 67"/>
            <p:cNvSpPr txBox="1">
              <a:spLocks noChangeArrowheads="1"/>
            </p:cNvSpPr>
            <p:nvPr/>
          </p:nvSpPr>
          <p:spPr bwMode="auto">
            <a:xfrm>
              <a:off x="4272" y="3456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CC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1800" baseline="-25000">
                  <a:solidFill>
                    <a:srgbClr val="CC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1800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2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2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2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2000"/>
                                        <p:tgtEl>
                                          <p:spTgt spid="32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/>
      <p:bldP spid="326660" grpId="0"/>
      <p:bldP spid="326661" grpId="0"/>
      <p:bldP spid="326662" grpId="0"/>
      <p:bldP spid="326663" grpId="0"/>
      <p:bldP spid="326664" grpId="0"/>
      <p:bldP spid="326665" grpId="0"/>
      <p:bldP spid="326666" grpId="0"/>
      <p:bldP spid="326667" grpId="0"/>
      <p:bldP spid="32666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782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78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4566EC-377D-4F3A-9223-1A5690602CF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800"/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SLR-Parsing Tables for Ambiguous Grammar</a:t>
            </a:r>
          </a:p>
        </p:txBody>
      </p:sp>
      <p:sp>
        <p:nvSpPr>
          <p:cNvPr id="77830" name="Text Box 3"/>
          <p:cNvSpPr txBox="1">
            <a:spLocks noChangeArrowheads="1"/>
          </p:cNvSpPr>
          <p:nvPr/>
        </p:nvSpPr>
        <p:spPr bwMode="auto">
          <a:xfrm>
            <a:off x="593725" y="1052513"/>
            <a:ext cx="388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FOLLOW(E) = {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$,+,*,)</a:t>
            </a:r>
            <a:r>
              <a:rPr lang="en-US" altLang="zh-CN"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77831" name="Text Box 4"/>
          <p:cNvSpPr txBox="1">
            <a:spLocks noChangeArrowheads="1"/>
          </p:cNvSpPr>
          <p:nvPr/>
        </p:nvSpPr>
        <p:spPr bwMode="auto">
          <a:xfrm>
            <a:off x="533400" y="1676400"/>
            <a:ext cx="6824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State I</a:t>
            </a:r>
            <a:r>
              <a:rPr lang="en-US" altLang="zh-CN" baseline="-25000">
                <a:ea typeface="宋体" panose="02010600030101010101" pitchFamily="2" charset="-122"/>
              </a:rPr>
              <a:t>7</a:t>
            </a:r>
            <a:r>
              <a:rPr lang="en-US" altLang="zh-CN">
                <a:ea typeface="宋体" panose="02010600030101010101" pitchFamily="2" charset="-122"/>
              </a:rPr>
              <a:t> has shift/reduce conflicts for symbols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+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*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77832" name="Group 17"/>
          <p:cNvGrpSpPr>
            <a:grpSpLocks/>
          </p:cNvGrpSpPr>
          <p:nvPr/>
        </p:nvGrpSpPr>
        <p:grpSpPr bwMode="auto">
          <a:xfrm>
            <a:off x="914400" y="2438400"/>
            <a:ext cx="3435350" cy="533400"/>
            <a:chOff x="864" y="1536"/>
            <a:chExt cx="2164" cy="336"/>
          </a:xfrm>
        </p:grpSpPr>
        <p:sp>
          <p:nvSpPr>
            <p:cNvPr id="77835" name="Text Box 6"/>
            <p:cNvSpPr txBox="1">
              <a:spLocks noChangeArrowheads="1"/>
            </p:cNvSpPr>
            <p:nvPr/>
          </p:nvSpPr>
          <p:spPr bwMode="auto">
            <a:xfrm>
              <a:off x="864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36" name="Text Box 7"/>
            <p:cNvSpPr txBox="1">
              <a:spLocks noChangeArrowheads="1"/>
            </p:cNvSpPr>
            <p:nvPr/>
          </p:nvSpPr>
          <p:spPr bwMode="auto">
            <a:xfrm>
              <a:off x="1536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7837" name="Text Box 8"/>
            <p:cNvSpPr txBox="1">
              <a:spLocks noChangeArrowheads="1"/>
            </p:cNvSpPr>
            <p:nvPr/>
          </p:nvSpPr>
          <p:spPr bwMode="auto">
            <a:xfrm>
              <a:off x="2784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77838" name="Text Box 9"/>
            <p:cNvSpPr txBox="1">
              <a:spLocks noChangeArrowheads="1"/>
            </p:cNvSpPr>
            <p:nvPr/>
          </p:nvSpPr>
          <p:spPr bwMode="auto">
            <a:xfrm>
              <a:off x="2160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7839" name="Line 10"/>
            <p:cNvSpPr>
              <a:spLocks noChangeShapeType="1"/>
            </p:cNvSpPr>
            <p:nvPr/>
          </p:nvSpPr>
          <p:spPr bwMode="auto">
            <a:xfrm>
              <a:off x="1104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0" name="Line 11"/>
            <p:cNvSpPr>
              <a:spLocks noChangeShapeType="1"/>
            </p:cNvSpPr>
            <p:nvPr/>
          </p:nvSpPr>
          <p:spPr bwMode="auto">
            <a:xfrm>
              <a:off x="2352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1" name="Line 12"/>
            <p:cNvSpPr>
              <a:spLocks noChangeShapeType="1"/>
            </p:cNvSpPr>
            <p:nvPr/>
          </p:nvSpPr>
          <p:spPr bwMode="auto">
            <a:xfrm>
              <a:off x="1728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2" name="Text Box 13"/>
            <p:cNvSpPr txBox="1">
              <a:spLocks noChangeArrowheads="1"/>
            </p:cNvSpPr>
            <p:nvPr/>
          </p:nvSpPr>
          <p:spPr bwMode="auto">
            <a:xfrm>
              <a:off x="2448" y="153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7843" name="Text Box 14"/>
            <p:cNvSpPr txBox="1">
              <a:spLocks noChangeArrowheads="1"/>
            </p:cNvSpPr>
            <p:nvPr/>
          </p:nvSpPr>
          <p:spPr bwMode="auto">
            <a:xfrm>
              <a:off x="1776" y="1536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7844" name="Text Box 15"/>
            <p:cNvSpPr txBox="1">
              <a:spLocks noChangeArrowheads="1"/>
            </p:cNvSpPr>
            <p:nvPr/>
          </p:nvSpPr>
          <p:spPr bwMode="auto">
            <a:xfrm>
              <a:off x="1200" y="153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E</a:t>
              </a:r>
            </a:p>
          </p:txBody>
        </p:sp>
      </p:grpSp>
      <p:sp>
        <p:nvSpPr>
          <p:cNvPr id="77833" name="Text Box 18"/>
          <p:cNvSpPr txBox="1">
            <a:spLocks noChangeArrowheads="1"/>
          </p:cNvSpPr>
          <p:nvPr/>
        </p:nvSpPr>
        <p:spPr bwMode="auto">
          <a:xfrm>
            <a:off x="1447800" y="3124200"/>
            <a:ext cx="44275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when current token is +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  shift    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 + is right-associative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    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reduce   + is left-associative</a:t>
            </a:r>
            <a:endParaRPr lang="en-US" altLang="zh-CN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77834" name="Text Box 19"/>
          <p:cNvSpPr txBox="1">
            <a:spLocks noChangeArrowheads="1"/>
          </p:cNvSpPr>
          <p:nvPr/>
        </p:nvSpPr>
        <p:spPr bwMode="auto">
          <a:xfrm>
            <a:off x="1524000" y="4648200"/>
            <a:ext cx="56356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when current token is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 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shift   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 * has higher precedence than +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     reduce  + has higher precedence than *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885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885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B22543-93E7-47C1-8592-7D92E0AD013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800"/>
          </a:p>
        </p:txBody>
      </p:sp>
      <p:sp>
        <p:nvSpPr>
          <p:cNvPr id="788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SLR-Parsing Tables for Ambiguous Grammar</a:t>
            </a:r>
          </a:p>
        </p:txBody>
      </p:sp>
      <p:sp>
        <p:nvSpPr>
          <p:cNvPr id="78854" name="Text Box 3"/>
          <p:cNvSpPr txBox="1">
            <a:spLocks noChangeArrowheads="1"/>
          </p:cNvSpPr>
          <p:nvPr/>
        </p:nvSpPr>
        <p:spPr bwMode="auto">
          <a:xfrm>
            <a:off x="593725" y="1052513"/>
            <a:ext cx="388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FOLLOW(E) = {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$,+,*,)</a:t>
            </a:r>
            <a:r>
              <a:rPr lang="en-US" altLang="zh-CN"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78855" name="Text Box 4"/>
          <p:cNvSpPr txBox="1">
            <a:spLocks noChangeArrowheads="1"/>
          </p:cNvSpPr>
          <p:nvPr/>
        </p:nvSpPr>
        <p:spPr bwMode="auto">
          <a:xfrm>
            <a:off x="533400" y="1676400"/>
            <a:ext cx="6824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State I</a:t>
            </a:r>
            <a:r>
              <a:rPr lang="en-US" altLang="zh-CN" baseline="-25000">
                <a:ea typeface="宋体" panose="02010600030101010101" pitchFamily="2" charset="-122"/>
              </a:rPr>
              <a:t>8</a:t>
            </a:r>
            <a:r>
              <a:rPr lang="en-US" altLang="zh-CN">
                <a:ea typeface="宋体" panose="02010600030101010101" pitchFamily="2" charset="-122"/>
              </a:rPr>
              <a:t> has shift/reduce conflicts for symbols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+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*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78856" name="Group 5"/>
          <p:cNvGrpSpPr>
            <a:grpSpLocks/>
          </p:cNvGrpSpPr>
          <p:nvPr/>
        </p:nvGrpSpPr>
        <p:grpSpPr bwMode="auto">
          <a:xfrm>
            <a:off x="914400" y="2438400"/>
            <a:ext cx="3435350" cy="533400"/>
            <a:chOff x="864" y="1536"/>
            <a:chExt cx="2164" cy="336"/>
          </a:xfrm>
        </p:grpSpPr>
        <p:sp>
          <p:nvSpPr>
            <p:cNvPr id="78859" name="Text Box 6"/>
            <p:cNvSpPr txBox="1">
              <a:spLocks noChangeArrowheads="1"/>
            </p:cNvSpPr>
            <p:nvPr/>
          </p:nvSpPr>
          <p:spPr bwMode="auto">
            <a:xfrm>
              <a:off x="864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860" name="Text Box 7"/>
            <p:cNvSpPr txBox="1">
              <a:spLocks noChangeArrowheads="1"/>
            </p:cNvSpPr>
            <p:nvPr/>
          </p:nvSpPr>
          <p:spPr bwMode="auto">
            <a:xfrm>
              <a:off x="1536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8861" name="Text Box 8"/>
            <p:cNvSpPr txBox="1">
              <a:spLocks noChangeArrowheads="1"/>
            </p:cNvSpPr>
            <p:nvPr/>
          </p:nvSpPr>
          <p:spPr bwMode="auto">
            <a:xfrm>
              <a:off x="2784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8862" name="Text Box 9"/>
            <p:cNvSpPr txBox="1">
              <a:spLocks noChangeArrowheads="1"/>
            </p:cNvSpPr>
            <p:nvPr/>
          </p:nvSpPr>
          <p:spPr bwMode="auto">
            <a:xfrm>
              <a:off x="2160" y="158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panose="02010600030101010101" pitchFamily="2" charset="-122"/>
                </a:rPr>
                <a:t>I</a:t>
              </a:r>
              <a:r>
                <a:rPr lang="en-US" altLang="zh-CN" baseline="-250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8863" name="Line 10"/>
            <p:cNvSpPr>
              <a:spLocks noChangeShapeType="1"/>
            </p:cNvSpPr>
            <p:nvPr/>
          </p:nvSpPr>
          <p:spPr bwMode="auto">
            <a:xfrm>
              <a:off x="1104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4" name="Line 11"/>
            <p:cNvSpPr>
              <a:spLocks noChangeShapeType="1"/>
            </p:cNvSpPr>
            <p:nvPr/>
          </p:nvSpPr>
          <p:spPr bwMode="auto">
            <a:xfrm>
              <a:off x="2352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5" name="Line 12"/>
            <p:cNvSpPr>
              <a:spLocks noChangeShapeType="1"/>
            </p:cNvSpPr>
            <p:nvPr/>
          </p:nvSpPr>
          <p:spPr bwMode="auto">
            <a:xfrm>
              <a:off x="1728" y="17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6" name="Text Box 13"/>
            <p:cNvSpPr txBox="1">
              <a:spLocks noChangeArrowheads="1"/>
            </p:cNvSpPr>
            <p:nvPr/>
          </p:nvSpPr>
          <p:spPr bwMode="auto">
            <a:xfrm>
              <a:off x="2448" y="153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8867" name="Text Box 14"/>
            <p:cNvSpPr txBox="1">
              <a:spLocks noChangeArrowheads="1"/>
            </p:cNvSpPr>
            <p:nvPr/>
          </p:nvSpPr>
          <p:spPr bwMode="auto">
            <a:xfrm>
              <a:off x="1776" y="153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8868" name="Text Box 15"/>
            <p:cNvSpPr txBox="1">
              <a:spLocks noChangeArrowheads="1"/>
            </p:cNvSpPr>
            <p:nvPr/>
          </p:nvSpPr>
          <p:spPr bwMode="auto">
            <a:xfrm>
              <a:off x="1200" y="1536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E</a:t>
              </a:r>
            </a:p>
          </p:txBody>
        </p:sp>
      </p:grpSp>
      <p:sp>
        <p:nvSpPr>
          <p:cNvPr id="78857" name="Text Box 16"/>
          <p:cNvSpPr txBox="1">
            <a:spLocks noChangeArrowheads="1"/>
          </p:cNvSpPr>
          <p:nvPr/>
        </p:nvSpPr>
        <p:spPr bwMode="auto">
          <a:xfrm>
            <a:off x="1447800" y="3124200"/>
            <a:ext cx="44084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when current token is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  shift    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 * is right-associative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    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reduce   * is left-associative</a:t>
            </a:r>
            <a:endParaRPr lang="en-US" altLang="zh-CN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78858" name="Text Box 17"/>
          <p:cNvSpPr txBox="1">
            <a:spLocks noChangeArrowheads="1"/>
          </p:cNvSpPr>
          <p:nvPr/>
        </p:nvSpPr>
        <p:spPr bwMode="auto">
          <a:xfrm>
            <a:off x="1524000" y="4648200"/>
            <a:ext cx="56356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when current token is +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  shift   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 + has higher precedence than 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    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reduce  * has higher precedence than +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79875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7987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6FAAC7-8285-47A2-A131-A8D870E5AA6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zh-CN" sz="800"/>
          </a:p>
        </p:txBody>
      </p:sp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SLR-Parsing Tables for Ambiguous Grammar</a:t>
            </a:r>
          </a:p>
        </p:txBody>
      </p:sp>
      <p:graphicFrame>
        <p:nvGraphicFramePr>
          <p:cNvPr id="331915" name="Group 139"/>
          <p:cNvGraphicFramePr>
            <a:graphicFrameLocks noGrp="1"/>
          </p:cNvGraphicFramePr>
          <p:nvPr/>
        </p:nvGraphicFramePr>
        <p:xfrm>
          <a:off x="1676400" y="1447800"/>
          <a:ext cx="6070600" cy="5043488"/>
        </p:xfrm>
        <a:graphic>
          <a:graphicData uri="http://schemas.openxmlformats.org/drawingml/2006/table">
            <a:tbl>
              <a:tblPr/>
              <a:tblGrid>
                <a:gridCol w="73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49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54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s9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5" marR="914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0000" name="Text Box 130"/>
          <p:cNvSpPr txBox="1">
            <a:spLocks noChangeArrowheads="1"/>
          </p:cNvSpPr>
          <p:nvPr/>
        </p:nvSpPr>
        <p:spPr bwMode="auto">
          <a:xfrm>
            <a:off x="3352800" y="990600"/>
            <a:ext cx="104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Action</a:t>
            </a:r>
          </a:p>
        </p:txBody>
      </p:sp>
      <p:sp>
        <p:nvSpPr>
          <p:cNvPr id="80001" name="Text Box 131"/>
          <p:cNvSpPr txBox="1">
            <a:spLocks noChangeArrowheads="1"/>
          </p:cNvSpPr>
          <p:nvPr/>
        </p:nvSpPr>
        <p:spPr bwMode="auto">
          <a:xfrm>
            <a:off x="6934200" y="990600"/>
            <a:ext cx="82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Goto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808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809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C3564B-1415-4247-AB76-C38500CA6F0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zh-CN" sz="800"/>
          </a:p>
        </p:txBody>
      </p:sp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Error Recovery in LR Parsing</a:t>
            </a:r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An LR parser will detect an error when it consults the parsing action table and finds an error entry. All empty entries in the action table are error entries.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Errors are never detected by consulting the goto table.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An LR parser will announce error as soon as there is no valid continuation for the scanned portion of the input.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canonical LR parser (LR(1) parser) will never make even a single reduction before announcing an error.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SLR and LALR parsers may make several reductions before announcing an error.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But, all LR parsers (LR(1), LALR and SLR parsers) will never shift an erroneous input symbol onto the stack.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819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819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2F63D1-24DF-4870-9469-2DAD38F0BA8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zh-CN" sz="800"/>
          </a:p>
        </p:txBody>
      </p:sp>
      <p:sp>
        <p:nvSpPr>
          <p:cNvPr id="819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Panic Mode Error Recovery in LR Parsing</a:t>
            </a:r>
          </a:p>
        </p:txBody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Scan down the stack until a state </a:t>
            </a:r>
            <a:r>
              <a:rPr lang="en-US" altLang="zh-CN" b="1" smtClean="0">
                <a:ea typeface="宋体" panose="02010600030101010101" pitchFamily="2" charset="-122"/>
              </a:rPr>
              <a:t>s</a:t>
            </a:r>
            <a:r>
              <a:rPr lang="en-US" altLang="zh-CN" smtClean="0">
                <a:ea typeface="宋体" panose="02010600030101010101" pitchFamily="2" charset="-122"/>
              </a:rPr>
              <a:t> with a goto on a particular nonterminal </a:t>
            </a:r>
            <a:r>
              <a:rPr lang="en-US" altLang="zh-CN" b="1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 is found. (Get rid of everything from the stack before this state s).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Discard zero or more input symbols until a symbol </a:t>
            </a:r>
            <a:r>
              <a:rPr lang="en-US" altLang="zh-CN" b="1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 is found that can legitimately follow A.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The symbol a is simply in FOLLOW(A), but this may not work for all situations.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parser stacks the nonterminal </a:t>
            </a:r>
            <a:r>
              <a:rPr lang="en-US" altLang="zh-CN" b="1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 and  the state </a:t>
            </a:r>
            <a:r>
              <a:rPr lang="en-US" altLang="zh-CN" b="1" smtClean="0">
                <a:ea typeface="宋体" panose="02010600030101010101" pitchFamily="2" charset="-122"/>
              </a:rPr>
              <a:t>goto[s,A]</a:t>
            </a:r>
            <a:r>
              <a:rPr lang="en-US" altLang="zh-CN" smtClean="0">
                <a:ea typeface="宋体" panose="02010600030101010101" pitchFamily="2" charset="-122"/>
              </a:rPr>
              <a:t>, and it resumes the normal parsing.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This nonterminal A is normally is a basic programming block (there can be more than one choice for A).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stmt, expr, block, ...</a:t>
            </a: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829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829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919C01-B725-42AD-AE1C-EB4BFF5E47D8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zh-CN" sz="800"/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Phrase-Level Error Recovery in LR Parsing</a:t>
            </a:r>
          </a:p>
        </p:txBody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Each empty entry in the action table is marked with a specific error routine.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An error routine  reflects the error that the user most likely will make in that case.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An error routine inserts the symbols into the stack or the input (or it deletes the symbols from the stack and the input, or it can do both insertion and deletion).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missing operand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unbalanced right parenthesis</a:t>
            </a: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◎2005 ECNU SEI</a:t>
            </a:r>
            <a:endParaRPr lang="en-US" altLang="zh-CN" sz="800" smtClean="0"/>
          </a:p>
        </p:txBody>
      </p:sp>
      <p:sp>
        <p:nvSpPr>
          <p:cNvPr id="839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/>
              <a:t>CS416 Compiler Design</a:t>
            </a:r>
            <a:endParaRPr lang="en-US" altLang="zh-CN" sz="800" smtClean="0"/>
          </a:p>
        </p:txBody>
      </p:sp>
      <p:sp>
        <p:nvSpPr>
          <p:cNvPr id="839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AEC89B-67B7-44FB-B3E0-E969B4EB3FC7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zh-CN" sz="800"/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893175" cy="473075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理解自底向上语法分析器的工作原理－－采用栈实现的移进</a:t>
            </a:r>
            <a:r>
              <a:rPr lang="en-US" altLang="zh-CN" smtClean="0">
                <a:ea typeface="宋体" panose="02010600030101010101" pitchFamily="2" charset="-122"/>
              </a:rPr>
              <a:t>-</a:t>
            </a:r>
            <a:r>
              <a:rPr lang="zh-CN" altLang="en-US" smtClean="0">
                <a:ea typeface="宋体" panose="02010600030101010101" pitchFamily="2" charset="-122"/>
              </a:rPr>
              <a:t>规约语法分析方法，掌握句柄（</a:t>
            </a:r>
            <a:r>
              <a:rPr lang="en-US" altLang="zh-CN" smtClean="0">
                <a:ea typeface="宋体" panose="02010600030101010101" pitchFamily="2" charset="-122"/>
              </a:rPr>
              <a:t>handle</a:t>
            </a:r>
            <a:r>
              <a:rPr lang="zh-CN" altLang="en-US" smtClean="0">
                <a:ea typeface="宋体" panose="02010600030101010101" pitchFamily="2" charset="-122"/>
              </a:rPr>
              <a:t>）的概念。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理解算符优先的语法分析方法。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掌握</a:t>
            </a:r>
            <a:r>
              <a:rPr lang="en-US" altLang="zh-CN" smtClean="0">
                <a:ea typeface="宋体" panose="02010600030101010101" pitchFamily="2" charset="-122"/>
              </a:rPr>
              <a:t>LR</a:t>
            </a:r>
            <a:r>
              <a:rPr lang="zh-CN" altLang="en-US" smtClean="0">
                <a:ea typeface="宋体" panose="02010600030101010101" pitchFamily="2" charset="-122"/>
              </a:rPr>
              <a:t>语法分析方法－－</a:t>
            </a:r>
            <a:r>
              <a:rPr lang="en-US" altLang="zh-CN" smtClean="0">
                <a:ea typeface="宋体" panose="02010600030101010101" pitchFamily="2" charset="-122"/>
              </a:rPr>
              <a:t>SLR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LR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LALR</a:t>
            </a:r>
            <a:r>
              <a:rPr lang="zh-CN" altLang="en-US" smtClean="0">
                <a:ea typeface="宋体" panose="02010600030101010101" pitchFamily="2" charset="-122"/>
              </a:rPr>
              <a:t>，理解</a:t>
            </a:r>
            <a:r>
              <a:rPr lang="en-US" altLang="zh-CN" smtClean="0">
                <a:ea typeface="宋体" panose="02010600030101010101" pitchFamily="2" charset="-122"/>
              </a:rPr>
              <a:t>closure</a:t>
            </a:r>
            <a:r>
              <a:rPr lang="zh-CN" altLang="en-US" smtClean="0">
                <a:ea typeface="宋体" panose="02010600030101010101" pitchFamily="2" charset="-122"/>
              </a:rPr>
              <a:t>操作和</a:t>
            </a:r>
            <a:r>
              <a:rPr lang="en-US" altLang="zh-CN" smtClean="0">
                <a:ea typeface="宋体" panose="02010600030101010101" pitchFamily="2" charset="-122"/>
              </a:rPr>
              <a:t>goto</a:t>
            </a:r>
            <a:r>
              <a:rPr lang="zh-CN" altLang="en-US" smtClean="0">
                <a:ea typeface="宋体" panose="02010600030101010101" pitchFamily="2" charset="-122"/>
              </a:rPr>
              <a:t>操作，并能够构造</a:t>
            </a:r>
            <a:r>
              <a:rPr lang="en-US" altLang="zh-CN" smtClean="0">
                <a:ea typeface="宋体" panose="02010600030101010101" pitchFamily="2" charset="-122"/>
              </a:rPr>
              <a:t>SLR(1)</a:t>
            </a:r>
            <a:r>
              <a:rPr lang="zh-CN" altLang="en-US" smtClean="0">
                <a:ea typeface="宋体" panose="02010600030101010101" pitchFamily="2" charset="-122"/>
              </a:rPr>
              <a:t>、 </a:t>
            </a:r>
            <a:r>
              <a:rPr lang="en-US" altLang="zh-CN" smtClean="0">
                <a:ea typeface="宋体" panose="02010600030101010101" pitchFamily="2" charset="-122"/>
              </a:rPr>
              <a:t>LR(1)</a:t>
            </a:r>
            <a:r>
              <a:rPr lang="zh-CN" altLang="en-US" smtClean="0">
                <a:ea typeface="宋体" panose="02010600030101010101" pitchFamily="2" charset="-122"/>
              </a:rPr>
              <a:t>、 </a:t>
            </a:r>
            <a:r>
              <a:rPr lang="en-US" altLang="zh-CN" smtClean="0">
                <a:ea typeface="宋体" panose="02010600030101010101" pitchFamily="2" charset="-122"/>
              </a:rPr>
              <a:t>LALR(1)</a:t>
            </a:r>
            <a:r>
              <a:rPr lang="zh-CN" altLang="en-US" smtClean="0">
                <a:ea typeface="宋体" panose="02010600030101010101" pitchFamily="2" charset="-122"/>
              </a:rPr>
              <a:t>语法分析表。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13384</TotalTime>
  <Words>6220</Words>
  <Application>Microsoft Office PowerPoint</Application>
  <PresentationFormat>A4 纸张(210x297 毫米)</PresentationFormat>
  <Paragraphs>2249</Paragraphs>
  <Slides>81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90" baseType="lpstr">
      <vt:lpstr>Times New Roman</vt:lpstr>
      <vt:lpstr>Arial</vt:lpstr>
      <vt:lpstr>宋体</vt:lpstr>
      <vt:lpstr>Symbol</vt:lpstr>
      <vt:lpstr>Wingdings</vt:lpstr>
      <vt:lpstr>Courier New</vt:lpstr>
      <vt:lpstr>Default Design</vt:lpstr>
      <vt:lpstr>Microsoft Visio 绘图</vt:lpstr>
      <vt:lpstr>Microsoft Visio Drawing</vt:lpstr>
      <vt:lpstr>Exercises </vt:lpstr>
      <vt:lpstr>Bottom-Up Parsing (P.195)</vt:lpstr>
      <vt:lpstr>Shift-Reduce Parsing</vt:lpstr>
      <vt:lpstr>Shift-Reduce Parsing -- Example</vt:lpstr>
      <vt:lpstr>Handle</vt:lpstr>
      <vt:lpstr>Handle Pruning (P.197)</vt:lpstr>
      <vt:lpstr>A Shift-Reduce Parser</vt:lpstr>
      <vt:lpstr>A Stack Implementation of A Shift-Reduce Parser (P.198)</vt:lpstr>
      <vt:lpstr>A Stack Implementation of A Shift-Reduce Parser </vt:lpstr>
      <vt:lpstr>Conflicts During Shift-Reduce Parsing (P.201)</vt:lpstr>
      <vt:lpstr>Shift-Reduce Parsers</vt:lpstr>
      <vt:lpstr>Operator-Precedence Parser (P.203)</vt:lpstr>
      <vt:lpstr>Precedence Relations</vt:lpstr>
      <vt:lpstr>Using Operator-Precedence Relations (P.204)</vt:lpstr>
      <vt:lpstr>Using Operator -Precedence Relations</vt:lpstr>
      <vt:lpstr>To Find The Handles</vt:lpstr>
      <vt:lpstr>Operator-Precedence Parsing Algorithm (P.206)</vt:lpstr>
      <vt:lpstr>Operator-Precedence Parsing Algorithm -- Example</vt:lpstr>
      <vt:lpstr>How to Create Operator-Precedence Relations (P.207)</vt:lpstr>
      <vt:lpstr>Operator-Precedence Relations (P.208)</vt:lpstr>
      <vt:lpstr>Exercise </vt:lpstr>
      <vt:lpstr>PowerPoint 演示文稿</vt:lpstr>
      <vt:lpstr>Handling Unary Minus (P.208)</vt:lpstr>
      <vt:lpstr>Precedence Functions (P.208)</vt:lpstr>
      <vt:lpstr>Disadvantages of Operator Precedence Parsing</vt:lpstr>
      <vt:lpstr>Error Recovery in Operator-Precedence Parsing</vt:lpstr>
      <vt:lpstr>LR Parsers (P.215)</vt:lpstr>
      <vt:lpstr>LR Parsers</vt:lpstr>
      <vt:lpstr>LR Parsing Algorithm (P.216)</vt:lpstr>
      <vt:lpstr>A Configuration of LR Parsing Algorithm</vt:lpstr>
      <vt:lpstr>Actions of A LR-Parser (P.218)</vt:lpstr>
      <vt:lpstr>Reduce Action</vt:lpstr>
      <vt:lpstr>(SLR) Parsing Tables for Expression Grammar (P.219)</vt:lpstr>
      <vt:lpstr>Actions of A (S)LR-Parser – Example (P.220)</vt:lpstr>
      <vt:lpstr>Constructing SLR Parsing Tables – LR(0) Item (P.221)</vt:lpstr>
      <vt:lpstr>Closure Operation (P.222)</vt:lpstr>
      <vt:lpstr>Closure Operation  -- Example (P.223)</vt:lpstr>
      <vt:lpstr>Goto Operation (P.224)</vt:lpstr>
      <vt:lpstr>Construction of The Canonical LR(0) Collection (P.224)</vt:lpstr>
      <vt:lpstr>The Canonical LR(0) Collection -- Example</vt:lpstr>
      <vt:lpstr>Constructing SLR Parsing Table (P.227) (of an augumented grammar G’)</vt:lpstr>
      <vt:lpstr>Parsing Tables of Expression Grammar</vt:lpstr>
      <vt:lpstr>SLR(1) Grammar</vt:lpstr>
      <vt:lpstr>shift/reduce and reduce/reduce conflicts</vt:lpstr>
      <vt:lpstr>Conflict Example1 (P.229)</vt:lpstr>
      <vt:lpstr>PowerPoint 演示文稿</vt:lpstr>
      <vt:lpstr>Exercise-Review LL(1) </vt:lpstr>
      <vt:lpstr>Conflict Example2</vt:lpstr>
      <vt:lpstr>Canonical LR(0) Collection – Example2</vt:lpstr>
      <vt:lpstr>Exercise- review LL(1)</vt:lpstr>
      <vt:lpstr>Constructing Canonical LR(1) Parsing Tables (P.230)</vt:lpstr>
      <vt:lpstr>LR(1) Item (P.230)</vt:lpstr>
      <vt:lpstr>LR(1) Item  (cont.)</vt:lpstr>
      <vt:lpstr>Canonical Collection of Sets of LR(1) Items</vt:lpstr>
      <vt:lpstr>goto operation</vt:lpstr>
      <vt:lpstr>Construction of The Canonical LR(1) Collection (P.232)</vt:lpstr>
      <vt:lpstr>A Short Notation for The Sets of LR(1) Items</vt:lpstr>
      <vt:lpstr>Canonical LR(1) Collection – Example1</vt:lpstr>
      <vt:lpstr>Construction of LR(1) Parsing Tables (P.234)</vt:lpstr>
      <vt:lpstr>LR(1) Parsing Tables – (for Example1)</vt:lpstr>
      <vt:lpstr>Canonical LR(1) Collection – Example2</vt:lpstr>
      <vt:lpstr>LR(1) Parsing Tables – (for Example2)</vt:lpstr>
      <vt:lpstr>LALR Parsing Tables (P.236)</vt:lpstr>
      <vt:lpstr>The Core of A Set of LR(1) Items</vt:lpstr>
      <vt:lpstr>Creation of LALR Parsing Tables</vt:lpstr>
      <vt:lpstr>Creating LALR Parsing Tables</vt:lpstr>
      <vt:lpstr>Shift/Reduce Conflict</vt:lpstr>
      <vt:lpstr>Reduce/Reduce Conflict</vt:lpstr>
      <vt:lpstr>Canonical LALR(1) Collection – Example2</vt:lpstr>
      <vt:lpstr>LALR(1) Parsing Tables – (for Example2)</vt:lpstr>
      <vt:lpstr>SLR(1) vs. LALR(1)</vt:lpstr>
      <vt:lpstr>The Canonical LR(1) Collection -- Exercise</vt:lpstr>
      <vt:lpstr>Using Ambiguous Grammars</vt:lpstr>
      <vt:lpstr>Sets of LR(0) Items for Ambiguous Grammar</vt:lpstr>
      <vt:lpstr>SLR-Parsing Tables for Ambiguous Grammar</vt:lpstr>
      <vt:lpstr>SLR-Parsing Tables for Ambiguous Grammar</vt:lpstr>
      <vt:lpstr>SLR-Parsing Tables for Ambiguous Grammar</vt:lpstr>
      <vt:lpstr>Error Recovery in LR Parsing</vt:lpstr>
      <vt:lpstr>Panic Mode Error Recovery in LR Parsing</vt:lpstr>
      <vt:lpstr>Phrase-Level Error Recovery in LR Parsing</vt:lpstr>
      <vt:lpstr>小结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Compiler Design</dc:title>
  <dc:creator>Ilyas Cicekli</dc:creator>
  <cp:lastModifiedBy>Exin Y</cp:lastModifiedBy>
  <cp:revision>412</cp:revision>
  <cp:lastPrinted>2015-04-19T06:43:26Z</cp:lastPrinted>
  <dcterms:created xsi:type="dcterms:W3CDTF">1999-01-20T19:57:44Z</dcterms:created>
  <dcterms:modified xsi:type="dcterms:W3CDTF">2015-10-07T09:28:11Z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