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07" r:id="rId2"/>
    <p:sldId id="308" r:id="rId3"/>
    <p:sldId id="282" r:id="rId4"/>
    <p:sldId id="310" r:id="rId5"/>
    <p:sldId id="312" r:id="rId6"/>
    <p:sldId id="313" r:id="rId7"/>
    <p:sldId id="314" r:id="rId8"/>
    <p:sldId id="280" r:id="rId9"/>
    <p:sldId id="309" r:id="rId10"/>
    <p:sldId id="315" r:id="rId11"/>
    <p:sldId id="283" r:id="rId12"/>
    <p:sldId id="316" r:id="rId13"/>
    <p:sldId id="319" r:id="rId14"/>
    <p:sldId id="285" r:id="rId15"/>
    <p:sldId id="322" r:id="rId16"/>
    <p:sldId id="320" r:id="rId17"/>
    <p:sldId id="317" r:id="rId18"/>
    <p:sldId id="321" r:id="rId19"/>
    <p:sldId id="286" r:id="rId20"/>
    <p:sldId id="323" r:id="rId21"/>
    <p:sldId id="287" r:id="rId22"/>
    <p:sldId id="335" r:id="rId23"/>
    <p:sldId id="339" r:id="rId24"/>
    <p:sldId id="288" r:id="rId25"/>
    <p:sldId id="325" r:id="rId26"/>
    <p:sldId id="326" r:id="rId27"/>
    <p:sldId id="327" r:id="rId28"/>
    <p:sldId id="328" r:id="rId29"/>
    <p:sldId id="329" r:id="rId30"/>
    <p:sldId id="289" r:id="rId31"/>
    <p:sldId id="290" r:id="rId32"/>
    <p:sldId id="293" r:id="rId33"/>
    <p:sldId id="331" r:id="rId34"/>
    <p:sldId id="332" r:id="rId35"/>
    <p:sldId id="333" r:id="rId36"/>
    <p:sldId id="292" r:id="rId37"/>
    <p:sldId id="294" r:id="rId38"/>
    <p:sldId id="334" r:id="rId39"/>
    <p:sldId id="295" r:id="rId40"/>
    <p:sldId id="296" r:id="rId41"/>
    <p:sldId id="297" r:id="rId42"/>
    <p:sldId id="298" r:id="rId43"/>
    <p:sldId id="299" r:id="rId44"/>
    <p:sldId id="301" r:id="rId45"/>
    <p:sldId id="336" r:id="rId46"/>
    <p:sldId id="303" r:id="rId47"/>
    <p:sldId id="304" r:id="rId48"/>
    <p:sldId id="305" r:id="rId49"/>
    <p:sldId id="306" r:id="rId50"/>
    <p:sldId id="337" r:id="rId51"/>
  </p:sldIdLst>
  <p:sldSz cx="9906000" cy="6858000" type="A4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CC00CC"/>
    <a:srgbClr val="8000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40" autoAdjust="0"/>
  </p:normalViewPr>
  <p:slideViewPr>
    <p:cSldViewPr>
      <p:cViewPr varScale="1">
        <p:scale>
          <a:sx n="77" d="100"/>
          <a:sy n="77" d="100"/>
        </p:scale>
        <p:origin x="1086" y="78"/>
      </p:cViewPr>
      <p:guideLst>
        <p:guide orient="horz" pos="1680"/>
        <p:guide pos="3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86"/>
    </p:cViewPr>
  </p:sorterViewPr>
  <p:notesViewPr>
    <p:cSldViewPr>
      <p:cViewPr varScale="1">
        <p:scale>
          <a:sx n="60" d="100"/>
          <a:sy n="60" d="100"/>
        </p:scale>
        <p:origin x="-1698" y="-78"/>
      </p:cViewPr>
      <p:guideLst>
        <p:guide orient="horz" pos="2924"/>
        <p:guide pos="22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defTabSz="912813">
              <a:defRPr sz="1200" smtClean="0"/>
            </a:lvl1pPr>
          </a:lstStyle>
          <a:p>
            <a:pPr>
              <a:defRPr/>
            </a:pPr>
            <a:r>
              <a:rPr lang="zh-CN" altLang="en-US"/>
              <a:t>lec02-parserCFG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1763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 smtClean="0"/>
            </a:lvl1pPr>
          </a:lstStyle>
          <a:p>
            <a:pPr>
              <a:defRPr/>
            </a:pPr>
            <a:fld id="{E7C328EF-AE94-496E-93D4-EEF4B862B536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defTabSz="912813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1763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B7E7AAC3-5EB9-4458-B6C5-47BE40EAF05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defTabSz="930275">
              <a:defRPr sz="1200" smtClean="0"/>
            </a:lvl1pPr>
          </a:lstStyle>
          <a:p>
            <a:pPr>
              <a:defRPr/>
            </a:pPr>
            <a:r>
              <a:rPr lang="zh-CN" altLang="en-US"/>
              <a:t>lec02-parserCFG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 smtClean="0"/>
            </a:lvl1pPr>
          </a:lstStyle>
          <a:p>
            <a:pPr>
              <a:defRPr/>
            </a:pPr>
            <a:fld id="{0F2AD86E-0093-466F-8E91-1C0E84FA9725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532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85838" y="695325"/>
            <a:ext cx="502920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1663"/>
            <a:ext cx="513080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98163F5A-EC69-4155-95C3-FE6B6DB26CB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4BA9FE-2118-4E73-BD2D-582D2C9808D7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D356BB-61B1-4930-990F-8A8F496560F2}" type="slidenum">
              <a:rPr lang="zh-CN" altLang="en-US" sz="1200"/>
              <a:pPr/>
              <a:t>8</a:t>
            </a:fld>
            <a:endParaRPr lang="en-US" altLang="zh-CN" sz="1200"/>
          </a:p>
        </p:txBody>
      </p:sp>
      <p:sp>
        <p:nvSpPr>
          <p:cNvPr id="5427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72C02F-72BC-4D3A-9970-6220139C4837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4502114-B4D5-4F2C-8DC0-C44577BE9C9C}" type="slidenum">
              <a:rPr lang="zh-CN" altLang="en-US" sz="1200"/>
              <a:pPr/>
              <a:t>13</a:t>
            </a:fld>
            <a:endParaRPr lang="en-US" altLang="zh-CN" sz="1200"/>
          </a:p>
        </p:txBody>
      </p:sp>
      <p:sp>
        <p:nvSpPr>
          <p:cNvPr id="5530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55302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B0FC62-7C24-40C9-9472-A9F03CFA2B61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8AA5E56-FFAA-48B0-BCF0-0FA7D59F2FD7}" type="slidenum">
              <a:rPr lang="zh-CN" altLang="en-US" sz="1200"/>
              <a:pPr/>
              <a:t>15</a:t>
            </a:fld>
            <a:endParaRPr lang="en-US" altLang="zh-CN" sz="1200"/>
          </a:p>
        </p:txBody>
      </p:sp>
      <p:sp>
        <p:nvSpPr>
          <p:cNvPr id="5632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56326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49F6F0-157E-40FE-BA41-2FAD4BDC4EB9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6CFDA6-B7B9-4E7F-8D3A-13ABA1C2CD0D}" type="slidenum">
              <a:rPr lang="zh-CN" altLang="en-US" sz="1200"/>
              <a:pPr/>
              <a:t>16</a:t>
            </a:fld>
            <a:endParaRPr lang="en-US" altLang="zh-CN" sz="1200"/>
          </a:p>
        </p:txBody>
      </p:sp>
      <p:sp>
        <p:nvSpPr>
          <p:cNvPr id="5734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57350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6DE025A-7424-47CE-89C0-DB1B014F92FC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E3D57F-F9AF-4331-AFC4-C76664A89ADF}" type="slidenum">
              <a:rPr lang="zh-CN" altLang="en-US" sz="1200"/>
              <a:pPr/>
              <a:t>18</a:t>
            </a:fld>
            <a:endParaRPr lang="en-US" altLang="zh-CN" sz="1200"/>
          </a:p>
        </p:txBody>
      </p:sp>
      <p:sp>
        <p:nvSpPr>
          <p:cNvPr id="5837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58374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BD9AB0-7598-4614-90A5-15948D9F381D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7A1B43-6C01-4CBC-A02F-B2BC3ACBF107}" type="slidenum">
              <a:rPr lang="zh-CN" altLang="en-US" sz="1200"/>
              <a:pPr/>
              <a:t>20</a:t>
            </a:fld>
            <a:endParaRPr lang="en-US" altLang="zh-CN" sz="1200"/>
          </a:p>
        </p:txBody>
      </p:sp>
      <p:sp>
        <p:nvSpPr>
          <p:cNvPr id="5939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59398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2C75DD-73E5-41A6-9DAC-6D513FEE97A2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BE0A56F-A3D0-4E48-90EE-C6F28D77D119}" type="slidenum">
              <a:rPr lang="zh-CN" altLang="en-US" sz="1200"/>
              <a:pPr/>
              <a:t>25</a:t>
            </a:fld>
            <a:endParaRPr lang="en-US" altLang="zh-CN" sz="1200"/>
          </a:p>
        </p:txBody>
      </p:sp>
      <p:sp>
        <p:nvSpPr>
          <p:cNvPr id="6042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60422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013EEF-49EB-4B60-A485-B09063DDA9DD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F2CB55C-2EC5-4462-9E19-C48919336874}" type="slidenum">
              <a:rPr lang="zh-CN" altLang="en-US" sz="1200"/>
              <a:pPr/>
              <a:t>26</a:t>
            </a:fld>
            <a:endParaRPr lang="en-US" altLang="zh-CN" sz="1200"/>
          </a:p>
        </p:txBody>
      </p:sp>
      <p:sp>
        <p:nvSpPr>
          <p:cNvPr id="6144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61446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A0B01AC-67C0-4E37-9B86-690E964E16D3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28CE866-27A9-4EF9-90F2-81A8BB76A984}" type="slidenum">
              <a:rPr lang="zh-CN" altLang="en-US" sz="1200"/>
              <a:pPr/>
              <a:t>27</a:t>
            </a:fld>
            <a:endParaRPr lang="en-US" altLang="zh-CN" sz="1200"/>
          </a:p>
        </p:txBody>
      </p:sp>
      <p:sp>
        <p:nvSpPr>
          <p:cNvPr id="6246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62470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D6EF84-F599-4AB6-9E51-6F657177EE3C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34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E45D6C0-CC6A-46DD-AC49-D6B48CAEC297}" type="slidenum">
              <a:rPr lang="zh-CN" altLang="en-US" sz="1200"/>
              <a:pPr/>
              <a:t>28</a:t>
            </a:fld>
            <a:endParaRPr lang="en-US" altLang="zh-CN" sz="1200"/>
          </a:p>
        </p:txBody>
      </p:sp>
      <p:sp>
        <p:nvSpPr>
          <p:cNvPr id="6349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63494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42F2E7B-CAB7-4386-B944-B685A9207D95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6E7D6D6-B396-4B9E-9A06-B56B9ABC33FD}" type="slidenum">
              <a:rPr lang="zh-CN" altLang="en-US" sz="1200"/>
              <a:pPr/>
              <a:t>29</a:t>
            </a:fld>
            <a:endParaRPr lang="en-US" altLang="zh-CN" sz="1200"/>
          </a:p>
        </p:txBody>
      </p:sp>
      <p:sp>
        <p:nvSpPr>
          <p:cNvPr id="6451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64518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A8F449D-CB9D-44DA-A2D0-129E43FD13FD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4DD201-BDBB-40E3-9351-F7DA40BFE4D4}" type="slidenum">
              <a:rPr lang="zh-CN" altLang="en-US" sz="1200"/>
              <a:pPr/>
              <a:t>32</a:t>
            </a:fld>
            <a:endParaRPr lang="en-US" altLang="zh-CN" sz="1200"/>
          </a:p>
        </p:txBody>
      </p:sp>
      <p:sp>
        <p:nvSpPr>
          <p:cNvPr id="6554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左结合性－－变量（或常量）与左边的运算符结合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BBA699B-35CE-4FB9-B76D-F1B1FE1B3BD2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19C3F4-5212-4D53-A715-E419C47C3377}" type="slidenum">
              <a:rPr lang="zh-CN" altLang="en-US" sz="1200"/>
              <a:pPr/>
              <a:t>33</a:t>
            </a:fld>
            <a:endParaRPr lang="en-US" altLang="zh-CN" sz="1200"/>
          </a:p>
        </p:txBody>
      </p:sp>
      <p:sp>
        <p:nvSpPr>
          <p:cNvPr id="6656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66566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D79BC5-A308-4AD3-87EA-CB2EAD1C71C5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118D0F-E553-4915-A4A3-14CE66103FD0}" type="slidenum">
              <a:rPr lang="zh-CN" altLang="en-US" sz="1200"/>
              <a:pPr/>
              <a:t>34</a:t>
            </a:fld>
            <a:endParaRPr lang="en-US" altLang="zh-CN" sz="1200"/>
          </a:p>
        </p:txBody>
      </p:sp>
      <p:sp>
        <p:nvSpPr>
          <p:cNvPr id="6758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67590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lec02-parserCFG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7A0412-3F6A-4EE7-817C-8FAA2D3980A7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D3A832-C89F-46B9-B1FC-91BAD3767406}" type="slidenum">
              <a:rPr lang="zh-CN" altLang="en-US" sz="1200"/>
              <a:pPr/>
              <a:t>35</a:t>
            </a:fld>
            <a:endParaRPr lang="en-US" altLang="zh-CN" sz="1200"/>
          </a:p>
        </p:txBody>
      </p:sp>
      <p:sp>
        <p:nvSpPr>
          <p:cNvPr id="6861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solidFill>
            <a:srgbClr val="FFFFFF"/>
          </a:solidFill>
          <a:ln/>
        </p:spPr>
      </p:sp>
      <p:sp>
        <p:nvSpPr>
          <p:cNvPr id="68614" name="Rectangle 3"/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AAD0A5-A375-4944-8E12-DF0302FB10B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7298576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A30E6-2F8D-4FBB-8219-9641956985C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782209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8F9F3F-96C5-499D-BD97-A1DEB0E5972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397213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A61C58-D884-4620-9273-5DFBD59B74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328360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0E510B-3F38-4526-999A-DCD610FE95F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416309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A6A9D8-D72C-4CA0-AEF4-BEE25928131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164392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F93519-FC53-4A30-A663-FA48B1B4EC0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7590087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8AA3C8-80F7-43B0-A683-65544A304A3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452080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F9AFC4-6569-47ED-9852-CCBA6B560A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2184468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1D85E6-11CF-470B-AD62-8A9B124D9C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4669300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10450" y="152400"/>
            <a:ext cx="234315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8770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A5874A-1966-4929-947E-BEB780F8A3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558966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9372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smtClean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4350" y="6477000"/>
            <a:ext cx="3714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 smtClean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ea typeface="宋体" panose="02010600030101010101" pitchFamily="2" charset="-122"/>
              </a:defRPr>
            </a:lvl1pPr>
          </a:lstStyle>
          <a:p>
            <a:fld id="{C9A5DE11-7443-4D9B-B08C-687311B10AF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0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0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D0DDA6-C933-438B-BB07-2977A9521D2A}" type="slidenum">
              <a:rPr lang="zh-CN" altLang="en-US" sz="800"/>
              <a:pPr/>
              <a:t>1</a:t>
            </a:fld>
            <a:endParaRPr lang="en-US" altLang="zh-CN" sz="80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Syntax Analysis (Parsing) (P.159)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67800" cy="4802188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An overview of parsing :  </a:t>
            </a:r>
          </a:p>
          <a:p>
            <a:pPr lvl="1"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z="2400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Functions &amp; Responsibilities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 Context Free Grammars</a:t>
            </a:r>
          </a:p>
          <a:p>
            <a:pPr lvl="1" eaLnBrk="1" hangingPunct="1">
              <a:lnSpc>
                <a:spcPct val="4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z="2400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Concepts &amp; Terminology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 Writing and Designing Grammars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 Resolving Grammar Problems / Difficulties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 Top-Down Parsing </a:t>
            </a:r>
          </a:p>
          <a:p>
            <a:pPr lvl="1" eaLnBrk="1" hangingPunct="1">
              <a:lnSpc>
                <a:spcPct val="4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z="2400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Recursive Descent &amp; Predictive LL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 Bottom-Up Parsing</a:t>
            </a:r>
          </a:p>
          <a:p>
            <a:pPr lvl="1" eaLnBrk="1" hangingPunct="1">
              <a:lnSpc>
                <a:spcPct val="4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z="2400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 LR &amp; LALR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Char char="§"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 Concluding Remarks/Looking Ahead</a:t>
            </a:r>
            <a:endParaRPr lang="zh-CN" altLang="en-US" sz="2000" smtClean="0">
              <a:ea typeface="宋体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90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90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90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0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0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23C583-2C9D-46C9-9F57-82E36C676679}" type="slidenum">
              <a:rPr lang="zh-CN" altLang="en-US" sz="800"/>
              <a:pPr/>
              <a:t>2</a:t>
            </a:fld>
            <a:endParaRPr lang="en-US" altLang="zh-CN" sz="8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What are some Typical Errors ?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1143000" y="1066800"/>
            <a:ext cx="5178425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#include&lt;stdio.h&gt;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int f1(int v)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{       int i,j=0;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for (i=1;i&lt;5;i++)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   { j=v+f2(i)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return j;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int f2(int u)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{       int j;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j=u+f1(u*u);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return j;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int main()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{       int i,j=0;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for (i=1;i&lt;10;i++)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   { j=j+i*i  printf(“%d\n”,i);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printf("%d\n",f1(j));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       return 0;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91845" name="Text Box 5"/>
          <p:cNvSpPr txBox="1">
            <a:spLocks noChangeArrowheads="1"/>
          </p:cNvSpPr>
          <p:nvPr/>
        </p:nvSpPr>
        <p:spPr bwMode="auto">
          <a:xfrm>
            <a:off x="5715000" y="3810000"/>
            <a:ext cx="2895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6699"/>
                </a:solidFill>
                <a:ea typeface="宋体" panose="02010600030101010101" pitchFamily="2" charset="-122"/>
              </a:rPr>
              <a:t>Which are “easy” to recover from?  Which are “hard” ?</a:t>
            </a:r>
          </a:p>
        </p:txBody>
      </p:sp>
      <p:sp>
        <p:nvSpPr>
          <p:cNvPr id="291846" name="Rectangle 6"/>
          <p:cNvSpPr>
            <a:spLocks noChangeArrowheads="1"/>
          </p:cNvSpPr>
          <p:nvPr/>
        </p:nvSpPr>
        <p:spPr bwMode="auto">
          <a:xfrm>
            <a:off x="4572000" y="1524000"/>
            <a:ext cx="5060950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rgbClr val="A50021"/>
                </a:solidFill>
                <a:ea typeface="宋体" panose="02010600030101010101" pitchFamily="2" charset="-122"/>
              </a:rPr>
              <a:t>As reported by MS VC++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rgbClr val="A50021"/>
                </a:solidFill>
                <a:ea typeface="宋体" panose="02010600030101010101" pitchFamily="2" charset="-122"/>
              </a:rPr>
              <a:t>'f2' undefined; assuming extern returning int</a:t>
            </a:r>
            <a:br>
              <a:rPr lang="en-US" altLang="zh-CN" sz="1800" b="1">
                <a:solidFill>
                  <a:srgbClr val="A50021"/>
                </a:solidFill>
                <a:ea typeface="宋体" panose="02010600030101010101" pitchFamily="2" charset="-122"/>
              </a:rPr>
            </a:br>
            <a:r>
              <a:rPr lang="en-US" altLang="zh-CN" sz="1800" b="1">
                <a:solidFill>
                  <a:srgbClr val="A50021"/>
                </a:solidFill>
                <a:ea typeface="宋体" panose="02010600030101010101" pitchFamily="2" charset="-122"/>
              </a:rPr>
              <a:t>syntax error : missing ';' before '}‘</a:t>
            </a:r>
            <a:br>
              <a:rPr lang="en-US" altLang="zh-CN" sz="1800" b="1">
                <a:solidFill>
                  <a:srgbClr val="A50021"/>
                </a:solidFill>
                <a:ea typeface="宋体" panose="02010600030101010101" pitchFamily="2" charset="-122"/>
              </a:rPr>
            </a:br>
            <a:r>
              <a:rPr lang="en-US" altLang="zh-CN" sz="1800" b="1">
                <a:solidFill>
                  <a:srgbClr val="A50021"/>
                </a:solidFill>
                <a:ea typeface="宋体" panose="02010600030101010101" pitchFamily="2" charset="-122"/>
              </a:rPr>
              <a:t>syntax error : missing ';' before identifier 'printf'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2000" fill="hold"/>
                                        <p:tgtEl>
                                          <p:spTgt spid="291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91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91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10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2000" fill="hold"/>
                                        <p:tgtEl>
                                          <p:spTgt spid="2918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2918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918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8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5" grpId="0"/>
      <p:bldP spid="2918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AD828B4-2BDB-4C0F-B1DE-AFDAE0F02CEC}" type="slidenum">
              <a:rPr lang="zh-CN" altLang="en-US" sz="800"/>
              <a:pPr/>
              <a:t>3</a:t>
            </a:fld>
            <a:endParaRPr lang="en-US" altLang="zh-CN" sz="8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Parsers (cont.)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964613" cy="4873625"/>
          </a:xfrm>
        </p:spPr>
        <p:txBody>
          <a:bodyPr/>
          <a:lstStyle/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We categorize the parsers into two groups:</a:t>
            </a:r>
          </a:p>
          <a:p>
            <a:pPr marL="457200" indent="-457200">
              <a:buFontTx/>
              <a:buAutoNum type="arabicPeriod"/>
            </a:pPr>
            <a:r>
              <a:rPr lang="en-US" altLang="zh-CN" b="1" smtClean="0">
                <a:solidFill>
                  <a:srgbClr val="800080"/>
                </a:solidFill>
                <a:ea typeface="宋体" panose="02010600030101010101" pitchFamily="2" charset="-122"/>
              </a:rPr>
              <a:t>Top-Down Parser (</a:t>
            </a:r>
            <a:r>
              <a:rPr lang="zh-CN" altLang="en-US" b="1" smtClean="0">
                <a:solidFill>
                  <a:srgbClr val="800080"/>
                </a:solidFill>
                <a:ea typeface="宋体" panose="02010600030101010101" pitchFamily="2" charset="-122"/>
              </a:rPr>
              <a:t>自顶向下</a:t>
            </a:r>
            <a:r>
              <a:rPr lang="en-US" altLang="zh-CN" b="1" smtClean="0">
                <a:solidFill>
                  <a:srgbClr val="800080"/>
                </a:solidFill>
                <a:ea typeface="宋体" panose="02010600030101010101" pitchFamily="2" charset="-122"/>
              </a:rPr>
              <a:t>)</a:t>
            </a:r>
          </a:p>
          <a:p>
            <a:pPr marL="800100" lvl="1" indent="-342900"/>
            <a:r>
              <a:rPr lang="en-US" altLang="zh-CN" sz="2000" smtClean="0">
                <a:ea typeface="宋体" panose="02010600030101010101" pitchFamily="2" charset="-122"/>
              </a:rPr>
              <a:t>the parse tree is created top to bottom, starting from the root.</a:t>
            </a:r>
          </a:p>
          <a:p>
            <a:pPr marL="457200" indent="-457200">
              <a:buFontTx/>
              <a:buAutoNum type="arabicPeriod"/>
            </a:pPr>
            <a:r>
              <a:rPr lang="en-US" altLang="zh-CN" b="1" smtClean="0">
                <a:solidFill>
                  <a:srgbClr val="800080"/>
                </a:solidFill>
                <a:ea typeface="宋体" panose="02010600030101010101" pitchFamily="2" charset="-122"/>
              </a:rPr>
              <a:t>Bottom-Up Parser (</a:t>
            </a:r>
            <a:r>
              <a:rPr lang="zh-CN" altLang="en-US" b="1" smtClean="0">
                <a:solidFill>
                  <a:srgbClr val="800080"/>
                </a:solidFill>
                <a:ea typeface="宋体" panose="02010600030101010101" pitchFamily="2" charset="-122"/>
              </a:rPr>
              <a:t>自底向上</a:t>
            </a:r>
            <a:r>
              <a:rPr lang="en-US" altLang="zh-CN" b="1" smtClean="0">
                <a:solidFill>
                  <a:srgbClr val="800080"/>
                </a:solidFill>
                <a:ea typeface="宋体" panose="02010600030101010101" pitchFamily="2" charset="-122"/>
              </a:rPr>
              <a:t>)</a:t>
            </a:r>
          </a:p>
          <a:p>
            <a:pPr marL="800100" lvl="1" indent="-342900"/>
            <a:r>
              <a:rPr lang="en-US" altLang="zh-CN" sz="2000" smtClean="0">
                <a:ea typeface="宋体" panose="02010600030101010101" pitchFamily="2" charset="-122"/>
              </a:rPr>
              <a:t>the parse tree is created bottom to top; starting from the leaves</a:t>
            </a:r>
          </a:p>
          <a:p>
            <a:pPr marL="457200" indent="-457200"/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Both top-down and bottom-up parsers scan the input from left to right (one symbol at a time). </a:t>
            </a:r>
          </a:p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Efficient top-down and bottom-up parsers can be implemented only for sub-classes of context-free grammars.</a:t>
            </a:r>
          </a:p>
          <a:p>
            <a:pPr marL="800100" lvl="1" indent="-342900"/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LL for top-down parsing</a:t>
            </a:r>
          </a:p>
          <a:p>
            <a:pPr marL="800100" lvl="1" indent="-342900"/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LR for bottom-up parsing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61304C-CCDE-4725-8B39-830D3DB654E3}" type="slidenum">
              <a:rPr lang="zh-CN" altLang="en-US" sz="800"/>
              <a:pPr/>
              <a:t>4</a:t>
            </a:fld>
            <a:endParaRPr lang="en-US" altLang="zh-CN" sz="800"/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1081088" y="115888"/>
            <a:ext cx="806291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Parsing During Compilation (P.160)</a:t>
            </a:r>
          </a:p>
        </p:txBody>
      </p:sp>
      <p:sp>
        <p:nvSpPr>
          <p:cNvPr id="5126" name="Text Box 32"/>
          <p:cNvSpPr txBox="1">
            <a:spLocks noChangeArrowheads="1"/>
          </p:cNvSpPr>
          <p:nvPr/>
        </p:nvSpPr>
        <p:spPr bwMode="auto">
          <a:xfrm>
            <a:off x="273050" y="765175"/>
            <a:ext cx="48609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en-US" altLang="zh-CN">
                <a:ea typeface="宋体" panose="02010600030101010101" pitchFamily="2" charset="-122"/>
              </a:rPr>
              <a:t>Parser  works on a stream of tokens.</a:t>
            </a:r>
          </a:p>
          <a:p>
            <a:pPr>
              <a:buFontTx/>
              <a:buChar char="•"/>
            </a:pPr>
            <a:r>
              <a:rPr lang="en-US" altLang="zh-CN">
                <a:ea typeface="宋体" panose="02010600030101010101" pitchFamily="2" charset="-122"/>
              </a:rPr>
              <a:t>  The smallest item is a token.</a:t>
            </a:r>
          </a:p>
        </p:txBody>
      </p:sp>
      <p:grpSp>
        <p:nvGrpSpPr>
          <p:cNvPr id="293924" name="Group 36"/>
          <p:cNvGrpSpPr>
            <a:grpSpLocks/>
          </p:cNvGrpSpPr>
          <p:nvPr/>
        </p:nvGrpSpPr>
        <p:grpSpPr bwMode="auto">
          <a:xfrm>
            <a:off x="1371600" y="1431925"/>
            <a:ext cx="1600200" cy="1195388"/>
            <a:chOff x="864" y="902"/>
            <a:chExt cx="1008" cy="753"/>
          </a:xfrm>
        </p:grpSpPr>
        <p:sp>
          <p:nvSpPr>
            <p:cNvPr id="5157" name="Text Box 26"/>
            <p:cNvSpPr txBox="1">
              <a:spLocks noChangeArrowheads="1"/>
            </p:cNvSpPr>
            <p:nvPr/>
          </p:nvSpPr>
          <p:spPr bwMode="auto">
            <a:xfrm>
              <a:off x="864" y="902"/>
              <a:ext cx="100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6699"/>
                  </a:solidFill>
                  <a:ea typeface="宋体" panose="02010600030101010101" pitchFamily="2" charset="-122"/>
                </a:rPr>
                <a:t>regular expressions</a:t>
              </a:r>
            </a:p>
          </p:txBody>
        </p:sp>
        <p:sp>
          <p:nvSpPr>
            <p:cNvPr id="5158" name="Line 27"/>
            <p:cNvSpPr>
              <a:spLocks noChangeShapeType="1"/>
            </p:cNvSpPr>
            <p:nvPr/>
          </p:nvSpPr>
          <p:spPr bwMode="auto">
            <a:xfrm flipH="1">
              <a:off x="1337" y="1253"/>
              <a:ext cx="14" cy="402"/>
            </a:xfrm>
            <a:prstGeom prst="line">
              <a:avLst/>
            </a:prstGeom>
            <a:noFill/>
            <a:ln w="25400">
              <a:solidFill>
                <a:srgbClr val="FF6699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3926" name="Group 38"/>
          <p:cNvGrpSpPr>
            <a:grpSpLocks/>
          </p:cNvGrpSpPr>
          <p:nvPr/>
        </p:nvGrpSpPr>
        <p:grpSpPr bwMode="auto">
          <a:xfrm>
            <a:off x="5889625" y="3413125"/>
            <a:ext cx="3276600" cy="2986088"/>
            <a:chOff x="3710" y="2150"/>
            <a:chExt cx="2064" cy="1881"/>
          </a:xfrm>
        </p:grpSpPr>
        <p:sp>
          <p:nvSpPr>
            <p:cNvPr id="5155" name="Text Box 28"/>
            <p:cNvSpPr txBox="1">
              <a:spLocks noChangeArrowheads="1"/>
            </p:cNvSpPr>
            <p:nvPr/>
          </p:nvSpPr>
          <p:spPr bwMode="auto">
            <a:xfrm>
              <a:off x="3710" y="2478"/>
              <a:ext cx="2064" cy="155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zh-CN" altLang="en-US" b="1">
                  <a:solidFill>
                    <a:schemeClr val="accent2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b="1">
                  <a:solidFill>
                    <a:schemeClr val="accent2"/>
                  </a:solidFill>
                  <a:ea typeface="宋体" panose="02010600030101010101" pitchFamily="2" charset="-122"/>
                </a:rPr>
                <a:t>also technically part or parsing</a:t>
              </a:r>
            </a:p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zh-CN" b="1">
                  <a:solidFill>
                    <a:schemeClr val="accent2"/>
                  </a:solidFill>
                  <a:ea typeface="宋体" panose="02010600030101010101" pitchFamily="2" charset="-122"/>
                </a:rPr>
                <a:t> includes augmenting info on tokens in source, type checking, semantic analysis</a:t>
              </a:r>
            </a:p>
          </p:txBody>
        </p:sp>
        <p:sp>
          <p:nvSpPr>
            <p:cNvPr id="5156" name="Line 29"/>
            <p:cNvSpPr>
              <a:spLocks noChangeShapeType="1"/>
            </p:cNvSpPr>
            <p:nvPr/>
          </p:nvSpPr>
          <p:spPr bwMode="auto">
            <a:xfrm flipV="1">
              <a:off x="4320" y="2150"/>
              <a:ext cx="0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3925" name="Group 37"/>
          <p:cNvGrpSpPr>
            <a:grpSpLocks/>
          </p:cNvGrpSpPr>
          <p:nvPr/>
        </p:nvGrpSpPr>
        <p:grpSpPr bwMode="auto">
          <a:xfrm>
            <a:off x="533400" y="3108325"/>
            <a:ext cx="3581400" cy="3197225"/>
            <a:chOff x="336" y="1958"/>
            <a:chExt cx="2256" cy="2014"/>
          </a:xfrm>
        </p:grpSpPr>
        <p:sp>
          <p:nvSpPr>
            <p:cNvPr id="5153" name="Text Box 30"/>
            <p:cNvSpPr txBox="1">
              <a:spLocks noChangeArrowheads="1"/>
            </p:cNvSpPr>
            <p:nvPr/>
          </p:nvSpPr>
          <p:spPr bwMode="auto">
            <a:xfrm>
              <a:off x="336" y="2570"/>
              <a:ext cx="1968" cy="1402"/>
            </a:xfrm>
            <a:prstGeom prst="rect">
              <a:avLst/>
            </a:prstGeom>
            <a:solidFill>
              <a:srgbClr val="CC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zh-CN" altLang="en-US" sz="2000" b="1">
                  <a:solidFill>
                    <a:srgbClr val="FF330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000" b="1">
                  <a:solidFill>
                    <a:srgbClr val="FF3300"/>
                  </a:solidFill>
                  <a:ea typeface="宋体" panose="02010600030101010101" pitchFamily="2" charset="-122"/>
                </a:rPr>
                <a:t>uses a grammar (CFG) to check structure of tokens</a:t>
              </a:r>
            </a:p>
            <a:p>
              <a:pPr eaLnBrk="1" hangingPunct="1">
                <a:buFontTx/>
                <a:buChar char="•"/>
              </a:pPr>
              <a:r>
                <a:rPr lang="en-US" altLang="zh-CN" sz="2000" b="1">
                  <a:solidFill>
                    <a:srgbClr val="FF3300"/>
                  </a:solidFill>
                  <a:ea typeface="宋体" panose="02010600030101010101" pitchFamily="2" charset="-122"/>
                </a:rPr>
                <a:t> produces a parse tree</a:t>
              </a:r>
            </a:p>
            <a:p>
              <a:pPr eaLnBrk="1" hangingPunct="1">
                <a:buFontTx/>
                <a:buChar char="•"/>
              </a:pPr>
              <a:r>
                <a:rPr lang="en-US" altLang="zh-CN" sz="2000" b="1">
                  <a:solidFill>
                    <a:srgbClr val="FF3300"/>
                  </a:solidFill>
                  <a:ea typeface="宋体" panose="02010600030101010101" pitchFamily="2" charset="-122"/>
                </a:rPr>
                <a:t> syntactic errors and recovery</a:t>
              </a:r>
            </a:p>
            <a:p>
              <a:pPr eaLnBrk="1" hangingPunct="1">
                <a:buFontTx/>
                <a:buChar char="•"/>
              </a:pPr>
              <a:r>
                <a:rPr lang="en-US" altLang="zh-CN" sz="2000" b="1">
                  <a:solidFill>
                    <a:srgbClr val="A50021"/>
                  </a:solidFill>
                  <a:ea typeface="宋体" panose="02010600030101010101" pitchFamily="2" charset="-122"/>
                </a:rPr>
                <a:t> recognize correct syntax</a:t>
              </a:r>
            </a:p>
            <a:p>
              <a:pPr eaLnBrk="1" hangingPunct="1">
                <a:buFontTx/>
                <a:buChar char="•"/>
              </a:pPr>
              <a:r>
                <a:rPr lang="en-US" altLang="zh-CN" sz="2000" b="1">
                  <a:solidFill>
                    <a:srgbClr val="A50021"/>
                  </a:solidFill>
                  <a:ea typeface="宋体" panose="02010600030101010101" pitchFamily="2" charset="-122"/>
                </a:rPr>
                <a:t> report errors</a:t>
              </a:r>
            </a:p>
          </p:txBody>
        </p:sp>
        <p:sp>
          <p:nvSpPr>
            <p:cNvPr id="5154" name="Line 31"/>
            <p:cNvSpPr>
              <a:spLocks noChangeShapeType="1"/>
            </p:cNvSpPr>
            <p:nvPr/>
          </p:nvSpPr>
          <p:spPr bwMode="auto">
            <a:xfrm flipV="1">
              <a:off x="1536" y="1958"/>
              <a:ext cx="1056" cy="72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3923" name="Group 35"/>
          <p:cNvGrpSpPr>
            <a:grpSpLocks/>
          </p:cNvGrpSpPr>
          <p:nvPr/>
        </p:nvGrpSpPr>
        <p:grpSpPr bwMode="auto">
          <a:xfrm>
            <a:off x="0" y="1736725"/>
            <a:ext cx="9144000" cy="2771775"/>
            <a:chOff x="0" y="1094"/>
            <a:chExt cx="5760" cy="1746"/>
          </a:xfrm>
        </p:grpSpPr>
        <p:sp>
          <p:nvSpPr>
            <p:cNvPr id="5132" name="Text Box 5"/>
            <p:cNvSpPr txBox="1">
              <a:spLocks noChangeArrowheads="1"/>
            </p:cNvSpPr>
            <p:nvPr/>
          </p:nvSpPr>
          <p:spPr bwMode="auto">
            <a:xfrm>
              <a:off x="4656" y="1670"/>
              <a:ext cx="110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interm      repres</a:t>
              </a:r>
            </a:p>
          </p:txBody>
        </p:sp>
        <p:sp>
          <p:nvSpPr>
            <p:cNvPr id="5133" name="Text Box 7"/>
            <p:cNvSpPr txBox="1">
              <a:spLocks noChangeArrowheads="1"/>
            </p:cNvSpPr>
            <p:nvPr/>
          </p:nvSpPr>
          <p:spPr bwMode="auto">
            <a:xfrm>
              <a:off x="2448" y="1094"/>
              <a:ext cx="100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errors</a:t>
              </a:r>
            </a:p>
          </p:txBody>
        </p:sp>
        <p:sp>
          <p:nvSpPr>
            <p:cNvPr id="5134" name="Text Box 8"/>
            <p:cNvSpPr txBox="1">
              <a:spLocks noChangeArrowheads="1"/>
            </p:cNvSpPr>
            <p:nvPr/>
          </p:nvSpPr>
          <p:spPr bwMode="auto">
            <a:xfrm>
              <a:off x="864" y="1670"/>
              <a:ext cx="1008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lexical analyzer</a:t>
              </a:r>
            </a:p>
          </p:txBody>
        </p:sp>
        <p:sp>
          <p:nvSpPr>
            <p:cNvPr id="5135" name="Text Box 9"/>
            <p:cNvSpPr txBox="1">
              <a:spLocks noChangeArrowheads="1"/>
            </p:cNvSpPr>
            <p:nvPr/>
          </p:nvSpPr>
          <p:spPr bwMode="auto">
            <a:xfrm>
              <a:off x="2448" y="1766"/>
              <a:ext cx="100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ea typeface="宋体" panose="02010600030101010101" pitchFamily="2" charset="-122"/>
                </a:rPr>
                <a:t>parser</a:t>
              </a:r>
            </a:p>
          </p:txBody>
        </p:sp>
        <p:sp>
          <p:nvSpPr>
            <p:cNvPr id="5136" name="Text Box 10"/>
            <p:cNvSpPr txBox="1">
              <a:spLocks noChangeArrowheads="1"/>
            </p:cNvSpPr>
            <p:nvPr/>
          </p:nvSpPr>
          <p:spPr bwMode="auto">
            <a:xfrm>
              <a:off x="3888" y="1670"/>
              <a:ext cx="912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rest of front end</a:t>
              </a:r>
            </a:p>
          </p:txBody>
        </p:sp>
        <p:sp>
          <p:nvSpPr>
            <p:cNvPr id="5137" name="Text Box 11"/>
            <p:cNvSpPr txBox="1">
              <a:spLocks noChangeArrowheads="1"/>
            </p:cNvSpPr>
            <p:nvPr/>
          </p:nvSpPr>
          <p:spPr bwMode="auto">
            <a:xfrm>
              <a:off x="2448" y="2390"/>
              <a:ext cx="1008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symbol  table</a:t>
              </a:r>
            </a:p>
          </p:txBody>
        </p:sp>
        <p:sp>
          <p:nvSpPr>
            <p:cNvPr id="5138" name="Line 12"/>
            <p:cNvSpPr>
              <a:spLocks noChangeShapeType="1"/>
            </p:cNvSpPr>
            <p:nvPr/>
          </p:nvSpPr>
          <p:spPr bwMode="auto">
            <a:xfrm>
              <a:off x="1872" y="181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9" name="Line 13"/>
            <p:cNvSpPr>
              <a:spLocks noChangeShapeType="1"/>
            </p:cNvSpPr>
            <p:nvPr/>
          </p:nvSpPr>
          <p:spPr bwMode="auto">
            <a:xfrm flipH="1">
              <a:off x="1872" y="195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0" name="Line 14"/>
            <p:cNvSpPr>
              <a:spLocks noChangeShapeType="1"/>
            </p:cNvSpPr>
            <p:nvPr/>
          </p:nvSpPr>
          <p:spPr bwMode="auto">
            <a:xfrm flipV="1">
              <a:off x="2928" y="1334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1" name="Line 15"/>
            <p:cNvSpPr>
              <a:spLocks noChangeShapeType="1"/>
            </p:cNvSpPr>
            <p:nvPr/>
          </p:nvSpPr>
          <p:spPr bwMode="auto">
            <a:xfrm flipV="1">
              <a:off x="1872" y="1334"/>
              <a:ext cx="57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2" name="Line 16"/>
            <p:cNvSpPr>
              <a:spLocks noChangeShapeType="1"/>
            </p:cNvSpPr>
            <p:nvPr/>
          </p:nvSpPr>
          <p:spPr bwMode="auto">
            <a:xfrm flipH="1" flipV="1">
              <a:off x="3456" y="1334"/>
              <a:ext cx="432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3" name="Line 17"/>
            <p:cNvSpPr>
              <a:spLocks noChangeShapeType="1"/>
            </p:cNvSpPr>
            <p:nvPr/>
          </p:nvSpPr>
          <p:spPr bwMode="auto">
            <a:xfrm>
              <a:off x="4800" y="1862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4" name="Line 18"/>
            <p:cNvSpPr>
              <a:spLocks noChangeShapeType="1"/>
            </p:cNvSpPr>
            <p:nvPr/>
          </p:nvSpPr>
          <p:spPr bwMode="auto">
            <a:xfrm>
              <a:off x="3456" y="1910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5" name="Line 19"/>
            <p:cNvSpPr>
              <a:spLocks noChangeShapeType="1"/>
            </p:cNvSpPr>
            <p:nvPr/>
          </p:nvSpPr>
          <p:spPr bwMode="auto">
            <a:xfrm>
              <a:off x="1872" y="2150"/>
              <a:ext cx="57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6" name="Line 20"/>
            <p:cNvSpPr>
              <a:spLocks noChangeShapeType="1"/>
            </p:cNvSpPr>
            <p:nvPr/>
          </p:nvSpPr>
          <p:spPr bwMode="auto">
            <a:xfrm flipV="1">
              <a:off x="3456" y="2102"/>
              <a:ext cx="43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7" name="Line 21"/>
            <p:cNvSpPr>
              <a:spLocks noChangeShapeType="1"/>
            </p:cNvSpPr>
            <p:nvPr/>
          </p:nvSpPr>
          <p:spPr bwMode="auto">
            <a:xfrm>
              <a:off x="96" y="1910"/>
              <a:ext cx="7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8" name="Text Box 22"/>
            <p:cNvSpPr txBox="1">
              <a:spLocks noChangeArrowheads="1"/>
            </p:cNvSpPr>
            <p:nvPr/>
          </p:nvSpPr>
          <p:spPr bwMode="auto">
            <a:xfrm>
              <a:off x="0" y="1718"/>
              <a:ext cx="76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source program</a:t>
              </a:r>
            </a:p>
          </p:txBody>
        </p:sp>
        <p:sp>
          <p:nvSpPr>
            <p:cNvPr id="5149" name="Text Box 23"/>
            <p:cNvSpPr txBox="1">
              <a:spLocks noChangeArrowheads="1"/>
            </p:cNvSpPr>
            <p:nvPr/>
          </p:nvSpPr>
          <p:spPr bwMode="auto">
            <a:xfrm>
              <a:off x="3360" y="1718"/>
              <a:ext cx="62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parse tree</a:t>
              </a:r>
            </a:p>
          </p:txBody>
        </p:sp>
        <p:sp>
          <p:nvSpPr>
            <p:cNvPr id="5150" name="Text Box 24"/>
            <p:cNvSpPr txBox="1">
              <a:spLocks noChangeArrowheads="1"/>
            </p:cNvSpPr>
            <p:nvPr/>
          </p:nvSpPr>
          <p:spPr bwMode="auto">
            <a:xfrm>
              <a:off x="1776" y="1910"/>
              <a:ext cx="76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get next token</a:t>
              </a:r>
            </a:p>
          </p:txBody>
        </p:sp>
        <p:sp>
          <p:nvSpPr>
            <p:cNvPr id="5151" name="Text Box 25"/>
            <p:cNvSpPr txBox="1">
              <a:spLocks noChangeArrowheads="1"/>
            </p:cNvSpPr>
            <p:nvPr/>
          </p:nvSpPr>
          <p:spPr bwMode="auto">
            <a:xfrm>
              <a:off x="1824" y="1622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token</a:t>
              </a:r>
            </a:p>
          </p:txBody>
        </p:sp>
        <p:sp>
          <p:nvSpPr>
            <p:cNvPr id="5152" name="Line 33"/>
            <p:cNvSpPr>
              <a:spLocks noChangeShapeType="1"/>
            </p:cNvSpPr>
            <p:nvPr/>
          </p:nvSpPr>
          <p:spPr bwMode="auto">
            <a:xfrm flipV="1">
              <a:off x="2939" y="2017"/>
              <a:ext cx="0" cy="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31" name="Rectangle 39"/>
          <p:cNvSpPr>
            <a:spLocks noChangeArrowheads="1"/>
          </p:cNvSpPr>
          <p:nvPr/>
        </p:nvSpPr>
        <p:spPr bwMode="auto">
          <a:xfrm>
            <a:off x="3800475" y="5949950"/>
            <a:ext cx="2030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b="1">
                <a:ea typeface="宋体" panose="02010600030101010101" pitchFamily="2" charset="-122"/>
                <a:hlinkClick r:id="rId2" action="ppaction://hlinksldjump"/>
              </a:rPr>
              <a:t>Skip to parser</a:t>
            </a:r>
            <a:endParaRPr lang="zh-CN" altLang="en-US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9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9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0E346C-3B4D-4B47-B345-EF017D6D159E}" type="slidenum">
              <a:rPr lang="zh-CN" altLang="en-US" sz="800"/>
              <a:pPr/>
              <a:t>5</a:t>
            </a:fld>
            <a:endParaRPr lang="en-US" altLang="zh-CN" sz="800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1081088" y="188913"/>
            <a:ext cx="8062912" cy="9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Error Processing</a:t>
            </a:r>
          </a:p>
        </p:txBody>
      </p:sp>
      <p:sp>
        <p:nvSpPr>
          <p:cNvPr id="6150" name="Text Box 5"/>
          <p:cNvSpPr txBox="1">
            <a:spLocks noChangeArrowheads="1"/>
          </p:cNvSpPr>
          <p:nvPr/>
        </p:nvSpPr>
        <p:spPr bwMode="auto">
          <a:xfrm>
            <a:off x="984250" y="1524000"/>
            <a:ext cx="8361363" cy="291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 b="1"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Detecting errors</a:t>
            </a:r>
          </a:p>
          <a:p>
            <a:pPr eaLnBrk="1" hangingPunct="1">
              <a:lnSpc>
                <a:spcPct val="140000"/>
              </a:lnSpc>
              <a:buFontTx/>
              <a:buChar char="•"/>
            </a:pPr>
            <a:r>
              <a:rPr lang="en-US" altLang="zh-CN" sz="2800">
                <a:ea typeface="宋体" panose="02010600030101010101" pitchFamily="2" charset="-122"/>
              </a:rPr>
              <a:t> Finding position at which they occur</a:t>
            </a:r>
          </a:p>
          <a:p>
            <a:pPr eaLnBrk="1" hangingPunct="1">
              <a:lnSpc>
                <a:spcPct val="140000"/>
              </a:lnSpc>
              <a:buFontTx/>
              <a:buChar char="•"/>
            </a:pPr>
            <a:r>
              <a:rPr lang="en-US" altLang="zh-CN" sz="2800">
                <a:ea typeface="宋体" panose="02010600030101010101" pitchFamily="2" charset="-122"/>
              </a:rPr>
              <a:t> Clear / accurate presentation</a:t>
            </a:r>
          </a:p>
          <a:p>
            <a:pPr eaLnBrk="1" hangingPunct="1">
              <a:lnSpc>
                <a:spcPct val="140000"/>
              </a:lnSpc>
              <a:buFontTx/>
              <a:buChar char="•"/>
            </a:pPr>
            <a:r>
              <a:rPr lang="en-US" altLang="zh-CN" sz="2800">
                <a:ea typeface="宋体" panose="02010600030101010101" pitchFamily="2" charset="-122"/>
              </a:rPr>
              <a:t> </a:t>
            </a:r>
            <a:r>
              <a:rPr lang="en-US" altLang="zh-CN" sz="2800" b="1">
                <a:ea typeface="宋体" panose="02010600030101010101" pitchFamily="2" charset="-122"/>
              </a:rPr>
              <a:t>Recover (pass over) to continue and find later errors</a:t>
            </a:r>
          </a:p>
          <a:p>
            <a:pPr eaLnBrk="1" hangingPunct="1">
              <a:lnSpc>
                <a:spcPct val="140000"/>
              </a:lnSpc>
              <a:buFontTx/>
              <a:buChar char="•"/>
            </a:pPr>
            <a:r>
              <a:rPr lang="en-US" altLang="zh-CN" sz="2800">
                <a:ea typeface="宋体" panose="02010600030101010101" pitchFamily="2" charset="-122"/>
              </a:rPr>
              <a:t> Don’t impact compilation of “correct” programs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801C302-700F-4145-AF20-316DC3FAC2EC}" type="slidenum">
              <a:rPr lang="zh-CN" altLang="en-US" sz="800"/>
              <a:pPr/>
              <a:t>6</a:t>
            </a:fld>
            <a:endParaRPr lang="en-US" altLang="zh-CN" sz="800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1081088" y="0"/>
            <a:ext cx="8062912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Error Recovery Strategies (P.164)</a:t>
            </a:r>
          </a:p>
        </p:txBody>
      </p:sp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1066800" y="1066800"/>
            <a:ext cx="777240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Panic Mode– Discard tokens until a “synchro” token is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                     found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( end, “;”, “}”, etc. 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                  -- Decision of designer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-- Problems: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      </a:t>
            </a:r>
            <a:r>
              <a:rPr lang="en-US" altLang="zh-CN">
                <a:solidFill>
                  <a:srgbClr val="FF6699"/>
                </a:solidFill>
                <a:ea typeface="宋体" panose="02010600030101010101" pitchFamily="2" charset="-122"/>
              </a:rPr>
              <a:t>skip input </a:t>
            </a:r>
            <a:r>
              <a:rPr lang="en-US" altLang="zh-CN">
                <a:solidFill>
                  <a:srgbClr val="FF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miss declaration – causing more errors               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solidFill>
                  <a:srgbClr val="FF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         miss errors in skipped material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solidFill>
                  <a:srgbClr val="FF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-- Advantages: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</a:t>
            </a:r>
            <a:r>
              <a:rPr lang="en-US" altLang="zh-CN">
                <a:solidFill>
                  <a:srgbClr val="FF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simple suited to 1 error per statement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Phrase Level – Local correction on input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-- “,” ”;”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Delete “,”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–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insert “;”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-- Also decision of designer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-- Not suited to all situations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-- Used in conjunction with panic mode to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    allow less input to be skipped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40D479-1984-4C6A-84D0-D0C7BC237672}" type="slidenum">
              <a:rPr lang="zh-CN" altLang="en-US" sz="800"/>
              <a:pPr/>
              <a:t>7</a:t>
            </a:fld>
            <a:endParaRPr lang="en-US" altLang="zh-CN" sz="800"/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1081088" y="0"/>
            <a:ext cx="8062912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Error Recovery Strategies – (2)</a:t>
            </a:r>
          </a:p>
        </p:txBody>
      </p:sp>
      <p:sp>
        <p:nvSpPr>
          <p:cNvPr id="297989" name="Text Box 5"/>
          <p:cNvSpPr txBox="1">
            <a:spLocks noChangeArrowheads="1"/>
          </p:cNvSpPr>
          <p:nvPr/>
        </p:nvSpPr>
        <p:spPr bwMode="auto">
          <a:xfrm>
            <a:off x="1143000" y="1143000"/>
            <a:ext cx="7772400" cy="491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ea typeface="宋体" pitchFamily="2" charset="-122"/>
              </a:rPr>
              <a:t>Error Productions: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>
                <a:ea typeface="宋体" pitchFamily="2" charset="-122"/>
              </a:rPr>
              <a:t>                    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-- Augment grammar with rules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                    -- Augment grammar used for parser 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                        construction / generation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                    -- example: add a rule for 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                           :=  in C assignment statements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                           Report error but continue compile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                    -- Self correction + diagnostic messages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                    </a:t>
            </a:r>
            <a:endParaRPr lang="en-US" altLang="zh-CN">
              <a:solidFill>
                <a:srgbClr val="FF6699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  <a:sym typeface="Symbol" pitchFamily="18" charset="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>
                <a:ea typeface="宋体" pitchFamily="2" charset="-122"/>
                <a:sym typeface="Symbol" pitchFamily="18" charset="2"/>
              </a:rPr>
              <a:t>Global Correction: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>
                <a:ea typeface="宋体" pitchFamily="2" charset="-122"/>
                <a:sym typeface="Symbol" pitchFamily="18" charset="2"/>
              </a:rPr>
              <a:t>                     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  <a:sym typeface="Symbol" pitchFamily="18" charset="2"/>
              </a:rPr>
              <a:t>-- Adding / deleting / replacing symbols is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  <a:sym typeface="Symbol" pitchFamily="18" charset="2"/>
              </a:rPr>
              <a:t>                           chancy – may </a:t>
            </a:r>
            <a:r>
              <a:rPr lang="en-US" altLang="zh-CN" u="sng">
                <a:solidFill>
                  <a:schemeClr val="accent2"/>
                </a:solidFill>
                <a:ea typeface="宋体" pitchFamily="2" charset="-122"/>
                <a:sym typeface="Symbol" pitchFamily="18" charset="2"/>
              </a:rPr>
              <a:t>do many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  <a:sym typeface="Symbol" pitchFamily="18" charset="2"/>
              </a:rPr>
              <a:t> changes !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  <a:sym typeface="Symbol" pitchFamily="18" charset="2"/>
              </a:rPr>
              <a:t>                     -- Algorithms available to minimize changes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  <a:sym typeface="Symbol" pitchFamily="18" charset="2"/>
              </a:rPr>
              <a:t>                           costly  - key issues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D238B67-1CC3-45D1-8AFC-480DED4ED7E5}" type="slidenum">
              <a:rPr lang="zh-CN" altLang="en-US" sz="800"/>
              <a:pPr/>
              <a:t>8</a:t>
            </a:fld>
            <a:endParaRPr lang="en-US" altLang="zh-CN" sz="800"/>
          </a:p>
        </p:txBody>
      </p:sp>
      <p:sp>
        <p:nvSpPr>
          <p:cNvPr id="922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396875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Syntax analyzer</a:t>
            </a:r>
          </a:p>
        </p:txBody>
      </p:sp>
      <p:sp>
        <p:nvSpPr>
          <p:cNvPr id="922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620713"/>
            <a:ext cx="9372600" cy="57038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i="1" smtClean="0">
                <a:ea typeface="宋体" panose="02010600030101010101" pitchFamily="2" charset="-122"/>
              </a:rPr>
              <a:t>Syntax Analyzer</a:t>
            </a:r>
            <a:r>
              <a:rPr lang="en-US" altLang="zh-CN" smtClean="0">
                <a:ea typeface="宋体" panose="02010600030101010101" pitchFamily="2" charset="-122"/>
              </a:rPr>
              <a:t> creates the syntactic structure of the given source program.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This syntactic structure is mostly a </a:t>
            </a:r>
            <a:r>
              <a:rPr lang="en-US" altLang="zh-CN" b="1" i="1" smtClean="0">
                <a:solidFill>
                  <a:srgbClr val="800080"/>
                </a:solidFill>
                <a:ea typeface="宋体" panose="02010600030101010101" pitchFamily="2" charset="-122"/>
              </a:rPr>
              <a:t>parse tree</a:t>
            </a:r>
            <a:r>
              <a:rPr lang="en-US" altLang="zh-CN" b="1" smtClean="0">
                <a:solidFill>
                  <a:srgbClr val="800080"/>
                </a:solidFill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Syntax Analyzer</a:t>
            </a:r>
            <a:r>
              <a:rPr lang="en-US" altLang="zh-CN" smtClean="0">
                <a:ea typeface="宋体" panose="02010600030101010101" pitchFamily="2" charset="-122"/>
              </a:rPr>
              <a:t> is also known as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parser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The syntax of a programming is described by a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context-free grammar (CFG) </a:t>
            </a:r>
            <a:r>
              <a:rPr lang="zh-CN" altLang="en-US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（上下文无关文法）</a:t>
            </a:r>
            <a:r>
              <a:rPr lang="en-US" altLang="zh-CN" smtClean="0">
                <a:ea typeface="宋体" panose="02010600030101010101" pitchFamily="2" charset="-122"/>
              </a:rPr>
              <a:t>. We will use 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BNF (Backus-Naur Form)</a:t>
            </a:r>
            <a:r>
              <a:rPr lang="en-US" altLang="zh-CN" smtClean="0">
                <a:ea typeface="宋体" panose="02010600030101010101" pitchFamily="2" charset="-122"/>
              </a:rPr>
              <a:t> notation in the description of CFGs.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The syntax analyzer (parser) checks whether a given source program satisfies the rules implied by a context-free grammar or not.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If it satisfies, the parser creates the parse tree of that program.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Otherwise the parser gives the error messages.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context-free grammar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gives a precise syntactic specification of a programming language.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the design of the grammar is an initial phase of the design of a compiler.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a grammar can be directly converted into a parser by some tools.</a:t>
            </a:r>
          </a:p>
          <a:p>
            <a:pPr>
              <a:lnSpc>
                <a:spcPct val="90000"/>
              </a:lnSpc>
            </a:pPr>
            <a:endParaRPr lang="en-US" altLang="zh-CN" sz="2000" i="1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4F2C8F-593C-4033-B0F2-F05784AEC23F}" type="slidenum">
              <a:rPr lang="zh-CN" altLang="en-US" sz="800"/>
              <a:pPr/>
              <a:t>9</a:t>
            </a:fld>
            <a:endParaRPr lang="en-US" altLang="zh-CN" sz="80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Grammar 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&amp;</a:t>
            </a:r>
            <a:r>
              <a:rPr lang="en-US" altLang="zh-CN" smtClean="0">
                <a:ea typeface="宋体" panose="02010600030101010101" pitchFamily="2" charset="-122"/>
              </a:rPr>
              <a:t> language</a:t>
            </a:r>
          </a:p>
        </p:txBody>
      </p:sp>
      <p:sp>
        <p:nvSpPr>
          <p:cNvPr id="292868" name="Text Box 4"/>
          <p:cNvSpPr txBox="1">
            <a:spLocks noChangeArrowheads="1"/>
          </p:cNvSpPr>
          <p:nvPr/>
        </p:nvSpPr>
        <p:spPr bwMode="auto">
          <a:xfrm>
            <a:off x="920750" y="1219200"/>
            <a:ext cx="8280400" cy="363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Why are Grammars to formally describe Languages Important ?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1. Precise, easy-to-understand representations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2. Compiler-writing tools can take grammar and generate a compiler (YACC, BISON)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3. allow language to be evolved (new statements, changes to statements, etc.) Languages are not static, but are constantly upgraded to add new features or fix “old” ones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ADA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ADA9x,  C++ Adds: Templates, exceptions,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1295400" y="5373688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How do grammars relate to parsing process ?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2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2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2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BD90754-65E9-4A6E-8C58-963CB699FE85}" type="slidenum">
              <a:rPr lang="zh-CN" altLang="en-US" sz="800"/>
              <a:pPr/>
              <a:t>10</a:t>
            </a:fld>
            <a:endParaRPr lang="en-US" altLang="zh-CN" sz="800"/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081088" y="0"/>
            <a:ext cx="8062912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 b="1">
                <a:ea typeface="宋体" panose="02010600030101010101" pitchFamily="2" charset="-122"/>
              </a:rPr>
              <a:t>RE vs. CF</a:t>
            </a:r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G (p.172)</a:t>
            </a:r>
          </a:p>
        </p:txBody>
      </p:sp>
      <p:sp>
        <p:nvSpPr>
          <p:cNvPr id="11270" name="Text Box 5"/>
          <p:cNvSpPr txBox="1">
            <a:spLocks noChangeArrowheads="1"/>
          </p:cNvSpPr>
          <p:nvPr/>
        </p:nvSpPr>
        <p:spPr bwMode="auto">
          <a:xfrm>
            <a:off x="1295400" y="1196975"/>
            <a:ext cx="7543800" cy="323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b="1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Regular Expressions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 Basis of lexical analysis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     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Represent regular languages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Context Free Grammars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 Basis of parsing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 Represent language constructs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 Characterize context free languages</a:t>
            </a:r>
          </a:p>
        </p:txBody>
      </p:sp>
      <p:grpSp>
        <p:nvGrpSpPr>
          <p:cNvPr id="11271" name="组合 1"/>
          <p:cNvGrpSpPr>
            <a:grpSpLocks/>
          </p:cNvGrpSpPr>
          <p:nvPr/>
        </p:nvGrpSpPr>
        <p:grpSpPr bwMode="auto">
          <a:xfrm>
            <a:off x="1389063" y="4705350"/>
            <a:ext cx="2895600" cy="990600"/>
            <a:chOff x="2819400" y="4724400"/>
            <a:chExt cx="2895600" cy="990600"/>
          </a:xfrm>
        </p:grpSpPr>
        <p:grpSp>
          <p:nvGrpSpPr>
            <p:cNvPr id="11274" name="Group 13"/>
            <p:cNvGrpSpPr>
              <a:grpSpLocks/>
            </p:cNvGrpSpPr>
            <p:nvPr/>
          </p:nvGrpSpPr>
          <p:grpSpPr bwMode="auto">
            <a:xfrm>
              <a:off x="2819400" y="4724400"/>
              <a:ext cx="2895600" cy="990600"/>
              <a:chOff x="1776" y="2976"/>
              <a:chExt cx="1824" cy="624"/>
            </a:xfrm>
          </p:grpSpPr>
          <p:sp>
            <p:nvSpPr>
              <p:cNvPr id="11278" name="AutoShape 7"/>
              <p:cNvSpPr>
                <a:spLocks noChangeArrowheads="1"/>
              </p:cNvSpPr>
              <p:nvPr/>
            </p:nvSpPr>
            <p:spPr bwMode="auto">
              <a:xfrm>
                <a:off x="1776" y="2976"/>
                <a:ext cx="1824" cy="624"/>
              </a:xfrm>
              <a:prstGeom prst="roundRect">
                <a:avLst>
                  <a:gd name="adj" fmla="val 16667"/>
                </a:avLst>
              </a:prstGeom>
              <a:solidFill>
                <a:srgbClr val="FFCC99"/>
              </a:solidFill>
              <a:ln w="1905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279" name="Text Box 10"/>
              <p:cNvSpPr txBox="1">
                <a:spLocks noChangeArrowheads="1"/>
              </p:cNvSpPr>
              <p:nvPr/>
            </p:nvSpPr>
            <p:spPr bwMode="auto">
              <a:xfrm>
                <a:off x="3072" y="3216"/>
                <a:ext cx="5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rgbClr val="FF3300"/>
                    </a:solidFill>
                    <a:ea typeface="宋体" panose="02010600030101010101" pitchFamily="2" charset="-122"/>
                  </a:rPr>
                  <a:t>CFLs</a:t>
                </a:r>
              </a:p>
            </p:txBody>
          </p:sp>
        </p:grpSp>
        <p:grpSp>
          <p:nvGrpSpPr>
            <p:cNvPr id="11275" name="Group 14"/>
            <p:cNvGrpSpPr>
              <a:grpSpLocks/>
            </p:cNvGrpSpPr>
            <p:nvPr/>
          </p:nvGrpSpPr>
          <p:grpSpPr bwMode="auto">
            <a:xfrm>
              <a:off x="2971800" y="4953000"/>
              <a:ext cx="1752600" cy="609600"/>
              <a:chOff x="1872" y="3120"/>
              <a:chExt cx="1104" cy="384"/>
            </a:xfrm>
          </p:grpSpPr>
          <p:sp>
            <p:nvSpPr>
              <p:cNvPr id="11276" name="AutoShape 8"/>
              <p:cNvSpPr>
                <a:spLocks noChangeArrowheads="1"/>
              </p:cNvSpPr>
              <p:nvPr/>
            </p:nvSpPr>
            <p:spPr bwMode="auto">
              <a:xfrm>
                <a:off x="1872" y="3120"/>
                <a:ext cx="1104" cy="384"/>
              </a:xfrm>
              <a:prstGeom prst="roundRect">
                <a:avLst>
                  <a:gd name="adj" fmla="val 32292"/>
                </a:avLst>
              </a:prstGeom>
              <a:solidFill>
                <a:srgbClr val="99CCFF"/>
              </a:solidFill>
              <a:ln w="1905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277" name="Text Box 9"/>
              <p:cNvSpPr txBox="1">
                <a:spLocks noChangeArrowheads="1"/>
              </p:cNvSpPr>
              <p:nvPr/>
            </p:nvSpPr>
            <p:spPr bwMode="auto">
              <a:xfrm>
                <a:off x="2016" y="3216"/>
                <a:ext cx="86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Reg. Lang.</a:t>
                </a:r>
              </a:p>
            </p:txBody>
          </p:sp>
        </p:grpSp>
      </p:grpSp>
      <p:sp>
        <p:nvSpPr>
          <p:cNvPr id="11272" name="Text Box 11"/>
          <p:cNvSpPr txBox="1">
            <a:spLocks noChangeArrowheads="1"/>
          </p:cNvSpPr>
          <p:nvPr/>
        </p:nvSpPr>
        <p:spPr bwMode="auto">
          <a:xfrm>
            <a:off x="1322388" y="5876925"/>
            <a:ext cx="316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EXAMPLE:  (a|b)*abb</a:t>
            </a:r>
          </a:p>
        </p:txBody>
      </p:sp>
      <p:sp>
        <p:nvSpPr>
          <p:cNvPr id="299020" name="Text Box 12"/>
          <p:cNvSpPr txBox="1">
            <a:spLocks noChangeArrowheads="1"/>
          </p:cNvSpPr>
          <p:nvPr/>
        </p:nvSpPr>
        <p:spPr bwMode="auto">
          <a:xfrm>
            <a:off x="5384800" y="4559300"/>
            <a:ext cx="2952750" cy="17859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0</a:t>
            </a:r>
            <a:r>
              <a:rPr lang="en-US" altLang="zh-CN" sz="2000" b="1">
                <a:ea typeface="宋体" panose="02010600030101010101" pitchFamily="2" charset="-122"/>
              </a:rPr>
              <a:t> -&gt;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0</a:t>
            </a:r>
            <a:r>
              <a:rPr lang="en-US" altLang="zh-CN" sz="2000" b="1">
                <a:ea typeface="宋体" panose="02010600030101010101" pitchFamily="2" charset="-122"/>
              </a:rPr>
              <a:t> |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0</a:t>
            </a:r>
            <a:r>
              <a:rPr lang="en-US" altLang="zh-CN" sz="2000" b="1">
                <a:ea typeface="宋体" panose="02010600030101010101" pitchFamily="2" charset="-122"/>
              </a:rPr>
              <a:t> |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1</a:t>
            </a:r>
            <a:r>
              <a:rPr lang="en-US" altLang="zh-CN" sz="2000" b="1">
                <a:ea typeface="宋体" panose="02010600030101010101" pitchFamily="2" charset="-122"/>
              </a:rPr>
              <a:t> -&gt;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2</a:t>
            </a:r>
            <a:r>
              <a:rPr lang="en-US" altLang="zh-CN" sz="2000" b="1">
                <a:ea typeface="宋体" panose="02010600030101010101" pitchFamily="2" charset="-122"/>
              </a:rPr>
              <a:t> -&gt;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3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A</a:t>
            </a:r>
            <a:r>
              <a:rPr lang="en-US" altLang="zh-CN" sz="2000" b="1" baseline="-25000">
                <a:ea typeface="宋体" panose="02010600030101010101" pitchFamily="2" charset="-122"/>
              </a:rPr>
              <a:t>3</a:t>
            </a:r>
            <a:r>
              <a:rPr lang="en-US" altLang="zh-CN" sz="2000" b="1">
                <a:ea typeface="宋体" panose="02010600030101010101" pitchFamily="2" charset="-122"/>
              </a:rPr>
              <a:t> -&gt; ∈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9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CCFF1F-5420-49A7-8224-63463AA3AA8A}" type="slidenum">
              <a:rPr lang="zh-CN" altLang="en-US" sz="800"/>
              <a:pPr/>
              <a:t>11</a:t>
            </a:fld>
            <a:endParaRPr lang="en-US" altLang="zh-CN" sz="8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8421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Context-Free Grammars (P.165)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08050"/>
            <a:ext cx="9372600" cy="55451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Inherently 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recursive</a:t>
            </a:r>
            <a:r>
              <a:rPr lang="en-US" altLang="zh-CN" smtClean="0">
                <a:ea typeface="宋体" panose="02010600030101010101" pitchFamily="2" charset="-122"/>
              </a:rPr>
              <a:t> structures of a programming language are defined by a context-free grammar.</a:t>
            </a:r>
            <a:endParaRPr lang="en-US" altLang="zh-CN" sz="12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In a context-free grammar, we have: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A finite set of</a:t>
            </a:r>
            <a:r>
              <a:rPr lang="en-US" altLang="zh-CN" sz="2000" b="1" smtClean="0">
                <a:solidFill>
                  <a:srgbClr val="FF0000"/>
                </a:solidFill>
                <a:ea typeface="宋体" panose="02010600030101010101" pitchFamily="2" charset="-122"/>
              </a:rPr>
              <a:t> terminals </a:t>
            </a:r>
            <a:r>
              <a:rPr lang="zh-CN" altLang="en-US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（</a:t>
            </a:r>
            <a:r>
              <a:rPr lang="zh-CN" altLang="en-US" sz="2000" b="1" smtClean="0">
                <a:solidFill>
                  <a:schemeClr val="accent2"/>
                </a:solidFill>
                <a:ea typeface="宋体" panose="02010600030101010101" pitchFamily="2" charset="-122"/>
              </a:rPr>
              <a:t>终结符</a:t>
            </a:r>
            <a:r>
              <a:rPr lang="zh-CN" altLang="en-US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(in our case, this will be the set of tokens)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A finite set of</a:t>
            </a:r>
            <a:r>
              <a:rPr lang="en-US" altLang="zh-CN" sz="2000" b="1" smtClean="0">
                <a:solidFill>
                  <a:srgbClr val="FF0000"/>
                </a:solidFill>
                <a:ea typeface="宋体" panose="02010600030101010101" pitchFamily="2" charset="-122"/>
              </a:rPr>
              <a:t> non-terminals </a:t>
            </a:r>
            <a:r>
              <a:rPr lang="zh-CN" altLang="en-US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（</a:t>
            </a:r>
            <a:r>
              <a:rPr lang="zh-CN" altLang="en-US" sz="2000" b="1" smtClean="0">
                <a:solidFill>
                  <a:schemeClr val="accent2"/>
                </a:solidFill>
                <a:ea typeface="宋体" panose="02010600030101010101" pitchFamily="2" charset="-122"/>
              </a:rPr>
              <a:t>非终结符</a:t>
            </a:r>
            <a:r>
              <a:rPr lang="zh-CN" altLang="en-US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(syntactic-variables)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A finite set of </a:t>
            </a:r>
            <a:r>
              <a:rPr lang="en-US" altLang="zh-CN" sz="2000" b="1" smtClean="0">
                <a:solidFill>
                  <a:srgbClr val="FF0000"/>
                </a:solidFill>
                <a:ea typeface="宋体" panose="02010600030101010101" pitchFamily="2" charset="-122"/>
              </a:rPr>
              <a:t>productions rules</a:t>
            </a: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（产生式）</a:t>
            </a: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 in the following form</a:t>
            </a:r>
          </a:p>
          <a:p>
            <a:pPr lvl="2">
              <a:lnSpc>
                <a:spcPct val="90000"/>
              </a:lnSpc>
            </a:pP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A </a:t>
            </a: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	where A is a non-terminal and  is a string of terminals 			and non-terminals (including the empty string)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A </a:t>
            </a:r>
            <a:r>
              <a:rPr lang="en-US" altLang="zh-CN" sz="2000" b="1" smtClean="0">
                <a:solidFill>
                  <a:srgbClr val="FF0000"/>
                </a:solidFill>
                <a:ea typeface="宋体" panose="02010600030101010101" pitchFamily="2" charset="-122"/>
              </a:rPr>
              <a:t>start symbol</a:t>
            </a:r>
            <a:r>
              <a:rPr lang="en-US" altLang="zh-CN" sz="2000" b="1" smtClean="0">
                <a:solidFill>
                  <a:srgbClr val="800080"/>
                </a:solidFill>
                <a:ea typeface="宋体" panose="02010600030101010101" pitchFamily="2" charset="-122"/>
              </a:rPr>
              <a:t> (one of the non-terminal symbol)</a:t>
            </a:r>
          </a:p>
          <a:p>
            <a:pPr>
              <a:lnSpc>
                <a:spcPct val="90000"/>
              </a:lnSpc>
            </a:pPr>
            <a:endParaRPr lang="en-US" altLang="zh-CN" sz="2000" b="1" smtClean="0">
              <a:solidFill>
                <a:srgbClr val="80008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Example: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 E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E   |   E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–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   |   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*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   |  E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/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 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(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| 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-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  <a:endParaRPr lang="en-US" altLang="zh-CN" sz="2000" smtClean="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 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 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num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                                                                (4.3)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63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63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63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6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159B7E9-8B74-4F0A-A237-0D9163B965FC}" type="slidenum">
              <a:rPr lang="zh-CN" altLang="en-US" sz="800"/>
              <a:pPr/>
              <a:t>12</a:t>
            </a:fld>
            <a:endParaRPr lang="en-US" altLang="zh-CN" sz="800"/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1081088" y="0"/>
            <a:ext cx="8062912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Concepts &amp; Terminology</a:t>
            </a:r>
          </a:p>
        </p:txBody>
      </p:sp>
      <p:sp>
        <p:nvSpPr>
          <p:cNvPr id="300037" name="Text Box 5"/>
          <p:cNvSpPr txBox="1">
            <a:spLocks noChangeArrowheads="1"/>
          </p:cNvSpPr>
          <p:nvPr/>
        </p:nvSpPr>
        <p:spPr bwMode="auto">
          <a:xfrm>
            <a:off x="560388" y="1066800"/>
            <a:ext cx="8785225" cy="53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Definition:  A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Context Free Grammar (CFG), </a:t>
            </a:r>
            <a:r>
              <a:rPr lang="en-US" altLang="zh-CN">
                <a:ea typeface="宋体" panose="02010600030101010101" pitchFamily="2" charset="-122"/>
              </a:rPr>
              <a:t>is described by  T, NT, 	S, PR,  where: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: Terminals / tokens of the language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NT</a:t>
            </a:r>
            <a:r>
              <a:rPr lang="en-US" altLang="zh-CN">
                <a:ea typeface="宋体" panose="02010600030101010101" pitchFamily="2" charset="-122"/>
              </a:rPr>
              <a:t>: Non-terminals to denote sets of strings generated  by the 	grammar &amp; in the language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: Start symbol, 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NT, which defines all strings of the language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 Production rules to indicate how T and NT are combined to 	generate valid strings of the language.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        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PR: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NT  (T | NT)*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Like a Regular Expression / DFA / NFA,  a Context Free Grammar is a mathematical model 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0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0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4339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434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794A43-5D01-49B5-A233-2A1457647C42}" type="slidenum">
              <a:rPr lang="zh-CN" altLang="en-US" sz="800"/>
              <a:pPr/>
              <a:t>13</a:t>
            </a:fld>
            <a:endParaRPr lang="en-US" altLang="zh-CN" sz="80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 Grammar</a:t>
            </a:r>
          </a:p>
        </p:txBody>
      </p:sp>
      <p:sp>
        <p:nvSpPr>
          <p:cNvPr id="14342" name="Text Box 3"/>
          <p:cNvSpPr txBox="1">
            <a:spLocks noChangeArrowheads="1"/>
          </p:cNvSpPr>
          <p:nvPr/>
        </p:nvSpPr>
        <p:spPr bwMode="auto">
          <a:xfrm>
            <a:off x="1403350" y="1371600"/>
            <a:ext cx="3962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expr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expr  op  expr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expr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expr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expr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expr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expr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op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op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op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op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/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op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endParaRPr lang="en-US" altLang="zh-CN" b="1" i="1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343" name="Text Box 4"/>
          <p:cNvSpPr txBox="1">
            <a:spLocks noChangeArrowheads="1"/>
          </p:cNvSpPr>
          <p:nvPr/>
        </p:nvSpPr>
        <p:spPr bwMode="auto">
          <a:xfrm>
            <a:off x="5943600" y="2438400"/>
            <a:ext cx="3467100" cy="2112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Black : NT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Blue : T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expr : 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9 Production rules</a:t>
            </a:r>
          </a:p>
        </p:txBody>
      </p:sp>
      <p:sp>
        <p:nvSpPr>
          <p:cNvPr id="14344" name="Text Box 5"/>
          <p:cNvSpPr txBox="1">
            <a:spLocks noChangeArrowheads="1"/>
          </p:cNvSpPr>
          <p:nvPr/>
        </p:nvSpPr>
        <p:spPr bwMode="auto">
          <a:xfrm>
            <a:off x="1784350" y="5562600"/>
            <a:ext cx="66246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To simplify / standardize notation, we offer a synopsis of terminology.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F9E52D-8508-4E80-92FA-1F59551757BE}" type="slidenum">
              <a:rPr lang="zh-CN" altLang="en-US" sz="800"/>
              <a:pPr/>
              <a:t>14</a:t>
            </a:fld>
            <a:endParaRPr lang="en-US" altLang="zh-CN" sz="8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Terminology (cont.)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25538"/>
            <a:ext cx="9036050" cy="5199062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L(G) is </a:t>
            </a:r>
            <a:r>
              <a:rPr lang="en-US" altLang="zh-CN" i="1" smtClean="0">
                <a:ea typeface="宋体" panose="02010600030101010101" pitchFamily="2" charset="-122"/>
              </a:rPr>
              <a:t>the language of G</a:t>
            </a:r>
            <a:r>
              <a:rPr lang="en-US" altLang="zh-CN" smtClean="0">
                <a:ea typeface="宋体" panose="02010600030101010101" pitchFamily="2" charset="-122"/>
              </a:rPr>
              <a:t> (the language generated by G) which is a set of sentences.</a:t>
            </a:r>
          </a:p>
          <a:p>
            <a:r>
              <a:rPr lang="en-US" altLang="zh-CN" i="1" smtClean="0">
                <a:ea typeface="宋体" panose="02010600030101010101" pitchFamily="2" charset="-122"/>
              </a:rPr>
              <a:t>A </a:t>
            </a:r>
            <a:r>
              <a:rPr lang="en-US" altLang="zh-CN" b="1" i="1" smtClean="0">
                <a:solidFill>
                  <a:srgbClr val="FF0000"/>
                </a:solidFill>
                <a:ea typeface="宋体" panose="02010600030101010101" pitchFamily="2" charset="-122"/>
              </a:rPr>
              <a:t>sentence</a:t>
            </a:r>
            <a:r>
              <a:rPr lang="en-US" altLang="zh-CN" b="1" i="1" smtClean="0">
                <a:ea typeface="宋体" panose="02010600030101010101" pitchFamily="2" charset="-122"/>
              </a:rPr>
              <a:t> </a:t>
            </a:r>
            <a:r>
              <a:rPr lang="zh-CN" altLang="en-US" b="1" i="1" smtClean="0">
                <a:ea typeface="宋体" panose="02010600030101010101" pitchFamily="2" charset="-122"/>
              </a:rPr>
              <a:t>（句子）</a:t>
            </a:r>
            <a:r>
              <a:rPr lang="en-US" altLang="zh-CN" i="1" smtClean="0">
                <a:ea typeface="宋体" panose="02010600030101010101" pitchFamily="2" charset="-122"/>
              </a:rPr>
              <a:t>of L(G)</a:t>
            </a:r>
            <a:r>
              <a:rPr lang="en-US" altLang="zh-CN" smtClean="0">
                <a:ea typeface="宋体" panose="02010600030101010101" pitchFamily="2" charset="-122"/>
              </a:rPr>
              <a:t>  is a string of terminal symbols of G.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If  S is the start symbol of G then</a:t>
            </a:r>
          </a:p>
          <a:p>
            <a:pPr lvl="1">
              <a:buFont typeface="Symbol" panose="05050102010706020507" pitchFamily="18" charset="2"/>
              <a:buChar char="w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is  a sentence of L(G) if  S      where  is a string of terminals of G.</a:t>
            </a:r>
          </a:p>
          <a:p>
            <a:pPr lvl="1">
              <a:buFontTx/>
              <a:buChar char="•"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 language that can be generated by a grammar is said to be a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context-free language.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If G is a context-free grammar, L(G) is a </a:t>
            </a:r>
            <a:r>
              <a:rPr lang="en-US" altLang="zh-CN" i="1" smtClean="0">
                <a:ea typeface="宋体" panose="02010600030101010101" pitchFamily="2" charset="-122"/>
              </a:rPr>
              <a:t>context-free language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Two grammars are </a:t>
            </a:r>
            <a:r>
              <a:rPr lang="en-US" altLang="zh-CN" i="1" smtClean="0">
                <a:solidFill>
                  <a:schemeClr val="accent2"/>
                </a:solidFill>
                <a:ea typeface="宋体" panose="02010600030101010101" pitchFamily="2" charset="-122"/>
              </a:rPr>
              <a:t>equivalent</a:t>
            </a:r>
            <a:r>
              <a:rPr lang="en-US" altLang="zh-CN" smtClean="0">
                <a:ea typeface="宋体" panose="02010600030101010101" pitchFamily="2" charset="-122"/>
              </a:rPr>
              <a:t> if they produce the same language.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S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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- If  contains non-terminals, it is called as a </a:t>
            </a:r>
            <a:r>
              <a:rPr lang="en-US" altLang="zh-CN" sz="2000" b="1" i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sentential</a:t>
            </a:r>
            <a:r>
              <a:rPr lang="en-US" altLang="zh-CN" sz="20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form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of G.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- If  does not contain non-terminals, it is called as a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sentence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of G. </a:t>
            </a:r>
          </a:p>
        </p:txBody>
      </p:sp>
      <p:sp>
        <p:nvSpPr>
          <p:cNvPr id="15367" name="Text Box 4"/>
          <p:cNvSpPr txBox="1">
            <a:spLocks noChangeArrowheads="1"/>
          </p:cNvSpPr>
          <p:nvPr/>
        </p:nvSpPr>
        <p:spPr bwMode="auto">
          <a:xfrm>
            <a:off x="3944938" y="2690813"/>
            <a:ext cx="327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15368" name="Text Box 5"/>
          <p:cNvSpPr txBox="1">
            <a:spLocks noChangeArrowheads="1"/>
          </p:cNvSpPr>
          <p:nvPr/>
        </p:nvSpPr>
        <p:spPr bwMode="auto">
          <a:xfrm>
            <a:off x="1041400" y="51927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920750" y="6086475"/>
            <a:ext cx="34893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>
                <a:ea typeface="宋体" panose="02010600030101010101" pitchFamily="2" charset="-122"/>
              </a:rPr>
              <a:t>EX.  E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 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id+id</a:t>
            </a:r>
          </a:p>
        </p:txBody>
      </p:sp>
      <p:sp>
        <p:nvSpPr>
          <p:cNvPr id="15370" name="Rectangle 7"/>
          <p:cNvSpPr>
            <a:spLocks noChangeArrowheads="1"/>
          </p:cNvSpPr>
          <p:nvPr/>
        </p:nvSpPr>
        <p:spPr bwMode="auto">
          <a:xfrm>
            <a:off x="7113588" y="3933825"/>
            <a:ext cx="132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Cf. p.168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638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638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E0006C0-EF72-4A36-B95E-42C0EA1DC631}" type="slidenum">
              <a:rPr lang="zh-CN" altLang="en-US" sz="800"/>
              <a:pPr/>
              <a:t>15</a:t>
            </a:fld>
            <a:endParaRPr lang="en-US" altLang="zh-CN" sz="8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does this relate to Languages?</a:t>
            </a:r>
          </a:p>
        </p:txBody>
      </p:sp>
      <p:sp>
        <p:nvSpPr>
          <p:cNvPr id="16390" name="Text Box 3"/>
          <p:cNvSpPr txBox="1">
            <a:spLocks noChangeArrowheads="1"/>
          </p:cNvSpPr>
          <p:nvPr/>
        </p:nvSpPr>
        <p:spPr bwMode="auto">
          <a:xfrm>
            <a:off x="1219200" y="990600"/>
            <a:ext cx="8255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Let G be a CFG with start symbol S.  Then  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W (where W has no non-terminals) represents the language generated by G, denoted L(G). So 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WL(G)   S W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6391" name="Text Box 4"/>
          <p:cNvSpPr txBox="1">
            <a:spLocks noChangeArrowheads="1"/>
          </p:cNvSpPr>
          <p:nvPr/>
        </p:nvSpPr>
        <p:spPr bwMode="auto">
          <a:xfrm>
            <a:off x="6824663" y="908050"/>
            <a:ext cx="577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16392" name="Text Box 5"/>
          <p:cNvSpPr txBox="1">
            <a:spLocks noChangeArrowheads="1"/>
          </p:cNvSpPr>
          <p:nvPr/>
        </p:nvSpPr>
        <p:spPr bwMode="auto">
          <a:xfrm>
            <a:off x="5384800" y="1622425"/>
            <a:ext cx="577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rgbClr val="FF0000"/>
                </a:solidFill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16393" name="Text Box 6"/>
          <p:cNvSpPr txBox="1">
            <a:spLocks noChangeArrowheads="1"/>
          </p:cNvSpPr>
          <p:nvPr/>
        </p:nvSpPr>
        <p:spPr bwMode="auto">
          <a:xfrm>
            <a:off x="1797050" y="2286000"/>
            <a:ext cx="660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W : is a sentence of G</a:t>
            </a:r>
          </a:p>
        </p:txBody>
      </p:sp>
      <p:sp>
        <p:nvSpPr>
          <p:cNvPr id="16394" name="Text Box 7"/>
          <p:cNvSpPr txBox="1">
            <a:spLocks noChangeArrowheads="1"/>
          </p:cNvSpPr>
          <p:nvPr/>
        </p:nvSpPr>
        <p:spPr bwMode="auto">
          <a:xfrm>
            <a:off x="1384300" y="3048000"/>
            <a:ext cx="80073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When 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 (and  may have NTs) it is called 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sentential form of G.</a:t>
            </a: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395" name="Text Box 8"/>
          <p:cNvSpPr txBox="1">
            <a:spLocks noChangeArrowheads="1"/>
          </p:cNvSpPr>
          <p:nvPr/>
        </p:nvSpPr>
        <p:spPr bwMode="auto">
          <a:xfrm>
            <a:off x="1714500" y="5943600"/>
            <a:ext cx="577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311305" name="Text Box 9"/>
          <p:cNvSpPr txBox="1">
            <a:spLocks noChangeArrowheads="1"/>
          </p:cNvSpPr>
          <p:nvPr/>
        </p:nvSpPr>
        <p:spPr bwMode="auto">
          <a:xfrm>
            <a:off x="1466850" y="4114800"/>
            <a:ext cx="8007350" cy="235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EXAMPLE:</a:t>
            </a:r>
            <a:r>
              <a:rPr lang="en-US" altLang="zh-CN" b="1">
                <a:solidFill>
                  <a:srgbClr val="00CC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id * id   </a:t>
            </a: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is a sentence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Here’s the derivation: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 E op E E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* id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endParaRPr lang="en-US" altLang="zh-CN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* id</a:t>
            </a:r>
          </a:p>
        </p:txBody>
      </p:sp>
      <p:sp>
        <p:nvSpPr>
          <p:cNvPr id="16397" name="Text Box 15"/>
          <p:cNvSpPr txBox="1">
            <a:spLocks noChangeArrowheads="1"/>
          </p:cNvSpPr>
          <p:nvPr/>
        </p:nvSpPr>
        <p:spPr bwMode="auto">
          <a:xfrm>
            <a:off x="2360613" y="2997200"/>
            <a:ext cx="577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*</a:t>
            </a:r>
          </a:p>
        </p:txBody>
      </p:sp>
      <p:grpSp>
        <p:nvGrpSpPr>
          <p:cNvPr id="311314" name="Group 18"/>
          <p:cNvGrpSpPr>
            <a:grpSpLocks/>
          </p:cNvGrpSpPr>
          <p:nvPr/>
        </p:nvGrpSpPr>
        <p:grpSpPr bwMode="auto">
          <a:xfrm>
            <a:off x="5816600" y="5486400"/>
            <a:ext cx="1368425" cy="679450"/>
            <a:chOff x="3664" y="3456"/>
            <a:chExt cx="862" cy="428"/>
          </a:xfrm>
        </p:grpSpPr>
        <p:sp>
          <p:nvSpPr>
            <p:cNvPr id="16403" name="Line 12"/>
            <p:cNvSpPr>
              <a:spLocks noChangeShapeType="1"/>
            </p:cNvSpPr>
            <p:nvPr/>
          </p:nvSpPr>
          <p:spPr bwMode="auto">
            <a:xfrm flipH="1" flipV="1">
              <a:off x="3846" y="3456"/>
              <a:ext cx="223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Dot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Text Box 16"/>
            <p:cNvSpPr txBox="1">
              <a:spLocks noChangeArrowheads="1"/>
            </p:cNvSpPr>
            <p:nvPr/>
          </p:nvSpPr>
          <p:spPr bwMode="auto">
            <a:xfrm>
              <a:off x="3664" y="3626"/>
              <a:ext cx="862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宋体" panose="02010600030101010101" pitchFamily="2" charset="-122"/>
                </a:rPr>
                <a:t>Sentence</a:t>
              </a:r>
            </a:p>
          </p:txBody>
        </p:sp>
      </p:grpSp>
      <p:sp>
        <p:nvSpPr>
          <p:cNvPr id="16399" name="Text Box 10"/>
          <p:cNvSpPr txBox="1">
            <a:spLocks noChangeArrowheads="1"/>
          </p:cNvSpPr>
          <p:nvPr/>
        </p:nvSpPr>
        <p:spPr bwMode="auto">
          <a:xfrm>
            <a:off x="2952750" y="5715000"/>
            <a:ext cx="23114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Sentential forms</a:t>
            </a:r>
          </a:p>
        </p:txBody>
      </p:sp>
      <p:sp>
        <p:nvSpPr>
          <p:cNvPr id="16400" name="Line 11"/>
          <p:cNvSpPr>
            <a:spLocks noChangeShapeType="1"/>
          </p:cNvSpPr>
          <p:nvPr/>
        </p:nvSpPr>
        <p:spPr bwMode="auto">
          <a:xfrm flipH="1" flipV="1">
            <a:off x="2703513" y="5489575"/>
            <a:ext cx="24765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1" name="Line 13"/>
          <p:cNvSpPr>
            <a:spLocks noChangeShapeType="1"/>
          </p:cNvSpPr>
          <p:nvPr/>
        </p:nvSpPr>
        <p:spPr bwMode="auto">
          <a:xfrm flipV="1">
            <a:off x="4851400" y="5410200"/>
            <a:ext cx="1651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2" name="Line 14"/>
          <p:cNvSpPr>
            <a:spLocks noChangeShapeType="1"/>
          </p:cNvSpPr>
          <p:nvPr/>
        </p:nvSpPr>
        <p:spPr bwMode="auto">
          <a:xfrm flipH="1" flipV="1">
            <a:off x="3860800" y="5410200"/>
            <a:ext cx="8255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1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741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741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574640-2762-4DE2-BA19-D7B6B11733D8}" type="slidenum">
              <a:rPr lang="zh-CN" altLang="en-US" sz="800"/>
              <a:pPr/>
              <a:t>16</a:t>
            </a:fld>
            <a:endParaRPr lang="en-US" altLang="zh-CN" sz="8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 Grammar – Terminology (P.166)</a:t>
            </a:r>
          </a:p>
        </p:txBody>
      </p:sp>
      <p:sp>
        <p:nvSpPr>
          <p:cNvPr id="17414" name="Text Box 3"/>
          <p:cNvSpPr txBox="1">
            <a:spLocks noChangeArrowheads="1"/>
          </p:cNvSpPr>
          <p:nvPr/>
        </p:nvSpPr>
        <p:spPr bwMode="auto">
          <a:xfrm>
            <a:off x="1219200" y="990600"/>
            <a:ext cx="8089900" cy="407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Terminals: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a,b,c,+,-,punc,0,1,…,9,  </a:t>
            </a:r>
            <a:r>
              <a:rPr lang="en-US" altLang="zh-CN">
                <a:ea typeface="宋体" panose="02010600030101010101" pitchFamily="2" charset="-122"/>
              </a:rPr>
              <a:t>blue strings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Non Terminals: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A,B,C,S,  </a:t>
            </a:r>
            <a:r>
              <a:rPr lang="en-US" altLang="zh-CN">
                <a:ea typeface="宋体" panose="02010600030101010101" pitchFamily="2" charset="-122"/>
              </a:rPr>
              <a:t>black strings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T or NT: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X,Y,Z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Strings of Terminals: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u,v,…,z  in T*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Strings of T / NT: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 ,   in ( T  NT)*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Alternatives of production rules: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A 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 A 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 …; A 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  A  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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… | 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First NT on LHS of 1</a:t>
            </a:r>
            <a:r>
              <a:rPr lang="en-US" altLang="zh-CN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st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production rule is designated as start symbol !</a:t>
            </a:r>
          </a:p>
        </p:txBody>
      </p:sp>
      <p:sp>
        <p:nvSpPr>
          <p:cNvPr id="17415" name="Text Box 4"/>
          <p:cNvSpPr txBox="1">
            <a:spLocks noChangeArrowheads="1"/>
          </p:cNvSpPr>
          <p:nvPr/>
        </p:nvSpPr>
        <p:spPr bwMode="auto">
          <a:xfrm>
            <a:off x="2792413" y="5084763"/>
            <a:ext cx="4608512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E op E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op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-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/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A3D016-514C-481A-9B36-54B39A6063CF}" type="slidenum">
              <a:rPr lang="zh-CN" altLang="en-US" sz="800"/>
              <a:pPr/>
              <a:t>17</a:t>
            </a:fld>
            <a:endParaRPr lang="en-US" altLang="zh-CN" sz="8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Derivations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950" y="908050"/>
            <a:ext cx="8928100" cy="554513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The central idea here is that a production is treated as a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rewriting rule </a:t>
            </a:r>
            <a:r>
              <a:rPr lang="zh-CN" altLang="en-US" smtClean="0">
                <a:ea typeface="宋体" panose="02010600030101010101" pitchFamily="2" charset="-122"/>
              </a:rPr>
              <a:t>（重写规则） </a:t>
            </a:r>
            <a:r>
              <a:rPr lang="en-US" altLang="zh-CN" smtClean="0">
                <a:ea typeface="宋体" panose="02010600030101010101" pitchFamily="2" charset="-122"/>
              </a:rPr>
              <a:t>in which the non-terminal on the  left is replaced by the string on the right side of the production.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E+E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E+E derives from E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we can replace  E by E+E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to able to do this, we have to have a production rule  EE+E in our grammar.</a:t>
            </a:r>
          </a:p>
          <a:p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E+E  id+E  id+id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sequence of replacements of non-terminal symbols is called a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derivation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mtClean="0">
                <a:ea typeface="宋体" panose="02010600030101010101" pitchFamily="2" charset="-122"/>
                <a:sym typeface="Symbol" panose="05050102010706020507" pitchFamily="18" charset="2"/>
              </a:rPr>
              <a:t>（推导）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of id+id from E.</a:t>
            </a:r>
          </a:p>
          <a:p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In general a derivation step is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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...  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 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000" baseline="-25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  </a:t>
            </a:r>
            <a:r>
              <a:rPr lang="en-US" altLang="zh-CN" sz="2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derives from </a:t>
            </a:r>
            <a:r>
              <a:rPr lang="en-US" altLang="zh-CN" sz="2000" baseline="-25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  </a:t>
            </a:r>
            <a:r>
              <a:rPr lang="en-US" altLang="zh-CN" sz="2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or   </a:t>
            </a:r>
            <a:r>
              <a:rPr lang="en-US" altLang="zh-CN" sz="2000" baseline="-25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z="2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derives </a:t>
            </a:r>
            <a:r>
              <a:rPr lang="en-US" altLang="zh-CN" sz="2000" baseline="-25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9459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946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C58E612-E61F-4353-A239-6D480C69A47F}" type="slidenum">
              <a:rPr lang="zh-CN" altLang="en-US" sz="800"/>
              <a:pPr/>
              <a:t>18</a:t>
            </a:fld>
            <a:endParaRPr lang="en-US" altLang="zh-CN" sz="8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Grammar Concepts</a:t>
            </a:r>
          </a:p>
        </p:txBody>
      </p:sp>
      <p:sp>
        <p:nvSpPr>
          <p:cNvPr id="19462" name="Text Box 3"/>
          <p:cNvSpPr txBox="1">
            <a:spLocks noChangeArrowheads="1"/>
          </p:cNvSpPr>
          <p:nvPr/>
        </p:nvSpPr>
        <p:spPr bwMode="auto">
          <a:xfrm>
            <a:off x="849313" y="914400"/>
            <a:ext cx="8496300" cy="3779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 step in a derivation is zero or one action that replaces a NT with the RHS of a production rule.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EXAMPLE</a:t>
            </a:r>
            <a:r>
              <a:rPr lang="en-US" altLang="zh-CN">
                <a:ea typeface="宋体" panose="02010600030101010101" pitchFamily="2" charset="-122"/>
              </a:rPr>
              <a:t>:  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 (the  means “derives” in one step) using the production rule:  E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EXAMPLE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 E  E op E 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(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DEFINITION:	  </a:t>
            </a: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 derives in one step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         derives in  one step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         derives in  zero steps</a:t>
            </a:r>
          </a:p>
        </p:txBody>
      </p:sp>
      <p:sp>
        <p:nvSpPr>
          <p:cNvPr id="19463" name="Text Box 4"/>
          <p:cNvSpPr txBox="1">
            <a:spLocks noChangeArrowheads="1"/>
          </p:cNvSpPr>
          <p:nvPr/>
        </p:nvSpPr>
        <p:spPr bwMode="auto">
          <a:xfrm>
            <a:off x="2865438" y="3657600"/>
            <a:ext cx="49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19464" name="Text Box 5"/>
          <p:cNvSpPr txBox="1">
            <a:spLocks noChangeArrowheads="1"/>
          </p:cNvSpPr>
          <p:nvPr/>
        </p:nvSpPr>
        <p:spPr bwMode="auto">
          <a:xfrm>
            <a:off x="2865438" y="4191000"/>
            <a:ext cx="49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9465" name="Text Box 6"/>
          <p:cNvSpPr txBox="1">
            <a:spLocks noChangeArrowheads="1"/>
          </p:cNvSpPr>
          <p:nvPr/>
        </p:nvSpPr>
        <p:spPr bwMode="auto">
          <a:xfrm>
            <a:off x="920750" y="4868863"/>
            <a:ext cx="7694613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EXAMPLES: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 A          if A  is a production rule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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… 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then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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;       for all 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If     and     then   </a:t>
            </a:r>
          </a:p>
        </p:txBody>
      </p:sp>
      <p:sp>
        <p:nvSpPr>
          <p:cNvPr id="19466" name="Text Box 7"/>
          <p:cNvSpPr txBox="1">
            <a:spLocks noChangeArrowheads="1"/>
          </p:cNvSpPr>
          <p:nvPr/>
        </p:nvSpPr>
        <p:spPr bwMode="auto">
          <a:xfrm>
            <a:off x="4448175" y="5367338"/>
            <a:ext cx="495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9467" name="Text Box 8"/>
          <p:cNvSpPr txBox="1">
            <a:spLocks noChangeArrowheads="1"/>
          </p:cNvSpPr>
          <p:nvPr/>
        </p:nvSpPr>
        <p:spPr bwMode="auto">
          <a:xfrm>
            <a:off x="5745163" y="5367338"/>
            <a:ext cx="495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9468" name="Text Box 9"/>
          <p:cNvSpPr txBox="1">
            <a:spLocks noChangeArrowheads="1"/>
          </p:cNvSpPr>
          <p:nvPr/>
        </p:nvSpPr>
        <p:spPr bwMode="auto">
          <a:xfrm>
            <a:off x="4457700" y="5876925"/>
            <a:ext cx="49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9469" name="Text Box 10"/>
          <p:cNvSpPr txBox="1">
            <a:spLocks noChangeArrowheads="1"/>
          </p:cNvSpPr>
          <p:nvPr/>
        </p:nvSpPr>
        <p:spPr bwMode="auto">
          <a:xfrm flipH="1">
            <a:off x="1497013" y="5867400"/>
            <a:ext cx="49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7850B4-6406-4E0F-AAD6-0A928FAB2171}" type="slidenum">
              <a:rPr lang="zh-CN" altLang="en-US" sz="800"/>
              <a:pPr/>
              <a:t>19</a:t>
            </a:fld>
            <a:endParaRPr lang="en-US" altLang="zh-CN" sz="800"/>
          </a:p>
        </p:txBody>
      </p:sp>
      <p:sp>
        <p:nvSpPr>
          <p:cNvPr id="2048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Other Derivation Concepts (P.169)</a:t>
            </a:r>
          </a:p>
        </p:txBody>
      </p:sp>
      <p:sp>
        <p:nvSpPr>
          <p:cNvPr id="2048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964613" cy="480218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Example 4.4 (ref. Example (4.3))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OR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At each derivation step, we can choose any of the non-terminal in the sentential form of G for the replacement.</a:t>
            </a:r>
          </a:p>
          <a:p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If we always choose the left-most non-terminal in each derivation step, this derivation is called as </a:t>
            </a:r>
            <a:r>
              <a:rPr lang="en-US" altLang="zh-CN" sz="20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left-most derivation </a:t>
            </a:r>
            <a:r>
              <a:rPr lang="zh-CN" altLang="en-US" sz="2000" b="1" smtClean="0">
                <a:ea typeface="宋体" panose="02010600030101010101" pitchFamily="2" charset="-122"/>
                <a:sym typeface="Symbol" panose="05050102010706020507" pitchFamily="18" charset="2"/>
              </a:rPr>
              <a:t>（最左推导）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If we always choose the right-most non-terminal in each derivation step, this derivation is called as </a:t>
            </a:r>
            <a:r>
              <a:rPr lang="en-US" altLang="zh-CN" sz="20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right-most derivation </a:t>
            </a:r>
            <a:r>
              <a:rPr lang="zh-CN" altLang="en-US" sz="2000" b="1" smtClean="0">
                <a:ea typeface="宋体" panose="02010600030101010101" pitchFamily="2" charset="-122"/>
                <a:sym typeface="Symbol" panose="05050102010706020507" pitchFamily="18" charset="2"/>
              </a:rPr>
              <a:t>（最右推导）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zh-CN" altLang="en-US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244" name="Rectangle 1028"/>
          <p:cNvSpPr>
            <a:spLocks noChangeArrowheads="1"/>
          </p:cNvSpPr>
          <p:nvPr/>
        </p:nvSpPr>
        <p:spPr bwMode="auto">
          <a:xfrm>
            <a:off x="849313" y="1628775"/>
            <a:ext cx="51196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>
                <a:ea typeface="宋体" panose="02010600030101010101" pitchFamily="2" charset="-122"/>
              </a:rPr>
              <a:t>E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-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-(id+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-(id+id)</a:t>
            </a:r>
          </a:p>
        </p:txBody>
      </p:sp>
      <p:sp>
        <p:nvSpPr>
          <p:cNvPr id="266245" name="Rectangle 1029"/>
          <p:cNvSpPr>
            <a:spLocks noChangeArrowheads="1"/>
          </p:cNvSpPr>
          <p:nvPr/>
        </p:nvSpPr>
        <p:spPr bwMode="auto">
          <a:xfrm>
            <a:off x="841375" y="2349500"/>
            <a:ext cx="5119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>
                <a:ea typeface="宋体" panose="02010600030101010101" pitchFamily="2" charset="-122"/>
              </a:rPr>
              <a:t>E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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-(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+id)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-(id+id)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4" grpId="0"/>
      <p:bldP spid="2662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150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150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6B5FF7-E179-4B50-9465-DC113778781D}" type="slidenum">
              <a:rPr lang="zh-CN" altLang="en-US" sz="800"/>
              <a:pPr/>
              <a:t>20</a:t>
            </a:fld>
            <a:endParaRPr lang="en-US" altLang="zh-CN" sz="800"/>
          </a:p>
        </p:txBody>
      </p:sp>
      <p:grpSp>
        <p:nvGrpSpPr>
          <p:cNvPr id="21509" name="Group 2"/>
          <p:cNvGrpSpPr>
            <a:grpSpLocks/>
          </p:cNvGrpSpPr>
          <p:nvPr/>
        </p:nvGrpSpPr>
        <p:grpSpPr bwMode="auto">
          <a:xfrm>
            <a:off x="2552700" y="4114800"/>
            <a:ext cx="825500" cy="641350"/>
            <a:chOff x="1632" y="3456"/>
            <a:chExt cx="480" cy="404"/>
          </a:xfrm>
        </p:grpSpPr>
        <p:sp>
          <p:nvSpPr>
            <p:cNvPr id="21529" name="Text Box 3"/>
            <p:cNvSpPr txBox="1">
              <a:spLocks noChangeArrowheads="1"/>
            </p:cNvSpPr>
            <p:nvPr/>
          </p:nvSpPr>
          <p:spPr bwMode="auto">
            <a:xfrm>
              <a:off x="1680" y="34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21530" name="Text Box 4"/>
            <p:cNvSpPr txBox="1">
              <a:spLocks noChangeArrowheads="1"/>
            </p:cNvSpPr>
            <p:nvPr/>
          </p:nvSpPr>
          <p:spPr bwMode="auto">
            <a:xfrm>
              <a:off x="1632" y="3648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lm</a:t>
              </a:r>
            </a:p>
          </p:txBody>
        </p:sp>
      </p:grpSp>
      <p:sp>
        <p:nvSpPr>
          <p:cNvPr id="21510" name="Rectangle 5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Derivation Example</a:t>
            </a:r>
          </a:p>
        </p:txBody>
      </p:sp>
      <p:sp>
        <p:nvSpPr>
          <p:cNvPr id="313350" name="Text Box 6"/>
          <p:cNvSpPr txBox="1">
            <a:spLocks noChangeArrowheads="1"/>
          </p:cNvSpPr>
          <p:nvPr/>
        </p:nvSpPr>
        <p:spPr bwMode="auto">
          <a:xfrm>
            <a:off x="1066800" y="914400"/>
            <a:ext cx="8255000" cy="261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u="sng">
                <a:ea typeface="宋体" panose="02010600030101010101" pitchFamily="2" charset="-122"/>
              </a:rPr>
              <a:t>Leftmost</a:t>
            </a:r>
            <a:r>
              <a:rPr lang="en-US" altLang="zh-CN">
                <a:ea typeface="宋体" panose="02010600030101010101" pitchFamily="2" charset="-122"/>
              </a:rPr>
              <a:t>:  Replace the leftmost non-terminal symbol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 E op 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op 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* id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u="sng">
                <a:ea typeface="宋体" panose="02010600030101010101" pitchFamily="2" charset="-122"/>
              </a:rPr>
              <a:t>Rightmost</a:t>
            </a:r>
            <a:r>
              <a:rPr lang="en-US" altLang="zh-CN">
                <a:ea typeface="宋体" panose="02010600030101010101" pitchFamily="2" charset="-122"/>
              </a:rPr>
              <a:t>:  Replace the leftmost non-terminal symbol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 E op E  E op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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* id</a:t>
            </a:r>
          </a:p>
          <a:p>
            <a:pPr eaLnBrk="1" hangingPunct="1">
              <a:spcBef>
                <a:spcPct val="5000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313366" name="Group 22"/>
          <p:cNvGrpSpPr>
            <a:grpSpLocks/>
          </p:cNvGrpSpPr>
          <p:nvPr/>
        </p:nvGrpSpPr>
        <p:grpSpPr bwMode="auto">
          <a:xfrm>
            <a:off x="2649538" y="1676400"/>
            <a:ext cx="4494212" cy="360363"/>
            <a:chOff x="1669" y="1056"/>
            <a:chExt cx="2831" cy="227"/>
          </a:xfrm>
        </p:grpSpPr>
        <p:sp>
          <p:nvSpPr>
            <p:cNvPr id="21525" name="Text Box 8"/>
            <p:cNvSpPr txBox="1">
              <a:spLocks noChangeArrowheads="1"/>
            </p:cNvSpPr>
            <p:nvPr/>
          </p:nvSpPr>
          <p:spPr bwMode="auto">
            <a:xfrm>
              <a:off x="4032" y="1056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lm</a:t>
              </a:r>
            </a:p>
          </p:txBody>
        </p:sp>
        <p:sp>
          <p:nvSpPr>
            <p:cNvPr id="21526" name="Text Box 9"/>
            <p:cNvSpPr txBox="1">
              <a:spLocks noChangeArrowheads="1"/>
            </p:cNvSpPr>
            <p:nvPr/>
          </p:nvSpPr>
          <p:spPr bwMode="auto">
            <a:xfrm>
              <a:off x="3287" y="1071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lm</a:t>
              </a:r>
            </a:p>
          </p:txBody>
        </p:sp>
        <p:sp>
          <p:nvSpPr>
            <p:cNvPr id="21527" name="Text Box 10"/>
            <p:cNvSpPr txBox="1">
              <a:spLocks noChangeArrowheads="1"/>
            </p:cNvSpPr>
            <p:nvPr/>
          </p:nvSpPr>
          <p:spPr bwMode="auto">
            <a:xfrm>
              <a:off x="2485" y="1056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lm</a:t>
              </a:r>
            </a:p>
          </p:txBody>
        </p:sp>
        <p:sp>
          <p:nvSpPr>
            <p:cNvPr id="21528" name="Text Box 11"/>
            <p:cNvSpPr txBox="1">
              <a:spLocks noChangeArrowheads="1"/>
            </p:cNvSpPr>
            <p:nvPr/>
          </p:nvSpPr>
          <p:spPr bwMode="auto">
            <a:xfrm>
              <a:off x="1669" y="1056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lm</a:t>
              </a:r>
            </a:p>
          </p:txBody>
        </p:sp>
      </p:grpSp>
      <p:grpSp>
        <p:nvGrpSpPr>
          <p:cNvPr id="313367" name="Group 23"/>
          <p:cNvGrpSpPr>
            <a:grpSpLocks/>
          </p:cNvGrpSpPr>
          <p:nvPr/>
        </p:nvGrpSpPr>
        <p:grpSpPr bwMode="auto">
          <a:xfrm>
            <a:off x="2649538" y="2805113"/>
            <a:ext cx="4494212" cy="336550"/>
            <a:chOff x="1669" y="1767"/>
            <a:chExt cx="2831" cy="212"/>
          </a:xfrm>
        </p:grpSpPr>
        <p:sp>
          <p:nvSpPr>
            <p:cNvPr id="21521" name="Text Box 7"/>
            <p:cNvSpPr txBox="1">
              <a:spLocks noChangeArrowheads="1"/>
            </p:cNvSpPr>
            <p:nvPr/>
          </p:nvSpPr>
          <p:spPr bwMode="auto">
            <a:xfrm>
              <a:off x="4032" y="1767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rm</a:t>
              </a:r>
            </a:p>
          </p:txBody>
        </p:sp>
        <p:sp>
          <p:nvSpPr>
            <p:cNvPr id="21522" name="Text Box 12"/>
            <p:cNvSpPr txBox="1">
              <a:spLocks noChangeArrowheads="1"/>
            </p:cNvSpPr>
            <p:nvPr/>
          </p:nvSpPr>
          <p:spPr bwMode="auto">
            <a:xfrm>
              <a:off x="3272" y="1767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rm</a:t>
              </a:r>
            </a:p>
          </p:txBody>
        </p:sp>
        <p:sp>
          <p:nvSpPr>
            <p:cNvPr id="21523" name="Text Box 13"/>
            <p:cNvSpPr txBox="1">
              <a:spLocks noChangeArrowheads="1"/>
            </p:cNvSpPr>
            <p:nvPr/>
          </p:nvSpPr>
          <p:spPr bwMode="auto">
            <a:xfrm>
              <a:off x="2485" y="1767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rm</a:t>
              </a:r>
            </a:p>
          </p:txBody>
        </p:sp>
        <p:sp>
          <p:nvSpPr>
            <p:cNvPr id="21524" name="Text Box 14"/>
            <p:cNvSpPr txBox="1">
              <a:spLocks noChangeArrowheads="1"/>
            </p:cNvSpPr>
            <p:nvPr/>
          </p:nvSpPr>
          <p:spPr bwMode="auto">
            <a:xfrm>
              <a:off x="1669" y="1767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rm</a:t>
              </a:r>
            </a:p>
          </p:txBody>
        </p:sp>
      </p:grpSp>
      <p:sp>
        <p:nvSpPr>
          <p:cNvPr id="21514" name="Text Box 15"/>
          <p:cNvSpPr txBox="1">
            <a:spLocks noChangeArrowheads="1"/>
          </p:cNvSpPr>
          <p:nvPr/>
        </p:nvSpPr>
        <p:spPr bwMode="auto">
          <a:xfrm>
            <a:off x="1231900" y="3581400"/>
            <a:ext cx="45847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u="sng">
                <a:ea typeface="宋体" panose="02010600030101010101" pitchFamily="2" charset="-122"/>
              </a:rPr>
              <a:t>Important Notes:</a:t>
            </a:r>
            <a:r>
              <a:rPr lang="en-US" altLang="zh-CN">
                <a:ea typeface="宋体" panose="02010600030101010101" pitchFamily="2" charset="-122"/>
              </a:rPr>
              <a:t>          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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If  A               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If A                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1515" name="Group 16"/>
          <p:cNvGrpSpPr>
            <a:grpSpLocks/>
          </p:cNvGrpSpPr>
          <p:nvPr/>
        </p:nvGrpSpPr>
        <p:grpSpPr bwMode="auto">
          <a:xfrm>
            <a:off x="2552700" y="4648200"/>
            <a:ext cx="825500" cy="641350"/>
            <a:chOff x="1632" y="3456"/>
            <a:chExt cx="480" cy="404"/>
          </a:xfrm>
        </p:grpSpPr>
        <p:sp>
          <p:nvSpPr>
            <p:cNvPr id="21519" name="Text Box 17"/>
            <p:cNvSpPr txBox="1">
              <a:spLocks noChangeArrowheads="1"/>
            </p:cNvSpPr>
            <p:nvPr/>
          </p:nvSpPr>
          <p:spPr bwMode="auto">
            <a:xfrm>
              <a:off x="1680" y="34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21520" name="Text Box 18"/>
            <p:cNvSpPr txBox="1">
              <a:spLocks noChangeArrowheads="1"/>
            </p:cNvSpPr>
            <p:nvPr/>
          </p:nvSpPr>
          <p:spPr bwMode="auto">
            <a:xfrm>
              <a:off x="1632" y="3648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rm</a:t>
              </a:r>
            </a:p>
          </p:txBody>
        </p:sp>
      </p:grpSp>
      <p:sp>
        <p:nvSpPr>
          <p:cNvPr id="21516" name="Text Box 19"/>
          <p:cNvSpPr txBox="1">
            <a:spLocks noChangeArrowheads="1"/>
          </p:cNvSpPr>
          <p:nvPr/>
        </p:nvSpPr>
        <p:spPr bwMode="auto">
          <a:xfrm>
            <a:off x="704850" y="5562600"/>
            <a:ext cx="85693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Derivations:  Actions to parse input can be represented pictorially in 		a parse tree.</a:t>
            </a:r>
          </a:p>
        </p:txBody>
      </p:sp>
      <p:sp>
        <p:nvSpPr>
          <p:cNvPr id="313364" name="Rectangle 20"/>
          <p:cNvSpPr>
            <a:spLocks noChangeArrowheads="1"/>
          </p:cNvSpPr>
          <p:nvPr/>
        </p:nvSpPr>
        <p:spPr bwMode="auto">
          <a:xfrm>
            <a:off x="4937125" y="4214813"/>
            <a:ext cx="28368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what’s true about </a:t>
            </a:r>
            <a:r>
              <a:rPr lang="en-US" altLang="zh-CN" sz="36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?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3365" name="Rectangle 21"/>
          <p:cNvSpPr>
            <a:spLocks noChangeArrowheads="1"/>
          </p:cNvSpPr>
          <p:nvPr/>
        </p:nvSpPr>
        <p:spPr bwMode="auto">
          <a:xfrm>
            <a:off x="4953000" y="4227513"/>
            <a:ext cx="27733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what’s true about </a:t>
            </a:r>
            <a:r>
              <a:rPr lang="en-US" altLang="zh-CN" sz="36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?</a:t>
            </a:r>
            <a:endParaRPr lang="zh-CN" altLang="en-US">
              <a:solidFill>
                <a:srgbClr val="80008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3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13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1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13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1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64" grpId="0"/>
      <p:bldP spid="31336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3F32DA-C5CB-4BE2-97E7-0FC106EA83BF}" type="slidenum">
              <a:rPr lang="zh-CN" altLang="en-US" sz="800"/>
              <a:pPr/>
              <a:t>21</a:t>
            </a:fld>
            <a:endParaRPr lang="en-US" altLang="zh-CN" sz="8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Left-Most and Right-Most Derivations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3605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Left-Most Derivation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-(id+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-(id+id)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                 (4.4)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Right-Most Derivation (called </a:t>
            </a:r>
            <a:r>
              <a:rPr lang="en-US" altLang="zh-CN" i="1" smtClean="0">
                <a:ea typeface="宋体" panose="02010600030101010101" pitchFamily="2" charset="-122"/>
                <a:sym typeface="Symbol" panose="05050102010706020507" pitchFamily="18" charset="2"/>
              </a:rPr>
              <a:t>canonical derivation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	</a:t>
            </a:r>
          </a:p>
          <a:p>
            <a:pPr>
              <a:buFontTx/>
              <a:buNone/>
            </a:pPr>
            <a:r>
              <a:rPr lang="en-US" altLang="zh-CN" sz="800" smtClean="0">
                <a:ea typeface="宋体" panose="02010600030101010101" pitchFamily="2" charset="-122"/>
              </a:rPr>
              <a:t>	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+id)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-(id+id)</a:t>
            </a:r>
          </a:p>
          <a:p>
            <a:pPr>
              <a:buFontTx/>
              <a:buNone/>
            </a:pPr>
            <a:endParaRPr lang="en-US" altLang="zh-CN" smtClean="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We will see that the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top-down parsers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try to find the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left-most derivation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of the given source program.</a:t>
            </a:r>
          </a:p>
          <a:p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We will see that the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bottom-up parsers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try to find the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right-most derivation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of the given source program in the reverse order.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2535" name="Text Box 4"/>
          <p:cNvSpPr txBox="1">
            <a:spLocks noChangeArrowheads="1"/>
          </p:cNvSpPr>
          <p:nvPr/>
        </p:nvSpPr>
        <p:spPr bwMode="auto">
          <a:xfrm>
            <a:off x="5334000" y="2057400"/>
            <a:ext cx="371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lm</a:t>
            </a:r>
          </a:p>
        </p:txBody>
      </p:sp>
      <p:sp>
        <p:nvSpPr>
          <p:cNvPr id="22536" name="Text Box 5"/>
          <p:cNvSpPr txBox="1">
            <a:spLocks noChangeArrowheads="1"/>
          </p:cNvSpPr>
          <p:nvPr/>
        </p:nvSpPr>
        <p:spPr bwMode="auto">
          <a:xfrm>
            <a:off x="3962400" y="2057400"/>
            <a:ext cx="371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lm</a:t>
            </a:r>
          </a:p>
        </p:txBody>
      </p:sp>
      <p:sp>
        <p:nvSpPr>
          <p:cNvPr id="22537" name="Text Box 6"/>
          <p:cNvSpPr txBox="1">
            <a:spLocks noChangeArrowheads="1"/>
          </p:cNvSpPr>
          <p:nvPr/>
        </p:nvSpPr>
        <p:spPr bwMode="auto">
          <a:xfrm>
            <a:off x="2667000" y="2057400"/>
            <a:ext cx="371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lm</a:t>
            </a:r>
          </a:p>
        </p:txBody>
      </p:sp>
      <p:sp>
        <p:nvSpPr>
          <p:cNvPr id="22538" name="Text Box 7"/>
          <p:cNvSpPr txBox="1">
            <a:spLocks noChangeArrowheads="1"/>
          </p:cNvSpPr>
          <p:nvPr/>
        </p:nvSpPr>
        <p:spPr bwMode="auto">
          <a:xfrm>
            <a:off x="1752600" y="2057400"/>
            <a:ext cx="371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lm</a:t>
            </a:r>
          </a:p>
        </p:txBody>
      </p:sp>
      <p:sp>
        <p:nvSpPr>
          <p:cNvPr id="22539" name="Text Box 8"/>
          <p:cNvSpPr txBox="1">
            <a:spLocks noChangeArrowheads="1"/>
          </p:cNvSpPr>
          <p:nvPr/>
        </p:nvSpPr>
        <p:spPr bwMode="auto">
          <a:xfrm>
            <a:off x="990600" y="2082800"/>
            <a:ext cx="371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lm</a:t>
            </a:r>
          </a:p>
        </p:txBody>
      </p:sp>
      <p:sp>
        <p:nvSpPr>
          <p:cNvPr id="22540" name="Text Box 9"/>
          <p:cNvSpPr txBox="1">
            <a:spLocks noChangeArrowheads="1"/>
          </p:cNvSpPr>
          <p:nvPr/>
        </p:nvSpPr>
        <p:spPr bwMode="auto">
          <a:xfrm>
            <a:off x="53340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22541" name="Text Box 10"/>
          <p:cNvSpPr txBox="1">
            <a:spLocks noChangeArrowheads="1"/>
          </p:cNvSpPr>
          <p:nvPr/>
        </p:nvSpPr>
        <p:spPr bwMode="auto">
          <a:xfrm>
            <a:off x="39624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22542" name="Text Box 11"/>
          <p:cNvSpPr txBox="1">
            <a:spLocks noChangeArrowheads="1"/>
          </p:cNvSpPr>
          <p:nvPr/>
        </p:nvSpPr>
        <p:spPr bwMode="auto">
          <a:xfrm>
            <a:off x="26670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22543" name="Text Box 12"/>
          <p:cNvSpPr txBox="1">
            <a:spLocks noChangeArrowheads="1"/>
          </p:cNvSpPr>
          <p:nvPr/>
        </p:nvSpPr>
        <p:spPr bwMode="auto">
          <a:xfrm>
            <a:off x="17526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22544" name="Text Box 13"/>
          <p:cNvSpPr txBox="1">
            <a:spLocks noChangeArrowheads="1"/>
          </p:cNvSpPr>
          <p:nvPr/>
        </p:nvSpPr>
        <p:spPr bwMode="auto">
          <a:xfrm>
            <a:off x="990600" y="35052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267278" name="Rectangle 14"/>
          <p:cNvSpPr>
            <a:spLocks noChangeArrowheads="1"/>
          </p:cNvSpPr>
          <p:nvPr/>
        </p:nvSpPr>
        <p:spPr bwMode="auto">
          <a:xfrm>
            <a:off x="6824663" y="4292600"/>
            <a:ext cx="26670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How mapping</a:t>
            </a:r>
            <a:r>
              <a:rPr lang="en-US" altLang="zh-CN" sz="66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</a:t>
            </a:r>
            <a:endParaRPr lang="zh-CN" altLang="en-US" sz="6600" b="1" i="1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6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57DD96-F433-430B-A6DC-2B9028FA0AD9}" type="slidenum">
              <a:rPr lang="zh-CN" altLang="en-US" sz="800"/>
              <a:pPr/>
              <a:t>22</a:t>
            </a:fld>
            <a:endParaRPr lang="en-US" altLang="zh-CN" sz="80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Derivation exercise 1 in class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920750" y="981075"/>
            <a:ext cx="4392613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>
                <a:solidFill>
                  <a:schemeClr val="accent1"/>
                </a:solidFill>
                <a:ea typeface="宋体" panose="02010600030101010101" pitchFamily="2" charset="-122"/>
              </a:rPr>
              <a:t>Productions: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assign_stmt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expr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expr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expr op term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expr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real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term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op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op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</a:p>
        </p:txBody>
      </p:sp>
      <p:sp>
        <p:nvSpPr>
          <p:cNvPr id="336901" name="Text Box 5"/>
          <p:cNvSpPr txBox="1">
            <a:spLocks noChangeArrowheads="1"/>
          </p:cNvSpPr>
          <p:nvPr/>
        </p:nvSpPr>
        <p:spPr bwMode="auto">
          <a:xfrm>
            <a:off x="4737100" y="3429000"/>
            <a:ext cx="4392613" cy="210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Let’s derive:</a:t>
            </a:r>
            <a:r>
              <a:rPr lang="en-US" altLang="zh-CN" b="1">
                <a:ea typeface="宋体" panose="02010600030101010101" pitchFamily="2" charset="-122"/>
              </a:rPr>
              <a:t>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i="1">
                <a:solidFill>
                  <a:schemeClr val="accent2"/>
                </a:solidFill>
                <a:ea typeface="宋体" panose="02010600030101010101" pitchFamily="2" charset="-122"/>
              </a:rPr>
              <a:t>id := id + real – integer 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solidFill>
                  <a:srgbClr val="800080"/>
                </a:solidFill>
                <a:ea typeface="宋体" panose="02010600030101010101" pitchFamily="2" charset="-122"/>
              </a:rPr>
              <a:t>Please use left-most derivation or right-most derivation.</a:t>
            </a:r>
            <a:endParaRPr lang="en-US" altLang="zh-CN" b="1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3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00" grpId="0"/>
      <p:bldP spid="33690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550EF8-DA67-4CFD-A417-64D940A2C1C3}" type="slidenum">
              <a:rPr lang="zh-CN" altLang="en-US" sz="800"/>
              <a:pPr/>
              <a:t>23</a:t>
            </a:fld>
            <a:endParaRPr lang="en-US" altLang="zh-CN" sz="800"/>
          </a:p>
        </p:txBody>
      </p:sp>
      <p:sp>
        <p:nvSpPr>
          <p:cNvPr id="24581" name="Text Box 2"/>
          <p:cNvSpPr txBox="1">
            <a:spLocks noChangeArrowheads="1"/>
          </p:cNvSpPr>
          <p:nvPr/>
        </p:nvSpPr>
        <p:spPr bwMode="auto">
          <a:xfrm>
            <a:off x="742950" y="457200"/>
            <a:ext cx="6783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Let’s derive: 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</a:rPr>
              <a:t>id := id + real – integer ;</a:t>
            </a:r>
            <a:endParaRPr lang="en-US" altLang="zh-CN" b="1">
              <a:ea typeface="宋体" panose="02010600030101010101" pitchFamily="2" charset="-122"/>
            </a:endParaRPr>
          </a:p>
        </p:txBody>
      </p:sp>
      <p:sp>
        <p:nvSpPr>
          <p:cNvPr id="343043" name="Rectangle 3"/>
          <p:cNvSpPr>
            <a:spLocks noChangeArrowheads="1"/>
          </p:cNvSpPr>
          <p:nvPr/>
        </p:nvSpPr>
        <p:spPr bwMode="auto">
          <a:xfrm>
            <a:off x="560388" y="1676400"/>
            <a:ext cx="8713787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ea typeface="宋体" panose="02010600030101010101" pitchFamily="2" charset="-122"/>
              </a:rPr>
              <a:t>assign_stmt 					assign_stmt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expr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 </a:t>
            </a:r>
            <a:endParaRPr lang="en-US" altLang="zh-CN" sz="2000" b="1" i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expr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					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expr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expr op term</a:t>
            </a:r>
            <a:endParaRPr lang="en-US" altLang="zh-CN" sz="2000" b="1" i="1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expr op term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				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expr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expr op term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expr op term op term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			expr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term op term op term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			term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id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op term op term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			op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id +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term op term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			term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real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id +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real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op term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			op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id +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real - 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				term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:= id +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real - integer;</a:t>
            </a:r>
            <a:r>
              <a:rPr lang="en-US" altLang="zh-CN" sz="20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sz="2000" b="1" i="1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583" name="Text Box 4"/>
          <p:cNvSpPr txBox="1">
            <a:spLocks noChangeArrowheads="1"/>
          </p:cNvSpPr>
          <p:nvPr/>
        </p:nvSpPr>
        <p:spPr bwMode="auto">
          <a:xfrm>
            <a:off x="5613400" y="1195388"/>
            <a:ext cx="2093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using production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4584" name="Text Box 5"/>
          <p:cNvSpPr txBox="1">
            <a:spLocks noChangeArrowheads="1"/>
          </p:cNvSpPr>
          <p:nvPr/>
        </p:nvSpPr>
        <p:spPr bwMode="auto">
          <a:xfrm>
            <a:off x="560388" y="1268413"/>
            <a:ext cx="2500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Left-most derivation:</a:t>
            </a:r>
            <a:endParaRPr lang="en-US" altLang="zh-CN" sz="20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343048" name="Group 8"/>
          <p:cNvGrpSpPr>
            <a:grpSpLocks/>
          </p:cNvGrpSpPr>
          <p:nvPr/>
        </p:nvGrpSpPr>
        <p:grpSpPr bwMode="auto">
          <a:xfrm>
            <a:off x="4737100" y="1052513"/>
            <a:ext cx="71438" cy="5400675"/>
            <a:chOff x="2984" y="663"/>
            <a:chExt cx="45" cy="3402"/>
          </a:xfrm>
        </p:grpSpPr>
        <p:sp>
          <p:nvSpPr>
            <p:cNvPr id="24586" name="Line 6"/>
            <p:cNvSpPr>
              <a:spLocks noChangeShapeType="1"/>
            </p:cNvSpPr>
            <p:nvPr/>
          </p:nvSpPr>
          <p:spPr bwMode="auto">
            <a:xfrm>
              <a:off x="2984" y="663"/>
              <a:ext cx="0" cy="3402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7" name="Line 7"/>
            <p:cNvSpPr>
              <a:spLocks noChangeShapeType="1"/>
            </p:cNvSpPr>
            <p:nvPr/>
          </p:nvSpPr>
          <p:spPr bwMode="auto">
            <a:xfrm>
              <a:off x="3029" y="663"/>
              <a:ext cx="0" cy="3402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repeatCount="indefinite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3430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30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43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43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43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43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5603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560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3CA9A9-CD19-4AF3-BB21-7A872B9997BF}" type="slidenum">
              <a:rPr lang="zh-CN" altLang="en-US" sz="800"/>
              <a:pPr/>
              <a:t>24</a:t>
            </a:fld>
            <a:endParaRPr lang="en-US" altLang="zh-CN" sz="80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Parse Tree (P.169)</a:t>
            </a:r>
          </a:p>
        </p:txBody>
      </p:sp>
      <p:sp>
        <p:nvSpPr>
          <p:cNvPr id="25606" name="Text Box 3"/>
          <p:cNvSpPr txBox="1">
            <a:spLocks noChangeArrowheads="1"/>
          </p:cNvSpPr>
          <p:nvPr/>
        </p:nvSpPr>
        <p:spPr bwMode="auto">
          <a:xfrm>
            <a:off x="560388" y="977900"/>
            <a:ext cx="7432675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000">
                <a:ea typeface="宋体" panose="02010600030101010101" pitchFamily="2" charset="-122"/>
              </a:rPr>
              <a:t>  </a:t>
            </a:r>
            <a:r>
              <a:rPr lang="en-US" altLang="zh-CN" sz="2000">
                <a:ea typeface="宋体" panose="02010600030101010101" pitchFamily="2" charset="-122"/>
              </a:rPr>
              <a:t>Inner nodes of a parse tree are non-terminal symbols.</a:t>
            </a:r>
          </a:p>
          <a:p>
            <a:pPr>
              <a:buFontTx/>
              <a:buChar char="•"/>
            </a:pPr>
            <a:r>
              <a:rPr lang="en-US" altLang="zh-CN" sz="2000">
                <a:ea typeface="宋体" panose="02010600030101010101" pitchFamily="2" charset="-122"/>
              </a:rPr>
              <a:t>  The leaves of a parse tree are terminal symbols.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  A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parse tree</a:t>
            </a:r>
            <a:r>
              <a:rPr lang="en-US" altLang="zh-CN" sz="2000">
                <a:ea typeface="宋体" panose="02010600030101010101" pitchFamily="2" charset="-122"/>
              </a:rPr>
              <a:t> can be seen as a graphical representation of a derivation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ea typeface="宋体" panose="02010600030101010101" pitchFamily="2" charset="-122"/>
              </a:rPr>
              <a:t>EX.   E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-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-(id+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-(id+id)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                  (4.4)</a:t>
            </a:r>
          </a:p>
          <a:p>
            <a:endParaRPr lang="en-US" altLang="zh-CN" sz="2000">
              <a:ea typeface="宋体" panose="02010600030101010101" pitchFamily="2" charset="-122"/>
            </a:endParaRPr>
          </a:p>
        </p:txBody>
      </p:sp>
      <p:grpSp>
        <p:nvGrpSpPr>
          <p:cNvPr id="25607" name="Group 116"/>
          <p:cNvGrpSpPr>
            <a:grpSpLocks/>
          </p:cNvGrpSpPr>
          <p:nvPr/>
        </p:nvGrpSpPr>
        <p:grpSpPr bwMode="auto">
          <a:xfrm>
            <a:off x="609600" y="2514600"/>
            <a:ext cx="2212975" cy="717550"/>
            <a:chOff x="384" y="1584"/>
            <a:chExt cx="1394" cy="452"/>
          </a:xfrm>
        </p:grpSpPr>
        <p:sp>
          <p:nvSpPr>
            <p:cNvPr id="25706" name="Text Box 4"/>
            <p:cNvSpPr txBox="1">
              <a:spLocks noChangeArrowheads="1"/>
            </p:cNvSpPr>
            <p:nvPr/>
          </p:nvSpPr>
          <p:spPr bwMode="auto">
            <a:xfrm>
              <a:off x="384" y="1611"/>
              <a:ext cx="6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E 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E 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grpSp>
          <p:nvGrpSpPr>
            <p:cNvPr id="25707" name="Group 103"/>
            <p:cNvGrpSpPr>
              <a:grpSpLocks/>
            </p:cNvGrpSpPr>
            <p:nvPr/>
          </p:nvGrpSpPr>
          <p:grpSpPr bwMode="auto">
            <a:xfrm>
              <a:off x="1152" y="1584"/>
              <a:ext cx="626" cy="452"/>
              <a:chOff x="1392" y="1632"/>
              <a:chExt cx="626" cy="452"/>
            </a:xfrm>
          </p:grpSpPr>
          <p:grpSp>
            <p:nvGrpSpPr>
              <p:cNvPr id="25708" name="Group 13"/>
              <p:cNvGrpSpPr>
                <a:grpSpLocks/>
              </p:cNvGrpSpPr>
              <p:nvPr/>
            </p:nvGrpSpPr>
            <p:grpSpPr bwMode="auto">
              <a:xfrm>
                <a:off x="1488" y="1776"/>
                <a:ext cx="432" cy="144"/>
                <a:chOff x="1776" y="1680"/>
                <a:chExt cx="432" cy="144"/>
              </a:xfrm>
            </p:grpSpPr>
            <p:sp>
              <p:nvSpPr>
                <p:cNvPr id="25712" name="Line 5"/>
                <p:cNvSpPr>
                  <a:spLocks noChangeShapeType="1"/>
                </p:cNvSpPr>
                <p:nvPr/>
              </p:nvSpPr>
              <p:spPr bwMode="auto">
                <a:xfrm flipH="1">
                  <a:off x="1776" y="1680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13" name="Line 6"/>
                <p:cNvSpPr>
                  <a:spLocks noChangeShapeType="1"/>
                </p:cNvSpPr>
                <p:nvPr/>
              </p:nvSpPr>
              <p:spPr bwMode="auto">
                <a:xfrm>
                  <a:off x="2016" y="1680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5709" name="Text Box 61"/>
              <p:cNvSpPr txBox="1">
                <a:spLocks noChangeArrowheads="1"/>
              </p:cNvSpPr>
              <p:nvPr/>
            </p:nvSpPr>
            <p:spPr bwMode="auto">
              <a:xfrm>
                <a:off x="1632" y="1632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710" name="Text Box 63"/>
              <p:cNvSpPr txBox="1">
                <a:spLocks noChangeArrowheads="1"/>
              </p:cNvSpPr>
              <p:nvPr/>
            </p:nvSpPr>
            <p:spPr bwMode="auto">
              <a:xfrm>
                <a:off x="1824" y="1872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711" name="Text Box 83"/>
              <p:cNvSpPr txBox="1">
                <a:spLocks noChangeArrowheads="1"/>
              </p:cNvSpPr>
              <p:nvPr/>
            </p:nvSpPr>
            <p:spPr bwMode="auto">
              <a:xfrm>
                <a:off x="1392" y="1872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-</a:t>
                </a:r>
              </a:p>
            </p:txBody>
          </p:sp>
        </p:grpSp>
      </p:grpSp>
      <p:grpSp>
        <p:nvGrpSpPr>
          <p:cNvPr id="268403" name="Group 115"/>
          <p:cNvGrpSpPr>
            <a:grpSpLocks/>
          </p:cNvGrpSpPr>
          <p:nvPr/>
        </p:nvGrpSpPr>
        <p:grpSpPr bwMode="auto">
          <a:xfrm>
            <a:off x="3505200" y="2590800"/>
            <a:ext cx="2462213" cy="1174750"/>
            <a:chOff x="2208" y="1632"/>
            <a:chExt cx="1551" cy="740"/>
          </a:xfrm>
        </p:grpSpPr>
        <p:grpSp>
          <p:nvGrpSpPr>
            <p:cNvPr id="25692" name="Group 109"/>
            <p:cNvGrpSpPr>
              <a:grpSpLocks/>
            </p:cNvGrpSpPr>
            <p:nvPr/>
          </p:nvGrpSpPr>
          <p:grpSpPr bwMode="auto">
            <a:xfrm>
              <a:off x="2880" y="1632"/>
              <a:ext cx="879" cy="740"/>
              <a:chOff x="2880" y="1584"/>
              <a:chExt cx="879" cy="740"/>
            </a:xfrm>
          </p:grpSpPr>
          <p:grpSp>
            <p:nvGrpSpPr>
              <p:cNvPr id="25694" name="Group 14"/>
              <p:cNvGrpSpPr>
                <a:grpSpLocks/>
              </p:cNvGrpSpPr>
              <p:nvPr/>
            </p:nvGrpSpPr>
            <p:grpSpPr bwMode="auto">
              <a:xfrm>
                <a:off x="2976" y="1728"/>
                <a:ext cx="720" cy="432"/>
                <a:chOff x="2880" y="1680"/>
                <a:chExt cx="720" cy="432"/>
              </a:xfrm>
            </p:grpSpPr>
            <p:sp>
              <p:nvSpPr>
                <p:cNvPr id="2570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3024" y="1968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02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2880" y="1680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03" name="Line 17"/>
                <p:cNvSpPr>
                  <a:spLocks noChangeShapeType="1"/>
                </p:cNvSpPr>
                <p:nvPr/>
              </p:nvSpPr>
              <p:spPr bwMode="auto">
                <a:xfrm>
                  <a:off x="3120" y="1680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04" name="Line 18"/>
                <p:cNvSpPr>
                  <a:spLocks noChangeShapeType="1"/>
                </p:cNvSpPr>
                <p:nvPr/>
              </p:nvSpPr>
              <p:spPr bwMode="auto">
                <a:xfrm>
                  <a:off x="3408" y="1968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05" name="Line 19"/>
                <p:cNvSpPr>
                  <a:spLocks noChangeShapeType="1"/>
                </p:cNvSpPr>
                <p:nvPr/>
              </p:nvSpPr>
              <p:spPr bwMode="auto">
                <a:xfrm>
                  <a:off x="3312" y="196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5695" name="Text Box 62"/>
              <p:cNvSpPr txBox="1">
                <a:spLocks noChangeArrowheads="1"/>
              </p:cNvSpPr>
              <p:nvPr/>
            </p:nvSpPr>
            <p:spPr bwMode="auto">
              <a:xfrm>
                <a:off x="3120" y="1584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96" name="Text Box 64"/>
              <p:cNvSpPr txBox="1">
                <a:spLocks noChangeArrowheads="1"/>
              </p:cNvSpPr>
              <p:nvPr/>
            </p:nvSpPr>
            <p:spPr bwMode="auto">
              <a:xfrm>
                <a:off x="3312" y="2112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97" name="Text Box 65"/>
              <p:cNvSpPr txBox="1">
                <a:spLocks noChangeArrowheads="1"/>
              </p:cNvSpPr>
              <p:nvPr/>
            </p:nvSpPr>
            <p:spPr bwMode="auto">
              <a:xfrm>
                <a:off x="3312" y="1824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98" name="Text Box 89"/>
              <p:cNvSpPr txBox="1">
                <a:spLocks noChangeArrowheads="1"/>
              </p:cNvSpPr>
              <p:nvPr/>
            </p:nvSpPr>
            <p:spPr bwMode="auto">
              <a:xfrm>
                <a:off x="2880" y="1824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-</a:t>
                </a:r>
              </a:p>
            </p:txBody>
          </p:sp>
          <p:sp>
            <p:nvSpPr>
              <p:cNvPr id="25699" name="Text Box 94"/>
              <p:cNvSpPr txBox="1">
                <a:spLocks noChangeArrowheads="1"/>
              </p:cNvSpPr>
              <p:nvPr/>
            </p:nvSpPr>
            <p:spPr bwMode="auto">
              <a:xfrm>
                <a:off x="3024" y="2112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5700" name="Text Box 99"/>
              <p:cNvSpPr txBox="1">
                <a:spLocks noChangeArrowheads="1"/>
              </p:cNvSpPr>
              <p:nvPr/>
            </p:nvSpPr>
            <p:spPr bwMode="auto">
              <a:xfrm>
                <a:off x="3600" y="2112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)</a:t>
                </a:r>
              </a:p>
            </p:txBody>
          </p:sp>
        </p:grpSp>
        <p:sp>
          <p:nvSpPr>
            <p:cNvPr id="25693" name="Text Box 105"/>
            <p:cNvSpPr txBox="1">
              <a:spLocks noChangeArrowheads="1"/>
            </p:cNvSpPr>
            <p:nvPr/>
          </p:nvSpPr>
          <p:spPr bwMode="auto">
            <a:xfrm>
              <a:off x="2208" y="1632"/>
              <a:ext cx="5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000">
                  <a:ea typeface="宋体" panose="0201060003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-(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</a:p>
          </p:txBody>
        </p:sp>
      </p:grpSp>
      <p:grpSp>
        <p:nvGrpSpPr>
          <p:cNvPr id="268407" name="Group 119"/>
          <p:cNvGrpSpPr>
            <a:grpSpLocks/>
          </p:cNvGrpSpPr>
          <p:nvPr/>
        </p:nvGrpSpPr>
        <p:grpSpPr bwMode="auto">
          <a:xfrm>
            <a:off x="6248400" y="2590800"/>
            <a:ext cx="2767013" cy="1631950"/>
            <a:chOff x="3936" y="1632"/>
            <a:chExt cx="1743" cy="1028"/>
          </a:xfrm>
        </p:grpSpPr>
        <p:grpSp>
          <p:nvGrpSpPr>
            <p:cNvPr id="25669" name="Group 110"/>
            <p:cNvGrpSpPr>
              <a:grpSpLocks/>
            </p:cNvGrpSpPr>
            <p:nvPr/>
          </p:nvGrpSpPr>
          <p:grpSpPr bwMode="auto">
            <a:xfrm>
              <a:off x="4752" y="1632"/>
              <a:ext cx="927" cy="1028"/>
              <a:chOff x="4752" y="1440"/>
              <a:chExt cx="927" cy="1028"/>
            </a:xfrm>
          </p:grpSpPr>
          <p:grpSp>
            <p:nvGrpSpPr>
              <p:cNvPr id="25671" name="Group 30"/>
              <p:cNvGrpSpPr>
                <a:grpSpLocks/>
              </p:cNvGrpSpPr>
              <p:nvPr/>
            </p:nvGrpSpPr>
            <p:grpSpPr bwMode="auto">
              <a:xfrm>
                <a:off x="4848" y="1584"/>
                <a:ext cx="720" cy="720"/>
                <a:chOff x="1776" y="2256"/>
                <a:chExt cx="720" cy="720"/>
              </a:xfrm>
            </p:grpSpPr>
            <p:grpSp>
              <p:nvGrpSpPr>
                <p:cNvPr id="25681" name="Group 25"/>
                <p:cNvGrpSpPr>
                  <a:grpSpLocks/>
                </p:cNvGrpSpPr>
                <p:nvPr/>
              </p:nvGrpSpPr>
              <p:grpSpPr bwMode="auto">
                <a:xfrm>
                  <a:off x="1776" y="2256"/>
                  <a:ext cx="720" cy="432"/>
                  <a:chOff x="1776" y="2256"/>
                  <a:chExt cx="720" cy="432"/>
                </a:xfrm>
              </p:grpSpPr>
              <p:sp>
                <p:nvSpPr>
                  <p:cNvPr id="25686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76" y="2256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7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256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5688" name="Group 20"/>
                  <p:cNvGrpSpPr>
                    <a:grpSpLocks/>
                  </p:cNvGrpSpPr>
                  <p:nvPr/>
                </p:nvGrpSpPr>
                <p:grpSpPr bwMode="auto">
                  <a:xfrm>
                    <a:off x="1920" y="2544"/>
                    <a:ext cx="576" cy="144"/>
                    <a:chOff x="1920" y="2544"/>
                    <a:chExt cx="576" cy="144"/>
                  </a:xfrm>
                </p:grpSpPr>
                <p:sp>
                  <p:nvSpPr>
                    <p:cNvPr id="25689" name="Line 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20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690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691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2544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25682" name="Group 21"/>
                <p:cNvGrpSpPr>
                  <a:grpSpLocks/>
                </p:cNvGrpSpPr>
                <p:nvPr/>
              </p:nvGrpSpPr>
              <p:grpSpPr bwMode="auto">
                <a:xfrm>
                  <a:off x="1920" y="2832"/>
                  <a:ext cx="576" cy="144"/>
                  <a:chOff x="1920" y="2544"/>
                  <a:chExt cx="576" cy="144"/>
                </a:xfrm>
              </p:grpSpPr>
              <p:sp>
                <p:nvSpPr>
                  <p:cNvPr id="25683" name="Line 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0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4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5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2208" y="254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5672" name="Text Box 66"/>
              <p:cNvSpPr txBox="1">
                <a:spLocks noChangeArrowheads="1"/>
              </p:cNvSpPr>
              <p:nvPr/>
            </p:nvSpPr>
            <p:spPr bwMode="auto">
              <a:xfrm>
                <a:off x="5184" y="1968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73" name="Text Box 67"/>
              <p:cNvSpPr txBox="1">
                <a:spLocks noChangeArrowheads="1"/>
              </p:cNvSpPr>
              <p:nvPr/>
            </p:nvSpPr>
            <p:spPr bwMode="auto">
              <a:xfrm>
                <a:off x="4992" y="1440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74" name="Text Box 68"/>
              <p:cNvSpPr txBox="1">
                <a:spLocks noChangeArrowheads="1"/>
              </p:cNvSpPr>
              <p:nvPr/>
            </p:nvSpPr>
            <p:spPr bwMode="auto">
              <a:xfrm>
                <a:off x="5472" y="2256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75" name="Text Box 69"/>
              <p:cNvSpPr txBox="1">
                <a:spLocks noChangeArrowheads="1"/>
              </p:cNvSpPr>
              <p:nvPr/>
            </p:nvSpPr>
            <p:spPr bwMode="auto">
              <a:xfrm>
                <a:off x="4896" y="2256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76" name="Text Box 72"/>
              <p:cNvSpPr txBox="1">
                <a:spLocks noChangeArrowheads="1"/>
              </p:cNvSpPr>
              <p:nvPr/>
            </p:nvSpPr>
            <p:spPr bwMode="auto">
              <a:xfrm>
                <a:off x="5184" y="1680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77" name="Text Box 84"/>
              <p:cNvSpPr txBox="1">
                <a:spLocks noChangeArrowheads="1"/>
              </p:cNvSpPr>
              <p:nvPr/>
            </p:nvSpPr>
            <p:spPr bwMode="auto">
              <a:xfrm>
                <a:off x="5184" y="2256"/>
                <a:ext cx="1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5678" name="Text Box 88"/>
              <p:cNvSpPr txBox="1">
                <a:spLocks noChangeArrowheads="1"/>
              </p:cNvSpPr>
              <p:nvPr/>
            </p:nvSpPr>
            <p:spPr bwMode="auto">
              <a:xfrm>
                <a:off x="4752" y="1680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-</a:t>
                </a:r>
              </a:p>
            </p:txBody>
          </p:sp>
          <p:sp>
            <p:nvSpPr>
              <p:cNvPr id="25679" name="Text Box 93"/>
              <p:cNvSpPr txBox="1">
                <a:spLocks noChangeArrowheads="1"/>
              </p:cNvSpPr>
              <p:nvPr/>
            </p:nvSpPr>
            <p:spPr bwMode="auto">
              <a:xfrm>
                <a:off x="4896" y="1968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5680" name="Text Box 98"/>
              <p:cNvSpPr txBox="1">
                <a:spLocks noChangeArrowheads="1"/>
              </p:cNvSpPr>
              <p:nvPr/>
            </p:nvSpPr>
            <p:spPr bwMode="auto">
              <a:xfrm>
                <a:off x="5520" y="1968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)</a:t>
                </a:r>
              </a:p>
            </p:txBody>
          </p:sp>
        </p:grpSp>
        <p:sp>
          <p:nvSpPr>
            <p:cNvPr id="25670" name="Text Box 106"/>
            <p:cNvSpPr txBox="1">
              <a:spLocks noChangeArrowheads="1"/>
            </p:cNvSpPr>
            <p:nvPr/>
          </p:nvSpPr>
          <p:spPr bwMode="auto">
            <a:xfrm>
              <a:off x="3936" y="1680"/>
              <a:ext cx="7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000">
                  <a:ea typeface="宋体" panose="0201060003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-(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</a:p>
          </p:txBody>
        </p:sp>
      </p:grpSp>
      <p:grpSp>
        <p:nvGrpSpPr>
          <p:cNvPr id="268405" name="Group 117"/>
          <p:cNvGrpSpPr>
            <a:grpSpLocks/>
          </p:cNvGrpSpPr>
          <p:nvPr/>
        </p:nvGrpSpPr>
        <p:grpSpPr bwMode="auto">
          <a:xfrm>
            <a:off x="685800" y="3962400"/>
            <a:ext cx="2690813" cy="2089150"/>
            <a:chOff x="432" y="2496"/>
            <a:chExt cx="1695" cy="1316"/>
          </a:xfrm>
        </p:grpSpPr>
        <p:grpSp>
          <p:nvGrpSpPr>
            <p:cNvPr id="25643" name="Group 111"/>
            <p:cNvGrpSpPr>
              <a:grpSpLocks/>
            </p:cNvGrpSpPr>
            <p:nvPr/>
          </p:nvGrpSpPr>
          <p:grpSpPr bwMode="auto">
            <a:xfrm>
              <a:off x="1248" y="2496"/>
              <a:ext cx="879" cy="1316"/>
              <a:chOff x="2064" y="2544"/>
              <a:chExt cx="879" cy="1316"/>
            </a:xfrm>
          </p:grpSpPr>
          <p:grpSp>
            <p:nvGrpSpPr>
              <p:cNvPr id="25645" name="Group 45"/>
              <p:cNvGrpSpPr>
                <a:grpSpLocks/>
              </p:cNvGrpSpPr>
              <p:nvPr/>
            </p:nvGrpSpPr>
            <p:grpSpPr bwMode="auto">
              <a:xfrm>
                <a:off x="2160" y="2688"/>
                <a:ext cx="720" cy="1008"/>
                <a:chOff x="3072" y="2304"/>
                <a:chExt cx="720" cy="1008"/>
              </a:xfrm>
            </p:grpSpPr>
            <p:grpSp>
              <p:nvGrpSpPr>
                <p:cNvPr id="25656" name="Group 31"/>
                <p:cNvGrpSpPr>
                  <a:grpSpLocks/>
                </p:cNvGrpSpPr>
                <p:nvPr/>
              </p:nvGrpSpPr>
              <p:grpSpPr bwMode="auto">
                <a:xfrm>
                  <a:off x="3072" y="2304"/>
                  <a:ext cx="720" cy="720"/>
                  <a:chOff x="1776" y="2256"/>
                  <a:chExt cx="720" cy="720"/>
                </a:xfrm>
              </p:grpSpPr>
              <p:grpSp>
                <p:nvGrpSpPr>
                  <p:cNvPr id="25658" name="Group 32"/>
                  <p:cNvGrpSpPr>
                    <a:grpSpLocks/>
                  </p:cNvGrpSpPr>
                  <p:nvPr/>
                </p:nvGrpSpPr>
                <p:grpSpPr bwMode="auto">
                  <a:xfrm>
                    <a:off x="1776" y="2256"/>
                    <a:ext cx="720" cy="432"/>
                    <a:chOff x="1776" y="2256"/>
                    <a:chExt cx="720" cy="432"/>
                  </a:xfrm>
                </p:grpSpPr>
                <p:sp>
                  <p:nvSpPr>
                    <p:cNvPr id="25663" name="Line 3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776" y="2256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664" name="Line 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2256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25665" name="Group 3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544"/>
                      <a:ext cx="576" cy="144"/>
                      <a:chOff x="1920" y="2544"/>
                      <a:chExt cx="576" cy="144"/>
                    </a:xfrm>
                  </p:grpSpPr>
                  <p:sp>
                    <p:nvSpPr>
                      <p:cNvPr id="25666" name="Line 3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920" y="2544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67" name="Line 3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2544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68" name="Line 3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2544"/>
                        <a:ext cx="0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25659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1920" y="2832"/>
                    <a:ext cx="576" cy="144"/>
                    <a:chOff x="1920" y="2544"/>
                    <a:chExt cx="576" cy="144"/>
                  </a:xfrm>
                </p:grpSpPr>
                <p:sp>
                  <p:nvSpPr>
                    <p:cNvPr id="25660" name="Line 4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20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661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662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2544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5657" name="Line 43"/>
                <p:cNvSpPr>
                  <a:spLocks noChangeShapeType="1"/>
                </p:cNvSpPr>
                <p:nvPr/>
              </p:nvSpPr>
              <p:spPr bwMode="auto">
                <a:xfrm>
                  <a:off x="3216" y="316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5646" name="Text Box 71"/>
              <p:cNvSpPr txBox="1">
                <a:spLocks noChangeArrowheads="1"/>
              </p:cNvSpPr>
              <p:nvPr/>
            </p:nvSpPr>
            <p:spPr bwMode="auto">
              <a:xfrm>
                <a:off x="2304" y="2544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47" name="Text Box 73"/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48" name="Text Box 74"/>
              <p:cNvSpPr txBox="1">
                <a:spLocks noChangeArrowheads="1"/>
              </p:cNvSpPr>
              <p:nvPr/>
            </p:nvSpPr>
            <p:spPr bwMode="auto">
              <a:xfrm>
                <a:off x="2496" y="3072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49" name="Text Box 75"/>
              <p:cNvSpPr txBox="1">
                <a:spLocks noChangeArrowheads="1"/>
              </p:cNvSpPr>
              <p:nvPr/>
            </p:nvSpPr>
            <p:spPr bwMode="auto">
              <a:xfrm>
                <a:off x="2736" y="3360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50" name="Text Box 76"/>
              <p:cNvSpPr txBox="1">
                <a:spLocks noChangeArrowheads="1"/>
              </p:cNvSpPr>
              <p:nvPr/>
            </p:nvSpPr>
            <p:spPr bwMode="auto">
              <a:xfrm>
                <a:off x="2208" y="3360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51" name="Text Box 82"/>
              <p:cNvSpPr txBox="1">
                <a:spLocks noChangeArrowheads="1"/>
              </p:cNvSpPr>
              <p:nvPr/>
            </p:nvSpPr>
            <p:spPr bwMode="auto">
              <a:xfrm>
                <a:off x="2496" y="3360"/>
                <a:ext cx="1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5652" name="Text Box 87"/>
              <p:cNvSpPr txBox="1">
                <a:spLocks noChangeArrowheads="1"/>
              </p:cNvSpPr>
              <p:nvPr/>
            </p:nvSpPr>
            <p:spPr bwMode="auto">
              <a:xfrm>
                <a:off x="2064" y="2736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-</a:t>
                </a:r>
              </a:p>
            </p:txBody>
          </p:sp>
          <p:sp>
            <p:nvSpPr>
              <p:cNvPr id="25653" name="Text Box 92"/>
              <p:cNvSpPr txBox="1">
                <a:spLocks noChangeArrowheads="1"/>
              </p:cNvSpPr>
              <p:nvPr/>
            </p:nvSpPr>
            <p:spPr bwMode="auto">
              <a:xfrm>
                <a:off x="2208" y="3072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5654" name="Text Box 97"/>
              <p:cNvSpPr txBox="1">
                <a:spLocks noChangeArrowheads="1"/>
              </p:cNvSpPr>
              <p:nvPr/>
            </p:nvSpPr>
            <p:spPr bwMode="auto">
              <a:xfrm>
                <a:off x="2784" y="3072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25655" name="Text Box 102"/>
              <p:cNvSpPr txBox="1">
                <a:spLocks noChangeArrowheads="1"/>
              </p:cNvSpPr>
              <p:nvPr/>
            </p:nvSpPr>
            <p:spPr bwMode="auto">
              <a:xfrm>
                <a:off x="2208" y="3648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</p:grpSp>
        <p:sp>
          <p:nvSpPr>
            <p:cNvPr id="25644" name="Text Box 107"/>
            <p:cNvSpPr txBox="1">
              <a:spLocks noChangeArrowheads="1"/>
            </p:cNvSpPr>
            <p:nvPr/>
          </p:nvSpPr>
          <p:spPr bwMode="auto">
            <a:xfrm>
              <a:off x="432" y="2880"/>
              <a:ext cx="7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000">
                  <a:ea typeface="宋体" panose="0201060003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-(id+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</a:p>
          </p:txBody>
        </p:sp>
      </p:grpSp>
      <p:grpSp>
        <p:nvGrpSpPr>
          <p:cNvPr id="268406" name="Group 118"/>
          <p:cNvGrpSpPr>
            <a:grpSpLocks/>
          </p:cNvGrpSpPr>
          <p:nvPr/>
        </p:nvGrpSpPr>
        <p:grpSpPr bwMode="auto">
          <a:xfrm>
            <a:off x="4267200" y="3962400"/>
            <a:ext cx="3009900" cy="2089150"/>
            <a:chOff x="2688" y="2496"/>
            <a:chExt cx="1896" cy="1316"/>
          </a:xfrm>
        </p:grpSpPr>
        <p:grpSp>
          <p:nvGrpSpPr>
            <p:cNvPr id="25613" name="Group 113"/>
            <p:cNvGrpSpPr>
              <a:grpSpLocks/>
            </p:cNvGrpSpPr>
            <p:nvPr/>
          </p:nvGrpSpPr>
          <p:grpSpPr bwMode="auto">
            <a:xfrm>
              <a:off x="3648" y="2496"/>
              <a:ext cx="936" cy="1316"/>
              <a:chOff x="3648" y="2400"/>
              <a:chExt cx="936" cy="1316"/>
            </a:xfrm>
          </p:grpSpPr>
          <p:sp>
            <p:nvSpPr>
              <p:cNvPr id="25615" name="Text Box 77"/>
              <p:cNvSpPr txBox="1">
                <a:spLocks noChangeArrowheads="1"/>
              </p:cNvSpPr>
              <p:nvPr/>
            </p:nvSpPr>
            <p:spPr bwMode="auto">
              <a:xfrm>
                <a:off x="3888" y="2400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16" name="Text Box 81"/>
              <p:cNvSpPr txBox="1">
                <a:spLocks noChangeArrowheads="1"/>
              </p:cNvSpPr>
              <p:nvPr/>
            </p:nvSpPr>
            <p:spPr bwMode="auto">
              <a:xfrm>
                <a:off x="4368" y="3216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5617" name="Text Box 100"/>
              <p:cNvSpPr txBox="1">
                <a:spLocks noChangeArrowheads="1"/>
              </p:cNvSpPr>
              <p:nvPr/>
            </p:nvSpPr>
            <p:spPr bwMode="auto">
              <a:xfrm>
                <a:off x="4368" y="3504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  <p:grpSp>
            <p:nvGrpSpPr>
              <p:cNvPr id="25618" name="Group 112"/>
              <p:cNvGrpSpPr>
                <a:grpSpLocks/>
              </p:cNvGrpSpPr>
              <p:nvPr/>
            </p:nvGrpSpPr>
            <p:grpSpPr bwMode="auto">
              <a:xfrm>
                <a:off x="3648" y="2544"/>
                <a:ext cx="879" cy="1172"/>
                <a:chOff x="3984" y="2544"/>
                <a:chExt cx="879" cy="1172"/>
              </a:xfrm>
            </p:grpSpPr>
            <p:grpSp>
              <p:nvGrpSpPr>
                <p:cNvPr id="25619" name="Group 60"/>
                <p:cNvGrpSpPr>
                  <a:grpSpLocks/>
                </p:cNvGrpSpPr>
                <p:nvPr/>
              </p:nvGrpSpPr>
              <p:grpSpPr bwMode="auto">
                <a:xfrm>
                  <a:off x="4080" y="2544"/>
                  <a:ext cx="720" cy="1008"/>
                  <a:chOff x="4752" y="2448"/>
                  <a:chExt cx="720" cy="1008"/>
                </a:xfrm>
              </p:grpSpPr>
              <p:sp>
                <p:nvSpPr>
                  <p:cNvPr id="25628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5472" y="3312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5629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4752" y="2448"/>
                    <a:ext cx="720" cy="1008"/>
                    <a:chOff x="3072" y="2304"/>
                    <a:chExt cx="720" cy="1008"/>
                  </a:xfrm>
                </p:grpSpPr>
                <p:grpSp>
                  <p:nvGrpSpPr>
                    <p:cNvPr id="25630" name="Group 4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72" y="2304"/>
                      <a:ext cx="720" cy="720"/>
                      <a:chOff x="1776" y="2256"/>
                      <a:chExt cx="720" cy="720"/>
                    </a:xfrm>
                  </p:grpSpPr>
                  <p:grpSp>
                    <p:nvGrpSpPr>
                      <p:cNvPr id="25632" name="Group 4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76" y="2256"/>
                        <a:ext cx="720" cy="432"/>
                        <a:chOff x="1776" y="2256"/>
                        <a:chExt cx="720" cy="432"/>
                      </a:xfrm>
                    </p:grpSpPr>
                    <p:sp>
                      <p:nvSpPr>
                        <p:cNvPr id="25637" name="Line 4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776" y="2256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5638" name="Line 5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016" y="2256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grpSp>
                      <p:nvGrpSpPr>
                        <p:cNvPr id="25639" name="Group 5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20" y="2544"/>
                          <a:ext cx="576" cy="144"/>
                          <a:chOff x="1920" y="2544"/>
                          <a:chExt cx="576" cy="144"/>
                        </a:xfrm>
                      </p:grpSpPr>
                      <p:sp>
                        <p:nvSpPr>
                          <p:cNvPr id="25640" name="Line 5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1920" y="2544"/>
                            <a:ext cx="192" cy="14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25641" name="Line 5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304" y="2544"/>
                            <a:ext cx="192" cy="14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25642" name="Line 5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208" y="2544"/>
                            <a:ext cx="0" cy="14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  <p:grpSp>
                    <p:nvGrpSpPr>
                      <p:cNvPr id="25633" name="Group 5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20" y="2832"/>
                        <a:ext cx="576" cy="144"/>
                        <a:chOff x="1920" y="2544"/>
                        <a:chExt cx="576" cy="144"/>
                      </a:xfrm>
                    </p:grpSpPr>
                    <p:sp>
                      <p:nvSpPr>
                        <p:cNvPr id="25634" name="Line 5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920" y="2544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5635" name="Line 5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304" y="2544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5636" name="Line 5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08" y="2544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  <p:sp>
                  <p:nvSpPr>
                    <p:cNvPr id="25631" name="Line 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16" y="3168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5620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416" y="2640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600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5621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416" y="2928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600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5622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128" y="3216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600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5623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4416" y="3216"/>
                  <a:ext cx="188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6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5624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3984" y="2592"/>
                  <a:ext cx="15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6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-</a:t>
                  </a:r>
                </a:p>
              </p:txBody>
            </p:sp>
            <p:sp>
              <p:nvSpPr>
                <p:cNvPr id="25625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128" y="2928"/>
                  <a:ext cx="15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6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25626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4704" y="2928"/>
                  <a:ext cx="15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6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)</a:t>
                  </a:r>
                </a:p>
              </p:txBody>
            </p:sp>
            <p:sp>
              <p:nvSpPr>
                <p:cNvPr id="25627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4128" y="3504"/>
                  <a:ext cx="21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60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id</a:t>
                  </a:r>
                </a:p>
              </p:txBody>
            </p:sp>
          </p:grpSp>
        </p:grpSp>
        <p:sp>
          <p:nvSpPr>
            <p:cNvPr id="25614" name="Text Box 108"/>
            <p:cNvSpPr txBox="1">
              <a:spLocks noChangeArrowheads="1"/>
            </p:cNvSpPr>
            <p:nvPr/>
          </p:nvSpPr>
          <p:spPr bwMode="auto">
            <a:xfrm>
              <a:off x="2688" y="2880"/>
              <a:ext cx="8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000">
                  <a:ea typeface="宋体" panose="0201060003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-(id+id)</a:t>
              </a:r>
            </a:p>
          </p:txBody>
        </p:sp>
      </p:grpSp>
      <p:sp>
        <p:nvSpPr>
          <p:cNvPr id="25612" name="Text Box 114"/>
          <p:cNvSpPr txBox="1">
            <a:spLocks noChangeArrowheads="1"/>
          </p:cNvSpPr>
          <p:nvPr/>
        </p:nvSpPr>
        <p:spPr bwMode="auto">
          <a:xfrm>
            <a:off x="1639888" y="6021388"/>
            <a:ext cx="5548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Fig. 4.3 building the parse tree from derivation (4.4)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68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68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68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68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68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68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8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68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662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1CF0605-87B1-4AEF-893F-E8DAFEFB4447}" type="slidenum">
              <a:rPr lang="zh-CN" altLang="en-US" sz="800"/>
              <a:pPr/>
              <a:t>25</a:t>
            </a:fld>
            <a:endParaRPr lang="en-US" altLang="zh-CN" sz="8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Examples of LM / RM Derivations</a:t>
            </a:r>
          </a:p>
        </p:txBody>
      </p: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2146300" y="1295400"/>
            <a:ext cx="668655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E op E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op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-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/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1485900" y="2819400"/>
            <a:ext cx="701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 leftmost derivation of : 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id + id * id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6632" name="Text Box 5"/>
          <p:cNvSpPr txBox="1">
            <a:spLocks noChangeArrowheads="1"/>
          </p:cNvSpPr>
          <p:nvPr/>
        </p:nvSpPr>
        <p:spPr bwMode="auto">
          <a:xfrm>
            <a:off x="1568450" y="4800600"/>
            <a:ext cx="701675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 rightmost derivation of : 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id + id * id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         DO IT BY YOURSELF.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6633" name="Text Box 6"/>
          <p:cNvSpPr txBox="1">
            <a:spLocks noChangeArrowheads="1"/>
          </p:cNvSpPr>
          <p:nvPr/>
        </p:nvSpPr>
        <p:spPr bwMode="auto">
          <a:xfrm>
            <a:off x="3944938" y="3357563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rId3" action="ppaction://hlinksldjump"/>
              </a:rPr>
              <a:t>See latter slides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765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765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F14320-E35C-42F3-8559-8DBF7086916D}" type="slidenum">
              <a:rPr lang="zh-CN" altLang="en-US" sz="800"/>
              <a:pPr/>
              <a:t>26</a:t>
            </a:fld>
            <a:endParaRPr lang="en-US" altLang="zh-CN" sz="80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323850"/>
          </a:xfrm>
        </p:spPr>
        <p:txBody>
          <a:bodyPr/>
          <a:lstStyle/>
          <a:p>
            <a:endParaRPr lang="en-US" altLang="zh-CN" sz="2800" smtClean="0">
              <a:ea typeface="宋体" panose="02010600030101010101" pitchFamily="2" charset="-122"/>
            </a:endParaRPr>
          </a:p>
        </p:txBody>
      </p:sp>
      <p:sp>
        <p:nvSpPr>
          <p:cNvPr id="318515" name="Text Box 51"/>
          <p:cNvSpPr txBox="1">
            <a:spLocks noChangeArrowheads="1"/>
          </p:cNvSpPr>
          <p:nvPr/>
        </p:nvSpPr>
        <p:spPr bwMode="auto">
          <a:xfrm>
            <a:off x="1425575" y="1524000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E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E op E</a:t>
            </a:r>
            <a:endParaRPr lang="en-US" altLang="zh-CN" b="1">
              <a:ea typeface="宋体" panose="02010600030101010101" pitchFamily="2" charset="-122"/>
            </a:endParaRPr>
          </a:p>
        </p:txBody>
      </p:sp>
      <p:sp>
        <p:nvSpPr>
          <p:cNvPr id="318518" name="Text Box 54"/>
          <p:cNvSpPr txBox="1">
            <a:spLocks noChangeArrowheads="1"/>
          </p:cNvSpPr>
          <p:nvPr/>
        </p:nvSpPr>
        <p:spPr bwMode="auto">
          <a:xfrm>
            <a:off x="1352550" y="3429000"/>
            <a:ext cx="2376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宋体" panose="02010600030101010101" pitchFamily="2" charset="-122"/>
              </a:rPr>
              <a:t>   </a:t>
            </a:r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 op E</a:t>
            </a:r>
          </a:p>
        </p:txBody>
      </p:sp>
      <p:sp>
        <p:nvSpPr>
          <p:cNvPr id="318519" name="Text Box 55"/>
          <p:cNvSpPr txBox="1">
            <a:spLocks noChangeArrowheads="1"/>
          </p:cNvSpPr>
          <p:nvPr/>
        </p:nvSpPr>
        <p:spPr bwMode="auto">
          <a:xfrm>
            <a:off x="1352550" y="2205038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宋体" panose="02010600030101010101" pitchFamily="2" charset="-122"/>
              </a:rPr>
              <a:t>   </a:t>
            </a:r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op E</a:t>
            </a:r>
          </a:p>
        </p:txBody>
      </p:sp>
      <p:sp>
        <p:nvSpPr>
          <p:cNvPr id="318520" name="Text Box 56"/>
          <p:cNvSpPr txBox="1">
            <a:spLocks noChangeArrowheads="1"/>
          </p:cNvSpPr>
          <p:nvPr/>
        </p:nvSpPr>
        <p:spPr bwMode="auto">
          <a:xfrm>
            <a:off x="1355725" y="2781300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宋体" panose="02010600030101010101" pitchFamily="2" charset="-122"/>
              </a:rPr>
              <a:t>   </a:t>
            </a:r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</a:p>
        </p:txBody>
      </p:sp>
      <p:sp>
        <p:nvSpPr>
          <p:cNvPr id="318521" name="Text Box 57"/>
          <p:cNvSpPr txBox="1">
            <a:spLocks noChangeArrowheads="1"/>
          </p:cNvSpPr>
          <p:nvPr/>
        </p:nvSpPr>
        <p:spPr bwMode="auto">
          <a:xfrm>
            <a:off x="1423988" y="4221163"/>
            <a:ext cx="2449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宋体" panose="02010600030101010101" pitchFamily="2" charset="-122"/>
              </a:rPr>
              <a:t>   </a:t>
            </a:r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op E</a:t>
            </a:r>
          </a:p>
        </p:txBody>
      </p:sp>
      <p:sp>
        <p:nvSpPr>
          <p:cNvPr id="318522" name="Text Box 58"/>
          <p:cNvSpPr txBox="1">
            <a:spLocks noChangeArrowheads="1"/>
          </p:cNvSpPr>
          <p:nvPr/>
        </p:nvSpPr>
        <p:spPr bwMode="auto">
          <a:xfrm>
            <a:off x="1352550" y="4916488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宋体" panose="02010600030101010101" pitchFamily="2" charset="-122"/>
              </a:rPr>
              <a:t>   </a:t>
            </a:r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318523" name="Text Box 59"/>
          <p:cNvSpPr txBox="1">
            <a:spLocks noChangeArrowheads="1"/>
          </p:cNvSpPr>
          <p:nvPr/>
        </p:nvSpPr>
        <p:spPr bwMode="auto">
          <a:xfrm>
            <a:off x="1352550" y="5564188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宋体" panose="02010600030101010101" pitchFamily="2" charset="-122"/>
              </a:rPr>
              <a:t>   </a:t>
            </a:r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id </a:t>
            </a:r>
          </a:p>
        </p:txBody>
      </p:sp>
      <p:sp>
        <p:nvSpPr>
          <p:cNvPr id="318541" name="Line 77"/>
          <p:cNvSpPr>
            <a:spLocks noChangeShapeType="1"/>
          </p:cNvSpPr>
          <p:nvPr/>
        </p:nvSpPr>
        <p:spPr bwMode="auto">
          <a:xfrm flipV="1">
            <a:off x="3800475" y="3933825"/>
            <a:ext cx="1368425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8557" name="Group 93"/>
          <p:cNvGrpSpPr>
            <a:grpSpLocks/>
          </p:cNvGrpSpPr>
          <p:nvPr/>
        </p:nvGrpSpPr>
        <p:grpSpPr bwMode="auto">
          <a:xfrm>
            <a:off x="5673725" y="3259138"/>
            <a:ext cx="495300" cy="625475"/>
            <a:chOff x="3574" y="2053"/>
            <a:chExt cx="312" cy="394"/>
          </a:xfrm>
        </p:grpSpPr>
        <p:sp>
          <p:nvSpPr>
            <p:cNvPr id="27690" name="Line 46"/>
            <p:cNvSpPr>
              <a:spLocks noChangeShapeType="1"/>
            </p:cNvSpPr>
            <p:nvPr/>
          </p:nvSpPr>
          <p:spPr bwMode="auto">
            <a:xfrm>
              <a:off x="3678" y="2053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1" name="Text Box 47"/>
            <p:cNvSpPr txBox="1">
              <a:spLocks noChangeArrowheads="1"/>
            </p:cNvSpPr>
            <p:nvPr/>
          </p:nvSpPr>
          <p:spPr bwMode="auto">
            <a:xfrm>
              <a:off x="3574" y="2197"/>
              <a:ext cx="3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</p:grpSp>
      <p:grpSp>
        <p:nvGrpSpPr>
          <p:cNvPr id="318558" name="Group 94"/>
          <p:cNvGrpSpPr>
            <a:grpSpLocks/>
          </p:cNvGrpSpPr>
          <p:nvPr/>
        </p:nvGrpSpPr>
        <p:grpSpPr bwMode="auto">
          <a:xfrm>
            <a:off x="6329363" y="3259138"/>
            <a:ext cx="495300" cy="638175"/>
            <a:chOff x="3987" y="2053"/>
            <a:chExt cx="312" cy="402"/>
          </a:xfrm>
        </p:grpSpPr>
        <p:sp>
          <p:nvSpPr>
            <p:cNvPr id="27688" name="Line 45"/>
            <p:cNvSpPr>
              <a:spLocks noChangeShapeType="1"/>
            </p:cNvSpPr>
            <p:nvPr/>
          </p:nvSpPr>
          <p:spPr bwMode="auto">
            <a:xfrm>
              <a:off x="4094" y="2053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Text Box 49"/>
            <p:cNvSpPr txBox="1">
              <a:spLocks noChangeArrowheads="1"/>
            </p:cNvSpPr>
            <p:nvPr/>
          </p:nvSpPr>
          <p:spPr bwMode="auto">
            <a:xfrm>
              <a:off x="3987" y="2205"/>
              <a:ext cx="3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</p:grpSp>
      <p:grpSp>
        <p:nvGrpSpPr>
          <p:cNvPr id="318556" name="Group 92"/>
          <p:cNvGrpSpPr>
            <a:grpSpLocks/>
          </p:cNvGrpSpPr>
          <p:nvPr/>
        </p:nvGrpSpPr>
        <p:grpSpPr bwMode="auto">
          <a:xfrm>
            <a:off x="5673725" y="2420938"/>
            <a:ext cx="2171700" cy="930275"/>
            <a:chOff x="3574" y="1525"/>
            <a:chExt cx="1368" cy="586"/>
          </a:xfrm>
        </p:grpSpPr>
        <p:sp>
          <p:nvSpPr>
            <p:cNvPr id="27681" name="Text Box 37"/>
            <p:cNvSpPr txBox="1">
              <a:spLocks noChangeArrowheads="1"/>
            </p:cNvSpPr>
            <p:nvPr/>
          </p:nvSpPr>
          <p:spPr bwMode="auto">
            <a:xfrm>
              <a:off x="3990" y="1525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7682" name="Text Box 39"/>
            <p:cNvSpPr txBox="1">
              <a:spLocks noChangeArrowheads="1"/>
            </p:cNvSpPr>
            <p:nvPr/>
          </p:nvSpPr>
          <p:spPr bwMode="auto">
            <a:xfrm>
              <a:off x="3574" y="1861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7683" name="Text Box 40"/>
            <p:cNvSpPr txBox="1">
              <a:spLocks noChangeArrowheads="1"/>
            </p:cNvSpPr>
            <p:nvPr/>
          </p:nvSpPr>
          <p:spPr bwMode="auto">
            <a:xfrm>
              <a:off x="3990" y="1861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op</a:t>
              </a:r>
            </a:p>
          </p:txBody>
        </p:sp>
        <p:sp>
          <p:nvSpPr>
            <p:cNvPr id="27684" name="Line 41"/>
            <p:cNvSpPr>
              <a:spLocks noChangeShapeType="1"/>
            </p:cNvSpPr>
            <p:nvPr/>
          </p:nvSpPr>
          <p:spPr bwMode="auto">
            <a:xfrm flipV="1">
              <a:off x="3782" y="1717"/>
              <a:ext cx="20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Line 42"/>
            <p:cNvSpPr>
              <a:spLocks noChangeShapeType="1"/>
            </p:cNvSpPr>
            <p:nvPr/>
          </p:nvSpPr>
          <p:spPr bwMode="auto">
            <a:xfrm>
              <a:off x="4094" y="1765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Line 43"/>
            <p:cNvSpPr>
              <a:spLocks noChangeShapeType="1"/>
            </p:cNvSpPr>
            <p:nvPr/>
          </p:nvSpPr>
          <p:spPr bwMode="auto">
            <a:xfrm>
              <a:off x="4198" y="1717"/>
              <a:ext cx="26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Text Box 69"/>
            <p:cNvSpPr txBox="1">
              <a:spLocks noChangeArrowheads="1"/>
            </p:cNvSpPr>
            <p:nvPr/>
          </p:nvSpPr>
          <p:spPr bwMode="auto">
            <a:xfrm>
              <a:off x="4578" y="1846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</p:grpSp>
      <p:grpSp>
        <p:nvGrpSpPr>
          <p:cNvPr id="318559" name="Group 95"/>
          <p:cNvGrpSpPr>
            <a:grpSpLocks/>
          </p:cNvGrpSpPr>
          <p:nvPr/>
        </p:nvGrpSpPr>
        <p:grpSpPr bwMode="auto">
          <a:xfrm>
            <a:off x="6750050" y="3235325"/>
            <a:ext cx="1730375" cy="661988"/>
            <a:chOff x="4252" y="2038"/>
            <a:chExt cx="1090" cy="417"/>
          </a:xfrm>
        </p:grpSpPr>
        <p:sp>
          <p:nvSpPr>
            <p:cNvPr id="27675" name="Line 73"/>
            <p:cNvSpPr>
              <a:spLocks noChangeShapeType="1"/>
            </p:cNvSpPr>
            <p:nvPr/>
          </p:nvSpPr>
          <p:spPr bwMode="auto">
            <a:xfrm flipV="1">
              <a:off x="4370" y="2038"/>
              <a:ext cx="20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Line 74"/>
            <p:cNvSpPr>
              <a:spLocks noChangeShapeType="1"/>
            </p:cNvSpPr>
            <p:nvPr/>
          </p:nvSpPr>
          <p:spPr bwMode="auto">
            <a:xfrm>
              <a:off x="4682" y="2086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Line 75"/>
            <p:cNvSpPr>
              <a:spLocks noChangeShapeType="1"/>
            </p:cNvSpPr>
            <p:nvPr/>
          </p:nvSpPr>
          <p:spPr bwMode="auto">
            <a:xfrm>
              <a:off x="4786" y="2038"/>
              <a:ext cx="26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Text Box 83"/>
            <p:cNvSpPr txBox="1">
              <a:spLocks noChangeArrowheads="1"/>
            </p:cNvSpPr>
            <p:nvPr/>
          </p:nvSpPr>
          <p:spPr bwMode="auto">
            <a:xfrm>
              <a:off x="4978" y="2182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7679" name="Text Box 84"/>
            <p:cNvSpPr txBox="1">
              <a:spLocks noChangeArrowheads="1"/>
            </p:cNvSpPr>
            <p:nvPr/>
          </p:nvSpPr>
          <p:spPr bwMode="auto">
            <a:xfrm>
              <a:off x="4252" y="2205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7680" name="Text Box 85"/>
            <p:cNvSpPr txBox="1">
              <a:spLocks noChangeArrowheads="1"/>
            </p:cNvSpPr>
            <p:nvPr/>
          </p:nvSpPr>
          <p:spPr bwMode="auto">
            <a:xfrm>
              <a:off x="4525" y="2182"/>
              <a:ext cx="3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op</a:t>
              </a:r>
            </a:p>
          </p:txBody>
        </p:sp>
      </p:grpSp>
      <p:grpSp>
        <p:nvGrpSpPr>
          <p:cNvPr id="318561" name="Group 97"/>
          <p:cNvGrpSpPr>
            <a:grpSpLocks/>
          </p:cNvGrpSpPr>
          <p:nvPr/>
        </p:nvGrpSpPr>
        <p:grpSpPr bwMode="auto">
          <a:xfrm>
            <a:off x="7256463" y="3860800"/>
            <a:ext cx="577850" cy="647700"/>
            <a:chOff x="4571" y="2432"/>
            <a:chExt cx="364" cy="408"/>
          </a:xfrm>
        </p:grpSpPr>
        <p:sp>
          <p:nvSpPr>
            <p:cNvPr id="27673" name="Text Box 72"/>
            <p:cNvSpPr txBox="1">
              <a:spLocks noChangeArrowheads="1"/>
            </p:cNvSpPr>
            <p:nvPr/>
          </p:nvSpPr>
          <p:spPr bwMode="auto">
            <a:xfrm>
              <a:off x="4571" y="2552"/>
              <a:ext cx="3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  <a:ea typeface="宋体" panose="02010600030101010101" pitchFamily="2" charset="-122"/>
                </a:rPr>
                <a:t>*</a:t>
              </a:r>
              <a:endParaRPr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27674" name="Line 87"/>
            <p:cNvSpPr>
              <a:spLocks noChangeShapeType="1"/>
            </p:cNvSpPr>
            <p:nvPr/>
          </p:nvSpPr>
          <p:spPr bwMode="auto">
            <a:xfrm>
              <a:off x="4682" y="243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560" name="Group 96"/>
          <p:cNvGrpSpPr>
            <a:grpSpLocks/>
          </p:cNvGrpSpPr>
          <p:nvPr/>
        </p:nvGrpSpPr>
        <p:grpSpPr bwMode="auto">
          <a:xfrm>
            <a:off x="6750050" y="3860800"/>
            <a:ext cx="577850" cy="601663"/>
            <a:chOff x="4252" y="2432"/>
            <a:chExt cx="364" cy="379"/>
          </a:xfrm>
        </p:grpSpPr>
        <p:sp>
          <p:nvSpPr>
            <p:cNvPr id="27671" name="Text Box 71"/>
            <p:cNvSpPr txBox="1">
              <a:spLocks noChangeArrowheads="1"/>
            </p:cNvSpPr>
            <p:nvPr/>
          </p:nvSpPr>
          <p:spPr bwMode="auto">
            <a:xfrm>
              <a:off x="4252" y="2523"/>
              <a:ext cx="3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27672" name="Line 89"/>
            <p:cNvSpPr>
              <a:spLocks noChangeShapeType="1"/>
            </p:cNvSpPr>
            <p:nvPr/>
          </p:nvSpPr>
          <p:spPr bwMode="auto">
            <a:xfrm>
              <a:off x="4344" y="243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562" name="Group 98"/>
          <p:cNvGrpSpPr>
            <a:grpSpLocks/>
          </p:cNvGrpSpPr>
          <p:nvPr/>
        </p:nvGrpSpPr>
        <p:grpSpPr bwMode="auto">
          <a:xfrm>
            <a:off x="7904163" y="3860800"/>
            <a:ext cx="577850" cy="576263"/>
            <a:chOff x="4979" y="2432"/>
            <a:chExt cx="364" cy="363"/>
          </a:xfrm>
        </p:grpSpPr>
        <p:sp>
          <p:nvSpPr>
            <p:cNvPr id="27669" name="Text Box 70"/>
            <p:cNvSpPr txBox="1">
              <a:spLocks noChangeArrowheads="1"/>
            </p:cNvSpPr>
            <p:nvPr/>
          </p:nvSpPr>
          <p:spPr bwMode="auto">
            <a:xfrm>
              <a:off x="4979" y="2507"/>
              <a:ext cx="3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27670" name="Line 90"/>
            <p:cNvSpPr>
              <a:spLocks noChangeShapeType="1"/>
            </p:cNvSpPr>
            <p:nvPr/>
          </p:nvSpPr>
          <p:spPr bwMode="auto">
            <a:xfrm>
              <a:off x="5070" y="243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1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0"/>
                                        <p:tgtEl>
                                          <p:spTgt spid="31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31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1000"/>
                                        <p:tgtEl>
                                          <p:spTgt spid="31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31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31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31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1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31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31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31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1000"/>
                                        <p:tgtEl>
                                          <p:spTgt spid="31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31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318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0"/>
                                        <p:tgtEl>
                                          <p:spTgt spid="31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515" grpId="0"/>
      <p:bldP spid="318518" grpId="0"/>
      <p:bldP spid="318519" grpId="0"/>
      <p:bldP spid="318520" grpId="0"/>
      <p:bldP spid="318521" grpId="0"/>
      <p:bldP spid="318522" grpId="0"/>
      <p:bldP spid="3185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8675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867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567FCEE-11F3-439C-BD94-91B202B40680}" type="slidenum">
              <a:rPr lang="zh-CN" altLang="en-US" sz="800"/>
              <a:pPr/>
              <a:t>27</a:t>
            </a:fld>
            <a:endParaRPr lang="en-US" altLang="zh-CN" sz="80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Parse Trees and Derivations</a:t>
            </a:r>
          </a:p>
        </p:txBody>
      </p:sp>
      <p:sp>
        <p:nvSpPr>
          <p:cNvPr id="28678" name="Text Box 3"/>
          <p:cNvSpPr txBox="1">
            <a:spLocks noChangeArrowheads="1"/>
          </p:cNvSpPr>
          <p:nvPr/>
        </p:nvSpPr>
        <p:spPr bwMode="auto">
          <a:xfrm>
            <a:off x="1320800" y="1371600"/>
            <a:ext cx="808990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Consider the expression grammar: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E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 | E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 |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 |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Leftmost derivations of   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id + id * id   </a:t>
            </a:r>
            <a:endParaRPr lang="en-US" altLang="zh-CN" b="1">
              <a:ea typeface="宋体" panose="02010600030101010101" pitchFamily="2" charset="-122"/>
            </a:endParaRPr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704850" y="3276600"/>
            <a:ext cx="1568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E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 E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  <a:endParaRPr lang="en-US" altLang="zh-CN" sz="2000" b="1">
              <a:ea typeface="宋体" panose="02010600030101010101" pitchFamily="2" charset="-122"/>
            </a:endParaRPr>
          </a:p>
        </p:txBody>
      </p:sp>
      <p:sp>
        <p:nvSpPr>
          <p:cNvPr id="28680" name="Line 5"/>
          <p:cNvSpPr>
            <a:spLocks noChangeShapeType="1"/>
          </p:cNvSpPr>
          <p:nvPr/>
        </p:nvSpPr>
        <p:spPr bwMode="auto">
          <a:xfrm>
            <a:off x="2190750" y="3505200"/>
            <a:ext cx="330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20518" name="Group 6"/>
          <p:cNvGrpSpPr>
            <a:grpSpLocks/>
          </p:cNvGrpSpPr>
          <p:nvPr/>
        </p:nvGrpSpPr>
        <p:grpSpPr bwMode="auto">
          <a:xfrm>
            <a:off x="4997450" y="2819400"/>
            <a:ext cx="4375150" cy="1463675"/>
            <a:chOff x="3216" y="1776"/>
            <a:chExt cx="2544" cy="922"/>
          </a:xfrm>
        </p:grpSpPr>
        <p:sp>
          <p:nvSpPr>
            <p:cNvPr id="28712" name="Text Box 7"/>
            <p:cNvSpPr txBox="1">
              <a:spLocks noChangeArrowheads="1"/>
            </p:cNvSpPr>
            <p:nvPr/>
          </p:nvSpPr>
          <p:spPr bwMode="auto">
            <a:xfrm>
              <a:off x="3216" y="2112"/>
              <a:ext cx="1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+ </a:t>
              </a:r>
              <a:r>
                <a:rPr lang="en-US" altLang="zh-CN" sz="2000" b="1">
                  <a:ea typeface="宋体" panose="02010600030101010101" pitchFamily="2" charset="-122"/>
                </a:rPr>
                <a:t>E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E</a:t>
              </a:r>
              <a:endParaRPr lang="en-US" altLang="zh-CN" sz="2000" b="1">
                <a:ea typeface="宋体" panose="02010600030101010101" pitchFamily="2" charset="-122"/>
              </a:endParaRPr>
            </a:p>
          </p:txBody>
        </p:sp>
        <p:grpSp>
          <p:nvGrpSpPr>
            <p:cNvPr id="28713" name="Group 8"/>
            <p:cNvGrpSpPr>
              <a:grpSpLocks/>
            </p:cNvGrpSpPr>
            <p:nvPr/>
          </p:nvGrpSpPr>
          <p:grpSpPr bwMode="auto">
            <a:xfrm>
              <a:off x="4608" y="1776"/>
              <a:ext cx="1152" cy="922"/>
              <a:chOff x="3696" y="2736"/>
              <a:chExt cx="1152" cy="922"/>
            </a:xfrm>
          </p:grpSpPr>
          <p:grpSp>
            <p:nvGrpSpPr>
              <p:cNvPr id="28715" name="Group 9"/>
              <p:cNvGrpSpPr>
                <a:grpSpLocks/>
              </p:cNvGrpSpPr>
              <p:nvPr/>
            </p:nvGrpSpPr>
            <p:grpSpPr bwMode="auto">
              <a:xfrm>
                <a:off x="3696" y="2736"/>
                <a:ext cx="1152" cy="586"/>
                <a:chOff x="2304" y="1920"/>
                <a:chExt cx="1152" cy="586"/>
              </a:xfrm>
            </p:grpSpPr>
            <p:sp>
              <p:nvSpPr>
                <p:cNvPr id="2871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688" y="1920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871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120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872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304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872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688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8722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496" y="2112"/>
                  <a:ext cx="192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23" name="Line 15"/>
                <p:cNvSpPr>
                  <a:spLocks noChangeShapeType="1"/>
                </p:cNvSpPr>
                <p:nvPr/>
              </p:nvSpPr>
              <p:spPr bwMode="auto">
                <a:xfrm>
                  <a:off x="2784" y="2160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24" name="Line 16"/>
                <p:cNvSpPr>
                  <a:spLocks noChangeShapeType="1"/>
                </p:cNvSpPr>
                <p:nvPr/>
              </p:nvSpPr>
              <p:spPr bwMode="auto">
                <a:xfrm>
                  <a:off x="2880" y="2112"/>
                  <a:ext cx="24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16" name="Line 17"/>
              <p:cNvSpPr>
                <a:spLocks noChangeShapeType="1"/>
              </p:cNvSpPr>
              <p:nvPr/>
            </p:nvSpPr>
            <p:spPr bwMode="auto">
              <a:xfrm>
                <a:off x="3792" y="3264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7" name="Text Box 18"/>
              <p:cNvSpPr txBox="1">
                <a:spLocks noChangeArrowheads="1"/>
              </p:cNvSpPr>
              <p:nvPr/>
            </p:nvSpPr>
            <p:spPr bwMode="auto">
              <a:xfrm>
                <a:off x="3696" y="34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</p:grpSp>
        <p:sp>
          <p:nvSpPr>
            <p:cNvPr id="28714" name="Line 19"/>
            <p:cNvSpPr>
              <a:spLocks noChangeShapeType="1"/>
            </p:cNvSpPr>
            <p:nvPr/>
          </p:nvSpPr>
          <p:spPr bwMode="auto">
            <a:xfrm>
              <a:off x="4368" y="2208"/>
              <a:ext cx="19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0532" name="Group 20"/>
          <p:cNvGrpSpPr>
            <a:grpSpLocks/>
          </p:cNvGrpSpPr>
          <p:nvPr/>
        </p:nvGrpSpPr>
        <p:grpSpPr bwMode="auto">
          <a:xfrm>
            <a:off x="1612900" y="4419600"/>
            <a:ext cx="5778500" cy="1463675"/>
            <a:chOff x="1248" y="2784"/>
            <a:chExt cx="3360" cy="922"/>
          </a:xfrm>
        </p:grpSpPr>
        <p:grpSp>
          <p:nvGrpSpPr>
            <p:cNvPr id="28691" name="Group 21"/>
            <p:cNvGrpSpPr>
              <a:grpSpLocks/>
            </p:cNvGrpSpPr>
            <p:nvPr/>
          </p:nvGrpSpPr>
          <p:grpSpPr bwMode="auto">
            <a:xfrm>
              <a:off x="3456" y="3120"/>
              <a:ext cx="1152" cy="586"/>
              <a:chOff x="2304" y="1920"/>
              <a:chExt cx="1152" cy="586"/>
            </a:xfrm>
          </p:grpSpPr>
          <p:sp>
            <p:nvSpPr>
              <p:cNvPr id="28705" name="Text Box 22"/>
              <p:cNvSpPr txBox="1">
                <a:spLocks noChangeArrowheads="1"/>
              </p:cNvSpPr>
              <p:nvPr/>
            </p:nvSpPr>
            <p:spPr bwMode="auto">
              <a:xfrm>
                <a:off x="2688" y="19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8706" name="Text Box 23"/>
              <p:cNvSpPr txBox="1">
                <a:spLocks noChangeArrowheads="1"/>
              </p:cNvSpPr>
              <p:nvPr/>
            </p:nvSpPr>
            <p:spPr bwMode="auto">
              <a:xfrm>
                <a:off x="3120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8707" name="Text Box 24"/>
              <p:cNvSpPr txBox="1">
                <a:spLocks noChangeArrowheads="1"/>
              </p:cNvSpPr>
              <p:nvPr/>
            </p:nvSpPr>
            <p:spPr bwMode="auto">
              <a:xfrm>
                <a:off x="2304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8708" name="Text Box 25"/>
              <p:cNvSpPr txBox="1">
                <a:spLocks noChangeArrowheads="1"/>
              </p:cNvSpPr>
              <p:nvPr/>
            </p:nvSpPr>
            <p:spPr bwMode="auto">
              <a:xfrm>
                <a:off x="2688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*</a:t>
                </a:r>
              </a:p>
            </p:txBody>
          </p:sp>
          <p:sp>
            <p:nvSpPr>
              <p:cNvPr id="28709" name="Line 26"/>
              <p:cNvSpPr>
                <a:spLocks noChangeShapeType="1"/>
              </p:cNvSpPr>
              <p:nvPr/>
            </p:nvSpPr>
            <p:spPr bwMode="auto">
              <a:xfrm flipV="1">
                <a:off x="2496" y="2112"/>
                <a:ext cx="192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0" name="Line 27"/>
              <p:cNvSpPr>
                <a:spLocks noChangeShapeType="1"/>
              </p:cNvSpPr>
              <p:nvPr/>
            </p:nvSpPr>
            <p:spPr bwMode="auto">
              <a:xfrm>
                <a:off x="2784" y="216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1" name="Line 28"/>
              <p:cNvSpPr>
                <a:spLocks noChangeShapeType="1"/>
              </p:cNvSpPr>
              <p:nvPr/>
            </p:nvSpPr>
            <p:spPr bwMode="auto">
              <a:xfrm>
                <a:off x="2880" y="2112"/>
                <a:ext cx="24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692" name="Text Box 29"/>
            <p:cNvSpPr txBox="1">
              <a:spLocks noChangeArrowheads="1"/>
            </p:cNvSpPr>
            <p:nvPr/>
          </p:nvSpPr>
          <p:spPr bwMode="auto">
            <a:xfrm>
              <a:off x="1248" y="3120"/>
              <a:ext cx="15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+ </a:t>
              </a:r>
              <a:r>
                <a:rPr lang="en-US" altLang="zh-CN" sz="2000" b="1">
                  <a:ea typeface="宋体" panose="02010600030101010101" pitchFamily="2" charset="-122"/>
                </a:rPr>
                <a:t>E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E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>
                <a:ea typeface="宋体" panose="02010600030101010101" pitchFamily="2" charset="-122"/>
              </a:endParaRPr>
            </a:p>
          </p:txBody>
        </p:sp>
        <p:grpSp>
          <p:nvGrpSpPr>
            <p:cNvPr id="28693" name="Group 30"/>
            <p:cNvGrpSpPr>
              <a:grpSpLocks/>
            </p:cNvGrpSpPr>
            <p:nvPr/>
          </p:nvGrpSpPr>
          <p:grpSpPr bwMode="auto">
            <a:xfrm>
              <a:off x="3024" y="2784"/>
              <a:ext cx="1152" cy="922"/>
              <a:chOff x="3696" y="2736"/>
              <a:chExt cx="1152" cy="922"/>
            </a:xfrm>
          </p:grpSpPr>
          <p:grpSp>
            <p:nvGrpSpPr>
              <p:cNvPr id="28695" name="Group 31"/>
              <p:cNvGrpSpPr>
                <a:grpSpLocks/>
              </p:cNvGrpSpPr>
              <p:nvPr/>
            </p:nvGrpSpPr>
            <p:grpSpPr bwMode="auto">
              <a:xfrm>
                <a:off x="3696" y="2736"/>
                <a:ext cx="1152" cy="586"/>
                <a:chOff x="2304" y="1920"/>
                <a:chExt cx="1152" cy="586"/>
              </a:xfrm>
            </p:grpSpPr>
            <p:sp>
              <p:nvSpPr>
                <p:cNvPr id="28698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688" y="1920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869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120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870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2304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870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688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8702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2496" y="2112"/>
                  <a:ext cx="192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03" name="Line 37"/>
                <p:cNvSpPr>
                  <a:spLocks noChangeShapeType="1"/>
                </p:cNvSpPr>
                <p:nvPr/>
              </p:nvSpPr>
              <p:spPr bwMode="auto">
                <a:xfrm>
                  <a:off x="2784" y="2160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04" name="Line 38"/>
                <p:cNvSpPr>
                  <a:spLocks noChangeShapeType="1"/>
                </p:cNvSpPr>
                <p:nvPr/>
              </p:nvSpPr>
              <p:spPr bwMode="auto">
                <a:xfrm>
                  <a:off x="2880" y="2112"/>
                  <a:ext cx="24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696" name="Line 39"/>
              <p:cNvSpPr>
                <a:spLocks noChangeShapeType="1"/>
              </p:cNvSpPr>
              <p:nvPr/>
            </p:nvSpPr>
            <p:spPr bwMode="auto">
              <a:xfrm>
                <a:off x="3792" y="3264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7" name="Text Box 40"/>
              <p:cNvSpPr txBox="1">
                <a:spLocks noChangeArrowheads="1"/>
              </p:cNvSpPr>
              <p:nvPr/>
            </p:nvSpPr>
            <p:spPr bwMode="auto">
              <a:xfrm>
                <a:off x="3696" y="34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</p:grpSp>
        <p:sp>
          <p:nvSpPr>
            <p:cNvPr id="28694" name="Line 41"/>
            <p:cNvSpPr>
              <a:spLocks noChangeShapeType="1"/>
            </p:cNvSpPr>
            <p:nvPr/>
          </p:nvSpPr>
          <p:spPr bwMode="auto">
            <a:xfrm>
              <a:off x="2784" y="3216"/>
              <a:ext cx="19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683" name="Group 42"/>
          <p:cNvGrpSpPr>
            <a:grpSpLocks/>
          </p:cNvGrpSpPr>
          <p:nvPr/>
        </p:nvGrpSpPr>
        <p:grpSpPr bwMode="auto">
          <a:xfrm>
            <a:off x="2768600" y="3124200"/>
            <a:ext cx="1981200" cy="930275"/>
            <a:chOff x="2304" y="1920"/>
            <a:chExt cx="1152" cy="586"/>
          </a:xfrm>
        </p:grpSpPr>
        <p:sp>
          <p:nvSpPr>
            <p:cNvPr id="28684" name="Text Box 43"/>
            <p:cNvSpPr txBox="1">
              <a:spLocks noChangeArrowheads="1"/>
            </p:cNvSpPr>
            <p:nvPr/>
          </p:nvSpPr>
          <p:spPr bwMode="auto">
            <a:xfrm>
              <a:off x="2688" y="192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8685" name="Text Box 44"/>
            <p:cNvSpPr txBox="1">
              <a:spLocks noChangeArrowheads="1"/>
            </p:cNvSpPr>
            <p:nvPr/>
          </p:nvSpPr>
          <p:spPr bwMode="auto">
            <a:xfrm>
              <a:off x="3120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8686" name="Text Box 45"/>
            <p:cNvSpPr txBox="1">
              <a:spLocks noChangeArrowheads="1"/>
            </p:cNvSpPr>
            <p:nvPr/>
          </p:nvSpPr>
          <p:spPr bwMode="auto">
            <a:xfrm>
              <a:off x="2304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8687" name="Text Box 46"/>
            <p:cNvSpPr txBox="1">
              <a:spLocks noChangeArrowheads="1"/>
            </p:cNvSpPr>
            <p:nvPr/>
          </p:nvSpPr>
          <p:spPr bwMode="auto">
            <a:xfrm>
              <a:off x="2688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8688" name="Line 47"/>
            <p:cNvSpPr>
              <a:spLocks noChangeShapeType="1"/>
            </p:cNvSpPr>
            <p:nvPr/>
          </p:nvSpPr>
          <p:spPr bwMode="auto">
            <a:xfrm flipV="1">
              <a:off x="2496" y="2112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9" name="Line 48"/>
            <p:cNvSpPr>
              <a:spLocks noChangeShapeType="1"/>
            </p:cNvSpPr>
            <p:nvPr/>
          </p:nvSpPr>
          <p:spPr bwMode="auto">
            <a:xfrm>
              <a:off x="2784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0" name="Line 49"/>
            <p:cNvSpPr>
              <a:spLocks noChangeShapeType="1"/>
            </p:cNvSpPr>
            <p:nvPr/>
          </p:nvSpPr>
          <p:spPr bwMode="auto">
            <a:xfrm>
              <a:off x="2880" y="2112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0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0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9699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970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E8AB90-32B1-4111-A367-C517BB38391B}" type="slidenum">
              <a:rPr lang="zh-CN" altLang="en-US" sz="800"/>
              <a:pPr/>
              <a:t>28</a:t>
            </a:fld>
            <a:endParaRPr lang="en-US" altLang="zh-CN" sz="8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Parse Tree &amp; Derivations (cont.)</a:t>
            </a:r>
          </a:p>
        </p:txBody>
      </p:sp>
      <p:grpSp>
        <p:nvGrpSpPr>
          <p:cNvPr id="322563" name="Group 3"/>
          <p:cNvGrpSpPr>
            <a:grpSpLocks/>
          </p:cNvGrpSpPr>
          <p:nvPr/>
        </p:nvGrpSpPr>
        <p:grpSpPr bwMode="auto">
          <a:xfrm>
            <a:off x="1568450" y="1600200"/>
            <a:ext cx="6273800" cy="1997075"/>
            <a:chOff x="912" y="1008"/>
            <a:chExt cx="3648" cy="1258"/>
          </a:xfrm>
        </p:grpSpPr>
        <p:grpSp>
          <p:nvGrpSpPr>
            <p:cNvPr id="29732" name="Group 4"/>
            <p:cNvGrpSpPr>
              <a:grpSpLocks/>
            </p:cNvGrpSpPr>
            <p:nvPr/>
          </p:nvGrpSpPr>
          <p:grpSpPr bwMode="auto">
            <a:xfrm>
              <a:off x="3408" y="1344"/>
              <a:ext cx="1152" cy="586"/>
              <a:chOff x="2304" y="1920"/>
              <a:chExt cx="1152" cy="586"/>
            </a:xfrm>
          </p:grpSpPr>
          <p:sp>
            <p:nvSpPr>
              <p:cNvPr id="29749" name="Text Box 5"/>
              <p:cNvSpPr txBox="1">
                <a:spLocks noChangeArrowheads="1"/>
              </p:cNvSpPr>
              <p:nvPr/>
            </p:nvSpPr>
            <p:spPr bwMode="auto">
              <a:xfrm>
                <a:off x="2688" y="19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9750" name="Text Box 6"/>
              <p:cNvSpPr txBox="1">
                <a:spLocks noChangeArrowheads="1"/>
              </p:cNvSpPr>
              <p:nvPr/>
            </p:nvSpPr>
            <p:spPr bwMode="auto">
              <a:xfrm>
                <a:off x="3120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9751" name="Text Box 7"/>
              <p:cNvSpPr txBox="1">
                <a:spLocks noChangeArrowheads="1"/>
              </p:cNvSpPr>
              <p:nvPr/>
            </p:nvSpPr>
            <p:spPr bwMode="auto">
              <a:xfrm>
                <a:off x="2304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9752" name="Text Box 8"/>
              <p:cNvSpPr txBox="1">
                <a:spLocks noChangeArrowheads="1"/>
              </p:cNvSpPr>
              <p:nvPr/>
            </p:nvSpPr>
            <p:spPr bwMode="auto">
              <a:xfrm>
                <a:off x="2688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*</a:t>
                </a:r>
              </a:p>
            </p:txBody>
          </p:sp>
          <p:sp>
            <p:nvSpPr>
              <p:cNvPr id="29753" name="Line 9"/>
              <p:cNvSpPr>
                <a:spLocks noChangeShapeType="1"/>
              </p:cNvSpPr>
              <p:nvPr/>
            </p:nvSpPr>
            <p:spPr bwMode="auto">
              <a:xfrm flipV="1">
                <a:off x="2496" y="2112"/>
                <a:ext cx="192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54" name="Line 10"/>
              <p:cNvSpPr>
                <a:spLocks noChangeShapeType="1"/>
              </p:cNvSpPr>
              <p:nvPr/>
            </p:nvSpPr>
            <p:spPr bwMode="auto">
              <a:xfrm>
                <a:off x="2784" y="216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55" name="Line 11"/>
              <p:cNvSpPr>
                <a:spLocks noChangeShapeType="1"/>
              </p:cNvSpPr>
              <p:nvPr/>
            </p:nvSpPr>
            <p:spPr bwMode="auto">
              <a:xfrm>
                <a:off x="2880" y="2112"/>
                <a:ext cx="24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33" name="Text Box 12"/>
            <p:cNvSpPr txBox="1">
              <a:spLocks noChangeArrowheads="1"/>
            </p:cNvSpPr>
            <p:nvPr/>
          </p:nvSpPr>
          <p:spPr bwMode="auto">
            <a:xfrm>
              <a:off x="912" y="1344"/>
              <a:ext cx="18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E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E 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E </a:t>
              </a:r>
            </a:p>
          </p:txBody>
        </p:sp>
        <p:grpSp>
          <p:nvGrpSpPr>
            <p:cNvPr id="29734" name="Group 13"/>
            <p:cNvGrpSpPr>
              <a:grpSpLocks/>
            </p:cNvGrpSpPr>
            <p:nvPr/>
          </p:nvGrpSpPr>
          <p:grpSpPr bwMode="auto">
            <a:xfrm>
              <a:off x="2976" y="1008"/>
              <a:ext cx="1152" cy="586"/>
              <a:chOff x="2304" y="1920"/>
              <a:chExt cx="1152" cy="586"/>
            </a:xfrm>
          </p:grpSpPr>
          <p:sp>
            <p:nvSpPr>
              <p:cNvPr id="29742" name="Text Box 14"/>
              <p:cNvSpPr txBox="1">
                <a:spLocks noChangeArrowheads="1"/>
              </p:cNvSpPr>
              <p:nvPr/>
            </p:nvSpPr>
            <p:spPr bwMode="auto">
              <a:xfrm>
                <a:off x="2688" y="19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9743" name="Text Box 15"/>
              <p:cNvSpPr txBox="1">
                <a:spLocks noChangeArrowheads="1"/>
              </p:cNvSpPr>
              <p:nvPr/>
            </p:nvSpPr>
            <p:spPr bwMode="auto">
              <a:xfrm>
                <a:off x="3120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9744" name="Text Box 16"/>
              <p:cNvSpPr txBox="1">
                <a:spLocks noChangeArrowheads="1"/>
              </p:cNvSpPr>
              <p:nvPr/>
            </p:nvSpPr>
            <p:spPr bwMode="auto">
              <a:xfrm>
                <a:off x="2304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29745" name="Text Box 17"/>
              <p:cNvSpPr txBox="1">
                <a:spLocks noChangeArrowheads="1"/>
              </p:cNvSpPr>
              <p:nvPr/>
            </p:nvSpPr>
            <p:spPr bwMode="auto">
              <a:xfrm>
                <a:off x="2688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9746" name="Line 18"/>
              <p:cNvSpPr>
                <a:spLocks noChangeShapeType="1"/>
              </p:cNvSpPr>
              <p:nvPr/>
            </p:nvSpPr>
            <p:spPr bwMode="auto">
              <a:xfrm flipV="1">
                <a:off x="2496" y="2112"/>
                <a:ext cx="192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47" name="Line 19"/>
              <p:cNvSpPr>
                <a:spLocks noChangeShapeType="1"/>
              </p:cNvSpPr>
              <p:nvPr/>
            </p:nvSpPr>
            <p:spPr bwMode="auto">
              <a:xfrm>
                <a:off x="2784" y="216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48" name="Line 20"/>
              <p:cNvSpPr>
                <a:spLocks noChangeShapeType="1"/>
              </p:cNvSpPr>
              <p:nvPr/>
            </p:nvSpPr>
            <p:spPr bwMode="auto">
              <a:xfrm>
                <a:off x="2880" y="2112"/>
                <a:ext cx="24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735" name="Group 21"/>
            <p:cNvGrpSpPr>
              <a:grpSpLocks/>
            </p:cNvGrpSpPr>
            <p:nvPr/>
          </p:nvGrpSpPr>
          <p:grpSpPr bwMode="auto">
            <a:xfrm>
              <a:off x="2976" y="1536"/>
              <a:ext cx="288" cy="394"/>
              <a:chOff x="2976" y="1536"/>
              <a:chExt cx="288" cy="394"/>
            </a:xfrm>
          </p:grpSpPr>
          <p:sp>
            <p:nvSpPr>
              <p:cNvPr id="29740" name="Line 22"/>
              <p:cNvSpPr>
                <a:spLocks noChangeShapeType="1"/>
              </p:cNvSpPr>
              <p:nvPr/>
            </p:nvSpPr>
            <p:spPr bwMode="auto">
              <a:xfrm>
                <a:off x="3072" y="1536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41" name="Text Box 23"/>
              <p:cNvSpPr txBox="1">
                <a:spLocks noChangeArrowheads="1"/>
              </p:cNvSpPr>
              <p:nvPr/>
            </p:nvSpPr>
            <p:spPr bwMode="auto">
              <a:xfrm>
                <a:off x="2976" y="1680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</p:grpSp>
        <p:sp>
          <p:nvSpPr>
            <p:cNvPr id="29736" name="Line 24"/>
            <p:cNvSpPr>
              <a:spLocks noChangeShapeType="1"/>
            </p:cNvSpPr>
            <p:nvPr/>
          </p:nvSpPr>
          <p:spPr bwMode="auto">
            <a:xfrm>
              <a:off x="2736" y="1440"/>
              <a:ext cx="19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37" name="Group 25"/>
            <p:cNvGrpSpPr>
              <a:grpSpLocks/>
            </p:cNvGrpSpPr>
            <p:nvPr/>
          </p:nvGrpSpPr>
          <p:grpSpPr bwMode="auto">
            <a:xfrm>
              <a:off x="3408" y="1872"/>
              <a:ext cx="288" cy="394"/>
              <a:chOff x="2976" y="1536"/>
              <a:chExt cx="288" cy="394"/>
            </a:xfrm>
          </p:grpSpPr>
          <p:sp>
            <p:nvSpPr>
              <p:cNvPr id="29738" name="Line 26"/>
              <p:cNvSpPr>
                <a:spLocks noChangeShapeType="1"/>
              </p:cNvSpPr>
              <p:nvPr/>
            </p:nvSpPr>
            <p:spPr bwMode="auto">
              <a:xfrm>
                <a:off x="3072" y="1536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39" name="Text Box 27"/>
              <p:cNvSpPr txBox="1">
                <a:spLocks noChangeArrowheads="1"/>
              </p:cNvSpPr>
              <p:nvPr/>
            </p:nvSpPr>
            <p:spPr bwMode="auto">
              <a:xfrm>
                <a:off x="2976" y="1680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</p:grpSp>
      </p:grpSp>
      <p:grpSp>
        <p:nvGrpSpPr>
          <p:cNvPr id="322588" name="Group 28"/>
          <p:cNvGrpSpPr>
            <a:grpSpLocks/>
          </p:cNvGrpSpPr>
          <p:nvPr/>
        </p:nvGrpSpPr>
        <p:grpSpPr bwMode="auto">
          <a:xfrm>
            <a:off x="1568450" y="4114800"/>
            <a:ext cx="6273800" cy="1997075"/>
            <a:chOff x="912" y="2592"/>
            <a:chExt cx="3648" cy="1258"/>
          </a:xfrm>
        </p:grpSpPr>
        <p:sp>
          <p:nvSpPr>
            <p:cNvPr id="29704" name="Text Box 29"/>
            <p:cNvSpPr txBox="1">
              <a:spLocks noChangeArrowheads="1"/>
            </p:cNvSpPr>
            <p:nvPr/>
          </p:nvSpPr>
          <p:spPr bwMode="auto">
            <a:xfrm>
              <a:off x="912" y="2928"/>
              <a:ext cx="18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E 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 id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29705" name="Line 30"/>
            <p:cNvSpPr>
              <a:spLocks noChangeShapeType="1"/>
            </p:cNvSpPr>
            <p:nvPr/>
          </p:nvSpPr>
          <p:spPr bwMode="auto">
            <a:xfrm>
              <a:off x="2736" y="3024"/>
              <a:ext cx="19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06" name="Group 31"/>
            <p:cNvGrpSpPr>
              <a:grpSpLocks/>
            </p:cNvGrpSpPr>
            <p:nvPr/>
          </p:nvGrpSpPr>
          <p:grpSpPr bwMode="auto">
            <a:xfrm>
              <a:off x="2976" y="2592"/>
              <a:ext cx="1584" cy="1258"/>
              <a:chOff x="2976" y="2592"/>
              <a:chExt cx="1584" cy="1258"/>
            </a:xfrm>
          </p:grpSpPr>
          <p:grpSp>
            <p:nvGrpSpPr>
              <p:cNvPr id="29707" name="Group 32"/>
              <p:cNvGrpSpPr>
                <a:grpSpLocks/>
              </p:cNvGrpSpPr>
              <p:nvPr/>
            </p:nvGrpSpPr>
            <p:grpSpPr bwMode="auto">
              <a:xfrm>
                <a:off x="3408" y="2928"/>
                <a:ext cx="1152" cy="586"/>
                <a:chOff x="2304" y="1920"/>
                <a:chExt cx="1152" cy="586"/>
              </a:xfrm>
            </p:grpSpPr>
            <p:sp>
              <p:nvSpPr>
                <p:cNvPr id="2972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688" y="1920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9726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120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9727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304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972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688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20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*</a:t>
                  </a:r>
                </a:p>
              </p:txBody>
            </p:sp>
            <p:sp>
              <p:nvSpPr>
                <p:cNvPr id="29729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2496" y="2112"/>
                  <a:ext cx="192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30" name="Line 38"/>
                <p:cNvSpPr>
                  <a:spLocks noChangeShapeType="1"/>
                </p:cNvSpPr>
                <p:nvPr/>
              </p:nvSpPr>
              <p:spPr bwMode="auto">
                <a:xfrm>
                  <a:off x="2784" y="2160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31" name="Line 39"/>
                <p:cNvSpPr>
                  <a:spLocks noChangeShapeType="1"/>
                </p:cNvSpPr>
                <p:nvPr/>
              </p:nvSpPr>
              <p:spPr bwMode="auto">
                <a:xfrm>
                  <a:off x="2880" y="2112"/>
                  <a:ext cx="24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08" name="Group 40"/>
              <p:cNvGrpSpPr>
                <a:grpSpLocks/>
              </p:cNvGrpSpPr>
              <p:nvPr/>
            </p:nvGrpSpPr>
            <p:grpSpPr bwMode="auto">
              <a:xfrm>
                <a:off x="2976" y="2592"/>
                <a:ext cx="1152" cy="586"/>
                <a:chOff x="2304" y="1920"/>
                <a:chExt cx="1152" cy="586"/>
              </a:xfrm>
            </p:grpSpPr>
            <p:sp>
              <p:nvSpPr>
                <p:cNvPr id="29718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688" y="1920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9719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3120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9720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304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</a:p>
              </p:txBody>
            </p:sp>
            <p:sp>
              <p:nvSpPr>
                <p:cNvPr id="29721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688" y="2256"/>
                  <a:ext cx="3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9722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2496" y="2112"/>
                  <a:ext cx="192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3" name="Line 46"/>
                <p:cNvSpPr>
                  <a:spLocks noChangeShapeType="1"/>
                </p:cNvSpPr>
                <p:nvPr/>
              </p:nvSpPr>
              <p:spPr bwMode="auto">
                <a:xfrm>
                  <a:off x="2784" y="2160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4" name="Line 47"/>
                <p:cNvSpPr>
                  <a:spLocks noChangeShapeType="1"/>
                </p:cNvSpPr>
                <p:nvPr/>
              </p:nvSpPr>
              <p:spPr bwMode="auto">
                <a:xfrm>
                  <a:off x="2880" y="2112"/>
                  <a:ext cx="24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09" name="Group 48"/>
              <p:cNvGrpSpPr>
                <a:grpSpLocks/>
              </p:cNvGrpSpPr>
              <p:nvPr/>
            </p:nvGrpSpPr>
            <p:grpSpPr bwMode="auto">
              <a:xfrm>
                <a:off x="2976" y="3120"/>
                <a:ext cx="288" cy="394"/>
                <a:chOff x="2976" y="1536"/>
                <a:chExt cx="288" cy="394"/>
              </a:xfrm>
            </p:grpSpPr>
            <p:sp>
              <p:nvSpPr>
                <p:cNvPr id="29716" name="Line 49"/>
                <p:cNvSpPr>
                  <a:spLocks noChangeShapeType="1"/>
                </p:cNvSpPr>
                <p:nvPr/>
              </p:nvSpPr>
              <p:spPr bwMode="auto">
                <a:xfrm>
                  <a:off x="3072" y="1536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17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976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id</a:t>
                  </a:r>
                </a:p>
              </p:txBody>
            </p:sp>
          </p:grpSp>
          <p:grpSp>
            <p:nvGrpSpPr>
              <p:cNvPr id="29710" name="Group 51"/>
              <p:cNvGrpSpPr>
                <a:grpSpLocks/>
              </p:cNvGrpSpPr>
              <p:nvPr/>
            </p:nvGrpSpPr>
            <p:grpSpPr bwMode="auto">
              <a:xfrm>
                <a:off x="4224" y="3456"/>
                <a:ext cx="288" cy="394"/>
                <a:chOff x="2976" y="1536"/>
                <a:chExt cx="288" cy="394"/>
              </a:xfrm>
            </p:grpSpPr>
            <p:sp>
              <p:nvSpPr>
                <p:cNvPr id="29714" name="Line 52"/>
                <p:cNvSpPr>
                  <a:spLocks noChangeShapeType="1"/>
                </p:cNvSpPr>
                <p:nvPr/>
              </p:nvSpPr>
              <p:spPr bwMode="auto">
                <a:xfrm>
                  <a:off x="3072" y="1536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15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2976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id</a:t>
                  </a:r>
                </a:p>
              </p:txBody>
            </p:sp>
          </p:grpSp>
          <p:grpSp>
            <p:nvGrpSpPr>
              <p:cNvPr id="29711" name="Group 54"/>
              <p:cNvGrpSpPr>
                <a:grpSpLocks/>
              </p:cNvGrpSpPr>
              <p:nvPr/>
            </p:nvGrpSpPr>
            <p:grpSpPr bwMode="auto">
              <a:xfrm>
                <a:off x="3408" y="3456"/>
                <a:ext cx="288" cy="394"/>
                <a:chOff x="2976" y="1536"/>
                <a:chExt cx="288" cy="394"/>
              </a:xfrm>
            </p:grpSpPr>
            <p:sp>
              <p:nvSpPr>
                <p:cNvPr id="29712" name="Line 55"/>
                <p:cNvSpPr>
                  <a:spLocks noChangeShapeType="1"/>
                </p:cNvSpPr>
                <p:nvPr/>
              </p:nvSpPr>
              <p:spPr bwMode="auto">
                <a:xfrm>
                  <a:off x="3072" y="1536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13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2976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id</a:t>
                  </a:r>
                </a:p>
              </p:txBody>
            </p:sp>
          </p:grp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1000"/>
                                        <p:tgtEl>
                                          <p:spTgt spid="32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0723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072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97984A-5EFB-4877-9857-A8E9716BD7E0}" type="slidenum">
              <a:rPr lang="zh-CN" altLang="en-US" sz="800"/>
              <a:pPr/>
              <a:t>29</a:t>
            </a:fld>
            <a:endParaRPr lang="en-US" altLang="zh-CN" sz="80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Alternative Parse Tree &amp; Derivation</a:t>
            </a:r>
          </a:p>
        </p:txBody>
      </p:sp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1485900" y="1752600"/>
            <a:ext cx="31369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E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E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    E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   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   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id *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   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id * id</a:t>
            </a:r>
          </a:p>
        </p:txBody>
      </p:sp>
      <p:grpSp>
        <p:nvGrpSpPr>
          <p:cNvPr id="324612" name="Group 4"/>
          <p:cNvGrpSpPr>
            <a:grpSpLocks/>
          </p:cNvGrpSpPr>
          <p:nvPr/>
        </p:nvGrpSpPr>
        <p:grpSpPr bwMode="auto">
          <a:xfrm>
            <a:off x="5613400" y="1981200"/>
            <a:ext cx="2724150" cy="1997075"/>
            <a:chOff x="2976" y="2592"/>
            <a:chExt cx="1584" cy="1258"/>
          </a:xfrm>
        </p:grpSpPr>
        <p:sp>
          <p:nvSpPr>
            <p:cNvPr id="30730" name="Text Box 5"/>
            <p:cNvSpPr txBox="1">
              <a:spLocks noChangeArrowheads="1"/>
            </p:cNvSpPr>
            <p:nvPr/>
          </p:nvSpPr>
          <p:spPr bwMode="auto">
            <a:xfrm flipH="1">
              <a:off x="3408" y="292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0731" name="Text Box 6"/>
            <p:cNvSpPr txBox="1">
              <a:spLocks noChangeArrowheads="1"/>
            </p:cNvSpPr>
            <p:nvPr/>
          </p:nvSpPr>
          <p:spPr bwMode="auto">
            <a:xfrm flipH="1">
              <a:off x="2976" y="326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0732" name="Text Box 7"/>
            <p:cNvSpPr txBox="1">
              <a:spLocks noChangeArrowheads="1"/>
            </p:cNvSpPr>
            <p:nvPr/>
          </p:nvSpPr>
          <p:spPr bwMode="auto">
            <a:xfrm flipH="1">
              <a:off x="3792" y="326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0733" name="Text Box 8"/>
            <p:cNvSpPr txBox="1">
              <a:spLocks noChangeArrowheads="1"/>
            </p:cNvSpPr>
            <p:nvPr/>
          </p:nvSpPr>
          <p:spPr bwMode="auto">
            <a:xfrm flipH="1">
              <a:off x="3408" y="326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0734" name="Line 9"/>
            <p:cNvSpPr>
              <a:spLocks noChangeShapeType="1"/>
            </p:cNvSpPr>
            <p:nvPr/>
          </p:nvSpPr>
          <p:spPr bwMode="auto">
            <a:xfrm flipH="1" flipV="1">
              <a:off x="3600" y="3120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Line 10"/>
            <p:cNvSpPr>
              <a:spLocks noChangeShapeType="1"/>
            </p:cNvSpPr>
            <p:nvPr/>
          </p:nvSpPr>
          <p:spPr bwMode="auto">
            <a:xfrm flipH="1">
              <a:off x="3504" y="3168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11"/>
            <p:cNvSpPr>
              <a:spLocks noChangeShapeType="1"/>
            </p:cNvSpPr>
            <p:nvPr/>
          </p:nvSpPr>
          <p:spPr bwMode="auto">
            <a:xfrm flipH="1">
              <a:off x="3168" y="3120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Text Box 12"/>
            <p:cNvSpPr txBox="1">
              <a:spLocks noChangeArrowheads="1"/>
            </p:cNvSpPr>
            <p:nvPr/>
          </p:nvSpPr>
          <p:spPr bwMode="auto">
            <a:xfrm flipH="1">
              <a:off x="3840" y="2592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0738" name="Text Box 13"/>
            <p:cNvSpPr txBox="1">
              <a:spLocks noChangeArrowheads="1"/>
            </p:cNvSpPr>
            <p:nvPr/>
          </p:nvSpPr>
          <p:spPr bwMode="auto">
            <a:xfrm flipH="1">
              <a:off x="3408" y="292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0739" name="Text Box 14"/>
            <p:cNvSpPr txBox="1">
              <a:spLocks noChangeArrowheads="1"/>
            </p:cNvSpPr>
            <p:nvPr/>
          </p:nvSpPr>
          <p:spPr bwMode="auto">
            <a:xfrm flipH="1">
              <a:off x="4224" y="292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0740" name="Text Box 15"/>
            <p:cNvSpPr txBox="1">
              <a:spLocks noChangeArrowheads="1"/>
            </p:cNvSpPr>
            <p:nvPr/>
          </p:nvSpPr>
          <p:spPr bwMode="auto">
            <a:xfrm flipH="1">
              <a:off x="3840" y="292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30741" name="Line 16"/>
            <p:cNvSpPr>
              <a:spLocks noChangeShapeType="1"/>
            </p:cNvSpPr>
            <p:nvPr/>
          </p:nvSpPr>
          <p:spPr bwMode="auto">
            <a:xfrm flipH="1" flipV="1">
              <a:off x="4032" y="2784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Line 17"/>
            <p:cNvSpPr>
              <a:spLocks noChangeShapeType="1"/>
            </p:cNvSpPr>
            <p:nvPr/>
          </p:nvSpPr>
          <p:spPr bwMode="auto">
            <a:xfrm flipH="1">
              <a:off x="3936" y="283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Line 18"/>
            <p:cNvSpPr>
              <a:spLocks noChangeShapeType="1"/>
            </p:cNvSpPr>
            <p:nvPr/>
          </p:nvSpPr>
          <p:spPr bwMode="auto">
            <a:xfrm flipH="1">
              <a:off x="3600" y="2832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Line 19"/>
            <p:cNvSpPr>
              <a:spLocks noChangeShapeType="1"/>
            </p:cNvSpPr>
            <p:nvPr/>
          </p:nvSpPr>
          <p:spPr bwMode="auto">
            <a:xfrm flipH="1">
              <a:off x="4368" y="312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Text Box 20"/>
            <p:cNvSpPr txBox="1">
              <a:spLocks noChangeArrowheads="1"/>
            </p:cNvSpPr>
            <p:nvPr/>
          </p:nvSpPr>
          <p:spPr bwMode="auto">
            <a:xfrm flipH="1">
              <a:off x="4272" y="326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0746" name="Line 21"/>
            <p:cNvSpPr>
              <a:spLocks noChangeShapeType="1"/>
            </p:cNvSpPr>
            <p:nvPr/>
          </p:nvSpPr>
          <p:spPr bwMode="auto">
            <a:xfrm flipH="1">
              <a:off x="3072" y="345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Text Box 22"/>
            <p:cNvSpPr txBox="1">
              <a:spLocks noChangeArrowheads="1"/>
            </p:cNvSpPr>
            <p:nvPr/>
          </p:nvSpPr>
          <p:spPr bwMode="auto">
            <a:xfrm flipH="1">
              <a:off x="2976" y="360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0748" name="Line 23"/>
            <p:cNvSpPr>
              <a:spLocks noChangeShapeType="1"/>
            </p:cNvSpPr>
            <p:nvPr/>
          </p:nvSpPr>
          <p:spPr bwMode="auto">
            <a:xfrm flipH="1">
              <a:off x="3888" y="345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Rectangle 24"/>
            <p:cNvSpPr>
              <a:spLocks noChangeArrowheads="1"/>
            </p:cNvSpPr>
            <p:nvPr/>
          </p:nvSpPr>
          <p:spPr bwMode="auto">
            <a:xfrm>
              <a:off x="3792" y="3600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</p:grpSp>
      <p:sp>
        <p:nvSpPr>
          <p:cNvPr id="324633" name="Text Box 25"/>
          <p:cNvSpPr txBox="1">
            <a:spLocks noChangeArrowheads="1"/>
          </p:cNvSpPr>
          <p:nvPr/>
        </p:nvSpPr>
        <p:spPr bwMode="auto">
          <a:xfrm>
            <a:off x="2000250" y="4941888"/>
            <a:ext cx="6191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WHAT’S THE ISSUE HERE ?</a:t>
            </a:r>
          </a:p>
        </p:txBody>
      </p:sp>
      <p:sp>
        <p:nvSpPr>
          <p:cNvPr id="324634" name="Text Box 26"/>
          <p:cNvSpPr txBox="1">
            <a:spLocks noChangeArrowheads="1"/>
          </p:cNvSpPr>
          <p:nvPr/>
        </p:nvSpPr>
        <p:spPr bwMode="auto">
          <a:xfrm>
            <a:off x="2073275" y="5516563"/>
            <a:ext cx="6191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Two distinct leftmost derivations!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2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3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33" grpId="0"/>
      <p:bldP spid="3246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174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174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D813161-F874-470A-8146-BA48CC187888}" type="slidenum">
              <a:rPr lang="zh-CN" altLang="en-US" sz="800"/>
              <a:pPr/>
              <a:t>30</a:t>
            </a:fld>
            <a:endParaRPr lang="en-US" altLang="zh-CN" sz="8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Ambiguity </a:t>
            </a:r>
            <a:r>
              <a:rPr lang="zh-CN" altLang="en-US" smtClean="0">
                <a:ea typeface="宋体" panose="02010600030101010101" pitchFamily="2" charset="-122"/>
              </a:rPr>
              <a:t>（二义性）</a:t>
            </a:r>
            <a:r>
              <a:rPr lang="en-US" altLang="zh-CN" smtClean="0">
                <a:ea typeface="宋体" panose="02010600030101010101" pitchFamily="2" charset="-122"/>
              </a:rPr>
              <a:t>(P.171)</a:t>
            </a:r>
          </a:p>
        </p:txBody>
      </p:sp>
      <p:sp>
        <p:nvSpPr>
          <p:cNvPr id="31750" name="Text Box 3"/>
          <p:cNvSpPr txBox="1">
            <a:spLocks noChangeArrowheads="1"/>
          </p:cNvSpPr>
          <p:nvPr/>
        </p:nvSpPr>
        <p:spPr bwMode="auto">
          <a:xfrm>
            <a:off x="669925" y="1260475"/>
            <a:ext cx="82057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en-US" altLang="zh-CN">
                <a:ea typeface="宋体" panose="02010600030101010101" pitchFamily="2" charset="-122"/>
              </a:rPr>
              <a:t>A grammar produces more than one parse tree for a sentence is </a:t>
            </a:r>
          </a:p>
          <a:p>
            <a:r>
              <a:rPr lang="en-US" altLang="zh-CN">
                <a:ea typeface="宋体" panose="02010600030101010101" pitchFamily="2" charset="-122"/>
              </a:rPr>
              <a:t>   called as an </a:t>
            </a:r>
            <a:r>
              <a:rPr lang="en-US" altLang="zh-CN" b="1" i="1">
                <a:ea typeface="宋体" panose="02010600030101010101" pitchFamily="2" charset="-122"/>
              </a:rPr>
              <a:t>ambiguous</a:t>
            </a:r>
            <a:r>
              <a:rPr lang="en-US" altLang="zh-CN">
                <a:ea typeface="宋体" panose="02010600030101010101" pitchFamily="2" charset="-122"/>
              </a:rPr>
              <a:t> grammar.</a:t>
            </a:r>
          </a:p>
          <a:p>
            <a:r>
              <a:rPr lang="en-US" altLang="zh-CN">
                <a:ea typeface="宋体" panose="02010600030101010101" pitchFamily="2" charset="-122"/>
              </a:rPr>
              <a:t>Example 4.6:</a:t>
            </a:r>
          </a:p>
        </p:txBody>
      </p:sp>
      <p:sp>
        <p:nvSpPr>
          <p:cNvPr id="269316" name="Text Box 4"/>
          <p:cNvSpPr txBox="1">
            <a:spLocks noChangeArrowheads="1"/>
          </p:cNvSpPr>
          <p:nvPr/>
        </p:nvSpPr>
        <p:spPr bwMode="auto">
          <a:xfrm>
            <a:off x="746125" y="2320925"/>
            <a:ext cx="38719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id+id*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id+id*id</a:t>
            </a:r>
          </a:p>
        </p:txBody>
      </p:sp>
      <p:sp>
        <p:nvSpPr>
          <p:cNvPr id="269317" name="Text Box 5"/>
          <p:cNvSpPr txBox="1">
            <a:spLocks noChangeArrowheads="1"/>
          </p:cNvSpPr>
          <p:nvPr/>
        </p:nvSpPr>
        <p:spPr bwMode="auto">
          <a:xfrm>
            <a:off x="762000" y="4343400"/>
            <a:ext cx="4140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id+id*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id+id*id</a:t>
            </a:r>
          </a:p>
        </p:txBody>
      </p:sp>
      <p:grpSp>
        <p:nvGrpSpPr>
          <p:cNvPr id="269381" name="Group 69"/>
          <p:cNvGrpSpPr>
            <a:grpSpLocks/>
          </p:cNvGrpSpPr>
          <p:nvPr/>
        </p:nvGrpSpPr>
        <p:grpSpPr bwMode="auto">
          <a:xfrm>
            <a:off x="6392863" y="4076700"/>
            <a:ext cx="1638300" cy="1784350"/>
            <a:chOff x="4128" y="2640"/>
            <a:chExt cx="1032" cy="1124"/>
          </a:xfrm>
        </p:grpSpPr>
        <p:sp>
          <p:nvSpPr>
            <p:cNvPr id="31776" name="Text Box 37"/>
            <p:cNvSpPr txBox="1">
              <a:spLocks noChangeArrowheads="1"/>
            </p:cNvSpPr>
            <p:nvPr/>
          </p:nvSpPr>
          <p:spPr bwMode="auto">
            <a:xfrm>
              <a:off x="4704" y="3264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1777" name="Text Box 38"/>
            <p:cNvSpPr txBox="1">
              <a:spLocks noChangeArrowheads="1"/>
            </p:cNvSpPr>
            <p:nvPr/>
          </p:nvSpPr>
          <p:spPr bwMode="auto">
            <a:xfrm>
              <a:off x="4704" y="3504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1778" name="Line 39"/>
            <p:cNvSpPr>
              <a:spLocks noChangeShapeType="1"/>
            </p:cNvSpPr>
            <p:nvPr/>
          </p:nvSpPr>
          <p:spPr bwMode="auto">
            <a:xfrm>
              <a:off x="4800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9" name="Line 43"/>
            <p:cNvSpPr>
              <a:spLocks noChangeShapeType="1"/>
            </p:cNvSpPr>
            <p:nvPr/>
          </p:nvSpPr>
          <p:spPr bwMode="auto">
            <a:xfrm>
              <a:off x="4224" y="34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0" name="Text Box 45"/>
            <p:cNvSpPr txBox="1">
              <a:spLocks noChangeArrowheads="1"/>
            </p:cNvSpPr>
            <p:nvPr/>
          </p:nvSpPr>
          <p:spPr bwMode="auto">
            <a:xfrm>
              <a:off x="4128" y="3264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1781" name="Text Box 46"/>
            <p:cNvSpPr txBox="1">
              <a:spLocks noChangeArrowheads="1"/>
            </p:cNvSpPr>
            <p:nvPr/>
          </p:nvSpPr>
          <p:spPr bwMode="auto">
            <a:xfrm>
              <a:off x="4416" y="3264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solidFill>
                    <a:schemeClr val="accent2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1782" name="Text Box 47"/>
            <p:cNvSpPr txBox="1">
              <a:spLocks noChangeArrowheads="1"/>
            </p:cNvSpPr>
            <p:nvPr/>
          </p:nvSpPr>
          <p:spPr bwMode="auto">
            <a:xfrm>
              <a:off x="4128" y="3552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1783" name="Text Box 55"/>
            <p:cNvSpPr txBox="1">
              <a:spLocks noChangeArrowheads="1"/>
            </p:cNvSpPr>
            <p:nvPr/>
          </p:nvSpPr>
          <p:spPr bwMode="auto">
            <a:xfrm>
              <a:off x="4944" y="326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grpSp>
          <p:nvGrpSpPr>
            <p:cNvPr id="31784" name="Group 57"/>
            <p:cNvGrpSpPr>
              <a:grpSpLocks/>
            </p:cNvGrpSpPr>
            <p:nvPr/>
          </p:nvGrpSpPr>
          <p:grpSpPr bwMode="auto">
            <a:xfrm>
              <a:off x="4224" y="2640"/>
              <a:ext cx="914" cy="672"/>
              <a:chOff x="4128" y="2544"/>
              <a:chExt cx="914" cy="672"/>
            </a:xfrm>
          </p:grpSpPr>
          <p:sp>
            <p:nvSpPr>
              <p:cNvPr id="31785" name="Line 58"/>
              <p:cNvSpPr>
                <a:spLocks noChangeShapeType="1"/>
              </p:cNvSpPr>
              <p:nvPr/>
            </p:nvSpPr>
            <p:spPr bwMode="auto">
              <a:xfrm flipH="1">
                <a:off x="4128" y="30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6" name="Line 59"/>
              <p:cNvSpPr>
                <a:spLocks noChangeShapeType="1"/>
              </p:cNvSpPr>
              <p:nvPr/>
            </p:nvSpPr>
            <p:spPr bwMode="auto">
              <a:xfrm>
                <a:off x="4512" y="30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7" name="Line 60"/>
              <p:cNvSpPr>
                <a:spLocks noChangeShapeType="1"/>
              </p:cNvSpPr>
              <p:nvPr/>
            </p:nvSpPr>
            <p:spPr bwMode="auto">
              <a:xfrm>
                <a:off x="4416" y="30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8" name="Text Box 61"/>
              <p:cNvSpPr txBox="1">
                <a:spLocks noChangeArrowheads="1"/>
              </p:cNvSpPr>
              <p:nvPr/>
            </p:nvSpPr>
            <p:spPr bwMode="auto">
              <a:xfrm>
                <a:off x="4320" y="2880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31789" name="Line 62"/>
              <p:cNvSpPr>
                <a:spLocks noChangeShapeType="1"/>
              </p:cNvSpPr>
              <p:nvPr/>
            </p:nvSpPr>
            <p:spPr bwMode="auto">
              <a:xfrm>
                <a:off x="4704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90" name="Text Box 63"/>
              <p:cNvSpPr txBox="1">
                <a:spLocks noChangeArrowheads="1"/>
              </p:cNvSpPr>
              <p:nvPr/>
            </p:nvSpPr>
            <p:spPr bwMode="auto">
              <a:xfrm>
                <a:off x="4560" y="2544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31791" name="Line 64"/>
              <p:cNvSpPr>
                <a:spLocks noChangeShapeType="1"/>
              </p:cNvSpPr>
              <p:nvPr/>
            </p:nvSpPr>
            <p:spPr bwMode="auto">
              <a:xfrm flipH="1">
                <a:off x="4416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92" name="Line 65"/>
              <p:cNvSpPr>
                <a:spLocks noChangeShapeType="1"/>
              </p:cNvSpPr>
              <p:nvPr/>
            </p:nvSpPr>
            <p:spPr bwMode="auto">
              <a:xfrm>
                <a:off x="4656" y="27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93" name="Text Box 66"/>
              <p:cNvSpPr txBox="1">
                <a:spLocks noChangeArrowheads="1"/>
              </p:cNvSpPr>
              <p:nvPr/>
            </p:nvSpPr>
            <p:spPr bwMode="auto">
              <a:xfrm>
                <a:off x="4560" y="2832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6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*</a:t>
                </a:r>
              </a:p>
            </p:txBody>
          </p:sp>
          <p:sp>
            <p:nvSpPr>
              <p:cNvPr id="31794" name="Text Box 67"/>
              <p:cNvSpPr txBox="1">
                <a:spLocks noChangeArrowheads="1"/>
              </p:cNvSpPr>
              <p:nvPr/>
            </p:nvSpPr>
            <p:spPr bwMode="auto">
              <a:xfrm>
                <a:off x="4848" y="2880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600"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31795" name="Line 68"/>
              <p:cNvSpPr>
                <a:spLocks noChangeShapeType="1"/>
              </p:cNvSpPr>
              <p:nvPr/>
            </p:nvSpPr>
            <p:spPr bwMode="auto">
              <a:xfrm>
                <a:off x="4944" y="30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69384" name="Group 72"/>
          <p:cNvGrpSpPr>
            <a:grpSpLocks/>
          </p:cNvGrpSpPr>
          <p:nvPr/>
        </p:nvGrpSpPr>
        <p:grpSpPr bwMode="auto">
          <a:xfrm>
            <a:off x="6537325" y="1916113"/>
            <a:ext cx="1714500" cy="1784350"/>
            <a:chOff x="3552" y="1104"/>
            <a:chExt cx="1080" cy="1124"/>
          </a:xfrm>
        </p:grpSpPr>
        <p:sp>
          <p:nvSpPr>
            <p:cNvPr id="31756" name="Text Box 9"/>
            <p:cNvSpPr txBox="1">
              <a:spLocks noChangeArrowheads="1"/>
            </p:cNvSpPr>
            <p:nvPr/>
          </p:nvSpPr>
          <p:spPr bwMode="auto">
            <a:xfrm>
              <a:off x="4128" y="1680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31757" name="Line 23"/>
            <p:cNvSpPr>
              <a:spLocks noChangeShapeType="1"/>
            </p:cNvSpPr>
            <p:nvPr/>
          </p:nvSpPr>
          <p:spPr bwMode="auto">
            <a:xfrm flipH="1">
              <a:off x="3648" y="129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8" name="Line 24"/>
            <p:cNvSpPr>
              <a:spLocks noChangeShapeType="1"/>
            </p:cNvSpPr>
            <p:nvPr/>
          </p:nvSpPr>
          <p:spPr bwMode="auto">
            <a:xfrm>
              <a:off x="4032" y="129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9" name="Line 25"/>
            <p:cNvSpPr>
              <a:spLocks noChangeShapeType="1"/>
            </p:cNvSpPr>
            <p:nvPr/>
          </p:nvSpPr>
          <p:spPr bwMode="auto">
            <a:xfrm>
              <a:off x="3936" y="12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0" name="Line 26"/>
            <p:cNvSpPr>
              <a:spLocks noChangeShapeType="1"/>
            </p:cNvSpPr>
            <p:nvPr/>
          </p:nvSpPr>
          <p:spPr bwMode="auto">
            <a:xfrm>
              <a:off x="3648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1" name="Text Box 28"/>
            <p:cNvSpPr txBox="1">
              <a:spLocks noChangeArrowheads="1"/>
            </p:cNvSpPr>
            <p:nvPr/>
          </p:nvSpPr>
          <p:spPr bwMode="auto">
            <a:xfrm>
              <a:off x="3840" y="1104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1762" name="Text Box 29"/>
            <p:cNvSpPr txBox="1">
              <a:spLocks noChangeArrowheads="1"/>
            </p:cNvSpPr>
            <p:nvPr/>
          </p:nvSpPr>
          <p:spPr bwMode="auto">
            <a:xfrm>
              <a:off x="3552" y="1392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1763" name="Text Box 30"/>
            <p:cNvSpPr txBox="1">
              <a:spLocks noChangeArrowheads="1"/>
            </p:cNvSpPr>
            <p:nvPr/>
          </p:nvSpPr>
          <p:spPr bwMode="auto">
            <a:xfrm>
              <a:off x="3840" y="1392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solidFill>
                    <a:schemeClr val="accent2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1764" name="Text Box 34"/>
            <p:cNvSpPr txBox="1">
              <a:spLocks noChangeArrowheads="1"/>
            </p:cNvSpPr>
            <p:nvPr/>
          </p:nvSpPr>
          <p:spPr bwMode="auto">
            <a:xfrm>
              <a:off x="3552" y="1680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1765" name="Line 42"/>
            <p:cNvSpPr>
              <a:spLocks noChangeShapeType="1"/>
            </p:cNvSpPr>
            <p:nvPr/>
          </p:nvSpPr>
          <p:spPr bwMode="auto">
            <a:xfrm>
              <a:off x="3984" y="19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6" name="Text Box 44"/>
            <p:cNvSpPr txBox="1">
              <a:spLocks noChangeArrowheads="1"/>
            </p:cNvSpPr>
            <p:nvPr/>
          </p:nvSpPr>
          <p:spPr bwMode="auto">
            <a:xfrm>
              <a:off x="3888" y="1728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1767" name="Line 48"/>
            <p:cNvSpPr>
              <a:spLocks noChangeShapeType="1"/>
            </p:cNvSpPr>
            <p:nvPr/>
          </p:nvSpPr>
          <p:spPr bwMode="auto">
            <a:xfrm>
              <a:off x="4272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8" name="Text Box 49"/>
            <p:cNvSpPr txBox="1">
              <a:spLocks noChangeArrowheads="1"/>
            </p:cNvSpPr>
            <p:nvPr/>
          </p:nvSpPr>
          <p:spPr bwMode="auto">
            <a:xfrm>
              <a:off x="4128" y="1392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1769" name="Line 50"/>
            <p:cNvSpPr>
              <a:spLocks noChangeShapeType="1"/>
            </p:cNvSpPr>
            <p:nvPr/>
          </p:nvSpPr>
          <p:spPr bwMode="auto">
            <a:xfrm flipH="1">
              <a:off x="3984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0" name="Line 51"/>
            <p:cNvSpPr>
              <a:spLocks noChangeShapeType="1"/>
            </p:cNvSpPr>
            <p:nvPr/>
          </p:nvSpPr>
          <p:spPr bwMode="auto">
            <a:xfrm>
              <a:off x="4224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1" name="Text Box 52"/>
            <p:cNvSpPr txBox="1">
              <a:spLocks noChangeArrowheads="1"/>
            </p:cNvSpPr>
            <p:nvPr/>
          </p:nvSpPr>
          <p:spPr bwMode="auto">
            <a:xfrm>
              <a:off x="4128" y="168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600">
                  <a:solidFill>
                    <a:schemeClr val="accent2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31772" name="Text Box 53"/>
            <p:cNvSpPr txBox="1">
              <a:spLocks noChangeArrowheads="1"/>
            </p:cNvSpPr>
            <p:nvPr/>
          </p:nvSpPr>
          <p:spPr bwMode="auto">
            <a:xfrm>
              <a:off x="4416" y="1728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1773" name="Line 54"/>
            <p:cNvSpPr>
              <a:spLocks noChangeShapeType="1"/>
            </p:cNvSpPr>
            <p:nvPr/>
          </p:nvSpPr>
          <p:spPr bwMode="auto">
            <a:xfrm>
              <a:off x="4512" y="19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4" name="Text Box 70"/>
            <p:cNvSpPr txBox="1">
              <a:spLocks noChangeArrowheads="1"/>
            </p:cNvSpPr>
            <p:nvPr/>
          </p:nvSpPr>
          <p:spPr bwMode="auto">
            <a:xfrm>
              <a:off x="3888" y="2016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1775" name="Text Box 71"/>
            <p:cNvSpPr txBox="1">
              <a:spLocks noChangeArrowheads="1"/>
            </p:cNvSpPr>
            <p:nvPr/>
          </p:nvSpPr>
          <p:spPr bwMode="auto">
            <a:xfrm>
              <a:off x="4416" y="2016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600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</p:grpSp>
      <p:sp>
        <p:nvSpPr>
          <p:cNvPr id="31755" name="Text Box 73"/>
          <p:cNvSpPr txBox="1">
            <a:spLocks noChangeArrowheads="1"/>
          </p:cNvSpPr>
          <p:nvPr/>
        </p:nvSpPr>
        <p:spPr bwMode="auto">
          <a:xfrm>
            <a:off x="2289175" y="6021388"/>
            <a:ext cx="3986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Fig. 4.4 two parse trees for id+id*id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9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69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6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69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6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6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D862DF-A6BB-4E8C-9FFC-9D49E7E5E2BD}" type="slidenum">
              <a:rPr lang="zh-CN" altLang="en-US" sz="800"/>
              <a:pPr/>
              <a:t>31</a:t>
            </a:fld>
            <a:endParaRPr lang="en-US" altLang="zh-CN" sz="8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Ambiguity (cont.)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For the most parsers, the grammar must be unambiguous.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unambiguous grammar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	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  unique selection of the parse tree for a sentence</a:t>
            </a:r>
          </a:p>
          <a:p>
            <a:pPr>
              <a:buFontTx/>
              <a:buNone/>
            </a:pPr>
            <a:endParaRPr lang="en-US" altLang="zh-CN" smtClean="0">
              <a:solidFill>
                <a:schemeClr val="accent2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We should eliminate the ambiguity in the grammar during the design phase of the compiler.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An ambiguous grammar should be written to eliminate the ambiguity.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We have to prefer one of the parse trees of a sentence (generated by an ambiguous grammar) to disambiguate that grammar to restrict to this choice by “throw away” undesirable parse trees.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1D4091-F91E-4FF5-A992-984039FC6D96}" type="slidenum">
              <a:rPr lang="zh-CN" altLang="en-US" sz="800"/>
              <a:pPr/>
              <a:t>32</a:t>
            </a:fld>
            <a:endParaRPr lang="en-US" altLang="zh-CN" sz="80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Ambiguity – Operator Precedence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964613" cy="343376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Ambiguous grammars (because of ambiguous operators) can be disambiguated according to the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precedence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and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associativity</a:t>
            </a:r>
            <a:r>
              <a:rPr lang="en-US" altLang="zh-CN" smtClean="0">
                <a:ea typeface="宋体" panose="02010600030101010101" pitchFamily="2" charset="-122"/>
              </a:rPr>
              <a:t> rules.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^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|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    disambiguate the grammar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precedence:  	^   (right to left)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*   (left to right)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+   (left to right)</a:t>
            </a:r>
          </a:p>
        </p:txBody>
      </p:sp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1066800" y="3200400"/>
            <a:ext cx="573088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4800">
                <a:ea typeface="宋体" panose="02010600030101010101" pitchFamily="2" charset="-122"/>
                <a:sym typeface="Symbol" panose="05050102010706020507" pitchFamily="18" charset="2"/>
              </a:rPr>
              <a:t></a:t>
            </a:r>
            <a:endParaRPr lang="zh-CN" altLang="en-US" sz="4800">
              <a:ea typeface="宋体" panose="02010600030101010101" pitchFamily="2" charset="-122"/>
            </a:endParaRPr>
          </a:p>
        </p:txBody>
      </p:sp>
      <p:sp>
        <p:nvSpPr>
          <p:cNvPr id="273414" name="Line 6"/>
          <p:cNvSpPr>
            <a:spLocks noChangeShapeType="1"/>
          </p:cNvSpPr>
          <p:nvPr/>
        </p:nvSpPr>
        <p:spPr bwMode="auto">
          <a:xfrm flipV="1">
            <a:off x="3944938" y="3429000"/>
            <a:ext cx="0" cy="863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3415" name="Rectangle 7"/>
          <p:cNvSpPr>
            <a:spLocks noChangeArrowheads="1"/>
          </p:cNvSpPr>
          <p:nvPr/>
        </p:nvSpPr>
        <p:spPr bwMode="auto">
          <a:xfrm>
            <a:off x="704850" y="4437063"/>
            <a:ext cx="2376488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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  |  T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  T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  |  F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  G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^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  |  G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G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|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27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27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/>
      <p:bldP spid="2734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4819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508F1F1-735A-48BA-ACC3-5C9596F8BEB5}" type="slidenum">
              <a:rPr lang="zh-CN" altLang="en-US" sz="800"/>
              <a:pPr/>
              <a:t>33</a:t>
            </a:fld>
            <a:endParaRPr lang="en-US" altLang="zh-CN" sz="800"/>
          </a:p>
        </p:txBody>
      </p:sp>
      <p:sp>
        <p:nvSpPr>
          <p:cNvPr id="3482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Eliminating Ambiguity (P.174)</a:t>
            </a:r>
          </a:p>
        </p:txBody>
      </p:sp>
      <p:sp>
        <p:nvSpPr>
          <p:cNvPr id="34822" name="Text Box 1027"/>
          <p:cNvSpPr txBox="1">
            <a:spLocks noChangeArrowheads="1"/>
          </p:cNvSpPr>
          <p:nvPr/>
        </p:nvSpPr>
        <p:spPr bwMode="auto">
          <a:xfrm>
            <a:off x="1485900" y="1143000"/>
            <a:ext cx="800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Consider the following grammar segment:</a:t>
            </a:r>
          </a:p>
        </p:txBody>
      </p:sp>
      <p:sp>
        <p:nvSpPr>
          <p:cNvPr id="34823" name="Text Box 1028"/>
          <p:cNvSpPr txBox="1">
            <a:spLocks noChangeArrowheads="1"/>
          </p:cNvSpPr>
          <p:nvPr/>
        </p:nvSpPr>
        <p:spPr bwMode="auto">
          <a:xfrm>
            <a:off x="2559050" y="1600200"/>
            <a:ext cx="561340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stmt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         |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stmt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else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         |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other  (any other statement)</a:t>
            </a:r>
            <a:endParaRPr lang="en-US" altLang="zh-CN" b="1">
              <a:ea typeface="宋体" panose="02010600030101010101" pitchFamily="2" charset="-122"/>
            </a:endParaRPr>
          </a:p>
        </p:txBody>
      </p:sp>
      <p:sp>
        <p:nvSpPr>
          <p:cNvPr id="34824" name="Text Box 1029"/>
          <p:cNvSpPr txBox="1">
            <a:spLocks noChangeArrowheads="1"/>
          </p:cNvSpPr>
          <p:nvPr/>
        </p:nvSpPr>
        <p:spPr bwMode="auto">
          <a:xfrm>
            <a:off x="1568450" y="2971800"/>
            <a:ext cx="800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What’s problem here ?</a:t>
            </a:r>
          </a:p>
        </p:txBody>
      </p:sp>
      <p:sp>
        <p:nvSpPr>
          <p:cNvPr id="34825" name="Text Box 1030"/>
          <p:cNvSpPr txBox="1">
            <a:spLocks noChangeArrowheads="1"/>
          </p:cNvSpPr>
          <p:nvPr/>
        </p:nvSpPr>
        <p:spPr bwMode="auto">
          <a:xfrm>
            <a:off x="1733550" y="3581400"/>
            <a:ext cx="4787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Let’s consider a simple parse tree:</a:t>
            </a:r>
          </a:p>
        </p:txBody>
      </p:sp>
      <p:grpSp>
        <p:nvGrpSpPr>
          <p:cNvPr id="327687" name="Group 1031"/>
          <p:cNvGrpSpPr>
            <a:grpSpLocks/>
          </p:cNvGrpSpPr>
          <p:nvPr/>
        </p:nvGrpSpPr>
        <p:grpSpPr bwMode="auto">
          <a:xfrm>
            <a:off x="990600" y="4191000"/>
            <a:ext cx="8667750" cy="2073275"/>
            <a:chOff x="576" y="2640"/>
            <a:chExt cx="5040" cy="1306"/>
          </a:xfrm>
        </p:grpSpPr>
        <p:grpSp>
          <p:nvGrpSpPr>
            <p:cNvPr id="34828" name="Group 1032"/>
            <p:cNvGrpSpPr>
              <a:grpSpLocks/>
            </p:cNvGrpSpPr>
            <p:nvPr/>
          </p:nvGrpSpPr>
          <p:grpSpPr bwMode="auto">
            <a:xfrm>
              <a:off x="576" y="2640"/>
              <a:ext cx="5040" cy="1306"/>
              <a:chOff x="720" y="2640"/>
              <a:chExt cx="5040" cy="1306"/>
            </a:xfrm>
          </p:grpSpPr>
          <p:sp>
            <p:nvSpPr>
              <p:cNvPr id="34841" name="Text Box 1033"/>
              <p:cNvSpPr txBox="1">
                <a:spLocks noChangeArrowheads="1"/>
              </p:cNvSpPr>
              <p:nvPr/>
            </p:nvSpPr>
            <p:spPr bwMode="auto">
              <a:xfrm>
                <a:off x="3792" y="2976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stmt</a:t>
                </a:r>
              </a:p>
            </p:txBody>
          </p:sp>
          <p:sp>
            <p:nvSpPr>
              <p:cNvPr id="34842" name="Text Box 103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stmt</a:t>
                </a:r>
              </a:p>
            </p:txBody>
          </p:sp>
          <p:sp>
            <p:nvSpPr>
              <p:cNvPr id="34843" name="Text Box 1035"/>
              <p:cNvSpPr txBox="1">
                <a:spLocks noChangeArrowheads="1"/>
              </p:cNvSpPr>
              <p:nvPr/>
            </p:nvSpPr>
            <p:spPr bwMode="auto">
              <a:xfrm>
                <a:off x="2448" y="2976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stmt</a:t>
                </a:r>
              </a:p>
            </p:txBody>
          </p:sp>
          <p:sp>
            <p:nvSpPr>
              <p:cNvPr id="34844" name="Text Box 1036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expr</a:t>
                </a:r>
              </a:p>
            </p:txBody>
          </p:sp>
          <p:sp>
            <p:nvSpPr>
              <p:cNvPr id="34845" name="Text Box 1037"/>
              <p:cNvSpPr txBox="1">
                <a:spLocks noChangeArrowheads="1"/>
              </p:cNvSpPr>
              <p:nvPr/>
            </p:nvSpPr>
            <p:spPr bwMode="auto">
              <a:xfrm>
                <a:off x="3600" y="3360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expr</a:t>
                </a:r>
              </a:p>
            </p:txBody>
          </p:sp>
          <p:grpSp>
            <p:nvGrpSpPr>
              <p:cNvPr id="34846" name="Group 1038"/>
              <p:cNvGrpSpPr>
                <a:grpSpLocks/>
              </p:cNvGrpSpPr>
              <p:nvPr/>
            </p:nvGrpSpPr>
            <p:grpSpPr bwMode="auto">
              <a:xfrm>
                <a:off x="1248" y="3168"/>
                <a:ext cx="528" cy="394"/>
                <a:chOff x="3504" y="3456"/>
                <a:chExt cx="528" cy="394"/>
              </a:xfrm>
            </p:grpSpPr>
            <p:sp>
              <p:nvSpPr>
                <p:cNvPr id="34875" name="Line 1039"/>
                <p:cNvSpPr>
                  <a:spLocks noChangeShapeType="1"/>
                </p:cNvSpPr>
                <p:nvPr/>
              </p:nvSpPr>
              <p:spPr bwMode="auto">
                <a:xfrm flipH="1">
                  <a:off x="3504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6" name="Line 1040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7" name="Line 1041"/>
                <p:cNvSpPr>
                  <a:spLocks noChangeShapeType="1"/>
                </p:cNvSpPr>
                <p:nvPr/>
              </p:nvSpPr>
              <p:spPr bwMode="auto">
                <a:xfrm>
                  <a:off x="3504" y="3648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8" name="Text Box 1042"/>
                <p:cNvSpPr txBox="1">
                  <a:spLocks noChangeArrowheads="1"/>
                </p:cNvSpPr>
                <p:nvPr/>
              </p:nvSpPr>
              <p:spPr bwMode="auto">
                <a:xfrm>
                  <a:off x="3648" y="360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  <a:r>
                    <a:rPr lang="en-US" altLang="zh-CN" sz="2000" b="1" baseline="-25000">
                      <a:ea typeface="宋体" panose="02010600030101010101" pitchFamily="2" charset="-122"/>
                    </a:rPr>
                    <a:t>1</a:t>
                  </a:r>
                  <a:endParaRPr lang="en-US" altLang="zh-CN" sz="2000" b="1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847" name="Group 1043"/>
              <p:cNvGrpSpPr>
                <a:grpSpLocks/>
              </p:cNvGrpSpPr>
              <p:nvPr/>
            </p:nvGrpSpPr>
            <p:grpSpPr bwMode="auto">
              <a:xfrm>
                <a:off x="3504" y="3552"/>
                <a:ext cx="528" cy="394"/>
                <a:chOff x="3504" y="3456"/>
                <a:chExt cx="528" cy="394"/>
              </a:xfrm>
            </p:grpSpPr>
            <p:sp>
              <p:nvSpPr>
                <p:cNvPr id="34871" name="Line 1044"/>
                <p:cNvSpPr>
                  <a:spLocks noChangeShapeType="1"/>
                </p:cNvSpPr>
                <p:nvPr/>
              </p:nvSpPr>
              <p:spPr bwMode="auto">
                <a:xfrm flipH="1">
                  <a:off x="3504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2" name="Line 1045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3" name="Line 1046"/>
                <p:cNvSpPr>
                  <a:spLocks noChangeShapeType="1"/>
                </p:cNvSpPr>
                <p:nvPr/>
              </p:nvSpPr>
              <p:spPr bwMode="auto">
                <a:xfrm>
                  <a:off x="3504" y="3648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4" name="Text Box 1047"/>
                <p:cNvSpPr txBox="1">
                  <a:spLocks noChangeArrowheads="1"/>
                </p:cNvSpPr>
                <p:nvPr/>
              </p:nvSpPr>
              <p:spPr bwMode="auto">
                <a:xfrm>
                  <a:off x="3648" y="360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  <a:r>
                    <a:rPr lang="en-US" altLang="zh-CN" sz="2000" b="1" baseline="-25000">
                      <a:ea typeface="宋体" panose="02010600030101010101" pitchFamily="2" charset="-122"/>
                    </a:rPr>
                    <a:t>2</a:t>
                  </a:r>
                  <a:endParaRPr lang="en-US" altLang="zh-CN" sz="2000" b="1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848" name="Group 1048"/>
              <p:cNvGrpSpPr>
                <a:grpSpLocks/>
              </p:cNvGrpSpPr>
              <p:nvPr/>
            </p:nvGrpSpPr>
            <p:grpSpPr bwMode="auto">
              <a:xfrm>
                <a:off x="5232" y="3504"/>
                <a:ext cx="528" cy="394"/>
                <a:chOff x="3504" y="3456"/>
                <a:chExt cx="528" cy="394"/>
              </a:xfrm>
            </p:grpSpPr>
            <p:sp>
              <p:nvSpPr>
                <p:cNvPr id="34867" name="Line 1049"/>
                <p:cNvSpPr>
                  <a:spLocks noChangeShapeType="1"/>
                </p:cNvSpPr>
                <p:nvPr/>
              </p:nvSpPr>
              <p:spPr bwMode="auto">
                <a:xfrm flipH="1">
                  <a:off x="3504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8" name="Line 1050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9" name="Line 1051"/>
                <p:cNvSpPr>
                  <a:spLocks noChangeShapeType="1"/>
                </p:cNvSpPr>
                <p:nvPr/>
              </p:nvSpPr>
              <p:spPr bwMode="auto">
                <a:xfrm>
                  <a:off x="3504" y="3648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0" name="Text Box 1052"/>
                <p:cNvSpPr txBox="1">
                  <a:spLocks noChangeArrowheads="1"/>
                </p:cNvSpPr>
                <p:nvPr/>
              </p:nvSpPr>
              <p:spPr bwMode="auto">
                <a:xfrm>
                  <a:off x="3648" y="360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S</a:t>
                  </a:r>
                  <a:r>
                    <a:rPr lang="en-US" altLang="zh-CN" sz="2000" b="1" baseline="-25000">
                      <a:ea typeface="宋体" panose="02010600030101010101" pitchFamily="2" charset="-122"/>
                    </a:rPr>
                    <a:t>3</a:t>
                  </a:r>
                  <a:endParaRPr lang="en-US" altLang="zh-CN" sz="2000" b="1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849" name="Group 1053"/>
              <p:cNvGrpSpPr>
                <a:grpSpLocks/>
              </p:cNvGrpSpPr>
              <p:nvPr/>
            </p:nvGrpSpPr>
            <p:grpSpPr bwMode="auto">
              <a:xfrm>
                <a:off x="2352" y="3168"/>
                <a:ext cx="528" cy="394"/>
                <a:chOff x="3504" y="3456"/>
                <a:chExt cx="528" cy="394"/>
              </a:xfrm>
            </p:grpSpPr>
            <p:sp>
              <p:nvSpPr>
                <p:cNvPr id="34863" name="Line 1054"/>
                <p:cNvSpPr>
                  <a:spLocks noChangeShapeType="1"/>
                </p:cNvSpPr>
                <p:nvPr/>
              </p:nvSpPr>
              <p:spPr bwMode="auto">
                <a:xfrm flipH="1">
                  <a:off x="3504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4" name="Line 1055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5" name="Line 1056"/>
                <p:cNvSpPr>
                  <a:spLocks noChangeShapeType="1"/>
                </p:cNvSpPr>
                <p:nvPr/>
              </p:nvSpPr>
              <p:spPr bwMode="auto">
                <a:xfrm>
                  <a:off x="3504" y="3648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6" name="Text Box 1057"/>
                <p:cNvSpPr txBox="1">
                  <a:spLocks noChangeArrowheads="1"/>
                </p:cNvSpPr>
                <p:nvPr/>
              </p:nvSpPr>
              <p:spPr bwMode="auto">
                <a:xfrm>
                  <a:off x="3648" y="360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S</a:t>
                  </a:r>
                  <a:r>
                    <a:rPr lang="en-US" altLang="zh-CN" sz="2000" b="1" baseline="-25000">
                      <a:ea typeface="宋体" panose="02010600030101010101" pitchFamily="2" charset="-122"/>
                    </a:rPr>
                    <a:t>1</a:t>
                  </a:r>
                  <a:endParaRPr lang="en-US" altLang="zh-CN" sz="2000" b="1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850" name="Group 1058"/>
              <p:cNvGrpSpPr>
                <a:grpSpLocks/>
              </p:cNvGrpSpPr>
              <p:nvPr/>
            </p:nvGrpSpPr>
            <p:grpSpPr bwMode="auto">
              <a:xfrm>
                <a:off x="4464" y="3504"/>
                <a:ext cx="528" cy="394"/>
                <a:chOff x="3504" y="3456"/>
                <a:chExt cx="528" cy="394"/>
              </a:xfrm>
            </p:grpSpPr>
            <p:sp>
              <p:nvSpPr>
                <p:cNvPr id="34859" name="Line 1059"/>
                <p:cNvSpPr>
                  <a:spLocks noChangeShapeType="1"/>
                </p:cNvSpPr>
                <p:nvPr/>
              </p:nvSpPr>
              <p:spPr bwMode="auto">
                <a:xfrm flipH="1">
                  <a:off x="3504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0" name="Line 1060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1" name="Line 1061"/>
                <p:cNvSpPr>
                  <a:spLocks noChangeShapeType="1"/>
                </p:cNvSpPr>
                <p:nvPr/>
              </p:nvSpPr>
              <p:spPr bwMode="auto">
                <a:xfrm>
                  <a:off x="3504" y="3648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2" name="Text Box 1062"/>
                <p:cNvSpPr txBox="1">
                  <a:spLocks noChangeArrowheads="1"/>
                </p:cNvSpPr>
                <p:nvPr/>
              </p:nvSpPr>
              <p:spPr bwMode="auto">
                <a:xfrm>
                  <a:off x="3648" y="360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S</a:t>
                  </a:r>
                  <a:r>
                    <a:rPr lang="en-US" altLang="zh-CN" sz="2000" b="1" baseline="-25000">
                      <a:ea typeface="宋体" panose="02010600030101010101" pitchFamily="2" charset="-122"/>
                    </a:rPr>
                    <a:t>2</a:t>
                  </a:r>
                  <a:endParaRPr lang="en-US" altLang="zh-CN" sz="2000" b="1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4851" name="Text Box 1063"/>
              <p:cNvSpPr txBox="1">
                <a:spLocks noChangeArrowheads="1"/>
              </p:cNvSpPr>
              <p:nvPr/>
            </p:nvSpPr>
            <p:spPr bwMode="auto">
              <a:xfrm>
                <a:off x="1920" y="2976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then</a:t>
                </a:r>
              </a:p>
            </p:txBody>
          </p:sp>
          <p:sp>
            <p:nvSpPr>
              <p:cNvPr id="34852" name="Text Box 1064"/>
              <p:cNvSpPr txBox="1">
                <a:spLocks noChangeArrowheads="1"/>
              </p:cNvSpPr>
              <p:nvPr/>
            </p:nvSpPr>
            <p:spPr bwMode="auto">
              <a:xfrm>
                <a:off x="4080" y="3360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then</a:t>
                </a:r>
              </a:p>
            </p:txBody>
          </p:sp>
          <p:sp>
            <p:nvSpPr>
              <p:cNvPr id="34853" name="Text Box 1065"/>
              <p:cNvSpPr txBox="1">
                <a:spLocks noChangeArrowheads="1"/>
              </p:cNvSpPr>
              <p:nvPr/>
            </p:nvSpPr>
            <p:spPr bwMode="auto">
              <a:xfrm>
                <a:off x="3120" y="2976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else</a:t>
                </a:r>
              </a:p>
            </p:txBody>
          </p:sp>
          <p:sp>
            <p:nvSpPr>
              <p:cNvPr id="34854" name="Text Box 1066"/>
              <p:cNvSpPr txBox="1">
                <a:spLocks noChangeArrowheads="1"/>
              </p:cNvSpPr>
              <p:nvPr/>
            </p:nvSpPr>
            <p:spPr bwMode="auto">
              <a:xfrm>
                <a:off x="4944" y="3312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else</a:t>
                </a:r>
              </a:p>
            </p:txBody>
          </p:sp>
          <p:sp>
            <p:nvSpPr>
              <p:cNvPr id="34855" name="Text Box 1067"/>
              <p:cNvSpPr txBox="1">
                <a:spLocks noChangeArrowheads="1"/>
              </p:cNvSpPr>
              <p:nvPr/>
            </p:nvSpPr>
            <p:spPr bwMode="auto">
              <a:xfrm>
                <a:off x="720" y="2976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if</a:t>
                </a:r>
              </a:p>
            </p:txBody>
          </p:sp>
          <p:sp>
            <p:nvSpPr>
              <p:cNvPr id="34856" name="Text Box 1068"/>
              <p:cNvSpPr txBox="1">
                <a:spLocks noChangeArrowheads="1"/>
              </p:cNvSpPr>
              <p:nvPr/>
            </p:nvSpPr>
            <p:spPr bwMode="auto">
              <a:xfrm>
                <a:off x="3120" y="3408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if</a:t>
                </a:r>
              </a:p>
            </p:txBody>
          </p:sp>
          <p:sp>
            <p:nvSpPr>
              <p:cNvPr id="34857" name="Text Box 1069"/>
              <p:cNvSpPr txBox="1">
                <a:spLocks noChangeArrowheads="1"/>
              </p:cNvSpPr>
              <p:nvPr/>
            </p:nvSpPr>
            <p:spPr bwMode="auto">
              <a:xfrm>
                <a:off x="4560" y="3312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stmt</a:t>
                </a:r>
              </a:p>
            </p:txBody>
          </p:sp>
          <p:sp>
            <p:nvSpPr>
              <p:cNvPr id="34858" name="Text Box 1070"/>
              <p:cNvSpPr txBox="1">
                <a:spLocks noChangeArrowheads="1"/>
              </p:cNvSpPr>
              <p:nvPr/>
            </p:nvSpPr>
            <p:spPr bwMode="auto">
              <a:xfrm>
                <a:off x="5328" y="3312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stmt</a:t>
                </a:r>
              </a:p>
            </p:txBody>
          </p:sp>
        </p:grpSp>
        <p:sp>
          <p:nvSpPr>
            <p:cNvPr id="34829" name="Line 1071"/>
            <p:cNvSpPr>
              <a:spLocks noChangeShapeType="1"/>
            </p:cNvSpPr>
            <p:nvPr/>
          </p:nvSpPr>
          <p:spPr bwMode="auto">
            <a:xfrm flipH="1">
              <a:off x="912" y="2784"/>
              <a:ext cx="432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Line 1072"/>
            <p:cNvSpPr>
              <a:spLocks noChangeShapeType="1"/>
            </p:cNvSpPr>
            <p:nvPr/>
          </p:nvSpPr>
          <p:spPr bwMode="auto">
            <a:xfrm flipH="1">
              <a:off x="1440" y="2880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Line 1073"/>
            <p:cNvSpPr>
              <a:spLocks noChangeShapeType="1"/>
            </p:cNvSpPr>
            <p:nvPr/>
          </p:nvSpPr>
          <p:spPr bwMode="auto">
            <a:xfrm flipH="1" flipV="1">
              <a:off x="1776" y="2736"/>
              <a:ext cx="187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Line 1074"/>
            <p:cNvSpPr>
              <a:spLocks noChangeShapeType="1"/>
            </p:cNvSpPr>
            <p:nvPr/>
          </p:nvSpPr>
          <p:spPr bwMode="auto">
            <a:xfrm flipH="1" flipV="1">
              <a:off x="3840" y="3216"/>
              <a:ext cx="14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3" name="Line 1075"/>
            <p:cNvSpPr>
              <a:spLocks noChangeShapeType="1"/>
            </p:cNvSpPr>
            <p:nvPr/>
          </p:nvSpPr>
          <p:spPr bwMode="auto">
            <a:xfrm flipH="1" flipV="1">
              <a:off x="3936" y="3168"/>
              <a:ext cx="86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4" name="Line 1076"/>
            <p:cNvSpPr>
              <a:spLocks noChangeShapeType="1"/>
            </p:cNvSpPr>
            <p:nvPr/>
          </p:nvSpPr>
          <p:spPr bwMode="auto">
            <a:xfrm>
              <a:off x="1632" y="2880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Line 1077"/>
            <p:cNvSpPr>
              <a:spLocks noChangeShapeType="1"/>
            </p:cNvSpPr>
            <p:nvPr/>
          </p:nvSpPr>
          <p:spPr bwMode="auto">
            <a:xfrm flipH="1" flipV="1">
              <a:off x="1728" y="2832"/>
              <a:ext cx="576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6" name="Line 1078"/>
            <p:cNvSpPr>
              <a:spLocks noChangeShapeType="1"/>
            </p:cNvSpPr>
            <p:nvPr/>
          </p:nvSpPr>
          <p:spPr bwMode="auto">
            <a:xfrm flipH="1">
              <a:off x="3264" y="3168"/>
              <a:ext cx="432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7" name="Line 1079"/>
            <p:cNvSpPr>
              <a:spLocks noChangeShapeType="1"/>
            </p:cNvSpPr>
            <p:nvPr/>
          </p:nvSpPr>
          <p:spPr bwMode="auto">
            <a:xfrm flipH="1">
              <a:off x="3648" y="3216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Line 1080"/>
            <p:cNvSpPr>
              <a:spLocks noChangeShapeType="1"/>
            </p:cNvSpPr>
            <p:nvPr/>
          </p:nvSpPr>
          <p:spPr bwMode="auto">
            <a:xfrm flipH="1" flipV="1">
              <a:off x="3984" y="3072"/>
              <a:ext cx="115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Line 1081"/>
            <p:cNvSpPr>
              <a:spLocks noChangeShapeType="1"/>
            </p:cNvSpPr>
            <p:nvPr/>
          </p:nvSpPr>
          <p:spPr bwMode="auto">
            <a:xfrm flipH="1" flipV="1">
              <a:off x="1776" y="2784"/>
              <a:ext cx="120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Line 1082"/>
            <p:cNvSpPr>
              <a:spLocks noChangeShapeType="1"/>
            </p:cNvSpPr>
            <p:nvPr/>
          </p:nvSpPr>
          <p:spPr bwMode="auto">
            <a:xfrm flipH="1" flipV="1">
              <a:off x="3888" y="3216"/>
              <a:ext cx="528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27" name="Text Box 1083"/>
          <p:cNvSpPr txBox="1">
            <a:spLocks noChangeArrowheads="1"/>
          </p:cNvSpPr>
          <p:nvPr/>
        </p:nvSpPr>
        <p:spPr bwMode="auto">
          <a:xfrm>
            <a:off x="1320800" y="5638800"/>
            <a:ext cx="38798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</a:rPr>
              <a:t>Else </a:t>
            </a:r>
            <a:r>
              <a:rPr lang="en-US" altLang="zh-CN" sz="2000" b="1" u="sng">
                <a:solidFill>
                  <a:srgbClr val="FF3300"/>
                </a:solidFill>
                <a:ea typeface="宋体" panose="02010600030101010101" pitchFamily="2" charset="-122"/>
              </a:rPr>
              <a:t>must</a:t>
            </a: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</a:rPr>
              <a:t> match to previous then.  Structure indicates parse subtree for expression.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5843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584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5EBAE4-8A9A-4F75-8003-B686AE106A7E}" type="slidenum">
              <a:rPr lang="zh-CN" altLang="en-US" sz="800"/>
              <a:pPr/>
              <a:t>34</a:t>
            </a:fld>
            <a:endParaRPr lang="en-US" altLang="zh-CN" sz="80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 :  What Happens with this string?</a:t>
            </a:r>
          </a:p>
        </p:txBody>
      </p:sp>
      <p:sp>
        <p:nvSpPr>
          <p:cNvPr id="35846" name="Text Box 3"/>
          <p:cNvSpPr txBox="1">
            <a:spLocks noChangeArrowheads="1"/>
          </p:cNvSpPr>
          <p:nvPr/>
        </p:nvSpPr>
        <p:spPr bwMode="auto">
          <a:xfrm>
            <a:off x="1485900" y="1295400"/>
            <a:ext cx="656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if </a:t>
            </a:r>
            <a:r>
              <a:rPr lang="en-US" altLang="zh-CN" b="1"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ea typeface="宋体" panose="02010600030101010101" pitchFamily="2" charset="-122"/>
              </a:rPr>
              <a:t>1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then  if </a:t>
            </a:r>
            <a:r>
              <a:rPr lang="en-US" altLang="zh-CN" b="1"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ea typeface="宋体" panose="02010600030101010101" pitchFamily="2" charset="-122"/>
              </a:rPr>
              <a:t>2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then </a:t>
            </a:r>
            <a:r>
              <a:rPr lang="en-US" altLang="zh-CN" b="1">
                <a:ea typeface="宋体" panose="02010600030101010101" pitchFamily="2" charset="-122"/>
              </a:rPr>
              <a:t>S</a:t>
            </a:r>
            <a:r>
              <a:rPr lang="en-US" altLang="zh-CN" b="1" baseline="-25000">
                <a:ea typeface="宋体" panose="02010600030101010101" pitchFamily="2" charset="-122"/>
              </a:rPr>
              <a:t>1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else </a:t>
            </a:r>
            <a:r>
              <a:rPr lang="en-US" altLang="zh-CN" b="1">
                <a:ea typeface="宋体" panose="02010600030101010101" pitchFamily="2" charset="-122"/>
              </a:rPr>
              <a:t>S</a:t>
            </a:r>
            <a:r>
              <a:rPr lang="en-US" altLang="zh-CN" b="1" baseline="-25000">
                <a:ea typeface="宋体" panose="02010600030101010101" pitchFamily="2" charset="-122"/>
              </a:rPr>
              <a:t>2</a:t>
            </a:r>
            <a:endParaRPr lang="en-US" altLang="zh-CN" b="1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5847" name="Text Box 4"/>
          <p:cNvSpPr txBox="1">
            <a:spLocks noChangeArrowheads="1"/>
          </p:cNvSpPr>
          <p:nvPr/>
        </p:nvSpPr>
        <p:spPr bwMode="auto">
          <a:xfrm>
            <a:off x="1403350" y="2057400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How is this parsed ?</a:t>
            </a:r>
          </a:p>
        </p:txBody>
      </p:sp>
      <p:sp>
        <p:nvSpPr>
          <p:cNvPr id="329733" name="Text Box 5"/>
          <p:cNvSpPr txBox="1">
            <a:spLocks noChangeArrowheads="1"/>
          </p:cNvSpPr>
          <p:nvPr/>
        </p:nvSpPr>
        <p:spPr bwMode="auto">
          <a:xfrm>
            <a:off x="5889625" y="2924175"/>
            <a:ext cx="28067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if  </a:t>
            </a:r>
            <a:r>
              <a:rPr lang="en-US" altLang="zh-CN" b="1"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ea typeface="宋体" panose="02010600030101010101" pitchFamily="2" charset="-122"/>
              </a:rPr>
              <a:t>1</a:t>
            </a:r>
            <a:r>
              <a:rPr lang="en-US" altLang="zh-CN" b="1">
                <a:ea typeface="宋体" panose="02010600030101010101" pitchFamily="2" charset="-122"/>
              </a:rPr>
              <a:t>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then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if  </a:t>
            </a:r>
            <a:r>
              <a:rPr lang="en-US" altLang="zh-CN" b="1"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ea typeface="宋体" panose="02010600030101010101" pitchFamily="2" charset="-122"/>
              </a:rPr>
              <a:t>2</a:t>
            </a:r>
            <a:r>
              <a:rPr lang="en-US" altLang="zh-CN" b="1">
                <a:ea typeface="宋体" panose="02010600030101010101" pitchFamily="2" charset="-122"/>
              </a:rPr>
              <a:t>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then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    </a:t>
            </a:r>
            <a:r>
              <a:rPr lang="en-US" altLang="zh-CN" b="1">
                <a:ea typeface="宋体" panose="02010600030101010101" pitchFamily="2" charset="-122"/>
              </a:rPr>
              <a:t>S</a:t>
            </a:r>
            <a:r>
              <a:rPr lang="en-US" altLang="zh-CN" b="1" baseline="-25000">
                <a:ea typeface="宋体" panose="02010600030101010101" pitchFamily="2" charset="-122"/>
              </a:rPr>
              <a:t>1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 baseline="-25000">
                <a:ea typeface="宋体" panose="02010600030101010101" pitchFamily="2" charset="-122"/>
              </a:rPr>
              <a:t>     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else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    </a:t>
            </a:r>
            <a:r>
              <a:rPr lang="en-US" altLang="zh-CN" b="1">
                <a:ea typeface="宋体" panose="02010600030101010101" pitchFamily="2" charset="-122"/>
              </a:rPr>
              <a:t>S</a:t>
            </a:r>
            <a:r>
              <a:rPr lang="en-US" altLang="zh-CN" b="1" baseline="-25000">
                <a:ea typeface="宋体" panose="02010600030101010101" pitchFamily="2" charset="-122"/>
              </a:rPr>
              <a:t>2</a:t>
            </a:r>
            <a:endParaRPr lang="en-US" altLang="zh-CN" b="1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29734" name="Text Box 6"/>
          <p:cNvSpPr txBox="1">
            <a:spLocks noChangeArrowheads="1"/>
          </p:cNvSpPr>
          <p:nvPr/>
        </p:nvSpPr>
        <p:spPr bwMode="auto">
          <a:xfrm>
            <a:off x="1497013" y="2924175"/>
            <a:ext cx="28067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if  </a:t>
            </a:r>
            <a:r>
              <a:rPr lang="en-US" altLang="zh-CN" b="1"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ea typeface="宋体" panose="02010600030101010101" pitchFamily="2" charset="-122"/>
              </a:rPr>
              <a:t>1</a:t>
            </a:r>
            <a:r>
              <a:rPr lang="en-US" altLang="zh-CN" b="1">
                <a:ea typeface="宋体" panose="02010600030101010101" pitchFamily="2" charset="-122"/>
              </a:rPr>
              <a:t>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then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if  </a:t>
            </a:r>
            <a:r>
              <a:rPr lang="en-US" altLang="zh-CN" b="1"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ea typeface="宋体" panose="02010600030101010101" pitchFamily="2" charset="-122"/>
              </a:rPr>
              <a:t>2</a:t>
            </a:r>
            <a:r>
              <a:rPr lang="en-US" altLang="zh-CN" b="1">
                <a:ea typeface="宋体" panose="02010600030101010101" pitchFamily="2" charset="-122"/>
              </a:rPr>
              <a:t>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then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    </a:t>
            </a:r>
            <a:r>
              <a:rPr lang="en-US" altLang="zh-CN" b="1">
                <a:ea typeface="宋体" panose="02010600030101010101" pitchFamily="2" charset="-122"/>
              </a:rPr>
              <a:t>S</a:t>
            </a:r>
            <a:r>
              <a:rPr lang="en-US" altLang="zh-CN" b="1" baseline="-25000">
                <a:ea typeface="宋体" panose="02010600030101010101" pitchFamily="2" charset="-122"/>
              </a:rPr>
              <a:t>1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else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    </a:t>
            </a:r>
            <a:r>
              <a:rPr lang="en-US" altLang="zh-CN" b="1">
                <a:ea typeface="宋体" panose="02010600030101010101" pitchFamily="2" charset="-122"/>
              </a:rPr>
              <a:t>S</a:t>
            </a:r>
            <a:r>
              <a:rPr lang="en-US" altLang="zh-CN" b="1" baseline="-25000">
                <a:ea typeface="宋体" panose="02010600030101010101" pitchFamily="2" charset="-122"/>
              </a:rPr>
              <a:t>2</a:t>
            </a:r>
            <a:endParaRPr lang="en-US" altLang="zh-CN" b="1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5850" name="Text Box 7"/>
          <p:cNvSpPr txBox="1">
            <a:spLocks noChangeArrowheads="1"/>
          </p:cNvSpPr>
          <p:nvPr/>
        </p:nvSpPr>
        <p:spPr bwMode="auto">
          <a:xfrm>
            <a:off x="4457700" y="34290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vs.</a:t>
            </a:r>
          </a:p>
        </p:txBody>
      </p:sp>
      <p:sp>
        <p:nvSpPr>
          <p:cNvPr id="35851" name="Text Box 8"/>
          <p:cNvSpPr txBox="1">
            <a:spLocks noChangeArrowheads="1"/>
          </p:cNvSpPr>
          <p:nvPr/>
        </p:nvSpPr>
        <p:spPr bwMode="auto">
          <a:xfrm>
            <a:off x="2806700" y="5334000"/>
            <a:ext cx="470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What’s the issue here ?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20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3" grpId="0"/>
      <p:bldP spid="3297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686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686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8BE2AB9-0B16-49F3-AFA2-6163C5E24981}" type="slidenum">
              <a:rPr lang="zh-CN" altLang="en-US" sz="800"/>
              <a:pPr/>
              <a:t>35</a:t>
            </a:fld>
            <a:endParaRPr lang="en-US" altLang="zh-CN" sz="80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Parse Trees for Example (P.175)</a:t>
            </a:r>
          </a:p>
        </p:txBody>
      </p:sp>
      <p:sp>
        <p:nvSpPr>
          <p:cNvPr id="36870" name="Text Box 3"/>
          <p:cNvSpPr txBox="1">
            <a:spLocks noChangeArrowheads="1"/>
          </p:cNvSpPr>
          <p:nvPr/>
        </p:nvSpPr>
        <p:spPr bwMode="auto">
          <a:xfrm>
            <a:off x="1403350" y="838200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Form 1:</a:t>
            </a:r>
          </a:p>
        </p:txBody>
      </p:sp>
      <p:grpSp>
        <p:nvGrpSpPr>
          <p:cNvPr id="331780" name="Group 4"/>
          <p:cNvGrpSpPr>
            <a:grpSpLocks/>
          </p:cNvGrpSpPr>
          <p:nvPr/>
        </p:nvGrpSpPr>
        <p:grpSpPr bwMode="auto">
          <a:xfrm>
            <a:off x="2865438" y="981075"/>
            <a:ext cx="6026150" cy="2073275"/>
            <a:chOff x="576" y="2640"/>
            <a:chExt cx="3504" cy="1306"/>
          </a:xfrm>
        </p:grpSpPr>
        <p:sp>
          <p:nvSpPr>
            <p:cNvPr id="36918" name="Text Box 5"/>
            <p:cNvSpPr txBox="1">
              <a:spLocks noChangeArrowheads="1"/>
            </p:cNvSpPr>
            <p:nvPr/>
          </p:nvSpPr>
          <p:spPr bwMode="auto">
            <a:xfrm>
              <a:off x="3648" y="297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stmt</a:t>
              </a:r>
            </a:p>
          </p:txBody>
        </p:sp>
        <p:sp>
          <p:nvSpPr>
            <p:cNvPr id="36919" name="Text Box 6"/>
            <p:cNvSpPr txBox="1">
              <a:spLocks noChangeArrowheads="1"/>
            </p:cNvSpPr>
            <p:nvPr/>
          </p:nvSpPr>
          <p:spPr bwMode="auto">
            <a:xfrm>
              <a:off x="1392" y="264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stmt</a:t>
              </a:r>
            </a:p>
          </p:txBody>
        </p:sp>
        <p:sp>
          <p:nvSpPr>
            <p:cNvPr id="36920" name="Text Box 7"/>
            <p:cNvSpPr txBox="1">
              <a:spLocks noChangeArrowheads="1"/>
            </p:cNvSpPr>
            <p:nvPr/>
          </p:nvSpPr>
          <p:spPr bwMode="auto">
            <a:xfrm>
              <a:off x="2304" y="297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stmt</a:t>
              </a:r>
            </a:p>
          </p:txBody>
        </p:sp>
        <p:sp>
          <p:nvSpPr>
            <p:cNvPr id="36921" name="Text Box 8"/>
            <p:cNvSpPr txBox="1">
              <a:spLocks noChangeArrowheads="1"/>
            </p:cNvSpPr>
            <p:nvPr/>
          </p:nvSpPr>
          <p:spPr bwMode="auto">
            <a:xfrm>
              <a:off x="1200" y="2928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expr</a:t>
              </a:r>
            </a:p>
          </p:txBody>
        </p:sp>
        <p:grpSp>
          <p:nvGrpSpPr>
            <p:cNvPr id="36922" name="Group 9"/>
            <p:cNvGrpSpPr>
              <a:grpSpLocks/>
            </p:cNvGrpSpPr>
            <p:nvPr/>
          </p:nvGrpSpPr>
          <p:grpSpPr bwMode="auto">
            <a:xfrm>
              <a:off x="1104" y="3168"/>
              <a:ext cx="528" cy="394"/>
              <a:chOff x="3504" y="3456"/>
              <a:chExt cx="528" cy="394"/>
            </a:xfrm>
          </p:grpSpPr>
          <p:sp>
            <p:nvSpPr>
              <p:cNvPr id="36955" name="Line 10"/>
              <p:cNvSpPr>
                <a:spLocks noChangeShapeType="1"/>
              </p:cNvSpPr>
              <p:nvPr/>
            </p:nvSpPr>
            <p:spPr bwMode="auto">
              <a:xfrm flipH="1">
                <a:off x="3504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6" name="Line 11"/>
              <p:cNvSpPr>
                <a:spLocks noChangeShapeType="1"/>
              </p:cNvSpPr>
              <p:nvPr/>
            </p:nvSpPr>
            <p:spPr bwMode="auto">
              <a:xfrm>
                <a:off x="3840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7" name="Line 12"/>
              <p:cNvSpPr>
                <a:spLocks noChangeShapeType="1"/>
              </p:cNvSpPr>
              <p:nvPr/>
            </p:nvSpPr>
            <p:spPr bwMode="auto">
              <a:xfrm>
                <a:off x="3504" y="364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8" name="Text Box 13"/>
              <p:cNvSpPr txBox="1">
                <a:spLocks noChangeArrowheads="1"/>
              </p:cNvSpPr>
              <p:nvPr/>
            </p:nvSpPr>
            <p:spPr bwMode="auto">
              <a:xfrm>
                <a:off x="3648" y="3600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  <a:r>
                  <a:rPr lang="en-US" altLang="zh-CN" sz="2000" b="1" baseline="-25000">
                    <a:ea typeface="宋体" panose="02010600030101010101" pitchFamily="2" charset="-122"/>
                  </a:rPr>
                  <a:t>1</a:t>
                </a:r>
                <a:endParaRPr lang="en-US" altLang="zh-CN" sz="2000" b="1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923" name="Group 14"/>
            <p:cNvGrpSpPr>
              <a:grpSpLocks/>
            </p:cNvGrpSpPr>
            <p:nvPr/>
          </p:nvGrpSpPr>
          <p:grpSpPr bwMode="auto">
            <a:xfrm>
              <a:off x="3552" y="3168"/>
              <a:ext cx="528" cy="394"/>
              <a:chOff x="3504" y="3456"/>
              <a:chExt cx="528" cy="394"/>
            </a:xfrm>
          </p:grpSpPr>
          <p:sp>
            <p:nvSpPr>
              <p:cNvPr id="36951" name="Line 15"/>
              <p:cNvSpPr>
                <a:spLocks noChangeShapeType="1"/>
              </p:cNvSpPr>
              <p:nvPr/>
            </p:nvSpPr>
            <p:spPr bwMode="auto">
              <a:xfrm flipH="1">
                <a:off x="3504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2" name="Line 16"/>
              <p:cNvSpPr>
                <a:spLocks noChangeShapeType="1"/>
              </p:cNvSpPr>
              <p:nvPr/>
            </p:nvSpPr>
            <p:spPr bwMode="auto">
              <a:xfrm>
                <a:off x="3840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3" name="Line 17"/>
              <p:cNvSpPr>
                <a:spLocks noChangeShapeType="1"/>
              </p:cNvSpPr>
              <p:nvPr/>
            </p:nvSpPr>
            <p:spPr bwMode="auto">
              <a:xfrm>
                <a:off x="3504" y="364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4" name="Text Box 18"/>
              <p:cNvSpPr txBox="1">
                <a:spLocks noChangeArrowheads="1"/>
              </p:cNvSpPr>
              <p:nvPr/>
            </p:nvSpPr>
            <p:spPr bwMode="auto">
              <a:xfrm>
                <a:off x="3648" y="3600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S</a:t>
                </a:r>
                <a:r>
                  <a:rPr lang="en-US" altLang="zh-CN" sz="2000" b="1" baseline="-25000">
                    <a:ea typeface="宋体" panose="02010600030101010101" pitchFamily="2" charset="-122"/>
                  </a:rPr>
                  <a:t>2</a:t>
                </a:r>
                <a:endParaRPr lang="en-US" altLang="zh-CN" sz="2000" b="1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6924" name="Text Box 19"/>
            <p:cNvSpPr txBox="1">
              <a:spLocks noChangeArrowheads="1"/>
            </p:cNvSpPr>
            <p:nvPr/>
          </p:nvSpPr>
          <p:spPr bwMode="auto">
            <a:xfrm>
              <a:off x="1776" y="2976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then</a:t>
              </a:r>
            </a:p>
          </p:txBody>
        </p:sp>
        <p:sp>
          <p:nvSpPr>
            <p:cNvPr id="36925" name="Text Box 20"/>
            <p:cNvSpPr txBox="1">
              <a:spLocks noChangeArrowheads="1"/>
            </p:cNvSpPr>
            <p:nvPr/>
          </p:nvSpPr>
          <p:spPr bwMode="auto">
            <a:xfrm>
              <a:off x="2976" y="2976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else</a:t>
              </a:r>
            </a:p>
          </p:txBody>
        </p:sp>
        <p:sp>
          <p:nvSpPr>
            <p:cNvPr id="36926" name="Text Box 21"/>
            <p:cNvSpPr txBox="1">
              <a:spLocks noChangeArrowheads="1"/>
            </p:cNvSpPr>
            <p:nvPr/>
          </p:nvSpPr>
          <p:spPr bwMode="auto">
            <a:xfrm>
              <a:off x="576" y="2976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if</a:t>
              </a:r>
            </a:p>
          </p:txBody>
        </p:sp>
        <p:sp>
          <p:nvSpPr>
            <p:cNvPr id="36927" name="Line 22"/>
            <p:cNvSpPr>
              <a:spLocks noChangeShapeType="1"/>
            </p:cNvSpPr>
            <p:nvPr/>
          </p:nvSpPr>
          <p:spPr bwMode="auto">
            <a:xfrm flipH="1">
              <a:off x="912" y="2784"/>
              <a:ext cx="432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8" name="Line 23"/>
            <p:cNvSpPr>
              <a:spLocks noChangeShapeType="1"/>
            </p:cNvSpPr>
            <p:nvPr/>
          </p:nvSpPr>
          <p:spPr bwMode="auto">
            <a:xfrm flipH="1">
              <a:off x="1440" y="2880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9" name="Line 24"/>
            <p:cNvSpPr>
              <a:spLocks noChangeShapeType="1"/>
            </p:cNvSpPr>
            <p:nvPr/>
          </p:nvSpPr>
          <p:spPr bwMode="auto">
            <a:xfrm flipH="1" flipV="1">
              <a:off x="1776" y="2736"/>
              <a:ext cx="187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0" name="Line 25"/>
            <p:cNvSpPr>
              <a:spLocks noChangeShapeType="1"/>
            </p:cNvSpPr>
            <p:nvPr/>
          </p:nvSpPr>
          <p:spPr bwMode="auto">
            <a:xfrm>
              <a:off x="1632" y="2880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1" name="Line 26"/>
            <p:cNvSpPr>
              <a:spLocks noChangeShapeType="1"/>
            </p:cNvSpPr>
            <p:nvPr/>
          </p:nvSpPr>
          <p:spPr bwMode="auto">
            <a:xfrm flipH="1" flipV="1">
              <a:off x="1728" y="2832"/>
              <a:ext cx="576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2" name="Line 27"/>
            <p:cNvSpPr>
              <a:spLocks noChangeShapeType="1"/>
            </p:cNvSpPr>
            <p:nvPr/>
          </p:nvSpPr>
          <p:spPr bwMode="auto">
            <a:xfrm flipH="1" flipV="1">
              <a:off x="1776" y="2784"/>
              <a:ext cx="120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3" name="Text Box 28"/>
            <p:cNvSpPr txBox="1">
              <a:spLocks noChangeArrowheads="1"/>
            </p:cNvSpPr>
            <p:nvPr/>
          </p:nvSpPr>
          <p:spPr bwMode="auto">
            <a:xfrm>
              <a:off x="2064" y="336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expr</a:t>
              </a:r>
            </a:p>
          </p:txBody>
        </p:sp>
        <p:grpSp>
          <p:nvGrpSpPr>
            <p:cNvPr id="36934" name="Group 29"/>
            <p:cNvGrpSpPr>
              <a:grpSpLocks/>
            </p:cNvGrpSpPr>
            <p:nvPr/>
          </p:nvGrpSpPr>
          <p:grpSpPr bwMode="auto">
            <a:xfrm>
              <a:off x="1968" y="3552"/>
              <a:ext cx="528" cy="394"/>
              <a:chOff x="3504" y="3456"/>
              <a:chExt cx="528" cy="394"/>
            </a:xfrm>
          </p:grpSpPr>
          <p:sp>
            <p:nvSpPr>
              <p:cNvPr id="36947" name="Line 30"/>
              <p:cNvSpPr>
                <a:spLocks noChangeShapeType="1"/>
              </p:cNvSpPr>
              <p:nvPr/>
            </p:nvSpPr>
            <p:spPr bwMode="auto">
              <a:xfrm flipH="1">
                <a:off x="3504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8" name="Line 31"/>
              <p:cNvSpPr>
                <a:spLocks noChangeShapeType="1"/>
              </p:cNvSpPr>
              <p:nvPr/>
            </p:nvSpPr>
            <p:spPr bwMode="auto">
              <a:xfrm>
                <a:off x="3840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9" name="Line 32"/>
              <p:cNvSpPr>
                <a:spLocks noChangeShapeType="1"/>
              </p:cNvSpPr>
              <p:nvPr/>
            </p:nvSpPr>
            <p:spPr bwMode="auto">
              <a:xfrm>
                <a:off x="3504" y="364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0" name="Text Box 33"/>
              <p:cNvSpPr txBox="1">
                <a:spLocks noChangeArrowheads="1"/>
              </p:cNvSpPr>
              <p:nvPr/>
            </p:nvSpPr>
            <p:spPr bwMode="auto">
              <a:xfrm>
                <a:off x="3648" y="3600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  <a:r>
                  <a:rPr lang="en-US" altLang="zh-CN" sz="2000" b="1" baseline="-25000">
                    <a:ea typeface="宋体" panose="02010600030101010101" pitchFamily="2" charset="-122"/>
                  </a:rPr>
                  <a:t>2</a:t>
                </a:r>
                <a:endParaRPr lang="en-US" altLang="zh-CN" sz="2000" b="1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935" name="Group 34"/>
            <p:cNvGrpSpPr>
              <a:grpSpLocks/>
            </p:cNvGrpSpPr>
            <p:nvPr/>
          </p:nvGrpSpPr>
          <p:grpSpPr bwMode="auto">
            <a:xfrm>
              <a:off x="2928" y="3504"/>
              <a:ext cx="528" cy="394"/>
              <a:chOff x="3504" y="3456"/>
              <a:chExt cx="528" cy="394"/>
            </a:xfrm>
          </p:grpSpPr>
          <p:sp>
            <p:nvSpPr>
              <p:cNvPr id="36943" name="Line 35"/>
              <p:cNvSpPr>
                <a:spLocks noChangeShapeType="1"/>
              </p:cNvSpPr>
              <p:nvPr/>
            </p:nvSpPr>
            <p:spPr bwMode="auto">
              <a:xfrm flipH="1">
                <a:off x="3504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4" name="Line 36"/>
              <p:cNvSpPr>
                <a:spLocks noChangeShapeType="1"/>
              </p:cNvSpPr>
              <p:nvPr/>
            </p:nvSpPr>
            <p:spPr bwMode="auto">
              <a:xfrm>
                <a:off x="3840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5" name="Line 37"/>
              <p:cNvSpPr>
                <a:spLocks noChangeShapeType="1"/>
              </p:cNvSpPr>
              <p:nvPr/>
            </p:nvSpPr>
            <p:spPr bwMode="auto">
              <a:xfrm>
                <a:off x="3504" y="364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6" name="Text Box 38"/>
              <p:cNvSpPr txBox="1">
                <a:spLocks noChangeArrowheads="1"/>
              </p:cNvSpPr>
              <p:nvPr/>
            </p:nvSpPr>
            <p:spPr bwMode="auto">
              <a:xfrm>
                <a:off x="3648" y="3600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S</a:t>
                </a:r>
                <a:r>
                  <a:rPr lang="en-US" altLang="zh-CN" sz="2000" b="1" baseline="-25000">
                    <a:ea typeface="宋体" panose="02010600030101010101" pitchFamily="2" charset="-122"/>
                  </a:rPr>
                  <a:t>1</a:t>
                </a:r>
                <a:endParaRPr lang="en-US" altLang="zh-CN" sz="2000" b="1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6936" name="Text Box 39"/>
            <p:cNvSpPr txBox="1">
              <a:spLocks noChangeArrowheads="1"/>
            </p:cNvSpPr>
            <p:nvPr/>
          </p:nvSpPr>
          <p:spPr bwMode="auto">
            <a:xfrm>
              <a:off x="2544" y="3360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then</a:t>
              </a:r>
            </a:p>
          </p:txBody>
        </p:sp>
        <p:sp>
          <p:nvSpPr>
            <p:cNvPr id="36937" name="Text Box 40"/>
            <p:cNvSpPr txBox="1">
              <a:spLocks noChangeArrowheads="1"/>
            </p:cNvSpPr>
            <p:nvPr/>
          </p:nvSpPr>
          <p:spPr bwMode="auto">
            <a:xfrm>
              <a:off x="1584" y="3408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if</a:t>
              </a:r>
            </a:p>
          </p:txBody>
        </p:sp>
        <p:sp>
          <p:nvSpPr>
            <p:cNvPr id="36938" name="Text Box 41"/>
            <p:cNvSpPr txBox="1">
              <a:spLocks noChangeArrowheads="1"/>
            </p:cNvSpPr>
            <p:nvPr/>
          </p:nvSpPr>
          <p:spPr bwMode="auto">
            <a:xfrm>
              <a:off x="3024" y="3312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stmt</a:t>
              </a:r>
            </a:p>
          </p:txBody>
        </p:sp>
        <p:sp>
          <p:nvSpPr>
            <p:cNvPr id="36939" name="Line 42"/>
            <p:cNvSpPr>
              <a:spLocks noChangeShapeType="1"/>
            </p:cNvSpPr>
            <p:nvPr/>
          </p:nvSpPr>
          <p:spPr bwMode="auto">
            <a:xfrm flipH="1" flipV="1">
              <a:off x="2496" y="3216"/>
              <a:ext cx="9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0" name="Line 43"/>
            <p:cNvSpPr>
              <a:spLocks noChangeShapeType="1"/>
            </p:cNvSpPr>
            <p:nvPr/>
          </p:nvSpPr>
          <p:spPr bwMode="auto">
            <a:xfrm flipH="1">
              <a:off x="1872" y="3168"/>
              <a:ext cx="432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1" name="Line 44"/>
            <p:cNvSpPr>
              <a:spLocks noChangeShapeType="1"/>
            </p:cNvSpPr>
            <p:nvPr/>
          </p:nvSpPr>
          <p:spPr bwMode="auto">
            <a:xfrm flipH="1">
              <a:off x="2256" y="3216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2" name="Line 45"/>
            <p:cNvSpPr>
              <a:spLocks noChangeShapeType="1"/>
            </p:cNvSpPr>
            <p:nvPr/>
          </p:nvSpPr>
          <p:spPr bwMode="auto">
            <a:xfrm flipH="1" flipV="1">
              <a:off x="2592" y="3168"/>
              <a:ext cx="432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872" name="Text Box 89"/>
          <p:cNvSpPr txBox="1">
            <a:spLocks noChangeArrowheads="1"/>
          </p:cNvSpPr>
          <p:nvPr/>
        </p:nvSpPr>
        <p:spPr bwMode="auto">
          <a:xfrm>
            <a:off x="1568450" y="3429000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Form 2:</a:t>
            </a:r>
          </a:p>
        </p:txBody>
      </p:sp>
      <p:sp>
        <p:nvSpPr>
          <p:cNvPr id="36873" name="Text Box 90"/>
          <p:cNvSpPr txBox="1">
            <a:spLocks noChangeArrowheads="1"/>
          </p:cNvSpPr>
          <p:nvPr/>
        </p:nvSpPr>
        <p:spPr bwMode="auto">
          <a:xfrm>
            <a:off x="1238250" y="5562600"/>
            <a:ext cx="470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What’s the issue here ?</a:t>
            </a:r>
          </a:p>
        </p:txBody>
      </p:sp>
      <p:sp>
        <p:nvSpPr>
          <p:cNvPr id="36874" name="Text Box 91"/>
          <p:cNvSpPr txBox="1">
            <a:spLocks noChangeArrowheads="1"/>
          </p:cNvSpPr>
          <p:nvPr/>
        </p:nvSpPr>
        <p:spPr bwMode="auto">
          <a:xfrm>
            <a:off x="2649538" y="6021388"/>
            <a:ext cx="547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Fig. 4.6 two parse trees for an ambiguous sentence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331868" name="Group 92"/>
          <p:cNvGrpSpPr>
            <a:grpSpLocks/>
          </p:cNvGrpSpPr>
          <p:nvPr/>
        </p:nvGrpSpPr>
        <p:grpSpPr bwMode="auto">
          <a:xfrm>
            <a:off x="2641600" y="3367088"/>
            <a:ext cx="6438900" cy="2149475"/>
            <a:chOff x="720" y="1056"/>
            <a:chExt cx="3744" cy="1354"/>
          </a:xfrm>
        </p:grpSpPr>
        <p:sp>
          <p:nvSpPr>
            <p:cNvPr id="36876" name="Text Box 93"/>
            <p:cNvSpPr txBox="1">
              <a:spLocks noChangeArrowheads="1"/>
            </p:cNvSpPr>
            <p:nvPr/>
          </p:nvSpPr>
          <p:spPr bwMode="auto">
            <a:xfrm>
              <a:off x="1536" y="105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stmt</a:t>
              </a:r>
            </a:p>
          </p:txBody>
        </p:sp>
        <p:sp>
          <p:nvSpPr>
            <p:cNvPr id="36877" name="Text Box 94"/>
            <p:cNvSpPr txBox="1">
              <a:spLocks noChangeArrowheads="1"/>
            </p:cNvSpPr>
            <p:nvPr/>
          </p:nvSpPr>
          <p:spPr bwMode="auto">
            <a:xfrm>
              <a:off x="1344" y="134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宋体" panose="02010600030101010101" pitchFamily="2" charset="-122"/>
                </a:rPr>
                <a:t>expr</a:t>
              </a:r>
            </a:p>
          </p:txBody>
        </p:sp>
        <p:grpSp>
          <p:nvGrpSpPr>
            <p:cNvPr id="36878" name="Group 95"/>
            <p:cNvGrpSpPr>
              <a:grpSpLocks/>
            </p:cNvGrpSpPr>
            <p:nvPr/>
          </p:nvGrpSpPr>
          <p:grpSpPr bwMode="auto">
            <a:xfrm>
              <a:off x="1248" y="1584"/>
              <a:ext cx="528" cy="394"/>
              <a:chOff x="3504" y="3456"/>
              <a:chExt cx="528" cy="394"/>
            </a:xfrm>
          </p:grpSpPr>
          <p:sp>
            <p:nvSpPr>
              <p:cNvPr id="36914" name="Line 96"/>
              <p:cNvSpPr>
                <a:spLocks noChangeShapeType="1"/>
              </p:cNvSpPr>
              <p:nvPr/>
            </p:nvSpPr>
            <p:spPr bwMode="auto">
              <a:xfrm flipH="1">
                <a:off x="3504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5" name="Line 97"/>
              <p:cNvSpPr>
                <a:spLocks noChangeShapeType="1"/>
              </p:cNvSpPr>
              <p:nvPr/>
            </p:nvSpPr>
            <p:spPr bwMode="auto">
              <a:xfrm>
                <a:off x="3840" y="345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6" name="Line 98"/>
              <p:cNvSpPr>
                <a:spLocks noChangeShapeType="1"/>
              </p:cNvSpPr>
              <p:nvPr/>
            </p:nvSpPr>
            <p:spPr bwMode="auto">
              <a:xfrm>
                <a:off x="3504" y="364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7" name="Text Box 99"/>
              <p:cNvSpPr txBox="1">
                <a:spLocks noChangeArrowheads="1"/>
              </p:cNvSpPr>
              <p:nvPr/>
            </p:nvSpPr>
            <p:spPr bwMode="auto">
              <a:xfrm>
                <a:off x="3648" y="3600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宋体" panose="02010600030101010101" pitchFamily="2" charset="-122"/>
                  </a:rPr>
                  <a:t>E</a:t>
                </a:r>
                <a:r>
                  <a:rPr lang="en-US" altLang="zh-CN" sz="2000" b="1" baseline="-25000">
                    <a:ea typeface="宋体" panose="02010600030101010101" pitchFamily="2" charset="-122"/>
                  </a:rPr>
                  <a:t>1</a:t>
                </a:r>
                <a:endParaRPr lang="en-US" altLang="zh-CN" sz="2000" b="1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6879" name="Text Box 100"/>
            <p:cNvSpPr txBox="1">
              <a:spLocks noChangeArrowheads="1"/>
            </p:cNvSpPr>
            <p:nvPr/>
          </p:nvSpPr>
          <p:spPr bwMode="auto">
            <a:xfrm>
              <a:off x="1920" y="1392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then</a:t>
              </a:r>
            </a:p>
          </p:txBody>
        </p:sp>
        <p:sp>
          <p:nvSpPr>
            <p:cNvPr id="36880" name="Text Box 101"/>
            <p:cNvSpPr txBox="1">
              <a:spLocks noChangeArrowheads="1"/>
            </p:cNvSpPr>
            <p:nvPr/>
          </p:nvSpPr>
          <p:spPr bwMode="auto">
            <a:xfrm>
              <a:off x="720" y="1392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if</a:t>
              </a:r>
            </a:p>
          </p:txBody>
        </p:sp>
        <p:sp>
          <p:nvSpPr>
            <p:cNvPr id="36881" name="Line 102"/>
            <p:cNvSpPr>
              <a:spLocks noChangeShapeType="1"/>
            </p:cNvSpPr>
            <p:nvPr/>
          </p:nvSpPr>
          <p:spPr bwMode="auto">
            <a:xfrm flipH="1">
              <a:off x="1056" y="1200"/>
              <a:ext cx="432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Line 103"/>
            <p:cNvSpPr>
              <a:spLocks noChangeShapeType="1"/>
            </p:cNvSpPr>
            <p:nvPr/>
          </p:nvSpPr>
          <p:spPr bwMode="auto">
            <a:xfrm flipH="1">
              <a:off x="1584" y="129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Line 104"/>
            <p:cNvSpPr>
              <a:spLocks noChangeShapeType="1"/>
            </p:cNvSpPr>
            <p:nvPr/>
          </p:nvSpPr>
          <p:spPr bwMode="auto">
            <a:xfrm>
              <a:off x="1776" y="12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4" name="Line 105"/>
            <p:cNvSpPr>
              <a:spLocks noChangeShapeType="1"/>
            </p:cNvSpPr>
            <p:nvPr/>
          </p:nvSpPr>
          <p:spPr bwMode="auto">
            <a:xfrm flipH="1" flipV="1">
              <a:off x="1872" y="1248"/>
              <a:ext cx="576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885" name="Group 106"/>
            <p:cNvGrpSpPr>
              <a:grpSpLocks/>
            </p:cNvGrpSpPr>
            <p:nvPr/>
          </p:nvGrpSpPr>
          <p:grpSpPr bwMode="auto">
            <a:xfrm>
              <a:off x="1824" y="1440"/>
              <a:ext cx="2640" cy="970"/>
              <a:chOff x="3120" y="1392"/>
              <a:chExt cx="2640" cy="970"/>
            </a:xfrm>
          </p:grpSpPr>
          <p:sp>
            <p:nvSpPr>
              <p:cNvPr id="36886" name="Text Box 107"/>
              <p:cNvSpPr txBox="1">
                <a:spLocks noChangeArrowheads="1"/>
              </p:cNvSpPr>
              <p:nvPr/>
            </p:nvSpPr>
            <p:spPr bwMode="auto">
              <a:xfrm>
                <a:off x="3792" y="1392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stmt</a:t>
                </a:r>
              </a:p>
            </p:txBody>
          </p:sp>
          <p:sp>
            <p:nvSpPr>
              <p:cNvPr id="36887" name="Text Box 108"/>
              <p:cNvSpPr txBox="1">
                <a:spLocks noChangeArrowheads="1"/>
              </p:cNvSpPr>
              <p:nvPr/>
            </p:nvSpPr>
            <p:spPr bwMode="auto">
              <a:xfrm>
                <a:off x="3600" y="1776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expr</a:t>
                </a:r>
              </a:p>
            </p:txBody>
          </p:sp>
          <p:grpSp>
            <p:nvGrpSpPr>
              <p:cNvPr id="36888" name="Group 109"/>
              <p:cNvGrpSpPr>
                <a:grpSpLocks/>
              </p:cNvGrpSpPr>
              <p:nvPr/>
            </p:nvGrpSpPr>
            <p:grpSpPr bwMode="auto">
              <a:xfrm>
                <a:off x="3504" y="1968"/>
                <a:ext cx="528" cy="394"/>
                <a:chOff x="3504" y="3456"/>
                <a:chExt cx="528" cy="394"/>
              </a:xfrm>
            </p:grpSpPr>
            <p:sp>
              <p:nvSpPr>
                <p:cNvPr id="36910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3504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11" name="Line 111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12" name="Line 112"/>
                <p:cNvSpPr>
                  <a:spLocks noChangeShapeType="1"/>
                </p:cNvSpPr>
                <p:nvPr/>
              </p:nvSpPr>
              <p:spPr bwMode="auto">
                <a:xfrm>
                  <a:off x="3504" y="3648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13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3648" y="360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E</a:t>
                  </a:r>
                  <a:r>
                    <a:rPr lang="en-US" altLang="zh-CN" sz="2000" b="1" baseline="-25000">
                      <a:ea typeface="宋体" panose="02010600030101010101" pitchFamily="2" charset="-122"/>
                    </a:rPr>
                    <a:t>2</a:t>
                  </a:r>
                  <a:endParaRPr lang="en-US" altLang="zh-CN" sz="2000" b="1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6889" name="Group 114"/>
              <p:cNvGrpSpPr>
                <a:grpSpLocks/>
              </p:cNvGrpSpPr>
              <p:nvPr/>
            </p:nvGrpSpPr>
            <p:grpSpPr bwMode="auto">
              <a:xfrm>
                <a:off x="5232" y="1920"/>
                <a:ext cx="528" cy="394"/>
                <a:chOff x="3504" y="3456"/>
                <a:chExt cx="528" cy="394"/>
              </a:xfrm>
            </p:grpSpPr>
            <p:sp>
              <p:nvSpPr>
                <p:cNvPr id="36906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3504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7" name="Line 116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8" name="Line 117"/>
                <p:cNvSpPr>
                  <a:spLocks noChangeShapeType="1"/>
                </p:cNvSpPr>
                <p:nvPr/>
              </p:nvSpPr>
              <p:spPr bwMode="auto">
                <a:xfrm>
                  <a:off x="3504" y="3648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9" name="Text Box 118"/>
                <p:cNvSpPr txBox="1">
                  <a:spLocks noChangeArrowheads="1"/>
                </p:cNvSpPr>
                <p:nvPr/>
              </p:nvSpPr>
              <p:spPr bwMode="auto">
                <a:xfrm>
                  <a:off x="3648" y="360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S</a:t>
                  </a:r>
                  <a:r>
                    <a:rPr lang="en-US" altLang="zh-CN" sz="2000" b="1" baseline="-25000">
                      <a:ea typeface="宋体" panose="02010600030101010101" pitchFamily="2" charset="-122"/>
                    </a:rPr>
                    <a:t>2</a:t>
                  </a:r>
                  <a:endParaRPr lang="en-US" altLang="zh-CN" sz="2000" b="1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6890" name="Group 119"/>
              <p:cNvGrpSpPr>
                <a:grpSpLocks/>
              </p:cNvGrpSpPr>
              <p:nvPr/>
            </p:nvGrpSpPr>
            <p:grpSpPr bwMode="auto">
              <a:xfrm>
                <a:off x="4464" y="1920"/>
                <a:ext cx="528" cy="394"/>
                <a:chOff x="3504" y="3456"/>
                <a:chExt cx="528" cy="394"/>
              </a:xfrm>
            </p:grpSpPr>
            <p:sp>
              <p:nvSpPr>
                <p:cNvPr id="36902" name="Line 120"/>
                <p:cNvSpPr>
                  <a:spLocks noChangeShapeType="1"/>
                </p:cNvSpPr>
                <p:nvPr/>
              </p:nvSpPr>
              <p:spPr bwMode="auto">
                <a:xfrm flipH="1">
                  <a:off x="3504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3" name="Line 121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92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4" name="Line 122"/>
                <p:cNvSpPr>
                  <a:spLocks noChangeShapeType="1"/>
                </p:cNvSpPr>
                <p:nvPr/>
              </p:nvSpPr>
              <p:spPr bwMode="auto">
                <a:xfrm>
                  <a:off x="3504" y="3648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5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3648" y="360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>
                      <a:ea typeface="宋体" panose="02010600030101010101" pitchFamily="2" charset="-122"/>
                    </a:rPr>
                    <a:t>S</a:t>
                  </a:r>
                  <a:r>
                    <a:rPr lang="en-US" altLang="zh-CN" sz="2000" b="1" baseline="-25000">
                      <a:ea typeface="宋体" panose="02010600030101010101" pitchFamily="2" charset="-122"/>
                    </a:rPr>
                    <a:t>1</a:t>
                  </a:r>
                  <a:endParaRPr lang="en-US" altLang="zh-CN" sz="2000" b="1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6891" name="Text Box 124"/>
              <p:cNvSpPr txBox="1">
                <a:spLocks noChangeArrowheads="1"/>
              </p:cNvSpPr>
              <p:nvPr/>
            </p:nvSpPr>
            <p:spPr bwMode="auto">
              <a:xfrm>
                <a:off x="4080" y="1776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then</a:t>
                </a:r>
              </a:p>
            </p:txBody>
          </p:sp>
          <p:sp>
            <p:nvSpPr>
              <p:cNvPr id="36892" name="Text Box 125"/>
              <p:cNvSpPr txBox="1">
                <a:spLocks noChangeArrowheads="1"/>
              </p:cNvSpPr>
              <p:nvPr/>
            </p:nvSpPr>
            <p:spPr bwMode="auto">
              <a:xfrm>
                <a:off x="4944" y="1728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else</a:t>
                </a:r>
              </a:p>
            </p:txBody>
          </p:sp>
          <p:sp>
            <p:nvSpPr>
              <p:cNvPr id="36893" name="Text Box 126"/>
              <p:cNvSpPr txBox="1">
                <a:spLocks noChangeArrowheads="1"/>
              </p:cNvSpPr>
              <p:nvPr/>
            </p:nvSpPr>
            <p:spPr bwMode="auto">
              <a:xfrm>
                <a:off x="3120" y="1824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if</a:t>
                </a:r>
              </a:p>
            </p:txBody>
          </p:sp>
          <p:sp>
            <p:nvSpPr>
              <p:cNvPr id="36894" name="Text Box 127"/>
              <p:cNvSpPr txBox="1">
                <a:spLocks noChangeArrowheads="1"/>
              </p:cNvSpPr>
              <p:nvPr/>
            </p:nvSpPr>
            <p:spPr bwMode="auto">
              <a:xfrm>
                <a:off x="4560" y="172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stmt</a:t>
                </a:r>
              </a:p>
            </p:txBody>
          </p:sp>
          <p:sp>
            <p:nvSpPr>
              <p:cNvPr id="36895" name="Text Box 128"/>
              <p:cNvSpPr txBox="1">
                <a:spLocks noChangeArrowheads="1"/>
              </p:cNvSpPr>
              <p:nvPr/>
            </p:nvSpPr>
            <p:spPr bwMode="auto">
              <a:xfrm>
                <a:off x="5328" y="172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>
                    <a:ea typeface="宋体" panose="02010600030101010101" pitchFamily="2" charset="-122"/>
                  </a:rPr>
                  <a:t>stmt</a:t>
                </a:r>
              </a:p>
            </p:txBody>
          </p:sp>
          <p:sp>
            <p:nvSpPr>
              <p:cNvPr id="36896" name="Line 129"/>
              <p:cNvSpPr>
                <a:spLocks noChangeShapeType="1"/>
              </p:cNvSpPr>
              <p:nvPr/>
            </p:nvSpPr>
            <p:spPr bwMode="auto">
              <a:xfrm flipH="1" flipV="1">
                <a:off x="3984" y="1632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7" name="Line 130"/>
              <p:cNvSpPr>
                <a:spLocks noChangeShapeType="1"/>
              </p:cNvSpPr>
              <p:nvPr/>
            </p:nvSpPr>
            <p:spPr bwMode="auto">
              <a:xfrm flipH="1" flipV="1">
                <a:off x="4080" y="1584"/>
                <a:ext cx="864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8" name="Line 131"/>
              <p:cNvSpPr>
                <a:spLocks noChangeShapeType="1"/>
              </p:cNvSpPr>
              <p:nvPr/>
            </p:nvSpPr>
            <p:spPr bwMode="auto">
              <a:xfrm flipH="1">
                <a:off x="3408" y="1584"/>
                <a:ext cx="432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9" name="Line 132"/>
              <p:cNvSpPr>
                <a:spLocks noChangeShapeType="1"/>
              </p:cNvSpPr>
              <p:nvPr/>
            </p:nvSpPr>
            <p:spPr bwMode="auto">
              <a:xfrm flipH="1">
                <a:off x="3792" y="1632"/>
                <a:ext cx="144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0" name="Line 133"/>
              <p:cNvSpPr>
                <a:spLocks noChangeShapeType="1"/>
              </p:cNvSpPr>
              <p:nvPr/>
            </p:nvSpPr>
            <p:spPr bwMode="auto">
              <a:xfrm flipH="1" flipV="1">
                <a:off x="4128" y="1488"/>
                <a:ext cx="1152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1" name="Line 134"/>
              <p:cNvSpPr>
                <a:spLocks noChangeShapeType="1"/>
              </p:cNvSpPr>
              <p:nvPr/>
            </p:nvSpPr>
            <p:spPr bwMode="auto">
              <a:xfrm flipH="1" flipV="1">
                <a:off x="4032" y="1632"/>
                <a:ext cx="52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3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789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789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3EB07D7-925F-43D0-9F05-220F61A2DFF0}" type="slidenum">
              <a:rPr lang="zh-CN" altLang="en-US" sz="800"/>
              <a:pPr/>
              <a:t>36</a:t>
            </a:fld>
            <a:endParaRPr lang="en-US" altLang="zh-CN" sz="80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Ambiguity (cont.) (P.175)</a:t>
            </a:r>
          </a:p>
        </p:txBody>
      </p:sp>
      <p:sp>
        <p:nvSpPr>
          <p:cNvPr id="37894" name="Text Box 3"/>
          <p:cNvSpPr txBox="1">
            <a:spLocks noChangeArrowheads="1"/>
          </p:cNvSpPr>
          <p:nvPr/>
        </p:nvSpPr>
        <p:spPr bwMode="auto">
          <a:xfrm>
            <a:off x="685800" y="1219200"/>
            <a:ext cx="82200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en-US" altLang="zh-CN">
                <a:ea typeface="宋体" panose="02010600030101010101" pitchFamily="2" charset="-122"/>
              </a:rPr>
              <a:t>We prefer the second parse tree (else matches with closest if).</a:t>
            </a:r>
          </a:p>
          <a:p>
            <a:pPr>
              <a:buFontTx/>
              <a:buChar char="•"/>
            </a:pPr>
            <a:r>
              <a:rPr lang="en-US" altLang="zh-CN">
                <a:ea typeface="宋体" panose="02010600030101010101" pitchFamily="2" charset="-122"/>
              </a:rPr>
              <a:t>  So, we have to disambiguate our grammar to reflect this choice.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Char char="•"/>
            </a:pPr>
            <a:r>
              <a:rPr lang="en-US" altLang="zh-CN">
                <a:ea typeface="宋体" panose="02010600030101010101" pitchFamily="2" charset="-122"/>
              </a:rPr>
              <a:t>  The unambiguous grammar will be: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72388" name="Text Box 4"/>
          <p:cNvSpPr txBox="1">
            <a:spLocks noChangeArrowheads="1"/>
          </p:cNvSpPr>
          <p:nvPr/>
        </p:nvSpPr>
        <p:spPr bwMode="auto">
          <a:xfrm>
            <a:off x="914400" y="3200400"/>
            <a:ext cx="8366125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stmt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  matchedstmt  </a:t>
            </a: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		|  unmatchedstmt</a:t>
            </a: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matchedstmt 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if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expr 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matchedstmt 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else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matchedstmt    </a:t>
            </a: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		|   otherstmts</a:t>
            </a: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unmatchedstmt 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if 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expr 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stmt    </a:t>
            </a: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		|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if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expr 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matchedstmt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else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unmatchedstmt</a:t>
            </a:r>
          </a:p>
          <a:p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								      (4.9)</a:t>
            </a:r>
          </a:p>
          <a:p>
            <a:endParaRPr lang="en-US" altLang="zh-CN" sz="2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The general rule is “match each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else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with the closest previous unmatched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.”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72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72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72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72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2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72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89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89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E8242E-6A3C-42E5-BED2-4B0B3060421B}" type="slidenum">
              <a:rPr lang="zh-CN" altLang="en-US" sz="800"/>
              <a:pPr/>
              <a:t>37</a:t>
            </a:fld>
            <a:endParaRPr lang="en-US" altLang="zh-CN" sz="80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Left Recursion (P.176)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73075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grammar is 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left recursive </a:t>
            </a:r>
            <a:r>
              <a:rPr lang="zh-CN" altLang="en-US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（左递归）</a:t>
            </a:r>
            <a:r>
              <a:rPr lang="zh-CN" altLang="en-US" smtClean="0">
                <a:ea typeface="宋体" panose="02010600030101010101" pitchFamily="2" charset="-122"/>
              </a:rPr>
              <a:t>  </a:t>
            </a:r>
            <a:r>
              <a:rPr lang="en-US" altLang="zh-CN" smtClean="0">
                <a:ea typeface="宋体" panose="02010600030101010101" pitchFamily="2" charset="-122"/>
              </a:rPr>
              <a:t>if it has a non-terminal A such that there is  a derivation  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A  for some string .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The left-recursion may appear in a single step of the derivation (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immediate left-recursion </a:t>
            </a:r>
            <a:r>
              <a:rPr lang="zh-CN" altLang="en-US" b="1" i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直接左递归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or may appear in more than one step of the derivation.</a:t>
            </a: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Top-down parsing techniques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cannot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handle left-recursive grammars.</a:t>
            </a:r>
            <a:endParaRPr lang="en-US" altLang="zh-CN" sz="3200" smtClean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So, we have to convert our left-recursive grammar into an equivalent grammar which is not left-recursive.</a:t>
            </a:r>
          </a:p>
          <a:p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8919" name="Text Box 4"/>
          <p:cNvSpPr txBox="1">
            <a:spLocks noChangeArrowheads="1"/>
          </p:cNvSpPr>
          <p:nvPr/>
        </p:nvSpPr>
        <p:spPr bwMode="auto">
          <a:xfrm>
            <a:off x="4953000" y="1539875"/>
            <a:ext cx="284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7329488" y="3789363"/>
            <a:ext cx="15113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44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why</a:t>
            </a:r>
            <a:r>
              <a:rPr lang="en-US" altLang="zh-CN" sz="4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</a:t>
            </a:r>
            <a:endParaRPr lang="zh-CN" altLang="en-US" sz="4800" b="1" i="1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207BEDB-F2E8-44E4-9C8C-924FADA0BF6A}" type="slidenum">
              <a:rPr lang="zh-CN" altLang="en-US" sz="800"/>
              <a:pPr/>
              <a:t>38</a:t>
            </a:fld>
            <a:endParaRPr lang="en-US" altLang="zh-CN" sz="800"/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1081088" y="0"/>
            <a:ext cx="8062912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Why is Left Recursion a Problem ?</a:t>
            </a:r>
          </a:p>
        </p:txBody>
      </p:sp>
      <p:sp>
        <p:nvSpPr>
          <p:cNvPr id="39942" name="Text Box 5"/>
          <p:cNvSpPr txBox="1">
            <a:spLocks noChangeArrowheads="1"/>
          </p:cNvSpPr>
          <p:nvPr/>
        </p:nvSpPr>
        <p:spPr bwMode="auto">
          <a:xfrm>
            <a:off x="1295400" y="1295400"/>
            <a:ext cx="3352800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Consider: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           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 |  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T  T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F  |  F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F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|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4724400" y="1143000"/>
            <a:ext cx="41910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Derive :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id + id + id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</a:t>
            </a:r>
          </a:p>
        </p:txBody>
      </p:sp>
      <p:sp>
        <p:nvSpPr>
          <p:cNvPr id="39944" name="Rectangle 7"/>
          <p:cNvSpPr>
            <a:spLocks noChangeArrowheads="1"/>
          </p:cNvSpPr>
          <p:nvPr/>
        </p:nvSpPr>
        <p:spPr bwMode="auto">
          <a:xfrm>
            <a:off x="1219200" y="1219200"/>
            <a:ext cx="3352800" cy="1752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45" name="Text Box 8"/>
          <p:cNvSpPr txBox="1">
            <a:spLocks noChangeArrowheads="1"/>
          </p:cNvSpPr>
          <p:nvPr/>
        </p:nvSpPr>
        <p:spPr bwMode="auto">
          <a:xfrm>
            <a:off x="1295400" y="3352800"/>
            <a:ext cx="6610350" cy="239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How can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left recursion</a:t>
            </a:r>
            <a:r>
              <a:rPr lang="en-US" altLang="zh-CN">
                <a:ea typeface="宋体" panose="02010600030101010101" pitchFamily="2" charset="-122"/>
              </a:rPr>
              <a:t> be removed ?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 |  T           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What does this generate?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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 T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E 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 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 T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T 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</a:t>
            </a:r>
          </a:p>
        </p:txBody>
      </p:sp>
      <p:sp>
        <p:nvSpPr>
          <p:cNvPr id="39946" name="Text Box 9"/>
          <p:cNvSpPr txBox="1">
            <a:spLocks noChangeArrowheads="1"/>
          </p:cNvSpPr>
          <p:nvPr/>
        </p:nvSpPr>
        <p:spPr bwMode="auto">
          <a:xfrm>
            <a:off x="1676400" y="5715000"/>
            <a:ext cx="60198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How does this build strings ?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What does each string have to start with ?</a:t>
            </a:r>
          </a:p>
        </p:txBody>
      </p:sp>
      <p:sp>
        <p:nvSpPr>
          <p:cNvPr id="39947" name="AutoShape 10"/>
          <p:cNvSpPr>
            <a:spLocks/>
          </p:cNvSpPr>
          <p:nvPr/>
        </p:nvSpPr>
        <p:spPr bwMode="auto">
          <a:xfrm>
            <a:off x="1219200" y="39624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39948" name="AutoShape 11"/>
          <p:cNvCxnSpPr>
            <a:cxnSpLocks noChangeShapeType="1"/>
            <a:stCxn id="39947" idx="1"/>
            <a:endCxn id="39946" idx="1"/>
          </p:cNvCxnSpPr>
          <p:nvPr/>
        </p:nvCxnSpPr>
        <p:spPr bwMode="auto">
          <a:xfrm rot="10800000" flipH="1" flipV="1">
            <a:off x="1206500" y="4838700"/>
            <a:ext cx="469900" cy="1306513"/>
          </a:xfrm>
          <a:prstGeom prst="curvedConnector3">
            <a:avLst>
              <a:gd name="adj1" fmla="val -45944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0963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096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4575B2-D4BE-470D-83D1-7172BA963DA6}" type="slidenum">
              <a:rPr lang="zh-CN" altLang="en-US" sz="800"/>
              <a:pPr/>
              <a:t>39</a:t>
            </a:fld>
            <a:endParaRPr lang="en-US" altLang="zh-CN" sz="80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Immediate Left-Recursion</a:t>
            </a:r>
          </a:p>
        </p:txBody>
      </p:sp>
      <p:sp>
        <p:nvSpPr>
          <p:cNvPr id="275459" name="Text Box 3"/>
          <p:cNvSpPr txBox="1">
            <a:spLocks noChangeArrowheads="1"/>
          </p:cNvSpPr>
          <p:nvPr/>
        </p:nvSpPr>
        <p:spPr bwMode="auto">
          <a:xfrm>
            <a:off x="685800" y="1219200"/>
            <a:ext cx="8853488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  A  |       	where  does not start with A</a:t>
            </a:r>
          </a:p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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eliminate immediate left recursion</a:t>
            </a:r>
          </a:p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   A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</a:p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  A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|          an equivalent grammar: replaced by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right-recursion</a:t>
            </a:r>
          </a:p>
        </p:txBody>
      </p:sp>
      <p:sp>
        <p:nvSpPr>
          <p:cNvPr id="275460" name="Text Box 4"/>
          <p:cNvSpPr txBox="1">
            <a:spLocks noChangeArrowheads="1"/>
          </p:cNvSpPr>
          <p:nvPr/>
        </p:nvSpPr>
        <p:spPr bwMode="auto">
          <a:xfrm>
            <a:off x="685800" y="4114800"/>
            <a:ext cx="88550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  A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| ... | A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| 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| ... | 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where 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... 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do not start with A</a:t>
            </a:r>
          </a:p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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eliminate immediate left recursion</a:t>
            </a:r>
          </a:p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  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A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... | 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A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</a:p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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A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| ... |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A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|  		an equivalent grammar</a:t>
            </a:r>
          </a:p>
        </p:txBody>
      </p:sp>
      <p:sp>
        <p:nvSpPr>
          <p:cNvPr id="40968" name="Text Box 5"/>
          <p:cNvSpPr txBox="1">
            <a:spLocks noChangeArrowheads="1"/>
          </p:cNvSpPr>
          <p:nvPr/>
        </p:nvSpPr>
        <p:spPr bwMode="auto">
          <a:xfrm>
            <a:off x="381000" y="3657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In general,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75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75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198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198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D4475B-2A57-414C-9682-24F284021447}" type="slidenum">
              <a:rPr lang="zh-CN" altLang="en-US" sz="800"/>
              <a:pPr/>
              <a:t>40</a:t>
            </a:fld>
            <a:endParaRPr lang="en-US" altLang="zh-CN" sz="80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0" smtClean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Eliminate immediate left recursion exercise 1 in class</a:t>
            </a:r>
            <a:br>
              <a:rPr lang="en-US" altLang="zh-CN" sz="2400" b="0" smtClean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 sz="2400" b="0" smtClean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1990" name="Text Box 3"/>
          <p:cNvSpPr txBox="1">
            <a:spLocks noChangeArrowheads="1"/>
          </p:cNvSpPr>
          <p:nvPr/>
        </p:nvSpPr>
        <p:spPr bwMode="auto">
          <a:xfrm>
            <a:off x="1600200" y="1295400"/>
            <a:ext cx="6665913" cy="169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 |  T</a:t>
            </a: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 T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 |  F</a:t>
            </a:r>
          </a:p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|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                      (4.10)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91" name="Text Box 5"/>
          <p:cNvSpPr txBox="1">
            <a:spLocks noChangeArrowheads="1"/>
          </p:cNvSpPr>
          <p:nvPr/>
        </p:nvSpPr>
        <p:spPr bwMode="auto">
          <a:xfrm>
            <a:off x="1889125" y="2784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92" name="Rectangle 7"/>
          <p:cNvSpPr>
            <a:spLocks noChangeArrowheads="1"/>
          </p:cNvSpPr>
          <p:nvPr/>
        </p:nvSpPr>
        <p:spPr bwMode="auto">
          <a:xfrm>
            <a:off x="596900" y="714375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Example 4.8:</a:t>
            </a:r>
          </a:p>
        </p:txBody>
      </p:sp>
      <p:sp>
        <p:nvSpPr>
          <p:cNvPr id="276488" name="Text Box 8"/>
          <p:cNvSpPr txBox="1">
            <a:spLocks noChangeArrowheads="1"/>
          </p:cNvSpPr>
          <p:nvPr/>
        </p:nvSpPr>
        <p:spPr bwMode="auto">
          <a:xfrm>
            <a:off x="1568450" y="3500438"/>
            <a:ext cx="7329488" cy="257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T E</a:t>
            </a:r>
            <a:r>
              <a:rPr lang="en-US" altLang="zh-CN" baseline="30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endParaRPr lang="en-US" altLang="zh-CN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aseline="30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E</a:t>
            </a:r>
            <a:r>
              <a:rPr lang="en-US" altLang="zh-CN" baseline="30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</a:t>
            </a: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 F T</a:t>
            </a:r>
            <a:r>
              <a:rPr lang="en-US" altLang="zh-CN" baseline="300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endParaRPr lang="en-US" altLang="zh-CN">
              <a:solidFill>
                <a:srgbClr val="80008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baseline="300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T</a:t>
            </a:r>
            <a:r>
              <a:rPr lang="en-US" altLang="zh-CN" baseline="300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| </a:t>
            </a:r>
          </a:p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                       (4.11)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76489" name="Line 9"/>
          <p:cNvSpPr>
            <a:spLocks noChangeShapeType="1"/>
          </p:cNvSpPr>
          <p:nvPr/>
        </p:nvSpPr>
        <p:spPr bwMode="auto">
          <a:xfrm>
            <a:off x="2216150" y="2781300"/>
            <a:ext cx="0" cy="576263"/>
          </a:xfrm>
          <a:prstGeom prst="line">
            <a:avLst/>
          </a:prstGeom>
          <a:noFill/>
          <a:ln w="57150">
            <a:solidFill>
              <a:srgbClr val="80008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76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6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000"/>
                                        <p:tgtEl>
                                          <p:spTgt spid="276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2000"/>
                                        <p:tgtEl>
                                          <p:spTgt spid="276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301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301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D7A543-E2FE-49B3-9C48-B5DEB047A5B1}" type="slidenum">
              <a:rPr lang="zh-CN" altLang="en-US" sz="800"/>
              <a:pPr/>
              <a:t>41</a:t>
            </a:fld>
            <a:endParaRPr lang="en-US" altLang="zh-CN" sz="80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Left-Recursion -- Problem</a:t>
            </a:r>
          </a:p>
        </p:txBody>
      </p:sp>
      <p:sp>
        <p:nvSpPr>
          <p:cNvPr id="43014" name="Text Box 3"/>
          <p:cNvSpPr txBox="1">
            <a:spLocks noChangeArrowheads="1"/>
          </p:cNvSpPr>
          <p:nvPr/>
        </p:nvSpPr>
        <p:spPr bwMode="auto">
          <a:xfrm>
            <a:off x="533400" y="1295400"/>
            <a:ext cx="86391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en-US" altLang="zh-CN">
                <a:ea typeface="宋体" panose="02010600030101010101" pitchFamily="2" charset="-122"/>
              </a:rPr>
              <a:t>A grammar cannot be immediately left-recursive, but it still can be </a:t>
            </a:r>
          </a:p>
          <a:p>
            <a:r>
              <a:rPr lang="en-US" altLang="zh-CN">
                <a:ea typeface="宋体" panose="02010600030101010101" pitchFamily="2" charset="-122"/>
              </a:rPr>
              <a:t>   left-recursive.</a:t>
            </a:r>
          </a:p>
          <a:p>
            <a:pPr>
              <a:buFontTx/>
              <a:buChar char="•"/>
            </a:pPr>
            <a:r>
              <a:rPr lang="en-US" altLang="zh-CN">
                <a:ea typeface="宋体" panose="02010600030101010101" pitchFamily="2" charset="-122"/>
              </a:rPr>
              <a:t>  By just eliminating the immediate left-recursion, we may not get </a:t>
            </a:r>
          </a:p>
          <a:p>
            <a:r>
              <a:rPr lang="en-US" altLang="zh-CN">
                <a:ea typeface="宋体" panose="02010600030101010101" pitchFamily="2" charset="-122"/>
              </a:rPr>
              <a:t>   a grammar which is not left-recursive.</a:t>
            </a:r>
          </a:p>
        </p:txBody>
      </p:sp>
      <p:sp>
        <p:nvSpPr>
          <p:cNvPr id="43015" name="Text Box 4"/>
          <p:cNvSpPr txBox="1">
            <a:spLocks noChangeArrowheads="1"/>
          </p:cNvSpPr>
          <p:nvPr/>
        </p:nvSpPr>
        <p:spPr bwMode="auto">
          <a:xfrm>
            <a:off x="746125" y="34702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016" name="Text Box 5"/>
          <p:cNvSpPr txBox="1">
            <a:spLocks noChangeArrowheads="1"/>
          </p:cNvSpPr>
          <p:nvPr/>
        </p:nvSpPr>
        <p:spPr bwMode="auto">
          <a:xfrm>
            <a:off x="609600" y="3124200"/>
            <a:ext cx="8758238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S  Aa | b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A  Sc | d	This grammar is not immediately left-recursive,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but it is still left-recursive.</a:t>
            </a:r>
          </a:p>
          <a:p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u="sng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 Aa  </a:t>
            </a:r>
            <a:r>
              <a:rPr lang="en-US" altLang="zh-CN" u="sng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ca    	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or    </a:t>
            </a:r>
            <a:r>
              <a:rPr lang="en-US" altLang="zh-CN" u="sng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 Sc  </a:t>
            </a:r>
            <a:r>
              <a:rPr lang="en-US" altLang="zh-CN" u="sng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ac 	causes to a left-recursion</a:t>
            </a:r>
          </a:p>
          <a:p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Char char="•"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So, we have to eliminate all left-recursions from our grammar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3E321F-3960-443C-9CAB-843F035A8282}" type="slidenum">
              <a:rPr lang="zh-CN" altLang="en-US" sz="800"/>
              <a:pPr/>
              <a:t>42</a:t>
            </a:fld>
            <a:endParaRPr lang="en-US" altLang="zh-CN" sz="80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smtClean="0">
                <a:ea typeface="宋体" panose="02010600030101010101" pitchFamily="2" charset="-122"/>
              </a:rPr>
              <a:t>Elimination of Left-Recursion (P.176)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9425" y="5949950"/>
            <a:ext cx="6659563" cy="37465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Fig. 4.7 algorithm to eliminate left recursion from a grammar.</a:t>
            </a:r>
          </a:p>
        </p:txBody>
      </p:sp>
      <p:sp>
        <p:nvSpPr>
          <p:cNvPr id="44039" name="Rectangle 4"/>
          <p:cNvSpPr>
            <a:spLocks noChangeArrowheads="1"/>
          </p:cNvSpPr>
          <p:nvPr/>
        </p:nvSpPr>
        <p:spPr bwMode="auto">
          <a:xfrm>
            <a:off x="273050" y="1125538"/>
            <a:ext cx="9372600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0100" indent="-3429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19200" indent="-3048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8300" indent="-2667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Algorithm 4.1. </a:t>
            </a:r>
            <a:r>
              <a:rPr lang="en-US" altLang="zh-CN">
                <a:ea typeface="宋体" panose="02010600030101010101" pitchFamily="2" charset="-122"/>
              </a:rPr>
              <a:t>eliminating left recursion.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- Arrange non-terminals in some order:  A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... A</a:t>
            </a:r>
            <a:r>
              <a:rPr lang="en-US" altLang="zh-CN" baseline="-25000">
                <a:ea typeface="宋体" panose="02010600030101010101" pitchFamily="2" charset="-122"/>
              </a:rPr>
              <a:t>n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- for</a:t>
            </a:r>
            <a:r>
              <a:rPr lang="en-US" altLang="zh-CN">
                <a:ea typeface="宋体" panose="02010600030101010101" pitchFamily="2" charset="-122"/>
              </a:rPr>
              <a:t> 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from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1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to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n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do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 - </a:t>
            </a:r>
            <a:r>
              <a:rPr lang="en-US" altLang="zh-CN" b="1">
                <a:ea typeface="宋体" panose="02010600030101010101" pitchFamily="2" charset="-122"/>
              </a:rPr>
              <a:t>for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CC"/>
                </a:solidFill>
                <a:ea typeface="宋体" panose="02010600030101010101" pitchFamily="2" charset="-122"/>
              </a:rPr>
              <a:t> j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from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1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to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i-1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do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replace each production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A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 A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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     by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 A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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 | ... |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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where A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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| ... | 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are all the current A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-productions.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- </a:t>
            </a:r>
            <a:r>
              <a:rPr lang="en-US" altLang="zh-CN" b="1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eliminate immediate left-recursions among A</a:t>
            </a:r>
            <a:r>
              <a:rPr lang="en-US" altLang="zh-CN" b="1" baseline="-250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1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-productions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zh-CN" altLang="en-US" sz="3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A4920A5-51F9-411B-A736-2DDFC611085D}" type="slidenum">
              <a:rPr lang="zh-CN" altLang="en-US" sz="800"/>
              <a:pPr/>
              <a:t>43</a:t>
            </a:fld>
            <a:endParaRPr lang="en-US" altLang="zh-CN" sz="80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smtClean="0"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43888" cy="51054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</a:rPr>
              <a:t>Example 4.9: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  Aa | b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  Ac | Sd | 							 (4.12)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- Order of non-terminals: S, A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for S: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- we do not enter the inner loop.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- there is no immediate left recursion in S.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for A: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- </a:t>
            </a:r>
            <a:r>
              <a:rPr lang="en-US" altLang="zh-CN" sz="20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Replace A  Sd   with   A  Aad | bd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 So, we will have   A  Ac | Aad | bd | 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- Eliminate the immediate left-recursion in A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 A  bdA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| 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		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cA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|  adA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| 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So, the resulting equivalent grammar which is not left-recursive is: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S  Aa | b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A  bdA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| 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cA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|  adA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| </a:t>
            </a:r>
          </a:p>
        </p:txBody>
      </p:sp>
      <p:sp>
        <p:nvSpPr>
          <p:cNvPr id="279556" name="Rectangle 4"/>
          <p:cNvSpPr>
            <a:spLocks noChangeArrowheads="1"/>
          </p:cNvSpPr>
          <p:nvPr/>
        </p:nvSpPr>
        <p:spPr bwMode="auto">
          <a:xfrm>
            <a:off x="5880100" y="2182813"/>
            <a:ext cx="32496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not immediately left-recursive</a:t>
            </a:r>
            <a:endParaRPr lang="zh-CN" altLang="en-US" sz="2000">
              <a:solidFill>
                <a:srgbClr val="80008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9557" name="Rectangle 5"/>
          <p:cNvSpPr>
            <a:spLocks noChangeArrowheads="1"/>
          </p:cNvSpPr>
          <p:nvPr/>
        </p:nvSpPr>
        <p:spPr bwMode="auto">
          <a:xfrm>
            <a:off x="6175375" y="2901950"/>
            <a:ext cx="2665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immediate left-recursive</a:t>
            </a:r>
            <a:endParaRPr lang="zh-CN" altLang="en-US" sz="2000">
              <a:solidFill>
                <a:srgbClr val="80008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9558" name="Rectangle 6"/>
          <p:cNvSpPr>
            <a:spLocks noChangeArrowheads="1"/>
          </p:cNvSpPr>
          <p:nvPr/>
        </p:nvSpPr>
        <p:spPr bwMode="auto">
          <a:xfrm>
            <a:off x="5889625" y="3573463"/>
            <a:ext cx="31289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0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eliminating immediate</a:t>
            </a:r>
          </a:p>
          <a:p>
            <a:pPr algn="ctr"/>
            <a:r>
              <a:rPr lang="en-US" altLang="zh-CN" sz="20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left-recursive</a:t>
            </a:r>
            <a:endParaRPr lang="zh-CN" altLang="en-US" sz="2000">
              <a:solidFill>
                <a:srgbClr val="80008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9559" name="Line 7"/>
          <p:cNvSpPr>
            <a:spLocks noChangeShapeType="1"/>
          </p:cNvSpPr>
          <p:nvPr/>
        </p:nvSpPr>
        <p:spPr bwMode="auto">
          <a:xfrm>
            <a:off x="7473950" y="2565400"/>
            <a:ext cx="0" cy="35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9560" name="Line 8"/>
          <p:cNvSpPr>
            <a:spLocks noChangeShapeType="1"/>
          </p:cNvSpPr>
          <p:nvPr/>
        </p:nvSpPr>
        <p:spPr bwMode="auto">
          <a:xfrm>
            <a:off x="7473950" y="3286125"/>
            <a:ext cx="0" cy="35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9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9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79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79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9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9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79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79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79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79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79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79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79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79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79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79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7955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7955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7955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7955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6" grpId="0"/>
      <p:bldP spid="279557" grpId="0"/>
      <p:bldP spid="27955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33373A-71CB-4D25-B198-4B62F2575AE6}" type="slidenum">
              <a:rPr lang="zh-CN" altLang="en-US" sz="800"/>
              <a:pPr/>
              <a:t>44</a:t>
            </a:fld>
            <a:endParaRPr lang="en-US" altLang="zh-CN" sz="80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75565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Left-Factoring </a:t>
            </a:r>
            <a:r>
              <a:rPr lang="zh-CN" altLang="en-US" smtClean="0">
                <a:ea typeface="宋体" panose="02010600030101010101" pitchFamily="2" charset="-122"/>
              </a:rPr>
              <a:t>（左因式分解）</a:t>
            </a:r>
            <a:r>
              <a:rPr lang="en-US" altLang="zh-CN" smtClean="0">
                <a:ea typeface="宋体" panose="02010600030101010101" pitchFamily="2" charset="-122"/>
              </a:rPr>
              <a:t>(P.178)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08050"/>
            <a:ext cx="9372600" cy="54006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predictive parser (a top-down parser without backtracking) insists  that the grammar must be </a:t>
            </a:r>
            <a:r>
              <a:rPr lang="en-US" altLang="zh-CN" b="1" i="1" smtClean="0">
                <a:solidFill>
                  <a:srgbClr val="800080"/>
                </a:solidFill>
                <a:ea typeface="宋体" panose="02010600030101010101" pitchFamily="2" charset="-122"/>
              </a:rPr>
              <a:t>left-factored</a:t>
            </a:r>
            <a:r>
              <a:rPr lang="en-US" altLang="zh-CN" smtClean="0">
                <a:ea typeface="宋体" panose="02010600030101010101" pitchFamily="2" charset="-122"/>
              </a:rPr>
              <a:t>.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The basic idea is that when it is not clear which of two alternative productions to use to expand a nonterminal A, we may be able to rewrite the A-productions to defer the decision until we have seen enough of the input to make the right choice.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grammar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a new equivalent grammar suitable for predictive parsing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stmt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expr  </a:t>
            </a:r>
            <a:r>
              <a:rPr lang="en-US" altLang="zh-CN" sz="2000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stmt  </a:t>
            </a:r>
            <a:r>
              <a:rPr lang="en-US" altLang="zh-CN" sz="2000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else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stmt   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     | </a:t>
            </a:r>
            <a:r>
              <a:rPr lang="en-US" altLang="zh-CN" sz="2000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expr  </a:t>
            </a:r>
            <a:r>
              <a:rPr lang="en-US" altLang="zh-CN" sz="2000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stmt 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when we see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if</a:t>
            </a:r>
            <a:r>
              <a:rPr lang="en-US" altLang="zh-CN" smtClean="0">
                <a:ea typeface="宋体" panose="02010600030101010101" pitchFamily="2" charset="-122"/>
              </a:rPr>
              <a:t>, we cannot know which production rule to choose to  re-write </a:t>
            </a:r>
            <a:r>
              <a:rPr lang="en-US" altLang="zh-CN" i="1" smtClean="0">
                <a:ea typeface="宋体" panose="02010600030101010101" pitchFamily="2" charset="-122"/>
              </a:rPr>
              <a:t>stmt</a:t>
            </a:r>
            <a:r>
              <a:rPr lang="en-US" altLang="zh-CN" smtClean="0">
                <a:ea typeface="宋体" panose="02010600030101010101" pitchFamily="2" charset="-122"/>
              </a:rPr>
              <a:t> in the derivation.</a:t>
            </a:r>
          </a:p>
        </p:txBody>
      </p:sp>
      <p:sp>
        <p:nvSpPr>
          <p:cNvPr id="281604" name="Rectangle 4"/>
          <p:cNvSpPr>
            <a:spLocks noChangeArrowheads="1"/>
          </p:cNvSpPr>
          <p:nvPr/>
        </p:nvSpPr>
        <p:spPr bwMode="auto">
          <a:xfrm>
            <a:off x="5816600" y="4076700"/>
            <a:ext cx="35988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 b="1">
                <a:solidFill>
                  <a:srgbClr val="800080"/>
                </a:solidFill>
                <a:ea typeface="宋体" panose="02010600030101010101" pitchFamily="2" charset="-122"/>
              </a:rPr>
              <a:t>When shift and reduce conflict in YACC, shift is first.</a:t>
            </a:r>
            <a:endParaRPr lang="zh-CN" altLang="en-US" sz="2000" b="1">
              <a:solidFill>
                <a:srgbClr val="80008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8A9057-05E5-4213-B757-8C18BA88BE33}" type="slidenum">
              <a:rPr lang="zh-CN" altLang="en-US" sz="800"/>
              <a:pPr/>
              <a:t>45</a:t>
            </a:fld>
            <a:endParaRPr lang="en-US" altLang="zh-CN" sz="80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Left-Factoring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7110" name="Text Box 4"/>
          <p:cNvSpPr txBox="1">
            <a:spLocks noChangeArrowheads="1"/>
          </p:cNvSpPr>
          <p:nvPr/>
        </p:nvSpPr>
        <p:spPr bwMode="auto">
          <a:xfrm>
            <a:off x="1219200" y="1066800"/>
            <a:ext cx="762000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Problem :  Uncertain which of 2 rules to choose: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      </a:t>
            </a:r>
            <a:r>
              <a:rPr lang="en-US" altLang="zh-CN" i="1">
                <a:ea typeface="宋体" panose="02010600030101010101" pitchFamily="2" charset="-122"/>
              </a:rPr>
              <a:t>stmt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stmt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else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                  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stmt </a:t>
            </a:r>
          </a:p>
        </p:txBody>
      </p:sp>
      <p:sp>
        <p:nvSpPr>
          <p:cNvPr id="47111" name="Text Box 5"/>
          <p:cNvSpPr txBox="1">
            <a:spLocks noChangeArrowheads="1"/>
          </p:cNvSpPr>
          <p:nvPr/>
        </p:nvSpPr>
        <p:spPr bwMode="auto">
          <a:xfrm>
            <a:off x="1219200" y="2590800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When do you know which one is valid ?</a:t>
            </a:r>
          </a:p>
        </p:txBody>
      </p:sp>
      <p:sp>
        <p:nvSpPr>
          <p:cNvPr id="337926" name="Text Box 6"/>
          <p:cNvSpPr txBox="1">
            <a:spLocks noChangeArrowheads="1"/>
          </p:cNvSpPr>
          <p:nvPr/>
        </p:nvSpPr>
        <p:spPr bwMode="auto">
          <a:xfrm>
            <a:off x="1219200" y="3124200"/>
            <a:ext cx="423862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What’s the general form of </a:t>
            </a:r>
            <a:r>
              <a:rPr lang="en-US" altLang="zh-CN" i="1">
                <a:ea typeface="宋体" panose="02010600030101010101" pitchFamily="2" charset="-122"/>
              </a:rPr>
              <a:t>stmt</a:t>
            </a:r>
            <a:r>
              <a:rPr lang="en-US" altLang="zh-CN">
                <a:ea typeface="宋体" panose="02010600030101010101" pitchFamily="2" charset="-122"/>
              </a:rPr>
              <a:t> ?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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| 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7927" name="Text Box 7"/>
          <p:cNvSpPr txBox="1">
            <a:spLocks noChangeArrowheads="1"/>
          </p:cNvSpPr>
          <p:nvPr/>
        </p:nvSpPr>
        <p:spPr bwMode="auto">
          <a:xfrm>
            <a:off x="1281113" y="4437063"/>
            <a:ext cx="2133600" cy="144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Transform to: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 A’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A’  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| 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37928" name="Text Box 8"/>
          <p:cNvSpPr txBox="1">
            <a:spLocks noChangeArrowheads="1"/>
          </p:cNvSpPr>
          <p:nvPr/>
        </p:nvSpPr>
        <p:spPr bwMode="auto">
          <a:xfrm>
            <a:off x="4881563" y="4581525"/>
            <a:ext cx="4495800" cy="15779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EXAMPLE: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i="1">
                <a:ea typeface="宋体" panose="02010600030101010101" pitchFamily="2" charset="-122"/>
              </a:rPr>
              <a:t>stmt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stmt  rest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rest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else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stmt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</a:p>
        </p:txBody>
      </p:sp>
      <p:sp>
        <p:nvSpPr>
          <p:cNvPr id="337929" name="Rectangle 9"/>
          <p:cNvSpPr>
            <a:spLocks noChangeArrowheads="1"/>
          </p:cNvSpPr>
          <p:nvPr/>
        </p:nvSpPr>
        <p:spPr bwMode="auto">
          <a:xfrm>
            <a:off x="5889625" y="3573463"/>
            <a:ext cx="31670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 :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stmt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           1: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else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stmt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2 :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</a:p>
        </p:txBody>
      </p:sp>
      <p:sp>
        <p:nvSpPr>
          <p:cNvPr id="47116" name="Rectangle 10"/>
          <p:cNvSpPr>
            <a:spLocks noChangeArrowheads="1"/>
          </p:cNvSpPr>
          <p:nvPr/>
        </p:nvSpPr>
        <p:spPr bwMode="auto">
          <a:xfrm>
            <a:off x="609600" y="6092825"/>
            <a:ext cx="5422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b="1">
                <a:solidFill>
                  <a:schemeClr val="accent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so, we can immediately expand A to A’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6" grpId="0"/>
      <p:bldP spid="337927" grpId="0"/>
      <p:bldP spid="337928" grpId="0" animBg="1"/>
      <p:bldP spid="3379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F5B021-3A7C-42BA-A563-8ED8B804506F}" type="slidenum">
              <a:rPr lang="zh-CN" altLang="en-US" sz="800"/>
              <a:pPr/>
              <a:t>46</a:t>
            </a:fld>
            <a:endParaRPr lang="en-US" altLang="zh-CN" sz="80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Left-Factoring -- Algorithm 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For each non-terminal A with two or more alternatives (production rules) with a common non-empty prefix, let say</a:t>
            </a:r>
          </a:p>
          <a:p>
            <a:endParaRPr lang="en-US" altLang="zh-CN" sz="8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 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 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... | 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... |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convert it into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 A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... |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A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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... | 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28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75A13D-F0D6-46D5-AFA2-AF0558AD437F}" type="slidenum">
              <a:rPr lang="zh-CN" altLang="en-US" sz="800"/>
              <a:pPr/>
              <a:t>47</a:t>
            </a:fld>
            <a:endParaRPr lang="en-US" altLang="zh-CN" sz="80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Left-Factoring – Example1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0" y="1143000"/>
            <a:ext cx="5105400" cy="4267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u="sng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bB | </a:t>
            </a:r>
            <a:r>
              <a:rPr lang="en-US" altLang="zh-CN" u="sng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cdg | cdeB | cdfB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3600" smtClean="0">
                <a:ea typeface="宋体" panose="02010600030101010101" pitchFamily="2" charset="-122"/>
                <a:sym typeface="Symbol" panose="05050102010706020507" pitchFamily="18" charset="2"/>
              </a:rPr>
              <a:t>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step1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 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aA</a:t>
            </a:r>
            <a:r>
              <a:rPr lang="en-US" altLang="zh-CN" baseline="30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u="sng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cd</a:t>
            </a:r>
            <a:r>
              <a:rPr lang="en-US" altLang="zh-CN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 | </a:t>
            </a:r>
            <a:r>
              <a:rPr lang="en-US" altLang="zh-CN" u="sng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cd</a:t>
            </a:r>
            <a:r>
              <a:rPr lang="en-US" altLang="zh-CN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eB | </a:t>
            </a:r>
            <a:r>
              <a:rPr lang="en-US" altLang="zh-CN" u="sng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cd</a:t>
            </a:r>
            <a:r>
              <a:rPr lang="en-US" altLang="zh-CN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fB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 bB | B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3600" smtClean="0">
                <a:ea typeface="宋体" panose="02010600030101010101" pitchFamily="2" charset="-122"/>
                <a:sym typeface="Symbol" panose="05050102010706020507" pitchFamily="18" charset="2"/>
              </a:rPr>
              <a:t>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step 2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  aA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cdA</a:t>
            </a:r>
            <a:r>
              <a:rPr lang="en-US" altLang="zh-CN" baseline="30000" smtClean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’’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 bB | B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’’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g | eB | fB</a:t>
            </a:r>
          </a:p>
          <a:p>
            <a:pPr>
              <a:buFontTx/>
              <a:buNone/>
            </a:pP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501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B1E54F5-7506-4E59-AC89-739E79930D5A}" type="slidenum">
              <a:rPr lang="zh-CN" altLang="en-US" sz="800"/>
              <a:pPr/>
              <a:t>48</a:t>
            </a:fld>
            <a:endParaRPr lang="en-US" altLang="zh-CN" sz="80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Left-Factoring exercise 1 in class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16375" y="765175"/>
            <a:ext cx="3940175" cy="5762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ad | a | ab | abc | b</a:t>
            </a: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5700" name="Rectangle 4"/>
          <p:cNvSpPr>
            <a:spLocks noChangeArrowheads="1"/>
          </p:cNvSpPr>
          <p:nvPr/>
        </p:nvSpPr>
        <p:spPr bwMode="auto">
          <a:xfrm>
            <a:off x="1600200" y="1354138"/>
            <a:ext cx="4073525" cy="5170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kumimoji="1" lang="en-US" altLang="zh-CN" sz="3200">
                <a:ea typeface="宋体" panose="02010600030101010101" pitchFamily="2" charset="-122"/>
              </a:rPr>
              <a:t>A 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kumimoji="1" lang="en-US" altLang="zh-CN" sz="32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ad | a | ab | abc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 | b</a:t>
            </a:r>
          </a:p>
          <a:p>
            <a:pPr eaLnBrk="1" hangingPunct="1">
              <a:buFontTx/>
              <a:buNone/>
            </a:pP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		 </a:t>
            </a:r>
            <a:r>
              <a:rPr kumimoji="1"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 </a:t>
            </a:r>
            <a:r>
              <a:rPr kumimoji="1"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step 1</a:t>
            </a:r>
          </a:p>
          <a:p>
            <a:pPr eaLnBrk="1" hangingPunct="1">
              <a:buFontTx/>
              <a:buNone/>
            </a:pPr>
            <a:r>
              <a:rPr kumimoji="1" lang="en-US" altLang="zh-CN" sz="3200">
                <a:ea typeface="宋体" panose="02010600030101010101" pitchFamily="2" charset="-122"/>
              </a:rPr>
              <a:t>A 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kumimoji="1" lang="en-US" altLang="zh-CN" sz="320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aA’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 | b</a:t>
            </a:r>
          </a:p>
          <a:p>
            <a:pPr eaLnBrk="1" hangingPunct="1">
              <a:buFontTx/>
              <a:buNone/>
            </a:pP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A’  d |   | </a:t>
            </a:r>
            <a:r>
              <a:rPr kumimoji="1" lang="en-US" altLang="zh-CN" sz="32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 | bc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</a:p>
          <a:p>
            <a:pPr eaLnBrk="1" hangingPunct="1">
              <a:buFontTx/>
              <a:buNone/>
            </a:pP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		 </a:t>
            </a:r>
            <a:r>
              <a:rPr kumimoji="1"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 </a:t>
            </a:r>
            <a:r>
              <a:rPr kumimoji="1"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step 2</a:t>
            </a:r>
          </a:p>
          <a:p>
            <a:pPr eaLnBrk="1" hangingPunct="1">
              <a:buFontTx/>
              <a:buNone/>
            </a:pPr>
            <a:r>
              <a:rPr kumimoji="1" lang="en-US" altLang="zh-CN" sz="3200">
                <a:ea typeface="宋体" panose="02010600030101010101" pitchFamily="2" charset="-122"/>
              </a:rPr>
              <a:t>A 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 aA’ | b</a:t>
            </a:r>
          </a:p>
          <a:p>
            <a:pPr eaLnBrk="1" hangingPunct="1">
              <a:buFontTx/>
              <a:buNone/>
            </a:pP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A’  d |   | </a:t>
            </a:r>
            <a:r>
              <a:rPr kumimoji="1" lang="en-US" altLang="zh-CN" sz="32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bA’’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buFontTx/>
              <a:buNone/>
            </a:pP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A’’    | c</a:t>
            </a:r>
          </a:p>
        </p:txBody>
      </p:sp>
      <p:sp>
        <p:nvSpPr>
          <p:cNvPr id="285701" name="Rectangle 5"/>
          <p:cNvSpPr>
            <a:spLocks noChangeArrowheads="1"/>
          </p:cNvSpPr>
          <p:nvPr/>
        </p:nvSpPr>
        <p:spPr bwMode="auto">
          <a:xfrm>
            <a:off x="6045200" y="4738688"/>
            <a:ext cx="3432175" cy="155416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zh-CN" sz="3200">
                <a:ea typeface="宋体" panose="02010600030101010101" pitchFamily="2" charset="-122"/>
              </a:rPr>
              <a:t>A 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 aA’ | b</a:t>
            </a:r>
          </a:p>
          <a:p>
            <a:pPr eaLnBrk="1" hangingPunct="1"/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A’  </a:t>
            </a:r>
            <a:r>
              <a:rPr kumimoji="1" lang="en-US" altLang="zh-CN" sz="32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bA’’ </a:t>
            </a:r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| d |  </a:t>
            </a:r>
          </a:p>
          <a:p>
            <a:pPr eaLnBrk="1" hangingPunct="1"/>
            <a:r>
              <a:rPr kumimoji="1"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A’’  c  | </a:t>
            </a:r>
          </a:p>
        </p:txBody>
      </p:sp>
      <p:sp>
        <p:nvSpPr>
          <p:cNvPr id="285702" name="Line 6"/>
          <p:cNvSpPr>
            <a:spLocks noChangeShapeType="1"/>
          </p:cNvSpPr>
          <p:nvPr/>
        </p:nvSpPr>
        <p:spPr bwMode="auto">
          <a:xfrm>
            <a:off x="4875213" y="5675313"/>
            <a:ext cx="1092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703" name="Rectangle 7"/>
          <p:cNvSpPr>
            <a:spLocks noChangeArrowheads="1"/>
          </p:cNvSpPr>
          <p:nvPr/>
        </p:nvSpPr>
        <p:spPr bwMode="auto">
          <a:xfrm>
            <a:off x="6122988" y="4235450"/>
            <a:ext cx="200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Normal form: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0" grpId="0"/>
      <p:bldP spid="285701" grpId="0" animBg="1"/>
      <p:bldP spid="28570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DA89C09-E9B7-45EB-BFB0-31F87FCB6BF3}" type="slidenum">
              <a:rPr lang="zh-CN" altLang="en-US" sz="800"/>
              <a:pPr/>
              <a:t>49</a:t>
            </a:fld>
            <a:endParaRPr lang="en-US" altLang="zh-CN" sz="80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Non-Context Free Language Constructs (P.179)</a:t>
            </a:r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There are some language constructions in the programming languages which are not context-free. This means that, we cannot write a context-free grammar for these constructions.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Example 4.11: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L1 = {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c |  is in (a|b)*}	is not context-free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 	declaring an identifier and checking whether it is declared or not 	later. We cannot do this with a context-free language. We need 	semantic analyzer (which is not context-free).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Example 4.12:</a:t>
            </a: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L2 = {a</a:t>
            </a:r>
            <a:r>
              <a:rPr lang="en-US" altLang="zh-CN" baseline="30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b</a:t>
            </a:r>
            <a:r>
              <a:rPr lang="en-US" altLang="zh-CN" baseline="30000" smtClean="0"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c</a:t>
            </a:r>
            <a:r>
              <a:rPr lang="en-US" altLang="zh-CN" baseline="30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d</a:t>
            </a:r>
            <a:r>
              <a:rPr lang="en-US" altLang="zh-CN" baseline="30000" smtClean="0">
                <a:ea typeface="宋体" panose="02010600030101010101" pitchFamily="2" charset="-122"/>
              </a:rPr>
              <a:t>m </a:t>
            </a:r>
            <a:r>
              <a:rPr lang="en-US" altLang="zh-CN" smtClean="0">
                <a:ea typeface="宋体" panose="02010600030101010101" pitchFamily="2" charset="-122"/>
              </a:rPr>
              <a:t>|  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1 and </a:t>
            </a:r>
            <a:r>
              <a:rPr lang="en-US" altLang="zh-CN" smtClean="0"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1 }	is not context-free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 	declaring two functions (one with n parameters, the other one with 	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	m parameters), and then calling them with actual parameters.</a:t>
            </a:r>
            <a:endParaRPr lang="en-US" altLang="zh-CN" baseline="30000" smtClean="0">
              <a:ea typeface="宋体" panose="02010600030101010101" pitchFamily="2" charset="-122"/>
            </a:endParaRPr>
          </a:p>
          <a:p>
            <a:endParaRPr lang="zh-CN" altLang="en-US" baseline="30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522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522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B7C475-DE64-4FDD-9E79-11261A5C8932}" type="slidenum">
              <a:rPr lang="zh-CN" altLang="en-US" sz="800"/>
              <a:pPr/>
              <a:t>50</a:t>
            </a:fld>
            <a:endParaRPr lang="en-US" altLang="zh-CN" sz="80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小结</a:t>
            </a: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925" y="1412875"/>
            <a:ext cx="8964613" cy="37338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理解上下文无关文法、句型、句子的概念，掌握最左推导、最右推导及语法树的构建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理解文法的二义性概念以及如何消除文法的二义性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掌握左递归消除和左因式分解的方法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7170</TotalTime>
  <Words>4353</Words>
  <Application>Microsoft Office PowerPoint</Application>
  <PresentationFormat>A4 纸张(210x297 毫米)</PresentationFormat>
  <Paragraphs>978</Paragraphs>
  <Slides>50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7" baseType="lpstr">
      <vt:lpstr>Times New Roman</vt:lpstr>
      <vt:lpstr>Arial</vt:lpstr>
      <vt:lpstr>宋体</vt:lpstr>
      <vt:lpstr>Wingdings</vt:lpstr>
      <vt:lpstr>Courier New</vt:lpstr>
      <vt:lpstr>Symbol</vt:lpstr>
      <vt:lpstr>Default Design</vt:lpstr>
      <vt:lpstr>Syntax Analysis (Parsing) (P.159)</vt:lpstr>
      <vt:lpstr>What are some Typical Errors ?</vt:lpstr>
      <vt:lpstr>Parsers (cont.)</vt:lpstr>
      <vt:lpstr>PowerPoint 演示文稿</vt:lpstr>
      <vt:lpstr>PowerPoint 演示文稿</vt:lpstr>
      <vt:lpstr>PowerPoint 演示文稿</vt:lpstr>
      <vt:lpstr>PowerPoint 演示文稿</vt:lpstr>
      <vt:lpstr>Syntax analyzer</vt:lpstr>
      <vt:lpstr>Grammar &amp; language</vt:lpstr>
      <vt:lpstr>PowerPoint 演示文稿</vt:lpstr>
      <vt:lpstr>Context-Free Grammars (P.165)</vt:lpstr>
      <vt:lpstr>PowerPoint 演示文稿</vt:lpstr>
      <vt:lpstr>Example Grammar</vt:lpstr>
      <vt:lpstr>Terminology (cont.)</vt:lpstr>
      <vt:lpstr>How does this relate to Languages?</vt:lpstr>
      <vt:lpstr>Example Grammar – Terminology (P.166)</vt:lpstr>
      <vt:lpstr>Derivations</vt:lpstr>
      <vt:lpstr>Grammar Concepts</vt:lpstr>
      <vt:lpstr>Other Derivation Concepts (P.169)</vt:lpstr>
      <vt:lpstr>Derivation Example</vt:lpstr>
      <vt:lpstr>Left-Most and Right-Most Derivations</vt:lpstr>
      <vt:lpstr>Derivation exercise 1 in class</vt:lpstr>
      <vt:lpstr>PowerPoint 演示文稿</vt:lpstr>
      <vt:lpstr>Parse Tree (P.169)</vt:lpstr>
      <vt:lpstr>Examples of LM / RM Derivations</vt:lpstr>
      <vt:lpstr>PowerPoint 演示文稿</vt:lpstr>
      <vt:lpstr>Parse Trees and Derivations</vt:lpstr>
      <vt:lpstr>Parse Tree &amp; Derivations (cont.)</vt:lpstr>
      <vt:lpstr>Alternative Parse Tree &amp; Derivation</vt:lpstr>
      <vt:lpstr>Ambiguity （二义性）(P.171)</vt:lpstr>
      <vt:lpstr>Ambiguity (cont.)</vt:lpstr>
      <vt:lpstr>Ambiguity – Operator Precedence</vt:lpstr>
      <vt:lpstr>Eliminating Ambiguity (P.174)</vt:lpstr>
      <vt:lpstr>Example :  What Happens with this string?</vt:lpstr>
      <vt:lpstr>Parse Trees for Example (P.175)</vt:lpstr>
      <vt:lpstr>Ambiguity (cont.) (P.175)</vt:lpstr>
      <vt:lpstr>Left Recursion (P.176)</vt:lpstr>
      <vt:lpstr>PowerPoint 演示文稿</vt:lpstr>
      <vt:lpstr>Immediate Left-Recursion</vt:lpstr>
      <vt:lpstr>Eliminate immediate left recursion exercise 1 in class </vt:lpstr>
      <vt:lpstr>Left-Recursion -- Problem</vt:lpstr>
      <vt:lpstr>Elimination of Left-Recursion (P.176)</vt:lpstr>
      <vt:lpstr>Example</vt:lpstr>
      <vt:lpstr>Left-Factoring （左因式分解）(P.178)</vt:lpstr>
      <vt:lpstr>Left-Factoring (cont.)</vt:lpstr>
      <vt:lpstr>Left-Factoring -- Algorithm </vt:lpstr>
      <vt:lpstr>Left-Factoring – Example1</vt:lpstr>
      <vt:lpstr>Left-Factoring exercise 1 in class</vt:lpstr>
      <vt:lpstr>Non-Context Free Language Constructs (P.179)</vt:lpstr>
      <vt:lpstr>小结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Compiler Design</dc:title>
  <dc:creator>Ilyas Cicekli</dc:creator>
  <cp:lastModifiedBy>Exin Y</cp:lastModifiedBy>
  <cp:revision>293</cp:revision>
  <cp:lastPrinted>1999-09-09T03:15:50Z</cp:lastPrinted>
  <dcterms:created xsi:type="dcterms:W3CDTF">1999-01-20T19:57:44Z</dcterms:created>
  <dcterms:modified xsi:type="dcterms:W3CDTF">2015-10-07T09:27:28Z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