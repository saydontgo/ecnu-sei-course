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59"/>
  </p:notesMasterIdLst>
  <p:handoutMasterIdLst>
    <p:handoutMasterId r:id="rId60"/>
  </p:handoutMasterIdLst>
  <p:sldIdLst>
    <p:sldId id="354" r:id="rId2"/>
    <p:sldId id="356" r:id="rId3"/>
    <p:sldId id="357" r:id="rId4"/>
    <p:sldId id="358" r:id="rId5"/>
    <p:sldId id="359" r:id="rId6"/>
    <p:sldId id="360" r:id="rId7"/>
    <p:sldId id="361" r:id="rId8"/>
    <p:sldId id="447" r:id="rId9"/>
    <p:sldId id="362" r:id="rId10"/>
    <p:sldId id="363" r:id="rId11"/>
    <p:sldId id="364" r:id="rId12"/>
    <p:sldId id="365" r:id="rId13"/>
    <p:sldId id="366" r:id="rId14"/>
    <p:sldId id="367" r:id="rId15"/>
    <p:sldId id="368" r:id="rId16"/>
    <p:sldId id="369" r:id="rId17"/>
    <p:sldId id="279" r:id="rId18"/>
    <p:sldId id="371" r:id="rId19"/>
    <p:sldId id="370" r:id="rId20"/>
    <p:sldId id="372" r:id="rId21"/>
    <p:sldId id="319" r:id="rId22"/>
    <p:sldId id="373" r:id="rId23"/>
    <p:sldId id="280" r:id="rId24"/>
    <p:sldId id="448" r:id="rId25"/>
    <p:sldId id="374" r:id="rId26"/>
    <p:sldId id="375" r:id="rId27"/>
    <p:sldId id="384" r:id="rId28"/>
    <p:sldId id="281" r:id="rId29"/>
    <p:sldId id="452" r:id="rId30"/>
    <p:sldId id="376" r:id="rId31"/>
    <p:sldId id="377" r:id="rId32"/>
    <p:sldId id="378" r:id="rId33"/>
    <p:sldId id="379" r:id="rId34"/>
    <p:sldId id="380" r:id="rId35"/>
    <p:sldId id="381" r:id="rId36"/>
    <p:sldId id="382" r:id="rId37"/>
    <p:sldId id="383" r:id="rId38"/>
    <p:sldId id="385" r:id="rId39"/>
    <p:sldId id="386" r:id="rId40"/>
    <p:sldId id="285" r:id="rId41"/>
    <p:sldId id="387" r:id="rId42"/>
    <p:sldId id="390" r:id="rId43"/>
    <p:sldId id="397" r:id="rId44"/>
    <p:sldId id="400" r:id="rId45"/>
    <p:sldId id="398" r:id="rId46"/>
    <p:sldId id="403" r:id="rId47"/>
    <p:sldId id="290" r:id="rId48"/>
    <p:sldId id="409" r:id="rId49"/>
    <p:sldId id="401" r:id="rId50"/>
    <p:sldId id="291" r:id="rId51"/>
    <p:sldId id="449" r:id="rId52"/>
    <p:sldId id="408" r:id="rId53"/>
    <p:sldId id="411" r:id="rId54"/>
    <p:sldId id="450" r:id="rId55"/>
    <p:sldId id="451" r:id="rId56"/>
    <p:sldId id="453" r:id="rId57"/>
    <p:sldId id="454" r:id="rId58"/>
  </p:sldIdLst>
  <p:sldSz cx="9906000" cy="6858000" type="A4"/>
  <p:notesSz cx="6997700" cy="9283700"/>
  <p:defaultTextStyle>
    <a:defPPr>
      <a:defRPr lang="en-US"/>
    </a:defPPr>
    <a:lvl1pPr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5pPr>
    <a:lvl6pPr marL="2286000" algn="l" defTabSz="914400" rtl="0" eaLnBrk="1" latinLnBrk="0" hangingPunct="1">
      <a:defRPr sz="2400" b="1" kern="1200">
        <a:solidFill>
          <a:schemeClr val="tx1"/>
        </a:solidFill>
        <a:latin typeface="Times New Roman" panose="02020603050405020304" pitchFamily="18" charset="0"/>
        <a:ea typeface="+mn-ea"/>
        <a:cs typeface="+mn-cs"/>
      </a:defRPr>
    </a:lvl6pPr>
    <a:lvl7pPr marL="2743200" algn="l" defTabSz="914400" rtl="0" eaLnBrk="1" latinLnBrk="0" hangingPunct="1">
      <a:defRPr sz="2400" b="1" kern="1200">
        <a:solidFill>
          <a:schemeClr val="tx1"/>
        </a:solidFill>
        <a:latin typeface="Times New Roman" panose="02020603050405020304" pitchFamily="18" charset="0"/>
        <a:ea typeface="+mn-ea"/>
        <a:cs typeface="+mn-cs"/>
      </a:defRPr>
    </a:lvl7pPr>
    <a:lvl8pPr marL="3200400" algn="l" defTabSz="914400" rtl="0" eaLnBrk="1" latinLnBrk="0" hangingPunct="1">
      <a:defRPr sz="2400" b="1" kern="1200">
        <a:solidFill>
          <a:schemeClr val="tx1"/>
        </a:solidFill>
        <a:latin typeface="Times New Roman" panose="02020603050405020304" pitchFamily="18" charset="0"/>
        <a:ea typeface="+mn-ea"/>
        <a:cs typeface="+mn-cs"/>
      </a:defRPr>
    </a:lvl8pPr>
    <a:lvl9pPr marL="3657600" algn="l" defTabSz="914400" rtl="0" eaLnBrk="1" latinLnBrk="0" hangingPunct="1">
      <a:defRPr sz="24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680">
          <p15:clr>
            <a:srgbClr val="A4A3A4"/>
          </p15:clr>
        </p15:guide>
        <p15:guide id="2" pos="3072">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99"/>
    <a:srgbClr val="9900CC"/>
    <a:srgbClr val="FFCCFF"/>
    <a:srgbClr val="CCECFF"/>
    <a:srgbClr val="66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92" autoAdjust="0"/>
    <p:restoredTop sz="96223" autoAdjust="0"/>
  </p:normalViewPr>
  <p:slideViewPr>
    <p:cSldViewPr>
      <p:cViewPr varScale="1">
        <p:scale>
          <a:sx n="77" d="100"/>
          <a:sy n="77" d="100"/>
        </p:scale>
        <p:origin x="984" y="78"/>
      </p:cViewPr>
      <p:guideLst>
        <p:guide orient="horz" pos="1680"/>
        <p:guide pos="30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55" d="100"/>
          <a:sy n="55" d="100"/>
        </p:scale>
        <p:origin x="-1188" y="-102"/>
      </p:cViewPr>
      <p:guideLst>
        <p:guide orient="horz" pos="2924"/>
        <p:guide pos="22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1186" name="Rectangle 2"/>
          <p:cNvSpPr>
            <a:spLocks noGrp="1" noChangeArrowheads="1"/>
          </p:cNvSpPr>
          <p:nvPr>
            <p:ph type="hdr" sz="quarter"/>
          </p:nvPr>
        </p:nvSpPr>
        <p:spPr bwMode="auto">
          <a:xfrm>
            <a:off x="0" y="0"/>
            <a:ext cx="3030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84" tIns="45542" rIns="91084" bIns="45542" numCol="1" anchor="t" anchorCtr="0" compatLnSpc="1">
            <a:prstTxWarp prst="textNoShape">
              <a:avLst/>
            </a:prstTxWarp>
          </a:bodyPr>
          <a:lstStyle>
            <a:lvl1pPr defTabSz="911225">
              <a:defRPr sz="1200" b="0" smtClean="0"/>
            </a:lvl1pPr>
          </a:lstStyle>
          <a:p>
            <a:pPr>
              <a:defRPr/>
            </a:pPr>
            <a:r>
              <a:rPr lang="zh-CN" altLang="en-US"/>
              <a:t>lec01-lexicalanalyzer</a:t>
            </a:r>
          </a:p>
        </p:txBody>
      </p:sp>
      <p:sp>
        <p:nvSpPr>
          <p:cNvPr id="221187" name="Rectangle 3"/>
          <p:cNvSpPr>
            <a:spLocks noGrp="1" noChangeArrowheads="1"/>
          </p:cNvSpPr>
          <p:nvPr>
            <p:ph type="dt" sz="quarter" idx="1"/>
          </p:nvPr>
        </p:nvSpPr>
        <p:spPr bwMode="auto">
          <a:xfrm>
            <a:off x="3943350" y="0"/>
            <a:ext cx="3030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84" tIns="45542" rIns="91084" bIns="45542" numCol="1" anchor="t" anchorCtr="0" compatLnSpc="1">
            <a:prstTxWarp prst="textNoShape">
              <a:avLst/>
            </a:prstTxWarp>
          </a:bodyPr>
          <a:lstStyle>
            <a:lvl1pPr algn="r" defTabSz="911225">
              <a:defRPr sz="1200" b="0" smtClean="0"/>
            </a:lvl1pPr>
          </a:lstStyle>
          <a:p>
            <a:pPr>
              <a:defRPr/>
            </a:pPr>
            <a:fld id="{F5E10597-B8E9-4C83-8E24-7509C67E67A0}" type="datetime4">
              <a:rPr lang="zh-CN" altLang="en-US"/>
              <a:pPr>
                <a:defRPr/>
              </a:pPr>
              <a:t>2015年10月7日星期三</a:t>
            </a:fld>
            <a:endParaRPr lang="en-US" altLang="zh-CN"/>
          </a:p>
        </p:txBody>
      </p:sp>
      <p:sp>
        <p:nvSpPr>
          <p:cNvPr id="221188" name="Rectangle 4"/>
          <p:cNvSpPr>
            <a:spLocks noGrp="1" noChangeArrowheads="1"/>
          </p:cNvSpPr>
          <p:nvPr>
            <p:ph type="ftr" sz="quarter" idx="2"/>
          </p:nvPr>
        </p:nvSpPr>
        <p:spPr bwMode="auto">
          <a:xfrm>
            <a:off x="0" y="8826500"/>
            <a:ext cx="3030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84" tIns="45542" rIns="91084" bIns="45542" numCol="1" anchor="b" anchorCtr="0" compatLnSpc="1">
            <a:prstTxWarp prst="textNoShape">
              <a:avLst/>
            </a:prstTxWarp>
          </a:bodyPr>
          <a:lstStyle>
            <a:lvl1pPr defTabSz="911225">
              <a:defRPr sz="1200" b="0" smtClean="0"/>
            </a:lvl1pPr>
          </a:lstStyle>
          <a:p>
            <a:pPr>
              <a:defRPr/>
            </a:pPr>
            <a:endParaRPr lang="en-US" altLang="zh-CN"/>
          </a:p>
        </p:txBody>
      </p:sp>
      <p:sp>
        <p:nvSpPr>
          <p:cNvPr id="221189" name="Rectangle 5"/>
          <p:cNvSpPr>
            <a:spLocks noGrp="1" noChangeArrowheads="1"/>
          </p:cNvSpPr>
          <p:nvPr>
            <p:ph type="sldNum" sz="quarter" idx="3"/>
          </p:nvPr>
        </p:nvSpPr>
        <p:spPr bwMode="auto">
          <a:xfrm>
            <a:off x="3943350" y="8826500"/>
            <a:ext cx="3030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084" tIns="45542" rIns="91084" bIns="45542" numCol="1" anchor="b" anchorCtr="0" compatLnSpc="1">
            <a:prstTxWarp prst="textNoShape">
              <a:avLst/>
            </a:prstTxWarp>
          </a:bodyPr>
          <a:lstStyle>
            <a:lvl1pPr algn="r" defTabSz="911225">
              <a:defRPr sz="1200" b="0"/>
            </a:lvl1pPr>
          </a:lstStyle>
          <a:p>
            <a:fld id="{C5CA6A61-0FCD-47AF-AADC-B12485ABE0F5}"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30305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51" tIns="46476" rIns="92951" bIns="46476" numCol="1" anchor="t" anchorCtr="0" compatLnSpc="1">
            <a:prstTxWarp prst="textNoShape">
              <a:avLst/>
            </a:prstTxWarp>
          </a:bodyPr>
          <a:lstStyle>
            <a:lvl1pPr defTabSz="928688">
              <a:defRPr sz="1200" b="0" smtClean="0"/>
            </a:lvl1pPr>
          </a:lstStyle>
          <a:p>
            <a:pPr>
              <a:defRPr/>
            </a:pPr>
            <a:r>
              <a:rPr lang="zh-CN" altLang="en-US"/>
              <a:t>lec01-lexicalanalyzer</a:t>
            </a:r>
          </a:p>
        </p:txBody>
      </p:sp>
      <p:sp>
        <p:nvSpPr>
          <p:cNvPr id="38915" name="Rectangle 3"/>
          <p:cNvSpPr>
            <a:spLocks noGrp="1" noChangeArrowheads="1"/>
          </p:cNvSpPr>
          <p:nvPr>
            <p:ph type="dt" idx="1"/>
          </p:nvPr>
        </p:nvSpPr>
        <p:spPr bwMode="auto">
          <a:xfrm>
            <a:off x="3967163" y="0"/>
            <a:ext cx="3030537"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51" tIns="46476" rIns="92951" bIns="46476" numCol="1" anchor="t" anchorCtr="0" compatLnSpc="1">
            <a:prstTxWarp prst="textNoShape">
              <a:avLst/>
            </a:prstTxWarp>
          </a:bodyPr>
          <a:lstStyle>
            <a:lvl1pPr algn="r" defTabSz="928688">
              <a:defRPr sz="1200" b="0" smtClean="0"/>
            </a:lvl1pPr>
          </a:lstStyle>
          <a:p>
            <a:pPr>
              <a:defRPr/>
            </a:pPr>
            <a:fld id="{B36E81ED-9C85-460D-B298-FC27135EFC96}" type="datetime4">
              <a:rPr lang="zh-CN" altLang="en-US"/>
              <a:pPr>
                <a:defRPr/>
              </a:pPr>
              <a:t>2015年10月7日星期三</a:t>
            </a:fld>
            <a:endParaRPr lang="en-US" altLang="zh-CN"/>
          </a:p>
        </p:txBody>
      </p:sp>
      <p:sp>
        <p:nvSpPr>
          <p:cNvPr id="60420" name="Rectangle 4"/>
          <p:cNvSpPr>
            <a:spLocks noChangeArrowheads="1" noTextEdit="1"/>
          </p:cNvSpPr>
          <p:nvPr>
            <p:ph type="sldImg" idx="2"/>
          </p:nvPr>
        </p:nvSpPr>
        <p:spPr bwMode="auto">
          <a:xfrm>
            <a:off x="985838" y="695325"/>
            <a:ext cx="5029200" cy="34813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7" name="Rectangle 5"/>
          <p:cNvSpPr>
            <a:spLocks noGrp="1" noChangeArrowheads="1"/>
          </p:cNvSpPr>
          <p:nvPr>
            <p:ph type="body" sz="quarter" idx="3"/>
          </p:nvPr>
        </p:nvSpPr>
        <p:spPr bwMode="auto">
          <a:xfrm>
            <a:off x="933450" y="4411663"/>
            <a:ext cx="5130800" cy="417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51" tIns="46476" rIns="92951" bIns="46476" numCol="1" anchor="t" anchorCtr="0" compatLnSpc="1">
            <a:prstTxWarp prst="textNoShape">
              <a:avLst/>
            </a:prstTxWarp>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38918" name="Rectangle 6"/>
          <p:cNvSpPr>
            <a:spLocks noGrp="1" noChangeArrowheads="1"/>
          </p:cNvSpPr>
          <p:nvPr>
            <p:ph type="ftr" sz="quarter" idx="4"/>
          </p:nvPr>
        </p:nvSpPr>
        <p:spPr bwMode="auto">
          <a:xfrm>
            <a:off x="0" y="8818563"/>
            <a:ext cx="30305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51" tIns="46476" rIns="92951" bIns="46476" numCol="1" anchor="b" anchorCtr="0" compatLnSpc="1">
            <a:prstTxWarp prst="textNoShape">
              <a:avLst/>
            </a:prstTxWarp>
          </a:bodyPr>
          <a:lstStyle>
            <a:lvl1pPr defTabSz="928688">
              <a:defRPr sz="1200" b="0" smtClean="0"/>
            </a:lvl1pPr>
          </a:lstStyle>
          <a:p>
            <a:pPr>
              <a:defRPr/>
            </a:pPr>
            <a:endParaRPr lang="en-US" altLang="zh-CN"/>
          </a:p>
        </p:txBody>
      </p:sp>
      <p:sp>
        <p:nvSpPr>
          <p:cNvPr id="38919" name="Rectangle 7"/>
          <p:cNvSpPr>
            <a:spLocks noGrp="1" noChangeArrowheads="1"/>
          </p:cNvSpPr>
          <p:nvPr>
            <p:ph type="sldNum" sz="quarter" idx="5"/>
          </p:nvPr>
        </p:nvSpPr>
        <p:spPr bwMode="auto">
          <a:xfrm>
            <a:off x="3967163" y="8818563"/>
            <a:ext cx="3030537"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51" tIns="46476" rIns="92951" bIns="46476" numCol="1" anchor="b" anchorCtr="0" compatLnSpc="1">
            <a:prstTxWarp prst="textNoShape">
              <a:avLst/>
            </a:prstTxWarp>
          </a:bodyPr>
          <a:lstStyle>
            <a:lvl1pPr algn="r" defTabSz="928688">
              <a:defRPr sz="1200" b="0"/>
            </a:lvl1pPr>
          </a:lstStyle>
          <a:p>
            <a:fld id="{0269D6EF-39EC-44DA-8B81-C18E4D5BDA96}" type="slidenum">
              <a:rPr lang="zh-CN" altLang="en-US"/>
              <a:pPr/>
              <a:t>‹#›</a:t>
            </a:fld>
            <a:endParaRPr lang="en-US" altLang="zh-CN"/>
          </a:p>
        </p:txBody>
      </p:sp>
    </p:spTree>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1443"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DEBE0069-B7F7-4C5B-B8AE-E431CE6C30B2}" type="datetime4">
              <a:rPr lang="zh-CN" altLang="en-US" sz="1200" b="0"/>
              <a:pPr/>
              <a:t>2015年10月7日星期三</a:t>
            </a:fld>
            <a:endParaRPr lang="en-US" altLang="zh-CN" sz="1200" b="0"/>
          </a:p>
        </p:txBody>
      </p:sp>
      <p:sp>
        <p:nvSpPr>
          <p:cNvPr id="61444"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063D5BF1-62BE-4745-80C5-DE3AB24B81B9}" type="slidenum">
              <a:rPr lang="zh-CN" altLang="en-US" sz="1200" b="0"/>
              <a:pPr/>
              <a:t>1</a:t>
            </a:fld>
            <a:endParaRPr lang="en-US" altLang="zh-CN" sz="1200" b="0"/>
          </a:p>
        </p:txBody>
      </p:sp>
      <p:sp>
        <p:nvSpPr>
          <p:cNvPr id="61445" name="Rectangle 2"/>
          <p:cNvSpPr>
            <a:spLocks noChangeArrowheads="1" noTextEdit="1"/>
          </p:cNvSpPr>
          <p:nvPr>
            <p:ph type="sldImg"/>
          </p:nvPr>
        </p:nvSpPr>
        <p:spPr>
          <a:xfrm>
            <a:off x="989013" y="696913"/>
            <a:ext cx="5024437" cy="3479800"/>
          </a:xfrm>
          <a:ln/>
        </p:spPr>
      </p:sp>
      <p:sp>
        <p:nvSpPr>
          <p:cNvPr id="61446"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2467"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6A8DFBE1-63EF-4944-81C3-720AC9972AA4}" type="datetime4">
              <a:rPr lang="zh-CN" altLang="en-US" sz="1200" b="0"/>
              <a:pPr/>
              <a:t>2015年10月7日星期三</a:t>
            </a:fld>
            <a:endParaRPr lang="en-US" altLang="zh-CN" sz="1200" b="0"/>
          </a:p>
        </p:txBody>
      </p:sp>
      <p:sp>
        <p:nvSpPr>
          <p:cNvPr id="62468"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8C8126FF-01DD-42EC-AB5E-C8A591FAEBF5}" type="slidenum">
              <a:rPr lang="zh-CN" altLang="en-US" sz="1200" b="0"/>
              <a:pPr/>
              <a:t>2</a:t>
            </a:fld>
            <a:endParaRPr lang="en-US" altLang="zh-CN" sz="1200" b="0"/>
          </a:p>
        </p:txBody>
      </p:sp>
      <p:sp>
        <p:nvSpPr>
          <p:cNvPr id="62469" name="Rectangle 2"/>
          <p:cNvSpPr>
            <a:spLocks noChangeArrowheads="1" noTextEdit="1"/>
          </p:cNvSpPr>
          <p:nvPr>
            <p:ph type="sldImg"/>
          </p:nvPr>
        </p:nvSpPr>
        <p:spPr>
          <a:xfrm>
            <a:off x="989013" y="696913"/>
            <a:ext cx="5024437" cy="3479800"/>
          </a:xfrm>
          <a:ln/>
        </p:spPr>
      </p:sp>
      <p:sp>
        <p:nvSpPr>
          <p:cNvPr id="62470"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3491"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F19702F4-2C36-4C8C-8198-293F0B1D592D}" type="datetime4">
              <a:rPr lang="zh-CN" altLang="en-US" sz="1200" b="0"/>
              <a:pPr/>
              <a:t>2015年10月7日星期三</a:t>
            </a:fld>
            <a:endParaRPr lang="en-US" altLang="zh-CN" sz="1200" b="0"/>
          </a:p>
        </p:txBody>
      </p:sp>
      <p:sp>
        <p:nvSpPr>
          <p:cNvPr id="63492"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2C1564A7-2F3C-4EE0-A540-ED5A09BCAF4F}" type="slidenum">
              <a:rPr lang="zh-CN" altLang="en-US" sz="1200" b="0"/>
              <a:pPr/>
              <a:t>3</a:t>
            </a:fld>
            <a:endParaRPr lang="en-US" altLang="zh-CN" sz="1200" b="0"/>
          </a:p>
        </p:txBody>
      </p:sp>
      <p:sp>
        <p:nvSpPr>
          <p:cNvPr id="63493" name="Rectangle 2"/>
          <p:cNvSpPr>
            <a:spLocks noChangeArrowheads="1" noTextEdit="1"/>
          </p:cNvSpPr>
          <p:nvPr>
            <p:ph type="sldImg"/>
          </p:nvPr>
        </p:nvSpPr>
        <p:spPr>
          <a:xfrm>
            <a:off x="989013" y="696913"/>
            <a:ext cx="5024437" cy="3479800"/>
          </a:xfrm>
          <a:ln/>
        </p:spPr>
      </p:sp>
      <p:sp>
        <p:nvSpPr>
          <p:cNvPr id="63494"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4515"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5C9F3C1A-671B-4304-BB2E-35D3620AB7BF}" type="datetime4">
              <a:rPr lang="zh-CN" altLang="en-US" sz="1200" b="0"/>
              <a:pPr/>
              <a:t>2015年10月7日星期三</a:t>
            </a:fld>
            <a:endParaRPr lang="en-US" altLang="zh-CN" sz="1200" b="0"/>
          </a:p>
        </p:txBody>
      </p:sp>
      <p:sp>
        <p:nvSpPr>
          <p:cNvPr id="64516"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2C9FDD3D-54E5-47B5-B304-E4C04E84E8C6}" type="slidenum">
              <a:rPr lang="zh-CN" altLang="en-US" sz="1200" b="0"/>
              <a:pPr/>
              <a:t>4</a:t>
            </a:fld>
            <a:endParaRPr lang="en-US" altLang="zh-CN" sz="1200" b="0"/>
          </a:p>
        </p:txBody>
      </p:sp>
      <p:sp>
        <p:nvSpPr>
          <p:cNvPr id="64517" name="Rectangle 2"/>
          <p:cNvSpPr>
            <a:spLocks noChangeArrowheads="1" noTextEdit="1"/>
          </p:cNvSpPr>
          <p:nvPr>
            <p:ph type="sldImg"/>
          </p:nvPr>
        </p:nvSpPr>
        <p:spPr>
          <a:xfrm>
            <a:off x="989013" y="696913"/>
            <a:ext cx="5024437" cy="3479800"/>
          </a:xfrm>
          <a:ln/>
        </p:spPr>
      </p:sp>
      <p:sp>
        <p:nvSpPr>
          <p:cNvPr id="64518" name="Rectangle 3"/>
          <p:cNvSpPr>
            <a:spLocks noGrp="1" noChangeArrowheads="1"/>
          </p:cNvSpPr>
          <p:nvPr>
            <p:ph type="body" idx="1"/>
          </p:nvPr>
        </p:nvSpPr>
        <p:spPr>
          <a:xfrm>
            <a:off x="933450" y="4410075"/>
            <a:ext cx="5130800" cy="4178300"/>
          </a:xfrm>
          <a:noFill/>
        </p:spPr>
        <p:txBody>
          <a:bodyPr/>
          <a:lstStyle/>
          <a:p>
            <a:r>
              <a:rPr lang="en-US" altLang="zh-CN" smtClean="0"/>
              <a:t>Concentric: </a:t>
            </a:r>
            <a:r>
              <a:rPr lang="zh-CN" altLang="en-US" smtClean="0"/>
              <a:t>同中心的</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5539"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6F8A2F26-2D07-4699-A99A-3B938C9D9172}" type="datetime4">
              <a:rPr lang="zh-CN" altLang="en-US" sz="1200" b="0"/>
              <a:pPr/>
              <a:t>2015年10月7日星期三</a:t>
            </a:fld>
            <a:endParaRPr lang="en-US" altLang="zh-CN" sz="1200" b="0"/>
          </a:p>
        </p:txBody>
      </p:sp>
      <p:sp>
        <p:nvSpPr>
          <p:cNvPr id="65540"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EE2084D8-7752-42E9-9D56-D84C0D01C8DA}" type="slidenum">
              <a:rPr lang="zh-CN" altLang="en-US" sz="1200" b="0"/>
              <a:pPr/>
              <a:t>5</a:t>
            </a:fld>
            <a:endParaRPr lang="en-US" altLang="zh-CN" sz="1200" b="0"/>
          </a:p>
        </p:txBody>
      </p:sp>
      <p:sp>
        <p:nvSpPr>
          <p:cNvPr id="65541" name="Rectangle 2"/>
          <p:cNvSpPr>
            <a:spLocks noChangeArrowheads="1" noTextEdit="1"/>
          </p:cNvSpPr>
          <p:nvPr>
            <p:ph type="sldImg"/>
          </p:nvPr>
        </p:nvSpPr>
        <p:spPr>
          <a:xfrm>
            <a:off x="989013" y="696913"/>
            <a:ext cx="5024437" cy="3479800"/>
          </a:xfrm>
          <a:ln/>
        </p:spPr>
      </p:sp>
      <p:sp>
        <p:nvSpPr>
          <p:cNvPr id="65542"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6563"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77A4619D-6A2B-4686-A5C9-B4DCC514ED42}" type="datetime4">
              <a:rPr lang="zh-CN" altLang="en-US" sz="1200" b="0"/>
              <a:pPr/>
              <a:t>2015年10月7日星期三</a:t>
            </a:fld>
            <a:endParaRPr lang="en-US" altLang="zh-CN" sz="1200" b="0"/>
          </a:p>
        </p:txBody>
      </p:sp>
      <p:sp>
        <p:nvSpPr>
          <p:cNvPr id="66564"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B76956A1-0E6E-4576-95A3-44395EA1EE84}" type="slidenum">
              <a:rPr lang="zh-CN" altLang="en-US" sz="1200" b="0"/>
              <a:pPr/>
              <a:t>6</a:t>
            </a:fld>
            <a:endParaRPr lang="en-US" altLang="zh-CN" sz="1200" b="0"/>
          </a:p>
        </p:txBody>
      </p:sp>
      <p:sp>
        <p:nvSpPr>
          <p:cNvPr id="66565" name="Rectangle 2"/>
          <p:cNvSpPr>
            <a:spLocks noChangeArrowheads="1" noTextEdit="1"/>
          </p:cNvSpPr>
          <p:nvPr>
            <p:ph type="sldImg"/>
          </p:nvPr>
        </p:nvSpPr>
        <p:spPr>
          <a:xfrm>
            <a:off x="989013" y="696913"/>
            <a:ext cx="5024437" cy="3479800"/>
          </a:xfrm>
          <a:ln/>
        </p:spPr>
      </p:sp>
      <p:sp>
        <p:nvSpPr>
          <p:cNvPr id="66566"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7587"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2B34261F-328E-412F-BCD4-F5889493FD05}" type="datetime4">
              <a:rPr lang="zh-CN" altLang="en-US" sz="1200" b="0"/>
              <a:pPr/>
              <a:t>2015年10月7日星期三</a:t>
            </a:fld>
            <a:endParaRPr lang="en-US" altLang="zh-CN" sz="1200" b="0"/>
          </a:p>
        </p:txBody>
      </p:sp>
      <p:sp>
        <p:nvSpPr>
          <p:cNvPr id="67588"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5C444863-AA49-40FB-809D-7FE4E5AE5239}" type="slidenum">
              <a:rPr lang="zh-CN" altLang="en-US" sz="1200" b="0"/>
              <a:pPr/>
              <a:t>7</a:t>
            </a:fld>
            <a:endParaRPr lang="en-US" altLang="zh-CN" sz="1200" b="0"/>
          </a:p>
        </p:txBody>
      </p:sp>
      <p:sp>
        <p:nvSpPr>
          <p:cNvPr id="67589" name="Rectangle 2"/>
          <p:cNvSpPr>
            <a:spLocks noChangeArrowheads="1" noTextEdit="1"/>
          </p:cNvSpPr>
          <p:nvPr>
            <p:ph type="sldImg"/>
          </p:nvPr>
        </p:nvSpPr>
        <p:spPr>
          <a:xfrm>
            <a:off x="989013" y="696913"/>
            <a:ext cx="5024437" cy="3479800"/>
          </a:xfrm>
          <a:ln/>
        </p:spPr>
      </p:sp>
      <p:sp>
        <p:nvSpPr>
          <p:cNvPr id="67590"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8611"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F5D1223A-D84A-4F3C-8806-B1A3EA69C639}" type="datetime4">
              <a:rPr lang="zh-CN" altLang="en-US" sz="1200" b="0"/>
              <a:pPr/>
              <a:t>2015年10月7日星期三</a:t>
            </a:fld>
            <a:endParaRPr lang="en-US" altLang="zh-CN" sz="1200" b="0"/>
          </a:p>
        </p:txBody>
      </p:sp>
      <p:sp>
        <p:nvSpPr>
          <p:cNvPr id="68612"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E85FDF66-E1DF-4F2D-B986-5D8F0CF037F8}" type="slidenum">
              <a:rPr lang="zh-CN" altLang="en-US" sz="1200" b="0"/>
              <a:pPr/>
              <a:t>9</a:t>
            </a:fld>
            <a:endParaRPr lang="en-US" altLang="zh-CN" sz="1200" b="0"/>
          </a:p>
        </p:txBody>
      </p:sp>
      <p:sp>
        <p:nvSpPr>
          <p:cNvPr id="68613" name="Rectangle 2"/>
          <p:cNvSpPr>
            <a:spLocks noChangeArrowheads="1" noTextEdit="1"/>
          </p:cNvSpPr>
          <p:nvPr>
            <p:ph type="sldImg"/>
          </p:nvPr>
        </p:nvSpPr>
        <p:spPr>
          <a:xfrm>
            <a:off x="989013" y="696913"/>
            <a:ext cx="5024437" cy="3479800"/>
          </a:xfrm>
          <a:ln/>
        </p:spPr>
      </p:sp>
      <p:sp>
        <p:nvSpPr>
          <p:cNvPr id="68614"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69635"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C0A0B8A1-50DB-4CFE-BF37-0A1FA4B55078}" type="datetime4">
              <a:rPr lang="zh-CN" altLang="en-US" sz="1200" b="0"/>
              <a:pPr/>
              <a:t>2015年10月7日星期三</a:t>
            </a:fld>
            <a:endParaRPr lang="en-US" altLang="zh-CN" sz="1200" b="0"/>
          </a:p>
        </p:txBody>
      </p:sp>
      <p:sp>
        <p:nvSpPr>
          <p:cNvPr id="69636"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7587E2C0-467F-4EDA-B31E-9251F48D017C}" type="slidenum">
              <a:rPr lang="zh-CN" altLang="en-US" sz="1200" b="0"/>
              <a:pPr/>
              <a:t>10</a:t>
            </a:fld>
            <a:endParaRPr lang="en-US" altLang="zh-CN" sz="1200" b="0"/>
          </a:p>
        </p:txBody>
      </p:sp>
      <p:sp>
        <p:nvSpPr>
          <p:cNvPr id="69637" name="Rectangle 2"/>
          <p:cNvSpPr>
            <a:spLocks noChangeArrowheads="1" noTextEdit="1"/>
          </p:cNvSpPr>
          <p:nvPr>
            <p:ph type="sldImg"/>
          </p:nvPr>
        </p:nvSpPr>
        <p:spPr>
          <a:xfrm>
            <a:off x="989013" y="696913"/>
            <a:ext cx="5024437" cy="3479800"/>
          </a:xfrm>
          <a:ln/>
        </p:spPr>
      </p:sp>
      <p:sp>
        <p:nvSpPr>
          <p:cNvPr id="69638"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0659"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57A8660E-2A0A-497D-A835-EE74B4C8E927}" type="datetime4">
              <a:rPr lang="zh-CN" altLang="en-US" sz="1200" b="0"/>
              <a:pPr/>
              <a:t>2015年10月7日星期三</a:t>
            </a:fld>
            <a:endParaRPr lang="en-US" altLang="zh-CN" sz="1200" b="0"/>
          </a:p>
        </p:txBody>
      </p:sp>
      <p:sp>
        <p:nvSpPr>
          <p:cNvPr id="70660"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6B219284-8A31-4AE2-940D-93646CE4375A}" type="slidenum">
              <a:rPr lang="zh-CN" altLang="en-US" sz="1200" b="0"/>
              <a:pPr/>
              <a:t>11</a:t>
            </a:fld>
            <a:endParaRPr lang="en-US" altLang="zh-CN" sz="1200" b="0"/>
          </a:p>
        </p:txBody>
      </p:sp>
      <p:sp>
        <p:nvSpPr>
          <p:cNvPr id="70661" name="Rectangle 2"/>
          <p:cNvSpPr>
            <a:spLocks noChangeArrowheads="1" noTextEdit="1"/>
          </p:cNvSpPr>
          <p:nvPr>
            <p:ph type="sldImg"/>
          </p:nvPr>
        </p:nvSpPr>
        <p:spPr>
          <a:xfrm>
            <a:off x="989013" y="696913"/>
            <a:ext cx="5024437" cy="3479800"/>
          </a:xfrm>
          <a:ln/>
        </p:spPr>
      </p:sp>
      <p:sp>
        <p:nvSpPr>
          <p:cNvPr id="70662"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1683"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E861400C-FEF1-4867-A045-697A44705293}" type="datetime4">
              <a:rPr lang="zh-CN" altLang="en-US" sz="1200" b="0"/>
              <a:pPr/>
              <a:t>2015年10月7日星期三</a:t>
            </a:fld>
            <a:endParaRPr lang="en-US" altLang="zh-CN" sz="1200" b="0"/>
          </a:p>
        </p:txBody>
      </p:sp>
      <p:sp>
        <p:nvSpPr>
          <p:cNvPr id="71684"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1A427FB3-7000-4705-AD94-2F5641379E83}" type="slidenum">
              <a:rPr lang="zh-CN" altLang="en-US" sz="1200" b="0"/>
              <a:pPr/>
              <a:t>12</a:t>
            </a:fld>
            <a:endParaRPr lang="en-US" altLang="zh-CN" sz="1200" b="0"/>
          </a:p>
        </p:txBody>
      </p:sp>
      <p:sp>
        <p:nvSpPr>
          <p:cNvPr id="71685" name="Rectangle 2"/>
          <p:cNvSpPr>
            <a:spLocks noChangeArrowheads="1" noTextEdit="1"/>
          </p:cNvSpPr>
          <p:nvPr>
            <p:ph type="sldImg"/>
          </p:nvPr>
        </p:nvSpPr>
        <p:spPr>
          <a:xfrm>
            <a:off x="989013" y="696913"/>
            <a:ext cx="5024437" cy="3479800"/>
          </a:xfrm>
          <a:ln/>
        </p:spPr>
      </p:sp>
      <p:sp>
        <p:nvSpPr>
          <p:cNvPr id="71686" name="Rectangle 3"/>
          <p:cNvSpPr>
            <a:spLocks noGrp="1" noChangeArrowheads="1"/>
          </p:cNvSpPr>
          <p:nvPr>
            <p:ph type="body" idx="1"/>
          </p:nvPr>
        </p:nvSpPr>
        <p:spPr>
          <a:xfrm>
            <a:off x="933450" y="4410075"/>
            <a:ext cx="5130800" cy="4178300"/>
          </a:xfrm>
          <a:noFill/>
        </p:spPr>
        <p:txBody>
          <a:bodyPr/>
          <a:lstStyle/>
          <a:p>
            <a:r>
              <a:rPr lang="zh-CN" altLang="en-US" smtClean="0"/>
              <a:t>关于单词（</a:t>
            </a:r>
            <a:r>
              <a:rPr lang="en-US" altLang="zh-CN" smtClean="0"/>
              <a:t>token</a:t>
            </a:r>
            <a:r>
              <a:rPr lang="zh-CN" altLang="en-US" smtClean="0"/>
              <a:t>）的值的说明：</a:t>
            </a:r>
          </a:p>
          <a:p>
            <a:r>
              <a:rPr lang="zh-CN" altLang="en-US" smtClean="0"/>
              <a:t>词法分析程序返回的是一个整型值，这个值就叫作</a:t>
            </a:r>
            <a:r>
              <a:rPr lang="en-US" altLang="zh-CN" smtClean="0"/>
              <a:t>token number</a:t>
            </a:r>
            <a:r>
              <a:rPr lang="zh-CN" altLang="en-US" smtClean="0"/>
              <a:t>。在</a:t>
            </a:r>
            <a:r>
              <a:rPr lang="en-US" altLang="zh-CN" smtClean="0"/>
              <a:t>GCC</a:t>
            </a:r>
            <a:r>
              <a:rPr lang="zh-CN" altLang="en-US" smtClean="0"/>
              <a:t>编译程序中，</a:t>
            </a:r>
            <a:r>
              <a:rPr lang="en-US" altLang="zh-CN" smtClean="0"/>
              <a:t>token </a:t>
            </a:r>
          </a:p>
          <a:p>
            <a:r>
              <a:rPr lang="en-US" altLang="zh-CN" smtClean="0"/>
              <a:t>number </a:t>
            </a:r>
            <a:r>
              <a:rPr lang="zh-CN" altLang="en-US" smtClean="0"/>
              <a:t>是经过</a:t>
            </a:r>
            <a:r>
              <a:rPr lang="en-US" altLang="zh-CN" smtClean="0"/>
              <a:t>c</a:t>
            </a:r>
            <a:r>
              <a:rPr lang="zh-CN" altLang="en-US" smtClean="0"/>
              <a:t>语言的宏定义命令来实现将其与对应的符号一一对应，词法分析程序才能够以返回这些符号来实现把这些数字返回给语法分析程序。例如：</a:t>
            </a:r>
          </a:p>
          <a:p>
            <a:r>
              <a:rPr lang="zh-CN" altLang="en-US" smtClean="0"/>
              <a:t>＃</a:t>
            </a:r>
            <a:r>
              <a:rPr lang="en-US" altLang="zh-CN" smtClean="0"/>
              <a:t>define IDENTIFIER 257</a:t>
            </a:r>
          </a:p>
          <a:p>
            <a:r>
              <a:rPr lang="zh-CN" altLang="en-US" smtClean="0"/>
              <a:t>这样在词法分析程序中就可用</a:t>
            </a:r>
            <a:r>
              <a:rPr lang="en-US" altLang="zh-CN" smtClean="0"/>
              <a:t>IDENTIFIER</a:t>
            </a:r>
            <a:r>
              <a:rPr lang="zh-CN" altLang="en-US" smtClean="0"/>
              <a:t>来作为返回值代替</a:t>
            </a:r>
            <a:r>
              <a:rPr lang="en-US" altLang="zh-CN" smtClean="0"/>
              <a:t>257</a:t>
            </a:r>
            <a:r>
              <a:rPr lang="zh-CN" altLang="en-US" smtClean="0"/>
              <a:t>，有利于程序代码的可读性。</a:t>
            </a:r>
          </a:p>
          <a:p>
            <a:r>
              <a:rPr lang="zh-CN" altLang="en-US" smtClean="0"/>
              <a:t>在</a:t>
            </a:r>
            <a:r>
              <a:rPr lang="en-US" altLang="zh-CN" smtClean="0"/>
              <a:t>YACC</a:t>
            </a:r>
            <a:r>
              <a:rPr lang="zh-CN" altLang="en-US" smtClean="0"/>
              <a:t>中对词法分析单词</a:t>
            </a:r>
            <a:r>
              <a:rPr lang="en-US" altLang="zh-CN" smtClean="0"/>
              <a:t>(token)</a:t>
            </a:r>
            <a:r>
              <a:rPr lang="zh-CN" altLang="en-US" smtClean="0"/>
              <a:t>的返回值有如下的规定：</a:t>
            </a:r>
          </a:p>
          <a:p>
            <a:r>
              <a:rPr lang="en-US" altLang="zh-CN" smtClean="0"/>
              <a:t>1</a:t>
            </a:r>
            <a:r>
              <a:rPr lang="zh-CN" altLang="en-US" smtClean="0"/>
              <a:t>、对字符集的字符，其默认的</a:t>
            </a:r>
            <a:r>
              <a:rPr lang="en-US" altLang="zh-CN" smtClean="0"/>
              <a:t>token number</a:t>
            </a:r>
            <a:r>
              <a:rPr lang="zh-CN" altLang="en-US" smtClean="0"/>
              <a:t>就是它的</a:t>
            </a:r>
            <a:r>
              <a:rPr lang="en-US" altLang="zh-CN" smtClean="0"/>
              <a:t>ASCII</a:t>
            </a:r>
            <a:r>
              <a:rPr lang="zh-CN" altLang="en-US" smtClean="0"/>
              <a:t>码的值，范围是</a:t>
            </a:r>
            <a:r>
              <a:rPr lang="en-US" altLang="zh-CN" smtClean="0"/>
              <a:t>0</a:t>
            </a:r>
            <a:r>
              <a:rPr lang="zh-CN" altLang="en-US" smtClean="0"/>
              <a:t>－</a:t>
            </a:r>
            <a:r>
              <a:rPr lang="en-US" altLang="zh-CN" smtClean="0"/>
              <a:t>255</a:t>
            </a:r>
            <a:r>
              <a:rPr lang="zh-CN" altLang="en-US" smtClean="0"/>
              <a:t>；</a:t>
            </a:r>
          </a:p>
          <a:p>
            <a:r>
              <a:rPr lang="en-US" altLang="zh-CN" smtClean="0"/>
              <a:t>2</a:t>
            </a:r>
            <a:r>
              <a:rPr lang="zh-CN" altLang="en-US" smtClean="0"/>
              <a:t>、其他名字的</a:t>
            </a:r>
            <a:r>
              <a:rPr lang="en-US" altLang="zh-CN" smtClean="0"/>
              <a:t>token number </a:t>
            </a:r>
            <a:r>
              <a:rPr lang="zh-CN" altLang="en-US" smtClean="0"/>
              <a:t>从</a:t>
            </a:r>
            <a:r>
              <a:rPr lang="en-US" altLang="zh-CN" smtClean="0"/>
              <a:t>257</a:t>
            </a:r>
            <a:r>
              <a:rPr lang="zh-CN" altLang="en-US" smtClean="0"/>
              <a:t>开始分配。</a:t>
            </a:r>
            <a:r>
              <a:rPr lang="en-US" altLang="zh-CN" smtClean="0"/>
              <a:t>YACC</a:t>
            </a:r>
            <a:r>
              <a:rPr lang="zh-CN" altLang="en-US" smtClean="0"/>
              <a:t>定义了</a:t>
            </a:r>
            <a:r>
              <a:rPr lang="en-US" altLang="zh-CN" smtClean="0"/>
              <a:t>53</a:t>
            </a:r>
            <a:r>
              <a:rPr lang="zh-CN" altLang="en-US" smtClean="0"/>
              <a:t>个单词的名字，这些名字的定义在</a:t>
            </a:r>
            <a:r>
              <a:rPr lang="en-US" altLang="zh-CN" smtClean="0"/>
              <a:t>c-parse.y</a:t>
            </a:r>
            <a:r>
              <a:rPr lang="zh-CN" altLang="en-US" smtClean="0"/>
              <a:t>文件中。</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2707"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A0C873F4-A6ED-4061-AD15-E63F600AE740}" type="datetime4">
              <a:rPr lang="zh-CN" altLang="en-US" sz="1200" b="0"/>
              <a:pPr/>
              <a:t>2015年10月7日星期三</a:t>
            </a:fld>
            <a:endParaRPr lang="en-US" altLang="zh-CN" sz="1200" b="0"/>
          </a:p>
        </p:txBody>
      </p:sp>
      <p:sp>
        <p:nvSpPr>
          <p:cNvPr id="72708"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59D2CEEB-1C26-4E07-9D43-C0B2E367BC57}" type="slidenum">
              <a:rPr lang="zh-CN" altLang="en-US" sz="1200" b="0"/>
              <a:pPr/>
              <a:t>13</a:t>
            </a:fld>
            <a:endParaRPr lang="en-US" altLang="zh-CN" sz="1200" b="0"/>
          </a:p>
        </p:txBody>
      </p:sp>
      <p:sp>
        <p:nvSpPr>
          <p:cNvPr id="72709" name="Rectangle 2"/>
          <p:cNvSpPr>
            <a:spLocks noChangeArrowheads="1" noTextEdit="1"/>
          </p:cNvSpPr>
          <p:nvPr>
            <p:ph type="sldImg"/>
          </p:nvPr>
        </p:nvSpPr>
        <p:spPr>
          <a:xfrm>
            <a:off x="989013" y="696913"/>
            <a:ext cx="5024437" cy="3479800"/>
          </a:xfrm>
          <a:ln/>
        </p:spPr>
      </p:sp>
      <p:sp>
        <p:nvSpPr>
          <p:cNvPr id="72710"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3731"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017D116C-933E-46BA-A244-C816BCC73F79}" type="datetime4">
              <a:rPr lang="zh-CN" altLang="en-US" sz="1200" b="0"/>
              <a:pPr/>
              <a:t>2015年10月7日星期三</a:t>
            </a:fld>
            <a:endParaRPr lang="en-US" altLang="zh-CN" sz="1200" b="0"/>
          </a:p>
        </p:txBody>
      </p:sp>
      <p:sp>
        <p:nvSpPr>
          <p:cNvPr id="73732"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EEDDF18F-FAF5-4D10-BE8E-7C1ED3982615}" type="slidenum">
              <a:rPr lang="zh-CN" altLang="en-US" sz="1200" b="0"/>
              <a:pPr/>
              <a:t>14</a:t>
            </a:fld>
            <a:endParaRPr lang="en-US" altLang="zh-CN" sz="1200" b="0"/>
          </a:p>
        </p:txBody>
      </p:sp>
      <p:sp>
        <p:nvSpPr>
          <p:cNvPr id="73733" name="Rectangle 2"/>
          <p:cNvSpPr>
            <a:spLocks noChangeArrowheads="1" noTextEdit="1"/>
          </p:cNvSpPr>
          <p:nvPr>
            <p:ph type="sldImg"/>
          </p:nvPr>
        </p:nvSpPr>
        <p:spPr>
          <a:xfrm>
            <a:off x="989013" y="696913"/>
            <a:ext cx="5024437" cy="3479800"/>
          </a:xfrm>
          <a:ln/>
        </p:spPr>
      </p:sp>
      <p:sp>
        <p:nvSpPr>
          <p:cNvPr id="73734"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4755"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1F05807B-57A7-4B8B-8313-ED342239C32B}" type="datetime4">
              <a:rPr lang="zh-CN" altLang="en-US" sz="1200" b="0"/>
              <a:pPr/>
              <a:t>2015年10月7日星期三</a:t>
            </a:fld>
            <a:endParaRPr lang="en-US" altLang="zh-CN" sz="1200" b="0"/>
          </a:p>
        </p:txBody>
      </p:sp>
      <p:sp>
        <p:nvSpPr>
          <p:cNvPr id="74756"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94444744-E1FB-4339-ADA7-C6376A90908C}" type="slidenum">
              <a:rPr lang="zh-CN" altLang="en-US" sz="1200" b="0"/>
              <a:pPr/>
              <a:t>16</a:t>
            </a:fld>
            <a:endParaRPr lang="en-US" altLang="zh-CN" sz="1200" b="0"/>
          </a:p>
        </p:txBody>
      </p:sp>
      <p:sp>
        <p:nvSpPr>
          <p:cNvPr id="74757" name="Rectangle 2"/>
          <p:cNvSpPr>
            <a:spLocks noChangeArrowheads="1" noTextEdit="1"/>
          </p:cNvSpPr>
          <p:nvPr>
            <p:ph type="sldImg"/>
          </p:nvPr>
        </p:nvSpPr>
        <p:spPr>
          <a:xfrm>
            <a:off x="989013" y="696913"/>
            <a:ext cx="5024437" cy="3479800"/>
          </a:xfrm>
          <a:ln/>
        </p:spPr>
      </p:sp>
      <p:sp>
        <p:nvSpPr>
          <p:cNvPr id="74758"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5779"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ED23B991-89A2-4766-9BAA-E0CB16CED42A}" type="datetime4">
              <a:rPr lang="zh-CN" altLang="en-US" sz="1200" b="0"/>
              <a:pPr/>
              <a:t>2015年10月7日星期三</a:t>
            </a:fld>
            <a:endParaRPr lang="en-US" altLang="zh-CN" sz="1200" b="0"/>
          </a:p>
        </p:txBody>
      </p:sp>
      <p:sp>
        <p:nvSpPr>
          <p:cNvPr id="75780"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BB16EB69-7127-415B-B418-0244EA36BBF0}" type="slidenum">
              <a:rPr lang="zh-CN" altLang="en-US" sz="1200" b="0"/>
              <a:pPr/>
              <a:t>18</a:t>
            </a:fld>
            <a:endParaRPr lang="en-US" altLang="zh-CN" sz="1200" b="0"/>
          </a:p>
        </p:txBody>
      </p:sp>
      <p:sp>
        <p:nvSpPr>
          <p:cNvPr id="75781" name="Rectangle 2"/>
          <p:cNvSpPr>
            <a:spLocks noChangeArrowheads="1" noTextEdit="1"/>
          </p:cNvSpPr>
          <p:nvPr>
            <p:ph type="sldImg"/>
          </p:nvPr>
        </p:nvSpPr>
        <p:spPr>
          <a:xfrm>
            <a:off x="989013" y="696913"/>
            <a:ext cx="5024437" cy="3479800"/>
          </a:xfrm>
          <a:ln/>
        </p:spPr>
      </p:sp>
      <p:sp>
        <p:nvSpPr>
          <p:cNvPr id="75782"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6803"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E3680C1E-F0DA-4ABE-8516-CCD985838493}" type="datetime4">
              <a:rPr lang="zh-CN" altLang="en-US" sz="1200" b="0"/>
              <a:pPr/>
              <a:t>2015年10月7日星期三</a:t>
            </a:fld>
            <a:endParaRPr lang="en-US" altLang="zh-CN" sz="1200" b="0"/>
          </a:p>
        </p:txBody>
      </p:sp>
      <p:sp>
        <p:nvSpPr>
          <p:cNvPr id="76804"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84D1443A-A841-40EB-AD86-054E1CF4FBF0}" type="slidenum">
              <a:rPr lang="zh-CN" altLang="en-US" sz="1200" b="0"/>
              <a:pPr/>
              <a:t>20</a:t>
            </a:fld>
            <a:endParaRPr lang="en-US" altLang="zh-CN" sz="1200" b="0"/>
          </a:p>
        </p:txBody>
      </p:sp>
      <p:sp>
        <p:nvSpPr>
          <p:cNvPr id="76805" name="Rectangle 2"/>
          <p:cNvSpPr>
            <a:spLocks noChangeArrowheads="1" noTextEdit="1"/>
          </p:cNvSpPr>
          <p:nvPr>
            <p:ph type="sldImg"/>
          </p:nvPr>
        </p:nvSpPr>
        <p:spPr>
          <a:xfrm>
            <a:off x="989013" y="696913"/>
            <a:ext cx="5024437" cy="3479800"/>
          </a:xfrm>
          <a:ln/>
        </p:spPr>
      </p:sp>
      <p:sp>
        <p:nvSpPr>
          <p:cNvPr id="76806"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7827"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9D5C28D5-EEE3-4409-8FB1-C98D0E96D2BD}" type="datetime4">
              <a:rPr lang="zh-CN" altLang="en-US" sz="1200" b="0"/>
              <a:pPr/>
              <a:t>2015年10月7日星期三</a:t>
            </a:fld>
            <a:endParaRPr lang="en-US" altLang="zh-CN" sz="1200" b="0"/>
          </a:p>
        </p:txBody>
      </p:sp>
      <p:sp>
        <p:nvSpPr>
          <p:cNvPr id="77828"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13B1EB3D-18AE-4AC5-92CB-7328CCB6463A}" type="slidenum">
              <a:rPr lang="zh-CN" altLang="en-US" sz="1200" b="0"/>
              <a:pPr/>
              <a:t>22</a:t>
            </a:fld>
            <a:endParaRPr lang="en-US" altLang="zh-CN" sz="1200" b="0"/>
          </a:p>
        </p:txBody>
      </p:sp>
      <p:sp>
        <p:nvSpPr>
          <p:cNvPr id="77829" name="Rectangle 2"/>
          <p:cNvSpPr>
            <a:spLocks noChangeArrowheads="1" noTextEdit="1"/>
          </p:cNvSpPr>
          <p:nvPr>
            <p:ph type="sldImg"/>
          </p:nvPr>
        </p:nvSpPr>
        <p:spPr>
          <a:xfrm>
            <a:off x="989013" y="696913"/>
            <a:ext cx="5024437" cy="3479800"/>
          </a:xfrm>
          <a:ln/>
        </p:spPr>
      </p:sp>
      <p:sp>
        <p:nvSpPr>
          <p:cNvPr id="77830"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8851"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2240FBE5-D87E-442C-9669-02F41CC949D9}" type="datetime4">
              <a:rPr lang="zh-CN" altLang="en-US" sz="1200" b="0"/>
              <a:pPr/>
              <a:t>2015年10月7日星期三</a:t>
            </a:fld>
            <a:endParaRPr lang="en-US" altLang="zh-CN" sz="1200" b="0"/>
          </a:p>
        </p:txBody>
      </p:sp>
      <p:sp>
        <p:nvSpPr>
          <p:cNvPr id="78852"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70AF139C-76E7-4B5E-B2B6-E555EB2EE145}" type="slidenum">
              <a:rPr lang="zh-CN" altLang="en-US" sz="1200" b="0"/>
              <a:pPr/>
              <a:t>25</a:t>
            </a:fld>
            <a:endParaRPr lang="en-US" altLang="zh-CN" sz="1200" b="0"/>
          </a:p>
        </p:txBody>
      </p:sp>
      <p:sp>
        <p:nvSpPr>
          <p:cNvPr id="78853" name="Rectangle 2"/>
          <p:cNvSpPr>
            <a:spLocks noChangeArrowheads="1" noTextEdit="1"/>
          </p:cNvSpPr>
          <p:nvPr>
            <p:ph type="sldImg"/>
          </p:nvPr>
        </p:nvSpPr>
        <p:spPr>
          <a:xfrm>
            <a:off x="989013" y="696913"/>
            <a:ext cx="5024437" cy="3479800"/>
          </a:xfrm>
          <a:ln/>
        </p:spPr>
      </p:sp>
      <p:sp>
        <p:nvSpPr>
          <p:cNvPr id="78854"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79875"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B0F75D5D-B437-498F-8403-2754F97AE511}" type="datetime4">
              <a:rPr lang="zh-CN" altLang="en-US" sz="1200" b="0"/>
              <a:pPr/>
              <a:t>2015年10月7日星期三</a:t>
            </a:fld>
            <a:endParaRPr lang="en-US" altLang="zh-CN" sz="1200" b="0"/>
          </a:p>
        </p:txBody>
      </p:sp>
      <p:sp>
        <p:nvSpPr>
          <p:cNvPr id="79876"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91480F3C-7FAB-4E6C-87B6-9ED8268995ED}" type="slidenum">
              <a:rPr lang="zh-CN" altLang="en-US" sz="1200" b="0"/>
              <a:pPr/>
              <a:t>26</a:t>
            </a:fld>
            <a:endParaRPr lang="en-US" altLang="zh-CN" sz="1200" b="0"/>
          </a:p>
        </p:txBody>
      </p:sp>
      <p:sp>
        <p:nvSpPr>
          <p:cNvPr id="79877" name="Rectangle 2"/>
          <p:cNvSpPr>
            <a:spLocks noChangeArrowheads="1" noTextEdit="1"/>
          </p:cNvSpPr>
          <p:nvPr>
            <p:ph type="sldImg"/>
          </p:nvPr>
        </p:nvSpPr>
        <p:spPr>
          <a:xfrm>
            <a:off x="989013" y="696913"/>
            <a:ext cx="5024437" cy="3479800"/>
          </a:xfrm>
          <a:ln/>
        </p:spPr>
      </p:sp>
      <p:sp>
        <p:nvSpPr>
          <p:cNvPr id="79878"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0899"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315F225E-7DA2-4E9F-888D-186A20502F94}" type="datetime4">
              <a:rPr lang="zh-CN" altLang="en-US" sz="1200" b="0"/>
              <a:pPr/>
              <a:t>2015年10月7日星期三</a:t>
            </a:fld>
            <a:endParaRPr lang="en-US" altLang="zh-CN" sz="1200" b="0"/>
          </a:p>
        </p:txBody>
      </p:sp>
      <p:sp>
        <p:nvSpPr>
          <p:cNvPr id="80900"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335B321B-EE6B-49E8-B414-30C129251B58}" type="slidenum">
              <a:rPr lang="zh-CN" altLang="en-US" sz="1200" b="0"/>
              <a:pPr/>
              <a:t>30</a:t>
            </a:fld>
            <a:endParaRPr lang="en-US" altLang="zh-CN" sz="1200" b="0"/>
          </a:p>
        </p:txBody>
      </p:sp>
      <p:sp>
        <p:nvSpPr>
          <p:cNvPr id="80901" name="Rectangle 2"/>
          <p:cNvSpPr>
            <a:spLocks noChangeArrowheads="1" noTextEdit="1"/>
          </p:cNvSpPr>
          <p:nvPr>
            <p:ph type="sldImg"/>
          </p:nvPr>
        </p:nvSpPr>
        <p:spPr>
          <a:xfrm>
            <a:off x="989013" y="696913"/>
            <a:ext cx="5024437" cy="3479800"/>
          </a:xfrm>
          <a:ln/>
        </p:spPr>
      </p:sp>
      <p:sp>
        <p:nvSpPr>
          <p:cNvPr id="80902"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1923"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F56862AC-44A2-477A-AA12-8BBDFF6AD5E3}" type="datetime4">
              <a:rPr lang="zh-CN" altLang="en-US" sz="1200" b="0"/>
              <a:pPr/>
              <a:t>2015年10月7日星期三</a:t>
            </a:fld>
            <a:endParaRPr lang="en-US" altLang="zh-CN" sz="1200" b="0"/>
          </a:p>
        </p:txBody>
      </p:sp>
      <p:sp>
        <p:nvSpPr>
          <p:cNvPr id="81924"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F31130BE-EA73-4CAC-BB45-DACB75AC6E66}" type="slidenum">
              <a:rPr lang="zh-CN" altLang="en-US" sz="1200" b="0"/>
              <a:pPr/>
              <a:t>31</a:t>
            </a:fld>
            <a:endParaRPr lang="en-US" altLang="zh-CN" sz="1200" b="0"/>
          </a:p>
        </p:txBody>
      </p:sp>
      <p:sp>
        <p:nvSpPr>
          <p:cNvPr id="81925" name="Rectangle 2"/>
          <p:cNvSpPr>
            <a:spLocks noChangeArrowheads="1" noTextEdit="1"/>
          </p:cNvSpPr>
          <p:nvPr>
            <p:ph type="sldImg"/>
          </p:nvPr>
        </p:nvSpPr>
        <p:spPr>
          <a:xfrm>
            <a:off x="989013" y="696913"/>
            <a:ext cx="5024437" cy="3479800"/>
          </a:xfrm>
          <a:ln/>
        </p:spPr>
      </p:sp>
      <p:sp>
        <p:nvSpPr>
          <p:cNvPr id="81926"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2947"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4282E1B5-DA87-4774-B890-483B5853A564}" type="datetime4">
              <a:rPr lang="zh-CN" altLang="en-US" sz="1200" b="0"/>
              <a:pPr/>
              <a:t>2015年10月7日星期三</a:t>
            </a:fld>
            <a:endParaRPr lang="en-US" altLang="zh-CN" sz="1200" b="0"/>
          </a:p>
        </p:txBody>
      </p:sp>
      <p:sp>
        <p:nvSpPr>
          <p:cNvPr id="82948"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A80F8055-3AEB-49A5-9BBA-D53479C1A838}" type="slidenum">
              <a:rPr lang="zh-CN" altLang="en-US" sz="1200" b="0"/>
              <a:pPr/>
              <a:t>32</a:t>
            </a:fld>
            <a:endParaRPr lang="en-US" altLang="zh-CN" sz="1200" b="0"/>
          </a:p>
        </p:txBody>
      </p:sp>
      <p:sp>
        <p:nvSpPr>
          <p:cNvPr id="82949" name="Rectangle 2"/>
          <p:cNvSpPr>
            <a:spLocks noChangeArrowheads="1" noTextEdit="1"/>
          </p:cNvSpPr>
          <p:nvPr>
            <p:ph type="sldImg"/>
          </p:nvPr>
        </p:nvSpPr>
        <p:spPr>
          <a:xfrm>
            <a:off x="989013" y="696913"/>
            <a:ext cx="5024437" cy="3479800"/>
          </a:xfrm>
          <a:ln/>
        </p:spPr>
      </p:sp>
      <p:sp>
        <p:nvSpPr>
          <p:cNvPr id="82950"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3971"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9FFC5C21-10A6-406E-BD03-D5405BA97FFF}" type="datetime4">
              <a:rPr lang="zh-CN" altLang="en-US" sz="1200" b="0"/>
              <a:pPr/>
              <a:t>2015年10月7日星期三</a:t>
            </a:fld>
            <a:endParaRPr lang="en-US" altLang="zh-CN" sz="1200" b="0"/>
          </a:p>
        </p:txBody>
      </p:sp>
      <p:sp>
        <p:nvSpPr>
          <p:cNvPr id="83972"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07DF6C98-FAB0-4CB8-A704-55814066C992}" type="slidenum">
              <a:rPr lang="zh-CN" altLang="en-US" sz="1200" b="0"/>
              <a:pPr/>
              <a:t>33</a:t>
            </a:fld>
            <a:endParaRPr lang="en-US" altLang="zh-CN" sz="1200" b="0"/>
          </a:p>
        </p:txBody>
      </p:sp>
      <p:sp>
        <p:nvSpPr>
          <p:cNvPr id="83973" name="Rectangle 2"/>
          <p:cNvSpPr>
            <a:spLocks noChangeArrowheads="1" noTextEdit="1"/>
          </p:cNvSpPr>
          <p:nvPr>
            <p:ph type="sldImg"/>
          </p:nvPr>
        </p:nvSpPr>
        <p:spPr>
          <a:xfrm>
            <a:off x="989013" y="696913"/>
            <a:ext cx="5024437" cy="3479800"/>
          </a:xfrm>
          <a:ln/>
        </p:spPr>
      </p:sp>
      <p:sp>
        <p:nvSpPr>
          <p:cNvPr id="83974"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4995"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5BA0FB26-FF03-4030-8CA4-B24D8B1DDB1E}" type="datetime4">
              <a:rPr lang="zh-CN" altLang="en-US" sz="1200" b="0"/>
              <a:pPr/>
              <a:t>2015年10月7日星期三</a:t>
            </a:fld>
            <a:endParaRPr lang="en-US" altLang="zh-CN" sz="1200" b="0"/>
          </a:p>
        </p:txBody>
      </p:sp>
      <p:sp>
        <p:nvSpPr>
          <p:cNvPr id="84996"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229FC36A-43A4-4FB9-A773-C27B384A995D}" type="slidenum">
              <a:rPr lang="zh-CN" altLang="en-US" sz="1200" b="0"/>
              <a:pPr/>
              <a:t>34</a:t>
            </a:fld>
            <a:endParaRPr lang="en-US" altLang="zh-CN" sz="1200" b="0"/>
          </a:p>
        </p:txBody>
      </p:sp>
      <p:sp>
        <p:nvSpPr>
          <p:cNvPr id="84997" name="Rectangle 2"/>
          <p:cNvSpPr>
            <a:spLocks noChangeArrowheads="1" noTextEdit="1"/>
          </p:cNvSpPr>
          <p:nvPr>
            <p:ph type="sldImg"/>
          </p:nvPr>
        </p:nvSpPr>
        <p:spPr>
          <a:xfrm>
            <a:off x="989013" y="696913"/>
            <a:ext cx="5024437" cy="3479800"/>
          </a:xfrm>
          <a:ln/>
        </p:spPr>
      </p:sp>
      <p:sp>
        <p:nvSpPr>
          <p:cNvPr id="84998"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6019"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593032C7-CDDF-4F98-863E-50EE018A35F2}" type="datetime4">
              <a:rPr lang="zh-CN" altLang="en-US" sz="1200" b="0"/>
              <a:pPr/>
              <a:t>2015年10月7日星期三</a:t>
            </a:fld>
            <a:endParaRPr lang="en-US" altLang="zh-CN" sz="1200" b="0"/>
          </a:p>
        </p:txBody>
      </p:sp>
      <p:sp>
        <p:nvSpPr>
          <p:cNvPr id="86020"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A1E7C6E1-505B-4BED-BBE9-056B00AA708F}" type="slidenum">
              <a:rPr lang="zh-CN" altLang="en-US" sz="1200" b="0"/>
              <a:pPr/>
              <a:t>35</a:t>
            </a:fld>
            <a:endParaRPr lang="en-US" altLang="zh-CN" sz="1200" b="0"/>
          </a:p>
        </p:txBody>
      </p:sp>
      <p:sp>
        <p:nvSpPr>
          <p:cNvPr id="86021" name="Rectangle 2"/>
          <p:cNvSpPr>
            <a:spLocks noChangeArrowheads="1" noTextEdit="1"/>
          </p:cNvSpPr>
          <p:nvPr>
            <p:ph type="sldImg"/>
          </p:nvPr>
        </p:nvSpPr>
        <p:spPr>
          <a:xfrm>
            <a:off x="989013" y="696913"/>
            <a:ext cx="5024437" cy="3479800"/>
          </a:xfrm>
          <a:ln/>
        </p:spPr>
      </p:sp>
      <p:sp>
        <p:nvSpPr>
          <p:cNvPr id="86022"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7043"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ACCE1DD5-869C-4650-AA61-0D34B6933CDB}" type="datetime4">
              <a:rPr lang="zh-CN" altLang="en-US" sz="1200" b="0"/>
              <a:pPr/>
              <a:t>2015年10月7日星期三</a:t>
            </a:fld>
            <a:endParaRPr lang="en-US" altLang="zh-CN" sz="1200" b="0"/>
          </a:p>
        </p:txBody>
      </p:sp>
      <p:sp>
        <p:nvSpPr>
          <p:cNvPr id="87044"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4C205A41-B7F0-49C4-AAEC-F7C00718F3B6}" type="slidenum">
              <a:rPr lang="zh-CN" altLang="en-US" sz="1200" b="0"/>
              <a:pPr/>
              <a:t>36</a:t>
            </a:fld>
            <a:endParaRPr lang="en-US" altLang="zh-CN" sz="1200" b="0"/>
          </a:p>
        </p:txBody>
      </p:sp>
      <p:sp>
        <p:nvSpPr>
          <p:cNvPr id="87045" name="Rectangle 2"/>
          <p:cNvSpPr>
            <a:spLocks noChangeArrowheads="1" noTextEdit="1"/>
          </p:cNvSpPr>
          <p:nvPr>
            <p:ph type="sldImg"/>
          </p:nvPr>
        </p:nvSpPr>
        <p:spPr>
          <a:xfrm>
            <a:off x="989013" y="696913"/>
            <a:ext cx="5024437" cy="3479800"/>
          </a:xfrm>
          <a:ln/>
        </p:spPr>
      </p:sp>
      <p:sp>
        <p:nvSpPr>
          <p:cNvPr id="87046"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200" b="0"/>
              <a:t>lec01-lexicalanalyzer</a:t>
            </a:r>
          </a:p>
        </p:txBody>
      </p:sp>
      <p:sp>
        <p:nvSpPr>
          <p:cNvPr id="88067" name="Rectangle 3"/>
          <p:cNvSpPr>
            <a:spLocks noGrp="1" noChangeArrowheads="1"/>
          </p:cNvSpPr>
          <p:nvPr>
            <p:ph type="dt" sz="quarter" idx="1"/>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C366794B-C43F-4AA3-A434-12CB1734EC42}" type="datetime4">
              <a:rPr lang="zh-CN" altLang="en-US" sz="1200" b="0"/>
              <a:pPr/>
              <a:t>2015年10月7日星期三</a:t>
            </a:fld>
            <a:endParaRPr lang="en-US" altLang="zh-CN" sz="1200" b="0"/>
          </a:p>
        </p:txBody>
      </p:sp>
      <p:sp>
        <p:nvSpPr>
          <p:cNvPr id="88068" name="Rectangle 7"/>
          <p:cNvSpPr>
            <a:spLocks noGrp="1" noChangeArrowheads="1"/>
          </p:cNvSpPr>
          <p:nvPr>
            <p:ph type="sldNum" sz="quarter" idx="5"/>
          </p:nvPr>
        </p:nvSpPr>
        <p:spPr>
          <a:noFill/>
        </p:spPr>
        <p:txBody>
          <a:bodyPr/>
          <a:lstStyle>
            <a:lvl1pPr defTabSz="928688">
              <a:defRPr sz="2400" b="1">
                <a:solidFill>
                  <a:schemeClr val="tx1"/>
                </a:solidFill>
                <a:latin typeface="Times New Roman" panose="02020603050405020304" pitchFamily="18" charset="0"/>
              </a:defRPr>
            </a:lvl1pPr>
            <a:lvl2pPr marL="742950" indent="-285750" defTabSz="928688">
              <a:defRPr sz="2400" b="1">
                <a:solidFill>
                  <a:schemeClr val="tx1"/>
                </a:solidFill>
                <a:latin typeface="Times New Roman" panose="02020603050405020304" pitchFamily="18" charset="0"/>
              </a:defRPr>
            </a:lvl2pPr>
            <a:lvl3pPr marL="1143000" indent="-228600" defTabSz="928688">
              <a:defRPr sz="2400" b="1">
                <a:solidFill>
                  <a:schemeClr val="tx1"/>
                </a:solidFill>
                <a:latin typeface="Times New Roman" panose="02020603050405020304" pitchFamily="18" charset="0"/>
              </a:defRPr>
            </a:lvl3pPr>
            <a:lvl4pPr marL="1600200" indent="-228600" defTabSz="928688">
              <a:defRPr sz="2400" b="1">
                <a:solidFill>
                  <a:schemeClr val="tx1"/>
                </a:solidFill>
                <a:latin typeface="Times New Roman" panose="02020603050405020304" pitchFamily="18" charset="0"/>
              </a:defRPr>
            </a:lvl4pPr>
            <a:lvl5pPr marL="2057400" indent="-228600" defTabSz="928688">
              <a:defRPr sz="2400" b="1">
                <a:solidFill>
                  <a:schemeClr val="tx1"/>
                </a:solidFill>
                <a:latin typeface="Times New Roman" panose="02020603050405020304" pitchFamily="18" charset="0"/>
              </a:defRPr>
            </a:lvl5pPr>
            <a:lvl6pPr marL="2514600" indent="-228600" defTabSz="928688"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28688"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28688"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28688" eaLnBrk="0" fontAlgn="base" hangingPunct="0">
              <a:spcBef>
                <a:spcPct val="0"/>
              </a:spcBef>
              <a:spcAft>
                <a:spcPct val="0"/>
              </a:spcAft>
              <a:defRPr sz="2400" b="1">
                <a:solidFill>
                  <a:schemeClr val="tx1"/>
                </a:solidFill>
                <a:latin typeface="Times New Roman" panose="02020603050405020304" pitchFamily="18" charset="0"/>
              </a:defRPr>
            </a:lvl9pPr>
          </a:lstStyle>
          <a:p>
            <a:fld id="{791F0213-7EB5-4E5D-BB6A-B6D86695904E}" type="slidenum">
              <a:rPr lang="zh-CN" altLang="en-US" sz="1200" b="0"/>
              <a:pPr/>
              <a:t>37</a:t>
            </a:fld>
            <a:endParaRPr lang="en-US" altLang="zh-CN" sz="1200" b="0"/>
          </a:p>
        </p:txBody>
      </p:sp>
      <p:sp>
        <p:nvSpPr>
          <p:cNvPr id="88069" name="Rectangle 2"/>
          <p:cNvSpPr>
            <a:spLocks noChangeArrowheads="1" noTextEdit="1"/>
          </p:cNvSpPr>
          <p:nvPr>
            <p:ph type="sldImg"/>
          </p:nvPr>
        </p:nvSpPr>
        <p:spPr>
          <a:xfrm>
            <a:off x="989013" y="696913"/>
            <a:ext cx="5024437" cy="3479800"/>
          </a:xfrm>
          <a:ln/>
        </p:spPr>
      </p:sp>
      <p:sp>
        <p:nvSpPr>
          <p:cNvPr id="88070" name="Rectangle 3"/>
          <p:cNvSpPr>
            <a:spLocks noGrp="1" noChangeArrowheads="1"/>
          </p:cNvSpPr>
          <p:nvPr>
            <p:ph type="body" idx="1"/>
          </p:nvPr>
        </p:nvSpPr>
        <p:spPr>
          <a:xfrm>
            <a:off x="933450" y="4410075"/>
            <a:ext cx="5130800" cy="4178300"/>
          </a:xfrm>
          <a:noFill/>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0" y="2130425"/>
            <a:ext cx="84201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C7226022-F6D2-4B85-8025-A1E5E4590E01}" type="slidenum">
              <a:rPr lang="zh-CN" altLang="en-US"/>
              <a:pPr/>
              <a:t>‹#›</a:t>
            </a:fld>
            <a:endParaRPr lang="en-US" altLang="zh-CN"/>
          </a:p>
        </p:txBody>
      </p:sp>
    </p:spTree>
    <p:extLst>
      <p:ext uri="{BB962C8B-B14F-4D97-AF65-F5344CB8AC3E}">
        <p14:creationId xmlns:p14="http://schemas.microsoft.com/office/powerpoint/2010/main" val="3669202256"/>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A36ADC79-2B00-4A2D-A1F9-E08DBEBBCE71}" type="slidenum">
              <a:rPr lang="zh-CN" altLang="en-US"/>
              <a:pPr/>
              <a:t>‹#›</a:t>
            </a:fld>
            <a:endParaRPr lang="en-US" altLang="zh-CN"/>
          </a:p>
        </p:txBody>
      </p:sp>
    </p:spTree>
    <p:extLst>
      <p:ext uri="{BB962C8B-B14F-4D97-AF65-F5344CB8AC3E}">
        <p14:creationId xmlns:p14="http://schemas.microsoft.com/office/powerpoint/2010/main" val="388224172"/>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C3925FF4-FD7B-4A8B-8C7C-E2F08E7D4A56}" type="slidenum">
              <a:rPr lang="zh-CN" altLang="en-US"/>
              <a:pPr/>
              <a:t>‹#›</a:t>
            </a:fld>
            <a:endParaRPr lang="en-US" altLang="zh-CN"/>
          </a:p>
        </p:txBody>
      </p:sp>
    </p:spTree>
    <p:extLst>
      <p:ext uri="{BB962C8B-B14F-4D97-AF65-F5344CB8AC3E}">
        <p14:creationId xmlns:p14="http://schemas.microsoft.com/office/powerpoint/2010/main" val="120881658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219200"/>
            <a:ext cx="46101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3500" y="1219200"/>
            <a:ext cx="46101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5136589A-008A-41A8-BC90-E44F43FAC2F3}" type="slidenum">
              <a:rPr lang="zh-CN" altLang="en-US"/>
              <a:pPr/>
              <a:t>‹#›</a:t>
            </a:fld>
            <a:endParaRPr lang="en-US" altLang="zh-CN"/>
          </a:p>
        </p:txBody>
      </p:sp>
    </p:spTree>
    <p:extLst>
      <p:ext uri="{BB962C8B-B14F-4D97-AF65-F5344CB8AC3E}">
        <p14:creationId xmlns:p14="http://schemas.microsoft.com/office/powerpoint/2010/main" val="3946558948"/>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9" name="Rectangle 6"/>
          <p:cNvSpPr>
            <a:spLocks noGrp="1" noChangeArrowheads="1"/>
          </p:cNvSpPr>
          <p:nvPr>
            <p:ph type="sldNum" sz="quarter" idx="12"/>
          </p:nvPr>
        </p:nvSpPr>
        <p:spPr>
          <a:ln/>
        </p:spPr>
        <p:txBody>
          <a:bodyPr/>
          <a:lstStyle>
            <a:lvl1pPr>
              <a:defRPr/>
            </a:lvl1pPr>
          </a:lstStyle>
          <a:p>
            <a:fld id="{33D16243-986C-41D0-B0FB-F3B72442108C}" type="slidenum">
              <a:rPr lang="zh-CN" altLang="en-US"/>
              <a:pPr/>
              <a:t>‹#›</a:t>
            </a:fld>
            <a:endParaRPr lang="en-US" altLang="zh-CN"/>
          </a:p>
        </p:txBody>
      </p:sp>
    </p:spTree>
    <p:extLst>
      <p:ext uri="{BB962C8B-B14F-4D97-AF65-F5344CB8AC3E}">
        <p14:creationId xmlns:p14="http://schemas.microsoft.com/office/powerpoint/2010/main" val="2367992654"/>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5" name="Rectangle 6"/>
          <p:cNvSpPr>
            <a:spLocks noGrp="1" noChangeArrowheads="1"/>
          </p:cNvSpPr>
          <p:nvPr>
            <p:ph type="sldNum" sz="quarter" idx="12"/>
          </p:nvPr>
        </p:nvSpPr>
        <p:spPr>
          <a:ln/>
        </p:spPr>
        <p:txBody>
          <a:bodyPr/>
          <a:lstStyle>
            <a:lvl1pPr>
              <a:defRPr/>
            </a:lvl1pPr>
          </a:lstStyle>
          <a:p>
            <a:fld id="{84A37B85-EF09-4EEC-82C4-DC52244A2E99}" type="slidenum">
              <a:rPr lang="zh-CN" altLang="en-US"/>
              <a:pPr/>
              <a:t>‹#›</a:t>
            </a:fld>
            <a:endParaRPr lang="en-US" altLang="zh-CN"/>
          </a:p>
        </p:txBody>
      </p:sp>
    </p:spTree>
    <p:extLst>
      <p:ext uri="{BB962C8B-B14F-4D97-AF65-F5344CB8AC3E}">
        <p14:creationId xmlns:p14="http://schemas.microsoft.com/office/powerpoint/2010/main" val="859683534"/>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4" name="Rectangle 6"/>
          <p:cNvSpPr>
            <a:spLocks noGrp="1" noChangeArrowheads="1"/>
          </p:cNvSpPr>
          <p:nvPr>
            <p:ph type="sldNum" sz="quarter" idx="12"/>
          </p:nvPr>
        </p:nvSpPr>
        <p:spPr>
          <a:ln/>
        </p:spPr>
        <p:txBody>
          <a:bodyPr/>
          <a:lstStyle>
            <a:lvl1pPr>
              <a:defRPr/>
            </a:lvl1pPr>
          </a:lstStyle>
          <a:p>
            <a:fld id="{C40913FB-9195-4BCA-A3EB-15447C448988}" type="slidenum">
              <a:rPr lang="zh-CN" altLang="en-US"/>
              <a:pPr/>
              <a:t>‹#›</a:t>
            </a:fld>
            <a:endParaRPr lang="en-US" altLang="zh-CN"/>
          </a:p>
        </p:txBody>
      </p:sp>
    </p:spTree>
    <p:extLst>
      <p:ext uri="{BB962C8B-B14F-4D97-AF65-F5344CB8AC3E}">
        <p14:creationId xmlns:p14="http://schemas.microsoft.com/office/powerpoint/2010/main" val="3757066327"/>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A0976462-1606-4340-9AB4-1CD54AEBFACA}" type="slidenum">
              <a:rPr lang="zh-CN" altLang="en-US"/>
              <a:pPr/>
              <a:t>‹#›</a:t>
            </a:fld>
            <a:endParaRPr lang="en-US" altLang="zh-CN"/>
          </a:p>
        </p:txBody>
      </p:sp>
    </p:spTree>
    <p:extLst>
      <p:ext uri="{BB962C8B-B14F-4D97-AF65-F5344CB8AC3E}">
        <p14:creationId xmlns:p14="http://schemas.microsoft.com/office/powerpoint/2010/main" val="3587450545"/>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BC7411B5-115B-4CFF-A68E-E0BBEB208AAD}" type="slidenum">
              <a:rPr lang="zh-CN" altLang="en-US"/>
              <a:pPr/>
              <a:t>‹#›</a:t>
            </a:fld>
            <a:endParaRPr lang="en-US" altLang="zh-CN"/>
          </a:p>
        </p:txBody>
      </p:sp>
    </p:spTree>
    <p:extLst>
      <p:ext uri="{BB962C8B-B14F-4D97-AF65-F5344CB8AC3E}">
        <p14:creationId xmlns:p14="http://schemas.microsoft.com/office/powerpoint/2010/main" val="3703018443"/>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2ADC725F-5920-4B00-8531-B1C808762C2F}" type="slidenum">
              <a:rPr lang="zh-CN" altLang="en-US"/>
              <a:pPr/>
              <a:t>‹#›</a:t>
            </a:fld>
            <a:endParaRPr lang="en-US" altLang="zh-CN"/>
          </a:p>
        </p:txBody>
      </p:sp>
    </p:spTree>
    <p:extLst>
      <p:ext uri="{BB962C8B-B14F-4D97-AF65-F5344CB8AC3E}">
        <p14:creationId xmlns:p14="http://schemas.microsoft.com/office/powerpoint/2010/main" val="200283601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10450" y="152400"/>
            <a:ext cx="2343150" cy="6172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152400"/>
            <a:ext cx="6877050" cy="6172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fld id="{D97E80CE-0495-4708-8C32-DE9D99FD2919}" type="slidenum">
              <a:rPr lang="zh-CN" altLang="en-US"/>
              <a:pPr/>
              <a:t>‹#›</a:t>
            </a:fld>
            <a:endParaRPr lang="en-US" altLang="zh-CN"/>
          </a:p>
        </p:txBody>
      </p:sp>
    </p:spTree>
    <p:extLst>
      <p:ext uri="{BB962C8B-B14F-4D97-AF65-F5344CB8AC3E}">
        <p14:creationId xmlns:p14="http://schemas.microsoft.com/office/powerpoint/2010/main" val="3327487301"/>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9372600" cy="914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81000" y="1219200"/>
            <a:ext cx="4610100" cy="5105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3500" y="1219200"/>
            <a:ext cx="4610100" cy="5105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r>
              <a:rPr lang="zh-CN" altLang="en-US"/>
              <a:t>◎2005 ECNU SEI</a:t>
            </a: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Compilers: Principles, Techniques, and Tools</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B2874A75-DF07-4218-B701-7C34E364A75E}" type="slidenum">
              <a:rPr lang="zh-CN" altLang="en-US"/>
              <a:pPr/>
              <a:t>‹#›</a:t>
            </a:fld>
            <a:endParaRPr lang="en-US" altLang="zh-CN"/>
          </a:p>
        </p:txBody>
      </p:sp>
    </p:spTree>
    <p:extLst>
      <p:ext uri="{BB962C8B-B14F-4D97-AF65-F5344CB8AC3E}">
        <p14:creationId xmlns:p14="http://schemas.microsoft.com/office/powerpoint/2010/main" val="2227540987"/>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9372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27" name="Rectangle 3"/>
          <p:cNvSpPr>
            <a:spLocks noGrp="1" noChangeArrowheads="1"/>
          </p:cNvSpPr>
          <p:nvPr>
            <p:ph type="body" idx="1"/>
          </p:nvPr>
        </p:nvSpPr>
        <p:spPr bwMode="auto">
          <a:xfrm>
            <a:off x="381000" y="1219200"/>
            <a:ext cx="9372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028" name="Rectangle 4"/>
          <p:cNvSpPr>
            <a:spLocks noGrp="1" noChangeArrowheads="1"/>
          </p:cNvSpPr>
          <p:nvPr>
            <p:ph type="dt" sz="half" idx="2"/>
          </p:nvPr>
        </p:nvSpPr>
        <p:spPr bwMode="auto">
          <a:xfrm>
            <a:off x="381000" y="6477000"/>
            <a:ext cx="20637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800" b="0" smtClean="0">
                <a:ea typeface="宋体" pitchFamily="2" charset="-122"/>
              </a:defRPr>
            </a:lvl1pPr>
          </a:lstStyle>
          <a:p>
            <a:pPr>
              <a:defRPr/>
            </a:pPr>
            <a:r>
              <a:rPr lang="zh-CN" altLang="en-US"/>
              <a:t>◎2005 ECNU SEI</a:t>
            </a:r>
            <a:endParaRPr lang="en-US" altLang="zh-CN"/>
          </a:p>
        </p:txBody>
      </p:sp>
      <p:sp>
        <p:nvSpPr>
          <p:cNvPr id="1029" name="Rectangle 5"/>
          <p:cNvSpPr>
            <a:spLocks noGrp="1" noChangeArrowheads="1"/>
          </p:cNvSpPr>
          <p:nvPr>
            <p:ph type="ftr" sz="quarter" idx="3"/>
          </p:nvPr>
        </p:nvSpPr>
        <p:spPr bwMode="auto">
          <a:xfrm>
            <a:off x="3054350" y="6477000"/>
            <a:ext cx="37147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800" b="0" smtClean="0">
                <a:ea typeface="宋体" pitchFamily="2" charset="-122"/>
              </a:defRPr>
            </a:lvl1pPr>
          </a:lstStyle>
          <a:p>
            <a:pPr>
              <a:defRPr/>
            </a:pPr>
            <a:r>
              <a:rPr lang="zh-CN" altLang="en-US"/>
              <a:t>Compilers: Principles, Techniques, and Tools</a:t>
            </a:r>
            <a:endParaRPr lang="en-US" altLang="zh-CN"/>
          </a:p>
        </p:txBody>
      </p:sp>
      <p:sp>
        <p:nvSpPr>
          <p:cNvPr id="1030" name="Rectangle 6"/>
          <p:cNvSpPr>
            <a:spLocks noGrp="1" noChangeArrowheads="1"/>
          </p:cNvSpPr>
          <p:nvPr>
            <p:ph type="sldNum" sz="quarter" idx="4"/>
          </p:nvPr>
        </p:nvSpPr>
        <p:spPr bwMode="auto">
          <a:xfrm>
            <a:off x="7620000" y="6477000"/>
            <a:ext cx="20637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00" b="0">
                <a:ea typeface="宋体" panose="02010600030101010101" pitchFamily="2" charset="-122"/>
              </a:defRPr>
            </a:lvl1pPr>
          </a:lstStyle>
          <a:p>
            <a:fld id="{F8CC09CF-D5CA-4007-9A8F-179E30CA59C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hf hdr="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Times New Roman" pitchFamily="18" charset="0"/>
        </a:defRPr>
      </a:lvl2pPr>
      <a:lvl3pPr algn="ctr" rtl="0" eaLnBrk="0" fontAlgn="base" hangingPunct="0">
        <a:spcBef>
          <a:spcPct val="0"/>
        </a:spcBef>
        <a:spcAft>
          <a:spcPct val="0"/>
        </a:spcAft>
        <a:defRPr sz="3200" b="1">
          <a:solidFill>
            <a:schemeClr val="tx2"/>
          </a:solidFill>
          <a:latin typeface="Times New Roman" pitchFamily="18" charset="0"/>
        </a:defRPr>
      </a:lvl3pPr>
      <a:lvl4pPr algn="ctr" rtl="0" eaLnBrk="0" fontAlgn="base" hangingPunct="0">
        <a:spcBef>
          <a:spcPct val="0"/>
        </a:spcBef>
        <a:spcAft>
          <a:spcPct val="0"/>
        </a:spcAft>
        <a:defRPr sz="3200" b="1">
          <a:solidFill>
            <a:schemeClr val="tx2"/>
          </a:solidFill>
          <a:latin typeface="Times New Roman" pitchFamily="18" charset="0"/>
        </a:defRPr>
      </a:lvl4pPr>
      <a:lvl5pPr algn="ctr" rtl="0" eaLnBrk="0" fontAlgn="base" hangingPunct="0">
        <a:spcBef>
          <a:spcPct val="0"/>
        </a:spcBef>
        <a:spcAft>
          <a:spcPct val="0"/>
        </a:spcAft>
        <a:defRPr sz="3200" b="1">
          <a:solidFill>
            <a:schemeClr val="tx2"/>
          </a:solidFill>
          <a:latin typeface="Times New Roman" pitchFamily="18" charset="0"/>
        </a:defRPr>
      </a:lvl5pPr>
      <a:lvl6pPr marL="457200" algn="ctr" rtl="0" eaLnBrk="0" fontAlgn="base" hangingPunct="0">
        <a:spcBef>
          <a:spcPct val="0"/>
        </a:spcBef>
        <a:spcAft>
          <a:spcPct val="0"/>
        </a:spcAft>
        <a:defRPr sz="3200" b="1">
          <a:solidFill>
            <a:schemeClr val="tx2"/>
          </a:solidFill>
          <a:latin typeface="Times New Roman" pitchFamily="18" charset="0"/>
        </a:defRPr>
      </a:lvl6pPr>
      <a:lvl7pPr marL="914400" algn="ctr" rtl="0" eaLnBrk="0" fontAlgn="base" hangingPunct="0">
        <a:spcBef>
          <a:spcPct val="0"/>
        </a:spcBef>
        <a:spcAft>
          <a:spcPct val="0"/>
        </a:spcAft>
        <a:defRPr sz="3200" b="1">
          <a:solidFill>
            <a:schemeClr val="tx2"/>
          </a:solidFill>
          <a:latin typeface="Times New Roman" pitchFamily="18" charset="0"/>
        </a:defRPr>
      </a:lvl7pPr>
      <a:lvl8pPr marL="1371600" algn="ctr" rtl="0" eaLnBrk="0" fontAlgn="base" hangingPunct="0">
        <a:spcBef>
          <a:spcPct val="0"/>
        </a:spcBef>
        <a:spcAft>
          <a:spcPct val="0"/>
        </a:spcAft>
        <a:defRPr sz="3200" b="1">
          <a:solidFill>
            <a:schemeClr val="tx2"/>
          </a:solidFill>
          <a:latin typeface="Times New Roman" pitchFamily="18" charset="0"/>
        </a:defRPr>
      </a:lvl8pPr>
      <a:lvl9pPr marL="1828800" algn="ctr" rtl="0" eaLnBrk="0" fontAlgn="base" hangingPunct="0">
        <a:spcBef>
          <a:spcPct val="0"/>
        </a:spcBef>
        <a:spcAft>
          <a:spcPct val="0"/>
        </a:spcAft>
        <a:defRPr sz="32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4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05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05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A834D576-C504-4EB9-8E62-490BE59FE84D}" type="slidenum">
              <a:rPr lang="zh-CN" altLang="en-US" sz="800" b="0"/>
              <a:pPr/>
              <a:t>1</a:t>
            </a:fld>
            <a:endParaRPr lang="en-US" altLang="zh-CN" sz="800" b="0"/>
          </a:p>
        </p:txBody>
      </p:sp>
      <p:sp>
        <p:nvSpPr>
          <p:cNvPr id="2053"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3.4 Token Recognition (P.98)</a:t>
            </a:r>
          </a:p>
        </p:txBody>
      </p:sp>
      <p:sp>
        <p:nvSpPr>
          <p:cNvPr id="2054" name="Text Box 3"/>
          <p:cNvSpPr txBox="1">
            <a:spLocks noChangeArrowheads="1"/>
          </p:cNvSpPr>
          <p:nvPr/>
        </p:nvSpPr>
        <p:spPr bwMode="auto">
          <a:xfrm>
            <a:off x="704850" y="1219200"/>
            <a:ext cx="88709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How can we use concepts developed so far to assist in recognizing tokens of a source language ?</a:t>
            </a:r>
          </a:p>
        </p:txBody>
      </p:sp>
      <p:sp>
        <p:nvSpPr>
          <p:cNvPr id="2055" name="Text Box 4"/>
          <p:cNvSpPr txBox="1">
            <a:spLocks noChangeArrowheads="1"/>
          </p:cNvSpPr>
          <p:nvPr/>
        </p:nvSpPr>
        <p:spPr bwMode="auto">
          <a:xfrm>
            <a:off x="1403350" y="2133600"/>
            <a:ext cx="4292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u="sng">
                <a:ea typeface="宋体" panose="02010600030101010101" pitchFamily="2" charset="-122"/>
              </a:rPr>
              <a:t>Assume Following Tokens:</a:t>
            </a:r>
          </a:p>
          <a:p>
            <a:pPr eaLnBrk="1" hangingPunct="1">
              <a:spcBef>
                <a:spcPct val="50000"/>
              </a:spcBef>
            </a:pPr>
            <a:r>
              <a:rPr lang="en-US" altLang="zh-CN" sz="2000" b="0">
                <a:ea typeface="宋体" panose="02010600030101010101" pitchFamily="2" charset="-122"/>
              </a:rPr>
              <a:t>        if,  then,  else,  relop,  id,  num</a:t>
            </a:r>
            <a:endParaRPr lang="en-US" altLang="zh-CN" sz="2000" u="sng">
              <a:ea typeface="宋体" panose="02010600030101010101" pitchFamily="2" charset="-122"/>
            </a:endParaRPr>
          </a:p>
        </p:txBody>
      </p:sp>
      <p:sp>
        <p:nvSpPr>
          <p:cNvPr id="2056" name="Text Box 5"/>
          <p:cNvSpPr txBox="1">
            <a:spLocks noChangeArrowheads="1"/>
          </p:cNvSpPr>
          <p:nvPr/>
        </p:nvSpPr>
        <p:spPr bwMode="auto">
          <a:xfrm>
            <a:off x="2073275" y="3141663"/>
            <a:ext cx="5256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rgbClr val="FF3300"/>
                </a:solidFill>
                <a:ea typeface="宋体" panose="02010600030101010101" pitchFamily="2" charset="-122"/>
              </a:rPr>
              <a:t>What language construct are they used for ?</a:t>
            </a:r>
          </a:p>
        </p:txBody>
      </p:sp>
      <p:sp>
        <p:nvSpPr>
          <p:cNvPr id="2057" name="AutoShape 6"/>
          <p:cNvSpPr>
            <a:spLocks/>
          </p:cNvSpPr>
          <p:nvPr/>
        </p:nvSpPr>
        <p:spPr bwMode="auto">
          <a:xfrm>
            <a:off x="1816100" y="2667000"/>
            <a:ext cx="82550" cy="381000"/>
          </a:xfrm>
          <a:prstGeom prst="leftBrace">
            <a:avLst>
              <a:gd name="adj1" fmla="val 38462"/>
              <a:gd name="adj2" fmla="val 50000"/>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endParaRPr lang="zh-CN" altLang="en-US" sz="2000">
              <a:solidFill>
                <a:srgbClr val="FF3300"/>
              </a:solidFill>
              <a:ea typeface="宋体" panose="02010600030101010101" pitchFamily="2" charset="-122"/>
            </a:endParaRPr>
          </a:p>
        </p:txBody>
      </p:sp>
      <p:cxnSp>
        <p:nvCxnSpPr>
          <p:cNvPr id="2058" name="AutoShape 7"/>
          <p:cNvCxnSpPr>
            <a:cxnSpLocks noChangeShapeType="1"/>
            <a:stCxn id="2057" idx="1"/>
            <a:endCxn id="2056" idx="1"/>
          </p:cNvCxnSpPr>
          <p:nvPr/>
        </p:nvCxnSpPr>
        <p:spPr bwMode="auto">
          <a:xfrm rot="10800000" flipH="1" flipV="1">
            <a:off x="1816100" y="2857500"/>
            <a:ext cx="257175" cy="482600"/>
          </a:xfrm>
          <a:prstGeom prst="curvedConnector3">
            <a:avLst>
              <a:gd name="adj1" fmla="val -88889"/>
            </a:avLst>
          </a:prstGeom>
          <a:noFill/>
          <a:ln w="158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9" name="Text Box 8"/>
          <p:cNvSpPr txBox="1">
            <a:spLocks noChangeArrowheads="1"/>
          </p:cNvSpPr>
          <p:nvPr/>
        </p:nvSpPr>
        <p:spPr bwMode="auto">
          <a:xfrm>
            <a:off x="1485900" y="3581400"/>
            <a:ext cx="4870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u="sng">
                <a:ea typeface="宋体" panose="02010600030101010101" pitchFamily="2" charset="-122"/>
              </a:rPr>
              <a:t>Given Tokens, What are Patterns ?</a:t>
            </a:r>
          </a:p>
        </p:txBody>
      </p:sp>
      <p:sp>
        <p:nvSpPr>
          <p:cNvPr id="2060" name="Text Box 9"/>
          <p:cNvSpPr txBox="1">
            <a:spLocks noChangeArrowheads="1"/>
          </p:cNvSpPr>
          <p:nvPr/>
        </p:nvSpPr>
        <p:spPr bwMode="auto">
          <a:xfrm>
            <a:off x="1816100" y="4038600"/>
            <a:ext cx="7594600" cy="222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ea typeface="宋体" panose="02010600030101010101" pitchFamily="2" charset="-122"/>
              </a:rPr>
              <a:t>if       </a:t>
            </a:r>
            <a:r>
              <a:rPr lang="en-US" altLang="zh-CN" sz="2000">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if</a:t>
            </a:r>
          </a:p>
          <a:p>
            <a:pPr eaLnBrk="1" hangingPunct="1">
              <a:lnSpc>
                <a:spcPct val="70000"/>
              </a:lnSpc>
              <a:spcBef>
                <a:spcPct val="50000"/>
              </a:spcBef>
            </a:pPr>
            <a:r>
              <a:rPr lang="en-US" altLang="zh-CN" sz="2000">
                <a:ea typeface="宋体" panose="02010600030101010101" pitchFamily="2" charset="-122"/>
              </a:rPr>
              <a:t>then  </a:t>
            </a:r>
            <a:r>
              <a:rPr lang="en-US" altLang="zh-CN" sz="2000">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then</a:t>
            </a:r>
          </a:p>
          <a:p>
            <a:pPr eaLnBrk="1" hangingPunct="1">
              <a:lnSpc>
                <a:spcPct val="70000"/>
              </a:lnSpc>
              <a:spcBef>
                <a:spcPct val="50000"/>
              </a:spcBef>
            </a:pPr>
            <a:r>
              <a:rPr lang="en-US" altLang="zh-CN" sz="2000">
                <a:ea typeface="宋体" panose="02010600030101010101" pitchFamily="2" charset="-122"/>
              </a:rPr>
              <a:t>else   </a:t>
            </a:r>
            <a:r>
              <a:rPr lang="en-US" altLang="zh-CN" sz="2000">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else</a:t>
            </a:r>
          </a:p>
          <a:p>
            <a:pPr eaLnBrk="1" hangingPunct="1">
              <a:lnSpc>
                <a:spcPct val="70000"/>
              </a:lnSpc>
              <a:spcBef>
                <a:spcPct val="50000"/>
              </a:spcBef>
            </a:pPr>
            <a:r>
              <a:rPr lang="en-US" altLang="zh-CN" sz="2000">
                <a:ea typeface="宋体" panose="02010600030101010101" pitchFamily="2" charset="-122"/>
              </a:rPr>
              <a:t>relop </a:t>
            </a:r>
            <a:r>
              <a:rPr lang="en-US" altLang="zh-CN" sz="2000">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&lt; | &lt;= | &gt; | &gt;= | = | &lt;&gt;</a:t>
            </a:r>
          </a:p>
          <a:p>
            <a:pPr eaLnBrk="1" hangingPunct="1">
              <a:lnSpc>
                <a:spcPct val="70000"/>
              </a:lnSpc>
              <a:spcBef>
                <a:spcPct val="50000"/>
              </a:spcBef>
            </a:pPr>
            <a:r>
              <a:rPr lang="en-US" altLang="zh-CN" sz="2000">
                <a:ea typeface="宋体" panose="02010600030101010101" pitchFamily="2" charset="-122"/>
                <a:sym typeface="Symbol" panose="05050102010706020507" pitchFamily="18" charset="2"/>
              </a:rPr>
              <a:t>id        letter </a:t>
            </a:r>
            <a:r>
              <a:rPr lang="en-US" altLang="zh-CN" sz="2000">
                <a:solidFill>
                  <a:schemeClr val="accent2"/>
                </a:solidFill>
                <a:ea typeface="宋体" panose="02010600030101010101" pitchFamily="2" charset="-122"/>
                <a:sym typeface="Symbol" panose="05050102010706020507" pitchFamily="18" charset="2"/>
              </a:rPr>
              <a:t>( </a:t>
            </a:r>
            <a:r>
              <a:rPr lang="en-US" altLang="zh-CN" sz="2000">
                <a:ea typeface="宋体" panose="02010600030101010101" pitchFamily="2" charset="-122"/>
                <a:sym typeface="Symbol" panose="05050102010706020507" pitchFamily="18" charset="2"/>
              </a:rPr>
              <a:t>letter </a:t>
            </a:r>
            <a:r>
              <a:rPr lang="en-US" altLang="zh-CN" sz="2000">
                <a:solidFill>
                  <a:schemeClr val="accent2"/>
                </a:solidFill>
                <a:ea typeface="宋体" panose="02010600030101010101" pitchFamily="2" charset="-122"/>
                <a:sym typeface="Symbol" panose="05050102010706020507" pitchFamily="18" charset="2"/>
              </a:rPr>
              <a:t>|</a:t>
            </a:r>
            <a:r>
              <a:rPr lang="en-US" altLang="zh-CN" sz="2000">
                <a:ea typeface="宋体" panose="02010600030101010101" pitchFamily="2" charset="-122"/>
                <a:sym typeface="Symbol" panose="05050102010706020507" pitchFamily="18" charset="2"/>
              </a:rPr>
              <a:t> digit</a:t>
            </a:r>
            <a:r>
              <a:rPr lang="en-US" altLang="zh-CN" sz="2000">
                <a:solidFill>
                  <a:schemeClr val="accent2"/>
                </a:solidFill>
                <a:ea typeface="宋体" panose="02010600030101010101" pitchFamily="2" charset="-122"/>
                <a:sym typeface="Symbol" panose="05050102010706020507" pitchFamily="18" charset="2"/>
              </a:rPr>
              <a:t> )*</a:t>
            </a:r>
          </a:p>
          <a:p>
            <a:pPr eaLnBrk="1" hangingPunct="1">
              <a:lnSpc>
                <a:spcPct val="70000"/>
              </a:lnSpc>
              <a:spcBef>
                <a:spcPct val="50000"/>
              </a:spcBef>
            </a:pPr>
            <a:r>
              <a:rPr lang="en-US" altLang="zh-CN" sz="2000">
                <a:ea typeface="宋体" panose="02010600030101010101" pitchFamily="2" charset="-122"/>
                <a:sym typeface="Symbol" panose="05050102010706020507" pitchFamily="18" charset="2"/>
              </a:rPr>
              <a:t>num</a:t>
            </a:r>
            <a:r>
              <a:rPr lang="en-US" altLang="zh-CN" sz="2000">
                <a:solidFill>
                  <a:schemeClr val="accent2"/>
                </a:solidFill>
                <a:ea typeface="宋体" panose="02010600030101010101" pitchFamily="2" charset="-122"/>
                <a:sym typeface="Symbol" panose="05050102010706020507" pitchFamily="18" charset="2"/>
              </a:rPr>
              <a:t> </a:t>
            </a:r>
            <a:r>
              <a:rPr lang="en-US" altLang="zh-CN" sz="2000">
                <a:ea typeface="宋体" panose="02010600030101010101" pitchFamily="2" charset="-122"/>
                <a:sym typeface="Symbol" panose="05050102010706020507" pitchFamily="18" charset="2"/>
              </a:rPr>
              <a:t>  digit</a:t>
            </a:r>
            <a:r>
              <a:rPr lang="en-US" altLang="zh-CN" sz="2000">
                <a:solidFill>
                  <a:schemeClr val="accent2"/>
                </a:solidFill>
                <a:ea typeface="宋体" panose="02010600030101010101" pitchFamily="2" charset="-122"/>
                <a:sym typeface="Symbol" panose="05050102010706020507" pitchFamily="18" charset="2"/>
              </a:rPr>
              <a:t> </a:t>
            </a:r>
            <a:r>
              <a:rPr lang="en-US" altLang="zh-CN" sz="2000" baseline="30000">
                <a:solidFill>
                  <a:schemeClr val="accent2"/>
                </a:solidFill>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 </a:t>
            </a:r>
            <a:r>
              <a:rPr lang="en-US" altLang="zh-CN" sz="2000">
                <a:ea typeface="宋体" panose="02010600030101010101" pitchFamily="2" charset="-122"/>
                <a:sym typeface="Symbol" panose="05050102010706020507" pitchFamily="18" charset="2"/>
              </a:rPr>
              <a:t>digit</a:t>
            </a:r>
            <a:r>
              <a:rPr lang="en-US" altLang="zh-CN" sz="2000">
                <a:solidFill>
                  <a:schemeClr val="accent2"/>
                </a:solidFill>
                <a:ea typeface="宋体" panose="02010600030101010101" pitchFamily="2" charset="-122"/>
                <a:sym typeface="Symbol" panose="05050102010706020507" pitchFamily="18" charset="2"/>
              </a:rPr>
              <a:t> </a:t>
            </a:r>
            <a:r>
              <a:rPr lang="en-US" altLang="zh-CN" sz="2000" baseline="30000">
                <a:solidFill>
                  <a:schemeClr val="accent2"/>
                </a:solidFill>
                <a:ea typeface="宋体" panose="02010600030101010101" pitchFamily="2" charset="-122"/>
                <a:sym typeface="Symbol" panose="05050102010706020507" pitchFamily="18" charset="2"/>
              </a:rPr>
              <a:t>+</a:t>
            </a:r>
            <a:r>
              <a:rPr lang="en-US" altLang="zh-CN" sz="2000">
                <a:solidFill>
                  <a:schemeClr val="accent2"/>
                </a:solidFill>
                <a:ea typeface="宋体" panose="02010600030101010101" pitchFamily="2" charset="-122"/>
                <a:sym typeface="Symbol" panose="05050102010706020507" pitchFamily="18" charset="2"/>
              </a:rPr>
              <a:t> ) ? ( E(+ | -) ? </a:t>
            </a:r>
            <a:r>
              <a:rPr lang="en-US" altLang="zh-CN" sz="2000">
                <a:ea typeface="宋体" panose="02010600030101010101" pitchFamily="2" charset="-122"/>
                <a:sym typeface="Symbol" panose="05050102010706020507" pitchFamily="18" charset="2"/>
              </a:rPr>
              <a:t>digit</a:t>
            </a:r>
            <a:r>
              <a:rPr lang="en-US" altLang="zh-CN" sz="2000">
                <a:solidFill>
                  <a:schemeClr val="accent2"/>
                </a:solidFill>
                <a:ea typeface="宋体" panose="02010600030101010101" pitchFamily="2" charset="-122"/>
                <a:sym typeface="Symbol" panose="05050102010706020507" pitchFamily="18" charset="2"/>
              </a:rPr>
              <a:t> </a:t>
            </a:r>
            <a:r>
              <a:rPr lang="en-US" altLang="zh-CN" sz="2000" baseline="30000">
                <a:solidFill>
                  <a:schemeClr val="accent2"/>
                </a:solidFill>
                <a:ea typeface="宋体" panose="02010600030101010101" pitchFamily="2" charset="-122"/>
                <a:sym typeface="Symbol" panose="05050102010706020507" pitchFamily="18" charset="2"/>
              </a:rPr>
              <a:t>+</a:t>
            </a:r>
            <a:r>
              <a:rPr lang="en-US" altLang="zh-CN" sz="2000">
                <a:solidFill>
                  <a:schemeClr val="accent2"/>
                </a:solidFill>
                <a:ea typeface="宋体" panose="02010600030101010101" pitchFamily="2" charset="-122"/>
                <a:sym typeface="Symbol" panose="05050102010706020507" pitchFamily="18" charset="2"/>
              </a:rPr>
              <a:t> ) ?</a:t>
            </a:r>
            <a:endParaRPr lang="en-US" altLang="zh-CN" sz="2000">
              <a:ea typeface="宋体" panose="02010600030101010101" pitchFamily="2" charset="-122"/>
              <a:sym typeface="Symbol" panose="05050102010706020507" pitchFamily="18" charset="2"/>
            </a:endParaRPr>
          </a:p>
        </p:txBody>
      </p:sp>
      <p:sp>
        <p:nvSpPr>
          <p:cNvPr id="2061" name="Text Box 10"/>
          <p:cNvSpPr txBox="1">
            <a:spLocks noChangeArrowheads="1"/>
          </p:cNvSpPr>
          <p:nvPr/>
        </p:nvSpPr>
        <p:spPr bwMode="auto">
          <a:xfrm>
            <a:off x="1651000" y="6237288"/>
            <a:ext cx="51736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rgbClr val="FF3300"/>
                </a:solidFill>
                <a:ea typeface="宋体" panose="02010600030101010101" pitchFamily="2" charset="-122"/>
              </a:rPr>
              <a:t>What does this represent ?       What is </a:t>
            </a:r>
            <a:r>
              <a:rPr lang="en-US" altLang="zh-CN" sz="2000">
                <a:solidFill>
                  <a:srgbClr val="FF3300"/>
                </a:solidFill>
                <a:ea typeface="宋体" panose="02010600030101010101" pitchFamily="2" charset="-122"/>
                <a:sym typeface="Symbol" panose="05050102010706020507" pitchFamily="18" charset="2"/>
              </a:rPr>
              <a:t> ?</a:t>
            </a:r>
            <a:endParaRPr lang="en-US" altLang="zh-CN" sz="2000">
              <a:solidFill>
                <a:srgbClr val="FF3300"/>
              </a:solidFill>
              <a:ea typeface="宋体" panose="02010600030101010101" pitchFamily="2" charset="-122"/>
            </a:endParaRPr>
          </a:p>
        </p:txBody>
      </p:sp>
      <p:sp>
        <p:nvSpPr>
          <p:cNvPr id="2062" name="AutoShape 11"/>
          <p:cNvSpPr>
            <a:spLocks/>
          </p:cNvSpPr>
          <p:nvPr/>
        </p:nvSpPr>
        <p:spPr bwMode="auto">
          <a:xfrm>
            <a:off x="1568450" y="5943600"/>
            <a:ext cx="247650" cy="381000"/>
          </a:xfrm>
          <a:prstGeom prst="leftBrace">
            <a:avLst>
              <a:gd name="adj1" fmla="val 12821"/>
              <a:gd name="adj2" fmla="val 53333"/>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cxnSp>
        <p:nvCxnSpPr>
          <p:cNvPr id="2063" name="AutoShape 12"/>
          <p:cNvCxnSpPr>
            <a:cxnSpLocks noChangeShapeType="1"/>
            <a:stCxn id="2061" idx="1"/>
            <a:endCxn id="2062" idx="1"/>
          </p:cNvCxnSpPr>
          <p:nvPr/>
        </p:nvCxnSpPr>
        <p:spPr bwMode="auto">
          <a:xfrm rot="10800000">
            <a:off x="1568450" y="6134100"/>
            <a:ext cx="82550" cy="301625"/>
          </a:xfrm>
          <a:prstGeom prst="curvedConnector3">
            <a:avLst>
              <a:gd name="adj1" fmla="val 376921"/>
            </a:avLst>
          </a:prstGeom>
          <a:noFill/>
          <a:ln w="158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133" name="Text Box 13"/>
          <p:cNvSpPr txBox="1">
            <a:spLocks noChangeArrowheads="1"/>
          </p:cNvSpPr>
          <p:nvPr/>
        </p:nvSpPr>
        <p:spPr bwMode="auto">
          <a:xfrm>
            <a:off x="5745163" y="3860800"/>
            <a:ext cx="3962400" cy="1920875"/>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Example 3.6 Grammar:</a:t>
            </a:r>
            <a:br>
              <a:rPr lang="en-US" altLang="zh-CN" sz="2000">
                <a:solidFill>
                  <a:schemeClr val="accent2"/>
                </a:solidFill>
                <a:ea typeface="宋体" panose="02010600030101010101" pitchFamily="2" charset="-122"/>
              </a:rPr>
            </a:br>
            <a:r>
              <a:rPr lang="en-US" altLang="zh-CN" sz="2000" i="1">
                <a:solidFill>
                  <a:schemeClr val="accent2"/>
                </a:solidFill>
                <a:ea typeface="宋体" panose="02010600030101010101" pitchFamily="2" charset="-122"/>
              </a:rPr>
              <a:t>stmt </a:t>
            </a:r>
            <a:r>
              <a:rPr lang="en-US" altLang="zh-CN" sz="2000">
                <a:solidFill>
                  <a:schemeClr val="accent2"/>
                </a:solidFill>
                <a:ea typeface="宋体" panose="02010600030101010101" pitchFamily="2" charset="-122"/>
                <a:sym typeface="Symbol" panose="05050102010706020507" pitchFamily="18" charset="2"/>
              </a:rPr>
              <a:t> 	|if </a:t>
            </a:r>
            <a:r>
              <a:rPr lang="en-US" altLang="zh-CN" sz="2000" i="1">
                <a:solidFill>
                  <a:schemeClr val="accent2"/>
                </a:solidFill>
                <a:ea typeface="宋体" panose="02010600030101010101" pitchFamily="2" charset="-122"/>
                <a:sym typeface="Symbol" panose="05050102010706020507" pitchFamily="18" charset="2"/>
              </a:rPr>
              <a:t>expr </a:t>
            </a:r>
            <a:r>
              <a:rPr lang="en-US" altLang="zh-CN" sz="2000">
                <a:solidFill>
                  <a:schemeClr val="accent2"/>
                </a:solidFill>
                <a:ea typeface="宋体" panose="02010600030101010101" pitchFamily="2" charset="-122"/>
                <a:sym typeface="Symbol" panose="05050102010706020507" pitchFamily="18" charset="2"/>
              </a:rPr>
              <a:t>then </a:t>
            </a:r>
            <a:r>
              <a:rPr lang="en-US" altLang="zh-CN" sz="2000" i="1">
                <a:solidFill>
                  <a:schemeClr val="accent2"/>
                </a:solidFill>
                <a:ea typeface="宋体" panose="02010600030101010101" pitchFamily="2" charset="-122"/>
                <a:sym typeface="Symbol" panose="05050102010706020507" pitchFamily="18" charset="2"/>
              </a:rPr>
              <a:t>stmt</a:t>
            </a:r>
            <a:br>
              <a:rPr lang="en-US" altLang="zh-CN" sz="2000" i="1">
                <a:solidFill>
                  <a:schemeClr val="accent2"/>
                </a:solidFill>
                <a:ea typeface="宋体" panose="02010600030101010101" pitchFamily="2" charset="-122"/>
                <a:sym typeface="Symbol" panose="05050102010706020507" pitchFamily="18" charset="2"/>
              </a:rPr>
            </a:br>
            <a:r>
              <a:rPr lang="en-US" altLang="zh-CN" sz="2000" i="1">
                <a:solidFill>
                  <a:schemeClr val="accent2"/>
                </a:solidFill>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if </a:t>
            </a:r>
            <a:r>
              <a:rPr lang="en-US" altLang="zh-CN" sz="2000" i="1">
                <a:solidFill>
                  <a:schemeClr val="accent2"/>
                </a:solidFill>
                <a:ea typeface="宋体" panose="02010600030101010101" pitchFamily="2" charset="-122"/>
                <a:sym typeface="Symbol" panose="05050102010706020507" pitchFamily="18" charset="2"/>
              </a:rPr>
              <a:t>expr </a:t>
            </a:r>
            <a:r>
              <a:rPr lang="en-US" altLang="zh-CN" sz="2000">
                <a:solidFill>
                  <a:schemeClr val="accent2"/>
                </a:solidFill>
                <a:ea typeface="宋体" panose="02010600030101010101" pitchFamily="2" charset="-122"/>
                <a:sym typeface="Symbol" panose="05050102010706020507" pitchFamily="18" charset="2"/>
              </a:rPr>
              <a:t>then </a:t>
            </a:r>
            <a:r>
              <a:rPr lang="en-US" altLang="zh-CN" sz="2000" i="1">
                <a:solidFill>
                  <a:schemeClr val="accent2"/>
                </a:solidFill>
                <a:ea typeface="宋体" panose="02010600030101010101" pitchFamily="2" charset="-122"/>
                <a:sym typeface="Symbol" panose="05050102010706020507" pitchFamily="18" charset="2"/>
              </a:rPr>
              <a:t>stmt </a:t>
            </a:r>
            <a:r>
              <a:rPr lang="en-US" altLang="zh-CN" sz="2000">
                <a:solidFill>
                  <a:schemeClr val="accent2"/>
                </a:solidFill>
                <a:ea typeface="宋体" panose="02010600030101010101" pitchFamily="2" charset="-122"/>
                <a:sym typeface="Symbol" panose="05050102010706020507" pitchFamily="18" charset="2"/>
              </a:rPr>
              <a:t>else </a:t>
            </a:r>
            <a:r>
              <a:rPr lang="en-US" altLang="zh-CN" sz="2000" i="1">
                <a:solidFill>
                  <a:schemeClr val="accent2"/>
                </a:solidFill>
                <a:ea typeface="宋体" panose="02010600030101010101" pitchFamily="2" charset="-122"/>
                <a:sym typeface="Symbol" panose="05050102010706020507" pitchFamily="18" charset="2"/>
              </a:rPr>
              <a:t>stmt</a:t>
            </a:r>
            <a:br>
              <a:rPr lang="en-US" altLang="zh-CN" sz="2000" i="1">
                <a:solidFill>
                  <a:schemeClr val="accent2"/>
                </a:solidFill>
                <a:ea typeface="宋体" panose="02010600030101010101" pitchFamily="2" charset="-122"/>
                <a:sym typeface="Symbol" panose="05050102010706020507" pitchFamily="18" charset="2"/>
              </a:rPr>
            </a:br>
            <a:r>
              <a:rPr lang="en-US" altLang="zh-CN" sz="2000" i="1">
                <a:solidFill>
                  <a:schemeClr val="accent2"/>
                </a:solidFill>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a:t>
            </a:r>
            <a:r>
              <a:rPr lang="en-US" altLang="zh-CN" sz="2000" i="1">
                <a:solidFill>
                  <a:schemeClr val="accent2"/>
                </a:solidFill>
                <a:ea typeface="宋体" panose="02010600030101010101" pitchFamily="2" charset="-122"/>
                <a:sym typeface="Symbol" panose="05050102010706020507" pitchFamily="18" charset="2"/>
              </a:rPr>
              <a:t/>
            </a:r>
            <a:br>
              <a:rPr lang="en-US" altLang="zh-CN" sz="2000" i="1">
                <a:solidFill>
                  <a:schemeClr val="accent2"/>
                </a:solidFill>
                <a:ea typeface="宋体" panose="02010600030101010101" pitchFamily="2" charset="-122"/>
                <a:sym typeface="Symbol" panose="05050102010706020507" pitchFamily="18" charset="2"/>
              </a:rPr>
            </a:br>
            <a:r>
              <a:rPr lang="en-US" altLang="zh-CN" sz="2000" i="1">
                <a:solidFill>
                  <a:schemeClr val="accent2"/>
                </a:solidFill>
                <a:ea typeface="宋体" panose="02010600030101010101" pitchFamily="2" charset="-122"/>
                <a:sym typeface="Symbol" panose="05050102010706020507" pitchFamily="18" charset="2"/>
              </a:rPr>
              <a:t>expr  </a:t>
            </a:r>
            <a:r>
              <a:rPr lang="en-US" altLang="zh-CN" sz="2000">
                <a:solidFill>
                  <a:schemeClr val="accent2"/>
                </a:solidFill>
                <a:ea typeface="宋体" panose="02010600030101010101" pitchFamily="2" charset="-122"/>
                <a:sym typeface="Symbol" panose="05050102010706020507" pitchFamily="18" charset="2"/>
              </a:rPr>
              <a:t> </a:t>
            </a:r>
            <a:r>
              <a:rPr lang="en-US" altLang="zh-CN" sz="2000" i="1">
                <a:solidFill>
                  <a:schemeClr val="accent2"/>
                </a:solidFill>
                <a:ea typeface="宋体" panose="02010600030101010101" pitchFamily="2" charset="-122"/>
                <a:sym typeface="Symbol" panose="05050102010706020507" pitchFamily="18" charset="2"/>
              </a:rPr>
              <a:t>term </a:t>
            </a:r>
            <a:r>
              <a:rPr lang="en-US" altLang="zh-CN" sz="2000">
                <a:solidFill>
                  <a:schemeClr val="accent2"/>
                </a:solidFill>
                <a:ea typeface="宋体" panose="02010600030101010101" pitchFamily="2" charset="-122"/>
                <a:sym typeface="Symbol" panose="05050102010706020507" pitchFamily="18" charset="2"/>
              </a:rPr>
              <a:t>relop </a:t>
            </a:r>
            <a:r>
              <a:rPr lang="en-US" altLang="zh-CN" sz="2000" i="1">
                <a:solidFill>
                  <a:schemeClr val="accent2"/>
                </a:solidFill>
                <a:ea typeface="宋体" panose="02010600030101010101" pitchFamily="2" charset="-122"/>
                <a:sym typeface="Symbol" panose="05050102010706020507" pitchFamily="18" charset="2"/>
              </a:rPr>
              <a:t>term | term</a:t>
            </a:r>
            <a:br>
              <a:rPr lang="en-US" altLang="zh-CN" sz="2000" i="1">
                <a:solidFill>
                  <a:schemeClr val="accent2"/>
                </a:solidFill>
                <a:ea typeface="宋体" panose="02010600030101010101" pitchFamily="2" charset="-122"/>
                <a:sym typeface="Symbol" panose="05050102010706020507" pitchFamily="18" charset="2"/>
              </a:rPr>
            </a:br>
            <a:r>
              <a:rPr lang="en-US" altLang="zh-CN" sz="2000" i="1">
                <a:solidFill>
                  <a:schemeClr val="accent2"/>
                </a:solidFill>
                <a:ea typeface="宋体" panose="02010600030101010101" pitchFamily="2" charset="-122"/>
                <a:sym typeface="Symbol" panose="05050102010706020507" pitchFamily="18" charset="2"/>
              </a:rPr>
              <a:t>term </a:t>
            </a:r>
            <a:r>
              <a:rPr lang="en-US" altLang="zh-CN" sz="2000">
                <a:solidFill>
                  <a:schemeClr val="accent2"/>
                </a:solidFill>
                <a:ea typeface="宋体" panose="02010600030101010101" pitchFamily="2" charset="-122"/>
                <a:sym typeface="Symbol" panose="05050102010706020507" pitchFamily="18" charset="2"/>
              </a:rPr>
              <a:t> id | num</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afterEffect">
                                  <p:stCondLst>
                                    <p:cond delay="5000"/>
                                  </p:stCondLst>
                                  <p:childTnLst>
                                    <p:set>
                                      <p:cBhvr>
                                        <p:cTn id="6" dur="1" fill="hold">
                                          <p:stCondLst>
                                            <p:cond delay="0"/>
                                          </p:stCondLst>
                                        </p:cTn>
                                        <p:tgtEl>
                                          <p:spTgt spid="389133"/>
                                        </p:tgtEl>
                                        <p:attrNameLst>
                                          <p:attrName>style.visibility</p:attrName>
                                        </p:attrNameLst>
                                      </p:cBhvr>
                                      <p:to>
                                        <p:strVal val="visible"/>
                                      </p:to>
                                    </p:set>
                                    <p:animEffect transition="in" filter="wipe(right)">
                                      <p:cBhvr>
                                        <p:cTn id="7" dur="2000"/>
                                        <p:tgtEl>
                                          <p:spTgt spid="389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3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075"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076"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3374157E-362D-4D55-8BC3-4D3E74C7B312}" type="slidenum">
              <a:rPr lang="zh-CN" altLang="en-US" sz="800" b="0"/>
              <a:pPr/>
              <a:t>2</a:t>
            </a:fld>
            <a:endParaRPr lang="en-US" altLang="zh-CN" sz="800" b="0"/>
          </a:p>
        </p:txBody>
      </p:sp>
      <p:sp>
        <p:nvSpPr>
          <p:cNvPr id="3077"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What Else Does Lexical Analyzer Do? (P.99)</a:t>
            </a:r>
          </a:p>
        </p:txBody>
      </p:sp>
      <p:sp>
        <p:nvSpPr>
          <p:cNvPr id="3078" name="Text Box 3"/>
          <p:cNvSpPr txBox="1">
            <a:spLocks noChangeArrowheads="1"/>
          </p:cNvSpPr>
          <p:nvPr/>
        </p:nvSpPr>
        <p:spPr bwMode="auto">
          <a:xfrm>
            <a:off x="849313" y="1052513"/>
            <a:ext cx="6934200" cy="1074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800">
                <a:solidFill>
                  <a:schemeClr val="accent2"/>
                </a:solidFill>
                <a:ea typeface="宋体" panose="02010600030101010101" pitchFamily="2" charset="-122"/>
              </a:rPr>
              <a:t>Scan away  </a:t>
            </a:r>
            <a:r>
              <a:rPr lang="en-US" altLang="zh-CN" sz="2800" i="1">
                <a:solidFill>
                  <a:schemeClr val="accent2"/>
                </a:solidFill>
                <a:ea typeface="宋体" panose="02010600030101010101" pitchFamily="2" charset="-122"/>
              </a:rPr>
              <a:t>b</a:t>
            </a:r>
            <a:r>
              <a:rPr lang="en-US" altLang="zh-CN" sz="2800">
                <a:solidFill>
                  <a:schemeClr val="accent2"/>
                </a:solidFill>
                <a:ea typeface="宋体" panose="02010600030101010101" pitchFamily="2" charset="-122"/>
              </a:rPr>
              <a:t>,  nl,  tabs</a:t>
            </a:r>
          </a:p>
          <a:p>
            <a:pPr eaLnBrk="1" hangingPunct="1">
              <a:lnSpc>
                <a:spcPct val="80000"/>
              </a:lnSpc>
              <a:spcBef>
                <a:spcPct val="50000"/>
              </a:spcBef>
            </a:pPr>
            <a:r>
              <a:rPr lang="en-US" altLang="zh-CN" sz="2800">
                <a:solidFill>
                  <a:schemeClr val="accent2"/>
                </a:solidFill>
                <a:ea typeface="宋体" panose="02010600030101010101" pitchFamily="2" charset="-122"/>
              </a:rPr>
              <a:t>Can we Define Tokens For These?</a:t>
            </a:r>
          </a:p>
        </p:txBody>
      </p:sp>
      <p:sp>
        <p:nvSpPr>
          <p:cNvPr id="392196" name="Text Box 4"/>
          <p:cNvSpPr txBox="1">
            <a:spLocks noChangeArrowheads="1"/>
          </p:cNvSpPr>
          <p:nvPr/>
        </p:nvSpPr>
        <p:spPr bwMode="auto">
          <a:xfrm>
            <a:off x="1281113" y="3048000"/>
            <a:ext cx="7488237"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lnSpc>
                <a:spcPct val="70000"/>
              </a:lnSpc>
              <a:spcBef>
                <a:spcPct val="50000"/>
              </a:spcBef>
            </a:pPr>
            <a:r>
              <a:rPr lang="en-US" altLang="zh-CN" sz="2800">
                <a:ea typeface="宋体" panose="02010600030101010101" pitchFamily="2" charset="-122"/>
              </a:rPr>
              <a:t>blank    </a:t>
            </a:r>
            <a:r>
              <a:rPr lang="en-US" altLang="zh-CN" sz="2800">
                <a:ea typeface="宋体" panose="02010600030101010101" pitchFamily="2" charset="-122"/>
                <a:sym typeface="Symbol" panose="05050102010706020507" pitchFamily="18" charset="2"/>
              </a:rPr>
              <a:t>  </a:t>
            </a:r>
            <a:r>
              <a:rPr lang="en-US" altLang="zh-CN" sz="2800" i="1">
                <a:solidFill>
                  <a:schemeClr val="accent2"/>
                </a:solidFill>
                <a:ea typeface="宋体" panose="02010600030101010101" pitchFamily="2" charset="-122"/>
                <a:sym typeface="Symbol" panose="05050102010706020507" pitchFamily="18" charset="2"/>
              </a:rPr>
              <a:t>b    </a:t>
            </a:r>
          </a:p>
          <a:p>
            <a:pPr eaLnBrk="1" hangingPunct="1">
              <a:lnSpc>
                <a:spcPct val="70000"/>
              </a:lnSpc>
              <a:spcBef>
                <a:spcPct val="50000"/>
              </a:spcBef>
            </a:pPr>
            <a:r>
              <a:rPr lang="en-US" altLang="zh-CN" sz="2800">
                <a:ea typeface="宋体" panose="02010600030101010101" pitchFamily="2" charset="-122"/>
                <a:sym typeface="Symbol" panose="05050102010706020507" pitchFamily="18" charset="2"/>
              </a:rPr>
              <a:t>tab          </a:t>
            </a:r>
            <a:r>
              <a:rPr lang="en-US" altLang="zh-CN" sz="2800">
                <a:solidFill>
                  <a:schemeClr val="accent2"/>
                </a:solidFill>
                <a:ea typeface="宋体" panose="02010600030101010101" pitchFamily="2" charset="-122"/>
                <a:sym typeface="Symbol" panose="05050102010706020507" pitchFamily="18" charset="2"/>
              </a:rPr>
              <a:t>^T</a:t>
            </a:r>
            <a:endParaRPr lang="en-US" altLang="zh-CN" sz="2800">
              <a:ea typeface="宋体" panose="02010600030101010101" pitchFamily="2" charset="-122"/>
              <a:sym typeface="Symbol" panose="05050102010706020507" pitchFamily="18" charset="2"/>
            </a:endParaRPr>
          </a:p>
          <a:p>
            <a:pPr eaLnBrk="1" hangingPunct="1">
              <a:lnSpc>
                <a:spcPct val="70000"/>
              </a:lnSpc>
              <a:spcBef>
                <a:spcPct val="50000"/>
              </a:spcBef>
            </a:pPr>
            <a:r>
              <a:rPr lang="en-US" altLang="zh-CN" sz="2800">
                <a:ea typeface="宋体" panose="02010600030101010101" pitchFamily="2" charset="-122"/>
                <a:sym typeface="Symbol" panose="05050102010706020507" pitchFamily="18" charset="2"/>
              </a:rPr>
              <a:t>newline   </a:t>
            </a:r>
            <a:r>
              <a:rPr lang="en-US" altLang="zh-CN" sz="2800">
                <a:solidFill>
                  <a:schemeClr val="accent2"/>
                </a:solidFill>
                <a:ea typeface="宋体" panose="02010600030101010101" pitchFamily="2" charset="-122"/>
                <a:sym typeface="Symbol" panose="05050102010706020507" pitchFamily="18" charset="2"/>
              </a:rPr>
              <a:t>^M</a:t>
            </a:r>
            <a:endParaRPr lang="en-US" altLang="zh-CN" sz="2800">
              <a:ea typeface="宋体" panose="02010600030101010101" pitchFamily="2" charset="-122"/>
              <a:sym typeface="Symbol" panose="05050102010706020507" pitchFamily="18" charset="2"/>
            </a:endParaRPr>
          </a:p>
          <a:p>
            <a:pPr eaLnBrk="1" hangingPunct="1">
              <a:lnSpc>
                <a:spcPct val="70000"/>
              </a:lnSpc>
              <a:spcBef>
                <a:spcPct val="50000"/>
              </a:spcBef>
            </a:pPr>
            <a:r>
              <a:rPr lang="en-US" altLang="zh-CN" sz="2800">
                <a:ea typeface="宋体" panose="02010600030101010101" pitchFamily="2" charset="-122"/>
                <a:sym typeface="Symbol" panose="05050102010706020507" pitchFamily="18" charset="2"/>
              </a:rPr>
              <a:t>delim      blank| tab | newline</a:t>
            </a:r>
          </a:p>
          <a:p>
            <a:pPr eaLnBrk="1" hangingPunct="1">
              <a:lnSpc>
                <a:spcPct val="70000"/>
              </a:lnSpc>
              <a:spcBef>
                <a:spcPct val="50000"/>
              </a:spcBef>
            </a:pPr>
            <a:r>
              <a:rPr lang="en-US" altLang="zh-CN" sz="2800">
                <a:ea typeface="宋体" panose="02010600030101010101" pitchFamily="2" charset="-122"/>
                <a:sym typeface="Symbol" panose="05050102010706020507" pitchFamily="18" charset="2"/>
              </a:rPr>
              <a:t>ws           delim</a:t>
            </a:r>
            <a:r>
              <a:rPr lang="en-US" altLang="zh-CN" sz="2800" baseline="30000">
                <a:ea typeface="宋体" panose="02010600030101010101" pitchFamily="2" charset="-122"/>
                <a:sym typeface="Symbol" panose="05050102010706020507" pitchFamily="18" charset="2"/>
              </a:rPr>
              <a:t> </a:t>
            </a:r>
            <a:r>
              <a:rPr lang="en-US" altLang="zh-CN" sz="2800" baseline="30000">
                <a:solidFill>
                  <a:schemeClr val="accent2"/>
                </a:solidFill>
                <a:ea typeface="宋体" panose="02010600030101010101" pitchFamily="2" charset="-122"/>
                <a:sym typeface="Symbol" panose="05050102010706020507" pitchFamily="18" charset="2"/>
              </a:rPr>
              <a:t>+                             </a:t>
            </a:r>
            <a:r>
              <a:rPr lang="en-US" altLang="zh-CN" sz="2800">
                <a:solidFill>
                  <a:schemeClr val="accent2"/>
                </a:solidFill>
                <a:ea typeface="宋体" panose="02010600030101010101" pitchFamily="2" charset="-122"/>
                <a:sym typeface="Symbol" panose="05050102010706020507" pitchFamily="18" charset="2"/>
              </a:rPr>
              <a:t>(ws is whitespace)</a:t>
            </a:r>
          </a:p>
        </p:txBody>
      </p:sp>
      <p:sp>
        <p:nvSpPr>
          <p:cNvPr id="392197" name="Rectangle 5"/>
          <p:cNvSpPr>
            <a:spLocks noChangeArrowheads="1"/>
          </p:cNvSpPr>
          <p:nvPr/>
        </p:nvSpPr>
        <p:spPr bwMode="auto">
          <a:xfrm>
            <a:off x="3008313" y="2133600"/>
            <a:ext cx="3241675" cy="433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800">
                <a:solidFill>
                  <a:srgbClr val="9900CC"/>
                </a:solidFill>
                <a:ea typeface="宋体" panose="02010600030101010101" pitchFamily="2" charset="-122"/>
              </a:rPr>
              <a:t>Character    Escape Sequence</a:t>
            </a:r>
          </a:p>
          <a:p>
            <a:r>
              <a:rPr lang="en-US" altLang="zh-CN">
                <a:solidFill>
                  <a:srgbClr val="9900CC"/>
                </a:solidFill>
                <a:ea typeface="宋体" panose="02010600030101010101" pitchFamily="2" charset="-122"/>
              </a:rPr>
              <a:t>    "           	\“</a:t>
            </a:r>
          </a:p>
          <a:p>
            <a:r>
              <a:rPr lang="en-US" altLang="zh-CN">
                <a:solidFill>
                  <a:srgbClr val="9900CC"/>
                </a:solidFill>
                <a:ea typeface="宋体" panose="02010600030101010101" pitchFamily="2" charset="-122"/>
              </a:rPr>
              <a:t>    '         	\‘</a:t>
            </a:r>
          </a:p>
          <a:p>
            <a:r>
              <a:rPr lang="en-US" altLang="zh-CN">
                <a:solidFill>
                  <a:srgbClr val="9900CC"/>
                </a:solidFill>
                <a:ea typeface="宋体" panose="02010600030101010101" pitchFamily="2" charset="-122"/>
              </a:rPr>
              <a:t>    ?          	\?</a:t>
            </a:r>
          </a:p>
          <a:p>
            <a:r>
              <a:rPr lang="en-US" altLang="zh-CN">
                <a:solidFill>
                  <a:srgbClr val="9900CC"/>
                </a:solidFill>
                <a:ea typeface="宋体" panose="02010600030101010101" pitchFamily="2" charset="-122"/>
              </a:rPr>
              <a:t>    \          	\\</a:t>
            </a:r>
          </a:p>
          <a:p>
            <a:r>
              <a:rPr lang="en-US" altLang="zh-CN" i="1">
                <a:solidFill>
                  <a:srgbClr val="9900CC"/>
                </a:solidFill>
                <a:ea typeface="宋体" panose="02010600030101010101" pitchFamily="2" charset="-122"/>
              </a:rPr>
              <a:t>  BEL</a:t>
            </a:r>
            <a:r>
              <a:rPr lang="en-US" altLang="zh-CN">
                <a:solidFill>
                  <a:srgbClr val="9900CC"/>
                </a:solidFill>
                <a:ea typeface="宋体" panose="02010600030101010101" pitchFamily="2" charset="-122"/>
              </a:rPr>
              <a:t>         	\a</a:t>
            </a:r>
          </a:p>
          <a:p>
            <a:r>
              <a:rPr lang="en-US" altLang="zh-CN" i="1">
                <a:solidFill>
                  <a:srgbClr val="9900CC"/>
                </a:solidFill>
                <a:ea typeface="宋体" panose="02010600030101010101" pitchFamily="2" charset="-122"/>
              </a:rPr>
              <a:t>   BS</a:t>
            </a:r>
            <a:r>
              <a:rPr lang="en-US" altLang="zh-CN">
                <a:solidFill>
                  <a:srgbClr val="9900CC"/>
                </a:solidFill>
                <a:ea typeface="宋体" panose="02010600030101010101" pitchFamily="2" charset="-122"/>
              </a:rPr>
              <a:t>         	\b</a:t>
            </a:r>
          </a:p>
          <a:p>
            <a:r>
              <a:rPr lang="en-US" altLang="zh-CN" i="1">
                <a:solidFill>
                  <a:srgbClr val="9900CC"/>
                </a:solidFill>
                <a:ea typeface="宋体" panose="02010600030101010101" pitchFamily="2" charset="-122"/>
              </a:rPr>
              <a:t>   FF</a:t>
            </a:r>
            <a:r>
              <a:rPr lang="en-US" altLang="zh-CN">
                <a:solidFill>
                  <a:srgbClr val="9900CC"/>
                </a:solidFill>
                <a:ea typeface="宋体" panose="02010600030101010101" pitchFamily="2" charset="-122"/>
              </a:rPr>
              <a:t>          	\f</a:t>
            </a:r>
          </a:p>
          <a:p>
            <a:r>
              <a:rPr lang="en-US" altLang="zh-CN" i="1">
                <a:solidFill>
                  <a:srgbClr val="9900CC"/>
                </a:solidFill>
                <a:ea typeface="宋体" panose="02010600030101010101" pitchFamily="2" charset="-122"/>
              </a:rPr>
              <a:t>   NL</a:t>
            </a:r>
            <a:r>
              <a:rPr lang="en-US" altLang="zh-CN">
                <a:solidFill>
                  <a:srgbClr val="9900CC"/>
                </a:solidFill>
                <a:ea typeface="宋体" panose="02010600030101010101" pitchFamily="2" charset="-122"/>
              </a:rPr>
              <a:t>           	\n</a:t>
            </a:r>
          </a:p>
          <a:p>
            <a:r>
              <a:rPr lang="en-US" altLang="zh-CN" i="1">
                <a:solidFill>
                  <a:srgbClr val="9900CC"/>
                </a:solidFill>
                <a:ea typeface="宋体" panose="02010600030101010101" pitchFamily="2" charset="-122"/>
              </a:rPr>
              <a:t>   CR</a:t>
            </a:r>
            <a:r>
              <a:rPr lang="en-US" altLang="zh-CN">
                <a:solidFill>
                  <a:srgbClr val="9900CC"/>
                </a:solidFill>
                <a:ea typeface="宋体" panose="02010600030101010101" pitchFamily="2" charset="-122"/>
              </a:rPr>
              <a:t>           	\r</a:t>
            </a:r>
          </a:p>
          <a:p>
            <a:r>
              <a:rPr lang="en-US" altLang="zh-CN" i="1">
                <a:solidFill>
                  <a:srgbClr val="9900CC"/>
                </a:solidFill>
                <a:ea typeface="宋体" panose="02010600030101010101" pitchFamily="2" charset="-122"/>
              </a:rPr>
              <a:t>   HT</a:t>
            </a:r>
            <a:r>
              <a:rPr lang="en-US" altLang="zh-CN">
                <a:solidFill>
                  <a:srgbClr val="9900CC"/>
                </a:solidFill>
                <a:ea typeface="宋体" panose="02010600030101010101" pitchFamily="2" charset="-122"/>
              </a:rPr>
              <a:t>           	\t</a:t>
            </a:r>
          </a:p>
          <a:p>
            <a:r>
              <a:rPr lang="en-US" altLang="zh-CN" i="1">
                <a:solidFill>
                  <a:srgbClr val="9900CC"/>
                </a:solidFill>
                <a:ea typeface="宋体" panose="02010600030101010101" pitchFamily="2" charset="-122"/>
              </a:rPr>
              <a:t>   VT</a:t>
            </a:r>
            <a:r>
              <a:rPr lang="en-US" altLang="zh-CN">
                <a:solidFill>
                  <a:srgbClr val="9900CC"/>
                </a:solidFill>
                <a:ea typeface="宋体" panose="02010600030101010101" pitchFamily="2" charset="-122"/>
              </a:rPr>
              <a:t>           	\v</a:t>
            </a:r>
            <a:r>
              <a:rPr lang="en-US" altLang="zh-CN" b="0">
                <a:solidFill>
                  <a:srgbClr val="9900CC"/>
                </a:solidFill>
                <a:ea typeface="宋体" panose="02010600030101010101" pitchFamily="2"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2196"/>
                                        </p:tgtEl>
                                        <p:attrNameLst>
                                          <p:attrName>style.visibility</p:attrName>
                                        </p:attrNameLst>
                                      </p:cBhvr>
                                      <p:to>
                                        <p:strVal val="visible"/>
                                      </p:to>
                                    </p:set>
                                    <p:animEffect transition="in" filter="wipe(left)">
                                      <p:cBhvr>
                                        <p:cTn id="7" dur="1000"/>
                                        <p:tgtEl>
                                          <p:spTgt spid="392196"/>
                                        </p:tgtEl>
                                      </p:cBhvr>
                                    </p:animEffect>
                                  </p:childTnLst>
                                  <p:subTnLst>
                                    <p:set>
                                      <p:cBhvr override="childStyle">
                                        <p:cTn dur="1" fill="hold" display="0" masterRel="nextClick" afterEffect="1"/>
                                        <p:tgtEl>
                                          <p:spTgt spid="39219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92197"/>
                                        </p:tgtEl>
                                        <p:attrNameLst>
                                          <p:attrName>style.visibility</p:attrName>
                                        </p:attrNameLst>
                                      </p:cBhvr>
                                      <p:to>
                                        <p:strVal val="visible"/>
                                      </p:to>
                                    </p:set>
                                    <p:animEffect transition="in" filter="wipe(right)">
                                      <p:cBhvr>
                                        <p:cTn id="12" dur="2000"/>
                                        <p:tgtEl>
                                          <p:spTgt spid="392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6" grpId="0"/>
      <p:bldP spid="39219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099"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100"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974CEBBC-8A2B-4814-AB29-CA2E0F3F0D1D}" type="slidenum">
              <a:rPr lang="zh-CN" altLang="en-US" sz="800" b="0"/>
              <a:pPr/>
              <a:t>3</a:t>
            </a:fld>
            <a:endParaRPr lang="en-US" altLang="zh-CN" sz="800" b="0"/>
          </a:p>
        </p:txBody>
      </p:sp>
      <p:grpSp>
        <p:nvGrpSpPr>
          <p:cNvPr id="4101" name="Group 3"/>
          <p:cNvGrpSpPr>
            <a:grpSpLocks/>
          </p:cNvGrpSpPr>
          <p:nvPr/>
        </p:nvGrpSpPr>
        <p:grpSpPr bwMode="auto">
          <a:xfrm>
            <a:off x="1801813" y="908050"/>
            <a:ext cx="7759700" cy="4876800"/>
            <a:chOff x="864" y="1008"/>
            <a:chExt cx="4512" cy="3072"/>
          </a:xfrm>
        </p:grpSpPr>
        <p:sp>
          <p:nvSpPr>
            <p:cNvPr id="4105" name="Line 4"/>
            <p:cNvSpPr>
              <a:spLocks noChangeShapeType="1"/>
            </p:cNvSpPr>
            <p:nvPr/>
          </p:nvSpPr>
          <p:spPr bwMode="auto">
            <a:xfrm>
              <a:off x="960" y="1008"/>
              <a:ext cx="436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 name="Line 5"/>
            <p:cNvSpPr>
              <a:spLocks noChangeShapeType="1"/>
            </p:cNvSpPr>
            <p:nvPr/>
          </p:nvSpPr>
          <p:spPr bwMode="auto">
            <a:xfrm>
              <a:off x="960" y="1056"/>
              <a:ext cx="436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 name="Line 6"/>
            <p:cNvSpPr>
              <a:spLocks noChangeShapeType="1"/>
            </p:cNvSpPr>
            <p:nvPr/>
          </p:nvSpPr>
          <p:spPr bwMode="auto">
            <a:xfrm>
              <a:off x="960" y="1440"/>
              <a:ext cx="436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 name="Line 7"/>
            <p:cNvSpPr>
              <a:spLocks noChangeShapeType="1"/>
            </p:cNvSpPr>
            <p:nvPr/>
          </p:nvSpPr>
          <p:spPr bwMode="auto">
            <a:xfrm>
              <a:off x="864" y="4080"/>
              <a:ext cx="436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 name="Line 8"/>
            <p:cNvSpPr>
              <a:spLocks noChangeShapeType="1"/>
            </p:cNvSpPr>
            <p:nvPr/>
          </p:nvSpPr>
          <p:spPr bwMode="auto">
            <a:xfrm>
              <a:off x="2112" y="1008"/>
              <a:ext cx="0" cy="307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 name="Line 9"/>
            <p:cNvSpPr>
              <a:spLocks noChangeShapeType="1"/>
            </p:cNvSpPr>
            <p:nvPr/>
          </p:nvSpPr>
          <p:spPr bwMode="auto">
            <a:xfrm>
              <a:off x="3216" y="1008"/>
              <a:ext cx="0" cy="307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 name="Text Box 10"/>
            <p:cNvSpPr txBox="1">
              <a:spLocks noChangeArrowheads="1"/>
            </p:cNvSpPr>
            <p:nvPr/>
          </p:nvSpPr>
          <p:spPr bwMode="auto">
            <a:xfrm>
              <a:off x="960" y="1056"/>
              <a:ext cx="12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latin typeface="Courier New" panose="02070309020205020404" pitchFamily="49" charset="0"/>
                  <a:ea typeface="宋体" panose="02010600030101010101" pitchFamily="2" charset="-122"/>
                </a:rPr>
                <a:t>Regular Expression</a:t>
              </a:r>
            </a:p>
          </p:txBody>
        </p:sp>
        <p:sp>
          <p:nvSpPr>
            <p:cNvPr id="4112" name="Text Box 11"/>
            <p:cNvSpPr txBox="1">
              <a:spLocks noChangeArrowheads="1"/>
            </p:cNvSpPr>
            <p:nvPr/>
          </p:nvSpPr>
          <p:spPr bwMode="auto">
            <a:xfrm>
              <a:off x="2016" y="1104"/>
              <a:ext cx="12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latin typeface="Courier New" panose="02070309020205020404" pitchFamily="49" charset="0"/>
                  <a:ea typeface="宋体" panose="02010600030101010101" pitchFamily="2" charset="-122"/>
                </a:rPr>
                <a:t>Token</a:t>
              </a:r>
            </a:p>
          </p:txBody>
        </p:sp>
        <p:sp>
          <p:nvSpPr>
            <p:cNvPr id="4113" name="Text Box 12"/>
            <p:cNvSpPr txBox="1">
              <a:spLocks noChangeArrowheads="1"/>
            </p:cNvSpPr>
            <p:nvPr/>
          </p:nvSpPr>
          <p:spPr bwMode="auto">
            <a:xfrm>
              <a:off x="3552" y="1104"/>
              <a:ext cx="17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latin typeface="Courier New" panose="02070309020205020404" pitchFamily="49" charset="0"/>
                  <a:ea typeface="宋体" panose="02010600030101010101" pitchFamily="2" charset="-122"/>
                </a:rPr>
                <a:t>Attribute-Value</a:t>
              </a:r>
            </a:p>
          </p:txBody>
        </p:sp>
        <p:sp>
          <p:nvSpPr>
            <p:cNvPr id="4114" name="Text Box 13"/>
            <p:cNvSpPr txBox="1">
              <a:spLocks noChangeArrowheads="1"/>
            </p:cNvSpPr>
            <p:nvPr/>
          </p:nvSpPr>
          <p:spPr bwMode="auto">
            <a:xfrm>
              <a:off x="1200" y="1488"/>
              <a:ext cx="528" cy="2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b="0">
                  <a:ea typeface="宋体" panose="02010600030101010101" pitchFamily="2" charset="-122"/>
                </a:rPr>
                <a:t>ws</a:t>
              </a:r>
            </a:p>
            <a:p>
              <a:pPr algn="ctr" eaLnBrk="1" hangingPunct="1">
                <a:lnSpc>
                  <a:spcPct val="60000"/>
                </a:lnSpc>
                <a:spcBef>
                  <a:spcPct val="50000"/>
                </a:spcBef>
              </a:pPr>
              <a:r>
                <a:rPr lang="en-US" altLang="zh-CN" sz="2000">
                  <a:latin typeface="Courier New" panose="02070309020205020404" pitchFamily="49" charset="0"/>
                  <a:ea typeface="宋体" panose="02010600030101010101" pitchFamily="2" charset="-122"/>
                </a:rPr>
                <a:t>if</a:t>
              </a:r>
            </a:p>
            <a:p>
              <a:pPr algn="ctr" eaLnBrk="1" hangingPunct="1">
                <a:lnSpc>
                  <a:spcPct val="60000"/>
                </a:lnSpc>
                <a:spcBef>
                  <a:spcPct val="50000"/>
                </a:spcBef>
              </a:pPr>
              <a:r>
                <a:rPr lang="en-US" altLang="zh-CN" sz="2000">
                  <a:latin typeface="Courier New" panose="02070309020205020404" pitchFamily="49" charset="0"/>
                  <a:ea typeface="宋体" panose="02010600030101010101" pitchFamily="2" charset="-122"/>
                </a:rPr>
                <a:t>then</a:t>
              </a:r>
            </a:p>
            <a:p>
              <a:pPr algn="ctr" eaLnBrk="1" hangingPunct="1">
                <a:lnSpc>
                  <a:spcPct val="60000"/>
                </a:lnSpc>
                <a:spcBef>
                  <a:spcPct val="50000"/>
                </a:spcBef>
              </a:pPr>
              <a:r>
                <a:rPr lang="en-US" altLang="zh-CN" sz="2000">
                  <a:latin typeface="Courier New" panose="02070309020205020404" pitchFamily="49" charset="0"/>
                  <a:ea typeface="宋体" panose="02010600030101010101" pitchFamily="2" charset="-122"/>
                </a:rPr>
                <a:t>else</a:t>
              </a:r>
              <a:endParaRPr lang="en-US" altLang="zh-CN" sz="2000" b="0">
                <a:ea typeface="宋体" panose="02010600030101010101" pitchFamily="2" charset="-122"/>
              </a:endParaRPr>
            </a:p>
            <a:p>
              <a:pPr algn="ctr" eaLnBrk="1" hangingPunct="1">
                <a:lnSpc>
                  <a:spcPct val="60000"/>
                </a:lnSpc>
                <a:spcBef>
                  <a:spcPct val="50000"/>
                </a:spcBef>
              </a:pPr>
              <a:r>
                <a:rPr lang="en-US" altLang="zh-CN" sz="2000">
                  <a:ea typeface="宋体" panose="02010600030101010101" pitchFamily="2" charset="-122"/>
                </a:rPr>
                <a:t>id</a:t>
              </a:r>
            </a:p>
            <a:p>
              <a:pPr algn="ctr" eaLnBrk="1" hangingPunct="1">
                <a:lnSpc>
                  <a:spcPct val="60000"/>
                </a:lnSpc>
                <a:spcBef>
                  <a:spcPct val="50000"/>
                </a:spcBef>
              </a:pPr>
              <a:r>
                <a:rPr lang="en-US" altLang="zh-CN" sz="2000">
                  <a:ea typeface="宋体" panose="02010600030101010101" pitchFamily="2" charset="-122"/>
                </a:rPr>
                <a:t>num</a:t>
              </a:r>
            </a:p>
            <a:p>
              <a:pPr algn="ctr" eaLnBrk="1" hangingPunct="1">
                <a:lnSpc>
                  <a:spcPct val="60000"/>
                </a:lnSpc>
                <a:spcBef>
                  <a:spcPct val="50000"/>
                </a:spcBef>
              </a:pPr>
              <a:r>
                <a:rPr lang="en-US" altLang="zh-CN" sz="2000" b="0">
                  <a:ea typeface="宋体" panose="02010600030101010101" pitchFamily="2" charset="-122"/>
                </a:rPr>
                <a:t>&lt;</a:t>
              </a:r>
            </a:p>
            <a:p>
              <a:pPr algn="ctr" eaLnBrk="1" hangingPunct="1">
                <a:lnSpc>
                  <a:spcPct val="60000"/>
                </a:lnSpc>
                <a:spcBef>
                  <a:spcPct val="50000"/>
                </a:spcBef>
              </a:pPr>
              <a:r>
                <a:rPr lang="en-US" altLang="zh-CN" sz="2000" b="0">
                  <a:ea typeface="宋体" panose="02010600030101010101" pitchFamily="2" charset="-122"/>
                </a:rPr>
                <a:t>&lt;=</a:t>
              </a:r>
            </a:p>
            <a:p>
              <a:pPr algn="ctr" eaLnBrk="1" hangingPunct="1">
                <a:lnSpc>
                  <a:spcPct val="60000"/>
                </a:lnSpc>
                <a:spcBef>
                  <a:spcPct val="50000"/>
                </a:spcBef>
              </a:pPr>
              <a:r>
                <a:rPr lang="en-US" altLang="zh-CN" sz="2000" b="0">
                  <a:ea typeface="宋体" panose="02010600030101010101" pitchFamily="2" charset="-122"/>
                </a:rPr>
                <a:t>=</a:t>
              </a:r>
            </a:p>
            <a:p>
              <a:pPr algn="ctr" eaLnBrk="1" hangingPunct="1">
                <a:lnSpc>
                  <a:spcPct val="60000"/>
                </a:lnSpc>
                <a:spcBef>
                  <a:spcPct val="50000"/>
                </a:spcBef>
              </a:pPr>
              <a:r>
                <a:rPr lang="en-US" altLang="zh-CN" sz="2000" b="0">
                  <a:ea typeface="宋体" panose="02010600030101010101" pitchFamily="2" charset="-122"/>
                </a:rPr>
                <a:t>&lt; &gt;</a:t>
              </a:r>
            </a:p>
            <a:p>
              <a:pPr algn="ctr" eaLnBrk="1" hangingPunct="1">
                <a:lnSpc>
                  <a:spcPct val="60000"/>
                </a:lnSpc>
                <a:spcBef>
                  <a:spcPct val="50000"/>
                </a:spcBef>
              </a:pPr>
              <a:r>
                <a:rPr lang="en-US" altLang="zh-CN" sz="2000" b="0">
                  <a:ea typeface="宋体" panose="02010600030101010101" pitchFamily="2" charset="-122"/>
                </a:rPr>
                <a:t>&gt;</a:t>
              </a:r>
            </a:p>
            <a:p>
              <a:pPr algn="ctr" eaLnBrk="1" hangingPunct="1">
                <a:lnSpc>
                  <a:spcPct val="60000"/>
                </a:lnSpc>
                <a:spcBef>
                  <a:spcPct val="50000"/>
                </a:spcBef>
              </a:pPr>
              <a:r>
                <a:rPr lang="en-US" altLang="zh-CN" sz="2000" b="0">
                  <a:ea typeface="宋体" panose="02010600030101010101" pitchFamily="2" charset="-122"/>
                </a:rPr>
                <a:t>&gt;=</a:t>
              </a:r>
            </a:p>
          </p:txBody>
        </p:sp>
        <p:sp>
          <p:nvSpPr>
            <p:cNvPr id="4115" name="Text Box 14"/>
            <p:cNvSpPr txBox="1">
              <a:spLocks noChangeArrowheads="1"/>
            </p:cNvSpPr>
            <p:nvPr/>
          </p:nvSpPr>
          <p:spPr bwMode="auto">
            <a:xfrm>
              <a:off x="2400" y="1488"/>
              <a:ext cx="528" cy="2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b="0">
                  <a:ea typeface="宋体" panose="02010600030101010101" pitchFamily="2" charset="-122"/>
                </a:rPr>
                <a:t>-</a:t>
              </a:r>
            </a:p>
            <a:p>
              <a:pPr algn="ctr" eaLnBrk="1" hangingPunct="1">
                <a:lnSpc>
                  <a:spcPct val="60000"/>
                </a:lnSpc>
                <a:spcBef>
                  <a:spcPct val="50000"/>
                </a:spcBef>
              </a:pPr>
              <a:r>
                <a:rPr lang="en-US" altLang="zh-CN" sz="2000">
                  <a:ea typeface="宋体" panose="02010600030101010101" pitchFamily="2" charset="-122"/>
                </a:rPr>
                <a:t>if</a:t>
              </a:r>
            </a:p>
            <a:p>
              <a:pPr algn="ctr" eaLnBrk="1" hangingPunct="1">
                <a:lnSpc>
                  <a:spcPct val="60000"/>
                </a:lnSpc>
                <a:spcBef>
                  <a:spcPct val="50000"/>
                </a:spcBef>
              </a:pPr>
              <a:r>
                <a:rPr lang="en-US" altLang="zh-CN" sz="2000">
                  <a:ea typeface="宋体" panose="02010600030101010101" pitchFamily="2" charset="-122"/>
                </a:rPr>
                <a:t>then</a:t>
              </a:r>
            </a:p>
            <a:p>
              <a:pPr algn="ctr" eaLnBrk="1" hangingPunct="1">
                <a:lnSpc>
                  <a:spcPct val="60000"/>
                </a:lnSpc>
                <a:spcBef>
                  <a:spcPct val="50000"/>
                </a:spcBef>
              </a:pPr>
              <a:r>
                <a:rPr lang="en-US" altLang="zh-CN" sz="2000">
                  <a:ea typeface="宋体" panose="02010600030101010101" pitchFamily="2" charset="-122"/>
                </a:rPr>
                <a:t>else</a:t>
              </a:r>
              <a:endParaRPr lang="en-US" altLang="zh-CN" sz="2000" b="0">
                <a:ea typeface="宋体" panose="02010600030101010101" pitchFamily="2" charset="-122"/>
              </a:endParaRPr>
            </a:p>
            <a:p>
              <a:pPr algn="ctr" eaLnBrk="1" hangingPunct="1">
                <a:lnSpc>
                  <a:spcPct val="60000"/>
                </a:lnSpc>
                <a:spcBef>
                  <a:spcPct val="50000"/>
                </a:spcBef>
              </a:pPr>
              <a:r>
                <a:rPr lang="en-US" altLang="zh-CN" sz="2000">
                  <a:ea typeface="宋体" panose="02010600030101010101" pitchFamily="2" charset="-122"/>
                </a:rPr>
                <a:t>id</a:t>
              </a:r>
            </a:p>
            <a:p>
              <a:pPr algn="ctr" eaLnBrk="1" hangingPunct="1">
                <a:lnSpc>
                  <a:spcPct val="60000"/>
                </a:lnSpc>
                <a:spcBef>
                  <a:spcPct val="50000"/>
                </a:spcBef>
              </a:pPr>
              <a:r>
                <a:rPr lang="en-US" altLang="zh-CN" sz="2000">
                  <a:ea typeface="宋体" panose="02010600030101010101" pitchFamily="2" charset="-122"/>
                </a:rPr>
                <a:t>num</a:t>
              </a:r>
            </a:p>
            <a:p>
              <a:pPr algn="ctr" eaLnBrk="1" hangingPunct="1">
                <a:lnSpc>
                  <a:spcPct val="60000"/>
                </a:lnSpc>
                <a:spcBef>
                  <a:spcPct val="50000"/>
                </a:spcBef>
              </a:pPr>
              <a:r>
                <a:rPr lang="en-US" altLang="zh-CN" sz="2000">
                  <a:ea typeface="宋体" panose="02010600030101010101" pitchFamily="2" charset="-122"/>
                </a:rPr>
                <a:t>relop</a:t>
              </a:r>
            </a:p>
            <a:p>
              <a:pPr algn="ctr" eaLnBrk="1" hangingPunct="1">
                <a:lnSpc>
                  <a:spcPct val="60000"/>
                </a:lnSpc>
                <a:spcBef>
                  <a:spcPct val="50000"/>
                </a:spcBef>
              </a:pPr>
              <a:r>
                <a:rPr lang="en-US" altLang="zh-CN" sz="2000">
                  <a:ea typeface="宋体" panose="02010600030101010101" pitchFamily="2" charset="-122"/>
                </a:rPr>
                <a:t>relop</a:t>
              </a:r>
              <a:r>
                <a:rPr lang="en-US" altLang="zh-CN" sz="2000" b="0">
                  <a:ea typeface="宋体" panose="02010600030101010101" pitchFamily="2" charset="-122"/>
                </a:rPr>
                <a:t> </a:t>
              </a:r>
            </a:p>
            <a:p>
              <a:pPr algn="ctr" eaLnBrk="1" hangingPunct="1">
                <a:lnSpc>
                  <a:spcPct val="60000"/>
                </a:lnSpc>
                <a:spcBef>
                  <a:spcPct val="50000"/>
                </a:spcBef>
              </a:pPr>
              <a:r>
                <a:rPr lang="en-US" altLang="zh-CN" sz="2000">
                  <a:ea typeface="宋体" panose="02010600030101010101" pitchFamily="2" charset="-122"/>
                </a:rPr>
                <a:t>relop</a:t>
              </a:r>
              <a:endParaRPr lang="en-US" altLang="zh-CN" sz="2000" b="0">
                <a:ea typeface="宋体" panose="02010600030101010101" pitchFamily="2" charset="-122"/>
              </a:endParaRPr>
            </a:p>
            <a:p>
              <a:pPr algn="ctr" eaLnBrk="1" hangingPunct="1">
                <a:lnSpc>
                  <a:spcPct val="60000"/>
                </a:lnSpc>
                <a:spcBef>
                  <a:spcPct val="50000"/>
                </a:spcBef>
              </a:pPr>
              <a:r>
                <a:rPr lang="en-US" altLang="zh-CN" sz="2000">
                  <a:ea typeface="宋体" panose="02010600030101010101" pitchFamily="2" charset="-122"/>
                </a:rPr>
                <a:t>relop</a:t>
              </a:r>
              <a:endParaRPr lang="en-US" altLang="zh-CN" sz="2000" b="0">
                <a:ea typeface="宋体" panose="02010600030101010101" pitchFamily="2" charset="-122"/>
              </a:endParaRPr>
            </a:p>
            <a:p>
              <a:pPr algn="ctr" eaLnBrk="1" hangingPunct="1">
                <a:lnSpc>
                  <a:spcPct val="60000"/>
                </a:lnSpc>
                <a:spcBef>
                  <a:spcPct val="50000"/>
                </a:spcBef>
              </a:pPr>
              <a:r>
                <a:rPr lang="en-US" altLang="zh-CN" sz="2000">
                  <a:ea typeface="宋体" panose="02010600030101010101" pitchFamily="2" charset="-122"/>
                </a:rPr>
                <a:t>relop</a:t>
              </a:r>
              <a:endParaRPr lang="en-US" altLang="zh-CN" sz="2000" b="0">
                <a:ea typeface="宋体" panose="02010600030101010101" pitchFamily="2" charset="-122"/>
              </a:endParaRPr>
            </a:p>
            <a:p>
              <a:pPr algn="ctr" eaLnBrk="1" hangingPunct="1">
                <a:lnSpc>
                  <a:spcPct val="60000"/>
                </a:lnSpc>
                <a:spcBef>
                  <a:spcPct val="50000"/>
                </a:spcBef>
              </a:pPr>
              <a:r>
                <a:rPr lang="en-US" altLang="zh-CN" sz="2000">
                  <a:ea typeface="宋体" panose="02010600030101010101" pitchFamily="2" charset="-122"/>
                </a:rPr>
                <a:t>relop</a:t>
              </a:r>
            </a:p>
          </p:txBody>
        </p:sp>
        <p:sp>
          <p:nvSpPr>
            <p:cNvPr id="4116" name="Text Box 15"/>
            <p:cNvSpPr txBox="1">
              <a:spLocks noChangeArrowheads="1"/>
            </p:cNvSpPr>
            <p:nvPr/>
          </p:nvSpPr>
          <p:spPr bwMode="auto">
            <a:xfrm>
              <a:off x="3264" y="1488"/>
              <a:ext cx="2112" cy="2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b="0">
                  <a:ea typeface="宋体" panose="02010600030101010101" pitchFamily="2" charset="-122"/>
                </a:rPr>
                <a:t>-</a:t>
              </a:r>
            </a:p>
            <a:p>
              <a:pPr algn="ctr" eaLnBrk="1" hangingPunct="1">
                <a:lnSpc>
                  <a:spcPct val="60000"/>
                </a:lnSpc>
                <a:spcBef>
                  <a:spcPct val="50000"/>
                </a:spcBef>
              </a:pPr>
              <a:r>
                <a:rPr lang="en-US" altLang="zh-CN" sz="2000" b="0">
                  <a:ea typeface="宋体" panose="02010600030101010101" pitchFamily="2" charset="-122"/>
                </a:rPr>
                <a:t>-</a:t>
              </a:r>
            </a:p>
            <a:p>
              <a:pPr algn="ctr" eaLnBrk="1" hangingPunct="1">
                <a:lnSpc>
                  <a:spcPct val="60000"/>
                </a:lnSpc>
                <a:spcBef>
                  <a:spcPct val="50000"/>
                </a:spcBef>
              </a:pPr>
              <a:r>
                <a:rPr lang="en-US" altLang="zh-CN" sz="2000" b="0">
                  <a:ea typeface="宋体" panose="02010600030101010101" pitchFamily="2" charset="-122"/>
                </a:rPr>
                <a:t>-</a:t>
              </a:r>
            </a:p>
            <a:p>
              <a:pPr algn="ctr" eaLnBrk="1" hangingPunct="1">
                <a:lnSpc>
                  <a:spcPct val="60000"/>
                </a:lnSpc>
                <a:spcBef>
                  <a:spcPct val="50000"/>
                </a:spcBef>
              </a:pPr>
              <a:r>
                <a:rPr lang="en-US" altLang="zh-CN" sz="2000" b="0">
                  <a:ea typeface="宋体" panose="02010600030101010101" pitchFamily="2" charset="-122"/>
                </a:rPr>
                <a:t>-</a:t>
              </a:r>
            </a:p>
            <a:p>
              <a:pPr algn="ctr" eaLnBrk="1" hangingPunct="1">
                <a:lnSpc>
                  <a:spcPct val="60000"/>
                </a:lnSpc>
                <a:spcBef>
                  <a:spcPct val="50000"/>
                </a:spcBef>
              </a:pPr>
              <a:r>
                <a:rPr lang="en-US" altLang="zh-CN" sz="2000">
                  <a:ea typeface="宋体" panose="02010600030101010101" pitchFamily="2" charset="-122"/>
                </a:rPr>
                <a:t>pointer to table entry</a:t>
              </a:r>
            </a:p>
            <a:p>
              <a:pPr algn="ctr" eaLnBrk="1" hangingPunct="1">
                <a:lnSpc>
                  <a:spcPct val="60000"/>
                </a:lnSpc>
                <a:spcBef>
                  <a:spcPct val="50000"/>
                </a:spcBef>
              </a:pPr>
              <a:r>
                <a:rPr lang="en-US" altLang="zh-CN" sz="2000">
                  <a:solidFill>
                    <a:srgbClr val="CCECFF"/>
                  </a:solidFill>
                  <a:ea typeface="宋体" panose="02010600030101010101" pitchFamily="2" charset="-122"/>
                </a:rPr>
                <a:t>pointer to table entry</a:t>
              </a:r>
            </a:p>
            <a:p>
              <a:pPr algn="ctr" eaLnBrk="1" hangingPunct="1">
                <a:lnSpc>
                  <a:spcPct val="60000"/>
                </a:lnSpc>
                <a:spcBef>
                  <a:spcPct val="50000"/>
                </a:spcBef>
              </a:pPr>
              <a:r>
                <a:rPr lang="en-US" altLang="zh-CN" sz="2000" b="0">
                  <a:ea typeface="宋体" panose="02010600030101010101" pitchFamily="2" charset="-122"/>
                </a:rPr>
                <a:t>LT</a:t>
              </a:r>
            </a:p>
            <a:p>
              <a:pPr algn="ctr" eaLnBrk="1" hangingPunct="1">
                <a:lnSpc>
                  <a:spcPct val="60000"/>
                </a:lnSpc>
                <a:spcBef>
                  <a:spcPct val="50000"/>
                </a:spcBef>
              </a:pPr>
              <a:r>
                <a:rPr lang="en-US" altLang="zh-CN" sz="2000" b="0">
                  <a:ea typeface="宋体" panose="02010600030101010101" pitchFamily="2" charset="-122"/>
                </a:rPr>
                <a:t>LE</a:t>
              </a:r>
            </a:p>
            <a:p>
              <a:pPr algn="ctr" eaLnBrk="1" hangingPunct="1">
                <a:lnSpc>
                  <a:spcPct val="60000"/>
                </a:lnSpc>
                <a:spcBef>
                  <a:spcPct val="50000"/>
                </a:spcBef>
              </a:pPr>
              <a:r>
                <a:rPr lang="en-US" altLang="zh-CN" sz="2000" b="0">
                  <a:ea typeface="宋体" panose="02010600030101010101" pitchFamily="2" charset="-122"/>
                </a:rPr>
                <a:t>EQ</a:t>
              </a:r>
            </a:p>
            <a:p>
              <a:pPr algn="ctr" eaLnBrk="1" hangingPunct="1">
                <a:lnSpc>
                  <a:spcPct val="60000"/>
                </a:lnSpc>
                <a:spcBef>
                  <a:spcPct val="50000"/>
                </a:spcBef>
              </a:pPr>
              <a:r>
                <a:rPr lang="en-US" altLang="zh-CN" sz="2000" b="0">
                  <a:ea typeface="宋体" panose="02010600030101010101" pitchFamily="2" charset="-122"/>
                </a:rPr>
                <a:t>NE</a:t>
              </a:r>
            </a:p>
            <a:p>
              <a:pPr algn="ctr" eaLnBrk="1" hangingPunct="1">
                <a:lnSpc>
                  <a:spcPct val="60000"/>
                </a:lnSpc>
                <a:spcBef>
                  <a:spcPct val="50000"/>
                </a:spcBef>
              </a:pPr>
              <a:r>
                <a:rPr lang="en-US" altLang="zh-CN" sz="2000" b="0">
                  <a:ea typeface="宋体" panose="02010600030101010101" pitchFamily="2" charset="-122"/>
                </a:rPr>
                <a:t>GT</a:t>
              </a:r>
            </a:p>
            <a:p>
              <a:pPr algn="ctr" eaLnBrk="1" hangingPunct="1">
                <a:lnSpc>
                  <a:spcPct val="60000"/>
                </a:lnSpc>
                <a:spcBef>
                  <a:spcPct val="50000"/>
                </a:spcBef>
              </a:pPr>
              <a:r>
                <a:rPr lang="en-US" altLang="zh-CN" sz="2000" b="0">
                  <a:ea typeface="宋体" panose="02010600030101010101" pitchFamily="2" charset="-122"/>
                </a:rPr>
                <a:t>GE</a:t>
              </a:r>
            </a:p>
          </p:txBody>
        </p:sp>
      </p:grpSp>
      <p:sp>
        <p:nvSpPr>
          <p:cNvPr id="4102" name="Text Box 16"/>
          <p:cNvSpPr txBox="1">
            <a:spLocks noChangeArrowheads="1"/>
          </p:cNvSpPr>
          <p:nvPr/>
        </p:nvSpPr>
        <p:spPr bwMode="auto">
          <a:xfrm>
            <a:off x="200025" y="1773238"/>
            <a:ext cx="1873250"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Note:  </a:t>
            </a:r>
          </a:p>
          <a:p>
            <a:pPr eaLnBrk="1" hangingPunct="1">
              <a:spcBef>
                <a:spcPct val="50000"/>
              </a:spcBef>
            </a:pPr>
            <a:r>
              <a:rPr lang="en-US" altLang="zh-CN">
                <a:solidFill>
                  <a:schemeClr val="accent2"/>
                </a:solidFill>
                <a:ea typeface="宋体" panose="02010600030101010101" pitchFamily="2" charset="-122"/>
              </a:rPr>
              <a:t>Each token has a unique token identifier to define category of lexemes</a:t>
            </a:r>
          </a:p>
        </p:txBody>
      </p:sp>
      <p:sp>
        <p:nvSpPr>
          <p:cNvPr id="4103" name="Text Box 17"/>
          <p:cNvSpPr txBox="1">
            <a:spLocks noChangeArrowheads="1"/>
          </p:cNvSpPr>
          <p:nvPr/>
        </p:nvSpPr>
        <p:spPr bwMode="auto">
          <a:xfrm>
            <a:off x="2432050" y="5949950"/>
            <a:ext cx="6264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ea typeface="宋体" panose="02010600030101010101" pitchFamily="2" charset="-122"/>
              </a:rPr>
              <a:t>Fig.3.10 Regular-expression patterns for tokens.  (P.99)</a:t>
            </a:r>
          </a:p>
        </p:txBody>
      </p:sp>
      <p:sp>
        <p:nvSpPr>
          <p:cNvPr id="4104" name="Rectangle 18"/>
          <p:cNvSpPr>
            <a:spLocks noChangeArrowheads="1"/>
          </p:cNvSpPr>
          <p:nvPr/>
        </p:nvSpPr>
        <p:spPr bwMode="auto">
          <a:xfrm>
            <a:off x="7400925" y="3357563"/>
            <a:ext cx="73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2000" b="0">
                <a:ea typeface="宋体" panose="02010600030101010101" pitchFamily="2" charset="-122"/>
              </a:rPr>
              <a:t>value</a:t>
            </a:r>
            <a:endParaRPr lang="zh-CN" altLang="en-US" sz="2000" b="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123"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124"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7C78774E-F00F-41D0-B855-502E44E085A9}" type="slidenum">
              <a:rPr lang="zh-CN" altLang="en-US" sz="800" b="0"/>
              <a:pPr/>
              <a:t>4</a:t>
            </a:fld>
            <a:endParaRPr lang="en-US" altLang="zh-CN" sz="800" b="0"/>
          </a:p>
        </p:txBody>
      </p:sp>
      <p:sp>
        <p:nvSpPr>
          <p:cNvPr id="5125" name="Rectangle 2"/>
          <p:cNvSpPr>
            <a:spLocks noGrp="1" noChangeArrowheads="1"/>
          </p:cNvSpPr>
          <p:nvPr>
            <p:ph type="title"/>
          </p:nvPr>
        </p:nvSpPr>
        <p:spPr>
          <a:xfrm>
            <a:off x="382588" y="152400"/>
            <a:ext cx="9371012" cy="914400"/>
          </a:xfrm>
        </p:spPr>
        <p:txBody>
          <a:bodyPr/>
          <a:lstStyle/>
          <a:p>
            <a:r>
              <a:rPr lang="en-US" altLang="zh-CN" sz="2800" smtClean="0">
                <a:ea typeface="宋体" panose="02010600030101010101" pitchFamily="2" charset="-122"/>
              </a:rPr>
              <a:t>Constructing Transition Diagrams for Tokens (P.99)</a:t>
            </a:r>
          </a:p>
        </p:txBody>
      </p:sp>
      <p:sp>
        <p:nvSpPr>
          <p:cNvPr id="396291" name="Text Box 3"/>
          <p:cNvSpPr txBox="1">
            <a:spLocks noChangeArrowheads="1"/>
          </p:cNvSpPr>
          <p:nvPr/>
        </p:nvSpPr>
        <p:spPr bwMode="auto">
          <a:xfrm>
            <a:off x="992188" y="1052513"/>
            <a:ext cx="8255000" cy="502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buFontTx/>
              <a:buChar char="•"/>
            </a:pPr>
            <a:r>
              <a:rPr lang="zh-CN" altLang="en-US">
                <a:ea typeface="宋体" panose="02010600030101010101" pitchFamily="2" charset="-122"/>
              </a:rPr>
              <a:t> </a:t>
            </a:r>
            <a:r>
              <a:rPr lang="en-US" altLang="zh-CN">
                <a:solidFill>
                  <a:schemeClr val="accent2"/>
                </a:solidFill>
                <a:ea typeface="宋体" panose="02010600030101010101" pitchFamily="2" charset="-122"/>
              </a:rPr>
              <a:t>Transition Diagrams</a:t>
            </a:r>
            <a:r>
              <a:rPr lang="en-US" altLang="zh-CN" b="0">
                <a:solidFill>
                  <a:schemeClr val="accent2"/>
                </a:solidFill>
                <a:ea typeface="宋体" panose="02010600030101010101" pitchFamily="2" charset="-122"/>
              </a:rPr>
              <a:t> (TD)</a:t>
            </a:r>
            <a:r>
              <a:rPr lang="en-US" altLang="zh-CN" b="0">
                <a:ea typeface="宋体" panose="02010600030101010101" pitchFamily="2" charset="-122"/>
              </a:rPr>
              <a:t> are used to represent the tokens</a:t>
            </a:r>
          </a:p>
          <a:p>
            <a:pPr eaLnBrk="1" hangingPunct="1">
              <a:spcBef>
                <a:spcPct val="50000"/>
              </a:spcBef>
              <a:buFontTx/>
              <a:buChar char="•"/>
            </a:pPr>
            <a:r>
              <a:rPr lang="en-US" altLang="zh-CN" b="0">
                <a:ea typeface="宋体" panose="02010600030101010101" pitchFamily="2" charset="-122"/>
              </a:rPr>
              <a:t> As characters are read, the relevant TDs are used to attempt to match lexeme to a pattern</a:t>
            </a:r>
          </a:p>
          <a:p>
            <a:pPr eaLnBrk="1" hangingPunct="1">
              <a:spcBef>
                <a:spcPct val="50000"/>
              </a:spcBef>
              <a:buFontTx/>
              <a:buChar char="•"/>
            </a:pPr>
            <a:r>
              <a:rPr lang="en-US" altLang="zh-CN" b="0">
                <a:ea typeface="宋体" panose="02010600030101010101" pitchFamily="2" charset="-122"/>
              </a:rPr>
              <a:t> Each TD has:</a:t>
            </a:r>
          </a:p>
          <a:p>
            <a:pPr lvl="1" eaLnBrk="1" hangingPunct="1">
              <a:spcBef>
                <a:spcPct val="50000"/>
              </a:spcBef>
              <a:buFont typeface="Wingdings" panose="05000000000000000000" pitchFamily="2" charset="2"/>
              <a:buChar char="Ø"/>
            </a:pPr>
            <a:r>
              <a:rPr lang="en-US" altLang="zh-CN" b="0">
                <a:ea typeface="宋体" panose="02010600030101010101" pitchFamily="2" charset="-122"/>
              </a:rPr>
              <a:t> </a:t>
            </a:r>
            <a:r>
              <a:rPr lang="en-US" altLang="zh-CN" b="0">
                <a:solidFill>
                  <a:schemeClr val="accent2"/>
                </a:solidFill>
                <a:ea typeface="宋体" panose="02010600030101010101" pitchFamily="2" charset="-122"/>
              </a:rPr>
              <a:t>States</a:t>
            </a:r>
            <a:r>
              <a:rPr lang="en-US" altLang="zh-CN" b="0">
                <a:ea typeface="宋体" panose="02010600030101010101" pitchFamily="2" charset="-122"/>
              </a:rPr>
              <a:t> : Represented by </a:t>
            </a:r>
            <a:r>
              <a:rPr lang="en-US" altLang="zh-CN" b="0">
                <a:solidFill>
                  <a:srgbClr val="FF3300"/>
                </a:solidFill>
                <a:ea typeface="宋体" panose="02010600030101010101" pitchFamily="2" charset="-122"/>
              </a:rPr>
              <a:t>Circles</a:t>
            </a:r>
            <a:endParaRPr lang="en-US" altLang="zh-CN" b="0">
              <a:ea typeface="宋体" panose="02010600030101010101" pitchFamily="2" charset="-122"/>
            </a:endParaRPr>
          </a:p>
          <a:p>
            <a:pPr lvl="1" eaLnBrk="1" hangingPunct="1">
              <a:spcBef>
                <a:spcPct val="50000"/>
              </a:spcBef>
              <a:buFont typeface="Wingdings" panose="05000000000000000000" pitchFamily="2" charset="2"/>
              <a:buChar char="Ø"/>
            </a:pPr>
            <a:r>
              <a:rPr lang="en-US" altLang="zh-CN" b="0">
                <a:ea typeface="宋体" panose="02010600030101010101" pitchFamily="2" charset="-122"/>
              </a:rPr>
              <a:t> </a:t>
            </a:r>
            <a:r>
              <a:rPr lang="en-US" altLang="zh-CN" b="0">
                <a:solidFill>
                  <a:schemeClr val="accent2"/>
                </a:solidFill>
                <a:ea typeface="宋体" panose="02010600030101010101" pitchFamily="2" charset="-122"/>
              </a:rPr>
              <a:t>Actions</a:t>
            </a:r>
            <a:r>
              <a:rPr lang="en-US" altLang="zh-CN" b="0">
                <a:ea typeface="宋体" panose="02010600030101010101" pitchFamily="2" charset="-122"/>
              </a:rPr>
              <a:t> :  Represented by </a:t>
            </a:r>
            <a:r>
              <a:rPr lang="en-US" altLang="zh-CN" b="0">
                <a:solidFill>
                  <a:srgbClr val="FF3300"/>
                </a:solidFill>
                <a:ea typeface="宋体" panose="02010600030101010101" pitchFamily="2" charset="-122"/>
              </a:rPr>
              <a:t>Arrows</a:t>
            </a:r>
            <a:r>
              <a:rPr lang="en-US" altLang="zh-CN" b="0">
                <a:ea typeface="宋体" panose="02010600030101010101" pitchFamily="2" charset="-122"/>
              </a:rPr>
              <a:t> between states</a:t>
            </a:r>
          </a:p>
          <a:p>
            <a:pPr lvl="1" eaLnBrk="1" hangingPunct="1">
              <a:spcBef>
                <a:spcPct val="50000"/>
              </a:spcBef>
              <a:buFont typeface="Wingdings" panose="05000000000000000000" pitchFamily="2" charset="2"/>
              <a:buChar char="Ø"/>
            </a:pPr>
            <a:r>
              <a:rPr lang="en-US" altLang="zh-CN" b="0">
                <a:ea typeface="宋体" panose="02010600030101010101" pitchFamily="2" charset="-122"/>
              </a:rPr>
              <a:t> </a:t>
            </a:r>
            <a:r>
              <a:rPr lang="en-US" altLang="zh-CN" b="0">
                <a:solidFill>
                  <a:schemeClr val="accent2"/>
                </a:solidFill>
                <a:ea typeface="宋体" panose="02010600030101010101" pitchFamily="2" charset="-122"/>
              </a:rPr>
              <a:t>Start State</a:t>
            </a:r>
            <a:r>
              <a:rPr lang="en-US" altLang="zh-CN" b="0">
                <a:ea typeface="宋体" panose="02010600030101010101" pitchFamily="2" charset="-122"/>
              </a:rPr>
              <a:t> :  Beginning of a pattern (</a:t>
            </a:r>
            <a:r>
              <a:rPr lang="en-US" altLang="zh-CN" b="0">
                <a:solidFill>
                  <a:srgbClr val="FF3300"/>
                </a:solidFill>
                <a:ea typeface="宋体" panose="02010600030101010101" pitchFamily="2" charset="-122"/>
              </a:rPr>
              <a:t>Arrowhead</a:t>
            </a:r>
            <a:r>
              <a:rPr lang="en-US" altLang="zh-CN" b="0">
                <a:ea typeface="宋体" panose="02010600030101010101" pitchFamily="2" charset="-122"/>
              </a:rPr>
              <a:t>)</a:t>
            </a:r>
          </a:p>
          <a:p>
            <a:pPr lvl="1" eaLnBrk="1" hangingPunct="1">
              <a:spcBef>
                <a:spcPct val="50000"/>
              </a:spcBef>
              <a:buFont typeface="Wingdings" panose="05000000000000000000" pitchFamily="2" charset="2"/>
              <a:buChar char="Ø"/>
            </a:pPr>
            <a:r>
              <a:rPr lang="en-US" altLang="zh-CN" b="0">
                <a:ea typeface="宋体" panose="02010600030101010101" pitchFamily="2" charset="-122"/>
              </a:rPr>
              <a:t> </a:t>
            </a:r>
            <a:r>
              <a:rPr lang="en-US" altLang="zh-CN" b="0">
                <a:solidFill>
                  <a:schemeClr val="accent2"/>
                </a:solidFill>
                <a:ea typeface="宋体" panose="02010600030101010101" pitchFamily="2" charset="-122"/>
              </a:rPr>
              <a:t>Final State</a:t>
            </a:r>
            <a:r>
              <a:rPr lang="en-US" altLang="zh-CN" b="0">
                <a:ea typeface="宋体" panose="02010600030101010101" pitchFamily="2" charset="-122"/>
              </a:rPr>
              <a:t>(s) :  End of pattern (</a:t>
            </a:r>
            <a:r>
              <a:rPr lang="en-US" altLang="zh-CN" b="0">
                <a:solidFill>
                  <a:srgbClr val="FF3300"/>
                </a:solidFill>
                <a:ea typeface="宋体" panose="02010600030101010101" pitchFamily="2" charset="-122"/>
              </a:rPr>
              <a:t>Concentric Circles</a:t>
            </a:r>
            <a:r>
              <a:rPr lang="en-US" altLang="zh-CN" b="0">
                <a:ea typeface="宋体" panose="02010600030101010101" pitchFamily="2" charset="-122"/>
              </a:rPr>
              <a:t>)</a:t>
            </a:r>
          </a:p>
          <a:p>
            <a:pPr eaLnBrk="1" hangingPunct="1">
              <a:spcBef>
                <a:spcPct val="50000"/>
              </a:spcBef>
              <a:buFontTx/>
              <a:buChar char="•"/>
            </a:pPr>
            <a:r>
              <a:rPr lang="en-US" altLang="zh-CN" b="0">
                <a:ea typeface="宋体" panose="02010600030101010101" pitchFamily="2" charset="-122"/>
              </a:rPr>
              <a:t> </a:t>
            </a:r>
            <a:r>
              <a:rPr lang="en-US" altLang="zh-CN" b="0">
                <a:solidFill>
                  <a:srgbClr val="660033"/>
                </a:solidFill>
                <a:ea typeface="宋体" panose="02010600030101010101" pitchFamily="2" charset="-122"/>
              </a:rPr>
              <a:t>Each TD is</a:t>
            </a:r>
            <a:r>
              <a:rPr lang="en-US" altLang="zh-CN" b="0">
                <a:solidFill>
                  <a:schemeClr val="accent1"/>
                </a:solidFill>
                <a:ea typeface="宋体" panose="02010600030101010101" pitchFamily="2" charset="-122"/>
              </a:rPr>
              <a:t> </a:t>
            </a:r>
            <a:r>
              <a:rPr lang="en-US" altLang="zh-CN" b="0">
                <a:solidFill>
                  <a:schemeClr val="accent2"/>
                </a:solidFill>
                <a:ea typeface="宋体" panose="02010600030101010101" pitchFamily="2" charset="-122"/>
              </a:rPr>
              <a:t>Deterministic</a:t>
            </a:r>
            <a:r>
              <a:rPr lang="en-US" altLang="zh-CN" b="0">
                <a:solidFill>
                  <a:schemeClr val="accent1"/>
                </a:solidFill>
                <a:ea typeface="宋体" panose="02010600030101010101" pitchFamily="2" charset="-122"/>
              </a:rPr>
              <a:t> </a:t>
            </a:r>
            <a:r>
              <a:rPr lang="en-US" altLang="zh-CN" b="0">
                <a:solidFill>
                  <a:srgbClr val="660033"/>
                </a:solidFill>
                <a:ea typeface="宋体" panose="02010600030101010101" pitchFamily="2" charset="-122"/>
              </a:rPr>
              <a:t>- No need to choose between 2 different actions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396291">
                                            <p:txEl>
                                              <p:pRg st="3" end="3"/>
                                            </p:txEl>
                                          </p:spTgt>
                                        </p:tgtEl>
                                        <p:attrNameLst>
                                          <p:attrName>style.visibility</p:attrName>
                                        </p:attrNameLst>
                                      </p:cBhvr>
                                      <p:to>
                                        <p:strVal val="visible"/>
                                      </p:to>
                                    </p:set>
                                    <p:animEffect transition="in" filter="wipe(left)">
                                      <p:cBhvr>
                                        <p:cTn id="7" dur="2000"/>
                                        <p:tgtEl>
                                          <p:spTgt spid="396291">
                                            <p:txEl>
                                              <p:pRg st="3" end="3"/>
                                            </p:txEl>
                                          </p:spTgt>
                                        </p:tgtEl>
                                      </p:cBhvr>
                                    </p:animEffect>
                                  </p:childTnLst>
                                </p:cTn>
                              </p:par>
                            </p:childTnLst>
                          </p:cTn>
                        </p:par>
                        <p:par>
                          <p:cTn id="8" fill="hold" nodeType="afterGroup">
                            <p:stCondLst>
                              <p:cond delay="4000"/>
                            </p:stCondLst>
                            <p:childTnLst>
                              <p:par>
                                <p:cTn id="9" presetID="22" presetClass="entr" presetSubtype="8" fill="hold" nodeType="afterEffect">
                                  <p:stCondLst>
                                    <p:cond delay="1000"/>
                                  </p:stCondLst>
                                  <p:childTnLst>
                                    <p:set>
                                      <p:cBhvr>
                                        <p:cTn id="10" dur="1" fill="hold">
                                          <p:stCondLst>
                                            <p:cond delay="0"/>
                                          </p:stCondLst>
                                        </p:cTn>
                                        <p:tgtEl>
                                          <p:spTgt spid="396291">
                                            <p:txEl>
                                              <p:pRg st="4" end="4"/>
                                            </p:txEl>
                                          </p:spTgt>
                                        </p:tgtEl>
                                        <p:attrNameLst>
                                          <p:attrName>style.visibility</p:attrName>
                                        </p:attrNameLst>
                                      </p:cBhvr>
                                      <p:to>
                                        <p:strVal val="visible"/>
                                      </p:to>
                                    </p:set>
                                    <p:animEffect transition="in" filter="wipe(left)">
                                      <p:cBhvr>
                                        <p:cTn id="11" dur="2000"/>
                                        <p:tgtEl>
                                          <p:spTgt spid="396291">
                                            <p:txEl>
                                              <p:pRg st="4" end="4"/>
                                            </p:txEl>
                                          </p:spTgt>
                                        </p:tgtEl>
                                      </p:cBhvr>
                                    </p:animEffect>
                                  </p:childTnLst>
                                </p:cTn>
                              </p:par>
                            </p:childTnLst>
                          </p:cTn>
                        </p:par>
                        <p:par>
                          <p:cTn id="12" fill="hold" nodeType="afterGroup">
                            <p:stCondLst>
                              <p:cond delay="7000"/>
                            </p:stCondLst>
                            <p:childTnLst>
                              <p:par>
                                <p:cTn id="13" presetID="22" presetClass="entr" presetSubtype="8" fill="hold" nodeType="afterEffect">
                                  <p:stCondLst>
                                    <p:cond delay="1000"/>
                                  </p:stCondLst>
                                  <p:childTnLst>
                                    <p:set>
                                      <p:cBhvr>
                                        <p:cTn id="14" dur="1" fill="hold">
                                          <p:stCondLst>
                                            <p:cond delay="0"/>
                                          </p:stCondLst>
                                        </p:cTn>
                                        <p:tgtEl>
                                          <p:spTgt spid="396291">
                                            <p:txEl>
                                              <p:pRg st="5" end="5"/>
                                            </p:txEl>
                                          </p:spTgt>
                                        </p:tgtEl>
                                        <p:attrNameLst>
                                          <p:attrName>style.visibility</p:attrName>
                                        </p:attrNameLst>
                                      </p:cBhvr>
                                      <p:to>
                                        <p:strVal val="visible"/>
                                      </p:to>
                                    </p:set>
                                    <p:animEffect transition="in" filter="wipe(left)">
                                      <p:cBhvr>
                                        <p:cTn id="15" dur="2000"/>
                                        <p:tgtEl>
                                          <p:spTgt spid="396291">
                                            <p:txEl>
                                              <p:pRg st="5" end="5"/>
                                            </p:txEl>
                                          </p:spTgt>
                                        </p:tgtEl>
                                      </p:cBhvr>
                                    </p:animEffect>
                                  </p:childTnLst>
                                </p:cTn>
                              </p:par>
                            </p:childTnLst>
                          </p:cTn>
                        </p:par>
                        <p:par>
                          <p:cTn id="16" fill="hold" nodeType="afterGroup">
                            <p:stCondLst>
                              <p:cond delay="10000"/>
                            </p:stCondLst>
                            <p:childTnLst>
                              <p:par>
                                <p:cTn id="17" presetID="22" presetClass="entr" presetSubtype="8" fill="hold" nodeType="afterEffect">
                                  <p:stCondLst>
                                    <p:cond delay="1000"/>
                                  </p:stCondLst>
                                  <p:childTnLst>
                                    <p:set>
                                      <p:cBhvr>
                                        <p:cTn id="18" dur="1" fill="hold">
                                          <p:stCondLst>
                                            <p:cond delay="0"/>
                                          </p:stCondLst>
                                        </p:cTn>
                                        <p:tgtEl>
                                          <p:spTgt spid="396291">
                                            <p:txEl>
                                              <p:pRg st="6" end="6"/>
                                            </p:txEl>
                                          </p:spTgt>
                                        </p:tgtEl>
                                        <p:attrNameLst>
                                          <p:attrName>style.visibility</p:attrName>
                                        </p:attrNameLst>
                                      </p:cBhvr>
                                      <p:to>
                                        <p:strVal val="visible"/>
                                      </p:to>
                                    </p:set>
                                    <p:animEffect transition="in" filter="wipe(left)">
                                      <p:cBhvr>
                                        <p:cTn id="19" dur="2000"/>
                                        <p:tgtEl>
                                          <p:spTgt spid="396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6147"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6148"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1B55A0D1-91B8-4E50-AD32-0677764F7FC8}" type="slidenum">
              <a:rPr lang="zh-CN" altLang="en-US" sz="800" b="0"/>
              <a:pPr/>
              <a:t>5</a:t>
            </a:fld>
            <a:endParaRPr lang="en-US" altLang="zh-CN" sz="800" b="0"/>
          </a:p>
        </p:txBody>
      </p:sp>
      <p:sp>
        <p:nvSpPr>
          <p:cNvPr id="6149"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Example TDs (P.100)</a:t>
            </a:r>
          </a:p>
        </p:txBody>
      </p:sp>
      <p:grpSp>
        <p:nvGrpSpPr>
          <p:cNvPr id="398339" name="Group 3"/>
          <p:cNvGrpSpPr>
            <a:grpSpLocks/>
          </p:cNvGrpSpPr>
          <p:nvPr/>
        </p:nvGrpSpPr>
        <p:grpSpPr bwMode="auto">
          <a:xfrm>
            <a:off x="1301750" y="1341438"/>
            <a:ext cx="7181850" cy="1447800"/>
            <a:chOff x="768" y="864"/>
            <a:chExt cx="4176" cy="912"/>
          </a:xfrm>
        </p:grpSpPr>
        <p:sp>
          <p:nvSpPr>
            <p:cNvPr id="6155" name="Line 4"/>
            <p:cNvSpPr>
              <a:spLocks noChangeShapeType="1"/>
            </p:cNvSpPr>
            <p:nvPr/>
          </p:nvSpPr>
          <p:spPr bwMode="auto">
            <a:xfrm>
              <a:off x="1392" y="1152"/>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 name="Oval 5"/>
            <p:cNvSpPr>
              <a:spLocks noChangeArrowheads="1"/>
            </p:cNvSpPr>
            <p:nvPr/>
          </p:nvSpPr>
          <p:spPr bwMode="auto">
            <a:xfrm>
              <a:off x="2016"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157" name="Line 6"/>
            <p:cNvSpPr>
              <a:spLocks noChangeShapeType="1"/>
            </p:cNvSpPr>
            <p:nvPr/>
          </p:nvSpPr>
          <p:spPr bwMode="auto">
            <a:xfrm>
              <a:off x="2304" y="1152"/>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 name="Oval 7"/>
            <p:cNvSpPr>
              <a:spLocks noChangeArrowheads="1"/>
            </p:cNvSpPr>
            <p:nvPr/>
          </p:nvSpPr>
          <p:spPr bwMode="auto">
            <a:xfrm>
              <a:off x="3744" y="148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159" name="Oval 8"/>
            <p:cNvSpPr>
              <a:spLocks noChangeArrowheads="1"/>
            </p:cNvSpPr>
            <p:nvPr/>
          </p:nvSpPr>
          <p:spPr bwMode="auto">
            <a:xfrm>
              <a:off x="2928"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160" name="Oval 9"/>
            <p:cNvSpPr>
              <a:spLocks noChangeArrowheads="1"/>
            </p:cNvSpPr>
            <p:nvPr/>
          </p:nvSpPr>
          <p:spPr bwMode="auto">
            <a:xfrm>
              <a:off x="374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161" name="Oval 10"/>
            <p:cNvSpPr>
              <a:spLocks noChangeArrowheads="1"/>
            </p:cNvSpPr>
            <p:nvPr/>
          </p:nvSpPr>
          <p:spPr bwMode="auto">
            <a:xfrm>
              <a:off x="3792" y="153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162" name="Oval 11"/>
            <p:cNvSpPr>
              <a:spLocks noChangeArrowheads="1"/>
            </p:cNvSpPr>
            <p:nvPr/>
          </p:nvSpPr>
          <p:spPr bwMode="auto">
            <a:xfrm>
              <a:off x="379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163" name="Line 12"/>
            <p:cNvSpPr>
              <a:spLocks noChangeShapeType="1"/>
            </p:cNvSpPr>
            <p:nvPr/>
          </p:nvSpPr>
          <p:spPr bwMode="auto">
            <a:xfrm>
              <a:off x="3216" y="1152"/>
              <a:ext cx="52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6164" name="AutoShape 13"/>
            <p:cNvCxnSpPr>
              <a:cxnSpLocks noChangeShapeType="1"/>
              <a:stCxn id="6159" idx="4"/>
              <a:endCxn id="6158" idx="2"/>
            </p:cNvCxnSpPr>
            <p:nvPr/>
          </p:nvCxnSpPr>
          <p:spPr bwMode="auto">
            <a:xfrm rot="16200000" flipH="1">
              <a:off x="3240" y="1128"/>
              <a:ext cx="336" cy="672"/>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65" name="Text Box 14"/>
            <p:cNvSpPr txBox="1">
              <a:spLocks noChangeArrowheads="1"/>
            </p:cNvSpPr>
            <p:nvPr/>
          </p:nvSpPr>
          <p:spPr bwMode="auto">
            <a:xfrm>
              <a:off x="1440" y="960"/>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start</a:t>
              </a:r>
            </a:p>
          </p:txBody>
        </p:sp>
        <p:sp>
          <p:nvSpPr>
            <p:cNvPr id="6166" name="Text Box 15"/>
            <p:cNvSpPr txBox="1">
              <a:spLocks noChangeArrowheads="1"/>
            </p:cNvSpPr>
            <p:nvPr/>
          </p:nvSpPr>
          <p:spPr bwMode="auto">
            <a:xfrm>
              <a:off x="3168" y="1344"/>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other</a:t>
              </a:r>
            </a:p>
          </p:txBody>
        </p:sp>
        <p:sp>
          <p:nvSpPr>
            <p:cNvPr id="6167" name="Text Box 16"/>
            <p:cNvSpPr txBox="1">
              <a:spLocks noChangeArrowheads="1"/>
            </p:cNvSpPr>
            <p:nvPr/>
          </p:nvSpPr>
          <p:spPr bwMode="auto">
            <a:xfrm>
              <a:off x="3216" y="960"/>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sp>
          <p:nvSpPr>
            <p:cNvPr id="6168" name="Text Box 17"/>
            <p:cNvSpPr txBox="1">
              <a:spLocks noChangeArrowheads="1"/>
            </p:cNvSpPr>
            <p:nvPr/>
          </p:nvSpPr>
          <p:spPr bwMode="auto">
            <a:xfrm>
              <a:off x="2352" y="960"/>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&gt;</a:t>
              </a:r>
            </a:p>
          </p:txBody>
        </p:sp>
        <p:sp>
          <p:nvSpPr>
            <p:cNvPr id="6169" name="Text Box 18"/>
            <p:cNvSpPr txBox="1">
              <a:spLocks noChangeArrowheads="1"/>
            </p:cNvSpPr>
            <p:nvPr/>
          </p:nvSpPr>
          <p:spPr bwMode="auto">
            <a:xfrm>
              <a:off x="2064" y="1056"/>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0</a:t>
              </a:r>
            </a:p>
          </p:txBody>
        </p:sp>
        <p:sp>
          <p:nvSpPr>
            <p:cNvPr id="6170" name="Text Box 19"/>
            <p:cNvSpPr txBox="1">
              <a:spLocks noChangeArrowheads="1"/>
            </p:cNvSpPr>
            <p:nvPr/>
          </p:nvSpPr>
          <p:spPr bwMode="auto">
            <a:xfrm>
              <a:off x="2976" y="1056"/>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6</a:t>
              </a:r>
            </a:p>
          </p:txBody>
        </p:sp>
        <p:sp>
          <p:nvSpPr>
            <p:cNvPr id="6171" name="Text Box 20"/>
            <p:cNvSpPr txBox="1">
              <a:spLocks noChangeArrowheads="1"/>
            </p:cNvSpPr>
            <p:nvPr/>
          </p:nvSpPr>
          <p:spPr bwMode="auto">
            <a:xfrm>
              <a:off x="3792" y="1056"/>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7</a:t>
              </a:r>
            </a:p>
          </p:txBody>
        </p:sp>
        <p:sp>
          <p:nvSpPr>
            <p:cNvPr id="6172" name="Text Box 21"/>
            <p:cNvSpPr txBox="1">
              <a:spLocks noChangeArrowheads="1"/>
            </p:cNvSpPr>
            <p:nvPr/>
          </p:nvSpPr>
          <p:spPr bwMode="auto">
            <a:xfrm>
              <a:off x="3792" y="1536"/>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8</a:t>
              </a:r>
            </a:p>
          </p:txBody>
        </p:sp>
        <p:sp>
          <p:nvSpPr>
            <p:cNvPr id="6173" name="Text Box 22"/>
            <p:cNvSpPr txBox="1">
              <a:spLocks noChangeArrowheads="1"/>
            </p:cNvSpPr>
            <p:nvPr/>
          </p:nvSpPr>
          <p:spPr bwMode="auto">
            <a:xfrm>
              <a:off x="3984" y="144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2000">
                  <a:ea typeface="宋体" panose="02010600030101010101" pitchFamily="2" charset="-122"/>
                </a:rPr>
                <a:t>*</a:t>
              </a:r>
            </a:p>
          </p:txBody>
        </p:sp>
        <p:sp>
          <p:nvSpPr>
            <p:cNvPr id="6174" name="Text Box 23"/>
            <p:cNvSpPr txBox="1">
              <a:spLocks noChangeArrowheads="1"/>
            </p:cNvSpPr>
            <p:nvPr/>
          </p:nvSpPr>
          <p:spPr bwMode="auto">
            <a:xfrm>
              <a:off x="4224" y="1488"/>
              <a:ext cx="7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RTN(G)</a:t>
              </a:r>
            </a:p>
          </p:txBody>
        </p:sp>
        <p:sp>
          <p:nvSpPr>
            <p:cNvPr id="6175" name="Text Box 24"/>
            <p:cNvSpPr txBox="1">
              <a:spLocks noChangeArrowheads="1"/>
            </p:cNvSpPr>
            <p:nvPr/>
          </p:nvSpPr>
          <p:spPr bwMode="auto">
            <a:xfrm>
              <a:off x="4080" y="960"/>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RTN(GE)</a:t>
              </a:r>
            </a:p>
          </p:txBody>
        </p:sp>
        <p:sp>
          <p:nvSpPr>
            <p:cNvPr id="6176" name="Text Box 25"/>
            <p:cNvSpPr txBox="1">
              <a:spLocks noChangeArrowheads="1"/>
            </p:cNvSpPr>
            <p:nvPr/>
          </p:nvSpPr>
          <p:spPr bwMode="auto">
            <a:xfrm>
              <a:off x="768" y="864"/>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u="sng">
                  <a:ea typeface="宋体" panose="02010600030101010101" pitchFamily="2" charset="-122"/>
                </a:rPr>
                <a:t>&gt; = :</a:t>
              </a:r>
            </a:p>
          </p:txBody>
        </p:sp>
      </p:grpSp>
      <p:sp>
        <p:nvSpPr>
          <p:cNvPr id="398362" name="Text Box 26"/>
          <p:cNvSpPr txBox="1">
            <a:spLocks noChangeArrowheads="1"/>
          </p:cNvSpPr>
          <p:nvPr/>
        </p:nvSpPr>
        <p:spPr bwMode="auto">
          <a:xfrm>
            <a:off x="1136650" y="4465638"/>
            <a:ext cx="77597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 means: We’ve accepted “&gt;” and have read other char that must be unread.</a:t>
            </a:r>
          </a:p>
        </p:txBody>
      </p:sp>
      <p:sp>
        <p:nvSpPr>
          <p:cNvPr id="6152" name="Line 27"/>
          <p:cNvSpPr>
            <a:spLocks noChangeShapeType="1"/>
          </p:cNvSpPr>
          <p:nvPr/>
        </p:nvSpPr>
        <p:spPr bwMode="auto">
          <a:xfrm>
            <a:off x="6997700" y="2484438"/>
            <a:ext cx="1651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98364" name="AutoShape 28"/>
          <p:cNvCxnSpPr>
            <a:cxnSpLocks noChangeShapeType="1"/>
            <a:stCxn id="6173" idx="2"/>
            <a:endCxn id="398362" idx="0"/>
          </p:cNvCxnSpPr>
          <p:nvPr/>
        </p:nvCxnSpPr>
        <p:spPr bwMode="auto">
          <a:xfrm rot="5400000">
            <a:off x="5121275" y="2547938"/>
            <a:ext cx="1812925" cy="2022475"/>
          </a:xfrm>
          <a:prstGeom prst="curvedConnector3">
            <a:avLst>
              <a:gd name="adj1" fmla="val 50000"/>
            </a:avLst>
          </a:prstGeom>
          <a:noFill/>
          <a:ln w="25400">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4" name="Text Box 29"/>
          <p:cNvSpPr txBox="1">
            <a:spLocks noChangeArrowheads="1"/>
          </p:cNvSpPr>
          <p:nvPr/>
        </p:nvSpPr>
        <p:spPr bwMode="auto">
          <a:xfrm>
            <a:off x="2792413" y="5445125"/>
            <a:ext cx="5327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Fig.3.11 Transition diagram for &gt;=.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8339"/>
                                        </p:tgtEl>
                                        <p:attrNameLst>
                                          <p:attrName>style.visibility</p:attrName>
                                        </p:attrNameLst>
                                      </p:cBhvr>
                                      <p:to>
                                        <p:strVal val="visible"/>
                                      </p:to>
                                    </p:set>
                                    <p:animEffect transition="in" filter="wipe(left)">
                                      <p:cBhvr>
                                        <p:cTn id="7" dur="1000"/>
                                        <p:tgtEl>
                                          <p:spTgt spid="398339"/>
                                        </p:tgtEl>
                                      </p:cBhvr>
                                    </p:animEffect>
                                  </p:childTnLst>
                                </p:cTn>
                              </p:par>
                            </p:childTnLst>
                          </p:cTn>
                        </p:par>
                        <p:par>
                          <p:cTn id="8" fill="hold" nodeType="afterGroup">
                            <p:stCondLst>
                              <p:cond delay="1000"/>
                            </p:stCondLst>
                            <p:childTnLst>
                              <p:par>
                                <p:cTn id="9" presetID="22" presetClass="entr" presetSubtype="1" fill="hold" nodeType="afterEffect">
                                  <p:stCondLst>
                                    <p:cond delay="4000"/>
                                  </p:stCondLst>
                                  <p:childTnLst>
                                    <p:set>
                                      <p:cBhvr>
                                        <p:cTn id="10" dur="1" fill="hold">
                                          <p:stCondLst>
                                            <p:cond delay="0"/>
                                          </p:stCondLst>
                                        </p:cTn>
                                        <p:tgtEl>
                                          <p:spTgt spid="398364"/>
                                        </p:tgtEl>
                                        <p:attrNameLst>
                                          <p:attrName>style.visibility</p:attrName>
                                        </p:attrNameLst>
                                      </p:cBhvr>
                                      <p:to>
                                        <p:strVal val="visible"/>
                                      </p:to>
                                    </p:set>
                                    <p:animEffect transition="in" filter="wipe(up)">
                                      <p:cBhvr>
                                        <p:cTn id="11" dur="2000"/>
                                        <p:tgtEl>
                                          <p:spTgt spid="398364"/>
                                        </p:tgtEl>
                                      </p:cBhvr>
                                    </p:animEffect>
                                  </p:childTnLst>
                                </p:cTn>
                              </p:par>
                            </p:childTnLst>
                          </p:cTn>
                        </p:par>
                        <p:par>
                          <p:cTn id="12" fill="hold" nodeType="afterGroup">
                            <p:stCondLst>
                              <p:cond delay="7000"/>
                            </p:stCondLst>
                            <p:childTnLst>
                              <p:par>
                                <p:cTn id="13" presetID="9" presetClass="entr" presetSubtype="0" fill="hold" grpId="0" nodeType="afterEffect">
                                  <p:stCondLst>
                                    <p:cond delay="2000"/>
                                  </p:stCondLst>
                                  <p:childTnLst>
                                    <p:set>
                                      <p:cBhvr>
                                        <p:cTn id="14" dur="1" fill="hold">
                                          <p:stCondLst>
                                            <p:cond delay="0"/>
                                          </p:stCondLst>
                                        </p:cTn>
                                        <p:tgtEl>
                                          <p:spTgt spid="398362"/>
                                        </p:tgtEl>
                                        <p:attrNameLst>
                                          <p:attrName>style.visibility</p:attrName>
                                        </p:attrNameLst>
                                      </p:cBhvr>
                                      <p:to>
                                        <p:strVal val="visible"/>
                                      </p:to>
                                    </p:set>
                                    <p:animEffect transition="in" filter="dissolve">
                                      <p:cBhvr>
                                        <p:cTn id="15" dur="2000"/>
                                        <p:tgtEl>
                                          <p:spTgt spid="398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717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717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947888E9-03FF-4351-A772-EAE24D636372}" type="slidenum">
              <a:rPr lang="zh-CN" altLang="en-US" sz="800" b="0"/>
              <a:pPr/>
              <a:t>6</a:t>
            </a:fld>
            <a:endParaRPr lang="en-US" altLang="zh-CN" sz="800" b="0"/>
          </a:p>
        </p:txBody>
      </p:sp>
      <p:sp>
        <p:nvSpPr>
          <p:cNvPr id="7173"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Example 3.7:  All RELOPs (P.101)</a:t>
            </a:r>
          </a:p>
        </p:txBody>
      </p:sp>
      <p:sp>
        <p:nvSpPr>
          <p:cNvPr id="7174" name="Line 4"/>
          <p:cNvSpPr>
            <a:spLocks noChangeShapeType="1"/>
          </p:cNvSpPr>
          <p:nvPr/>
        </p:nvSpPr>
        <p:spPr bwMode="auto">
          <a:xfrm>
            <a:off x="1065213" y="1519238"/>
            <a:ext cx="11430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Oval 5"/>
          <p:cNvSpPr>
            <a:spLocks noChangeArrowheads="1"/>
          </p:cNvSpPr>
          <p:nvPr/>
        </p:nvSpPr>
        <p:spPr bwMode="auto">
          <a:xfrm>
            <a:off x="2208213" y="1277938"/>
            <a:ext cx="527050" cy="4826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176" name="Line 6"/>
          <p:cNvSpPr>
            <a:spLocks noChangeShapeType="1"/>
          </p:cNvSpPr>
          <p:nvPr/>
        </p:nvSpPr>
        <p:spPr bwMode="auto">
          <a:xfrm>
            <a:off x="2735263" y="1519238"/>
            <a:ext cx="11430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Text Box 7"/>
          <p:cNvSpPr txBox="1">
            <a:spLocks noChangeArrowheads="1"/>
          </p:cNvSpPr>
          <p:nvPr/>
        </p:nvSpPr>
        <p:spPr bwMode="auto">
          <a:xfrm>
            <a:off x="1152525" y="1196975"/>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start</a:t>
            </a:r>
          </a:p>
        </p:txBody>
      </p:sp>
      <p:sp>
        <p:nvSpPr>
          <p:cNvPr id="400392" name="Text Box 8"/>
          <p:cNvSpPr txBox="1">
            <a:spLocks noChangeArrowheads="1"/>
          </p:cNvSpPr>
          <p:nvPr/>
        </p:nvSpPr>
        <p:spPr bwMode="auto">
          <a:xfrm>
            <a:off x="2822575" y="1196975"/>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&lt;</a:t>
            </a:r>
          </a:p>
        </p:txBody>
      </p:sp>
      <p:sp>
        <p:nvSpPr>
          <p:cNvPr id="7179" name="Text Box 9"/>
          <p:cNvSpPr txBox="1">
            <a:spLocks noChangeArrowheads="1"/>
          </p:cNvSpPr>
          <p:nvPr/>
        </p:nvSpPr>
        <p:spPr bwMode="auto">
          <a:xfrm>
            <a:off x="2295525" y="1357313"/>
            <a:ext cx="352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0</a:t>
            </a:r>
          </a:p>
        </p:txBody>
      </p:sp>
      <p:sp>
        <p:nvSpPr>
          <p:cNvPr id="400394" name="Oval 10"/>
          <p:cNvSpPr>
            <a:spLocks noChangeArrowheads="1"/>
          </p:cNvSpPr>
          <p:nvPr/>
        </p:nvSpPr>
        <p:spPr bwMode="auto">
          <a:xfrm>
            <a:off x="5372100" y="5461000"/>
            <a:ext cx="527050" cy="4826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00395" name="Oval 11"/>
          <p:cNvSpPr>
            <a:spLocks noChangeArrowheads="1"/>
          </p:cNvSpPr>
          <p:nvPr/>
        </p:nvSpPr>
        <p:spPr bwMode="auto">
          <a:xfrm>
            <a:off x="5461000" y="5541963"/>
            <a:ext cx="350838" cy="320675"/>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00396" name="Line 12"/>
          <p:cNvSpPr>
            <a:spLocks noChangeShapeType="1"/>
          </p:cNvSpPr>
          <p:nvPr/>
        </p:nvSpPr>
        <p:spPr bwMode="auto">
          <a:xfrm>
            <a:off x="4405313" y="4897438"/>
            <a:ext cx="966787"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400397" name="AutoShape 13"/>
          <p:cNvCxnSpPr>
            <a:cxnSpLocks noChangeShapeType="1"/>
            <a:stCxn id="7229" idx="4"/>
            <a:endCxn id="400394" idx="2"/>
          </p:cNvCxnSpPr>
          <p:nvPr/>
        </p:nvCxnSpPr>
        <p:spPr bwMode="auto">
          <a:xfrm rot="16200000" flipH="1">
            <a:off x="4475163" y="4805363"/>
            <a:ext cx="563562" cy="1230312"/>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398" name="Text Box 14"/>
          <p:cNvSpPr txBox="1">
            <a:spLocks noChangeArrowheads="1"/>
          </p:cNvSpPr>
          <p:nvPr/>
        </p:nvSpPr>
        <p:spPr bwMode="auto">
          <a:xfrm>
            <a:off x="4318000" y="5219700"/>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other</a:t>
            </a:r>
          </a:p>
        </p:txBody>
      </p:sp>
      <p:sp>
        <p:nvSpPr>
          <p:cNvPr id="400399" name="Text Box 15"/>
          <p:cNvSpPr txBox="1">
            <a:spLocks noChangeArrowheads="1"/>
          </p:cNvSpPr>
          <p:nvPr/>
        </p:nvSpPr>
        <p:spPr bwMode="auto">
          <a:xfrm>
            <a:off x="4376738" y="4581525"/>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grpSp>
        <p:nvGrpSpPr>
          <p:cNvPr id="400400" name="Group 16"/>
          <p:cNvGrpSpPr>
            <a:grpSpLocks/>
          </p:cNvGrpSpPr>
          <p:nvPr/>
        </p:nvGrpSpPr>
        <p:grpSpPr bwMode="auto">
          <a:xfrm>
            <a:off x="3878263" y="4656138"/>
            <a:ext cx="527050" cy="482600"/>
            <a:chOff x="2448" y="1008"/>
            <a:chExt cx="288" cy="288"/>
          </a:xfrm>
        </p:grpSpPr>
        <p:sp>
          <p:nvSpPr>
            <p:cNvPr id="7229" name="Oval 17"/>
            <p:cNvSpPr>
              <a:spLocks noChangeArrowheads="1"/>
            </p:cNvSpPr>
            <p:nvPr/>
          </p:nvSpPr>
          <p:spPr bwMode="auto">
            <a:xfrm>
              <a:off x="2448"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30" name="Text Box 18"/>
            <p:cNvSpPr txBox="1">
              <a:spLocks noChangeArrowheads="1"/>
            </p:cNvSpPr>
            <p:nvPr/>
          </p:nvSpPr>
          <p:spPr bwMode="auto">
            <a:xfrm>
              <a:off x="2496" y="1056"/>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6</a:t>
              </a:r>
            </a:p>
          </p:txBody>
        </p:sp>
      </p:grpSp>
      <p:grpSp>
        <p:nvGrpSpPr>
          <p:cNvPr id="400403" name="Group 19"/>
          <p:cNvGrpSpPr>
            <a:grpSpLocks/>
          </p:cNvGrpSpPr>
          <p:nvPr/>
        </p:nvGrpSpPr>
        <p:grpSpPr bwMode="auto">
          <a:xfrm>
            <a:off x="5372100" y="4656138"/>
            <a:ext cx="527050" cy="482600"/>
            <a:chOff x="3264" y="1008"/>
            <a:chExt cx="288" cy="288"/>
          </a:xfrm>
        </p:grpSpPr>
        <p:sp>
          <p:nvSpPr>
            <p:cNvPr id="7226" name="Oval 20"/>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27" name="Oval 21"/>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28" name="Text Box 22"/>
            <p:cNvSpPr txBox="1">
              <a:spLocks noChangeArrowheads="1"/>
            </p:cNvSpPr>
            <p:nvPr/>
          </p:nvSpPr>
          <p:spPr bwMode="auto">
            <a:xfrm>
              <a:off x="3312" y="1056"/>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7</a:t>
              </a:r>
            </a:p>
          </p:txBody>
        </p:sp>
      </p:grpSp>
      <p:sp>
        <p:nvSpPr>
          <p:cNvPr id="400407" name="Text Box 23"/>
          <p:cNvSpPr txBox="1">
            <a:spLocks noChangeArrowheads="1"/>
          </p:cNvSpPr>
          <p:nvPr/>
        </p:nvSpPr>
        <p:spPr bwMode="auto">
          <a:xfrm>
            <a:off x="5461000" y="5541963"/>
            <a:ext cx="350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8</a:t>
            </a:r>
          </a:p>
        </p:txBody>
      </p:sp>
      <p:sp>
        <p:nvSpPr>
          <p:cNvPr id="400408" name="Text Box 24"/>
          <p:cNvSpPr txBox="1">
            <a:spLocks noChangeArrowheads="1"/>
          </p:cNvSpPr>
          <p:nvPr/>
        </p:nvSpPr>
        <p:spPr bwMode="auto">
          <a:xfrm>
            <a:off x="5988050" y="1357313"/>
            <a:ext cx="30765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return(</a:t>
            </a:r>
            <a:r>
              <a:rPr lang="en-US" altLang="zh-CN" sz="1800">
                <a:solidFill>
                  <a:schemeClr val="tx2"/>
                </a:solidFill>
                <a:ea typeface="宋体" panose="02010600030101010101" pitchFamily="2" charset="-122"/>
              </a:rPr>
              <a:t>relop</a:t>
            </a:r>
            <a:r>
              <a:rPr lang="en-US" altLang="zh-CN" sz="1800">
                <a:solidFill>
                  <a:srgbClr val="FF3300"/>
                </a:solidFill>
                <a:ea typeface="宋体" panose="02010600030101010101" pitchFamily="2" charset="-122"/>
              </a:rPr>
              <a:t>, </a:t>
            </a:r>
            <a:r>
              <a:rPr lang="en-US" altLang="zh-CN" sz="1800">
                <a:solidFill>
                  <a:schemeClr val="tx2"/>
                </a:solidFill>
                <a:ea typeface="宋体" panose="02010600030101010101" pitchFamily="2" charset="-122"/>
              </a:rPr>
              <a:t>LE</a:t>
            </a:r>
            <a:r>
              <a:rPr lang="en-US" altLang="zh-CN" sz="1800">
                <a:solidFill>
                  <a:srgbClr val="FF3300"/>
                </a:solidFill>
                <a:ea typeface="宋体" panose="02010600030101010101" pitchFamily="2" charset="-122"/>
              </a:rPr>
              <a:t>)</a:t>
            </a:r>
          </a:p>
        </p:txBody>
      </p:sp>
      <p:grpSp>
        <p:nvGrpSpPr>
          <p:cNvPr id="400409" name="Group 25"/>
          <p:cNvGrpSpPr>
            <a:grpSpLocks/>
          </p:cNvGrpSpPr>
          <p:nvPr/>
        </p:nvGrpSpPr>
        <p:grpSpPr bwMode="auto">
          <a:xfrm>
            <a:off x="3878263" y="3609975"/>
            <a:ext cx="527050" cy="482600"/>
            <a:chOff x="3264" y="1008"/>
            <a:chExt cx="288" cy="288"/>
          </a:xfrm>
        </p:grpSpPr>
        <p:sp>
          <p:nvSpPr>
            <p:cNvPr id="7223" name="Oval 26"/>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24" name="Oval 27"/>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25" name="Text Box 28"/>
            <p:cNvSpPr txBox="1">
              <a:spLocks noChangeArrowheads="1"/>
            </p:cNvSpPr>
            <p:nvPr/>
          </p:nvSpPr>
          <p:spPr bwMode="auto">
            <a:xfrm>
              <a:off x="3312" y="1056"/>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5</a:t>
              </a:r>
            </a:p>
          </p:txBody>
        </p:sp>
      </p:grpSp>
      <p:grpSp>
        <p:nvGrpSpPr>
          <p:cNvPr id="400413" name="Group 29"/>
          <p:cNvGrpSpPr>
            <a:grpSpLocks/>
          </p:cNvGrpSpPr>
          <p:nvPr/>
        </p:nvGrpSpPr>
        <p:grpSpPr bwMode="auto">
          <a:xfrm>
            <a:off x="5372100" y="2967038"/>
            <a:ext cx="527050" cy="482600"/>
            <a:chOff x="3264" y="1008"/>
            <a:chExt cx="288" cy="288"/>
          </a:xfrm>
        </p:grpSpPr>
        <p:sp>
          <p:nvSpPr>
            <p:cNvPr id="7220" name="Oval 30"/>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21" name="Oval 31"/>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22" name="Text Box 32"/>
            <p:cNvSpPr txBox="1">
              <a:spLocks noChangeArrowheads="1"/>
            </p:cNvSpPr>
            <p:nvPr/>
          </p:nvSpPr>
          <p:spPr bwMode="auto">
            <a:xfrm>
              <a:off x="3312" y="1056"/>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4</a:t>
              </a:r>
            </a:p>
          </p:txBody>
        </p:sp>
      </p:grpSp>
      <p:sp>
        <p:nvSpPr>
          <p:cNvPr id="400417" name="Oval 33"/>
          <p:cNvSpPr>
            <a:spLocks noChangeArrowheads="1"/>
          </p:cNvSpPr>
          <p:nvPr/>
        </p:nvSpPr>
        <p:spPr bwMode="auto">
          <a:xfrm>
            <a:off x="5372100" y="2081213"/>
            <a:ext cx="527050" cy="484187"/>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00418" name="Oval 34"/>
          <p:cNvSpPr>
            <a:spLocks noChangeArrowheads="1"/>
          </p:cNvSpPr>
          <p:nvPr/>
        </p:nvSpPr>
        <p:spPr bwMode="auto">
          <a:xfrm>
            <a:off x="5461000" y="2162175"/>
            <a:ext cx="350838" cy="322263"/>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00419" name="Line 35"/>
          <p:cNvSpPr>
            <a:spLocks noChangeShapeType="1"/>
          </p:cNvSpPr>
          <p:nvPr/>
        </p:nvSpPr>
        <p:spPr bwMode="auto">
          <a:xfrm>
            <a:off x="4405313" y="1519238"/>
            <a:ext cx="966787"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400420" name="AutoShape 36"/>
          <p:cNvCxnSpPr>
            <a:cxnSpLocks noChangeShapeType="1"/>
            <a:stCxn id="7218" idx="4"/>
            <a:endCxn id="400417" idx="2"/>
          </p:cNvCxnSpPr>
          <p:nvPr/>
        </p:nvCxnSpPr>
        <p:spPr bwMode="auto">
          <a:xfrm rot="16200000" flipH="1">
            <a:off x="4475956" y="1426370"/>
            <a:ext cx="561975" cy="1230312"/>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421" name="Text Box 37"/>
          <p:cNvSpPr txBox="1">
            <a:spLocks noChangeArrowheads="1"/>
          </p:cNvSpPr>
          <p:nvPr/>
        </p:nvSpPr>
        <p:spPr bwMode="auto">
          <a:xfrm>
            <a:off x="4318000" y="1839913"/>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&gt;</a:t>
            </a:r>
          </a:p>
        </p:txBody>
      </p:sp>
      <p:sp>
        <p:nvSpPr>
          <p:cNvPr id="400422" name="Text Box 38"/>
          <p:cNvSpPr txBox="1">
            <a:spLocks noChangeArrowheads="1"/>
          </p:cNvSpPr>
          <p:nvPr/>
        </p:nvSpPr>
        <p:spPr bwMode="auto">
          <a:xfrm>
            <a:off x="4405313" y="1196975"/>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grpSp>
        <p:nvGrpSpPr>
          <p:cNvPr id="400423" name="Group 39"/>
          <p:cNvGrpSpPr>
            <a:grpSpLocks/>
          </p:cNvGrpSpPr>
          <p:nvPr/>
        </p:nvGrpSpPr>
        <p:grpSpPr bwMode="auto">
          <a:xfrm>
            <a:off x="3878263" y="1277938"/>
            <a:ext cx="527050" cy="482600"/>
            <a:chOff x="2448" y="1008"/>
            <a:chExt cx="288" cy="288"/>
          </a:xfrm>
        </p:grpSpPr>
        <p:sp>
          <p:nvSpPr>
            <p:cNvPr id="7218" name="Oval 40"/>
            <p:cNvSpPr>
              <a:spLocks noChangeArrowheads="1"/>
            </p:cNvSpPr>
            <p:nvPr/>
          </p:nvSpPr>
          <p:spPr bwMode="auto">
            <a:xfrm>
              <a:off x="2448"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19" name="Text Box 41"/>
            <p:cNvSpPr txBox="1">
              <a:spLocks noChangeArrowheads="1"/>
            </p:cNvSpPr>
            <p:nvPr/>
          </p:nvSpPr>
          <p:spPr bwMode="auto">
            <a:xfrm>
              <a:off x="2496" y="1056"/>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a:t>
              </a:r>
            </a:p>
          </p:txBody>
        </p:sp>
      </p:grpSp>
      <p:grpSp>
        <p:nvGrpSpPr>
          <p:cNvPr id="400426" name="Group 42"/>
          <p:cNvGrpSpPr>
            <a:grpSpLocks/>
          </p:cNvGrpSpPr>
          <p:nvPr/>
        </p:nvGrpSpPr>
        <p:grpSpPr bwMode="auto">
          <a:xfrm>
            <a:off x="5372100" y="1277938"/>
            <a:ext cx="527050" cy="482600"/>
            <a:chOff x="3264" y="1008"/>
            <a:chExt cx="288" cy="288"/>
          </a:xfrm>
        </p:grpSpPr>
        <p:sp>
          <p:nvSpPr>
            <p:cNvPr id="7215" name="Oval 43"/>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16" name="Oval 44"/>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217" name="Text Box 45"/>
            <p:cNvSpPr txBox="1">
              <a:spLocks noChangeArrowheads="1"/>
            </p:cNvSpPr>
            <p:nvPr/>
          </p:nvSpPr>
          <p:spPr bwMode="auto">
            <a:xfrm>
              <a:off x="3312" y="1056"/>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a:t>
              </a:r>
            </a:p>
          </p:txBody>
        </p:sp>
      </p:grpSp>
      <p:sp>
        <p:nvSpPr>
          <p:cNvPr id="400430" name="Text Box 46"/>
          <p:cNvSpPr txBox="1">
            <a:spLocks noChangeArrowheads="1"/>
          </p:cNvSpPr>
          <p:nvPr/>
        </p:nvSpPr>
        <p:spPr bwMode="auto">
          <a:xfrm>
            <a:off x="5461000" y="2162175"/>
            <a:ext cx="350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3</a:t>
            </a:r>
          </a:p>
        </p:txBody>
      </p:sp>
      <p:cxnSp>
        <p:nvCxnSpPr>
          <p:cNvPr id="400431" name="AutoShape 47"/>
          <p:cNvCxnSpPr>
            <a:cxnSpLocks noChangeShapeType="1"/>
            <a:stCxn id="7218" idx="4"/>
            <a:endCxn id="7220" idx="2"/>
          </p:cNvCxnSpPr>
          <p:nvPr/>
        </p:nvCxnSpPr>
        <p:spPr bwMode="auto">
          <a:xfrm rot="16200000" flipH="1">
            <a:off x="4033044" y="1869282"/>
            <a:ext cx="1447800" cy="1230312"/>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0432" name="AutoShape 48"/>
          <p:cNvCxnSpPr>
            <a:cxnSpLocks noChangeShapeType="1"/>
            <a:endCxn id="7223" idx="2"/>
          </p:cNvCxnSpPr>
          <p:nvPr/>
        </p:nvCxnSpPr>
        <p:spPr bwMode="auto">
          <a:xfrm rot="16200000" flipH="1">
            <a:off x="2129632" y="2102644"/>
            <a:ext cx="2090737" cy="1406525"/>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0433" name="AutoShape 49"/>
          <p:cNvCxnSpPr>
            <a:cxnSpLocks noChangeShapeType="1"/>
            <a:stCxn id="7175" idx="4"/>
            <a:endCxn id="7229" idx="2"/>
          </p:cNvCxnSpPr>
          <p:nvPr/>
        </p:nvCxnSpPr>
        <p:spPr bwMode="auto">
          <a:xfrm rot="16200000" flipH="1">
            <a:off x="1606551" y="2625725"/>
            <a:ext cx="3136900" cy="1406525"/>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0434" name="Text Box 50"/>
          <p:cNvSpPr txBox="1">
            <a:spLocks noChangeArrowheads="1"/>
          </p:cNvSpPr>
          <p:nvPr/>
        </p:nvSpPr>
        <p:spPr bwMode="auto">
          <a:xfrm>
            <a:off x="4494213" y="2565400"/>
            <a:ext cx="8778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other</a:t>
            </a:r>
          </a:p>
        </p:txBody>
      </p:sp>
      <p:sp>
        <p:nvSpPr>
          <p:cNvPr id="400435" name="Text Box 51"/>
          <p:cNvSpPr txBox="1">
            <a:spLocks noChangeArrowheads="1"/>
          </p:cNvSpPr>
          <p:nvPr/>
        </p:nvSpPr>
        <p:spPr bwMode="auto">
          <a:xfrm>
            <a:off x="2822575" y="4013200"/>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&gt;</a:t>
            </a:r>
          </a:p>
        </p:txBody>
      </p:sp>
      <p:sp>
        <p:nvSpPr>
          <p:cNvPr id="400436" name="Text Box 52"/>
          <p:cNvSpPr txBox="1">
            <a:spLocks noChangeArrowheads="1"/>
          </p:cNvSpPr>
          <p:nvPr/>
        </p:nvSpPr>
        <p:spPr bwMode="auto">
          <a:xfrm>
            <a:off x="2735263" y="3048000"/>
            <a:ext cx="8794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sp>
        <p:nvSpPr>
          <p:cNvPr id="400437" name="Text Box 53"/>
          <p:cNvSpPr txBox="1">
            <a:spLocks noChangeArrowheads="1"/>
          </p:cNvSpPr>
          <p:nvPr/>
        </p:nvSpPr>
        <p:spPr bwMode="auto">
          <a:xfrm>
            <a:off x="5811838" y="5380038"/>
            <a:ext cx="352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2000">
                <a:ea typeface="宋体" panose="02010600030101010101" pitchFamily="2" charset="-122"/>
              </a:rPr>
              <a:t>*</a:t>
            </a:r>
          </a:p>
        </p:txBody>
      </p:sp>
      <p:sp>
        <p:nvSpPr>
          <p:cNvPr id="400438" name="Text Box 54"/>
          <p:cNvSpPr txBox="1">
            <a:spLocks noChangeArrowheads="1"/>
          </p:cNvSpPr>
          <p:nvPr/>
        </p:nvSpPr>
        <p:spPr bwMode="auto">
          <a:xfrm>
            <a:off x="5811838" y="2886075"/>
            <a:ext cx="352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2000">
                <a:ea typeface="宋体" panose="02010600030101010101" pitchFamily="2" charset="-122"/>
              </a:rPr>
              <a:t>*</a:t>
            </a:r>
          </a:p>
        </p:txBody>
      </p:sp>
      <p:sp>
        <p:nvSpPr>
          <p:cNvPr id="400439" name="Text Box 55"/>
          <p:cNvSpPr txBox="1">
            <a:spLocks noChangeArrowheads="1"/>
          </p:cNvSpPr>
          <p:nvPr/>
        </p:nvSpPr>
        <p:spPr bwMode="auto">
          <a:xfrm>
            <a:off x="6075363" y="2162175"/>
            <a:ext cx="3076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return(</a:t>
            </a:r>
            <a:r>
              <a:rPr lang="en-US" altLang="zh-CN" sz="1800">
                <a:solidFill>
                  <a:schemeClr val="tx2"/>
                </a:solidFill>
                <a:ea typeface="宋体" panose="02010600030101010101" pitchFamily="2" charset="-122"/>
              </a:rPr>
              <a:t>relop</a:t>
            </a:r>
            <a:r>
              <a:rPr lang="en-US" altLang="zh-CN" sz="1800">
                <a:solidFill>
                  <a:srgbClr val="FF3300"/>
                </a:solidFill>
                <a:ea typeface="宋体" panose="02010600030101010101" pitchFamily="2" charset="-122"/>
              </a:rPr>
              <a:t>, </a:t>
            </a:r>
            <a:r>
              <a:rPr lang="en-US" altLang="zh-CN" sz="1800">
                <a:solidFill>
                  <a:schemeClr val="tx2"/>
                </a:solidFill>
                <a:ea typeface="宋体" panose="02010600030101010101" pitchFamily="2" charset="-122"/>
              </a:rPr>
              <a:t>NE</a:t>
            </a:r>
            <a:r>
              <a:rPr lang="en-US" altLang="zh-CN" sz="1800">
                <a:solidFill>
                  <a:srgbClr val="FF3300"/>
                </a:solidFill>
                <a:ea typeface="宋体" panose="02010600030101010101" pitchFamily="2" charset="-122"/>
              </a:rPr>
              <a:t>)</a:t>
            </a:r>
          </a:p>
        </p:txBody>
      </p:sp>
      <p:sp>
        <p:nvSpPr>
          <p:cNvPr id="400440" name="Text Box 56"/>
          <p:cNvSpPr txBox="1">
            <a:spLocks noChangeArrowheads="1"/>
          </p:cNvSpPr>
          <p:nvPr/>
        </p:nvSpPr>
        <p:spPr bwMode="auto">
          <a:xfrm>
            <a:off x="6164263" y="3048000"/>
            <a:ext cx="3076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return(</a:t>
            </a:r>
            <a:r>
              <a:rPr lang="en-US" altLang="zh-CN" sz="1800">
                <a:solidFill>
                  <a:schemeClr val="tx2"/>
                </a:solidFill>
                <a:ea typeface="宋体" panose="02010600030101010101" pitchFamily="2" charset="-122"/>
              </a:rPr>
              <a:t>relop</a:t>
            </a:r>
            <a:r>
              <a:rPr lang="en-US" altLang="zh-CN" sz="1800">
                <a:solidFill>
                  <a:srgbClr val="FF3300"/>
                </a:solidFill>
                <a:ea typeface="宋体" panose="02010600030101010101" pitchFamily="2" charset="-122"/>
              </a:rPr>
              <a:t>, </a:t>
            </a:r>
            <a:r>
              <a:rPr lang="en-US" altLang="zh-CN" sz="1800">
                <a:solidFill>
                  <a:schemeClr val="tx2"/>
                </a:solidFill>
                <a:ea typeface="宋体" panose="02010600030101010101" pitchFamily="2" charset="-122"/>
              </a:rPr>
              <a:t>LT</a:t>
            </a:r>
            <a:r>
              <a:rPr lang="en-US" altLang="zh-CN" sz="1800">
                <a:solidFill>
                  <a:srgbClr val="FF3300"/>
                </a:solidFill>
                <a:ea typeface="宋体" panose="02010600030101010101" pitchFamily="2" charset="-122"/>
              </a:rPr>
              <a:t>)</a:t>
            </a:r>
          </a:p>
        </p:txBody>
      </p:sp>
      <p:sp>
        <p:nvSpPr>
          <p:cNvPr id="400441" name="Text Box 57"/>
          <p:cNvSpPr txBox="1">
            <a:spLocks noChangeArrowheads="1"/>
          </p:cNvSpPr>
          <p:nvPr/>
        </p:nvSpPr>
        <p:spPr bwMode="auto">
          <a:xfrm>
            <a:off x="4581525" y="3690938"/>
            <a:ext cx="30765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return(</a:t>
            </a:r>
            <a:r>
              <a:rPr lang="en-US" altLang="zh-CN" sz="1800">
                <a:solidFill>
                  <a:schemeClr val="tx2"/>
                </a:solidFill>
                <a:ea typeface="宋体" panose="02010600030101010101" pitchFamily="2" charset="-122"/>
              </a:rPr>
              <a:t>relop</a:t>
            </a:r>
            <a:r>
              <a:rPr lang="en-US" altLang="zh-CN" sz="1800">
                <a:solidFill>
                  <a:srgbClr val="FF3300"/>
                </a:solidFill>
                <a:ea typeface="宋体" panose="02010600030101010101" pitchFamily="2" charset="-122"/>
              </a:rPr>
              <a:t>, </a:t>
            </a:r>
            <a:r>
              <a:rPr lang="en-US" altLang="zh-CN" sz="1800">
                <a:solidFill>
                  <a:schemeClr val="tx2"/>
                </a:solidFill>
                <a:ea typeface="宋体" panose="02010600030101010101" pitchFamily="2" charset="-122"/>
              </a:rPr>
              <a:t>EQ</a:t>
            </a:r>
            <a:r>
              <a:rPr lang="en-US" altLang="zh-CN" sz="1800">
                <a:solidFill>
                  <a:srgbClr val="FF3300"/>
                </a:solidFill>
                <a:ea typeface="宋体" panose="02010600030101010101" pitchFamily="2" charset="-122"/>
              </a:rPr>
              <a:t>)</a:t>
            </a:r>
          </a:p>
        </p:txBody>
      </p:sp>
      <p:sp>
        <p:nvSpPr>
          <p:cNvPr id="400442" name="Text Box 58"/>
          <p:cNvSpPr txBox="1">
            <a:spLocks noChangeArrowheads="1"/>
          </p:cNvSpPr>
          <p:nvPr/>
        </p:nvSpPr>
        <p:spPr bwMode="auto">
          <a:xfrm>
            <a:off x="6164263" y="4737100"/>
            <a:ext cx="3076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return(</a:t>
            </a:r>
            <a:r>
              <a:rPr lang="en-US" altLang="zh-CN" sz="1800">
                <a:solidFill>
                  <a:schemeClr val="tx2"/>
                </a:solidFill>
                <a:ea typeface="宋体" panose="02010600030101010101" pitchFamily="2" charset="-122"/>
              </a:rPr>
              <a:t>relop</a:t>
            </a:r>
            <a:r>
              <a:rPr lang="en-US" altLang="zh-CN" sz="1800">
                <a:solidFill>
                  <a:srgbClr val="FF3300"/>
                </a:solidFill>
                <a:ea typeface="宋体" panose="02010600030101010101" pitchFamily="2" charset="-122"/>
              </a:rPr>
              <a:t>, </a:t>
            </a:r>
            <a:r>
              <a:rPr lang="en-US" altLang="zh-CN" sz="1800">
                <a:solidFill>
                  <a:schemeClr val="tx2"/>
                </a:solidFill>
                <a:ea typeface="宋体" panose="02010600030101010101" pitchFamily="2" charset="-122"/>
              </a:rPr>
              <a:t>GE</a:t>
            </a:r>
            <a:r>
              <a:rPr lang="en-US" altLang="zh-CN" sz="1800">
                <a:solidFill>
                  <a:srgbClr val="FF3300"/>
                </a:solidFill>
                <a:ea typeface="宋体" panose="02010600030101010101" pitchFamily="2" charset="-122"/>
              </a:rPr>
              <a:t>)</a:t>
            </a:r>
          </a:p>
        </p:txBody>
      </p:sp>
      <p:sp>
        <p:nvSpPr>
          <p:cNvPr id="400443" name="Text Box 59"/>
          <p:cNvSpPr txBox="1">
            <a:spLocks noChangeArrowheads="1"/>
          </p:cNvSpPr>
          <p:nvPr/>
        </p:nvSpPr>
        <p:spPr bwMode="auto">
          <a:xfrm>
            <a:off x="6251575" y="5541963"/>
            <a:ext cx="30765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solidFill>
                  <a:srgbClr val="FF3300"/>
                </a:solidFill>
                <a:ea typeface="宋体" panose="02010600030101010101" pitchFamily="2" charset="-122"/>
              </a:rPr>
              <a:t>return(</a:t>
            </a:r>
            <a:r>
              <a:rPr lang="en-US" altLang="zh-CN" sz="1800">
                <a:solidFill>
                  <a:schemeClr val="tx2"/>
                </a:solidFill>
                <a:ea typeface="宋体" panose="02010600030101010101" pitchFamily="2" charset="-122"/>
              </a:rPr>
              <a:t>relop</a:t>
            </a:r>
            <a:r>
              <a:rPr lang="en-US" altLang="zh-CN" sz="1800">
                <a:solidFill>
                  <a:srgbClr val="FF3300"/>
                </a:solidFill>
                <a:ea typeface="宋体" panose="02010600030101010101" pitchFamily="2" charset="-122"/>
              </a:rPr>
              <a:t>, </a:t>
            </a:r>
            <a:r>
              <a:rPr lang="en-US" altLang="zh-CN" sz="1800">
                <a:solidFill>
                  <a:schemeClr val="tx2"/>
                </a:solidFill>
                <a:ea typeface="宋体" panose="02010600030101010101" pitchFamily="2" charset="-122"/>
              </a:rPr>
              <a:t>GT</a:t>
            </a:r>
            <a:r>
              <a:rPr lang="en-US" altLang="zh-CN" sz="1800">
                <a:solidFill>
                  <a:srgbClr val="FF3300"/>
                </a:solidFill>
                <a:ea typeface="宋体" panose="02010600030101010101" pitchFamily="2" charset="-122"/>
              </a:rPr>
              <a:t>)</a:t>
            </a:r>
          </a:p>
        </p:txBody>
      </p:sp>
      <p:sp>
        <p:nvSpPr>
          <p:cNvPr id="7214" name="Text Box 61"/>
          <p:cNvSpPr txBox="1">
            <a:spLocks noChangeArrowheads="1"/>
          </p:cNvSpPr>
          <p:nvPr/>
        </p:nvSpPr>
        <p:spPr bwMode="auto">
          <a:xfrm>
            <a:off x="1208088" y="6021388"/>
            <a:ext cx="6840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Fig.3.12 Transition diagram for relational operators.</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00392"/>
                                        </p:tgtEl>
                                        <p:attrNameLst>
                                          <p:attrName>style.visibility</p:attrName>
                                        </p:attrNameLst>
                                      </p:cBhvr>
                                      <p:to>
                                        <p:strVal val="visible"/>
                                      </p:to>
                                    </p:set>
                                    <p:anim calcmode="lin" valueType="num">
                                      <p:cBhvr additive="base">
                                        <p:cTn id="7" dur="1000" fill="hold"/>
                                        <p:tgtEl>
                                          <p:spTgt spid="400392"/>
                                        </p:tgtEl>
                                        <p:attrNameLst>
                                          <p:attrName>ppt_x</p:attrName>
                                        </p:attrNameLst>
                                      </p:cBhvr>
                                      <p:tavLst>
                                        <p:tav tm="0">
                                          <p:val>
                                            <p:strVal val="1+#ppt_w/2"/>
                                          </p:val>
                                        </p:tav>
                                        <p:tav tm="100000">
                                          <p:val>
                                            <p:strVal val="#ppt_x"/>
                                          </p:val>
                                        </p:tav>
                                      </p:tavLst>
                                    </p:anim>
                                    <p:anim calcmode="lin" valueType="num">
                                      <p:cBhvr additive="base">
                                        <p:cTn id="8" dur="1000" fill="hold"/>
                                        <p:tgtEl>
                                          <p:spTgt spid="40039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00408"/>
                                        </p:tgtEl>
                                        <p:attrNameLst>
                                          <p:attrName>style.visibility</p:attrName>
                                        </p:attrNameLst>
                                      </p:cBhvr>
                                      <p:to>
                                        <p:strVal val="visible"/>
                                      </p:to>
                                    </p:set>
                                    <p:anim calcmode="lin" valueType="num">
                                      <p:cBhvr additive="base">
                                        <p:cTn id="11" dur="1000" fill="hold"/>
                                        <p:tgtEl>
                                          <p:spTgt spid="400408"/>
                                        </p:tgtEl>
                                        <p:attrNameLst>
                                          <p:attrName>ppt_x</p:attrName>
                                        </p:attrNameLst>
                                      </p:cBhvr>
                                      <p:tavLst>
                                        <p:tav tm="0">
                                          <p:val>
                                            <p:strVal val="1+#ppt_w/2"/>
                                          </p:val>
                                        </p:tav>
                                        <p:tav tm="100000">
                                          <p:val>
                                            <p:strVal val="#ppt_x"/>
                                          </p:val>
                                        </p:tav>
                                      </p:tavLst>
                                    </p:anim>
                                    <p:anim calcmode="lin" valueType="num">
                                      <p:cBhvr additive="base">
                                        <p:cTn id="12" dur="1000" fill="hold"/>
                                        <p:tgtEl>
                                          <p:spTgt spid="40040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400413"/>
                                        </p:tgtEl>
                                        <p:attrNameLst>
                                          <p:attrName>style.visibility</p:attrName>
                                        </p:attrNameLst>
                                      </p:cBhvr>
                                      <p:to>
                                        <p:strVal val="visible"/>
                                      </p:to>
                                    </p:set>
                                    <p:anim calcmode="lin" valueType="num">
                                      <p:cBhvr additive="base">
                                        <p:cTn id="15" dur="1000" fill="hold"/>
                                        <p:tgtEl>
                                          <p:spTgt spid="400413"/>
                                        </p:tgtEl>
                                        <p:attrNameLst>
                                          <p:attrName>ppt_x</p:attrName>
                                        </p:attrNameLst>
                                      </p:cBhvr>
                                      <p:tavLst>
                                        <p:tav tm="0">
                                          <p:val>
                                            <p:strVal val="1+#ppt_w/2"/>
                                          </p:val>
                                        </p:tav>
                                        <p:tav tm="100000">
                                          <p:val>
                                            <p:strVal val="#ppt_x"/>
                                          </p:val>
                                        </p:tav>
                                      </p:tavLst>
                                    </p:anim>
                                    <p:anim calcmode="lin" valueType="num">
                                      <p:cBhvr additive="base">
                                        <p:cTn id="16" dur="1000" fill="hold"/>
                                        <p:tgtEl>
                                          <p:spTgt spid="40041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400417"/>
                                        </p:tgtEl>
                                        <p:attrNameLst>
                                          <p:attrName>style.visibility</p:attrName>
                                        </p:attrNameLst>
                                      </p:cBhvr>
                                      <p:to>
                                        <p:strVal val="visible"/>
                                      </p:to>
                                    </p:set>
                                    <p:anim calcmode="lin" valueType="num">
                                      <p:cBhvr additive="base">
                                        <p:cTn id="19" dur="1000" fill="hold"/>
                                        <p:tgtEl>
                                          <p:spTgt spid="400417"/>
                                        </p:tgtEl>
                                        <p:attrNameLst>
                                          <p:attrName>ppt_x</p:attrName>
                                        </p:attrNameLst>
                                      </p:cBhvr>
                                      <p:tavLst>
                                        <p:tav tm="0">
                                          <p:val>
                                            <p:strVal val="1+#ppt_w/2"/>
                                          </p:val>
                                        </p:tav>
                                        <p:tav tm="100000">
                                          <p:val>
                                            <p:strVal val="#ppt_x"/>
                                          </p:val>
                                        </p:tav>
                                      </p:tavLst>
                                    </p:anim>
                                    <p:anim calcmode="lin" valueType="num">
                                      <p:cBhvr additive="base">
                                        <p:cTn id="20" dur="1000" fill="hold"/>
                                        <p:tgtEl>
                                          <p:spTgt spid="400417"/>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400418"/>
                                        </p:tgtEl>
                                        <p:attrNameLst>
                                          <p:attrName>style.visibility</p:attrName>
                                        </p:attrNameLst>
                                      </p:cBhvr>
                                      <p:to>
                                        <p:strVal val="visible"/>
                                      </p:to>
                                    </p:set>
                                    <p:anim calcmode="lin" valueType="num">
                                      <p:cBhvr additive="base">
                                        <p:cTn id="23" dur="1000" fill="hold"/>
                                        <p:tgtEl>
                                          <p:spTgt spid="400418"/>
                                        </p:tgtEl>
                                        <p:attrNameLst>
                                          <p:attrName>ppt_x</p:attrName>
                                        </p:attrNameLst>
                                      </p:cBhvr>
                                      <p:tavLst>
                                        <p:tav tm="0">
                                          <p:val>
                                            <p:strVal val="1+#ppt_w/2"/>
                                          </p:val>
                                        </p:tav>
                                        <p:tav tm="100000">
                                          <p:val>
                                            <p:strVal val="#ppt_x"/>
                                          </p:val>
                                        </p:tav>
                                      </p:tavLst>
                                    </p:anim>
                                    <p:anim calcmode="lin" valueType="num">
                                      <p:cBhvr additive="base">
                                        <p:cTn id="24" dur="1000" fill="hold"/>
                                        <p:tgtEl>
                                          <p:spTgt spid="400418"/>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400419"/>
                                        </p:tgtEl>
                                        <p:attrNameLst>
                                          <p:attrName>style.visibility</p:attrName>
                                        </p:attrNameLst>
                                      </p:cBhvr>
                                      <p:to>
                                        <p:strVal val="visible"/>
                                      </p:to>
                                    </p:set>
                                    <p:anim calcmode="lin" valueType="num">
                                      <p:cBhvr additive="base">
                                        <p:cTn id="27" dur="1000" fill="hold"/>
                                        <p:tgtEl>
                                          <p:spTgt spid="400419"/>
                                        </p:tgtEl>
                                        <p:attrNameLst>
                                          <p:attrName>ppt_x</p:attrName>
                                        </p:attrNameLst>
                                      </p:cBhvr>
                                      <p:tavLst>
                                        <p:tav tm="0">
                                          <p:val>
                                            <p:strVal val="1+#ppt_w/2"/>
                                          </p:val>
                                        </p:tav>
                                        <p:tav tm="100000">
                                          <p:val>
                                            <p:strVal val="#ppt_x"/>
                                          </p:val>
                                        </p:tav>
                                      </p:tavLst>
                                    </p:anim>
                                    <p:anim calcmode="lin" valueType="num">
                                      <p:cBhvr additive="base">
                                        <p:cTn id="28" dur="1000" fill="hold"/>
                                        <p:tgtEl>
                                          <p:spTgt spid="400419"/>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400420"/>
                                        </p:tgtEl>
                                        <p:attrNameLst>
                                          <p:attrName>style.visibility</p:attrName>
                                        </p:attrNameLst>
                                      </p:cBhvr>
                                      <p:to>
                                        <p:strVal val="visible"/>
                                      </p:to>
                                    </p:set>
                                    <p:anim calcmode="lin" valueType="num">
                                      <p:cBhvr additive="base">
                                        <p:cTn id="31" dur="1000" fill="hold"/>
                                        <p:tgtEl>
                                          <p:spTgt spid="400420"/>
                                        </p:tgtEl>
                                        <p:attrNameLst>
                                          <p:attrName>ppt_x</p:attrName>
                                        </p:attrNameLst>
                                      </p:cBhvr>
                                      <p:tavLst>
                                        <p:tav tm="0">
                                          <p:val>
                                            <p:strVal val="1+#ppt_w/2"/>
                                          </p:val>
                                        </p:tav>
                                        <p:tav tm="100000">
                                          <p:val>
                                            <p:strVal val="#ppt_x"/>
                                          </p:val>
                                        </p:tav>
                                      </p:tavLst>
                                    </p:anim>
                                    <p:anim calcmode="lin" valueType="num">
                                      <p:cBhvr additive="base">
                                        <p:cTn id="32" dur="1000" fill="hold"/>
                                        <p:tgtEl>
                                          <p:spTgt spid="400420"/>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400421"/>
                                        </p:tgtEl>
                                        <p:attrNameLst>
                                          <p:attrName>style.visibility</p:attrName>
                                        </p:attrNameLst>
                                      </p:cBhvr>
                                      <p:to>
                                        <p:strVal val="visible"/>
                                      </p:to>
                                    </p:set>
                                    <p:anim calcmode="lin" valueType="num">
                                      <p:cBhvr additive="base">
                                        <p:cTn id="35" dur="1000" fill="hold"/>
                                        <p:tgtEl>
                                          <p:spTgt spid="400421"/>
                                        </p:tgtEl>
                                        <p:attrNameLst>
                                          <p:attrName>ppt_x</p:attrName>
                                        </p:attrNameLst>
                                      </p:cBhvr>
                                      <p:tavLst>
                                        <p:tav tm="0">
                                          <p:val>
                                            <p:strVal val="1+#ppt_w/2"/>
                                          </p:val>
                                        </p:tav>
                                        <p:tav tm="100000">
                                          <p:val>
                                            <p:strVal val="#ppt_x"/>
                                          </p:val>
                                        </p:tav>
                                      </p:tavLst>
                                    </p:anim>
                                    <p:anim calcmode="lin" valueType="num">
                                      <p:cBhvr additive="base">
                                        <p:cTn id="36" dur="1000" fill="hold"/>
                                        <p:tgtEl>
                                          <p:spTgt spid="400421"/>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400422"/>
                                        </p:tgtEl>
                                        <p:attrNameLst>
                                          <p:attrName>style.visibility</p:attrName>
                                        </p:attrNameLst>
                                      </p:cBhvr>
                                      <p:to>
                                        <p:strVal val="visible"/>
                                      </p:to>
                                    </p:set>
                                    <p:anim calcmode="lin" valueType="num">
                                      <p:cBhvr additive="base">
                                        <p:cTn id="39" dur="1000" fill="hold"/>
                                        <p:tgtEl>
                                          <p:spTgt spid="400422"/>
                                        </p:tgtEl>
                                        <p:attrNameLst>
                                          <p:attrName>ppt_x</p:attrName>
                                        </p:attrNameLst>
                                      </p:cBhvr>
                                      <p:tavLst>
                                        <p:tav tm="0">
                                          <p:val>
                                            <p:strVal val="1+#ppt_w/2"/>
                                          </p:val>
                                        </p:tav>
                                        <p:tav tm="100000">
                                          <p:val>
                                            <p:strVal val="#ppt_x"/>
                                          </p:val>
                                        </p:tav>
                                      </p:tavLst>
                                    </p:anim>
                                    <p:anim calcmode="lin" valueType="num">
                                      <p:cBhvr additive="base">
                                        <p:cTn id="40" dur="1000" fill="hold"/>
                                        <p:tgtEl>
                                          <p:spTgt spid="400422"/>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0"/>
                                  </p:stCondLst>
                                  <p:childTnLst>
                                    <p:set>
                                      <p:cBhvr>
                                        <p:cTn id="42" dur="1" fill="hold">
                                          <p:stCondLst>
                                            <p:cond delay="0"/>
                                          </p:stCondLst>
                                        </p:cTn>
                                        <p:tgtEl>
                                          <p:spTgt spid="400423"/>
                                        </p:tgtEl>
                                        <p:attrNameLst>
                                          <p:attrName>style.visibility</p:attrName>
                                        </p:attrNameLst>
                                      </p:cBhvr>
                                      <p:to>
                                        <p:strVal val="visible"/>
                                      </p:to>
                                    </p:set>
                                    <p:anim calcmode="lin" valueType="num">
                                      <p:cBhvr additive="base">
                                        <p:cTn id="43" dur="1000" fill="hold"/>
                                        <p:tgtEl>
                                          <p:spTgt spid="400423"/>
                                        </p:tgtEl>
                                        <p:attrNameLst>
                                          <p:attrName>ppt_x</p:attrName>
                                        </p:attrNameLst>
                                      </p:cBhvr>
                                      <p:tavLst>
                                        <p:tav tm="0">
                                          <p:val>
                                            <p:strVal val="1+#ppt_w/2"/>
                                          </p:val>
                                        </p:tav>
                                        <p:tav tm="100000">
                                          <p:val>
                                            <p:strVal val="#ppt_x"/>
                                          </p:val>
                                        </p:tav>
                                      </p:tavLst>
                                    </p:anim>
                                    <p:anim calcmode="lin" valueType="num">
                                      <p:cBhvr additive="base">
                                        <p:cTn id="44" dur="1000" fill="hold"/>
                                        <p:tgtEl>
                                          <p:spTgt spid="400423"/>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400426"/>
                                        </p:tgtEl>
                                        <p:attrNameLst>
                                          <p:attrName>style.visibility</p:attrName>
                                        </p:attrNameLst>
                                      </p:cBhvr>
                                      <p:to>
                                        <p:strVal val="visible"/>
                                      </p:to>
                                    </p:set>
                                    <p:anim calcmode="lin" valueType="num">
                                      <p:cBhvr additive="base">
                                        <p:cTn id="47" dur="1000" fill="hold"/>
                                        <p:tgtEl>
                                          <p:spTgt spid="400426"/>
                                        </p:tgtEl>
                                        <p:attrNameLst>
                                          <p:attrName>ppt_x</p:attrName>
                                        </p:attrNameLst>
                                      </p:cBhvr>
                                      <p:tavLst>
                                        <p:tav tm="0">
                                          <p:val>
                                            <p:strVal val="1+#ppt_w/2"/>
                                          </p:val>
                                        </p:tav>
                                        <p:tav tm="100000">
                                          <p:val>
                                            <p:strVal val="#ppt_x"/>
                                          </p:val>
                                        </p:tav>
                                      </p:tavLst>
                                    </p:anim>
                                    <p:anim calcmode="lin" valueType="num">
                                      <p:cBhvr additive="base">
                                        <p:cTn id="48" dur="1000" fill="hold"/>
                                        <p:tgtEl>
                                          <p:spTgt spid="400426"/>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400430"/>
                                        </p:tgtEl>
                                        <p:attrNameLst>
                                          <p:attrName>style.visibility</p:attrName>
                                        </p:attrNameLst>
                                      </p:cBhvr>
                                      <p:to>
                                        <p:strVal val="visible"/>
                                      </p:to>
                                    </p:set>
                                    <p:anim calcmode="lin" valueType="num">
                                      <p:cBhvr additive="base">
                                        <p:cTn id="51" dur="1000" fill="hold"/>
                                        <p:tgtEl>
                                          <p:spTgt spid="400430"/>
                                        </p:tgtEl>
                                        <p:attrNameLst>
                                          <p:attrName>ppt_x</p:attrName>
                                        </p:attrNameLst>
                                      </p:cBhvr>
                                      <p:tavLst>
                                        <p:tav tm="0">
                                          <p:val>
                                            <p:strVal val="1+#ppt_w/2"/>
                                          </p:val>
                                        </p:tav>
                                        <p:tav tm="100000">
                                          <p:val>
                                            <p:strVal val="#ppt_x"/>
                                          </p:val>
                                        </p:tav>
                                      </p:tavLst>
                                    </p:anim>
                                    <p:anim calcmode="lin" valueType="num">
                                      <p:cBhvr additive="base">
                                        <p:cTn id="52" dur="1000" fill="hold"/>
                                        <p:tgtEl>
                                          <p:spTgt spid="400430"/>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400431"/>
                                        </p:tgtEl>
                                        <p:attrNameLst>
                                          <p:attrName>style.visibility</p:attrName>
                                        </p:attrNameLst>
                                      </p:cBhvr>
                                      <p:to>
                                        <p:strVal val="visible"/>
                                      </p:to>
                                    </p:set>
                                    <p:anim calcmode="lin" valueType="num">
                                      <p:cBhvr additive="base">
                                        <p:cTn id="55" dur="1000" fill="hold"/>
                                        <p:tgtEl>
                                          <p:spTgt spid="400431"/>
                                        </p:tgtEl>
                                        <p:attrNameLst>
                                          <p:attrName>ppt_x</p:attrName>
                                        </p:attrNameLst>
                                      </p:cBhvr>
                                      <p:tavLst>
                                        <p:tav tm="0">
                                          <p:val>
                                            <p:strVal val="1+#ppt_w/2"/>
                                          </p:val>
                                        </p:tav>
                                        <p:tav tm="100000">
                                          <p:val>
                                            <p:strVal val="#ppt_x"/>
                                          </p:val>
                                        </p:tav>
                                      </p:tavLst>
                                    </p:anim>
                                    <p:anim calcmode="lin" valueType="num">
                                      <p:cBhvr additive="base">
                                        <p:cTn id="56" dur="1000" fill="hold"/>
                                        <p:tgtEl>
                                          <p:spTgt spid="400431"/>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400434"/>
                                        </p:tgtEl>
                                        <p:attrNameLst>
                                          <p:attrName>style.visibility</p:attrName>
                                        </p:attrNameLst>
                                      </p:cBhvr>
                                      <p:to>
                                        <p:strVal val="visible"/>
                                      </p:to>
                                    </p:set>
                                    <p:anim calcmode="lin" valueType="num">
                                      <p:cBhvr additive="base">
                                        <p:cTn id="59" dur="1000" fill="hold"/>
                                        <p:tgtEl>
                                          <p:spTgt spid="400434"/>
                                        </p:tgtEl>
                                        <p:attrNameLst>
                                          <p:attrName>ppt_x</p:attrName>
                                        </p:attrNameLst>
                                      </p:cBhvr>
                                      <p:tavLst>
                                        <p:tav tm="0">
                                          <p:val>
                                            <p:strVal val="1+#ppt_w/2"/>
                                          </p:val>
                                        </p:tav>
                                        <p:tav tm="100000">
                                          <p:val>
                                            <p:strVal val="#ppt_x"/>
                                          </p:val>
                                        </p:tav>
                                      </p:tavLst>
                                    </p:anim>
                                    <p:anim calcmode="lin" valueType="num">
                                      <p:cBhvr additive="base">
                                        <p:cTn id="60" dur="1000" fill="hold"/>
                                        <p:tgtEl>
                                          <p:spTgt spid="400434"/>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400438"/>
                                        </p:tgtEl>
                                        <p:attrNameLst>
                                          <p:attrName>style.visibility</p:attrName>
                                        </p:attrNameLst>
                                      </p:cBhvr>
                                      <p:to>
                                        <p:strVal val="visible"/>
                                      </p:to>
                                    </p:set>
                                    <p:anim calcmode="lin" valueType="num">
                                      <p:cBhvr additive="base">
                                        <p:cTn id="63" dur="1000" fill="hold"/>
                                        <p:tgtEl>
                                          <p:spTgt spid="400438"/>
                                        </p:tgtEl>
                                        <p:attrNameLst>
                                          <p:attrName>ppt_x</p:attrName>
                                        </p:attrNameLst>
                                      </p:cBhvr>
                                      <p:tavLst>
                                        <p:tav tm="0">
                                          <p:val>
                                            <p:strVal val="1+#ppt_w/2"/>
                                          </p:val>
                                        </p:tav>
                                        <p:tav tm="100000">
                                          <p:val>
                                            <p:strVal val="#ppt_x"/>
                                          </p:val>
                                        </p:tav>
                                      </p:tavLst>
                                    </p:anim>
                                    <p:anim calcmode="lin" valueType="num">
                                      <p:cBhvr additive="base">
                                        <p:cTn id="64" dur="1000" fill="hold"/>
                                        <p:tgtEl>
                                          <p:spTgt spid="400438"/>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400439"/>
                                        </p:tgtEl>
                                        <p:attrNameLst>
                                          <p:attrName>style.visibility</p:attrName>
                                        </p:attrNameLst>
                                      </p:cBhvr>
                                      <p:to>
                                        <p:strVal val="visible"/>
                                      </p:to>
                                    </p:set>
                                    <p:anim calcmode="lin" valueType="num">
                                      <p:cBhvr additive="base">
                                        <p:cTn id="67" dur="1000" fill="hold"/>
                                        <p:tgtEl>
                                          <p:spTgt spid="400439"/>
                                        </p:tgtEl>
                                        <p:attrNameLst>
                                          <p:attrName>ppt_x</p:attrName>
                                        </p:attrNameLst>
                                      </p:cBhvr>
                                      <p:tavLst>
                                        <p:tav tm="0">
                                          <p:val>
                                            <p:strVal val="1+#ppt_w/2"/>
                                          </p:val>
                                        </p:tav>
                                        <p:tav tm="100000">
                                          <p:val>
                                            <p:strVal val="#ppt_x"/>
                                          </p:val>
                                        </p:tav>
                                      </p:tavLst>
                                    </p:anim>
                                    <p:anim calcmode="lin" valueType="num">
                                      <p:cBhvr additive="base">
                                        <p:cTn id="68" dur="1000" fill="hold"/>
                                        <p:tgtEl>
                                          <p:spTgt spid="400439"/>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400440"/>
                                        </p:tgtEl>
                                        <p:attrNameLst>
                                          <p:attrName>style.visibility</p:attrName>
                                        </p:attrNameLst>
                                      </p:cBhvr>
                                      <p:to>
                                        <p:strVal val="visible"/>
                                      </p:to>
                                    </p:set>
                                    <p:anim calcmode="lin" valueType="num">
                                      <p:cBhvr additive="base">
                                        <p:cTn id="71" dur="1000" fill="hold"/>
                                        <p:tgtEl>
                                          <p:spTgt spid="400440"/>
                                        </p:tgtEl>
                                        <p:attrNameLst>
                                          <p:attrName>ppt_x</p:attrName>
                                        </p:attrNameLst>
                                      </p:cBhvr>
                                      <p:tavLst>
                                        <p:tav tm="0">
                                          <p:val>
                                            <p:strVal val="1+#ppt_w/2"/>
                                          </p:val>
                                        </p:tav>
                                        <p:tav tm="100000">
                                          <p:val>
                                            <p:strVal val="#ppt_x"/>
                                          </p:val>
                                        </p:tav>
                                      </p:tavLst>
                                    </p:anim>
                                    <p:anim calcmode="lin" valueType="num">
                                      <p:cBhvr additive="base">
                                        <p:cTn id="72" dur="1000" fill="hold"/>
                                        <p:tgtEl>
                                          <p:spTgt spid="400440"/>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8" fill="hold" nodeType="clickEffect">
                                  <p:stCondLst>
                                    <p:cond delay="0"/>
                                  </p:stCondLst>
                                  <p:childTnLst>
                                    <p:set>
                                      <p:cBhvr>
                                        <p:cTn id="76" dur="1" fill="hold">
                                          <p:stCondLst>
                                            <p:cond delay="0"/>
                                          </p:stCondLst>
                                        </p:cTn>
                                        <p:tgtEl>
                                          <p:spTgt spid="400409"/>
                                        </p:tgtEl>
                                        <p:attrNameLst>
                                          <p:attrName>style.visibility</p:attrName>
                                        </p:attrNameLst>
                                      </p:cBhvr>
                                      <p:to>
                                        <p:strVal val="visible"/>
                                      </p:to>
                                    </p:set>
                                    <p:anim calcmode="lin" valueType="num">
                                      <p:cBhvr additive="base">
                                        <p:cTn id="77" dur="1000" fill="hold"/>
                                        <p:tgtEl>
                                          <p:spTgt spid="400409"/>
                                        </p:tgtEl>
                                        <p:attrNameLst>
                                          <p:attrName>ppt_x</p:attrName>
                                        </p:attrNameLst>
                                      </p:cBhvr>
                                      <p:tavLst>
                                        <p:tav tm="0">
                                          <p:val>
                                            <p:strVal val="0-#ppt_w/2"/>
                                          </p:val>
                                        </p:tav>
                                        <p:tav tm="100000">
                                          <p:val>
                                            <p:strVal val="#ppt_x"/>
                                          </p:val>
                                        </p:tav>
                                      </p:tavLst>
                                    </p:anim>
                                    <p:anim calcmode="lin" valueType="num">
                                      <p:cBhvr additive="base">
                                        <p:cTn id="78" dur="1000" fill="hold"/>
                                        <p:tgtEl>
                                          <p:spTgt spid="400409"/>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stCondLst>
                                    <p:cond delay="0"/>
                                  </p:stCondLst>
                                  <p:childTnLst>
                                    <p:set>
                                      <p:cBhvr>
                                        <p:cTn id="80" dur="1" fill="hold">
                                          <p:stCondLst>
                                            <p:cond delay="0"/>
                                          </p:stCondLst>
                                        </p:cTn>
                                        <p:tgtEl>
                                          <p:spTgt spid="400441"/>
                                        </p:tgtEl>
                                        <p:attrNameLst>
                                          <p:attrName>style.visibility</p:attrName>
                                        </p:attrNameLst>
                                      </p:cBhvr>
                                      <p:to>
                                        <p:strVal val="visible"/>
                                      </p:to>
                                    </p:set>
                                    <p:anim calcmode="lin" valueType="num">
                                      <p:cBhvr additive="base">
                                        <p:cTn id="81" dur="1000" fill="hold"/>
                                        <p:tgtEl>
                                          <p:spTgt spid="400441"/>
                                        </p:tgtEl>
                                        <p:attrNameLst>
                                          <p:attrName>ppt_x</p:attrName>
                                        </p:attrNameLst>
                                      </p:cBhvr>
                                      <p:tavLst>
                                        <p:tav tm="0">
                                          <p:val>
                                            <p:strVal val="0-#ppt_w/2"/>
                                          </p:val>
                                        </p:tav>
                                        <p:tav tm="100000">
                                          <p:val>
                                            <p:strVal val="#ppt_x"/>
                                          </p:val>
                                        </p:tav>
                                      </p:tavLst>
                                    </p:anim>
                                    <p:anim calcmode="lin" valueType="num">
                                      <p:cBhvr additive="base">
                                        <p:cTn id="82" dur="1000" fill="hold"/>
                                        <p:tgtEl>
                                          <p:spTgt spid="400441"/>
                                        </p:tgtEl>
                                        <p:attrNameLst>
                                          <p:attrName>ppt_y</p:attrName>
                                        </p:attrNameLst>
                                      </p:cBhvr>
                                      <p:tavLst>
                                        <p:tav tm="0">
                                          <p:val>
                                            <p:strVal val="#ppt_y"/>
                                          </p:val>
                                        </p:tav>
                                        <p:tav tm="100000">
                                          <p:val>
                                            <p:strVal val="#ppt_y"/>
                                          </p:val>
                                        </p:tav>
                                      </p:tavLst>
                                    </p:anim>
                                  </p:childTnLst>
                                </p:cTn>
                              </p:par>
                              <p:par>
                                <p:cTn id="83" presetID="2" presetClass="entr" presetSubtype="8" fill="hold" nodeType="withEffect">
                                  <p:stCondLst>
                                    <p:cond delay="0"/>
                                  </p:stCondLst>
                                  <p:childTnLst>
                                    <p:set>
                                      <p:cBhvr>
                                        <p:cTn id="84" dur="1" fill="hold">
                                          <p:stCondLst>
                                            <p:cond delay="0"/>
                                          </p:stCondLst>
                                        </p:cTn>
                                        <p:tgtEl>
                                          <p:spTgt spid="400432"/>
                                        </p:tgtEl>
                                        <p:attrNameLst>
                                          <p:attrName>style.visibility</p:attrName>
                                        </p:attrNameLst>
                                      </p:cBhvr>
                                      <p:to>
                                        <p:strVal val="visible"/>
                                      </p:to>
                                    </p:set>
                                    <p:anim calcmode="lin" valueType="num">
                                      <p:cBhvr additive="base">
                                        <p:cTn id="85" dur="1000" fill="hold"/>
                                        <p:tgtEl>
                                          <p:spTgt spid="400432"/>
                                        </p:tgtEl>
                                        <p:attrNameLst>
                                          <p:attrName>ppt_x</p:attrName>
                                        </p:attrNameLst>
                                      </p:cBhvr>
                                      <p:tavLst>
                                        <p:tav tm="0">
                                          <p:val>
                                            <p:strVal val="0-#ppt_w/2"/>
                                          </p:val>
                                        </p:tav>
                                        <p:tav tm="100000">
                                          <p:val>
                                            <p:strVal val="#ppt_x"/>
                                          </p:val>
                                        </p:tav>
                                      </p:tavLst>
                                    </p:anim>
                                    <p:anim calcmode="lin" valueType="num">
                                      <p:cBhvr additive="base">
                                        <p:cTn id="86" dur="1000" fill="hold"/>
                                        <p:tgtEl>
                                          <p:spTgt spid="400432"/>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0"/>
                                  </p:stCondLst>
                                  <p:childTnLst>
                                    <p:set>
                                      <p:cBhvr>
                                        <p:cTn id="88" dur="1" fill="hold">
                                          <p:stCondLst>
                                            <p:cond delay="0"/>
                                          </p:stCondLst>
                                        </p:cTn>
                                        <p:tgtEl>
                                          <p:spTgt spid="400436"/>
                                        </p:tgtEl>
                                        <p:attrNameLst>
                                          <p:attrName>style.visibility</p:attrName>
                                        </p:attrNameLst>
                                      </p:cBhvr>
                                      <p:to>
                                        <p:strVal val="visible"/>
                                      </p:to>
                                    </p:set>
                                    <p:anim calcmode="lin" valueType="num">
                                      <p:cBhvr additive="base">
                                        <p:cTn id="89" dur="1000" fill="hold"/>
                                        <p:tgtEl>
                                          <p:spTgt spid="400436"/>
                                        </p:tgtEl>
                                        <p:attrNameLst>
                                          <p:attrName>ppt_x</p:attrName>
                                        </p:attrNameLst>
                                      </p:cBhvr>
                                      <p:tavLst>
                                        <p:tav tm="0">
                                          <p:val>
                                            <p:strVal val="0-#ppt_w/2"/>
                                          </p:val>
                                        </p:tav>
                                        <p:tav tm="100000">
                                          <p:val>
                                            <p:strVal val="#ppt_x"/>
                                          </p:val>
                                        </p:tav>
                                      </p:tavLst>
                                    </p:anim>
                                    <p:anim calcmode="lin" valueType="num">
                                      <p:cBhvr additive="base">
                                        <p:cTn id="90" dur="1000" fill="hold"/>
                                        <p:tgtEl>
                                          <p:spTgt spid="400436"/>
                                        </p:tgtEl>
                                        <p:attrNameLst>
                                          <p:attrName>ppt_y</p:attrName>
                                        </p:attrNameLst>
                                      </p:cBhvr>
                                      <p:tavLst>
                                        <p:tav tm="0">
                                          <p:val>
                                            <p:strVal val="#ppt_y"/>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400394"/>
                                        </p:tgtEl>
                                        <p:attrNameLst>
                                          <p:attrName>style.visibility</p:attrName>
                                        </p:attrNameLst>
                                      </p:cBhvr>
                                      <p:to>
                                        <p:strVal val="visible"/>
                                      </p:to>
                                    </p:set>
                                    <p:anim calcmode="lin" valueType="num">
                                      <p:cBhvr additive="base">
                                        <p:cTn id="95" dur="1000" fill="hold"/>
                                        <p:tgtEl>
                                          <p:spTgt spid="400394"/>
                                        </p:tgtEl>
                                        <p:attrNameLst>
                                          <p:attrName>ppt_x</p:attrName>
                                        </p:attrNameLst>
                                      </p:cBhvr>
                                      <p:tavLst>
                                        <p:tav tm="0">
                                          <p:val>
                                            <p:strVal val="#ppt_x"/>
                                          </p:val>
                                        </p:tav>
                                        <p:tav tm="100000">
                                          <p:val>
                                            <p:strVal val="#ppt_x"/>
                                          </p:val>
                                        </p:tav>
                                      </p:tavLst>
                                    </p:anim>
                                    <p:anim calcmode="lin" valueType="num">
                                      <p:cBhvr additive="base">
                                        <p:cTn id="96" dur="1000" fill="hold"/>
                                        <p:tgtEl>
                                          <p:spTgt spid="400394"/>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400395"/>
                                        </p:tgtEl>
                                        <p:attrNameLst>
                                          <p:attrName>style.visibility</p:attrName>
                                        </p:attrNameLst>
                                      </p:cBhvr>
                                      <p:to>
                                        <p:strVal val="visible"/>
                                      </p:to>
                                    </p:set>
                                    <p:anim calcmode="lin" valueType="num">
                                      <p:cBhvr additive="base">
                                        <p:cTn id="99" dur="1000" fill="hold"/>
                                        <p:tgtEl>
                                          <p:spTgt spid="400395"/>
                                        </p:tgtEl>
                                        <p:attrNameLst>
                                          <p:attrName>ppt_x</p:attrName>
                                        </p:attrNameLst>
                                      </p:cBhvr>
                                      <p:tavLst>
                                        <p:tav tm="0">
                                          <p:val>
                                            <p:strVal val="#ppt_x"/>
                                          </p:val>
                                        </p:tav>
                                        <p:tav tm="100000">
                                          <p:val>
                                            <p:strVal val="#ppt_x"/>
                                          </p:val>
                                        </p:tav>
                                      </p:tavLst>
                                    </p:anim>
                                    <p:anim calcmode="lin" valueType="num">
                                      <p:cBhvr additive="base">
                                        <p:cTn id="100" dur="1000" fill="hold"/>
                                        <p:tgtEl>
                                          <p:spTgt spid="400395"/>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400396"/>
                                        </p:tgtEl>
                                        <p:attrNameLst>
                                          <p:attrName>style.visibility</p:attrName>
                                        </p:attrNameLst>
                                      </p:cBhvr>
                                      <p:to>
                                        <p:strVal val="visible"/>
                                      </p:to>
                                    </p:set>
                                    <p:anim calcmode="lin" valueType="num">
                                      <p:cBhvr additive="base">
                                        <p:cTn id="103" dur="1000" fill="hold"/>
                                        <p:tgtEl>
                                          <p:spTgt spid="400396"/>
                                        </p:tgtEl>
                                        <p:attrNameLst>
                                          <p:attrName>ppt_x</p:attrName>
                                        </p:attrNameLst>
                                      </p:cBhvr>
                                      <p:tavLst>
                                        <p:tav tm="0">
                                          <p:val>
                                            <p:strVal val="#ppt_x"/>
                                          </p:val>
                                        </p:tav>
                                        <p:tav tm="100000">
                                          <p:val>
                                            <p:strVal val="#ppt_x"/>
                                          </p:val>
                                        </p:tav>
                                      </p:tavLst>
                                    </p:anim>
                                    <p:anim calcmode="lin" valueType="num">
                                      <p:cBhvr additive="base">
                                        <p:cTn id="104" dur="1000" fill="hold"/>
                                        <p:tgtEl>
                                          <p:spTgt spid="400396"/>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400397"/>
                                        </p:tgtEl>
                                        <p:attrNameLst>
                                          <p:attrName>style.visibility</p:attrName>
                                        </p:attrNameLst>
                                      </p:cBhvr>
                                      <p:to>
                                        <p:strVal val="visible"/>
                                      </p:to>
                                    </p:set>
                                    <p:anim calcmode="lin" valueType="num">
                                      <p:cBhvr additive="base">
                                        <p:cTn id="107" dur="1000" fill="hold"/>
                                        <p:tgtEl>
                                          <p:spTgt spid="400397"/>
                                        </p:tgtEl>
                                        <p:attrNameLst>
                                          <p:attrName>ppt_x</p:attrName>
                                        </p:attrNameLst>
                                      </p:cBhvr>
                                      <p:tavLst>
                                        <p:tav tm="0">
                                          <p:val>
                                            <p:strVal val="#ppt_x"/>
                                          </p:val>
                                        </p:tav>
                                        <p:tav tm="100000">
                                          <p:val>
                                            <p:strVal val="#ppt_x"/>
                                          </p:val>
                                        </p:tav>
                                      </p:tavLst>
                                    </p:anim>
                                    <p:anim calcmode="lin" valueType="num">
                                      <p:cBhvr additive="base">
                                        <p:cTn id="108" dur="1000" fill="hold"/>
                                        <p:tgtEl>
                                          <p:spTgt spid="400397"/>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400398"/>
                                        </p:tgtEl>
                                        <p:attrNameLst>
                                          <p:attrName>style.visibility</p:attrName>
                                        </p:attrNameLst>
                                      </p:cBhvr>
                                      <p:to>
                                        <p:strVal val="visible"/>
                                      </p:to>
                                    </p:set>
                                    <p:anim calcmode="lin" valueType="num">
                                      <p:cBhvr additive="base">
                                        <p:cTn id="111" dur="1000" fill="hold"/>
                                        <p:tgtEl>
                                          <p:spTgt spid="400398"/>
                                        </p:tgtEl>
                                        <p:attrNameLst>
                                          <p:attrName>ppt_x</p:attrName>
                                        </p:attrNameLst>
                                      </p:cBhvr>
                                      <p:tavLst>
                                        <p:tav tm="0">
                                          <p:val>
                                            <p:strVal val="#ppt_x"/>
                                          </p:val>
                                        </p:tav>
                                        <p:tav tm="100000">
                                          <p:val>
                                            <p:strVal val="#ppt_x"/>
                                          </p:val>
                                        </p:tav>
                                      </p:tavLst>
                                    </p:anim>
                                    <p:anim calcmode="lin" valueType="num">
                                      <p:cBhvr additive="base">
                                        <p:cTn id="112" dur="1000" fill="hold"/>
                                        <p:tgtEl>
                                          <p:spTgt spid="400398"/>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400399"/>
                                        </p:tgtEl>
                                        <p:attrNameLst>
                                          <p:attrName>style.visibility</p:attrName>
                                        </p:attrNameLst>
                                      </p:cBhvr>
                                      <p:to>
                                        <p:strVal val="visible"/>
                                      </p:to>
                                    </p:set>
                                    <p:anim calcmode="lin" valueType="num">
                                      <p:cBhvr additive="base">
                                        <p:cTn id="115" dur="1000" fill="hold"/>
                                        <p:tgtEl>
                                          <p:spTgt spid="400399"/>
                                        </p:tgtEl>
                                        <p:attrNameLst>
                                          <p:attrName>ppt_x</p:attrName>
                                        </p:attrNameLst>
                                      </p:cBhvr>
                                      <p:tavLst>
                                        <p:tav tm="0">
                                          <p:val>
                                            <p:strVal val="#ppt_x"/>
                                          </p:val>
                                        </p:tav>
                                        <p:tav tm="100000">
                                          <p:val>
                                            <p:strVal val="#ppt_x"/>
                                          </p:val>
                                        </p:tav>
                                      </p:tavLst>
                                    </p:anim>
                                    <p:anim calcmode="lin" valueType="num">
                                      <p:cBhvr additive="base">
                                        <p:cTn id="116" dur="1000" fill="hold"/>
                                        <p:tgtEl>
                                          <p:spTgt spid="400399"/>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400400"/>
                                        </p:tgtEl>
                                        <p:attrNameLst>
                                          <p:attrName>style.visibility</p:attrName>
                                        </p:attrNameLst>
                                      </p:cBhvr>
                                      <p:to>
                                        <p:strVal val="visible"/>
                                      </p:to>
                                    </p:set>
                                    <p:anim calcmode="lin" valueType="num">
                                      <p:cBhvr additive="base">
                                        <p:cTn id="119" dur="1000" fill="hold"/>
                                        <p:tgtEl>
                                          <p:spTgt spid="400400"/>
                                        </p:tgtEl>
                                        <p:attrNameLst>
                                          <p:attrName>ppt_x</p:attrName>
                                        </p:attrNameLst>
                                      </p:cBhvr>
                                      <p:tavLst>
                                        <p:tav tm="0">
                                          <p:val>
                                            <p:strVal val="#ppt_x"/>
                                          </p:val>
                                        </p:tav>
                                        <p:tav tm="100000">
                                          <p:val>
                                            <p:strVal val="#ppt_x"/>
                                          </p:val>
                                        </p:tav>
                                      </p:tavLst>
                                    </p:anim>
                                    <p:anim calcmode="lin" valueType="num">
                                      <p:cBhvr additive="base">
                                        <p:cTn id="120" dur="1000" fill="hold"/>
                                        <p:tgtEl>
                                          <p:spTgt spid="400400"/>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400403"/>
                                        </p:tgtEl>
                                        <p:attrNameLst>
                                          <p:attrName>style.visibility</p:attrName>
                                        </p:attrNameLst>
                                      </p:cBhvr>
                                      <p:to>
                                        <p:strVal val="visible"/>
                                      </p:to>
                                    </p:set>
                                    <p:anim calcmode="lin" valueType="num">
                                      <p:cBhvr additive="base">
                                        <p:cTn id="123" dur="1000" fill="hold"/>
                                        <p:tgtEl>
                                          <p:spTgt spid="400403"/>
                                        </p:tgtEl>
                                        <p:attrNameLst>
                                          <p:attrName>ppt_x</p:attrName>
                                        </p:attrNameLst>
                                      </p:cBhvr>
                                      <p:tavLst>
                                        <p:tav tm="0">
                                          <p:val>
                                            <p:strVal val="#ppt_x"/>
                                          </p:val>
                                        </p:tav>
                                        <p:tav tm="100000">
                                          <p:val>
                                            <p:strVal val="#ppt_x"/>
                                          </p:val>
                                        </p:tav>
                                      </p:tavLst>
                                    </p:anim>
                                    <p:anim calcmode="lin" valueType="num">
                                      <p:cBhvr additive="base">
                                        <p:cTn id="124" dur="1000" fill="hold"/>
                                        <p:tgtEl>
                                          <p:spTgt spid="400403"/>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400407"/>
                                        </p:tgtEl>
                                        <p:attrNameLst>
                                          <p:attrName>style.visibility</p:attrName>
                                        </p:attrNameLst>
                                      </p:cBhvr>
                                      <p:to>
                                        <p:strVal val="visible"/>
                                      </p:to>
                                    </p:set>
                                    <p:anim calcmode="lin" valueType="num">
                                      <p:cBhvr additive="base">
                                        <p:cTn id="127" dur="1000" fill="hold"/>
                                        <p:tgtEl>
                                          <p:spTgt spid="400407"/>
                                        </p:tgtEl>
                                        <p:attrNameLst>
                                          <p:attrName>ppt_x</p:attrName>
                                        </p:attrNameLst>
                                      </p:cBhvr>
                                      <p:tavLst>
                                        <p:tav tm="0">
                                          <p:val>
                                            <p:strVal val="#ppt_x"/>
                                          </p:val>
                                        </p:tav>
                                        <p:tav tm="100000">
                                          <p:val>
                                            <p:strVal val="#ppt_x"/>
                                          </p:val>
                                        </p:tav>
                                      </p:tavLst>
                                    </p:anim>
                                    <p:anim calcmode="lin" valueType="num">
                                      <p:cBhvr additive="base">
                                        <p:cTn id="128" dur="1000" fill="hold"/>
                                        <p:tgtEl>
                                          <p:spTgt spid="400407"/>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400435"/>
                                        </p:tgtEl>
                                        <p:attrNameLst>
                                          <p:attrName>style.visibility</p:attrName>
                                        </p:attrNameLst>
                                      </p:cBhvr>
                                      <p:to>
                                        <p:strVal val="visible"/>
                                      </p:to>
                                    </p:set>
                                    <p:anim calcmode="lin" valueType="num">
                                      <p:cBhvr additive="base">
                                        <p:cTn id="131" dur="1000" fill="hold"/>
                                        <p:tgtEl>
                                          <p:spTgt spid="400435"/>
                                        </p:tgtEl>
                                        <p:attrNameLst>
                                          <p:attrName>ppt_x</p:attrName>
                                        </p:attrNameLst>
                                      </p:cBhvr>
                                      <p:tavLst>
                                        <p:tav tm="0">
                                          <p:val>
                                            <p:strVal val="#ppt_x"/>
                                          </p:val>
                                        </p:tav>
                                        <p:tav tm="100000">
                                          <p:val>
                                            <p:strVal val="#ppt_x"/>
                                          </p:val>
                                        </p:tav>
                                      </p:tavLst>
                                    </p:anim>
                                    <p:anim calcmode="lin" valueType="num">
                                      <p:cBhvr additive="base">
                                        <p:cTn id="132" dur="1000" fill="hold"/>
                                        <p:tgtEl>
                                          <p:spTgt spid="400435"/>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400437"/>
                                        </p:tgtEl>
                                        <p:attrNameLst>
                                          <p:attrName>style.visibility</p:attrName>
                                        </p:attrNameLst>
                                      </p:cBhvr>
                                      <p:to>
                                        <p:strVal val="visible"/>
                                      </p:to>
                                    </p:set>
                                    <p:anim calcmode="lin" valueType="num">
                                      <p:cBhvr additive="base">
                                        <p:cTn id="135" dur="1000" fill="hold"/>
                                        <p:tgtEl>
                                          <p:spTgt spid="400437"/>
                                        </p:tgtEl>
                                        <p:attrNameLst>
                                          <p:attrName>ppt_x</p:attrName>
                                        </p:attrNameLst>
                                      </p:cBhvr>
                                      <p:tavLst>
                                        <p:tav tm="0">
                                          <p:val>
                                            <p:strVal val="#ppt_x"/>
                                          </p:val>
                                        </p:tav>
                                        <p:tav tm="100000">
                                          <p:val>
                                            <p:strVal val="#ppt_x"/>
                                          </p:val>
                                        </p:tav>
                                      </p:tavLst>
                                    </p:anim>
                                    <p:anim calcmode="lin" valueType="num">
                                      <p:cBhvr additive="base">
                                        <p:cTn id="136" dur="1000" fill="hold"/>
                                        <p:tgtEl>
                                          <p:spTgt spid="400437"/>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400443"/>
                                        </p:tgtEl>
                                        <p:attrNameLst>
                                          <p:attrName>style.visibility</p:attrName>
                                        </p:attrNameLst>
                                      </p:cBhvr>
                                      <p:to>
                                        <p:strVal val="visible"/>
                                      </p:to>
                                    </p:set>
                                    <p:anim calcmode="lin" valueType="num">
                                      <p:cBhvr additive="base">
                                        <p:cTn id="139" dur="1000" fill="hold"/>
                                        <p:tgtEl>
                                          <p:spTgt spid="400443"/>
                                        </p:tgtEl>
                                        <p:attrNameLst>
                                          <p:attrName>ppt_x</p:attrName>
                                        </p:attrNameLst>
                                      </p:cBhvr>
                                      <p:tavLst>
                                        <p:tav tm="0">
                                          <p:val>
                                            <p:strVal val="#ppt_x"/>
                                          </p:val>
                                        </p:tav>
                                        <p:tav tm="100000">
                                          <p:val>
                                            <p:strVal val="#ppt_x"/>
                                          </p:val>
                                        </p:tav>
                                      </p:tavLst>
                                    </p:anim>
                                    <p:anim calcmode="lin" valueType="num">
                                      <p:cBhvr additive="base">
                                        <p:cTn id="140" dur="1000" fill="hold"/>
                                        <p:tgtEl>
                                          <p:spTgt spid="400443"/>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400442"/>
                                        </p:tgtEl>
                                        <p:attrNameLst>
                                          <p:attrName>style.visibility</p:attrName>
                                        </p:attrNameLst>
                                      </p:cBhvr>
                                      <p:to>
                                        <p:strVal val="visible"/>
                                      </p:to>
                                    </p:set>
                                    <p:anim calcmode="lin" valueType="num">
                                      <p:cBhvr additive="base">
                                        <p:cTn id="143" dur="1000" fill="hold"/>
                                        <p:tgtEl>
                                          <p:spTgt spid="400442"/>
                                        </p:tgtEl>
                                        <p:attrNameLst>
                                          <p:attrName>ppt_x</p:attrName>
                                        </p:attrNameLst>
                                      </p:cBhvr>
                                      <p:tavLst>
                                        <p:tav tm="0">
                                          <p:val>
                                            <p:strVal val="#ppt_x"/>
                                          </p:val>
                                        </p:tav>
                                        <p:tav tm="100000">
                                          <p:val>
                                            <p:strVal val="#ppt_x"/>
                                          </p:val>
                                        </p:tav>
                                      </p:tavLst>
                                    </p:anim>
                                    <p:anim calcmode="lin" valueType="num">
                                      <p:cBhvr additive="base">
                                        <p:cTn id="144" dur="1000" fill="hold"/>
                                        <p:tgtEl>
                                          <p:spTgt spid="400442"/>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400433"/>
                                        </p:tgtEl>
                                        <p:attrNameLst>
                                          <p:attrName>style.visibility</p:attrName>
                                        </p:attrNameLst>
                                      </p:cBhvr>
                                      <p:to>
                                        <p:strVal val="visible"/>
                                      </p:to>
                                    </p:set>
                                    <p:anim calcmode="lin" valueType="num">
                                      <p:cBhvr additive="base">
                                        <p:cTn id="147" dur="1000" fill="hold"/>
                                        <p:tgtEl>
                                          <p:spTgt spid="400433"/>
                                        </p:tgtEl>
                                        <p:attrNameLst>
                                          <p:attrName>ppt_x</p:attrName>
                                        </p:attrNameLst>
                                      </p:cBhvr>
                                      <p:tavLst>
                                        <p:tav tm="0">
                                          <p:val>
                                            <p:strVal val="#ppt_x"/>
                                          </p:val>
                                        </p:tav>
                                        <p:tav tm="100000">
                                          <p:val>
                                            <p:strVal val="#ppt_x"/>
                                          </p:val>
                                        </p:tav>
                                      </p:tavLst>
                                    </p:anim>
                                    <p:anim calcmode="lin" valueType="num">
                                      <p:cBhvr additive="base">
                                        <p:cTn id="148" dur="1000" fill="hold"/>
                                        <p:tgtEl>
                                          <p:spTgt spid="4004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92" grpId="0"/>
      <p:bldP spid="400394" grpId="0" animBg="1"/>
      <p:bldP spid="400395" grpId="0" animBg="1"/>
      <p:bldP spid="400398" grpId="0"/>
      <p:bldP spid="400399" grpId="0"/>
      <p:bldP spid="400407" grpId="0"/>
      <p:bldP spid="400408" grpId="0"/>
      <p:bldP spid="400417" grpId="0" animBg="1"/>
      <p:bldP spid="400418" grpId="0" animBg="1"/>
      <p:bldP spid="400421" grpId="0"/>
      <p:bldP spid="400422" grpId="0"/>
      <p:bldP spid="400430" grpId="0"/>
      <p:bldP spid="400434" grpId="0"/>
      <p:bldP spid="400435" grpId="0"/>
      <p:bldP spid="400436" grpId="0"/>
      <p:bldP spid="400437" grpId="0"/>
      <p:bldP spid="400438" grpId="0"/>
      <p:bldP spid="400439" grpId="0"/>
      <p:bldP spid="400440" grpId="0"/>
      <p:bldP spid="400441" grpId="0"/>
      <p:bldP spid="400442" grpId="0"/>
      <p:bldP spid="4004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8195"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8196"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47B62A1-32B0-4DDE-B9EF-F3B57D2FA19B}" type="slidenum">
              <a:rPr lang="zh-CN" altLang="en-US" sz="800" b="0"/>
              <a:pPr/>
              <a:t>7</a:t>
            </a:fld>
            <a:endParaRPr lang="en-US" altLang="zh-CN" sz="800" b="0"/>
          </a:p>
        </p:txBody>
      </p:sp>
      <p:sp>
        <p:nvSpPr>
          <p:cNvPr id="8197"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Example 3.8, 3.10 : id and delim (P.101)</a:t>
            </a:r>
          </a:p>
        </p:txBody>
      </p:sp>
      <p:sp>
        <p:nvSpPr>
          <p:cNvPr id="402435" name="Text Box 3"/>
          <p:cNvSpPr txBox="1">
            <a:spLocks noChangeArrowheads="1"/>
          </p:cNvSpPr>
          <p:nvPr/>
        </p:nvSpPr>
        <p:spPr bwMode="auto">
          <a:xfrm>
            <a:off x="1003300" y="3462338"/>
            <a:ext cx="825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u="sng">
                <a:ea typeface="宋体" panose="02010600030101010101" pitchFamily="2" charset="-122"/>
              </a:rPr>
              <a:t>id :</a:t>
            </a:r>
            <a:endParaRPr lang="en-US" altLang="zh-CN" sz="2000">
              <a:ea typeface="宋体" panose="02010600030101010101" pitchFamily="2" charset="-122"/>
            </a:endParaRPr>
          </a:p>
        </p:txBody>
      </p:sp>
      <p:sp>
        <p:nvSpPr>
          <p:cNvPr id="402436" name="Text Box 4"/>
          <p:cNvSpPr txBox="1">
            <a:spLocks noChangeArrowheads="1"/>
          </p:cNvSpPr>
          <p:nvPr/>
        </p:nvSpPr>
        <p:spPr bwMode="auto">
          <a:xfrm>
            <a:off x="920750" y="1485900"/>
            <a:ext cx="107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u="sng">
                <a:ea typeface="宋体" panose="02010600030101010101" pitchFamily="2" charset="-122"/>
              </a:rPr>
              <a:t>delim :</a:t>
            </a:r>
            <a:endParaRPr lang="en-US" altLang="zh-CN" sz="2000">
              <a:ea typeface="宋体" panose="02010600030101010101" pitchFamily="2" charset="-122"/>
            </a:endParaRPr>
          </a:p>
        </p:txBody>
      </p:sp>
      <p:grpSp>
        <p:nvGrpSpPr>
          <p:cNvPr id="402437" name="Group 5"/>
          <p:cNvGrpSpPr>
            <a:grpSpLocks/>
          </p:cNvGrpSpPr>
          <p:nvPr/>
        </p:nvGrpSpPr>
        <p:grpSpPr bwMode="auto">
          <a:xfrm>
            <a:off x="1993900" y="1790700"/>
            <a:ext cx="4870450" cy="990600"/>
            <a:chOff x="1392" y="2544"/>
            <a:chExt cx="2832" cy="624"/>
          </a:xfrm>
        </p:grpSpPr>
        <p:sp>
          <p:nvSpPr>
            <p:cNvPr id="8224" name="Line 6"/>
            <p:cNvSpPr>
              <a:spLocks noChangeShapeType="1"/>
            </p:cNvSpPr>
            <p:nvPr/>
          </p:nvSpPr>
          <p:spPr bwMode="auto">
            <a:xfrm>
              <a:off x="1392" y="3024"/>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Oval 7"/>
            <p:cNvSpPr>
              <a:spLocks noChangeArrowheads="1"/>
            </p:cNvSpPr>
            <p:nvPr/>
          </p:nvSpPr>
          <p:spPr bwMode="auto">
            <a:xfrm>
              <a:off x="2016" y="2880"/>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26" name="Line 8"/>
            <p:cNvSpPr>
              <a:spLocks noChangeShapeType="1"/>
            </p:cNvSpPr>
            <p:nvPr/>
          </p:nvSpPr>
          <p:spPr bwMode="auto">
            <a:xfrm>
              <a:off x="2304" y="3024"/>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Text Box 9"/>
            <p:cNvSpPr txBox="1">
              <a:spLocks noChangeArrowheads="1"/>
            </p:cNvSpPr>
            <p:nvPr/>
          </p:nvSpPr>
          <p:spPr bwMode="auto">
            <a:xfrm>
              <a:off x="1440" y="283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start</a:t>
              </a:r>
            </a:p>
          </p:txBody>
        </p:sp>
        <p:sp>
          <p:nvSpPr>
            <p:cNvPr id="8228" name="Text Box 10"/>
            <p:cNvSpPr txBox="1">
              <a:spLocks noChangeArrowheads="1"/>
            </p:cNvSpPr>
            <p:nvPr/>
          </p:nvSpPr>
          <p:spPr bwMode="auto">
            <a:xfrm>
              <a:off x="2352" y="283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delim</a:t>
              </a:r>
            </a:p>
          </p:txBody>
        </p:sp>
        <p:sp>
          <p:nvSpPr>
            <p:cNvPr id="8229" name="Text Box 11"/>
            <p:cNvSpPr txBox="1">
              <a:spLocks noChangeArrowheads="1"/>
            </p:cNvSpPr>
            <p:nvPr/>
          </p:nvSpPr>
          <p:spPr bwMode="auto">
            <a:xfrm>
              <a:off x="2016" y="292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28</a:t>
              </a:r>
            </a:p>
          </p:txBody>
        </p:sp>
        <p:sp>
          <p:nvSpPr>
            <p:cNvPr id="8230" name="Line 12"/>
            <p:cNvSpPr>
              <a:spLocks noChangeShapeType="1"/>
            </p:cNvSpPr>
            <p:nvPr/>
          </p:nvSpPr>
          <p:spPr bwMode="auto">
            <a:xfrm>
              <a:off x="3216" y="3024"/>
              <a:ext cx="52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Text Box 13"/>
            <p:cNvSpPr txBox="1">
              <a:spLocks noChangeArrowheads="1"/>
            </p:cNvSpPr>
            <p:nvPr/>
          </p:nvSpPr>
          <p:spPr bwMode="auto">
            <a:xfrm>
              <a:off x="3216" y="283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other</a:t>
              </a:r>
            </a:p>
          </p:txBody>
        </p:sp>
        <p:grpSp>
          <p:nvGrpSpPr>
            <p:cNvPr id="8232" name="Group 14"/>
            <p:cNvGrpSpPr>
              <a:grpSpLocks/>
            </p:cNvGrpSpPr>
            <p:nvPr/>
          </p:nvGrpSpPr>
          <p:grpSpPr bwMode="auto">
            <a:xfrm>
              <a:off x="3744" y="2880"/>
              <a:ext cx="288" cy="288"/>
              <a:chOff x="3696" y="1152"/>
              <a:chExt cx="288" cy="288"/>
            </a:xfrm>
          </p:grpSpPr>
          <p:sp>
            <p:nvSpPr>
              <p:cNvPr id="8239" name="Oval 15"/>
              <p:cNvSpPr>
                <a:spLocks noChangeArrowheads="1"/>
              </p:cNvSpPr>
              <p:nvPr/>
            </p:nvSpPr>
            <p:spPr bwMode="auto">
              <a:xfrm>
                <a:off x="3696"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40" name="Oval 16"/>
              <p:cNvSpPr>
                <a:spLocks noChangeArrowheads="1"/>
              </p:cNvSpPr>
              <p:nvPr/>
            </p:nvSpPr>
            <p:spPr bwMode="auto">
              <a:xfrm>
                <a:off x="3744" y="120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41" name="Text Box 17"/>
              <p:cNvSpPr txBox="1">
                <a:spLocks noChangeArrowheads="1"/>
              </p:cNvSpPr>
              <p:nvPr/>
            </p:nvSpPr>
            <p:spPr bwMode="auto">
              <a:xfrm>
                <a:off x="3696" y="120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30</a:t>
                </a:r>
              </a:p>
            </p:txBody>
          </p:sp>
        </p:grpSp>
        <p:grpSp>
          <p:nvGrpSpPr>
            <p:cNvPr id="8233" name="Group 18"/>
            <p:cNvGrpSpPr>
              <a:grpSpLocks/>
            </p:cNvGrpSpPr>
            <p:nvPr/>
          </p:nvGrpSpPr>
          <p:grpSpPr bwMode="auto">
            <a:xfrm>
              <a:off x="2928" y="2880"/>
              <a:ext cx="288" cy="288"/>
              <a:chOff x="2880" y="1152"/>
              <a:chExt cx="288" cy="288"/>
            </a:xfrm>
          </p:grpSpPr>
          <p:sp>
            <p:nvSpPr>
              <p:cNvPr id="8236" name="Oval 19"/>
              <p:cNvSpPr>
                <a:spLocks noChangeArrowheads="1"/>
              </p:cNvSpPr>
              <p:nvPr/>
            </p:nvSpPr>
            <p:spPr bwMode="auto">
              <a:xfrm>
                <a:off x="2880"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37" name="Text Box 20"/>
              <p:cNvSpPr txBox="1">
                <a:spLocks noChangeArrowheads="1"/>
              </p:cNvSpPr>
              <p:nvPr/>
            </p:nvSpPr>
            <p:spPr bwMode="auto">
              <a:xfrm>
                <a:off x="2880" y="120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29</a:t>
                </a:r>
              </a:p>
            </p:txBody>
          </p:sp>
          <p:cxnSp>
            <p:nvCxnSpPr>
              <p:cNvPr id="8238" name="AutoShape 21"/>
              <p:cNvCxnSpPr>
                <a:cxnSpLocks noChangeShapeType="1"/>
                <a:stCxn id="8236" idx="7"/>
                <a:endCxn id="8237" idx="0"/>
              </p:cNvCxnSpPr>
              <p:nvPr/>
            </p:nvCxnSpPr>
            <p:spPr bwMode="auto">
              <a:xfrm rot="-5400000" flipH="1" flipV="1">
                <a:off x="3072" y="1146"/>
                <a:ext cx="6" cy="102"/>
              </a:xfrm>
              <a:prstGeom prst="curvedConnector3">
                <a:avLst>
                  <a:gd name="adj1" fmla="val -31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234" name="Text Box 22"/>
            <p:cNvSpPr txBox="1">
              <a:spLocks noChangeArrowheads="1"/>
            </p:cNvSpPr>
            <p:nvPr/>
          </p:nvSpPr>
          <p:spPr bwMode="auto">
            <a:xfrm>
              <a:off x="2736" y="2544"/>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delim</a:t>
              </a:r>
            </a:p>
          </p:txBody>
        </p:sp>
        <p:sp>
          <p:nvSpPr>
            <p:cNvPr id="8235" name="Text Box 23"/>
            <p:cNvSpPr txBox="1">
              <a:spLocks noChangeArrowheads="1"/>
            </p:cNvSpPr>
            <p:nvPr/>
          </p:nvSpPr>
          <p:spPr bwMode="auto">
            <a:xfrm>
              <a:off x="3936" y="283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rPr>
                <a:t>*</a:t>
              </a:r>
            </a:p>
          </p:txBody>
        </p:sp>
      </p:grpSp>
      <p:sp>
        <p:nvSpPr>
          <p:cNvPr id="402456" name="Text Box 24"/>
          <p:cNvSpPr txBox="1">
            <a:spLocks noChangeArrowheads="1"/>
          </p:cNvSpPr>
          <p:nvPr/>
        </p:nvSpPr>
        <p:spPr bwMode="auto">
          <a:xfrm>
            <a:off x="5461000" y="4757738"/>
            <a:ext cx="4044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ea typeface="宋体" panose="02010600030101010101" pitchFamily="2" charset="-122"/>
              </a:rPr>
              <a:t>return( get_token(), install_id())</a:t>
            </a:r>
          </a:p>
        </p:txBody>
      </p:sp>
      <p:grpSp>
        <p:nvGrpSpPr>
          <p:cNvPr id="402457" name="Group 25"/>
          <p:cNvGrpSpPr>
            <a:grpSpLocks/>
          </p:cNvGrpSpPr>
          <p:nvPr/>
        </p:nvGrpSpPr>
        <p:grpSpPr bwMode="auto">
          <a:xfrm>
            <a:off x="1911350" y="3690938"/>
            <a:ext cx="4870450" cy="990600"/>
            <a:chOff x="1344" y="1584"/>
            <a:chExt cx="2832" cy="624"/>
          </a:xfrm>
        </p:grpSpPr>
        <p:sp>
          <p:nvSpPr>
            <p:cNvPr id="8206" name="Line 26"/>
            <p:cNvSpPr>
              <a:spLocks noChangeShapeType="1"/>
            </p:cNvSpPr>
            <p:nvPr/>
          </p:nvSpPr>
          <p:spPr bwMode="auto">
            <a:xfrm>
              <a:off x="1344" y="2064"/>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Oval 27"/>
            <p:cNvSpPr>
              <a:spLocks noChangeArrowheads="1"/>
            </p:cNvSpPr>
            <p:nvPr/>
          </p:nvSpPr>
          <p:spPr bwMode="auto">
            <a:xfrm>
              <a:off x="1968" y="1920"/>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08" name="Line 28"/>
            <p:cNvSpPr>
              <a:spLocks noChangeShapeType="1"/>
            </p:cNvSpPr>
            <p:nvPr/>
          </p:nvSpPr>
          <p:spPr bwMode="auto">
            <a:xfrm>
              <a:off x="2256" y="2064"/>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9" name="Text Box 29"/>
            <p:cNvSpPr txBox="1">
              <a:spLocks noChangeArrowheads="1"/>
            </p:cNvSpPr>
            <p:nvPr/>
          </p:nvSpPr>
          <p:spPr bwMode="auto">
            <a:xfrm>
              <a:off x="1392" y="18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start</a:t>
              </a:r>
            </a:p>
          </p:txBody>
        </p:sp>
        <p:sp>
          <p:nvSpPr>
            <p:cNvPr id="8210" name="Text Box 30"/>
            <p:cNvSpPr txBox="1">
              <a:spLocks noChangeArrowheads="1"/>
            </p:cNvSpPr>
            <p:nvPr/>
          </p:nvSpPr>
          <p:spPr bwMode="auto">
            <a:xfrm>
              <a:off x="2304" y="18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letter</a:t>
              </a:r>
            </a:p>
          </p:txBody>
        </p:sp>
        <p:sp>
          <p:nvSpPr>
            <p:cNvPr id="8211" name="Text Box 31"/>
            <p:cNvSpPr txBox="1">
              <a:spLocks noChangeArrowheads="1"/>
            </p:cNvSpPr>
            <p:nvPr/>
          </p:nvSpPr>
          <p:spPr bwMode="auto">
            <a:xfrm>
              <a:off x="2016" y="1968"/>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9</a:t>
              </a:r>
            </a:p>
          </p:txBody>
        </p:sp>
        <p:sp>
          <p:nvSpPr>
            <p:cNvPr id="8212" name="Line 32"/>
            <p:cNvSpPr>
              <a:spLocks noChangeShapeType="1"/>
            </p:cNvSpPr>
            <p:nvPr/>
          </p:nvSpPr>
          <p:spPr bwMode="auto">
            <a:xfrm>
              <a:off x="3168" y="2064"/>
              <a:ext cx="52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3" name="Text Box 33"/>
            <p:cNvSpPr txBox="1">
              <a:spLocks noChangeArrowheads="1"/>
            </p:cNvSpPr>
            <p:nvPr/>
          </p:nvSpPr>
          <p:spPr bwMode="auto">
            <a:xfrm>
              <a:off x="3168" y="18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other</a:t>
              </a:r>
            </a:p>
          </p:txBody>
        </p:sp>
        <p:grpSp>
          <p:nvGrpSpPr>
            <p:cNvPr id="8214" name="Group 34"/>
            <p:cNvGrpSpPr>
              <a:grpSpLocks/>
            </p:cNvGrpSpPr>
            <p:nvPr/>
          </p:nvGrpSpPr>
          <p:grpSpPr bwMode="auto">
            <a:xfrm>
              <a:off x="3696" y="1920"/>
              <a:ext cx="288" cy="288"/>
              <a:chOff x="3696" y="1152"/>
              <a:chExt cx="288" cy="288"/>
            </a:xfrm>
          </p:grpSpPr>
          <p:sp>
            <p:nvSpPr>
              <p:cNvPr id="8221" name="Oval 35"/>
              <p:cNvSpPr>
                <a:spLocks noChangeArrowheads="1"/>
              </p:cNvSpPr>
              <p:nvPr/>
            </p:nvSpPr>
            <p:spPr bwMode="auto">
              <a:xfrm>
                <a:off x="3696"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22" name="Oval 36"/>
              <p:cNvSpPr>
                <a:spLocks noChangeArrowheads="1"/>
              </p:cNvSpPr>
              <p:nvPr/>
            </p:nvSpPr>
            <p:spPr bwMode="auto">
              <a:xfrm>
                <a:off x="3744" y="120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23" name="Text Box 37"/>
              <p:cNvSpPr txBox="1">
                <a:spLocks noChangeArrowheads="1"/>
              </p:cNvSpPr>
              <p:nvPr/>
            </p:nvSpPr>
            <p:spPr bwMode="auto">
              <a:xfrm>
                <a:off x="3696" y="120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11</a:t>
                </a:r>
              </a:p>
            </p:txBody>
          </p:sp>
        </p:grpSp>
        <p:grpSp>
          <p:nvGrpSpPr>
            <p:cNvPr id="8215" name="Group 38"/>
            <p:cNvGrpSpPr>
              <a:grpSpLocks/>
            </p:cNvGrpSpPr>
            <p:nvPr/>
          </p:nvGrpSpPr>
          <p:grpSpPr bwMode="auto">
            <a:xfrm>
              <a:off x="2880" y="1920"/>
              <a:ext cx="288" cy="288"/>
              <a:chOff x="2880" y="1152"/>
              <a:chExt cx="288" cy="288"/>
            </a:xfrm>
          </p:grpSpPr>
          <p:sp>
            <p:nvSpPr>
              <p:cNvPr id="8218" name="Oval 39"/>
              <p:cNvSpPr>
                <a:spLocks noChangeArrowheads="1"/>
              </p:cNvSpPr>
              <p:nvPr/>
            </p:nvSpPr>
            <p:spPr bwMode="auto">
              <a:xfrm>
                <a:off x="2880"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8219" name="Text Box 40"/>
              <p:cNvSpPr txBox="1">
                <a:spLocks noChangeArrowheads="1"/>
              </p:cNvSpPr>
              <p:nvPr/>
            </p:nvSpPr>
            <p:spPr bwMode="auto">
              <a:xfrm>
                <a:off x="2880" y="120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10</a:t>
                </a:r>
              </a:p>
            </p:txBody>
          </p:sp>
          <p:cxnSp>
            <p:nvCxnSpPr>
              <p:cNvPr id="8220" name="AutoShape 41"/>
              <p:cNvCxnSpPr>
                <a:cxnSpLocks noChangeShapeType="1"/>
                <a:stCxn id="8218" idx="7"/>
                <a:endCxn id="8219" idx="0"/>
              </p:cNvCxnSpPr>
              <p:nvPr/>
            </p:nvCxnSpPr>
            <p:spPr bwMode="auto">
              <a:xfrm rot="-5400000" flipH="1" flipV="1">
                <a:off x="3072" y="1146"/>
                <a:ext cx="6" cy="102"/>
              </a:xfrm>
              <a:prstGeom prst="curvedConnector3">
                <a:avLst>
                  <a:gd name="adj1" fmla="val -31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216" name="Text Box 42"/>
            <p:cNvSpPr txBox="1">
              <a:spLocks noChangeArrowheads="1"/>
            </p:cNvSpPr>
            <p:nvPr/>
          </p:nvSpPr>
          <p:spPr bwMode="auto">
            <a:xfrm>
              <a:off x="2688" y="1584"/>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ea typeface="宋体" panose="02010600030101010101" pitchFamily="2" charset="-122"/>
                </a:rPr>
                <a:t>letter or digit</a:t>
              </a:r>
            </a:p>
          </p:txBody>
        </p:sp>
        <p:sp>
          <p:nvSpPr>
            <p:cNvPr id="8217" name="Text Box 43"/>
            <p:cNvSpPr txBox="1">
              <a:spLocks noChangeArrowheads="1"/>
            </p:cNvSpPr>
            <p:nvPr/>
          </p:nvSpPr>
          <p:spPr bwMode="auto">
            <a:xfrm>
              <a:off x="3888" y="187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rPr>
                <a:t>*</a:t>
              </a:r>
            </a:p>
          </p:txBody>
        </p:sp>
      </p:grpSp>
      <p:sp>
        <p:nvSpPr>
          <p:cNvPr id="402476" name="Text Box 44"/>
          <p:cNvSpPr txBox="1">
            <a:spLocks noChangeArrowheads="1"/>
          </p:cNvSpPr>
          <p:nvPr/>
        </p:nvSpPr>
        <p:spPr bwMode="auto">
          <a:xfrm>
            <a:off x="5461000" y="5367338"/>
            <a:ext cx="4044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ea typeface="宋体" panose="02010600030101010101" pitchFamily="2" charset="-122"/>
              </a:rPr>
              <a:t>Either returns ptr or “0” if reserved</a:t>
            </a:r>
          </a:p>
        </p:txBody>
      </p:sp>
      <p:sp>
        <p:nvSpPr>
          <p:cNvPr id="402477" name="Line 45"/>
          <p:cNvSpPr>
            <a:spLocks noChangeShapeType="1"/>
          </p:cNvSpPr>
          <p:nvPr/>
        </p:nvSpPr>
        <p:spPr bwMode="auto">
          <a:xfrm flipH="1" flipV="1">
            <a:off x="8350250" y="5062538"/>
            <a:ext cx="82550" cy="3048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Text Box 46"/>
          <p:cNvSpPr txBox="1">
            <a:spLocks noChangeArrowheads="1"/>
          </p:cNvSpPr>
          <p:nvPr/>
        </p:nvSpPr>
        <p:spPr bwMode="auto">
          <a:xfrm>
            <a:off x="1281113" y="5851525"/>
            <a:ext cx="698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Fig.3.13 Transition diagram identifiers and keywords.</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2436"/>
                                        </p:tgtEl>
                                        <p:attrNameLst>
                                          <p:attrName>style.visibility</p:attrName>
                                        </p:attrNameLst>
                                      </p:cBhvr>
                                      <p:to>
                                        <p:strVal val="visible"/>
                                      </p:to>
                                    </p:set>
                                    <p:anim calcmode="lin" valueType="num">
                                      <p:cBhvr additive="base">
                                        <p:cTn id="7" dur="1000" fill="hold"/>
                                        <p:tgtEl>
                                          <p:spTgt spid="402436"/>
                                        </p:tgtEl>
                                        <p:attrNameLst>
                                          <p:attrName>ppt_x</p:attrName>
                                        </p:attrNameLst>
                                      </p:cBhvr>
                                      <p:tavLst>
                                        <p:tav tm="0">
                                          <p:val>
                                            <p:strVal val="0-#ppt_w/2"/>
                                          </p:val>
                                        </p:tav>
                                        <p:tav tm="100000">
                                          <p:val>
                                            <p:strVal val="#ppt_x"/>
                                          </p:val>
                                        </p:tav>
                                      </p:tavLst>
                                    </p:anim>
                                    <p:anim calcmode="lin" valueType="num">
                                      <p:cBhvr additive="base">
                                        <p:cTn id="8" dur="1000" fill="hold"/>
                                        <p:tgtEl>
                                          <p:spTgt spid="40243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02437"/>
                                        </p:tgtEl>
                                        <p:attrNameLst>
                                          <p:attrName>style.visibility</p:attrName>
                                        </p:attrNameLst>
                                      </p:cBhvr>
                                      <p:to>
                                        <p:strVal val="visible"/>
                                      </p:to>
                                    </p:set>
                                    <p:anim calcmode="lin" valueType="num">
                                      <p:cBhvr additive="base">
                                        <p:cTn id="11" dur="1000" fill="hold"/>
                                        <p:tgtEl>
                                          <p:spTgt spid="402437"/>
                                        </p:tgtEl>
                                        <p:attrNameLst>
                                          <p:attrName>ppt_x</p:attrName>
                                        </p:attrNameLst>
                                      </p:cBhvr>
                                      <p:tavLst>
                                        <p:tav tm="0">
                                          <p:val>
                                            <p:strVal val="0-#ppt_w/2"/>
                                          </p:val>
                                        </p:tav>
                                        <p:tav tm="100000">
                                          <p:val>
                                            <p:strVal val="#ppt_x"/>
                                          </p:val>
                                        </p:tav>
                                      </p:tavLst>
                                    </p:anim>
                                    <p:anim calcmode="lin" valueType="num">
                                      <p:cBhvr additive="base">
                                        <p:cTn id="12" dur="1000" fill="hold"/>
                                        <p:tgtEl>
                                          <p:spTgt spid="402437"/>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02435"/>
                                        </p:tgtEl>
                                        <p:attrNameLst>
                                          <p:attrName>style.visibility</p:attrName>
                                        </p:attrNameLst>
                                      </p:cBhvr>
                                      <p:to>
                                        <p:strVal val="visible"/>
                                      </p:to>
                                    </p:set>
                                    <p:anim calcmode="lin" valueType="num">
                                      <p:cBhvr additive="base">
                                        <p:cTn id="17" dur="1000" fill="hold"/>
                                        <p:tgtEl>
                                          <p:spTgt spid="402435"/>
                                        </p:tgtEl>
                                        <p:attrNameLst>
                                          <p:attrName>ppt_x</p:attrName>
                                        </p:attrNameLst>
                                      </p:cBhvr>
                                      <p:tavLst>
                                        <p:tav tm="0">
                                          <p:val>
                                            <p:strVal val="1+#ppt_w/2"/>
                                          </p:val>
                                        </p:tav>
                                        <p:tav tm="100000">
                                          <p:val>
                                            <p:strVal val="#ppt_x"/>
                                          </p:val>
                                        </p:tav>
                                      </p:tavLst>
                                    </p:anim>
                                    <p:anim calcmode="lin" valueType="num">
                                      <p:cBhvr additive="base">
                                        <p:cTn id="18" dur="1000" fill="hold"/>
                                        <p:tgtEl>
                                          <p:spTgt spid="402435"/>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402456"/>
                                        </p:tgtEl>
                                        <p:attrNameLst>
                                          <p:attrName>style.visibility</p:attrName>
                                        </p:attrNameLst>
                                      </p:cBhvr>
                                      <p:to>
                                        <p:strVal val="visible"/>
                                      </p:to>
                                    </p:set>
                                    <p:anim calcmode="lin" valueType="num">
                                      <p:cBhvr additive="base">
                                        <p:cTn id="21" dur="1000" fill="hold"/>
                                        <p:tgtEl>
                                          <p:spTgt spid="402456"/>
                                        </p:tgtEl>
                                        <p:attrNameLst>
                                          <p:attrName>ppt_x</p:attrName>
                                        </p:attrNameLst>
                                      </p:cBhvr>
                                      <p:tavLst>
                                        <p:tav tm="0">
                                          <p:val>
                                            <p:strVal val="1+#ppt_w/2"/>
                                          </p:val>
                                        </p:tav>
                                        <p:tav tm="100000">
                                          <p:val>
                                            <p:strVal val="#ppt_x"/>
                                          </p:val>
                                        </p:tav>
                                      </p:tavLst>
                                    </p:anim>
                                    <p:anim calcmode="lin" valueType="num">
                                      <p:cBhvr additive="base">
                                        <p:cTn id="22" dur="1000" fill="hold"/>
                                        <p:tgtEl>
                                          <p:spTgt spid="402456"/>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402457"/>
                                        </p:tgtEl>
                                        <p:attrNameLst>
                                          <p:attrName>style.visibility</p:attrName>
                                        </p:attrNameLst>
                                      </p:cBhvr>
                                      <p:to>
                                        <p:strVal val="visible"/>
                                      </p:to>
                                    </p:set>
                                    <p:anim calcmode="lin" valueType="num">
                                      <p:cBhvr additive="base">
                                        <p:cTn id="25" dur="1000" fill="hold"/>
                                        <p:tgtEl>
                                          <p:spTgt spid="402457"/>
                                        </p:tgtEl>
                                        <p:attrNameLst>
                                          <p:attrName>ppt_x</p:attrName>
                                        </p:attrNameLst>
                                      </p:cBhvr>
                                      <p:tavLst>
                                        <p:tav tm="0">
                                          <p:val>
                                            <p:strVal val="1+#ppt_w/2"/>
                                          </p:val>
                                        </p:tav>
                                        <p:tav tm="100000">
                                          <p:val>
                                            <p:strVal val="#ppt_x"/>
                                          </p:val>
                                        </p:tav>
                                      </p:tavLst>
                                    </p:anim>
                                    <p:anim calcmode="lin" valueType="num">
                                      <p:cBhvr additive="base">
                                        <p:cTn id="26" dur="1000" fill="hold"/>
                                        <p:tgtEl>
                                          <p:spTgt spid="402457"/>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402476"/>
                                        </p:tgtEl>
                                        <p:attrNameLst>
                                          <p:attrName>style.visibility</p:attrName>
                                        </p:attrNameLst>
                                      </p:cBhvr>
                                      <p:to>
                                        <p:strVal val="visible"/>
                                      </p:to>
                                    </p:set>
                                    <p:anim calcmode="lin" valueType="num">
                                      <p:cBhvr additive="base">
                                        <p:cTn id="29" dur="1000" fill="hold"/>
                                        <p:tgtEl>
                                          <p:spTgt spid="402476"/>
                                        </p:tgtEl>
                                        <p:attrNameLst>
                                          <p:attrName>ppt_x</p:attrName>
                                        </p:attrNameLst>
                                      </p:cBhvr>
                                      <p:tavLst>
                                        <p:tav tm="0">
                                          <p:val>
                                            <p:strVal val="1+#ppt_w/2"/>
                                          </p:val>
                                        </p:tav>
                                        <p:tav tm="100000">
                                          <p:val>
                                            <p:strVal val="#ppt_x"/>
                                          </p:val>
                                        </p:tav>
                                      </p:tavLst>
                                    </p:anim>
                                    <p:anim calcmode="lin" valueType="num">
                                      <p:cBhvr additive="base">
                                        <p:cTn id="30" dur="1000" fill="hold"/>
                                        <p:tgtEl>
                                          <p:spTgt spid="402476"/>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402477"/>
                                        </p:tgtEl>
                                        <p:attrNameLst>
                                          <p:attrName>style.visibility</p:attrName>
                                        </p:attrNameLst>
                                      </p:cBhvr>
                                      <p:to>
                                        <p:strVal val="visible"/>
                                      </p:to>
                                    </p:set>
                                    <p:anim calcmode="lin" valueType="num">
                                      <p:cBhvr additive="base">
                                        <p:cTn id="33" dur="1000" fill="hold"/>
                                        <p:tgtEl>
                                          <p:spTgt spid="402477"/>
                                        </p:tgtEl>
                                        <p:attrNameLst>
                                          <p:attrName>ppt_x</p:attrName>
                                        </p:attrNameLst>
                                      </p:cBhvr>
                                      <p:tavLst>
                                        <p:tav tm="0">
                                          <p:val>
                                            <p:strVal val="1+#ppt_w/2"/>
                                          </p:val>
                                        </p:tav>
                                        <p:tav tm="100000">
                                          <p:val>
                                            <p:strVal val="#ppt_x"/>
                                          </p:val>
                                        </p:tav>
                                      </p:tavLst>
                                    </p:anim>
                                    <p:anim calcmode="lin" valueType="num">
                                      <p:cBhvr additive="base">
                                        <p:cTn id="34" dur="1000" fill="hold"/>
                                        <p:tgtEl>
                                          <p:spTgt spid="4024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p:bldP spid="402436" grpId="0"/>
      <p:bldP spid="402456" grpId="0"/>
      <p:bldP spid="4024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9219"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9220"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C224DE5C-1F28-4A6C-886F-7045A0B3D739}" type="slidenum">
              <a:rPr lang="zh-CN" altLang="en-US" sz="800" b="0"/>
              <a:pPr/>
              <a:t>8</a:t>
            </a:fld>
            <a:endParaRPr lang="en-US" altLang="zh-CN" sz="800" b="0"/>
          </a:p>
        </p:txBody>
      </p:sp>
      <p:sp>
        <p:nvSpPr>
          <p:cNvPr id="9221" name="Rectangle 2"/>
          <p:cNvSpPr>
            <a:spLocks noGrp="1" noChangeArrowheads="1"/>
          </p:cNvSpPr>
          <p:nvPr>
            <p:ph type="title"/>
          </p:nvPr>
        </p:nvSpPr>
        <p:spPr/>
        <p:txBody>
          <a:bodyPr/>
          <a:lstStyle/>
          <a:p>
            <a:endParaRPr lang="zh-CN" altLang="en-US" smtClean="0">
              <a:ea typeface="宋体" panose="02010600030101010101" pitchFamily="2" charset="-122"/>
            </a:endParaRPr>
          </a:p>
        </p:txBody>
      </p:sp>
      <p:sp>
        <p:nvSpPr>
          <p:cNvPr id="515075" name="Rectangle 3"/>
          <p:cNvSpPr>
            <a:spLocks noGrp="1" noChangeArrowheads="1"/>
          </p:cNvSpPr>
          <p:nvPr>
            <p:ph type="body" idx="1"/>
          </p:nvPr>
        </p:nvSpPr>
        <p:spPr/>
        <p:txBody>
          <a:bodyPr/>
          <a:lstStyle/>
          <a:p>
            <a:r>
              <a:rPr lang="en-US" altLang="zh-CN" sz="2800" smtClean="0">
                <a:ea typeface="宋体" panose="02010600030101010101" pitchFamily="2" charset="-122"/>
              </a:rPr>
              <a:t>When a token is recognized, one of the following must be done:</a:t>
            </a:r>
          </a:p>
          <a:p>
            <a:pPr lvl="1"/>
            <a:r>
              <a:rPr lang="en-US" altLang="zh-CN" sz="2400" b="1" smtClean="0">
                <a:solidFill>
                  <a:schemeClr val="accent2"/>
                </a:solidFill>
                <a:ea typeface="宋体" panose="02010600030101010101" pitchFamily="2" charset="-122"/>
              </a:rPr>
              <a:t>If keywords: return 0</a:t>
            </a:r>
          </a:p>
          <a:p>
            <a:pPr lvl="1"/>
            <a:r>
              <a:rPr lang="en-US" altLang="zh-CN" sz="2400" b="1" smtClean="0">
                <a:solidFill>
                  <a:schemeClr val="accent2"/>
                </a:solidFill>
                <a:ea typeface="宋体" panose="02010600030101010101" pitchFamily="2" charset="-122"/>
              </a:rPr>
              <a:t>If ID in symbol table: return entry of symbol table</a:t>
            </a:r>
          </a:p>
          <a:p>
            <a:pPr lvl="1"/>
            <a:r>
              <a:rPr lang="en-US" altLang="zh-CN" sz="2400" b="1" smtClean="0">
                <a:solidFill>
                  <a:schemeClr val="accent2"/>
                </a:solidFill>
                <a:ea typeface="宋体" panose="02010600030101010101" pitchFamily="2" charset="-122"/>
              </a:rPr>
              <a:t>If ID not in symbol table: install id and return the new entry of symbol table  </a:t>
            </a:r>
          </a:p>
          <a:p>
            <a:r>
              <a:rPr lang="en-US" altLang="zh-CN" sz="2800" smtClean="0">
                <a:ea typeface="宋体" panose="02010600030101010101" pitchFamily="2" charset="-122"/>
              </a:rPr>
              <a:t>Placing keywords in the symbol table is almost essential and is coded by hand, or placing keywords in other table called </a:t>
            </a:r>
            <a:r>
              <a:rPr lang="en-US" altLang="zh-CN" sz="2800" smtClean="0">
                <a:solidFill>
                  <a:schemeClr val="accent2"/>
                </a:solidFill>
                <a:ea typeface="宋体" panose="02010600030101010101" pitchFamily="2" charset="-122"/>
              </a:rPr>
              <a:t>keywords/reserved-words table</a:t>
            </a:r>
            <a:r>
              <a:rPr lang="en-US" altLang="zh-CN" sz="2800" smtClean="0">
                <a:ea typeface="宋体" panose="02010600030101010101" pitchFamily="2" charset="-122"/>
              </a:rPr>
              <a:t>.</a:t>
            </a:r>
          </a:p>
          <a:p>
            <a:endParaRPr lang="en-US" altLang="zh-CN" sz="2800" smtClean="0">
              <a:ea typeface="宋体" panose="02010600030101010101" pitchFamily="2" charset="-122"/>
            </a:endParaRPr>
          </a:p>
        </p:txBody>
      </p:sp>
      <p:sp>
        <p:nvSpPr>
          <p:cNvPr id="515076" name="Rectangle 4"/>
          <p:cNvSpPr>
            <a:spLocks noChangeArrowheads="1"/>
          </p:cNvSpPr>
          <p:nvPr/>
        </p:nvSpPr>
        <p:spPr bwMode="auto">
          <a:xfrm>
            <a:off x="7905750" y="1773238"/>
            <a:ext cx="143986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i="1">
                <a:solidFill>
                  <a:srgbClr val="FF00FF"/>
                </a:solidFill>
                <a:ea typeface="宋体" panose="02010600030101010101" pitchFamily="2" charset="-122"/>
              </a:rPr>
              <a:t>How to describe level ?</a:t>
            </a:r>
            <a:endParaRPr lang="zh-CN" altLang="en-US" i="1">
              <a:solidFill>
                <a:srgbClr val="FF00FF"/>
              </a:solidFill>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515075">
                                            <p:txEl>
                                              <p:pRg st="1" end="1"/>
                                            </p:txEl>
                                          </p:spTgt>
                                        </p:tgtEl>
                                        <p:attrNameLst>
                                          <p:attrName>style.visibility</p:attrName>
                                        </p:attrNameLst>
                                      </p:cBhvr>
                                      <p:to>
                                        <p:strVal val="visible"/>
                                      </p:to>
                                    </p:set>
                                    <p:anim calcmode="lin" valueType="num">
                                      <p:cBhvr additive="base">
                                        <p:cTn id="7" dur="1000" fill="hold"/>
                                        <p:tgtEl>
                                          <p:spTgt spid="515075">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515075">
                                            <p:txEl>
                                              <p:pRg st="1" end="1"/>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8" fill="hold" nodeType="afterEffect">
                                  <p:stCondLst>
                                    <p:cond delay="2000"/>
                                  </p:stCondLst>
                                  <p:childTnLst>
                                    <p:set>
                                      <p:cBhvr>
                                        <p:cTn id="11" dur="1" fill="hold">
                                          <p:stCondLst>
                                            <p:cond delay="0"/>
                                          </p:stCondLst>
                                        </p:cTn>
                                        <p:tgtEl>
                                          <p:spTgt spid="515075">
                                            <p:txEl>
                                              <p:pRg st="2" end="2"/>
                                            </p:txEl>
                                          </p:spTgt>
                                        </p:tgtEl>
                                        <p:attrNameLst>
                                          <p:attrName>style.visibility</p:attrName>
                                        </p:attrNameLst>
                                      </p:cBhvr>
                                      <p:to>
                                        <p:strVal val="visible"/>
                                      </p:to>
                                    </p:set>
                                    <p:anim calcmode="lin" valueType="num">
                                      <p:cBhvr additive="base">
                                        <p:cTn id="12" dur="1000" fill="hold"/>
                                        <p:tgtEl>
                                          <p:spTgt spid="515075">
                                            <p:txEl>
                                              <p:pRg st="2" end="2"/>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515075">
                                            <p:txEl>
                                              <p:pRg st="2" end="2"/>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4000"/>
                            </p:stCondLst>
                            <p:childTnLst>
                              <p:par>
                                <p:cTn id="15" presetID="2" presetClass="entr" presetSubtype="8" fill="hold" nodeType="afterEffect">
                                  <p:stCondLst>
                                    <p:cond delay="2000"/>
                                  </p:stCondLst>
                                  <p:childTnLst>
                                    <p:set>
                                      <p:cBhvr>
                                        <p:cTn id="16" dur="1" fill="hold">
                                          <p:stCondLst>
                                            <p:cond delay="0"/>
                                          </p:stCondLst>
                                        </p:cTn>
                                        <p:tgtEl>
                                          <p:spTgt spid="515075">
                                            <p:txEl>
                                              <p:pRg st="3" end="3"/>
                                            </p:txEl>
                                          </p:spTgt>
                                        </p:tgtEl>
                                        <p:attrNameLst>
                                          <p:attrName>style.visibility</p:attrName>
                                        </p:attrNameLst>
                                      </p:cBhvr>
                                      <p:to>
                                        <p:strVal val="visible"/>
                                      </p:to>
                                    </p:set>
                                    <p:anim calcmode="lin" valueType="num">
                                      <p:cBhvr additive="base">
                                        <p:cTn id="17" dur="1000" fill="hold"/>
                                        <p:tgtEl>
                                          <p:spTgt spid="515075">
                                            <p:txEl>
                                              <p:pRg st="3" end="3"/>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515075">
                                            <p:txEl>
                                              <p:pRg st="3" end="3"/>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7000"/>
                            </p:stCondLst>
                            <p:childTnLst>
                              <p:par>
                                <p:cTn id="20" presetID="4" presetClass="entr" presetSubtype="32" fill="hold" grpId="0" nodeType="afterEffect">
                                  <p:stCondLst>
                                    <p:cond delay="3000"/>
                                  </p:stCondLst>
                                  <p:childTnLst>
                                    <p:set>
                                      <p:cBhvr>
                                        <p:cTn id="21" dur="1" fill="hold">
                                          <p:stCondLst>
                                            <p:cond delay="0"/>
                                          </p:stCondLst>
                                        </p:cTn>
                                        <p:tgtEl>
                                          <p:spTgt spid="515076"/>
                                        </p:tgtEl>
                                        <p:attrNameLst>
                                          <p:attrName>style.visibility</p:attrName>
                                        </p:attrNameLst>
                                      </p:cBhvr>
                                      <p:to>
                                        <p:strVal val="visible"/>
                                      </p:to>
                                    </p:set>
                                    <p:animEffect transition="in" filter="box(out)">
                                      <p:cBhvr>
                                        <p:cTn id="22" dur="2000"/>
                                        <p:tgtEl>
                                          <p:spTgt spid="515076"/>
                                        </p:tgtEl>
                                      </p:cBhvr>
                                    </p:animEffect>
                                  </p:childTnLst>
                                  <p:subTnLst>
                                    <p:animClr clrSpc="rgb" dir="cw">
                                      <p:cBhvr override="childStyle">
                                        <p:cTn dur="1" fill="hold" display="0" masterRel="nextClick" afterEffect="1"/>
                                        <p:tgtEl>
                                          <p:spTgt spid="515076"/>
                                        </p:tgtEl>
                                        <p:attrNameLst>
                                          <p:attrName>ppt_c</p:attrName>
                                        </p:attrNameLst>
                                      </p:cBhvr>
                                      <p:to>
                                        <a:srgbClr val="660066"/>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0243"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0244"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75F20AB8-2864-4185-AECC-B9BA683F9197}" type="slidenum">
              <a:rPr lang="zh-CN" altLang="en-US" sz="800" b="0"/>
              <a:pPr/>
              <a:t>9</a:t>
            </a:fld>
            <a:endParaRPr lang="en-US" altLang="zh-CN" sz="800" b="0"/>
          </a:p>
        </p:txBody>
      </p:sp>
      <p:sp>
        <p:nvSpPr>
          <p:cNvPr id="10245" name="Rectangle 2"/>
          <p:cNvSpPr>
            <a:spLocks noGrp="1" noChangeArrowheads="1"/>
          </p:cNvSpPr>
          <p:nvPr>
            <p:ph type="title"/>
          </p:nvPr>
        </p:nvSpPr>
        <p:spPr>
          <a:xfrm>
            <a:off x="273050" y="115888"/>
            <a:ext cx="9371013" cy="914400"/>
          </a:xfrm>
        </p:spPr>
        <p:txBody>
          <a:bodyPr/>
          <a:lstStyle/>
          <a:p>
            <a:r>
              <a:rPr lang="en-US" altLang="zh-CN" smtClean="0">
                <a:ea typeface="宋体" panose="02010600030101010101" pitchFamily="2" charset="-122"/>
              </a:rPr>
              <a:t>Example 3.9 : Unsigned #s (P.102)</a:t>
            </a:r>
          </a:p>
        </p:txBody>
      </p:sp>
      <p:grpSp>
        <p:nvGrpSpPr>
          <p:cNvPr id="10246" name="Group 3"/>
          <p:cNvGrpSpPr>
            <a:grpSpLocks/>
          </p:cNvGrpSpPr>
          <p:nvPr/>
        </p:nvGrpSpPr>
        <p:grpSpPr bwMode="auto">
          <a:xfrm>
            <a:off x="631825" y="836613"/>
            <a:ext cx="8750300" cy="1631950"/>
            <a:chOff x="576" y="1632"/>
            <a:chExt cx="5088" cy="1028"/>
          </a:xfrm>
        </p:grpSpPr>
        <p:sp>
          <p:nvSpPr>
            <p:cNvPr id="10307" name="Line 4"/>
            <p:cNvSpPr>
              <a:spLocks noChangeShapeType="1"/>
            </p:cNvSpPr>
            <p:nvPr/>
          </p:nvSpPr>
          <p:spPr bwMode="auto">
            <a:xfrm>
              <a:off x="720" y="2208"/>
              <a:ext cx="28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Line 5"/>
            <p:cNvSpPr>
              <a:spLocks noChangeShapeType="1"/>
            </p:cNvSpPr>
            <p:nvPr/>
          </p:nvSpPr>
          <p:spPr bwMode="auto">
            <a:xfrm>
              <a:off x="1968" y="2208"/>
              <a:ext cx="19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Line 6"/>
            <p:cNvSpPr>
              <a:spLocks noChangeShapeType="1"/>
            </p:cNvSpPr>
            <p:nvPr/>
          </p:nvSpPr>
          <p:spPr bwMode="auto">
            <a:xfrm>
              <a:off x="3120" y="2208"/>
              <a:ext cx="19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10" name="Group 7"/>
            <p:cNvGrpSpPr>
              <a:grpSpLocks/>
            </p:cNvGrpSpPr>
            <p:nvPr/>
          </p:nvGrpSpPr>
          <p:grpSpPr bwMode="auto">
            <a:xfrm>
              <a:off x="5232" y="2064"/>
              <a:ext cx="288" cy="288"/>
              <a:chOff x="3696" y="1152"/>
              <a:chExt cx="288" cy="288"/>
            </a:xfrm>
          </p:grpSpPr>
          <p:sp>
            <p:nvSpPr>
              <p:cNvPr id="10362" name="Oval 8"/>
              <p:cNvSpPr>
                <a:spLocks noChangeArrowheads="1"/>
              </p:cNvSpPr>
              <p:nvPr/>
            </p:nvSpPr>
            <p:spPr bwMode="auto">
              <a:xfrm>
                <a:off x="3696"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63" name="Oval 9"/>
              <p:cNvSpPr>
                <a:spLocks noChangeArrowheads="1"/>
              </p:cNvSpPr>
              <p:nvPr/>
            </p:nvSpPr>
            <p:spPr bwMode="auto">
              <a:xfrm>
                <a:off x="3744" y="120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64" name="Text Box 10"/>
              <p:cNvSpPr txBox="1">
                <a:spLocks noChangeArrowheads="1"/>
              </p:cNvSpPr>
              <p:nvPr/>
            </p:nvSpPr>
            <p:spPr bwMode="auto">
              <a:xfrm>
                <a:off x="3696"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19</a:t>
                </a:r>
              </a:p>
            </p:txBody>
          </p:sp>
        </p:grpSp>
        <p:grpSp>
          <p:nvGrpSpPr>
            <p:cNvPr id="10311" name="Group 11"/>
            <p:cNvGrpSpPr>
              <a:grpSpLocks/>
            </p:cNvGrpSpPr>
            <p:nvPr/>
          </p:nvGrpSpPr>
          <p:grpSpPr bwMode="auto">
            <a:xfrm>
              <a:off x="1008" y="2064"/>
              <a:ext cx="288" cy="288"/>
              <a:chOff x="2448" y="3024"/>
              <a:chExt cx="288" cy="288"/>
            </a:xfrm>
          </p:grpSpPr>
          <p:sp>
            <p:nvSpPr>
              <p:cNvPr id="10360" name="Oval 12"/>
              <p:cNvSpPr>
                <a:spLocks noChangeArrowheads="1"/>
              </p:cNvSpPr>
              <p:nvPr/>
            </p:nvSpPr>
            <p:spPr bwMode="auto">
              <a:xfrm>
                <a:off x="2448" y="3024"/>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61" name="Text Box 13"/>
              <p:cNvSpPr txBox="1">
                <a:spLocks noChangeArrowheads="1"/>
              </p:cNvSpPr>
              <p:nvPr/>
            </p:nvSpPr>
            <p:spPr bwMode="auto">
              <a:xfrm>
                <a:off x="2448" y="307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12</a:t>
                </a:r>
              </a:p>
            </p:txBody>
          </p:sp>
        </p:grpSp>
        <p:grpSp>
          <p:nvGrpSpPr>
            <p:cNvPr id="10312" name="Group 14"/>
            <p:cNvGrpSpPr>
              <a:grpSpLocks/>
            </p:cNvGrpSpPr>
            <p:nvPr/>
          </p:nvGrpSpPr>
          <p:grpSpPr bwMode="auto">
            <a:xfrm>
              <a:off x="2160" y="2064"/>
              <a:ext cx="288" cy="288"/>
              <a:chOff x="2448" y="3024"/>
              <a:chExt cx="288" cy="288"/>
            </a:xfrm>
          </p:grpSpPr>
          <p:sp>
            <p:nvSpPr>
              <p:cNvPr id="10358" name="Oval 15"/>
              <p:cNvSpPr>
                <a:spLocks noChangeArrowheads="1"/>
              </p:cNvSpPr>
              <p:nvPr/>
            </p:nvSpPr>
            <p:spPr bwMode="auto">
              <a:xfrm>
                <a:off x="2448" y="3024"/>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59" name="Text Box 16"/>
              <p:cNvSpPr txBox="1">
                <a:spLocks noChangeArrowheads="1"/>
              </p:cNvSpPr>
              <p:nvPr/>
            </p:nvSpPr>
            <p:spPr bwMode="auto">
              <a:xfrm>
                <a:off x="2448" y="307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14</a:t>
                </a:r>
              </a:p>
            </p:txBody>
          </p:sp>
        </p:grpSp>
        <p:grpSp>
          <p:nvGrpSpPr>
            <p:cNvPr id="10313" name="Group 17"/>
            <p:cNvGrpSpPr>
              <a:grpSpLocks/>
            </p:cNvGrpSpPr>
            <p:nvPr/>
          </p:nvGrpSpPr>
          <p:grpSpPr bwMode="auto">
            <a:xfrm>
              <a:off x="1680" y="2064"/>
              <a:ext cx="288" cy="288"/>
              <a:chOff x="2448" y="3024"/>
              <a:chExt cx="288" cy="288"/>
            </a:xfrm>
          </p:grpSpPr>
          <p:sp>
            <p:nvSpPr>
              <p:cNvPr id="10356" name="Oval 18"/>
              <p:cNvSpPr>
                <a:spLocks noChangeArrowheads="1"/>
              </p:cNvSpPr>
              <p:nvPr/>
            </p:nvSpPr>
            <p:spPr bwMode="auto">
              <a:xfrm>
                <a:off x="2448" y="3024"/>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57" name="Text Box 19"/>
              <p:cNvSpPr txBox="1">
                <a:spLocks noChangeArrowheads="1"/>
              </p:cNvSpPr>
              <p:nvPr/>
            </p:nvSpPr>
            <p:spPr bwMode="auto">
              <a:xfrm>
                <a:off x="2448" y="307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13</a:t>
                </a:r>
              </a:p>
            </p:txBody>
          </p:sp>
        </p:grpSp>
        <p:grpSp>
          <p:nvGrpSpPr>
            <p:cNvPr id="10314" name="Group 20"/>
            <p:cNvGrpSpPr>
              <a:grpSpLocks/>
            </p:cNvGrpSpPr>
            <p:nvPr/>
          </p:nvGrpSpPr>
          <p:grpSpPr bwMode="auto">
            <a:xfrm>
              <a:off x="3312" y="2064"/>
              <a:ext cx="288" cy="288"/>
              <a:chOff x="2448" y="3024"/>
              <a:chExt cx="288" cy="288"/>
            </a:xfrm>
          </p:grpSpPr>
          <p:sp>
            <p:nvSpPr>
              <p:cNvPr id="10354" name="Oval 21"/>
              <p:cNvSpPr>
                <a:spLocks noChangeArrowheads="1"/>
              </p:cNvSpPr>
              <p:nvPr/>
            </p:nvSpPr>
            <p:spPr bwMode="auto">
              <a:xfrm>
                <a:off x="2448" y="3024"/>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55" name="Text Box 22"/>
              <p:cNvSpPr txBox="1">
                <a:spLocks noChangeArrowheads="1"/>
              </p:cNvSpPr>
              <p:nvPr/>
            </p:nvSpPr>
            <p:spPr bwMode="auto">
              <a:xfrm>
                <a:off x="2448" y="307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16</a:t>
                </a:r>
              </a:p>
            </p:txBody>
          </p:sp>
        </p:grpSp>
        <p:grpSp>
          <p:nvGrpSpPr>
            <p:cNvPr id="10315" name="Group 23"/>
            <p:cNvGrpSpPr>
              <a:grpSpLocks/>
            </p:cNvGrpSpPr>
            <p:nvPr/>
          </p:nvGrpSpPr>
          <p:grpSpPr bwMode="auto">
            <a:xfrm>
              <a:off x="2832" y="2064"/>
              <a:ext cx="288" cy="288"/>
              <a:chOff x="2448" y="3024"/>
              <a:chExt cx="288" cy="288"/>
            </a:xfrm>
          </p:grpSpPr>
          <p:sp>
            <p:nvSpPr>
              <p:cNvPr id="10352" name="Oval 24"/>
              <p:cNvSpPr>
                <a:spLocks noChangeArrowheads="1"/>
              </p:cNvSpPr>
              <p:nvPr/>
            </p:nvSpPr>
            <p:spPr bwMode="auto">
              <a:xfrm>
                <a:off x="2448" y="3024"/>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53" name="Text Box 25"/>
              <p:cNvSpPr txBox="1">
                <a:spLocks noChangeArrowheads="1"/>
              </p:cNvSpPr>
              <p:nvPr/>
            </p:nvSpPr>
            <p:spPr bwMode="auto">
              <a:xfrm>
                <a:off x="2448" y="307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15</a:t>
                </a:r>
              </a:p>
            </p:txBody>
          </p:sp>
        </p:grpSp>
        <p:grpSp>
          <p:nvGrpSpPr>
            <p:cNvPr id="10316" name="Group 26"/>
            <p:cNvGrpSpPr>
              <a:grpSpLocks/>
            </p:cNvGrpSpPr>
            <p:nvPr/>
          </p:nvGrpSpPr>
          <p:grpSpPr bwMode="auto">
            <a:xfrm>
              <a:off x="4560" y="2064"/>
              <a:ext cx="288" cy="288"/>
              <a:chOff x="2448" y="3024"/>
              <a:chExt cx="288" cy="288"/>
            </a:xfrm>
          </p:grpSpPr>
          <p:sp>
            <p:nvSpPr>
              <p:cNvPr id="10350" name="Oval 27"/>
              <p:cNvSpPr>
                <a:spLocks noChangeArrowheads="1"/>
              </p:cNvSpPr>
              <p:nvPr/>
            </p:nvSpPr>
            <p:spPr bwMode="auto">
              <a:xfrm>
                <a:off x="2448" y="3024"/>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51" name="Text Box 28"/>
              <p:cNvSpPr txBox="1">
                <a:spLocks noChangeArrowheads="1"/>
              </p:cNvSpPr>
              <p:nvPr/>
            </p:nvSpPr>
            <p:spPr bwMode="auto">
              <a:xfrm>
                <a:off x="2448" y="307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18</a:t>
                </a:r>
              </a:p>
            </p:txBody>
          </p:sp>
        </p:grpSp>
        <p:grpSp>
          <p:nvGrpSpPr>
            <p:cNvPr id="10317" name="Group 29"/>
            <p:cNvGrpSpPr>
              <a:grpSpLocks/>
            </p:cNvGrpSpPr>
            <p:nvPr/>
          </p:nvGrpSpPr>
          <p:grpSpPr bwMode="auto">
            <a:xfrm>
              <a:off x="3888" y="2064"/>
              <a:ext cx="288" cy="288"/>
              <a:chOff x="2448" y="3024"/>
              <a:chExt cx="288" cy="288"/>
            </a:xfrm>
          </p:grpSpPr>
          <p:sp>
            <p:nvSpPr>
              <p:cNvPr id="10348" name="Oval 30"/>
              <p:cNvSpPr>
                <a:spLocks noChangeArrowheads="1"/>
              </p:cNvSpPr>
              <p:nvPr/>
            </p:nvSpPr>
            <p:spPr bwMode="auto">
              <a:xfrm>
                <a:off x="2448" y="3024"/>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49" name="Text Box 31"/>
              <p:cNvSpPr txBox="1">
                <a:spLocks noChangeArrowheads="1"/>
              </p:cNvSpPr>
              <p:nvPr/>
            </p:nvSpPr>
            <p:spPr bwMode="auto">
              <a:xfrm>
                <a:off x="2448" y="3072"/>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17</a:t>
                </a:r>
              </a:p>
            </p:txBody>
          </p:sp>
        </p:grpSp>
        <p:sp>
          <p:nvSpPr>
            <p:cNvPr id="10318" name="Text Box 32"/>
            <p:cNvSpPr txBox="1">
              <a:spLocks noChangeArrowheads="1"/>
            </p:cNvSpPr>
            <p:nvPr/>
          </p:nvSpPr>
          <p:spPr bwMode="auto">
            <a:xfrm>
              <a:off x="576" y="2016"/>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start</a:t>
              </a:r>
            </a:p>
          </p:txBody>
        </p:sp>
        <p:grpSp>
          <p:nvGrpSpPr>
            <p:cNvPr id="10319" name="Group 33"/>
            <p:cNvGrpSpPr>
              <a:grpSpLocks/>
            </p:cNvGrpSpPr>
            <p:nvPr/>
          </p:nvGrpSpPr>
          <p:grpSpPr bwMode="auto">
            <a:xfrm>
              <a:off x="4800" y="2016"/>
              <a:ext cx="480" cy="212"/>
              <a:chOff x="3792" y="3168"/>
              <a:chExt cx="480" cy="212"/>
            </a:xfrm>
          </p:grpSpPr>
          <p:sp>
            <p:nvSpPr>
              <p:cNvPr id="10346" name="Line 34"/>
              <p:cNvSpPr>
                <a:spLocks noChangeShapeType="1"/>
              </p:cNvSpPr>
              <p:nvPr/>
            </p:nvSpPr>
            <p:spPr bwMode="auto">
              <a:xfrm>
                <a:off x="3840" y="3360"/>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7" name="Text Box 35"/>
              <p:cNvSpPr txBox="1">
                <a:spLocks noChangeArrowheads="1"/>
              </p:cNvSpPr>
              <p:nvPr/>
            </p:nvSpPr>
            <p:spPr bwMode="auto">
              <a:xfrm>
                <a:off x="3792" y="316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other</a:t>
                </a:r>
              </a:p>
            </p:txBody>
          </p:sp>
        </p:grpSp>
        <p:grpSp>
          <p:nvGrpSpPr>
            <p:cNvPr id="10320" name="Group 36"/>
            <p:cNvGrpSpPr>
              <a:grpSpLocks/>
            </p:cNvGrpSpPr>
            <p:nvPr/>
          </p:nvGrpSpPr>
          <p:grpSpPr bwMode="auto">
            <a:xfrm>
              <a:off x="1248" y="2016"/>
              <a:ext cx="480" cy="212"/>
              <a:chOff x="1728" y="2688"/>
              <a:chExt cx="480" cy="212"/>
            </a:xfrm>
          </p:grpSpPr>
          <p:sp>
            <p:nvSpPr>
              <p:cNvPr id="10344" name="Text Box 37"/>
              <p:cNvSpPr txBox="1">
                <a:spLocks noChangeArrowheads="1"/>
              </p:cNvSpPr>
              <p:nvPr/>
            </p:nvSpPr>
            <p:spPr bwMode="auto">
              <a:xfrm>
                <a:off x="1728" y="268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345" name="Line 38"/>
              <p:cNvSpPr>
                <a:spLocks noChangeShapeType="1"/>
              </p:cNvSpPr>
              <p:nvPr/>
            </p:nvSpPr>
            <p:spPr bwMode="auto">
              <a:xfrm>
                <a:off x="1776" y="2880"/>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21" name="Text Box 39"/>
            <p:cNvSpPr txBox="1">
              <a:spLocks noChangeArrowheads="1"/>
            </p:cNvSpPr>
            <p:nvPr/>
          </p:nvSpPr>
          <p:spPr bwMode="auto">
            <a:xfrm>
              <a:off x="1968" y="2016"/>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grpSp>
          <p:nvGrpSpPr>
            <p:cNvPr id="10322" name="Group 40"/>
            <p:cNvGrpSpPr>
              <a:grpSpLocks/>
            </p:cNvGrpSpPr>
            <p:nvPr/>
          </p:nvGrpSpPr>
          <p:grpSpPr bwMode="auto">
            <a:xfrm>
              <a:off x="2400" y="2016"/>
              <a:ext cx="480" cy="212"/>
              <a:chOff x="1728" y="2688"/>
              <a:chExt cx="480" cy="212"/>
            </a:xfrm>
          </p:grpSpPr>
          <p:sp>
            <p:nvSpPr>
              <p:cNvPr id="10342" name="Text Box 41"/>
              <p:cNvSpPr txBox="1">
                <a:spLocks noChangeArrowheads="1"/>
              </p:cNvSpPr>
              <p:nvPr/>
            </p:nvSpPr>
            <p:spPr bwMode="auto">
              <a:xfrm>
                <a:off x="1728" y="268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343" name="Line 42"/>
              <p:cNvSpPr>
                <a:spLocks noChangeShapeType="1"/>
              </p:cNvSpPr>
              <p:nvPr/>
            </p:nvSpPr>
            <p:spPr bwMode="auto">
              <a:xfrm>
                <a:off x="1776" y="2880"/>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23" name="Text Box 43"/>
            <p:cNvSpPr txBox="1">
              <a:spLocks noChangeArrowheads="1"/>
            </p:cNvSpPr>
            <p:nvPr/>
          </p:nvSpPr>
          <p:spPr bwMode="auto">
            <a:xfrm>
              <a:off x="3120" y="2016"/>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E</a:t>
              </a:r>
            </a:p>
          </p:txBody>
        </p:sp>
        <p:grpSp>
          <p:nvGrpSpPr>
            <p:cNvPr id="10324" name="Group 44"/>
            <p:cNvGrpSpPr>
              <a:grpSpLocks/>
            </p:cNvGrpSpPr>
            <p:nvPr/>
          </p:nvGrpSpPr>
          <p:grpSpPr bwMode="auto">
            <a:xfrm>
              <a:off x="3552" y="2016"/>
              <a:ext cx="384" cy="212"/>
              <a:chOff x="3120" y="2544"/>
              <a:chExt cx="384" cy="212"/>
            </a:xfrm>
          </p:grpSpPr>
          <p:sp>
            <p:nvSpPr>
              <p:cNvPr id="10340" name="Line 45"/>
              <p:cNvSpPr>
                <a:spLocks noChangeShapeType="1"/>
              </p:cNvSpPr>
              <p:nvPr/>
            </p:nvSpPr>
            <p:spPr bwMode="auto">
              <a:xfrm>
                <a:off x="3168" y="2736"/>
                <a:ext cx="28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1" name="Text Box 46"/>
              <p:cNvSpPr txBox="1">
                <a:spLocks noChangeArrowheads="1"/>
              </p:cNvSpPr>
              <p:nvPr/>
            </p:nvSpPr>
            <p:spPr bwMode="auto">
              <a:xfrm>
                <a:off x="3120" y="2544"/>
                <a:ext cx="38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 | -</a:t>
                </a:r>
              </a:p>
            </p:txBody>
          </p:sp>
        </p:grpSp>
        <p:grpSp>
          <p:nvGrpSpPr>
            <p:cNvPr id="10325" name="Group 47"/>
            <p:cNvGrpSpPr>
              <a:grpSpLocks/>
            </p:cNvGrpSpPr>
            <p:nvPr/>
          </p:nvGrpSpPr>
          <p:grpSpPr bwMode="auto">
            <a:xfrm>
              <a:off x="4128" y="2016"/>
              <a:ext cx="480" cy="212"/>
              <a:chOff x="1728" y="2688"/>
              <a:chExt cx="480" cy="212"/>
            </a:xfrm>
          </p:grpSpPr>
          <p:sp>
            <p:nvSpPr>
              <p:cNvPr id="10338" name="Text Box 48"/>
              <p:cNvSpPr txBox="1">
                <a:spLocks noChangeArrowheads="1"/>
              </p:cNvSpPr>
              <p:nvPr/>
            </p:nvSpPr>
            <p:spPr bwMode="auto">
              <a:xfrm>
                <a:off x="1728" y="268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339" name="Line 49"/>
              <p:cNvSpPr>
                <a:spLocks noChangeShapeType="1"/>
              </p:cNvSpPr>
              <p:nvPr/>
            </p:nvSpPr>
            <p:spPr bwMode="auto">
              <a:xfrm>
                <a:off x="1776" y="2880"/>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26" name="Text Box 50"/>
            <p:cNvSpPr txBox="1">
              <a:spLocks noChangeArrowheads="1"/>
            </p:cNvSpPr>
            <p:nvPr/>
          </p:nvSpPr>
          <p:spPr bwMode="auto">
            <a:xfrm>
              <a:off x="672" y="1632"/>
              <a:ext cx="9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endParaRPr lang="zh-CN" altLang="en-US" sz="1800">
                <a:ea typeface="宋体" panose="02010600030101010101" pitchFamily="2" charset="-122"/>
              </a:endParaRPr>
            </a:p>
          </p:txBody>
        </p:sp>
        <p:sp>
          <p:nvSpPr>
            <p:cNvPr id="10327" name="Text Box 51"/>
            <p:cNvSpPr txBox="1">
              <a:spLocks noChangeArrowheads="1"/>
            </p:cNvSpPr>
            <p:nvPr/>
          </p:nvSpPr>
          <p:spPr bwMode="auto">
            <a:xfrm>
              <a:off x="1632" y="1680"/>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328" name="Text Box 52"/>
            <p:cNvSpPr txBox="1">
              <a:spLocks noChangeArrowheads="1"/>
            </p:cNvSpPr>
            <p:nvPr/>
          </p:nvSpPr>
          <p:spPr bwMode="auto">
            <a:xfrm>
              <a:off x="3840" y="244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329" name="Text Box 53"/>
            <p:cNvSpPr txBox="1">
              <a:spLocks noChangeArrowheads="1"/>
            </p:cNvSpPr>
            <p:nvPr/>
          </p:nvSpPr>
          <p:spPr bwMode="auto">
            <a:xfrm>
              <a:off x="2784" y="1680"/>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330" name="Text Box 54"/>
            <p:cNvSpPr txBox="1">
              <a:spLocks noChangeArrowheads="1"/>
            </p:cNvSpPr>
            <p:nvPr/>
          </p:nvSpPr>
          <p:spPr bwMode="auto">
            <a:xfrm>
              <a:off x="2400" y="244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E</a:t>
              </a:r>
            </a:p>
          </p:txBody>
        </p:sp>
        <p:sp>
          <p:nvSpPr>
            <p:cNvPr id="10331" name="Text Box 55"/>
            <p:cNvSpPr txBox="1">
              <a:spLocks noChangeArrowheads="1"/>
            </p:cNvSpPr>
            <p:nvPr/>
          </p:nvSpPr>
          <p:spPr bwMode="auto">
            <a:xfrm>
              <a:off x="4512" y="1680"/>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cxnSp>
          <p:nvCxnSpPr>
            <p:cNvPr id="10332" name="AutoShape 56"/>
            <p:cNvCxnSpPr>
              <a:cxnSpLocks noChangeShapeType="1"/>
              <a:stCxn id="10344" idx="3"/>
              <a:endCxn id="10356" idx="7"/>
            </p:cNvCxnSpPr>
            <p:nvPr/>
          </p:nvCxnSpPr>
          <p:spPr bwMode="auto">
            <a:xfrm flipV="1">
              <a:off x="1728" y="2106"/>
              <a:ext cx="198" cy="16"/>
            </a:xfrm>
            <a:prstGeom prst="curvedConnector4">
              <a:avLst>
                <a:gd name="adj1" fmla="val -7074"/>
                <a:gd name="adj2" fmla="val 15625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33" name="AutoShape 57"/>
            <p:cNvCxnSpPr>
              <a:cxnSpLocks noChangeShapeType="1"/>
              <a:stCxn id="10342" idx="3"/>
              <a:endCxn id="10352" idx="7"/>
            </p:cNvCxnSpPr>
            <p:nvPr/>
          </p:nvCxnSpPr>
          <p:spPr bwMode="auto">
            <a:xfrm flipV="1">
              <a:off x="2880" y="2106"/>
              <a:ext cx="198" cy="16"/>
            </a:xfrm>
            <a:prstGeom prst="curvedConnector4">
              <a:avLst>
                <a:gd name="adj1" fmla="val -6569"/>
                <a:gd name="adj2" fmla="val 15625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34" name="AutoShape 58"/>
            <p:cNvCxnSpPr>
              <a:cxnSpLocks noChangeShapeType="1"/>
              <a:stCxn id="10338" idx="3"/>
              <a:endCxn id="10350" idx="7"/>
            </p:cNvCxnSpPr>
            <p:nvPr/>
          </p:nvCxnSpPr>
          <p:spPr bwMode="auto">
            <a:xfrm flipV="1">
              <a:off x="4608" y="2106"/>
              <a:ext cx="198" cy="16"/>
            </a:xfrm>
            <a:prstGeom prst="curvedConnector4">
              <a:avLst>
                <a:gd name="adj1" fmla="val -18690"/>
                <a:gd name="adj2" fmla="val 15625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35" name="AutoShape 59"/>
            <p:cNvCxnSpPr>
              <a:cxnSpLocks noChangeShapeType="1"/>
            </p:cNvCxnSpPr>
            <p:nvPr/>
          </p:nvCxnSpPr>
          <p:spPr bwMode="auto">
            <a:xfrm rot="16200000" flipH="1">
              <a:off x="4079" y="1729"/>
              <a:ext cx="1" cy="1248"/>
            </a:xfrm>
            <a:prstGeom prst="curvedConnector3">
              <a:avLst>
                <a:gd name="adj1" fmla="val 14400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36" name="AutoShape 60"/>
            <p:cNvCxnSpPr>
              <a:cxnSpLocks noChangeShapeType="1"/>
              <a:stCxn id="10356" idx="4"/>
              <a:endCxn id="10354" idx="3"/>
            </p:cNvCxnSpPr>
            <p:nvPr/>
          </p:nvCxnSpPr>
          <p:spPr bwMode="auto">
            <a:xfrm rot="5400000" flipH="1" flipV="1">
              <a:off x="2568" y="1566"/>
              <a:ext cx="42" cy="1530"/>
            </a:xfrm>
            <a:prstGeom prst="curvedConnector3">
              <a:avLst>
                <a:gd name="adj1" fmla="val -342856"/>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37" name="Text Box 61"/>
            <p:cNvSpPr txBox="1">
              <a:spLocks noChangeArrowheads="1"/>
            </p:cNvSpPr>
            <p:nvPr/>
          </p:nvSpPr>
          <p:spPr bwMode="auto">
            <a:xfrm>
              <a:off x="5376" y="2016"/>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rPr>
                <a:t>*</a:t>
              </a:r>
            </a:p>
          </p:txBody>
        </p:sp>
      </p:grpSp>
      <p:sp>
        <p:nvSpPr>
          <p:cNvPr id="10247" name="Text Box 62"/>
          <p:cNvSpPr txBox="1">
            <a:spLocks noChangeArrowheads="1"/>
          </p:cNvSpPr>
          <p:nvPr/>
        </p:nvSpPr>
        <p:spPr bwMode="auto">
          <a:xfrm>
            <a:off x="6851650" y="5181600"/>
            <a:ext cx="2476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endParaRPr lang="zh-CN" altLang="en-US" sz="1800">
              <a:solidFill>
                <a:srgbClr val="FF3300"/>
              </a:solidFill>
              <a:ea typeface="宋体" panose="02010600030101010101" pitchFamily="2" charset="-122"/>
            </a:endParaRPr>
          </a:p>
        </p:txBody>
      </p:sp>
      <p:sp>
        <p:nvSpPr>
          <p:cNvPr id="404543" name="Text Box 63"/>
          <p:cNvSpPr txBox="1">
            <a:spLocks noChangeArrowheads="1"/>
          </p:cNvSpPr>
          <p:nvPr/>
        </p:nvSpPr>
        <p:spPr bwMode="auto">
          <a:xfrm>
            <a:off x="879475" y="4646613"/>
            <a:ext cx="825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endParaRPr lang="zh-CN" altLang="en-US" sz="1800">
              <a:ea typeface="宋体" panose="02010600030101010101" pitchFamily="2" charset="-122"/>
            </a:endParaRPr>
          </a:p>
        </p:txBody>
      </p:sp>
      <p:grpSp>
        <p:nvGrpSpPr>
          <p:cNvPr id="404544" name="Group 64"/>
          <p:cNvGrpSpPr>
            <a:grpSpLocks/>
          </p:cNvGrpSpPr>
          <p:nvPr/>
        </p:nvGrpSpPr>
        <p:grpSpPr bwMode="auto">
          <a:xfrm>
            <a:off x="796925" y="4037013"/>
            <a:ext cx="4870450" cy="990600"/>
            <a:chOff x="1344" y="2880"/>
            <a:chExt cx="2832" cy="624"/>
          </a:xfrm>
        </p:grpSpPr>
        <p:sp>
          <p:nvSpPr>
            <p:cNvPr id="10289" name="Line 65"/>
            <p:cNvSpPr>
              <a:spLocks noChangeShapeType="1"/>
            </p:cNvSpPr>
            <p:nvPr/>
          </p:nvSpPr>
          <p:spPr bwMode="auto">
            <a:xfrm>
              <a:off x="1344" y="3360"/>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Oval 66"/>
            <p:cNvSpPr>
              <a:spLocks noChangeArrowheads="1"/>
            </p:cNvSpPr>
            <p:nvPr/>
          </p:nvSpPr>
          <p:spPr bwMode="auto">
            <a:xfrm>
              <a:off x="1968" y="321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291" name="Line 67"/>
            <p:cNvSpPr>
              <a:spLocks noChangeShapeType="1"/>
            </p:cNvSpPr>
            <p:nvPr/>
          </p:nvSpPr>
          <p:spPr bwMode="auto">
            <a:xfrm>
              <a:off x="2256" y="3360"/>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Text Box 68"/>
            <p:cNvSpPr txBox="1">
              <a:spLocks noChangeArrowheads="1"/>
            </p:cNvSpPr>
            <p:nvPr/>
          </p:nvSpPr>
          <p:spPr bwMode="auto">
            <a:xfrm>
              <a:off x="1392" y="316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start</a:t>
              </a:r>
            </a:p>
          </p:txBody>
        </p:sp>
        <p:sp>
          <p:nvSpPr>
            <p:cNvPr id="10293" name="Text Box 69"/>
            <p:cNvSpPr txBox="1">
              <a:spLocks noChangeArrowheads="1"/>
            </p:cNvSpPr>
            <p:nvPr/>
          </p:nvSpPr>
          <p:spPr bwMode="auto">
            <a:xfrm>
              <a:off x="2304" y="316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294" name="Text Box 70"/>
            <p:cNvSpPr txBox="1">
              <a:spLocks noChangeArrowheads="1"/>
            </p:cNvSpPr>
            <p:nvPr/>
          </p:nvSpPr>
          <p:spPr bwMode="auto">
            <a:xfrm>
              <a:off x="1968" y="3264"/>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25</a:t>
              </a:r>
            </a:p>
          </p:txBody>
        </p:sp>
        <p:sp>
          <p:nvSpPr>
            <p:cNvPr id="10295" name="Line 71"/>
            <p:cNvSpPr>
              <a:spLocks noChangeShapeType="1"/>
            </p:cNvSpPr>
            <p:nvPr/>
          </p:nvSpPr>
          <p:spPr bwMode="auto">
            <a:xfrm>
              <a:off x="3168" y="3360"/>
              <a:ext cx="52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Text Box 72"/>
            <p:cNvSpPr txBox="1">
              <a:spLocks noChangeArrowheads="1"/>
            </p:cNvSpPr>
            <p:nvPr/>
          </p:nvSpPr>
          <p:spPr bwMode="auto">
            <a:xfrm>
              <a:off x="3168" y="316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other</a:t>
              </a:r>
            </a:p>
          </p:txBody>
        </p:sp>
        <p:grpSp>
          <p:nvGrpSpPr>
            <p:cNvPr id="10297" name="Group 73"/>
            <p:cNvGrpSpPr>
              <a:grpSpLocks/>
            </p:cNvGrpSpPr>
            <p:nvPr/>
          </p:nvGrpSpPr>
          <p:grpSpPr bwMode="auto">
            <a:xfrm>
              <a:off x="3696" y="3216"/>
              <a:ext cx="288" cy="288"/>
              <a:chOff x="3696" y="1152"/>
              <a:chExt cx="288" cy="288"/>
            </a:xfrm>
          </p:grpSpPr>
          <p:sp>
            <p:nvSpPr>
              <p:cNvPr id="10304" name="Oval 74"/>
              <p:cNvSpPr>
                <a:spLocks noChangeArrowheads="1"/>
              </p:cNvSpPr>
              <p:nvPr/>
            </p:nvSpPr>
            <p:spPr bwMode="auto">
              <a:xfrm>
                <a:off x="3696"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05" name="Oval 75"/>
              <p:cNvSpPr>
                <a:spLocks noChangeArrowheads="1"/>
              </p:cNvSpPr>
              <p:nvPr/>
            </p:nvSpPr>
            <p:spPr bwMode="auto">
              <a:xfrm>
                <a:off x="3744" y="120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06" name="Text Box 76"/>
              <p:cNvSpPr txBox="1">
                <a:spLocks noChangeArrowheads="1"/>
              </p:cNvSpPr>
              <p:nvPr/>
            </p:nvSpPr>
            <p:spPr bwMode="auto">
              <a:xfrm>
                <a:off x="3696"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27</a:t>
                </a:r>
              </a:p>
            </p:txBody>
          </p:sp>
        </p:grpSp>
        <p:grpSp>
          <p:nvGrpSpPr>
            <p:cNvPr id="10298" name="Group 77"/>
            <p:cNvGrpSpPr>
              <a:grpSpLocks/>
            </p:cNvGrpSpPr>
            <p:nvPr/>
          </p:nvGrpSpPr>
          <p:grpSpPr bwMode="auto">
            <a:xfrm>
              <a:off x="2880" y="3216"/>
              <a:ext cx="288" cy="288"/>
              <a:chOff x="2880" y="1152"/>
              <a:chExt cx="288" cy="288"/>
            </a:xfrm>
          </p:grpSpPr>
          <p:sp>
            <p:nvSpPr>
              <p:cNvPr id="10301" name="Oval 78"/>
              <p:cNvSpPr>
                <a:spLocks noChangeArrowheads="1"/>
              </p:cNvSpPr>
              <p:nvPr/>
            </p:nvSpPr>
            <p:spPr bwMode="auto">
              <a:xfrm>
                <a:off x="2880"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302" name="Text Box 79"/>
              <p:cNvSpPr txBox="1">
                <a:spLocks noChangeArrowheads="1"/>
              </p:cNvSpPr>
              <p:nvPr/>
            </p:nvSpPr>
            <p:spPr bwMode="auto">
              <a:xfrm>
                <a:off x="2880"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26</a:t>
                </a:r>
              </a:p>
            </p:txBody>
          </p:sp>
          <p:cxnSp>
            <p:nvCxnSpPr>
              <p:cNvPr id="10303" name="AutoShape 80"/>
              <p:cNvCxnSpPr>
                <a:cxnSpLocks noChangeShapeType="1"/>
                <a:stCxn id="10301" idx="7"/>
                <a:endCxn id="10302" idx="0"/>
              </p:cNvCxnSpPr>
              <p:nvPr/>
            </p:nvCxnSpPr>
            <p:spPr bwMode="auto">
              <a:xfrm rot="-5400000" flipH="1" flipV="1">
                <a:off x="3072" y="1146"/>
                <a:ext cx="6" cy="102"/>
              </a:xfrm>
              <a:prstGeom prst="curvedConnector3">
                <a:avLst>
                  <a:gd name="adj1" fmla="val -31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99" name="Text Box 81"/>
            <p:cNvSpPr txBox="1">
              <a:spLocks noChangeArrowheads="1"/>
            </p:cNvSpPr>
            <p:nvPr/>
          </p:nvSpPr>
          <p:spPr bwMode="auto">
            <a:xfrm>
              <a:off x="2688" y="2880"/>
              <a:ext cx="105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1600">
                  <a:ea typeface="宋体" panose="02010600030101010101" pitchFamily="2" charset="-122"/>
                </a:rPr>
                <a:t>      </a:t>
              </a:r>
              <a:r>
                <a:rPr lang="en-US" altLang="zh-CN" sz="1600">
                  <a:ea typeface="宋体" panose="02010600030101010101" pitchFamily="2" charset="-122"/>
                </a:rPr>
                <a:t>digit</a:t>
              </a:r>
            </a:p>
          </p:txBody>
        </p:sp>
        <p:sp>
          <p:nvSpPr>
            <p:cNvPr id="10300" name="Text Box 82"/>
            <p:cNvSpPr txBox="1">
              <a:spLocks noChangeArrowheads="1"/>
            </p:cNvSpPr>
            <p:nvPr/>
          </p:nvSpPr>
          <p:spPr bwMode="auto">
            <a:xfrm>
              <a:off x="3840" y="3168"/>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rPr>
                <a:t>*</a:t>
              </a:r>
            </a:p>
          </p:txBody>
        </p:sp>
      </p:grpSp>
      <p:grpSp>
        <p:nvGrpSpPr>
          <p:cNvPr id="404563" name="Group 83"/>
          <p:cNvGrpSpPr>
            <a:grpSpLocks/>
          </p:cNvGrpSpPr>
          <p:nvPr/>
        </p:nvGrpSpPr>
        <p:grpSpPr bwMode="auto">
          <a:xfrm>
            <a:off x="796925" y="2665413"/>
            <a:ext cx="7346950" cy="990600"/>
            <a:chOff x="768" y="2016"/>
            <a:chExt cx="4272" cy="624"/>
          </a:xfrm>
        </p:grpSpPr>
        <p:sp>
          <p:nvSpPr>
            <p:cNvPr id="10256" name="Line 84"/>
            <p:cNvSpPr>
              <a:spLocks noChangeShapeType="1"/>
            </p:cNvSpPr>
            <p:nvPr/>
          </p:nvSpPr>
          <p:spPr bwMode="auto">
            <a:xfrm>
              <a:off x="768" y="2496"/>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Text Box 85"/>
            <p:cNvSpPr txBox="1">
              <a:spLocks noChangeArrowheads="1"/>
            </p:cNvSpPr>
            <p:nvPr/>
          </p:nvSpPr>
          <p:spPr bwMode="auto">
            <a:xfrm>
              <a:off x="816" y="2304"/>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start</a:t>
              </a:r>
            </a:p>
          </p:txBody>
        </p:sp>
        <p:sp>
          <p:nvSpPr>
            <p:cNvPr id="10258" name="Oval 86"/>
            <p:cNvSpPr>
              <a:spLocks noChangeArrowheads="1"/>
            </p:cNvSpPr>
            <p:nvPr/>
          </p:nvSpPr>
          <p:spPr bwMode="auto">
            <a:xfrm>
              <a:off x="1392" y="23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259" name="Line 87"/>
            <p:cNvSpPr>
              <a:spLocks noChangeShapeType="1"/>
            </p:cNvSpPr>
            <p:nvPr/>
          </p:nvSpPr>
          <p:spPr bwMode="auto">
            <a:xfrm>
              <a:off x="1680" y="2496"/>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0" name="Text Box 88"/>
            <p:cNvSpPr txBox="1">
              <a:spLocks noChangeArrowheads="1"/>
            </p:cNvSpPr>
            <p:nvPr/>
          </p:nvSpPr>
          <p:spPr bwMode="auto">
            <a:xfrm>
              <a:off x="1728" y="2304"/>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261" name="Text Box 89"/>
            <p:cNvSpPr txBox="1">
              <a:spLocks noChangeArrowheads="1"/>
            </p:cNvSpPr>
            <p:nvPr/>
          </p:nvSpPr>
          <p:spPr bwMode="auto">
            <a:xfrm>
              <a:off x="1392" y="24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20</a:t>
              </a:r>
            </a:p>
          </p:txBody>
        </p:sp>
        <p:sp>
          <p:nvSpPr>
            <p:cNvPr id="10262" name="Text Box 90"/>
            <p:cNvSpPr txBox="1">
              <a:spLocks noChangeArrowheads="1"/>
            </p:cNvSpPr>
            <p:nvPr/>
          </p:nvSpPr>
          <p:spPr bwMode="auto">
            <a:xfrm>
              <a:off x="2352" y="230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rPr>
                <a:t>*</a:t>
              </a:r>
            </a:p>
          </p:txBody>
        </p:sp>
        <p:sp>
          <p:nvSpPr>
            <p:cNvPr id="10263" name="Line 91"/>
            <p:cNvSpPr>
              <a:spLocks noChangeShapeType="1"/>
            </p:cNvSpPr>
            <p:nvPr/>
          </p:nvSpPr>
          <p:spPr bwMode="auto">
            <a:xfrm>
              <a:off x="2592" y="2496"/>
              <a:ext cx="28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4" name="Text Box 92"/>
            <p:cNvSpPr txBox="1">
              <a:spLocks noChangeArrowheads="1"/>
            </p:cNvSpPr>
            <p:nvPr/>
          </p:nvSpPr>
          <p:spPr bwMode="auto">
            <a:xfrm>
              <a:off x="2592" y="2304"/>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grpSp>
          <p:nvGrpSpPr>
            <p:cNvPr id="10265" name="Group 93"/>
            <p:cNvGrpSpPr>
              <a:grpSpLocks/>
            </p:cNvGrpSpPr>
            <p:nvPr/>
          </p:nvGrpSpPr>
          <p:grpSpPr bwMode="auto">
            <a:xfrm>
              <a:off x="2304" y="2352"/>
              <a:ext cx="288" cy="288"/>
              <a:chOff x="2880" y="1152"/>
              <a:chExt cx="288" cy="288"/>
            </a:xfrm>
          </p:grpSpPr>
          <p:sp>
            <p:nvSpPr>
              <p:cNvPr id="10286" name="Oval 94"/>
              <p:cNvSpPr>
                <a:spLocks noChangeArrowheads="1"/>
              </p:cNvSpPr>
              <p:nvPr/>
            </p:nvSpPr>
            <p:spPr bwMode="auto">
              <a:xfrm>
                <a:off x="2880"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287" name="Text Box 95"/>
              <p:cNvSpPr txBox="1">
                <a:spLocks noChangeArrowheads="1"/>
              </p:cNvSpPr>
              <p:nvPr/>
            </p:nvSpPr>
            <p:spPr bwMode="auto">
              <a:xfrm>
                <a:off x="2880"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21</a:t>
                </a:r>
              </a:p>
            </p:txBody>
          </p:sp>
          <p:cxnSp>
            <p:nvCxnSpPr>
              <p:cNvPr id="10288" name="AutoShape 96"/>
              <p:cNvCxnSpPr>
                <a:cxnSpLocks noChangeShapeType="1"/>
                <a:stCxn id="10286" idx="7"/>
                <a:endCxn id="10287" idx="0"/>
              </p:cNvCxnSpPr>
              <p:nvPr/>
            </p:nvCxnSpPr>
            <p:spPr bwMode="auto">
              <a:xfrm rot="-5400000" flipH="1" flipV="1">
                <a:off x="3072" y="1146"/>
                <a:ext cx="6" cy="102"/>
              </a:xfrm>
              <a:prstGeom prst="curvedConnector3">
                <a:avLst>
                  <a:gd name="adj1" fmla="val -31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66" name="Text Box 97"/>
            <p:cNvSpPr txBox="1">
              <a:spLocks noChangeArrowheads="1"/>
            </p:cNvSpPr>
            <p:nvPr/>
          </p:nvSpPr>
          <p:spPr bwMode="auto">
            <a:xfrm>
              <a:off x="2112" y="2016"/>
              <a:ext cx="7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1600">
                  <a:ea typeface="宋体" panose="02010600030101010101" pitchFamily="2" charset="-122"/>
                </a:rPr>
                <a:t>      </a:t>
              </a:r>
              <a:r>
                <a:rPr lang="en-US" altLang="zh-CN" sz="1600">
                  <a:ea typeface="宋体" panose="02010600030101010101" pitchFamily="2" charset="-122"/>
                </a:rPr>
                <a:t>digit</a:t>
              </a:r>
            </a:p>
          </p:txBody>
        </p:sp>
        <p:grpSp>
          <p:nvGrpSpPr>
            <p:cNvPr id="10267" name="Group 98"/>
            <p:cNvGrpSpPr>
              <a:grpSpLocks/>
            </p:cNvGrpSpPr>
            <p:nvPr/>
          </p:nvGrpSpPr>
          <p:grpSpPr bwMode="auto">
            <a:xfrm>
              <a:off x="2880" y="2016"/>
              <a:ext cx="2160" cy="624"/>
              <a:chOff x="3120" y="2016"/>
              <a:chExt cx="2160" cy="624"/>
            </a:xfrm>
          </p:grpSpPr>
          <p:grpSp>
            <p:nvGrpSpPr>
              <p:cNvPr id="10268" name="Group 99"/>
              <p:cNvGrpSpPr>
                <a:grpSpLocks/>
              </p:cNvGrpSpPr>
              <p:nvPr/>
            </p:nvGrpSpPr>
            <p:grpSpPr bwMode="auto">
              <a:xfrm>
                <a:off x="3888" y="2016"/>
                <a:ext cx="1248" cy="624"/>
                <a:chOff x="2160" y="2016"/>
                <a:chExt cx="1248" cy="624"/>
              </a:xfrm>
            </p:grpSpPr>
            <p:grpSp>
              <p:nvGrpSpPr>
                <p:cNvPr id="10275" name="Group 100"/>
                <p:cNvGrpSpPr>
                  <a:grpSpLocks/>
                </p:cNvGrpSpPr>
                <p:nvPr/>
              </p:nvGrpSpPr>
              <p:grpSpPr bwMode="auto">
                <a:xfrm>
                  <a:off x="3120" y="2352"/>
                  <a:ext cx="288" cy="288"/>
                  <a:chOff x="3696" y="1152"/>
                  <a:chExt cx="288" cy="288"/>
                </a:xfrm>
              </p:grpSpPr>
              <p:sp>
                <p:nvSpPr>
                  <p:cNvPr id="10283" name="Oval 101"/>
                  <p:cNvSpPr>
                    <a:spLocks noChangeArrowheads="1"/>
                  </p:cNvSpPr>
                  <p:nvPr/>
                </p:nvSpPr>
                <p:spPr bwMode="auto">
                  <a:xfrm>
                    <a:off x="3696"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284" name="Oval 102"/>
                  <p:cNvSpPr>
                    <a:spLocks noChangeArrowheads="1"/>
                  </p:cNvSpPr>
                  <p:nvPr/>
                </p:nvSpPr>
                <p:spPr bwMode="auto">
                  <a:xfrm>
                    <a:off x="3744" y="120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285" name="Text Box 103"/>
                  <p:cNvSpPr txBox="1">
                    <a:spLocks noChangeArrowheads="1"/>
                  </p:cNvSpPr>
                  <p:nvPr/>
                </p:nvSpPr>
                <p:spPr bwMode="auto">
                  <a:xfrm>
                    <a:off x="3696"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24</a:t>
                    </a:r>
                  </a:p>
                </p:txBody>
              </p:sp>
            </p:grpSp>
            <p:sp>
              <p:nvSpPr>
                <p:cNvPr id="10276" name="Line 104"/>
                <p:cNvSpPr>
                  <a:spLocks noChangeShapeType="1"/>
                </p:cNvSpPr>
                <p:nvPr/>
              </p:nvSpPr>
              <p:spPr bwMode="auto">
                <a:xfrm>
                  <a:off x="2592" y="2496"/>
                  <a:ext cx="52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7" name="Text Box 105"/>
                <p:cNvSpPr txBox="1">
                  <a:spLocks noChangeArrowheads="1"/>
                </p:cNvSpPr>
                <p:nvPr/>
              </p:nvSpPr>
              <p:spPr bwMode="auto">
                <a:xfrm>
                  <a:off x="2592" y="2304"/>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other</a:t>
                  </a:r>
                </a:p>
              </p:txBody>
            </p:sp>
            <p:grpSp>
              <p:nvGrpSpPr>
                <p:cNvPr id="10278" name="Group 106"/>
                <p:cNvGrpSpPr>
                  <a:grpSpLocks/>
                </p:cNvGrpSpPr>
                <p:nvPr/>
              </p:nvGrpSpPr>
              <p:grpSpPr bwMode="auto">
                <a:xfrm>
                  <a:off x="2304" y="2352"/>
                  <a:ext cx="288" cy="288"/>
                  <a:chOff x="2880" y="1152"/>
                  <a:chExt cx="288" cy="288"/>
                </a:xfrm>
              </p:grpSpPr>
              <p:sp>
                <p:nvSpPr>
                  <p:cNvPr id="10280" name="Oval 107"/>
                  <p:cNvSpPr>
                    <a:spLocks noChangeArrowheads="1"/>
                  </p:cNvSpPr>
                  <p:nvPr/>
                </p:nvSpPr>
                <p:spPr bwMode="auto">
                  <a:xfrm>
                    <a:off x="2880"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281" name="Text Box 108"/>
                  <p:cNvSpPr txBox="1">
                    <a:spLocks noChangeArrowheads="1"/>
                  </p:cNvSpPr>
                  <p:nvPr/>
                </p:nvSpPr>
                <p:spPr bwMode="auto">
                  <a:xfrm>
                    <a:off x="2880"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23</a:t>
                    </a:r>
                  </a:p>
                </p:txBody>
              </p:sp>
              <p:cxnSp>
                <p:nvCxnSpPr>
                  <p:cNvPr id="10282" name="AutoShape 109"/>
                  <p:cNvCxnSpPr>
                    <a:cxnSpLocks noChangeShapeType="1"/>
                    <a:stCxn id="10280" idx="7"/>
                    <a:endCxn id="10281" idx="0"/>
                  </p:cNvCxnSpPr>
                  <p:nvPr/>
                </p:nvCxnSpPr>
                <p:spPr bwMode="auto">
                  <a:xfrm rot="-5400000" flipH="1" flipV="1">
                    <a:off x="3072" y="1146"/>
                    <a:ext cx="6" cy="102"/>
                  </a:xfrm>
                  <a:prstGeom prst="curvedConnector3">
                    <a:avLst>
                      <a:gd name="adj1" fmla="val -31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279" name="Text Box 110"/>
                <p:cNvSpPr txBox="1">
                  <a:spLocks noChangeArrowheads="1"/>
                </p:cNvSpPr>
                <p:nvPr/>
              </p:nvSpPr>
              <p:spPr bwMode="auto">
                <a:xfrm>
                  <a:off x="2160" y="2016"/>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1600">
                      <a:ea typeface="宋体" panose="02010600030101010101" pitchFamily="2" charset="-122"/>
                    </a:rPr>
                    <a:t>      </a:t>
                  </a:r>
                  <a:r>
                    <a:rPr lang="en-US" altLang="zh-CN" sz="1600">
                      <a:ea typeface="宋体" panose="02010600030101010101" pitchFamily="2" charset="-122"/>
                    </a:rPr>
                    <a:t>digit</a:t>
                  </a:r>
                </a:p>
              </p:txBody>
            </p:sp>
          </p:grpSp>
          <p:grpSp>
            <p:nvGrpSpPr>
              <p:cNvPr id="10269" name="Group 111"/>
              <p:cNvGrpSpPr>
                <a:grpSpLocks/>
              </p:cNvGrpSpPr>
              <p:nvPr/>
            </p:nvGrpSpPr>
            <p:grpSpPr bwMode="auto">
              <a:xfrm>
                <a:off x="3120" y="2304"/>
                <a:ext cx="912" cy="336"/>
                <a:chOff x="2304" y="2304"/>
                <a:chExt cx="912" cy="336"/>
              </a:xfrm>
            </p:grpSpPr>
            <p:sp>
              <p:nvSpPr>
                <p:cNvPr id="10271" name="Oval 112"/>
                <p:cNvSpPr>
                  <a:spLocks noChangeArrowheads="1"/>
                </p:cNvSpPr>
                <p:nvPr/>
              </p:nvSpPr>
              <p:spPr bwMode="auto">
                <a:xfrm>
                  <a:off x="2304" y="23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0272" name="Line 113"/>
                <p:cNvSpPr>
                  <a:spLocks noChangeShapeType="1"/>
                </p:cNvSpPr>
                <p:nvPr/>
              </p:nvSpPr>
              <p:spPr bwMode="auto">
                <a:xfrm>
                  <a:off x="2592" y="2496"/>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Text Box 114"/>
                <p:cNvSpPr txBox="1">
                  <a:spLocks noChangeArrowheads="1"/>
                </p:cNvSpPr>
                <p:nvPr/>
              </p:nvSpPr>
              <p:spPr bwMode="auto">
                <a:xfrm>
                  <a:off x="2640" y="2304"/>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10274" name="Text Box 115"/>
                <p:cNvSpPr txBox="1">
                  <a:spLocks noChangeArrowheads="1"/>
                </p:cNvSpPr>
                <p:nvPr/>
              </p:nvSpPr>
              <p:spPr bwMode="auto">
                <a:xfrm>
                  <a:off x="2304" y="24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22</a:t>
                  </a:r>
                </a:p>
              </p:txBody>
            </p:sp>
          </p:grpSp>
          <p:sp>
            <p:nvSpPr>
              <p:cNvPr id="10270" name="Text Box 116"/>
              <p:cNvSpPr txBox="1">
                <a:spLocks noChangeArrowheads="1"/>
              </p:cNvSpPr>
              <p:nvPr/>
            </p:nvSpPr>
            <p:spPr bwMode="auto">
              <a:xfrm>
                <a:off x="5040" y="2304"/>
                <a:ext cx="24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rPr>
                  <a:t>*</a:t>
                </a:r>
              </a:p>
            </p:txBody>
          </p:sp>
        </p:grpSp>
      </p:grpSp>
      <p:sp>
        <p:nvSpPr>
          <p:cNvPr id="404597" name="Text Box 117"/>
          <p:cNvSpPr txBox="1">
            <a:spLocks noChangeArrowheads="1"/>
          </p:cNvSpPr>
          <p:nvPr/>
        </p:nvSpPr>
        <p:spPr bwMode="auto">
          <a:xfrm>
            <a:off x="560388" y="5167313"/>
            <a:ext cx="8856662"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ea typeface="宋体" panose="02010600030101010101" pitchFamily="2" charset="-122"/>
              </a:rPr>
              <a:t>Questions:   Is ordering important for unsigned #s ?</a:t>
            </a:r>
          </a:p>
          <a:p>
            <a:pPr eaLnBrk="1" hangingPunct="1">
              <a:spcBef>
                <a:spcPct val="50000"/>
              </a:spcBef>
            </a:pPr>
            <a:r>
              <a:rPr lang="en-US" altLang="zh-CN" sz="2000">
                <a:ea typeface="宋体" panose="02010600030101010101" pitchFamily="2" charset="-122"/>
              </a:rPr>
              <a:t>                     Why are there no TDs for  </a:t>
            </a:r>
            <a:r>
              <a:rPr lang="en-US" altLang="zh-CN" sz="2000">
                <a:latin typeface="Courier New" panose="02070309020205020404" pitchFamily="49" charset="0"/>
                <a:ea typeface="宋体" panose="02010600030101010101" pitchFamily="2" charset="-122"/>
              </a:rPr>
              <a:t>then, else, if </a:t>
            </a:r>
            <a:r>
              <a:rPr lang="en-US" altLang="zh-CN" sz="2000">
                <a:ea typeface="宋体" panose="02010600030101010101" pitchFamily="2" charset="-122"/>
              </a:rPr>
              <a:t>? (the same as id)</a:t>
            </a:r>
          </a:p>
        </p:txBody>
      </p:sp>
      <p:sp>
        <p:nvSpPr>
          <p:cNvPr id="10252" name="Text Box 118"/>
          <p:cNvSpPr txBox="1">
            <a:spLocks noChangeArrowheads="1"/>
          </p:cNvSpPr>
          <p:nvPr/>
        </p:nvSpPr>
        <p:spPr bwMode="auto">
          <a:xfrm>
            <a:off x="6034088" y="3860800"/>
            <a:ext cx="3240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return(num, install_num())</a:t>
            </a:r>
          </a:p>
        </p:txBody>
      </p:sp>
      <p:sp>
        <p:nvSpPr>
          <p:cNvPr id="10253" name="Text Box 119"/>
          <p:cNvSpPr txBox="1">
            <a:spLocks noChangeArrowheads="1"/>
          </p:cNvSpPr>
          <p:nvPr/>
        </p:nvSpPr>
        <p:spPr bwMode="auto">
          <a:xfrm>
            <a:off x="1065213" y="6092825"/>
            <a:ext cx="806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Fig.3.14 Transition diagram for unsigned numbers in Pascal.</a:t>
            </a:r>
          </a:p>
        </p:txBody>
      </p:sp>
      <p:sp>
        <p:nvSpPr>
          <p:cNvPr id="404600" name="Text Box 120"/>
          <p:cNvSpPr txBox="1">
            <a:spLocks noChangeArrowheads="1"/>
          </p:cNvSpPr>
          <p:nvPr/>
        </p:nvSpPr>
        <p:spPr bwMode="auto">
          <a:xfrm>
            <a:off x="6392863" y="4652963"/>
            <a:ext cx="351313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rgbClr val="FF00FF"/>
                </a:solidFill>
                <a:ea typeface="宋体" panose="02010600030101010101" pitchFamily="2" charset="-122"/>
              </a:rPr>
              <a:t>The lexeme for a given token must be the longest possible. “</a:t>
            </a:r>
            <a:r>
              <a:rPr lang="en-US" altLang="zh-CN">
                <a:solidFill>
                  <a:srgbClr val="FF00FF"/>
                </a:solidFill>
                <a:ea typeface="宋体" panose="02010600030101010101" pitchFamily="2" charset="-122"/>
              </a:rPr>
              <a:t>greed</a:t>
            </a:r>
            <a:r>
              <a:rPr lang="en-US" altLang="zh-CN" sz="2000">
                <a:solidFill>
                  <a:srgbClr val="FF00FF"/>
                </a:solidFill>
                <a:ea typeface="宋体" panose="02010600030101010101" pitchFamily="2" charset="-122"/>
              </a:rPr>
              <a:t>”</a:t>
            </a:r>
          </a:p>
        </p:txBody>
      </p:sp>
      <p:sp>
        <p:nvSpPr>
          <p:cNvPr id="404601" name="Line 121"/>
          <p:cNvSpPr>
            <a:spLocks noChangeShapeType="1"/>
          </p:cNvSpPr>
          <p:nvPr/>
        </p:nvSpPr>
        <p:spPr bwMode="auto">
          <a:xfrm flipH="1">
            <a:off x="5457825" y="4941888"/>
            <a:ext cx="86360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4563"/>
                                        </p:tgtEl>
                                        <p:attrNameLst>
                                          <p:attrName>style.visibility</p:attrName>
                                        </p:attrNameLst>
                                      </p:cBhvr>
                                      <p:to>
                                        <p:strVal val="visible"/>
                                      </p:to>
                                    </p:set>
                                    <p:anim calcmode="lin" valueType="num">
                                      <p:cBhvr additive="base">
                                        <p:cTn id="7" dur="1000" fill="hold"/>
                                        <p:tgtEl>
                                          <p:spTgt spid="404563"/>
                                        </p:tgtEl>
                                        <p:attrNameLst>
                                          <p:attrName>ppt_x</p:attrName>
                                        </p:attrNameLst>
                                      </p:cBhvr>
                                      <p:tavLst>
                                        <p:tav tm="0">
                                          <p:val>
                                            <p:strVal val="0-#ppt_w/2"/>
                                          </p:val>
                                        </p:tav>
                                        <p:tav tm="100000">
                                          <p:val>
                                            <p:strVal val="#ppt_x"/>
                                          </p:val>
                                        </p:tav>
                                      </p:tavLst>
                                    </p:anim>
                                    <p:anim calcmode="lin" valueType="num">
                                      <p:cBhvr additive="base">
                                        <p:cTn id="8" dur="1000" fill="hold"/>
                                        <p:tgtEl>
                                          <p:spTgt spid="4045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404543"/>
                                        </p:tgtEl>
                                        <p:attrNameLst>
                                          <p:attrName>style.visibility</p:attrName>
                                        </p:attrNameLst>
                                      </p:cBhvr>
                                      <p:to>
                                        <p:strVal val="visible"/>
                                      </p:to>
                                    </p:set>
                                    <p:anim calcmode="lin" valueType="num">
                                      <p:cBhvr additive="base">
                                        <p:cTn id="13" dur="1000" fill="hold"/>
                                        <p:tgtEl>
                                          <p:spTgt spid="404543"/>
                                        </p:tgtEl>
                                        <p:attrNameLst>
                                          <p:attrName>ppt_x</p:attrName>
                                        </p:attrNameLst>
                                      </p:cBhvr>
                                      <p:tavLst>
                                        <p:tav tm="0">
                                          <p:val>
                                            <p:strVal val="0-#ppt_w/2"/>
                                          </p:val>
                                        </p:tav>
                                        <p:tav tm="100000">
                                          <p:val>
                                            <p:strVal val="#ppt_x"/>
                                          </p:val>
                                        </p:tav>
                                      </p:tavLst>
                                    </p:anim>
                                    <p:anim calcmode="lin" valueType="num">
                                      <p:cBhvr additive="base">
                                        <p:cTn id="14" dur="1000" fill="hold"/>
                                        <p:tgtEl>
                                          <p:spTgt spid="404543"/>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404544"/>
                                        </p:tgtEl>
                                        <p:attrNameLst>
                                          <p:attrName>style.visibility</p:attrName>
                                        </p:attrNameLst>
                                      </p:cBhvr>
                                      <p:to>
                                        <p:strVal val="visible"/>
                                      </p:to>
                                    </p:set>
                                    <p:anim calcmode="lin" valueType="num">
                                      <p:cBhvr additive="base">
                                        <p:cTn id="17" dur="1000" fill="hold"/>
                                        <p:tgtEl>
                                          <p:spTgt spid="404544"/>
                                        </p:tgtEl>
                                        <p:attrNameLst>
                                          <p:attrName>ppt_x</p:attrName>
                                        </p:attrNameLst>
                                      </p:cBhvr>
                                      <p:tavLst>
                                        <p:tav tm="0">
                                          <p:val>
                                            <p:strVal val="0-#ppt_w/2"/>
                                          </p:val>
                                        </p:tav>
                                        <p:tav tm="100000">
                                          <p:val>
                                            <p:strVal val="#ppt_x"/>
                                          </p:val>
                                        </p:tav>
                                      </p:tavLst>
                                    </p:anim>
                                    <p:anim calcmode="lin" valueType="num">
                                      <p:cBhvr additive="base">
                                        <p:cTn id="18" dur="1000" fill="hold"/>
                                        <p:tgtEl>
                                          <p:spTgt spid="40454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04597"/>
                                        </p:tgtEl>
                                        <p:attrNameLst>
                                          <p:attrName>style.visibility</p:attrName>
                                        </p:attrNameLst>
                                      </p:cBhvr>
                                      <p:to>
                                        <p:strVal val="visible"/>
                                      </p:to>
                                    </p:set>
                                    <p:anim calcmode="lin" valueType="num">
                                      <p:cBhvr additive="base">
                                        <p:cTn id="23" dur="1000" fill="hold"/>
                                        <p:tgtEl>
                                          <p:spTgt spid="404597"/>
                                        </p:tgtEl>
                                        <p:attrNameLst>
                                          <p:attrName>ppt_x</p:attrName>
                                        </p:attrNameLst>
                                      </p:cBhvr>
                                      <p:tavLst>
                                        <p:tav tm="0">
                                          <p:val>
                                            <p:strVal val="#ppt_x"/>
                                          </p:val>
                                        </p:tav>
                                        <p:tav tm="100000">
                                          <p:val>
                                            <p:strVal val="#ppt_x"/>
                                          </p:val>
                                        </p:tav>
                                      </p:tavLst>
                                    </p:anim>
                                    <p:anim calcmode="lin" valueType="num">
                                      <p:cBhvr additive="base">
                                        <p:cTn id="24" dur="1000" fill="hold"/>
                                        <p:tgtEl>
                                          <p:spTgt spid="404597"/>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404600"/>
                                        </p:tgtEl>
                                        <p:attrNameLst>
                                          <p:attrName>style.visibility</p:attrName>
                                        </p:attrNameLst>
                                      </p:cBhvr>
                                      <p:to>
                                        <p:strVal val="visible"/>
                                      </p:to>
                                    </p:set>
                                    <p:anim calcmode="lin" valueType="num">
                                      <p:cBhvr additive="base">
                                        <p:cTn id="29" dur="1000" fill="hold"/>
                                        <p:tgtEl>
                                          <p:spTgt spid="404600"/>
                                        </p:tgtEl>
                                        <p:attrNameLst>
                                          <p:attrName>ppt_x</p:attrName>
                                        </p:attrNameLst>
                                      </p:cBhvr>
                                      <p:tavLst>
                                        <p:tav tm="0">
                                          <p:val>
                                            <p:strVal val="1+#ppt_w/2"/>
                                          </p:val>
                                        </p:tav>
                                        <p:tav tm="100000">
                                          <p:val>
                                            <p:strVal val="#ppt_x"/>
                                          </p:val>
                                        </p:tav>
                                      </p:tavLst>
                                    </p:anim>
                                    <p:anim calcmode="lin" valueType="num">
                                      <p:cBhvr additive="base">
                                        <p:cTn id="30" dur="1000" fill="hold"/>
                                        <p:tgtEl>
                                          <p:spTgt spid="404600"/>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404601"/>
                                        </p:tgtEl>
                                        <p:attrNameLst>
                                          <p:attrName>style.visibility</p:attrName>
                                        </p:attrNameLst>
                                      </p:cBhvr>
                                      <p:to>
                                        <p:strVal val="visible"/>
                                      </p:to>
                                    </p:set>
                                    <p:anim calcmode="lin" valueType="num">
                                      <p:cBhvr additive="base">
                                        <p:cTn id="33" dur="1000" fill="hold"/>
                                        <p:tgtEl>
                                          <p:spTgt spid="404601"/>
                                        </p:tgtEl>
                                        <p:attrNameLst>
                                          <p:attrName>ppt_x</p:attrName>
                                        </p:attrNameLst>
                                      </p:cBhvr>
                                      <p:tavLst>
                                        <p:tav tm="0">
                                          <p:val>
                                            <p:strVal val="1+#ppt_w/2"/>
                                          </p:val>
                                        </p:tav>
                                        <p:tav tm="100000">
                                          <p:val>
                                            <p:strVal val="#ppt_x"/>
                                          </p:val>
                                        </p:tav>
                                      </p:tavLst>
                                    </p:anim>
                                    <p:anim calcmode="lin" valueType="num">
                                      <p:cBhvr additive="base">
                                        <p:cTn id="34" dur="1000" fill="hold"/>
                                        <p:tgtEl>
                                          <p:spTgt spid="4046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543" grpId="0"/>
      <p:bldP spid="404597" grpId="0"/>
      <p:bldP spid="4046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1267"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1268"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1ACF3087-FF84-4302-988B-7BFAC789A2F8}" type="slidenum">
              <a:rPr lang="zh-CN" altLang="en-US" sz="800" b="0"/>
              <a:pPr/>
              <a:t>10</a:t>
            </a:fld>
            <a:endParaRPr lang="en-US" altLang="zh-CN" sz="800" b="0"/>
          </a:p>
        </p:txBody>
      </p:sp>
      <p:sp>
        <p:nvSpPr>
          <p:cNvPr id="11269"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QUESTION :</a:t>
            </a:r>
          </a:p>
        </p:txBody>
      </p:sp>
      <p:sp>
        <p:nvSpPr>
          <p:cNvPr id="11270" name="Text Box 3"/>
          <p:cNvSpPr txBox="1">
            <a:spLocks noChangeArrowheads="1"/>
          </p:cNvSpPr>
          <p:nvPr/>
        </p:nvSpPr>
        <p:spPr bwMode="auto">
          <a:xfrm>
            <a:off x="776288" y="1341438"/>
            <a:ext cx="878522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800" b="0">
                <a:ea typeface="宋体" panose="02010600030101010101" pitchFamily="2" charset="-122"/>
              </a:rPr>
              <a:t>What would the transition diagram (TD) for strings containing each vowel, in their strict lexicographical order, look like ?</a:t>
            </a:r>
          </a:p>
        </p:txBody>
      </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229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229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371644FB-9D4D-4677-8138-2FCE198E0FA1}" type="slidenum">
              <a:rPr lang="zh-CN" altLang="en-US" sz="800" b="0"/>
              <a:pPr/>
              <a:t>11</a:t>
            </a:fld>
            <a:endParaRPr lang="en-US" altLang="zh-CN" sz="800" b="0"/>
          </a:p>
        </p:txBody>
      </p:sp>
      <p:sp>
        <p:nvSpPr>
          <p:cNvPr id="12293"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Answer</a:t>
            </a:r>
          </a:p>
        </p:txBody>
      </p:sp>
      <p:grpSp>
        <p:nvGrpSpPr>
          <p:cNvPr id="408579" name="Group 3"/>
          <p:cNvGrpSpPr>
            <a:grpSpLocks/>
          </p:cNvGrpSpPr>
          <p:nvPr/>
        </p:nvGrpSpPr>
        <p:grpSpPr bwMode="auto">
          <a:xfrm>
            <a:off x="1371600" y="1524000"/>
            <a:ext cx="7181850" cy="1066800"/>
            <a:chOff x="816" y="960"/>
            <a:chExt cx="4176" cy="672"/>
          </a:xfrm>
        </p:grpSpPr>
        <p:sp>
          <p:nvSpPr>
            <p:cNvPr id="12342" name="Text Box 4"/>
            <p:cNvSpPr txBox="1">
              <a:spLocks noChangeArrowheads="1"/>
            </p:cNvSpPr>
            <p:nvPr/>
          </p:nvSpPr>
          <p:spPr bwMode="auto">
            <a:xfrm>
              <a:off x="864" y="1008"/>
              <a:ext cx="4080"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ea typeface="宋体" panose="02010600030101010101" pitchFamily="2" charset="-122"/>
                </a:rPr>
                <a:t>cons  </a:t>
              </a:r>
              <a:r>
                <a:rPr lang="en-US" altLang="zh-CN" sz="2000">
                  <a:ea typeface="宋体" panose="02010600030101010101" pitchFamily="2" charset="-122"/>
                  <a:sym typeface="Symbol" panose="05050102010706020507" pitchFamily="18" charset="2"/>
                </a:rPr>
                <a:t>  B | C | D | F | … | Z</a:t>
              </a:r>
            </a:p>
            <a:p>
              <a:pPr eaLnBrk="1" hangingPunct="1">
                <a:spcBef>
                  <a:spcPct val="50000"/>
                </a:spcBef>
              </a:pPr>
              <a:r>
                <a:rPr lang="en-US" altLang="zh-CN" sz="2000">
                  <a:ea typeface="宋体" panose="02010600030101010101" pitchFamily="2" charset="-122"/>
                  <a:sym typeface="Symbol" panose="05050102010706020507" pitchFamily="18" charset="2"/>
                </a:rPr>
                <a:t>string  cons* A cons* E cons* I cons* O cons* U cons*</a:t>
              </a:r>
            </a:p>
          </p:txBody>
        </p:sp>
        <p:sp>
          <p:nvSpPr>
            <p:cNvPr id="12343" name="Rectangle 5"/>
            <p:cNvSpPr>
              <a:spLocks noChangeArrowheads="1"/>
            </p:cNvSpPr>
            <p:nvPr/>
          </p:nvSpPr>
          <p:spPr bwMode="auto">
            <a:xfrm>
              <a:off x="816" y="960"/>
              <a:ext cx="4176" cy="672"/>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12295" name="Text Box 51"/>
          <p:cNvSpPr txBox="1">
            <a:spLocks noChangeArrowheads="1"/>
          </p:cNvSpPr>
          <p:nvPr/>
        </p:nvSpPr>
        <p:spPr bwMode="auto">
          <a:xfrm>
            <a:off x="6026150" y="5105400"/>
            <a:ext cx="37147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rgbClr val="FF3300"/>
                </a:solidFill>
                <a:ea typeface="宋体" panose="02010600030101010101" pitchFamily="2" charset="-122"/>
              </a:rPr>
              <a:t>Note:  The error path is taken if the character is other than a cons or the vowel in the lex order.</a:t>
            </a:r>
          </a:p>
        </p:txBody>
      </p:sp>
      <p:grpSp>
        <p:nvGrpSpPr>
          <p:cNvPr id="408629" name="Group 53"/>
          <p:cNvGrpSpPr>
            <a:grpSpLocks/>
          </p:cNvGrpSpPr>
          <p:nvPr/>
        </p:nvGrpSpPr>
        <p:grpSpPr bwMode="auto">
          <a:xfrm>
            <a:off x="762000" y="3276600"/>
            <a:ext cx="8255000" cy="2590800"/>
            <a:chOff x="832" y="2064"/>
            <a:chExt cx="5200" cy="1632"/>
          </a:xfrm>
        </p:grpSpPr>
        <p:sp>
          <p:nvSpPr>
            <p:cNvPr id="12297" name="Line 6"/>
            <p:cNvSpPr>
              <a:spLocks noChangeShapeType="1"/>
            </p:cNvSpPr>
            <p:nvPr/>
          </p:nvSpPr>
          <p:spPr bwMode="auto">
            <a:xfrm>
              <a:off x="884" y="2544"/>
              <a:ext cx="52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298" name="Group 8"/>
            <p:cNvGrpSpPr>
              <a:grpSpLocks/>
            </p:cNvGrpSpPr>
            <p:nvPr/>
          </p:nvGrpSpPr>
          <p:grpSpPr bwMode="auto">
            <a:xfrm>
              <a:off x="5512" y="2400"/>
              <a:ext cx="312" cy="288"/>
              <a:chOff x="1824" y="2832"/>
              <a:chExt cx="288" cy="288"/>
            </a:xfrm>
          </p:grpSpPr>
          <p:sp>
            <p:nvSpPr>
              <p:cNvPr id="12340" name="Oval 9"/>
              <p:cNvSpPr>
                <a:spLocks noChangeArrowheads="1"/>
              </p:cNvSpPr>
              <p:nvPr/>
            </p:nvSpPr>
            <p:spPr bwMode="auto">
              <a:xfrm>
                <a:off x="1824" y="283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41" name="Oval 10"/>
              <p:cNvSpPr>
                <a:spLocks noChangeArrowheads="1"/>
              </p:cNvSpPr>
              <p:nvPr/>
            </p:nvSpPr>
            <p:spPr bwMode="auto">
              <a:xfrm>
                <a:off x="1872" y="288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12299" name="Oval 11"/>
            <p:cNvSpPr>
              <a:spLocks noChangeArrowheads="1"/>
            </p:cNvSpPr>
            <p:nvPr/>
          </p:nvSpPr>
          <p:spPr bwMode="auto">
            <a:xfrm>
              <a:off x="4524" y="2400"/>
              <a:ext cx="312"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00" name="Oval 12"/>
            <p:cNvSpPr>
              <a:spLocks noChangeArrowheads="1"/>
            </p:cNvSpPr>
            <p:nvPr/>
          </p:nvSpPr>
          <p:spPr bwMode="auto">
            <a:xfrm>
              <a:off x="3900" y="2400"/>
              <a:ext cx="312"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01" name="Oval 13"/>
            <p:cNvSpPr>
              <a:spLocks noChangeArrowheads="1"/>
            </p:cNvSpPr>
            <p:nvPr/>
          </p:nvSpPr>
          <p:spPr bwMode="auto">
            <a:xfrm>
              <a:off x="3276" y="2400"/>
              <a:ext cx="312"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02" name="Oval 14"/>
            <p:cNvSpPr>
              <a:spLocks noChangeArrowheads="1"/>
            </p:cNvSpPr>
            <p:nvPr/>
          </p:nvSpPr>
          <p:spPr bwMode="auto">
            <a:xfrm>
              <a:off x="2652" y="2400"/>
              <a:ext cx="312"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03" name="Oval 15"/>
            <p:cNvSpPr>
              <a:spLocks noChangeArrowheads="1"/>
            </p:cNvSpPr>
            <p:nvPr/>
          </p:nvSpPr>
          <p:spPr bwMode="auto">
            <a:xfrm>
              <a:off x="2028" y="2400"/>
              <a:ext cx="312"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04" name="Oval 16"/>
            <p:cNvSpPr>
              <a:spLocks noChangeArrowheads="1"/>
            </p:cNvSpPr>
            <p:nvPr/>
          </p:nvSpPr>
          <p:spPr bwMode="auto">
            <a:xfrm>
              <a:off x="1404" y="2400"/>
              <a:ext cx="312"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05" name="Line 17"/>
            <p:cNvSpPr>
              <a:spLocks noChangeShapeType="1"/>
            </p:cNvSpPr>
            <p:nvPr/>
          </p:nvSpPr>
          <p:spPr bwMode="auto">
            <a:xfrm>
              <a:off x="1716" y="2544"/>
              <a:ext cx="31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6" name="Line 18"/>
            <p:cNvSpPr>
              <a:spLocks noChangeShapeType="1"/>
            </p:cNvSpPr>
            <p:nvPr/>
          </p:nvSpPr>
          <p:spPr bwMode="auto">
            <a:xfrm>
              <a:off x="2340" y="2544"/>
              <a:ext cx="31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7" name="Line 19"/>
            <p:cNvSpPr>
              <a:spLocks noChangeShapeType="1"/>
            </p:cNvSpPr>
            <p:nvPr/>
          </p:nvSpPr>
          <p:spPr bwMode="auto">
            <a:xfrm>
              <a:off x="2964" y="2544"/>
              <a:ext cx="31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8" name="Line 20"/>
            <p:cNvSpPr>
              <a:spLocks noChangeShapeType="1"/>
            </p:cNvSpPr>
            <p:nvPr/>
          </p:nvSpPr>
          <p:spPr bwMode="auto">
            <a:xfrm>
              <a:off x="3588" y="2544"/>
              <a:ext cx="31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9" name="Line 21"/>
            <p:cNvSpPr>
              <a:spLocks noChangeShapeType="1"/>
            </p:cNvSpPr>
            <p:nvPr/>
          </p:nvSpPr>
          <p:spPr bwMode="auto">
            <a:xfrm>
              <a:off x="4212" y="2544"/>
              <a:ext cx="31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0" name="Line 22"/>
            <p:cNvSpPr>
              <a:spLocks noChangeShapeType="1"/>
            </p:cNvSpPr>
            <p:nvPr/>
          </p:nvSpPr>
          <p:spPr bwMode="auto">
            <a:xfrm>
              <a:off x="4836" y="2544"/>
              <a:ext cx="676"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Text Box 23"/>
            <p:cNvSpPr txBox="1">
              <a:spLocks noChangeArrowheads="1"/>
            </p:cNvSpPr>
            <p:nvPr/>
          </p:nvSpPr>
          <p:spPr bwMode="auto">
            <a:xfrm>
              <a:off x="4888" y="2352"/>
              <a:ext cx="5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other</a:t>
              </a:r>
            </a:p>
          </p:txBody>
        </p:sp>
        <p:sp>
          <p:nvSpPr>
            <p:cNvPr id="12312" name="Text Box 24"/>
            <p:cNvSpPr txBox="1">
              <a:spLocks noChangeArrowheads="1"/>
            </p:cNvSpPr>
            <p:nvPr/>
          </p:nvSpPr>
          <p:spPr bwMode="auto">
            <a:xfrm>
              <a:off x="4264" y="2352"/>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U</a:t>
              </a:r>
            </a:p>
          </p:txBody>
        </p:sp>
        <p:sp>
          <p:nvSpPr>
            <p:cNvPr id="12313" name="Text Box 25"/>
            <p:cNvSpPr txBox="1">
              <a:spLocks noChangeArrowheads="1"/>
            </p:cNvSpPr>
            <p:nvPr/>
          </p:nvSpPr>
          <p:spPr bwMode="auto">
            <a:xfrm>
              <a:off x="3588" y="2352"/>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O</a:t>
              </a:r>
            </a:p>
          </p:txBody>
        </p:sp>
        <p:sp>
          <p:nvSpPr>
            <p:cNvPr id="12314" name="Text Box 26"/>
            <p:cNvSpPr txBox="1">
              <a:spLocks noChangeArrowheads="1"/>
            </p:cNvSpPr>
            <p:nvPr/>
          </p:nvSpPr>
          <p:spPr bwMode="auto">
            <a:xfrm>
              <a:off x="3016" y="2352"/>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I</a:t>
              </a:r>
            </a:p>
          </p:txBody>
        </p:sp>
        <p:sp>
          <p:nvSpPr>
            <p:cNvPr id="12315" name="Text Box 27"/>
            <p:cNvSpPr txBox="1">
              <a:spLocks noChangeArrowheads="1"/>
            </p:cNvSpPr>
            <p:nvPr/>
          </p:nvSpPr>
          <p:spPr bwMode="auto">
            <a:xfrm>
              <a:off x="2392" y="2352"/>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E</a:t>
              </a:r>
            </a:p>
          </p:txBody>
        </p:sp>
        <p:sp>
          <p:nvSpPr>
            <p:cNvPr id="12316" name="Text Box 28"/>
            <p:cNvSpPr txBox="1">
              <a:spLocks noChangeArrowheads="1"/>
            </p:cNvSpPr>
            <p:nvPr/>
          </p:nvSpPr>
          <p:spPr bwMode="auto">
            <a:xfrm>
              <a:off x="1768" y="2352"/>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12317" name="AutoShape 29"/>
            <p:cNvCxnSpPr>
              <a:cxnSpLocks noChangeShapeType="1"/>
              <a:stCxn id="12304" idx="7"/>
              <a:endCxn id="12304" idx="1"/>
            </p:cNvCxnSpPr>
            <p:nvPr/>
          </p:nvCxnSpPr>
          <p:spPr bwMode="auto">
            <a:xfrm rot="-5400000" flipH="1" flipV="1">
              <a:off x="1560" y="2332"/>
              <a:ext cx="1" cy="221"/>
            </a:xfrm>
            <a:prstGeom prst="curvedConnector3">
              <a:avLst>
                <a:gd name="adj1" fmla="val -18600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8" name="AutoShape 30"/>
            <p:cNvCxnSpPr>
              <a:cxnSpLocks noChangeShapeType="1"/>
            </p:cNvCxnSpPr>
            <p:nvPr/>
          </p:nvCxnSpPr>
          <p:spPr bwMode="auto">
            <a:xfrm rot="-5400000" flipH="1" flipV="1">
              <a:off x="2190" y="2338"/>
              <a:ext cx="1" cy="221"/>
            </a:xfrm>
            <a:prstGeom prst="curvedConnector3">
              <a:avLst>
                <a:gd name="adj1" fmla="val -18600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9" name="AutoShape 31"/>
            <p:cNvCxnSpPr>
              <a:cxnSpLocks noChangeShapeType="1"/>
            </p:cNvCxnSpPr>
            <p:nvPr/>
          </p:nvCxnSpPr>
          <p:spPr bwMode="auto">
            <a:xfrm rot="-5400000" flipH="1" flipV="1">
              <a:off x="2814" y="2338"/>
              <a:ext cx="1" cy="221"/>
            </a:xfrm>
            <a:prstGeom prst="curvedConnector3">
              <a:avLst>
                <a:gd name="adj1" fmla="val -18600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20" name="AutoShape 32"/>
            <p:cNvCxnSpPr>
              <a:cxnSpLocks noChangeShapeType="1"/>
            </p:cNvCxnSpPr>
            <p:nvPr/>
          </p:nvCxnSpPr>
          <p:spPr bwMode="auto">
            <a:xfrm rot="-5400000" flipH="1" flipV="1">
              <a:off x="3438" y="2338"/>
              <a:ext cx="1" cy="221"/>
            </a:xfrm>
            <a:prstGeom prst="curvedConnector3">
              <a:avLst>
                <a:gd name="adj1" fmla="val -18600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21" name="AutoShape 33"/>
            <p:cNvCxnSpPr>
              <a:cxnSpLocks noChangeShapeType="1"/>
            </p:cNvCxnSpPr>
            <p:nvPr/>
          </p:nvCxnSpPr>
          <p:spPr bwMode="auto">
            <a:xfrm rot="-5400000" flipH="1" flipV="1">
              <a:off x="4062" y="2338"/>
              <a:ext cx="1" cy="221"/>
            </a:xfrm>
            <a:prstGeom prst="curvedConnector3">
              <a:avLst>
                <a:gd name="adj1" fmla="val -18600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22" name="AutoShape 34"/>
            <p:cNvCxnSpPr>
              <a:cxnSpLocks noChangeShapeType="1"/>
            </p:cNvCxnSpPr>
            <p:nvPr/>
          </p:nvCxnSpPr>
          <p:spPr bwMode="auto">
            <a:xfrm rot="-5400000" flipH="1" flipV="1">
              <a:off x="4686" y="2338"/>
              <a:ext cx="1" cy="221"/>
            </a:xfrm>
            <a:prstGeom prst="curvedConnector3">
              <a:avLst>
                <a:gd name="adj1" fmla="val -18600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23" name="Text Box 35"/>
            <p:cNvSpPr txBox="1">
              <a:spLocks noChangeArrowheads="1"/>
            </p:cNvSpPr>
            <p:nvPr/>
          </p:nvSpPr>
          <p:spPr bwMode="auto">
            <a:xfrm>
              <a:off x="4472" y="2064"/>
              <a:ext cx="5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cons</a:t>
              </a:r>
            </a:p>
          </p:txBody>
        </p:sp>
        <p:sp>
          <p:nvSpPr>
            <p:cNvPr id="12324" name="Text Box 36"/>
            <p:cNvSpPr txBox="1">
              <a:spLocks noChangeArrowheads="1"/>
            </p:cNvSpPr>
            <p:nvPr/>
          </p:nvSpPr>
          <p:spPr bwMode="auto">
            <a:xfrm>
              <a:off x="3848" y="2064"/>
              <a:ext cx="5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cons</a:t>
              </a:r>
            </a:p>
          </p:txBody>
        </p:sp>
        <p:sp>
          <p:nvSpPr>
            <p:cNvPr id="12325" name="Text Box 37"/>
            <p:cNvSpPr txBox="1">
              <a:spLocks noChangeArrowheads="1"/>
            </p:cNvSpPr>
            <p:nvPr/>
          </p:nvSpPr>
          <p:spPr bwMode="auto">
            <a:xfrm>
              <a:off x="3224" y="2064"/>
              <a:ext cx="5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cons</a:t>
              </a:r>
            </a:p>
          </p:txBody>
        </p:sp>
        <p:sp>
          <p:nvSpPr>
            <p:cNvPr id="12326" name="Text Box 38"/>
            <p:cNvSpPr txBox="1">
              <a:spLocks noChangeArrowheads="1"/>
            </p:cNvSpPr>
            <p:nvPr/>
          </p:nvSpPr>
          <p:spPr bwMode="auto">
            <a:xfrm>
              <a:off x="2600" y="2064"/>
              <a:ext cx="5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cons</a:t>
              </a:r>
            </a:p>
          </p:txBody>
        </p:sp>
        <p:sp>
          <p:nvSpPr>
            <p:cNvPr id="12327" name="Text Box 39"/>
            <p:cNvSpPr txBox="1">
              <a:spLocks noChangeArrowheads="1"/>
            </p:cNvSpPr>
            <p:nvPr/>
          </p:nvSpPr>
          <p:spPr bwMode="auto">
            <a:xfrm>
              <a:off x="1976" y="2064"/>
              <a:ext cx="5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cons</a:t>
              </a:r>
            </a:p>
          </p:txBody>
        </p:sp>
        <p:sp>
          <p:nvSpPr>
            <p:cNvPr id="12328" name="Text Box 40"/>
            <p:cNvSpPr txBox="1">
              <a:spLocks noChangeArrowheads="1"/>
            </p:cNvSpPr>
            <p:nvPr/>
          </p:nvSpPr>
          <p:spPr bwMode="auto">
            <a:xfrm>
              <a:off x="1352" y="2064"/>
              <a:ext cx="5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cons</a:t>
              </a:r>
            </a:p>
          </p:txBody>
        </p:sp>
        <p:sp>
          <p:nvSpPr>
            <p:cNvPr id="12329" name="Text Box 41"/>
            <p:cNvSpPr txBox="1">
              <a:spLocks noChangeArrowheads="1"/>
            </p:cNvSpPr>
            <p:nvPr/>
          </p:nvSpPr>
          <p:spPr bwMode="auto">
            <a:xfrm>
              <a:off x="832" y="2352"/>
              <a:ext cx="5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start</a:t>
              </a:r>
            </a:p>
          </p:txBody>
        </p:sp>
        <p:grpSp>
          <p:nvGrpSpPr>
            <p:cNvPr id="12330" name="Group 42"/>
            <p:cNvGrpSpPr>
              <a:grpSpLocks/>
            </p:cNvGrpSpPr>
            <p:nvPr/>
          </p:nvGrpSpPr>
          <p:grpSpPr bwMode="auto">
            <a:xfrm>
              <a:off x="2964" y="3312"/>
              <a:ext cx="572" cy="384"/>
              <a:chOff x="2736" y="3312"/>
              <a:chExt cx="528" cy="384"/>
            </a:xfrm>
          </p:grpSpPr>
          <p:sp>
            <p:nvSpPr>
              <p:cNvPr id="12338" name="Oval 43"/>
              <p:cNvSpPr>
                <a:spLocks noChangeArrowheads="1"/>
              </p:cNvSpPr>
              <p:nvPr/>
            </p:nvSpPr>
            <p:spPr bwMode="auto">
              <a:xfrm>
                <a:off x="2784" y="3312"/>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2339" name="Text Box 44"/>
              <p:cNvSpPr txBox="1">
                <a:spLocks noChangeArrowheads="1"/>
              </p:cNvSpPr>
              <p:nvPr/>
            </p:nvSpPr>
            <p:spPr bwMode="auto">
              <a:xfrm>
                <a:off x="2736" y="3360"/>
                <a:ext cx="52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error</a:t>
                </a:r>
              </a:p>
            </p:txBody>
          </p:sp>
        </p:grpSp>
        <p:sp>
          <p:nvSpPr>
            <p:cNvPr id="12331" name="Line 45"/>
            <p:cNvSpPr>
              <a:spLocks noChangeShapeType="1"/>
            </p:cNvSpPr>
            <p:nvPr/>
          </p:nvSpPr>
          <p:spPr bwMode="auto">
            <a:xfrm>
              <a:off x="1560" y="2688"/>
              <a:ext cx="1456" cy="864"/>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2" name="Line 46"/>
            <p:cNvSpPr>
              <a:spLocks noChangeShapeType="1"/>
            </p:cNvSpPr>
            <p:nvPr/>
          </p:nvSpPr>
          <p:spPr bwMode="auto">
            <a:xfrm>
              <a:off x="2236" y="2688"/>
              <a:ext cx="832" cy="72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3" name="Line 47"/>
            <p:cNvSpPr>
              <a:spLocks noChangeShapeType="1"/>
            </p:cNvSpPr>
            <p:nvPr/>
          </p:nvSpPr>
          <p:spPr bwMode="auto">
            <a:xfrm>
              <a:off x="2808" y="2688"/>
              <a:ext cx="312" cy="672"/>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4" name="Line 48"/>
            <p:cNvSpPr>
              <a:spLocks noChangeShapeType="1"/>
            </p:cNvSpPr>
            <p:nvPr/>
          </p:nvSpPr>
          <p:spPr bwMode="auto">
            <a:xfrm flipH="1">
              <a:off x="3276" y="2688"/>
              <a:ext cx="156" cy="624"/>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5" name="Line 49"/>
            <p:cNvSpPr>
              <a:spLocks noChangeShapeType="1"/>
            </p:cNvSpPr>
            <p:nvPr/>
          </p:nvSpPr>
          <p:spPr bwMode="auto">
            <a:xfrm flipH="1">
              <a:off x="3380" y="2688"/>
              <a:ext cx="676" cy="672"/>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6" name="Text Box 50"/>
            <p:cNvSpPr txBox="1">
              <a:spLocks noChangeArrowheads="1"/>
            </p:cNvSpPr>
            <p:nvPr/>
          </p:nvSpPr>
          <p:spPr bwMode="auto">
            <a:xfrm>
              <a:off x="5408" y="2736"/>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accept</a:t>
              </a:r>
            </a:p>
          </p:txBody>
        </p:sp>
        <p:sp>
          <p:nvSpPr>
            <p:cNvPr id="12337" name="Line 52"/>
            <p:cNvSpPr>
              <a:spLocks noChangeShapeType="1"/>
            </p:cNvSpPr>
            <p:nvPr/>
          </p:nvSpPr>
          <p:spPr bwMode="auto">
            <a:xfrm flipH="1">
              <a:off x="3456" y="2640"/>
              <a:ext cx="1152" cy="816"/>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08579"/>
                                        </p:tgtEl>
                                        <p:attrNameLst>
                                          <p:attrName>style.visibility</p:attrName>
                                        </p:attrNameLst>
                                      </p:cBhvr>
                                      <p:to>
                                        <p:strVal val="visible"/>
                                      </p:to>
                                    </p:set>
                                    <p:animEffect transition="in" filter="wipe(left)">
                                      <p:cBhvr>
                                        <p:cTn id="7" dur="2000"/>
                                        <p:tgtEl>
                                          <p:spTgt spid="4085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8629"/>
                                        </p:tgtEl>
                                        <p:attrNameLst>
                                          <p:attrName>style.visibility</p:attrName>
                                        </p:attrNameLst>
                                      </p:cBhvr>
                                      <p:to>
                                        <p:strVal val="visible"/>
                                      </p:to>
                                    </p:set>
                                    <p:animEffect transition="in" filter="wipe(left)">
                                      <p:cBhvr>
                                        <p:cTn id="12" dur="2000"/>
                                        <p:tgtEl>
                                          <p:spTgt spid="408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3315"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3316"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F3716A0F-A97B-4F93-86D7-688493A472B5}" type="slidenum">
              <a:rPr lang="zh-CN" altLang="en-US" sz="800" b="0"/>
              <a:pPr/>
              <a:t>12</a:t>
            </a:fld>
            <a:endParaRPr lang="en-US" altLang="zh-CN" sz="800" b="0"/>
          </a:p>
        </p:txBody>
      </p:sp>
      <p:sp>
        <p:nvSpPr>
          <p:cNvPr id="13317"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mtClean="0">
                <a:ea typeface="宋体" panose="02010600030101010101" pitchFamily="2" charset="-122"/>
              </a:rPr>
              <a:t>What Else Does Lexical Analyzer Do? (P.102)</a:t>
            </a:r>
          </a:p>
        </p:txBody>
      </p:sp>
      <p:sp>
        <p:nvSpPr>
          <p:cNvPr id="13318" name="Text Box 3"/>
          <p:cNvSpPr txBox="1">
            <a:spLocks noChangeArrowheads="1"/>
          </p:cNvSpPr>
          <p:nvPr/>
        </p:nvSpPr>
        <p:spPr bwMode="auto">
          <a:xfrm>
            <a:off x="1403350" y="1143000"/>
            <a:ext cx="8172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rgbClr val="FF00FF"/>
                </a:solidFill>
                <a:ea typeface="宋体" panose="02010600030101010101" pitchFamily="2" charset="-122"/>
              </a:rPr>
              <a:t>All Keywords / Reserved words are matched as ids</a:t>
            </a:r>
          </a:p>
        </p:txBody>
      </p:sp>
      <p:sp>
        <p:nvSpPr>
          <p:cNvPr id="13319" name="Text Box 4"/>
          <p:cNvSpPr txBox="1">
            <a:spLocks noChangeArrowheads="1"/>
          </p:cNvSpPr>
          <p:nvPr/>
        </p:nvSpPr>
        <p:spPr bwMode="auto">
          <a:xfrm>
            <a:off x="1485900" y="1600200"/>
            <a:ext cx="80899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buFontTx/>
              <a:buChar char="•"/>
            </a:pPr>
            <a:r>
              <a:rPr lang="zh-CN" altLang="en-US" sz="2000">
                <a:solidFill>
                  <a:schemeClr val="accent2"/>
                </a:solidFill>
                <a:ea typeface="宋体" panose="02010600030101010101" pitchFamily="2" charset="-122"/>
              </a:rPr>
              <a:t> </a:t>
            </a:r>
            <a:r>
              <a:rPr lang="en-US" altLang="zh-CN" sz="2000">
                <a:solidFill>
                  <a:schemeClr val="accent2"/>
                </a:solidFill>
                <a:ea typeface="宋体" panose="02010600030101010101" pitchFamily="2" charset="-122"/>
              </a:rPr>
              <a:t>After the match, the symbol table or a special keyword table is consulted</a:t>
            </a:r>
          </a:p>
          <a:p>
            <a:pPr eaLnBrk="1" hangingPunct="1">
              <a:spcBef>
                <a:spcPct val="50000"/>
              </a:spcBef>
              <a:buFontTx/>
              <a:buChar char="•"/>
            </a:pPr>
            <a:r>
              <a:rPr lang="en-US" altLang="zh-CN" sz="2000">
                <a:solidFill>
                  <a:schemeClr val="accent2"/>
                </a:solidFill>
                <a:ea typeface="宋体" panose="02010600030101010101" pitchFamily="2" charset="-122"/>
              </a:rPr>
              <a:t> Keyword table contains string versions of all keywords and associated token values</a:t>
            </a:r>
          </a:p>
        </p:txBody>
      </p:sp>
      <p:grpSp>
        <p:nvGrpSpPr>
          <p:cNvPr id="13320" name="Group 5"/>
          <p:cNvGrpSpPr>
            <a:grpSpLocks/>
          </p:cNvGrpSpPr>
          <p:nvPr/>
        </p:nvGrpSpPr>
        <p:grpSpPr bwMode="auto">
          <a:xfrm>
            <a:off x="3797300" y="3048000"/>
            <a:ext cx="2971800" cy="1676400"/>
            <a:chOff x="1920" y="2352"/>
            <a:chExt cx="1728" cy="1056"/>
          </a:xfrm>
        </p:grpSpPr>
        <p:sp>
          <p:nvSpPr>
            <p:cNvPr id="13322" name="Rectangle 6"/>
            <p:cNvSpPr>
              <a:spLocks noChangeArrowheads="1"/>
            </p:cNvSpPr>
            <p:nvPr/>
          </p:nvSpPr>
          <p:spPr bwMode="auto">
            <a:xfrm>
              <a:off x="1920" y="2352"/>
              <a:ext cx="1728" cy="1056"/>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3323" name="Line 7"/>
            <p:cNvSpPr>
              <a:spLocks noChangeShapeType="1"/>
            </p:cNvSpPr>
            <p:nvPr/>
          </p:nvSpPr>
          <p:spPr bwMode="auto">
            <a:xfrm>
              <a:off x="2784" y="2352"/>
              <a:ext cx="0" cy="105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 name="Line 8"/>
            <p:cNvSpPr>
              <a:spLocks noChangeShapeType="1"/>
            </p:cNvSpPr>
            <p:nvPr/>
          </p:nvSpPr>
          <p:spPr bwMode="auto">
            <a:xfrm>
              <a:off x="1920" y="2640"/>
              <a:ext cx="172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 name="Line 9"/>
            <p:cNvSpPr>
              <a:spLocks noChangeShapeType="1"/>
            </p:cNvSpPr>
            <p:nvPr/>
          </p:nvSpPr>
          <p:spPr bwMode="auto">
            <a:xfrm>
              <a:off x="1920" y="2880"/>
              <a:ext cx="172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 name="Text Box 10"/>
            <p:cNvSpPr txBox="1">
              <a:spLocks noChangeArrowheads="1"/>
            </p:cNvSpPr>
            <p:nvPr/>
          </p:nvSpPr>
          <p:spPr bwMode="auto">
            <a:xfrm>
              <a:off x="2016" y="240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if</a:t>
              </a:r>
            </a:p>
          </p:txBody>
        </p:sp>
        <p:sp>
          <p:nvSpPr>
            <p:cNvPr id="13327" name="Text Box 11"/>
            <p:cNvSpPr txBox="1">
              <a:spLocks noChangeArrowheads="1"/>
            </p:cNvSpPr>
            <p:nvPr/>
          </p:nvSpPr>
          <p:spPr bwMode="auto">
            <a:xfrm>
              <a:off x="2016" y="288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begin</a:t>
              </a:r>
            </a:p>
          </p:txBody>
        </p:sp>
        <p:sp>
          <p:nvSpPr>
            <p:cNvPr id="13328" name="Text Box 12"/>
            <p:cNvSpPr txBox="1">
              <a:spLocks noChangeArrowheads="1"/>
            </p:cNvSpPr>
            <p:nvPr/>
          </p:nvSpPr>
          <p:spPr bwMode="auto">
            <a:xfrm>
              <a:off x="2016" y="264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then</a:t>
              </a:r>
            </a:p>
          </p:txBody>
        </p:sp>
        <p:sp>
          <p:nvSpPr>
            <p:cNvPr id="13329" name="Text Box 13"/>
            <p:cNvSpPr txBox="1">
              <a:spLocks noChangeArrowheads="1"/>
            </p:cNvSpPr>
            <p:nvPr/>
          </p:nvSpPr>
          <p:spPr bwMode="auto">
            <a:xfrm>
              <a:off x="2832" y="2928"/>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259</a:t>
              </a:r>
            </a:p>
          </p:txBody>
        </p:sp>
        <p:sp>
          <p:nvSpPr>
            <p:cNvPr id="13330" name="Text Box 14"/>
            <p:cNvSpPr txBox="1">
              <a:spLocks noChangeArrowheads="1"/>
            </p:cNvSpPr>
            <p:nvPr/>
          </p:nvSpPr>
          <p:spPr bwMode="auto">
            <a:xfrm>
              <a:off x="2832" y="264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258</a:t>
              </a:r>
            </a:p>
          </p:txBody>
        </p:sp>
        <p:sp>
          <p:nvSpPr>
            <p:cNvPr id="13331" name="Text Box 15"/>
            <p:cNvSpPr txBox="1">
              <a:spLocks noChangeArrowheads="1"/>
            </p:cNvSpPr>
            <p:nvPr/>
          </p:nvSpPr>
          <p:spPr bwMode="auto">
            <a:xfrm>
              <a:off x="2832" y="240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257</a:t>
              </a:r>
            </a:p>
          </p:txBody>
        </p:sp>
        <p:sp>
          <p:nvSpPr>
            <p:cNvPr id="13332" name="Line 16"/>
            <p:cNvSpPr>
              <a:spLocks noChangeShapeType="1"/>
            </p:cNvSpPr>
            <p:nvPr/>
          </p:nvSpPr>
          <p:spPr bwMode="auto">
            <a:xfrm>
              <a:off x="1920" y="3168"/>
              <a:ext cx="172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3" name="Text Box 17"/>
            <p:cNvSpPr txBox="1">
              <a:spLocks noChangeArrowheads="1"/>
            </p:cNvSpPr>
            <p:nvPr/>
          </p:nvSpPr>
          <p:spPr bwMode="auto">
            <a:xfrm>
              <a:off x="2112" y="316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sp>
          <p:nvSpPr>
            <p:cNvPr id="13334" name="Text Box 18"/>
            <p:cNvSpPr txBox="1">
              <a:spLocks noChangeArrowheads="1"/>
            </p:cNvSpPr>
            <p:nvPr/>
          </p:nvSpPr>
          <p:spPr bwMode="auto">
            <a:xfrm>
              <a:off x="2880" y="3168"/>
              <a:ext cx="4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a:t>
              </a:r>
            </a:p>
          </p:txBody>
        </p:sp>
      </p:grpSp>
      <p:sp>
        <p:nvSpPr>
          <p:cNvPr id="13321" name="Text Box 19"/>
          <p:cNvSpPr txBox="1">
            <a:spLocks noChangeArrowheads="1"/>
          </p:cNvSpPr>
          <p:nvPr/>
        </p:nvSpPr>
        <p:spPr bwMode="auto">
          <a:xfrm>
            <a:off x="1651000" y="4800600"/>
            <a:ext cx="80899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buFontTx/>
              <a:buChar char="•"/>
            </a:pPr>
            <a:r>
              <a:rPr lang="zh-CN" altLang="en-US" sz="2000">
                <a:solidFill>
                  <a:schemeClr val="accent2"/>
                </a:solidFill>
                <a:ea typeface="宋体" panose="02010600030101010101" pitchFamily="2" charset="-122"/>
              </a:rPr>
              <a:t> </a:t>
            </a:r>
            <a:r>
              <a:rPr lang="en-US" altLang="zh-CN" sz="2000">
                <a:solidFill>
                  <a:schemeClr val="accent2"/>
                </a:solidFill>
                <a:ea typeface="宋体" panose="02010600030101010101" pitchFamily="2" charset="-122"/>
              </a:rPr>
              <a:t>When a match is found, the token is returned, along with its symbolic value, i.e.,  “then”, 258</a:t>
            </a:r>
          </a:p>
          <a:p>
            <a:pPr eaLnBrk="1" hangingPunct="1">
              <a:spcBef>
                <a:spcPct val="50000"/>
              </a:spcBef>
              <a:buFontTx/>
              <a:buChar char="•"/>
            </a:pPr>
            <a:r>
              <a:rPr lang="en-US" altLang="zh-CN" sz="2000">
                <a:solidFill>
                  <a:schemeClr val="accent2"/>
                </a:solidFill>
                <a:ea typeface="宋体" panose="02010600030101010101" pitchFamily="2" charset="-122"/>
              </a:rPr>
              <a:t> If a match is not found, then it is assumed that an  </a:t>
            </a:r>
            <a:r>
              <a:rPr lang="en-US" altLang="zh-CN" sz="2000">
                <a:ea typeface="宋体" panose="02010600030101010101" pitchFamily="2" charset="-122"/>
              </a:rPr>
              <a:t>id</a:t>
            </a:r>
            <a:r>
              <a:rPr lang="en-US" altLang="zh-CN" sz="2000">
                <a:solidFill>
                  <a:schemeClr val="accent2"/>
                </a:solidFill>
                <a:ea typeface="宋体" panose="02010600030101010101" pitchFamily="2" charset="-122"/>
              </a:rPr>
              <a:t>  has been discovered</a:t>
            </a:r>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4339"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4340"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E7226606-8197-49CE-BA98-425FDE675560}" type="slidenum">
              <a:rPr lang="zh-CN" altLang="en-US" sz="800" b="0"/>
              <a:pPr/>
              <a:t>13</a:t>
            </a:fld>
            <a:endParaRPr lang="en-US" altLang="zh-CN" sz="800" b="0"/>
          </a:p>
        </p:txBody>
      </p:sp>
      <p:sp>
        <p:nvSpPr>
          <p:cNvPr id="14341"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Implementing Transition Diagrams (P.104)</a:t>
            </a:r>
          </a:p>
        </p:txBody>
      </p:sp>
      <p:sp>
        <p:nvSpPr>
          <p:cNvPr id="14342" name="Text Box 3"/>
          <p:cNvSpPr txBox="1">
            <a:spLocks noChangeArrowheads="1"/>
          </p:cNvSpPr>
          <p:nvPr/>
        </p:nvSpPr>
        <p:spPr bwMode="auto">
          <a:xfrm>
            <a:off x="796925" y="990600"/>
            <a:ext cx="8172450" cy="545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600">
                <a:latin typeface="Courier New" panose="02070309020205020404" pitchFamily="49" charset="0"/>
                <a:ea typeface="宋体" panose="02010600030101010101" pitchFamily="2" charset="-122"/>
              </a:rPr>
              <a:t>lexeme_beginning = forward; </a:t>
            </a:r>
            <a:br>
              <a:rPr lang="en-US" altLang="zh-CN" sz="1600">
                <a:latin typeface="Courier New" panose="02070309020205020404" pitchFamily="49" charset="0"/>
                <a:ea typeface="宋体" panose="02010600030101010101" pitchFamily="2" charset="-122"/>
              </a:rPr>
            </a:br>
            <a:r>
              <a:rPr lang="en-US" altLang="zh-CN" sz="1600">
                <a:latin typeface="Courier New" panose="02070309020205020404" pitchFamily="49" charset="0"/>
                <a:ea typeface="宋体" panose="02010600030101010101" pitchFamily="2" charset="-122"/>
              </a:rPr>
              <a:t>state = 0;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token nexttoken()</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while(1)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switch (state)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case 0:   c = nextchar();</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 c is lookahead character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if (c== blank || c==tab || c== newline)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state = 0;</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lexeme</a:t>
            </a:r>
            <a:r>
              <a:rPr lang="en-US" altLang="zh-CN" sz="1600">
                <a:latin typeface="Courier New" panose="02070309020205020404" pitchFamily="49" charset="0"/>
                <a:ea typeface="宋体" panose="02010600030101010101" pitchFamily="2" charset="-122"/>
                <a:cs typeface="Courier New" panose="02070309020205020404" pitchFamily="49" charset="0"/>
              </a:rPr>
              <a:t>_beginning++;</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cs typeface="Courier New" panose="02070309020205020404" pitchFamily="49" charset="0"/>
              </a:rPr>
              <a:t>                /* advance </a:t>
            </a:r>
            <a:br>
              <a:rPr lang="en-US" altLang="zh-CN" sz="1600">
                <a:latin typeface="Courier New" panose="02070309020205020404" pitchFamily="49" charset="0"/>
                <a:ea typeface="宋体" panose="02010600030101010101" pitchFamily="2" charset="-122"/>
                <a:cs typeface="Courier New" panose="02070309020205020404" pitchFamily="49" charset="0"/>
              </a:rPr>
            </a:br>
            <a:r>
              <a:rPr lang="en-US" altLang="zh-CN" sz="1600">
                <a:latin typeface="Courier New" panose="02070309020205020404" pitchFamily="49" charset="0"/>
                <a:ea typeface="宋体" panose="02010600030101010101" pitchFamily="2" charset="-122"/>
                <a:cs typeface="Courier New" panose="02070309020205020404" pitchFamily="49" charset="0"/>
              </a:rPr>
              <a:t>		beginning of lexeme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cs typeface="Courier New" panose="02070309020205020404" pitchFamily="49" charset="0"/>
              </a:rPr>
              <a:t>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cs typeface="Courier New" panose="02070309020205020404" pitchFamily="49" charset="0"/>
              </a:rPr>
              <a:t>          else if (c == ‘&lt;‘) state = 1;</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cs typeface="Courier New" panose="02070309020205020404" pitchFamily="49" charset="0"/>
              </a:rPr>
              <a:t>          else if (c == ‘=‘) state = 5;</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else if (c == ‘&gt;’) state = 6;</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else state = fail();</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break;</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 /* cases 1-8 here */</a:t>
            </a:r>
          </a:p>
        </p:txBody>
      </p:sp>
      <p:grpSp>
        <p:nvGrpSpPr>
          <p:cNvPr id="412676" name="Group 4"/>
          <p:cNvGrpSpPr>
            <a:grpSpLocks/>
          </p:cNvGrpSpPr>
          <p:nvPr/>
        </p:nvGrpSpPr>
        <p:grpSpPr bwMode="auto">
          <a:xfrm>
            <a:off x="5310188" y="3400425"/>
            <a:ext cx="4071937" cy="3219450"/>
            <a:chOff x="2016" y="2256"/>
            <a:chExt cx="1984" cy="1586"/>
          </a:xfrm>
        </p:grpSpPr>
        <p:sp>
          <p:nvSpPr>
            <p:cNvPr id="14347" name="Line 5"/>
            <p:cNvSpPr>
              <a:spLocks noChangeShapeType="1"/>
            </p:cNvSpPr>
            <p:nvPr/>
          </p:nvSpPr>
          <p:spPr bwMode="auto">
            <a:xfrm>
              <a:off x="2016" y="2363"/>
              <a:ext cx="445"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8" name="Oval 6"/>
            <p:cNvSpPr>
              <a:spLocks noChangeArrowheads="1"/>
            </p:cNvSpPr>
            <p:nvPr/>
          </p:nvSpPr>
          <p:spPr bwMode="auto">
            <a:xfrm>
              <a:off x="2461" y="2283"/>
              <a:ext cx="205" cy="161"/>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49" name="Line 7"/>
            <p:cNvSpPr>
              <a:spLocks noChangeShapeType="1"/>
            </p:cNvSpPr>
            <p:nvPr/>
          </p:nvSpPr>
          <p:spPr bwMode="auto">
            <a:xfrm>
              <a:off x="2666" y="2363"/>
              <a:ext cx="445"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Text Box 8"/>
            <p:cNvSpPr txBox="1">
              <a:spLocks noChangeArrowheads="1"/>
            </p:cNvSpPr>
            <p:nvPr/>
          </p:nvSpPr>
          <p:spPr bwMode="auto">
            <a:xfrm>
              <a:off x="2050" y="2256"/>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start</a:t>
              </a:r>
            </a:p>
          </p:txBody>
        </p:sp>
        <p:sp>
          <p:nvSpPr>
            <p:cNvPr id="14351" name="Text Box 9"/>
            <p:cNvSpPr txBox="1">
              <a:spLocks noChangeArrowheads="1"/>
            </p:cNvSpPr>
            <p:nvPr/>
          </p:nvSpPr>
          <p:spPr bwMode="auto">
            <a:xfrm>
              <a:off x="2700" y="2256"/>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&lt;</a:t>
              </a:r>
            </a:p>
          </p:txBody>
        </p:sp>
        <p:sp>
          <p:nvSpPr>
            <p:cNvPr id="14352" name="Text Box 10"/>
            <p:cNvSpPr txBox="1">
              <a:spLocks noChangeArrowheads="1"/>
            </p:cNvSpPr>
            <p:nvPr/>
          </p:nvSpPr>
          <p:spPr bwMode="auto">
            <a:xfrm>
              <a:off x="2495" y="2310"/>
              <a:ext cx="137"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0</a:t>
              </a:r>
            </a:p>
          </p:txBody>
        </p:sp>
        <p:sp>
          <p:nvSpPr>
            <p:cNvPr id="14353" name="Oval 11"/>
            <p:cNvSpPr>
              <a:spLocks noChangeArrowheads="1"/>
            </p:cNvSpPr>
            <p:nvPr/>
          </p:nvSpPr>
          <p:spPr bwMode="auto">
            <a:xfrm>
              <a:off x="3692" y="3679"/>
              <a:ext cx="206" cy="161"/>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54" name="Oval 12"/>
            <p:cNvSpPr>
              <a:spLocks noChangeArrowheads="1"/>
            </p:cNvSpPr>
            <p:nvPr/>
          </p:nvSpPr>
          <p:spPr bwMode="auto">
            <a:xfrm>
              <a:off x="3727" y="3706"/>
              <a:ext cx="136" cy="107"/>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55" name="Line 13"/>
            <p:cNvSpPr>
              <a:spLocks noChangeShapeType="1"/>
            </p:cNvSpPr>
            <p:nvPr/>
          </p:nvSpPr>
          <p:spPr bwMode="auto">
            <a:xfrm>
              <a:off x="3316" y="3491"/>
              <a:ext cx="376"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4356" name="AutoShape 14"/>
            <p:cNvCxnSpPr>
              <a:cxnSpLocks noChangeShapeType="1"/>
              <a:stCxn id="14395" idx="4"/>
              <a:endCxn id="14353" idx="2"/>
            </p:cNvCxnSpPr>
            <p:nvPr/>
          </p:nvCxnSpPr>
          <p:spPr bwMode="auto">
            <a:xfrm rot="16200000" flipH="1">
              <a:off x="3359" y="3425"/>
              <a:ext cx="188" cy="479"/>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57" name="Text Box 15"/>
            <p:cNvSpPr txBox="1">
              <a:spLocks noChangeArrowheads="1"/>
            </p:cNvSpPr>
            <p:nvPr/>
          </p:nvSpPr>
          <p:spPr bwMode="auto">
            <a:xfrm>
              <a:off x="3282" y="3598"/>
              <a:ext cx="34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other</a:t>
              </a:r>
            </a:p>
          </p:txBody>
        </p:sp>
        <p:sp>
          <p:nvSpPr>
            <p:cNvPr id="14358" name="Text Box 16"/>
            <p:cNvSpPr txBox="1">
              <a:spLocks noChangeArrowheads="1"/>
            </p:cNvSpPr>
            <p:nvPr/>
          </p:nvSpPr>
          <p:spPr bwMode="auto">
            <a:xfrm>
              <a:off x="3315" y="3384"/>
              <a:ext cx="34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a:t>
              </a:r>
            </a:p>
          </p:txBody>
        </p:sp>
        <p:grpSp>
          <p:nvGrpSpPr>
            <p:cNvPr id="14359" name="Group 17"/>
            <p:cNvGrpSpPr>
              <a:grpSpLocks/>
            </p:cNvGrpSpPr>
            <p:nvPr/>
          </p:nvGrpSpPr>
          <p:grpSpPr bwMode="auto">
            <a:xfrm>
              <a:off x="3111" y="3410"/>
              <a:ext cx="205" cy="162"/>
              <a:chOff x="2448" y="1008"/>
              <a:chExt cx="288" cy="289"/>
            </a:xfrm>
          </p:grpSpPr>
          <p:sp>
            <p:nvSpPr>
              <p:cNvPr id="14395" name="Oval 18"/>
              <p:cNvSpPr>
                <a:spLocks noChangeArrowheads="1"/>
              </p:cNvSpPr>
              <p:nvPr/>
            </p:nvSpPr>
            <p:spPr bwMode="auto">
              <a:xfrm>
                <a:off x="2448"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96" name="Text Box 19"/>
              <p:cNvSpPr txBox="1">
                <a:spLocks noChangeArrowheads="1"/>
              </p:cNvSpPr>
              <p:nvPr/>
            </p:nvSpPr>
            <p:spPr bwMode="auto">
              <a:xfrm>
                <a:off x="2496" y="1056"/>
                <a:ext cx="191"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6</a:t>
                </a:r>
              </a:p>
            </p:txBody>
          </p:sp>
        </p:grpSp>
        <p:grpSp>
          <p:nvGrpSpPr>
            <p:cNvPr id="14360" name="Group 20"/>
            <p:cNvGrpSpPr>
              <a:grpSpLocks/>
            </p:cNvGrpSpPr>
            <p:nvPr/>
          </p:nvGrpSpPr>
          <p:grpSpPr bwMode="auto">
            <a:xfrm>
              <a:off x="3692" y="3410"/>
              <a:ext cx="206" cy="162"/>
              <a:chOff x="3264" y="1008"/>
              <a:chExt cx="288" cy="289"/>
            </a:xfrm>
          </p:grpSpPr>
          <p:sp>
            <p:nvSpPr>
              <p:cNvPr id="14392" name="Oval 21"/>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93" name="Oval 22"/>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94" name="Text Box 23"/>
              <p:cNvSpPr txBox="1">
                <a:spLocks noChangeArrowheads="1"/>
              </p:cNvSpPr>
              <p:nvPr/>
            </p:nvSpPr>
            <p:spPr bwMode="auto">
              <a:xfrm>
                <a:off x="3312" y="1056"/>
                <a:ext cx="194"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7</a:t>
                </a:r>
              </a:p>
            </p:txBody>
          </p:sp>
        </p:grpSp>
        <p:sp>
          <p:nvSpPr>
            <p:cNvPr id="14361" name="Text Box 24"/>
            <p:cNvSpPr txBox="1">
              <a:spLocks noChangeArrowheads="1"/>
            </p:cNvSpPr>
            <p:nvPr/>
          </p:nvSpPr>
          <p:spPr bwMode="auto">
            <a:xfrm>
              <a:off x="3727" y="3706"/>
              <a:ext cx="13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8</a:t>
              </a:r>
            </a:p>
          </p:txBody>
        </p:sp>
        <p:grpSp>
          <p:nvGrpSpPr>
            <p:cNvPr id="14362" name="Group 25"/>
            <p:cNvGrpSpPr>
              <a:grpSpLocks/>
            </p:cNvGrpSpPr>
            <p:nvPr/>
          </p:nvGrpSpPr>
          <p:grpSpPr bwMode="auto">
            <a:xfrm>
              <a:off x="3111" y="3061"/>
              <a:ext cx="205" cy="162"/>
              <a:chOff x="3264" y="1008"/>
              <a:chExt cx="288" cy="290"/>
            </a:xfrm>
          </p:grpSpPr>
          <p:sp>
            <p:nvSpPr>
              <p:cNvPr id="14389" name="Oval 26"/>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90" name="Oval 27"/>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91" name="Text Box 28"/>
              <p:cNvSpPr txBox="1">
                <a:spLocks noChangeArrowheads="1"/>
              </p:cNvSpPr>
              <p:nvPr/>
            </p:nvSpPr>
            <p:spPr bwMode="auto">
              <a:xfrm>
                <a:off x="3312" y="1056"/>
                <a:ext cx="191"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5</a:t>
                </a:r>
              </a:p>
            </p:txBody>
          </p:sp>
        </p:grpSp>
        <p:grpSp>
          <p:nvGrpSpPr>
            <p:cNvPr id="14363" name="Group 29"/>
            <p:cNvGrpSpPr>
              <a:grpSpLocks/>
            </p:cNvGrpSpPr>
            <p:nvPr/>
          </p:nvGrpSpPr>
          <p:grpSpPr bwMode="auto">
            <a:xfrm>
              <a:off x="3692" y="2847"/>
              <a:ext cx="206" cy="164"/>
              <a:chOff x="3264" y="1008"/>
              <a:chExt cx="288" cy="293"/>
            </a:xfrm>
          </p:grpSpPr>
          <p:sp>
            <p:nvSpPr>
              <p:cNvPr id="14386" name="Oval 30"/>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87" name="Oval 31"/>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88" name="Text Box 32"/>
              <p:cNvSpPr txBox="1">
                <a:spLocks noChangeArrowheads="1"/>
              </p:cNvSpPr>
              <p:nvPr/>
            </p:nvSpPr>
            <p:spPr bwMode="auto">
              <a:xfrm>
                <a:off x="3312" y="1058"/>
                <a:ext cx="194"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4</a:t>
                </a:r>
              </a:p>
            </p:txBody>
          </p:sp>
        </p:grpSp>
        <p:sp>
          <p:nvSpPr>
            <p:cNvPr id="14364" name="Oval 33"/>
            <p:cNvSpPr>
              <a:spLocks noChangeArrowheads="1"/>
            </p:cNvSpPr>
            <p:nvPr/>
          </p:nvSpPr>
          <p:spPr bwMode="auto">
            <a:xfrm>
              <a:off x="3692" y="2551"/>
              <a:ext cx="206" cy="161"/>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65" name="Oval 34"/>
            <p:cNvSpPr>
              <a:spLocks noChangeArrowheads="1"/>
            </p:cNvSpPr>
            <p:nvPr/>
          </p:nvSpPr>
          <p:spPr bwMode="auto">
            <a:xfrm>
              <a:off x="3727" y="2578"/>
              <a:ext cx="136" cy="10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66" name="Line 35"/>
            <p:cNvSpPr>
              <a:spLocks noChangeShapeType="1"/>
            </p:cNvSpPr>
            <p:nvPr/>
          </p:nvSpPr>
          <p:spPr bwMode="auto">
            <a:xfrm>
              <a:off x="3316" y="2363"/>
              <a:ext cx="376"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4367" name="AutoShape 36"/>
            <p:cNvCxnSpPr>
              <a:cxnSpLocks noChangeShapeType="1"/>
              <a:stCxn id="14384" idx="4"/>
              <a:endCxn id="14364" idx="2"/>
            </p:cNvCxnSpPr>
            <p:nvPr/>
          </p:nvCxnSpPr>
          <p:spPr bwMode="auto">
            <a:xfrm rot="16200000" flipH="1">
              <a:off x="3359" y="2298"/>
              <a:ext cx="188" cy="479"/>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68" name="Text Box 37"/>
            <p:cNvSpPr txBox="1">
              <a:spLocks noChangeArrowheads="1"/>
            </p:cNvSpPr>
            <p:nvPr/>
          </p:nvSpPr>
          <p:spPr bwMode="auto">
            <a:xfrm>
              <a:off x="3282" y="2471"/>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&gt;</a:t>
              </a:r>
            </a:p>
          </p:txBody>
        </p:sp>
        <p:sp>
          <p:nvSpPr>
            <p:cNvPr id="14369" name="Text Box 38"/>
            <p:cNvSpPr txBox="1">
              <a:spLocks noChangeArrowheads="1"/>
            </p:cNvSpPr>
            <p:nvPr/>
          </p:nvSpPr>
          <p:spPr bwMode="auto">
            <a:xfrm>
              <a:off x="3315" y="2256"/>
              <a:ext cx="34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a:t>
              </a:r>
            </a:p>
          </p:txBody>
        </p:sp>
        <p:grpSp>
          <p:nvGrpSpPr>
            <p:cNvPr id="14370" name="Group 39"/>
            <p:cNvGrpSpPr>
              <a:grpSpLocks/>
            </p:cNvGrpSpPr>
            <p:nvPr/>
          </p:nvGrpSpPr>
          <p:grpSpPr bwMode="auto">
            <a:xfrm>
              <a:off x="3111" y="2283"/>
              <a:ext cx="205" cy="162"/>
              <a:chOff x="2448" y="1008"/>
              <a:chExt cx="288" cy="290"/>
            </a:xfrm>
          </p:grpSpPr>
          <p:sp>
            <p:nvSpPr>
              <p:cNvPr id="14384" name="Oval 40"/>
              <p:cNvSpPr>
                <a:spLocks noChangeArrowheads="1"/>
              </p:cNvSpPr>
              <p:nvPr/>
            </p:nvSpPr>
            <p:spPr bwMode="auto">
              <a:xfrm>
                <a:off x="2448"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85" name="Text Box 41"/>
              <p:cNvSpPr txBox="1">
                <a:spLocks noChangeArrowheads="1"/>
              </p:cNvSpPr>
              <p:nvPr/>
            </p:nvSpPr>
            <p:spPr bwMode="auto">
              <a:xfrm>
                <a:off x="2496" y="1056"/>
                <a:ext cx="191"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1</a:t>
                </a:r>
              </a:p>
            </p:txBody>
          </p:sp>
        </p:grpSp>
        <p:grpSp>
          <p:nvGrpSpPr>
            <p:cNvPr id="14371" name="Group 42"/>
            <p:cNvGrpSpPr>
              <a:grpSpLocks/>
            </p:cNvGrpSpPr>
            <p:nvPr/>
          </p:nvGrpSpPr>
          <p:grpSpPr bwMode="auto">
            <a:xfrm>
              <a:off x="3692" y="2283"/>
              <a:ext cx="206" cy="162"/>
              <a:chOff x="3264" y="1008"/>
              <a:chExt cx="288" cy="290"/>
            </a:xfrm>
          </p:grpSpPr>
          <p:sp>
            <p:nvSpPr>
              <p:cNvPr id="14381" name="Oval 43"/>
              <p:cNvSpPr>
                <a:spLocks noChangeArrowheads="1"/>
              </p:cNvSpPr>
              <p:nvPr/>
            </p:nvSpPr>
            <p:spPr bwMode="auto">
              <a:xfrm>
                <a:off x="3264" y="100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82" name="Oval 44"/>
              <p:cNvSpPr>
                <a:spLocks noChangeArrowheads="1"/>
              </p:cNvSpPr>
              <p:nvPr/>
            </p:nvSpPr>
            <p:spPr bwMode="auto">
              <a:xfrm>
                <a:off x="3312" y="1056"/>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4383" name="Text Box 45"/>
              <p:cNvSpPr txBox="1">
                <a:spLocks noChangeArrowheads="1"/>
              </p:cNvSpPr>
              <p:nvPr/>
            </p:nvSpPr>
            <p:spPr bwMode="auto">
              <a:xfrm>
                <a:off x="3312" y="1056"/>
                <a:ext cx="194"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2</a:t>
                </a:r>
              </a:p>
            </p:txBody>
          </p:sp>
        </p:grpSp>
        <p:sp>
          <p:nvSpPr>
            <p:cNvPr id="14372" name="Text Box 46"/>
            <p:cNvSpPr txBox="1">
              <a:spLocks noChangeArrowheads="1"/>
            </p:cNvSpPr>
            <p:nvPr/>
          </p:nvSpPr>
          <p:spPr bwMode="auto">
            <a:xfrm>
              <a:off x="3727" y="2578"/>
              <a:ext cx="1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3</a:t>
              </a:r>
            </a:p>
          </p:txBody>
        </p:sp>
        <p:cxnSp>
          <p:nvCxnSpPr>
            <p:cNvPr id="14373" name="AutoShape 47"/>
            <p:cNvCxnSpPr>
              <a:cxnSpLocks noChangeShapeType="1"/>
              <a:stCxn id="14384" idx="4"/>
              <a:endCxn id="14386" idx="2"/>
            </p:cNvCxnSpPr>
            <p:nvPr/>
          </p:nvCxnSpPr>
          <p:spPr bwMode="auto">
            <a:xfrm rot="16200000" flipH="1">
              <a:off x="3211" y="2446"/>
              <a:ext cx="483" cy="479"/>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74" name="AutoShape 48"/>
            <p:cNvCxnSpPr>
              <a:cxnSpLocks noChangeShapeType="1"/>
              <a:endCxn id="14389" idx="2"/>
            </p:cNvCxnSpPr>
            <p:nvPr/>
          </p:nvCxnSpPr>
          <p:spPr bwMode="auto">
            <a:xfrm rot="16200000" flipH="1">
              <a:off x="2488" y="2519"/>
              <a:ext cx="698" cy="548"/>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75" name="AutoShape 49"/>
            <p:cNvCxnSpPr>
              <a:cxnSpLocks noChangeShapeType="1"/>
              <a:stCxn id="14348" idx="4"/>
              <a:endCxn id="14395" idx="2"/>
            </p:cNvCxnSpPr>
            <p:nvPr/>
          </p:nvCxnSpPr>
          <p:spPr bwMode="auto">
            <a:xfrm rot="16200000" flipH="1">
              <a:off x="2313" y="2694"/>
              <a:ext cx="1047" cy="548"/>
            </a:xfrm>
            <a:prstGeom prst="curvedConnector2">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76" name="Text Box 50"/>
            <p:cNvSpPr txBox="1">
              <a:spLocks noChangeArrowheads="1"/>
            </p:cNvSpPr>
            <p:nvPr/>
          </p:nvSpPr>
          <p:spPr bwMode="auto">
            <a:xfrm>
              <a:off x="3350" y="2712"/>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other</a:t>
              </a:r>
            </a:p>
          </p:txBody>
        </p:sp>
        <p:sp>
          <p:nvSpPr>
            <p:cNvPr id="14377" name="Text Box 51"/>
            <p:cNvSpPr txBox="1">
              <a:spLocks noChangeArrowheads="1"/>
            </p:cNvSpPr>
            <p:nvPr/>
          </p:nvSpPr>
          <p:spPr bwMode="auto">
            <a:xfrm>
              <a:off x="2700" y="3196"/>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&gt;</a:t>
              </a:r>
            </a:p>
          </p:txBody>
        </p:sp>
        <p:sp>
          <p:nvSpPr>
            <p:cNvPr id="14378" name="Text Box 52"/>
            <p:cNvSpPr txBox="1">
              <a:spLocks noChangeArrowheads="1"/>
            </p:cNvSpPr>
            <p:nvPr/>
          </p:nvSpPr>
          <p:spPr bwMode="auto">
            <a:xfrm>
              <a:off x="2666" y="2873"/>
              <a:ext cx="34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200">
                  <a:ea typeface="宋体" panose="02010600030101010101" pitchFamily="2" charset="-122"/>
                </a:rPr>
                <a:t>=</a:t>
              </a:r>
            </a:p>
          </p:txBody>
        </p:sp>
        <p:sp>
          <p:nvSpPr>
            <p:cNvPr id="14379" name="Text Box 53"/>
            <p:cNvSpPr txBox="1">
              <a:spLocks noChangeArrowheads="1"/>
            </p:cNvSpPr>
            <p:nvPr/>
          </p:nvSpPr>
          <p:spPr bwMode="auto">
            <a:xfrm>
              <a:off x="3863" y="3653"/>
              <a:ext cx="137"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200">
                  <a:ea typeface="宋体" panose="02010600030101010101" pitchFamily="2" charset="-122"/>
                </a:rPr>
                <a:t>*</a:t>
              </a:r>
            </a:p>
          </p:txBody>
        </p:sp>
        <p:sp>
          <p:nvSpPr>
            <p:cNvPr id="14380" name="Text Box 54"/>
            <p:cNvSpPr txBox="1">
              <a:spLocks noChangeArrowheads="1"/>
            </p:cNvSpPr>
            <p:nvPr/>
          </p:nvSpPr>
          <p:spPr bwMode="auto">
            <a:xfrm>
              <a:off x="3863" y="2820"/>
              <a:ext cx="137"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200">
                  <a:ea typeface="宋体" panose="02010600030101010101" pitchFamily="2" charset="-122"/>
                </a:rPr>
                <a:t>*</a:t>
              </a:r>
            </a:p>
          </p:txBody>
        </p:sp>
      </p:grpSp>
      <p:sp>
        <p:nvSpPr>
          <p:cNvPr id="14344" name="Rectangle 55"/>
          <p:cNvSpPr>
            <a:spLocks noChangeArrowheads="1"/>
          </p:cNvSpPr>
          <p:nvPr/>
        </p:nvSpPr>
        <p:spPr bwMode="auto">
          <a:xfrm>
            <a:off x="5006975" y="981075"/>
            <a:ext cx="4622800" cy="1373188"/>
          </a:xfrm>
          <a:prstGeom prst="rect">
            <a:avLst/>
          </a:prstGeom>
          <a:noFill/>
          <a:ln w="28575">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r>
              <a:rPr lang="en-US" altLang="zh-CN" sz="1800">
                <a:solidFill>
                  <a:srgbClr val="660066"/>
                </a:solidFill>
                <a:latin typeface="Courier New" panose="02070309020205020404" pitchFamily="49" charset="0"/>
                <a:ea typeface="宋体" panose="02010600030101010101" pitchFamily="2" charset="-122"/>
              </a:rPr>
              <a:t>FUNCTIONS USED</a:t>
            </a:r>
          </a:p>
          <a:p>
            <a:pPr algn="ctr" eaLnBrk="1" hangingPunct="1"/>
            <a:r>
              <a:rPr lang="en-US" altLang="zh-CN" sz="1600">
                <a:solidFill>
                  <a:srgbClr val="A50021"/>
                </a:solidFill>
                <a:latin typeface="Courier New" panose="02070309020205020404" pitchFamily="49" charset="0"/>
                <a:ea typeface="宋体" panose="02010600030101010101" pitchFamily="2" charset="-122"/>
              </a:rPr>
              <a:t>nextchar(), forward(), retract(), </a:t>
            </a:r>
          </a:p>
          <a:p>
            <a:pPr algn="ctr" eaLnBrk="1" hangingPunct="1"/>
            <a:r>
              <a:rPr lang="en-US" altLang="zh-CN" sz="1600">
                <a:solidFill>
                  <a:srgbClr val="A50021"/>
                </a:solidFill>
                <a:latin typeface="Courier New" panose="02070309020205020404" pitchFamily="49" charset="0"/>
                <a:ea typeface="宋体" panose="02010600030101010101" pitchFamily="2" charset="-122"/>
              </a:rPr>
              <a:t>install_num(), install_id(), gettoken(), isdigit(), isletter(), recover()</a:t>
            </a:r>
          </a:p>
        </p:txBody>
      </p:sp>
      <p:sp>
        <p:nvSpPr>
          <p:cNvPr id="412728" name="Text Box 56"/>
          <p:cNvSpPr txBox="1">
            <a:spLocks noChangeArrowheads="1"/>
          </p:cNvSpPr>
          <p:nvPr/>
        </p:nvSpPr>
        <p:spPr bwMode="auto">
          <a:xfrm>
            <a:off x="631825" y="2886075"/>
            <a:ext cx="14859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repeat</a:t>
            </a:r>
            <a:br>
              <a:rPr lang="en-US" altLang="zh-CN" sz="2000">
                <a:solidFill>
                  <a:schemeClr val="accent2"/>
                </a:solidFill>
                <a:ea typeface="宋体" panose="02010600030101010101" pitchFamily="2" charset="-122"/>
              </a:rPr>
            </a:br>
            <a:r>
              <a:rPr lang="en-US" altLang="zh-CN" sz="2000">
                <a:solidFill>
                  <a:schemeClr val="accent2"/>
                </a:solidFill>
                <a:ea typeface="宋体" panose="02010600030101010101" pitchFamily="2" charset="-122"/>
              </a:rPr>
              <a:t>until</a:t>
            </a:r>
            <a:br>
              <a:rPr lang="en-US" altLang="zh-CN" sz="2000">
                <a:solidFill>
                  <a:schemeClr val="accent2"/>
                </a:solidFill>
                <a:ea typeface="宋体" panose="02010600030101010101" pitchFamily="2" charset="-122"/>
              </a:rPr>
            </a:br>
            <a:r>
              <a:rPr lang="en-US" altLang="zh-CN" sz="2000">
                <a:solidFill>
                  <a:schemeClr val="accent2"/>
                </a:solidFill>
                <a:ea typeface="宋体" panose="02010600030101010101" pitchFamily="2" charset="-122"/>
              </a:rPr>
              <a:t>a “return”</a:t>
            </a:r>
            <a:br>
              <a:rPr lang="en-US" altLang="zh-CN" sz="2000">
                <a:solidFill>
                  <a:schemeClr val="accent2"/>
                </a:solidFill>
                <a:ea typeface="宋体" panose="02010600030101010101" pitchFamily="2" charset="-122"/>
              </a:rPr>
            </a:br>
            <a:r>
              <a:rPr lang="en-US" altLang="zh-CN" sz="2000">
                <a:solidFill>
                  <a:schemeClr val="accent2"/>
                </a:solidFill>
                <a:ea typeface="宋体" panose="02010600030101010101" pitchFamily="2" charset="-122"/>
              </a:rPr>
              <a:t>occurs</a:t>
            </a:r>
          </a:p>
        </p:txBody>
      </p:sp>
      <p:sp>
        <p:nvSpPr>
          <p:cNvPr id="412729" name="Line 57"/>
          <p:cNvSpPr>
            <a:spLocks noChangeShapeType="1"/>
          </p:cNvSpPr>
          <p:nvPr/>
        </p:nvSpPr>
        <p:spPr bwMode="auto">
          <a:xfrm flipV="1">
            <a:off x="1209675" y="2200275"/>
            <a:ext cx="330200" cy="762000"/>
          </a:xfrm>
          <a:prstGeom prst="line">
            <a:avLst/>
          </a:prstGeom>
          <a:noFill/>
          <a:ln w="25400">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412676"/>
                                        </p:tgtEl>
                                        <p:attrNameLst>
                                          <p:attrName>style.visibility</p:attrName>
                                        </p:attrNameLst>
                                      </p:cBhvr>
                                      <p:to>
                                        <p:strVal val="visible"/>
                                      </p:to>
                                    </p:set>
                                    <p:anim calcmode="lin" valueType="num">
                                      <p:cBhvr additive="base">
                                        <p:cTn id="7" dur="1000" fill="hold"/>
                                        <p:tgtEl>
                                          <p:spTgt spid="412676"/>
                                        </p:tgtEl>
                                        <p:attrNameLst>
                                          <p:attrName>ppt_x</p:attrName>
                                        </p:attrNameLst>
                                      </p:cBhvr>
                                      <p:tavLst>
                                        <p:tav tm="0">
                                          <p:val>
                                            <p:strVal val="1+#ppt_w/2"/>
                                          </p:val>
                                        </p:tav>
                                        <p:tav tm="100000">
                                          <p:val>
                                            <p:strVal val="#ppt_x"/>
                                          </p:val>
                                        </p:tav>
                                      </p:tavLst>
                                    </p:anim>
                                    <p:anim calcmode="lin" valueType="num">
                                      <p:cBhvr additive="base">
                                        <p:cTn id="8" dur="1000" fill="hold"/>
                                        <p:tgtEl>
                                          <p:spTgt spid="4126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2728"/>
                                        </p:tgtEl>
                                        <p:attrNameLst>
                                          <p:attrName>style.visibility</p:attrName>
                                        </p:attrNameLst>
                                      </p:cBhvr>
                                      <p:to>
                                        <p:strVal val="visible"/>
                                      </p:to>
                                    </p:set>
                                    <p:anim calcmode="lin" valueType="num">
                                      <p:cBhvr additive="base">
                                        <p:cTn id="13" dur="1000" fill="hold"/>
                                        <p:tgtEl>
                                          <p:spTgt spid="412728"/>
                                        </p:tgtEl>
                                        <p:attrNameLst>
                                          <p:attrName>ppt_x</p:attrName>
                                        </p:attrNameLst>
                                      </p:cBhvr>
                                      <p:tavLst>
                                        <p:tav tm="0">
                                          <p:val>
                                            <p:strVal val="#ppt_x"/>
                                          </p:val>
                                        </p:tav>
                                        <p:tav tm="100000">
                                          <p:val>
                                            <p:strVal val="#ppt_x"/>
                                          </p:val>
                                        </p:tav>
                                      </p:tavLst>
                                    </p:anim>
                                    <p:anim calcmode="lin" valueType="num">
                                      <p:cBhvr additive="base">
                                        <p:cTn id="14" dur="1000" fill="hold"/>
                                        <p:tgtEl>
                                          <p:spTgt spid="41272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12729"/>
                                        </p:tgtEl>
                                        <p:attrNameLst>
                                          <p:attrName>style.visibility</p:attrName>
                                        </p:attrNameLst>
                                      </p:cBhvr>
                                      <p:to>
                                        <p:strVal val="visible"/>
                                      </p:to>
                                    </p:set>
                                    <p:anim calcmode="lin" valueType="num">
                                      <p:cBhvr additive="base">
                                        <p:cTn id="17" dur="1000" fill="hold"/>
                                        <p:tgtEl>
                                          <p:spTgt spid="412729"/>
                                        </p:tgtEl>
                                        <p:attrNameLst>
                                          <p:attrName>ppt_x</p:attrName>
                                        </p:attrNameLst>
                                      </p:cBhvr>
                                      <p:tavLst>
                                        <p:tav tm="0">
                                          <p:val>
                                            <p:strVal val="#ppt_x"/>
                                          </p:val>
                                        </p:tav>
                                        <p:tav tm="100000">
                                          <p:val>
                                            <p:strVal val="#ppt_x"/>
                                          </p:val>
                                        </p:tav>
                                      </p:tavLst>
                                    </p:anim>
                                    <p:anim calcmode="lin" valueType="num">
                                      <p:cBhvr additive="base">
                                        <p:cTn id="18" dur="1000" fill="hold"/>
                                        <p:tgtEl>
                                          <p:spTgt spid="4127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7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1"/>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5363" name="页脚占位符 2"/>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5364" name="灯片编号占位符 3"/>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99D61A3C-86DA-425F-BD6F-00A419A57E58}" type="slidenum">
              <a:rPr lang="zh-CN" altLang="en-US" sz="800" b="0"/>
              <a:pPr/>
              <a:t>14</a:t>
            </a:fld>
            <a:endParaRPr lang="en-US" altLang="zh-CN" sz="800" b="0"/>
          </a:p>
        </p:txBody>
      </p:sp>
      <p:sp>
        <p:nvSpPr>
          <p:cNvPr id="15365" name="Text Box 2"/>
          <p:cNvSpPr txBox="1">
            <a:spLocks noChangeArrowheads="1"/>
          </p:cNvSpPr>
          <p:nvPr/>
        </p:nvSpPr>
        <p:spPr bwMode="auto">
          <a:xfrm>
            <a:off x="776288" y="1974850"/>
            <a:ext cx="8172450" cy="364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600">
                <a:latin typeface="Courier New" panose="02070309020205020404" pitchFamily="49" charset="0"/>
                <a:ea typeface="宋体" panose="02010600030101010101" pitchFamily="2" charset="-122"/>
              </a:rPr>
              <a:t>.............</a:t>
            </a:r>
          </a:p>
          <a:p>
            <a:pPr eaLnBrk="1" hangingPunct="1">
              <a:spcBef>
                <a:spcPct val="50000"/>
              </a:spcBef>
            </a:pPr>
            <a:r>
              <a:rPr lang="en-US" altLang="zh-CN" sz="1600">
                <a:latin typeface="Courier New" panose="02070309020205020404" pitchFamily="49" charset="0"/>
                <a:ea typeface="宋体" panose="02010600030101010101" pitchFamily="2" charset="-122"/>
              </a:rPr>
              <a:t>case 25;  c = nextchar();</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if (isdigit(c)) state = 26;</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else state = fail();</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break;</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case 26;  c = nextchar();</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if (isdigit(c)) state = 26;</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else state = 27;</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break;</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case 27;  retract(1); lexical_value = install_num();</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return ( NUM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a:t>
            </a:r>
          </a:p>
        </p:txBody>
      </p:sp>
      <p:sp>
        <p:nvSpPr>
          <p:cNvPr id="15366" name="Text Box 3"/>
          <p:cNvSpPr txBox="1">
            <a:spLocks noChangeArrowheads="1"/>
          </p:cNvSpPr>
          <p:nvPr/>
        </p:nvSpPr>
        <p:spPr bwMode="auto">
          <a:xfrm>
            <a:off x="6207125" y="3041650"/>
            <a:ext cx="32369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r>
              <a:rPr lang="en-US" altLang="zh-CN" sz="2000">
                <a:solidFill>
                  <a:schemeClr val="accent2"/>
                </a:solidFill>
                <a:ea typeface="宋体" panose="02010600030101010101" pitchFamily="2" charset="-122"/>
              </a:rPr>
              <a:t>Case numbers correspond to transition diagram states !</a:t>
            </a:r>
          </a:p>
        </p:txBody>
      </p:sp>
      <p:sp>
        <p:nvSpPr>
          <p:cNvPr id="414724" name="Oval 4"/>
          <p:cNvSpPr>
            <a:spLocks noChangeArrowheads="1"/>
          </p:cNvSpPr>
          <p:nvPr/>
        </p:nvSpPr>
        <p:spPr bwMode="auto">
          <a:xfrm>
            <a:off x="1849438" y="1441450"/>
            <a:ext cx="495300" cy="4572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14725" name="Line 5"/>
          <p:cNvSpPr>
            <a:spLocks noChangeShapeType="1"/>
          </p:cNvSpPr>
          <p:nvPr/>
        </p:nvSpPr>
        <p:spPr bwMode="auto">
          <a:xfrm>
            <a:off x="2344738" y="1670050"/>
            <a:ext cx="107315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726" name="Text Box 6"/>
          <p:cNvSpPr txBox="1">
            <a:spLocks noChangeArrowheads="1"/>
          </p:cNvSpPr>
          <p:nvPr/>
        </p:nvSpPr>
        <p:spPr bwMode="auto">
          <a:xfrm>
            <a:off x="2427288" y="1365250"/>
            <a:ext cx="825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digit</a:t>
            </a:r>
          </a:p>
        </p:txBody>
      </p:sp>
      <p:sp>
        <p:nvSpPr>
          <p:cNvPr id="414727" name="Text Box 7"/>
          <p:cNvSpPr txBox="1">
            <a:spLocks noChangeArrowheads="1"/>
          </p:cNvSpPr>
          <p:nvPr/>
        </p:nvSpPr>
        <p:spPr bwMode="auto">
          <a:xfrm>
            <a:off x="1849438" y="1517650"/>
            <a:ext cx="495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25</a:t>
            </a:r>
          </a:p>
        </p:txBody>
      </p:sp>
      <p:sp>
        <p:nvSpPr>
          <p:cNvPr id="414728" name="Line 8"/>
          <p:cNvSpPr>
            <a:spLocks noChangeShapeType="1"/>
          </p:cNvSpPr>
          <p:nvPr/>
        </p:nvSpPr>
        <p:spPr bwMode="auto">
          <a:xfrm>
            <a:off x="3913188" y="1670050"/>
            <a:ext cx="90805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4729" name="Text Box 9"/>
          <p:cNvSpPr txBox="1">
            <a:spLocks noChangeArrowheads="1"/>
          </p:cNvSpPr>
          <p:nvPr/>
        </p:nvSpPr>
        <p:spPr bwMode="auto">
          <a:xfrm>
            <a:off x="3913188" y="1365250"/>
            <a:ext cx="825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other</a:t>
            </a:r>
          </a:p>
        </p:txBody>
      </p:sp>
      <p:grpSp>
        <p:nvGrpSpPr>
          <p:cNvPr id="414730" name="Group 10"/>
          <p:cNvGrpSpPr>
            <a:grpSpLocks/>
          </p:cNvGrpSpPr>
          <p:nvPr/>
        </p:nvGrpSpPr>
        <p:grpSpPr bwMode="auto">
          <a:xfrm>
            <a:off x="4821238" y="1441450"/>
            <a:ext cx="495300" cy="457200"/>
            <a:chOff x="3696" y="1152"/>
            <a:chExt cx="288" cy="288"/>
          </a:xfrm>
        </p:grpSpPr>
        <p:sp>
          <p:nvSpPr>
            <p:cNvPr id="15387" name="Oval 11"/>
            <p:cNvSpPr>
              <a:spLocks noChangeArrowheads="1"/>
            </p:cNvSpPr>
            <p:nvPr/>
          </p:nvSpPr>
          <p:spPr bwMode="auto">
            <a:xfrm>
              <a:off x="3696"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388" name="Oval 12"/>
            <p:cNvSpPr>
              <a:spLocks noChangeArrowheads="1"/>
            </p:cNvSpPr>
            <p:nvPr/>
          </p:nvSpPr>
          <p:spPr bwMode="auto">
            <a:xfrm>
              <a:off x="3744" y="120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389" name="Text Box 13"/>
            <p:cNvSpPr txBox="1">
              <a:spLocks noChangeArrowheads="1"/>
            </p:cNvSpPr>
            <p:nvPr/>
          </p:nvSpPr>
          <p:spPr bwMode="auto">
            <a:xfrm>
              <a:off x="3696"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27</a:t>
              </a:r>
            </a:p>
          </p:txBody>
        </p:sp>
      </p:grpSp>
      <p:grpSp>
        <p:nvGrpSpPr>
          <p:cNvPr id="414734" name="Group 14"/>
          <p:cNvGrpSpPr>
            <a:grpSpLocks/>
          </p:cNvGrpSpPr>
          <p:nvPr/>
        </p:nvGrpSpPr>
        <p:grpSpPr bwMode="auto">
          <a:xfrm>
            <a:off x="3417888" y="1441450"/>
            <a:ext cx="495300" cy="457200"/>
            <a:chOff x="2880" y="1152"/>
            <a:chExt cx="288" cy="288"/>
          </a:xfrm>
        </p:grpSpPr>
        <p:sp>
          <p:nvSpPr>
            <p:cNvPr id="15384" name="Oval 15"/>
            <p:cNvSpPr>
              <a:spLocks noChangeArrowheads="1"/>
            </p:cNvSpPr>
            <p:nvPr/>
          </p:nvSpPr>
          <p:spPr bwMode="auto">
            <a:xfrm>
              <a:off x="2880"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5385" name="Text Box 16"/>
            <p:cNvSpPr txBox="1">
              <a:spLocks noChangeArrowheads="1"/>
            </p:cNvSpPr>
            <p:nvPr/>
          </p:nvSpPr>
          <p:spPr bwMode="auto">
            <a:xfrm>
              <a:off x="2880" y="1200"/>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26</a:t>
              </a:r>
            </a:p>
          </p:txBody>
        </p:sp>
        <p:cxnSp>
          <p:nvCxnSpPr>
            <p:cNvPr id="15386" name="AutoShape 17"/>
            <p:cNvCxnSpPr>
              <a:cxnSpLocks noChangeShapeType="1"/>
              <a:stCxn id="15384" idx="7"/>
              <a:endCxn id="15385" idx="0"/>
            </p:cNvCxnSpPr>
            <p:nvPr/>
          </p:nvCxnSpPr>
          <p:spPr bwMode="auto">
            <a:xfrm rot="-5400000" flipH="1" flipV="1">
              <a:off x="3072" y="1146"/>
              <a:ext cx="6" cy="102"/>
            </a:xfrm>
            <a:prstGeom prst="curvedConnector3">
              <a:avLst>
                <a:gd name="adj1" fmla="val -31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14738" name="Text Box 18"/>
          <p:cNvSpPr txBox="1">
            <a:spLocks noChangeArrowheads="1"/>
          </p:cNvSpPr>
          <p:nvPr/>
        </p:nvSpPr>
        <p:spPr bwMode="auto">
          <a:xfrm>
            <a:off x="3087688" y="908050"/>
            <a:ext cx="18161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1600">
                <a:ea typeface="宋体" panose="02010600030101010101" pitchFamily="2" charset="-122"/>
              </a:rPr>
              <a:t>      </a:t>
            </a:r>
            <a:r>
              <a:rPr lang="en-US" altLang="zh-CN" sz="1600">
                <a:ea typeface="宋体" panose="02010600030101010101" pitchFamily="2" charset="-122"/>
              </a:rPr>
              <a:t>digit</a:t>
            </a:r>
          </a:p>
        </p:txBody>
      </p:sp>
      <p:sp>
        <p:nvSpPr>
          <p:cNvPr id="414739" name="Text Box 19"/>
          <p:cNvSpPr txBox="1">
            <a:spLocks noChangeArrowheads="1"/>
          </p:cNvSpPr>
          <p:nvPr/>
        </p:nvSpPr>
        <p:spPr bwMode="auto">
          <a:xfrm>
            <a:off x="4821238" y="1060450"/>
            <a:ext cx="577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rPr>
              <a:t>*</a:t>
            </a:r>
          </a:p>
        </p:txBody>
      </p:sp>
      <p:sp>
        <p:nvSpPr>
          <p:cNvPr id="414740" name="Rectangle 20"/>
          <p:cNvSpPr>
            <a:spLocks noChangeArrowheads="1"/>
          </p:cNvSpPr>
          <p:nvPr/>
        </p:nvSpPr>
        <p:spPr bwMode="auto">
          <a:xfrm>
            <a:off x="1171575" y="0"/>
            <a:ext cx="8734425" cy="111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algn="ctr" eaLnBrk="1" hangingPunct="1">
              <a:lnSpc>
                <a:spcPct val="80000"/>
              </a:lnSpc>
              <a:defRPr/>
            </a:pPr>
            <a:r>
              <a:rPr lang="en-US" altLang="zh-CN" sz="3600" b="0" smtClean="0">
                <a:solidFill>
                  <a:schemeClr val="tx2"/>
                </a:solidFill>
                <a:effectLst>
                  <a:outerShdw blurRad="38100" dist="38100" dir="2700000" algn="tl">
                    <a:srgbClr val="FFFFFF"/>
                  </a:outerShdw>
                </a:effectLst>
                <a:ea typeface="宋体" pitchFamily="2" charset="-122"/>
              </a:rPr>
              <a:t>Implementing Transition Diagrams, II</a:t>
            </a:r>
          </a:p>
        </p:txBody>
      </p:sp>
      <p:sp>
        <p:nvSpPr>
          <p:cNvPr id="414741" name="Text Box 21"/>
          <p:cNvSpPr txBox="1">
            <a:spLocks noChangeArrowheads="1"/>
          </p:cNvSpPr>
          <p:nvPr/>
        </p:nvSpPr>
        <p:spPr bwMode="auto">
          <a:xfrm>
            <a:off x="6719888" y="1593850"/>
            <a:ext cx="14859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advances</a:t>
            </a:r>
            <a:br>
              <a:rPr lang="en-US" altLang="zh-CN" sz="2000">
                <a:solidFill>
                  <a:schemeClr val="accent2"/>
                </a:solidFill>
                <a:ea typeface="宋体" panose="02010600030101010101" pitchFamily="2" charset="-122"/>
              </a:rPr>
            </a:br>
            <a:r>
              <a:rPr lang="en-US" altLang="zh-CN" sz="2000">
                <a:solidFill>
                  <a:schemeClr val="accent2"/>
                </a:solidFill>
                <a:ea typeface="宋体" panose="02010600030101010101" pitchFamily="2" charset="-122"/>
              </a:rPr>
              <a:t> </a:t>
            </a:r>
            <a:r>
              <a:rPr lang="en-US" altLang="zh-CN" sz="1600">
                <a:latin typeface="Courier New" panose="02070309020205020404" pitchFamily="49" charset="0"/>
                <a:ea typeface="宋体" panose="02010600030101010101" pitchFamily="2" charset="-122"/>
              </a:rPr>
              <a:t>forward </a:t>
            </a:r>
          </a:p>
        </p:txBody>
      </p:sp>
      <p:sp>
        <p:nvSpPr>
          <p:cNvPr id="414742" name="Line 22"/>
          <p:cNvSpPr>
            <a:spLocks noChangeShapeType="1"/>
          </p:cNvSpPr>
          <p:nvPr/>
        </p:nvSpPr>
        <p:spPr bwMode="auto">
          <a:xfrm flipH="1">
            <a:off x="3582988" y="1898650"/>
            <a:ext cx="3136900" cy="457200"/>
          </a:xfrm>
          <a:prstGeom prst="line">
            <a:avLst/>
          </a:prstGeom>
          <a:noFill/>
          <a:ln w="25400">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4743" name="Line 23"/>
          <p:cNvSpPr>
            <a:spLocks noChangeShapeType="1"/>
          </p:cNvSpPr>
          <p:nvPr/>
        </p:nvSpPr>
        <p:spPr bwMode="auto">
          <a:xfrm flipH="1" flipV="1">
            <a:off x="6554788" y="4946650"/>
            <a:ext cx="165100" cy="609600"/>
          </a:xfrm>
          <a:prstGeom prst="line">
            <a:avLst/>
          </a:prstGeom>
          <a:noFill/>
          <a:ln w="25400">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4744" name="Text Box 24"/>
          <p:cNvSpPr txBox="1">
            <a:spLocks noChangeArrowheads="1"/>
          </p:cNvSpPr>
          <p:nvPr/>
        </p:nvSpPr>
        <p:spPr bwMode="auto">
          <a:xfrm>
            <a:off x="5068888" y="5556250"/>
            <a:ext cx="4375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looks at the region</a:t>
            </a:r>
            <a:br>
              <a:rPr lang="en-US" altLang="zh-CN" sz="2000">
                <a:solidFill>
                  <a:schemeClr val="accent2"/>
                </a:solidFill>
                <a:ea typeface="宋体" panose="02010600030101010101" pitchFamily="2" charset="-122"/>
              </a:rPr>
            </a:br>
            <a:r>
              <a:rPr lang="en-US" altLang="zh-CN" sz="2000">
                <a:solidFill>
                  <a:schemeClr val="accent2"/>
                </a:solidFill>
                <a:ea typeface="宋体" panose="02010600030101010101" pitchFamily="2" charset="-122"/>
              </a:rPr>
              <a:t> </a:t>
            </a:r>
            <a:r>
              <a:rPr lang="en-US" altLang="zh-CN" sz="1600">
                <a:latin typeface="Courier New" panose="02070309020205020404" pitchFamily="49" charset="0"/>
                <a:ea typeface="宋体" panose="02010600030101010101" pitchFamily="2" charset="-122"/>
              </a:rPr>
              <a:t>lexeme_beginning ... forward</a:t>
            </a:r>
          </a:p>
        </p:txBody>
      </p:sp>
      <p:sp>
        <p:nvSpPr>
          <p:cNvPr id="414745" name="Line 25"/>
          <p:cNvSpPr>
            <a:spLocks noChangeShapeType="1"/>
          </p:cNvSpPr>
          <p:nvPr/>
        </p:nvSpPr>
        <p:spPr bwMode="auto">
          <a:xfrm flipV="1">
            <a:off x="1519238" y="5022850"/>
            <a:ext cx="660400" cy="762000"/>
          </a:xfrm>
          <a:prstGeom prst="line">
            <a:avLst/>
          </a:prstGeom>
          <a:noFill/>
          <a:ln w="25400">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4746" name="Text Box 26"/>
          <p:cNvSpPr txBox="1">
            <a:spLocks noChangeArrowheads="1"/>
          </p:cNvSpPr>
          <p:nvPr/>
        </p:nvSpPr>
        <p:spPr bwMode="auto">
          <a:xfrm>
            <a:off x="941388" y="5768975"/>
            <a:ext cx="14859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retracts</a:t>
            </a:r>
            <a:br>
              <a:rPr lang="en-US" altLang="zh-CN" sz="2000">
                <a:solidFill>
                  <a:schemeClr val="accent2"/>
                </a:solidFill>
                <a:ea typeface="宋体" panose="02010600030101010101" pitchFamily="2" charset="-122"/>
              </a:rPr>
            </a:br>
            <a:r>
              <a:rPr lang="en-US" altLang="zh-CN" sz="2000">
                <a:solidFill>
                  <a:schemeClr val="accent2"/>
                </a:solidFill>
                <a:ea typeface="宋体" panose="02010600030101010101" pitchFamily="2" charset="-122"/>
              </a:rPr>
              <a:t> </a:t>
            </a:r>
            <a:r>
              <a:rPr lang="en-US" altLang="zh-CN" sz="1600">
                <a:latin typeface="Courier New" panose="02070309020205020404" pitchFamily="49" charset="0"/>
                <a:ea typeface="宋体" panose="02010600030101010101" pitchFamily="2" charset="-122"/>
              </a:rPr>
              <a:t>forward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4724"/>
                                        </p:tgtEl>
                                        <p:attrNameLst>
                                          <p:attrName>style.visibility</p:attrName>
                                        </p:attrNameLst>
                                      </p:cBhvr>
                                      <p:to>
                                        <p:strVal val="visible"/>
                                      </p:to>
                                    </p:set>
                                    <p:anim calcmode="lin" valueType="num">
                                      <p:cBhvr additive="base">
                                        <p:cTn id="7" dur="1000" fill="hold"/>
                                        <p:tgtEl>
                                          <p:spTgt spid="414724"/>
                                        </p:tgtEl>
                                        <p:attrNameLst>
                                          <p:attrName>ppt_x</p:attrName>
                                        </p:attrNameLst>
                                      </p:cBhvr>
                                      <p:tavLst>
                                        <p:tav tm="0">
                                          <p:val>
                                            <p:strVal val="0-#ppt_w/2"/>
                                          </p:val>
                                        </p:tav>
                                        <p:tav tm="100000">
                                          <p:val>
                                            <p:strVal val="#ppt_x"/>
                                          </p:val>
                                        </p:tav>
                                      </p:tavLst>
                                    </p:anim>
                                    <p:anim calcmode="lin" valueType="num">
                                      <p:cBhvr additive="base">
                                        <p:cTn id="8" dur="1000" fill="hold"/>
                                        <p:tgtEl>
                                          <p:spTgt spid="41472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14725"/>
                                        </p:tgtEl>
                                        <p:attrNameLst>
                                          <p:attrName>style.visibility</p:attrName>
                                        </p:attrNameLst>
                                      </p:cBhvr>
                                      <p:to>
                                        <p:strVal val="visible"/>
                                      </p:to>
                                    </p:set>
                                    <p:anim calcmode="lin" valueType="num">
                                      <p:cBhvr additive="base">
                                        <p:cTn id="11" dur="1000" fill="hold"/>
                                        <p:tgtEl>
                                          <p:spTgt spid="414725"/>
                                        </p:tgtEl>
                                        <p:attrNameLst>
                                          <p:attrName>ppt_x</p:attrName>
                                        </p:attrNameLst>
                                      </p:cBhvr>
                                      <p:tavLst>
                                        <p:tav tm="0">
                                          <p:val>
                                            <p:strVal val="0-#ppt_w/2"/>
                                          </p:val>
                                        </p:tav>
                                        <p:tav tm="100000">
                                          <p:val>
                                            <p:strVal val="#ppt_x"/>
                                          </p:val>
                                        </p:tav>
                                      </p:tavLst>
                                    </p:anim>
                                    <p:anim calcmode="lin" valueType="num">
                                      <p:cBhvr additive="base">
                                        <p:cTn id="12" dur="1000" fill="hold"/>
                                        <p:tgtEl>
                                          <p:spTgt spid="4147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14726"/>
                                        </p:tgtEl>
                                        <p:attrNameLst>
                                          <p:attrName>style.visibility</p:attrName>
                                        </p:attrNameLst>
                                      </p:cBhvr>
                                      <p:to>
                                        <p:strVal val="visible"/>
                                      </p:to>
                                    </p:set>
                                    <p:anim calcmode="lin" valueType="num">
                                      <p:cBhvr additive="base">
                                        <p:cTn id="15" dur="1000" fill="hold"/>
                                        <p:tgtEl>
                                          <p:spTgt spid="414726"/>
                                        </p:tgtEl>
                                        <p:attrNameLst>
                                          <p:attrName>ppt_x</p:attrName>
                                        </p:attrNameLst>
                                      </p:cBhvr>
                                      <p:tavLst>
                                        <p:tav tm="0">
                                          <p:val>
                                            <p:strVal val="0-#ppt_w/2"/>
                                          </p:val>
                                        </p:tav>
                                        <p:tav tm="100000">
                                          <p:val>
                                            <p:strVal val="#ppt_x"/>
                                          </p:val>
                                        </p:tav>
                                      </p:tavLst>
                                    </p:anim>
                                    <p:anim calcmode="lin" valueType="num">
                                      <p:cBhvr additive="base">
                                        <p:cTn id="16" dur="1000" fill="hold"/>
                                        <p:tgtEl>
                                          <p:spTgt spid="41472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14727"/>
                                        </p:tgtEl>
                                        <p:attrNameLst>
                                          <p:attrName>style.visibility</p:attrName>
                                        </p:attrNameLst>
                                      </p:cBhvr>
                                      <p:to>
                                        <p:strVal val="visible"/>
                                      </p:to>
                                    </p:set>
                                    <p:anim calcmode="lin" valueType="num">
                                      <p:cBhvr additive="base">
                                        <p:cTn id="19" dur="1000" fill="hold"/>
                                        <p:tgtEl>
                                          <p:spTgt spid="414727"/>
                                        </p:tgtEl>
                                        <p:attrNameLst>
                                          <p:attrName>ppt_x</p:attrName>
                                        </p:attrNameLst>
                                      </p:cBhvr>
                                      <p:tavLst>
                                        <p:tav tm="0">
                                          <p:val>
                                            <p:strVal val="0-#ppt_w/2"/>
                                          </p:val>
                                        </p:tav>
                                        <p:tav tm="100000">
                                          <p:val>
                                            <p:strVal val="#ppt_x"/>
                                          </p:val>
                                        </p:tav>
                                      </p:tavLst>
                                    </p:anim>
                                    <p:anim calcmode="lin" valueType="num">
                                      <p:cBhvr additive="base">
                                        <p:cTn id="20" dur="1000" fill="hold"/>
                                        <p:tgtEl>
                                          <p:spTgt spid="414727"/>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414728"/>
                                        </p:tgtEl>
                                        <p:attrNameLst>
                                          <p:attrName>style.visibility</p:attrName>
                                        </p:attrNameLst>
                                      </p:cBhvr>
                                      <p:to>
                                        <p:strVal val="visible"/>
                                      </p:to>
                                    </p:set>
                                    <p:anim calcmode="lin" valueType="num">
                                      <p:cBhvr additive="base">
                                        <p:cTn id="23" dur="1000" fill="hold"/>
                                        <p:tgtEl>
                                          <p:spTgt spid="414728"/>
                                        </p:tgtEl>
                                        <p:attrNameLst>
                                          <p:attrName>ppt_x</p:attrName>
                                        </p:attrNameLst>
                                      </p:cBhvr>
                                      <p:tavLst>
                                        <p:tav tm="0">
                                          <p:val>
                                            <p:strVal val="0-#ppt_w/2"/>
                                          </p:val>
                                        </p:tav>
                                        <p:tav tm="100000">
                                          <p:val>
                                            <p:strVal val="#ppt_x"/>
                                          </p:val>
                                        </p:tav>
                                      </p:tavLst>
                                    </p:anim>
                                    <p:anim calcmode="lin" valueType="num">
                                      <p:cBhvr additive="base">
                                        <p:cTn id="24" dur="1000" fill="hold"/>
                                        <p:tgtEl>
                                          <p:spTgt spid="414728"/>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14729"/>
                                        </p:tgtEl>
                                        <p:attrNameLst>
                                          <p:attrName>style.visibility</p:attrName>
                                        </p:attrNameLst>
                                      </p:cBhvr>
                                      <p:to>
                                        <p:strVal val="visible"/>
                                      </p:to>
                                    </p:set>
                                    <p:anim calcmode="lin" valueType="num">
                                      <p:cBhvr additive="base">
                                        <p:cTn id="27" dur="1000" fill="hold"/>
                                        <p:tgtEl>
                                          <p:spTgt spid="414729"/>
                                        </p:tgtEl>
                                        <p:attrNameLst>
                                          <p:attrName>ppt_x</p:attrName>
                                        </p:attrNameLst>
                                      </p:cBhvr>
                                      <p:tavLst>
                                        <p:tav tm="0">
                                          <p:val>
                                            <p:strVal val="0-#ppt_w/2"/>
                                          </p:val>
                                        </p:tav>
                                        <p:tav tm="100000">
                                          <p:val>
                                            <p:strVal val="#ppt_x"/>
                                          </p:val>
                                        </p:tav>
                                      </p:tavLst>
                                    </p:anim>
                                    <p:anim calcmode="lin" valueType="num">
                                      <p:cBhvr additive="base">
                                        <p:cTn id="28" dur="1000" fill="hold"/>
                                        <p:tgtEl>
                                          <p:spTgt spid="414729"/>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414730"/>
                                        </p:tgtEl>
                                        <p:attrNameLst>
                                          <p:attrName>style.visibility</p:attrName>
                                        </p:attrNameLst>
                                      </p:cBhvr>
                                      <p:to>
                                        <p:strVal val="visible"/>
                                      </p:to>
                                    </p:set>
                                    <p:anim calcmode="lin" valueType="num">
                                      <p:cBhvr additive="base">
                                        <p:cTn id="31" dur="1000" fill="hold"/>
                                        <p:tgtEl>
                                          <p:spTgt spid="414730"/>
                                        </p:tgtEl>
                                        <p:attrNameLst>
                                          <p:attrName>ppt_x</p:attrName>
                                        </p:attrNameLst>
                                      </p:cBhvr>
                                      <p:tavLst>
                                        <p:tav tm="0">
                                          <p:val>
                                            <p:strVal val="0-#ppt_w/2"/>
                                          </p:val>
                                        </p:tav>
                                        <p:tav tm="100000">
                                          <p:val>
                                            <p:strVal val="#ppt_x"/>
                                          </p:val>
                                        </p:tav>
                                      </p:tavLst>
                                    </p:anim>
                                    <p:anim calcmode="lin" valueType="num">
                                      <p:cBhvr additive="base">
                                        <p:cTn id="32" dur="1000" fill="hold"/>
                                        <p:tgtEl>
                                          <p:spTgt spid="414730"/>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414734"/>
                                        </p:tgtEl>
                                        <p:attrNameLst>
                                          <p:attrName>style.visibility</p:attrName>
                                        </p:attrNameLst>
                                      </p:cBhvr>
                                      <p:to>
                                        <p:strVal val="visible"/>
                                      </p:to>
                                    </p:set>
                                    <p:anim calcmode="lin" valueType="num">
                                      <p:cBhvr additive="base">
                                        <p:cTn id="35" dur="1000" fill="hold"/>
                                        <p:tgtEl>
                                          <p:spTgt spid="414734"/>
                                        </p:tgtEl>
                                        <p:attrNameLst>
                                          <p:attrName>ppt_x</p:attrName>
                                        </p:attrNameLst>
                                      </p:cBhvr>
                                      <p:tavLst>
                                        <p:tav tm="0">
                                          <p:val>
                                            <p:strVal val="0-#ppt_w/2"/>
                                          </p:val>
                                        </p:tav>
                                        <p:tav tm="100000">
                                          <p:val>
                                            <p:strVal val="#ppt_x"/>
                                          </p:val>
                                        </p:tav>
                                      </p:tavLst>
                                    </p:anim>
                                    <p:anim calcmode="lin" valueType="num">
                                      <p:cBhvr additive="base">
                                        <p:cTn id="36" dur="1000" fill="hold"/>
                                        <p:tgtEl>
                                          <p:spTgt spid="41473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14738"/>
                                        </p:tgtEl>
                                        <p:attrNameLst>
                                          <p:attrName>style.visibility</p:attrName>
                                        </p:attrNameLst>
                                      </p:cBhvr>
                                      <p:to>
                                        <p:strVal val="visible"/>
                                      </p:to>
                                    </p:set>
                                    <p:anim calcmode="lin" valueType="num">
                                      <p:cBhvr additive="base">
                                        <p:cTn id="39" dur="1000" fill="hold"/>
                                        <p:tgtEl>
                                          <p:spTgt spid="414738"/>
                                        </p:tgtEl>
                                        <p:attrNameLst>
                                          <p:attrName>ppt_x</p:attrName>
                                        </p:attrNameLst>
                                      </p:cBhvr>
                                      <p:tavLst>
                                        <p:tav tm="0">
                                          <p:val>
                                            <p:strVal val="0-#ppt_w/2"/>
                                          </p:val>
                                        </p:tav>
                                        <p:tav tm="100000">
                                          <p:val>
                                            <p:strVal val="#ppt_x"/>
                                          </p:val>
                                        </p:tav>
                                      </p:tavLst>
                                    </p:anim>
                                    <p:anim calcmode="lin" valueType="num">
                                      <p:cBhvr additive="base">
                                        <p:cTn id="40" dur="1000" fill="hold"/>
                                        <p:tgtEl>
                                          <p:spTgt spid="414738"/>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414739"/>
                                        </p:tgtEl>
                                        <p:attrNameLst>
                                          <p:attrName>style.visibility</p:attrName>
                                        </p:attrNameLst>
                                      </p:cBhvr>
                                      <p:to>
                                        <p:strVal val="visible"/>
                                      </p:to>
                                    </p:set>
                                    <p:anim calcmode="lin" valueType="num">
                                      <p:cBhvr additive="base">
                                        <p:cTn id="43" dur="1000" fill="hold"/>
                                        <p:tgtEl>
                                          <p:spTgt spid="414739"/>
                                        </p:tgtEl>
                                        <p:attrNameLst>
                                          <p:attrName>ppt_x</p:attrName>
                                        </p:attrNameLst>
                                      </p:cBhvr>
                                      <p:tavLst>
                                        <p:tav tm="0">
                                          <p:val>
                                            <p:strVal val="0-#ppt_w/2"/>
                                          </p:val>
                                        </p:tav>
                                        <p:tav tm="100000">
                                          <p:val>
                                            <p:strVal val="#ppt_x"/>
                                          </p:val>
                                        </p:tav>
                                      </p:tavLst>
                                    </p:anim>
                                    <p:anim calcmode="lin" valueType="num">
                                      <p:cBhvr additive="base">
                                        <p:cTn id="44" dur="1000" fill="hold"/>
                                        <p:tgtEl>
                                          <p:spTgt spid="414739"/>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14741"/>
                                        </p:tgtEl>
                                        <p:attrNameLst>
                                          <p:attrName>style.visibility</p:attrName>
                                        </p:attrNameLst>
                                      </p:cBhvr>
                                      <p:to>
                                        <p:strVal val="visible"/>
                                      </p:to>
                                    </p:set>
                                    <p:anim calcmode="lin" valueType="num">
                                      <p:cBhvr additive="base">
                                        <p:cTn id="49" dur="1000" fill="hold"/>
                                        <p:tgtEl>
                                          <p:spTgt spid="414741"/>
                                        </p:tgtEl>
                                        <p:attrNameLst>
                                          <p:attrName>ppt_x</p:attrName>
                                        </p:attrNameLst>
                                      </p:cBhvr>
                                      <p:tavLst>
                                        <p:tav tm="0">
                                          <p:val>
                                            <p:strVal val="1+#ppt_w/2"/>
                                          </p:val>
                                        </p:tav>
                                        <p:tav tm="100000">
                                          <p:val>
                                            <p:strVal val="#ppt_x"/>
                                          </p:val>
                                        </p:tav>
                                      </p:tavLst>
                                    </p:anim>
                                    <p:anim calcmode="lin" valueType="num">
                                      <p:cBhvr additive="base">
                                        <p:cTn id="50" dur="1000" fill="hold"/>
                                        <p:tgtEl>
                                          <p:spTgt spid="414741"/>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0"/>
                                  </p:stCondLst>
                                  <p:childTnLst>
                                    <p:set>
                                      <p:cBhvr>
                                        <p:cTn id="52" dur="1" fill="hold">
                                          <p:stCondLst>
                                            <p:cond delay="0"/>
                                          </p:stCondLst>
                                        </p:cTn>
                                        <p:tgtEl>
                                          <p:spTgt spid="414742"/>
                                        </p:tgtEl>
                                        <p:attrNameLst>
                                          <p:attrName>style.visibility</p:attrName>
                                        </p:attrNameLst>
                                      </p:cBhvr>
                                      <p:to>
                                        <p:strVal val="visible"/>
                                      </p:to>
                                    </p:set>
                                    <p:anim calcmode="lin" valueType="num">
                                      <p:cBhvr additive="base">
                                        <p:cTn id="53" dur="1000" fill="hold"/>
                                        <p:tgtEl>
                                          <p:spTgt spid="414742"/>
                                        </p:tgtEl>
                                        <p:attrNameLst>
                                          <p:attrName>ppt_x</p:attrName>
                                        </p:attrNameLst>
                                      </p:cBhvr>
                                      <p:tavLst>
                                        <p:tav tm="0">
                                          <p:val>
                                            <p:strVal val="1+#ppt_w/2"/>
                                          </p:val>
                                        </p:tav>
                                        <p:tav tm="100000">
                                          <p:val>
                                            <p:strVal val="#ppt_x"/>
                                          </p:val>
                                        </p:tav>
                                      </p:tavLst>
                                    </p:anim>
                                    <p:anim calcmode="lin" valueType="num">
                                      <p:cBhvr additive="base">
                                        <p:cTn id="54" dur="1000" fill="hold"/>
                                        <p:tgtEl>
                                          <p:spTgt spid="414742"/>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12" fill="hold" nodeType="clickEffect">
                                  <p:stCondLst>
                                    <p:cond delay="0"/>
                                  </p:stCondLst>
                                  <p:childTnLst>
                                    <p:set>
                                      <p:cBhvr>
                                        <p:cTn id="58" dur="1" fill="hold">
                                          <p:stCondLst>
                                            <p:cond delay="0"/>
                                          </p:stCondLst>
                                        </p:cTn>
                                        <p:tgtEl>
                                          <p:spTgt spid="414745"/>
                                        </p:tgtEl>
                                        <p:attrNameLst>
                                          <p:attrName>style.visibility</p:attrName>
                                        </p:attrNameLst>
                                      </p:cBhvr>
                                      <p:to>
                                        <p:strVal val="visible"/>
                                      </p:to>
                                    </p:set>
                                    <p:anim calcmode="lin" valueType="num">
                                      <p:cBhvr additive="base">
                                        <p:cTn id="59" dur="1000" fill="hold"/>
                                        <p:tgtEl>
                                          <p:spTgt spid="414745"/>
                                        </p:tgtEl>
                                        <p:attrNameLst>
                                          <p:attrName>ppt_x</p:attrName>
                                        </p:attrNameLst>
                                      </p:cBhvr>
                                      <p:tavLst>
                                        <p:tav tm="0">
                                          <p:val>
                                            <p:strVal val="0-#ppt_w/2"/>
                                          </p:val>
                                        </p:tav>
                                        <p:tav tm="100000">
                                          <p:val>
                                            <p:strVal val="#ppt_x"/>
                                          </p:val>
                                        </p:tav>
                                      </p:tavLst>
                                    </p:anim>
                                    <p:anim calcmode="lin" valueType="num">
                                      <p:cBhvr additive="base">
                                        <p:cTn id="60" dur="1000" fill="hold"/>
                                        <p:tgtEl>
                                          <p:spTgt spid="414745"/>
                                        </p:tgtEl>
                                        <p:attrNameLst>
                                          <p:attrName>ppt_y</p:attrName>
                                        </p:attrNameLst>
                                      </p:cBhvr>
                                      <p:tavLst>
                                        <p:tav tm="0">
                                          <p:val>
                                            <p:strVal val="1+#ppt_h/2"/>
                                          </p:val>
                                        </p:tav>
                                        <p:tav tm="100000">
                                          <p:val>
                                            <p:strVal val="#ppt_y"/>
                                          </p:val>
                                        </p:tav>
                                      </p:tavLst>
                                    </p:anim>
                                  </p:childTnLst>
                                </p:cTn>
                              </p:par>
                              <p:par>
                                <p:cTn id="61" presetID="2" presetClass="entr" presetSubtype="12" fill="hold" grpId="0" nodeType="withEffect">
                                  <p:stCondLst>
                                    <p:cond delay="0"/>
                                  </p:stCondLst>
                                  <p:childTnLst>
                                    <p:set>
                                      <p:cBhvr>
                                        <p:cTn id="62" dur="1" fill="hold">
                                          <p:stCondLst>
                                            <p:cond delay="0"/>
                                          </p:stCondLst>
                                        </p:cTn>
                                        <p:tgtEl>
                                          <p:spTgt spid="414746"/>
                                        </p:tgtEl>
                                        <p:attrNameLst>
                                          <p:attrName>style.visibility</p:attrName>
                                        </p:attrNameLst>
                                      </p:cBhvr>
                                      <p:to>
                                        <p:strVal val="visible"/>
                                      </p:to>
                                    </p:set>
                                    <p:anim calcmode="lin" valueType="num">
                                      <p:cBhvr additive="base">
                                        <p:cTn id="63" dur="1000" fill="hold"/>
                                        <p:tgtEl>
                                          <p:spTgt spid="414746"/>
                                        </p:tgtEl>
                                        <p:attrNameLst>
                                          <p:attrName>ppt_x</p:attrName>
                                        </p:attrNameLst>
                                      </p:cBhvr>
                                      <p:tavLst>
                                        <p:tav tm="0">
                                          <p:val>
                                            <p:strVal val="0-#ppt_w/2"/>
                                          </p:val>
                                        </p:tav>
                                        <p:tav tm="100000">
                                          <p:val>
                                            <p:strVal val="#ppt_x"/>
                                          </p:val>
                                        </p:tav>
                                      </p:tavLst>
                                    </p:anim>
                                    <p:anim calcmode="lin" valueType="num">
                                      <p:cBhvr additive="base">
                                        <p:cTn id="64" dur="1000" fill="hold"/>
                                        <p:tgtEl>
                                          <p:spTgt spid="414746"/>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6" fill="hold" nodeType="clickEffect">
                                  <p:stCondLst>
                                    <p:cond delay="0"/>
                                  </p:stCondLst>
                                  <p:childTnLst>
                                    <p:set>
                                      <p:cBhvr>
                                        <p:cTn id="68" dur="1" fill="hold">
                                          <p:stCondLst>
                                            <p:cond delay="0"/>
                                          </p:stCondLst>
                                        </p:cTn>
                                        <p:tgtEl>
                                          <p:spTgt spid="414743"/>
                                        </p:tgtEl>
                                        <p:attrNameLst>
                                          <p:attrName>style.visibility</p:attrName>
                                        </p:attrNameLst>
                                      </p:cBhvr>
                                      <p:to>
                                        <p:strVal val="visible"/>
                                      </p:to>
                                    </p:set>
                                    <p:anim calcmode="lin" valueType="num">
                                      <p:cBhvr additive="base">
                                        <p:cTn id="69" dur="1000" fill="hold"/>
                                        <p:tgtEl>
                                          <p:spTgt spid="414743"/>
                                        </p:tgtEl>
                                        <p:attrNameLst>
                                          <p:attrName>ppt_x</p:attrName>
                                        </p:attrNameLst>
                                      </p:cBhvr>
                                      <p:tavLst>
                                        <p:tav tm="0">
                                          <p:val>
                                            <p:strVal val="1+#ppt_w/2"/>
                                          </p:val>
                                        </p:tav>
                                        <p:tav tm="100000">
                                          <p:val>
                                            <p:strVal val="#ppt_x"/>
                                          </p:val>
                                        </p:tav>
                                      </p:tavLst>
                                    </p:anim>
                                    <p:anim calcmode="lin" valueType="num">
                                      <p:cBhvr additive="base">
                                        <p:cTn id="70" dur="1000" fill="hold"/>
                                        <p:tgtEl>
                                          <p:spTgt spid="414743"/>
                                        </p:tgtEl>
                                        <p:attrNameLst>
                                          <p:attrName>ppt_y</p:attrName>
                                        </p:attrNameLst>
                                      </p:cBhvr>
                                      <p:tavLst>
                                        <p:tav tm="0">
                                          <p:val>
                                            <p:strVal val="1+#ppt_h/2"/>
                                          </p:val>
                                        </p:tav>
                                        <p:tav tm="100000">
                                          <p:val>
                                            <p:strVal val="#ppt_y"/>
                                          </p:val>
                                        </p:tav>
                                      </p:tavLst>
                                    </p:anim>
                                  </p:childTnLst>
                                </p:cTn>
                              </p:par>
                              <p:par>
                                <p:cTn id="71" presetID="2" presetClass="entr" presetSubtype="6" fill="hold" grpId="0" nodeType="withEffect">
                                  <p:stCondLst>
                                    <p:cond delay="0"/>
                                  </p:stCondLst>
                                  <p:childTnLst>
                                    <p:set>
                                      <p:cBhvr>
                                        <p:cTn id="72" dur="1" fill="hold">
                                          <p:stCondLst>
                                            <p:cond delay="0"/>
                                          </p:stCondLst>
                                        </p:cTn>
                                        <p:tgtEl>
                                          <p:spTgt spid="414744"/>
                                        </p:tgtEl>
                                        <p:attrNameLst>
                                          <p:attrName>style.visibility</p:attrName>
                                        </p:attrNameLst>
                                      </p:cBhvr>
                                      <p:to>
                                        <p:strVal val="visible"/>
                                      </p:to>
                                    </p:set>
                                    <p:anim calcmode="lin" valueType="num">
                                      <p:cBhvr additive="base">
                                        <p:cTn id="73" dur="1000" fill="hold"/>
                                        <p:tgtEl>
                                          <p:spTgt spid="414744"/>
                                        </p:tgtEl>
                                        <p:attrNameLst>
                                          <p:attrName>ppt_x</p:attrName>
                                        </p:attrNameLst>
                                      </p:cBhvr>
                                      <p:tavLst>
                                        <p:tav tm="0">
                                          <p:val>
                                            <p:strVal val="1+#ppt_w/2"/>
                                          </p:val>
                                        </p:tav>
                                        <p:tav tm="100000">
                                          <p:val>
                                            <p:strVal val="#ppt_x"/>
                                          </p:val>
                                        </p:tav>
                                      </p:tavLst>
                                    </p:anim>
                                    <p:anim calcmode="lin" valueType="num">
                                      <p:cBhvr additive="base">
                                        <p:cTn id="74" dur="1000" fill="hold"/>
                                        <p:tgtEl>
                                          <p:spTgt spid="4147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4" grpId="0" animBg="1"/>
      <p:bldP spid="414726" grpId="0"/>
      <p:bldP spid="414727" grpId="0"/>
      <p:bldP spid="414729" grpId="0"/>
      <p:bldP spid="414738" grpId="0"/>
      <p:bldP spid="414739" grpId="0"/>
      <p:bldP spid="414741" grpId="0"/>
      <p:bldP spid="414744" grpId="0"/>
      <p:bldP spid="41474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1"/>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6387" name="页脚占位符 2"/>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6388" name="灯片编号占位符 3"/>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5EA11F68-75D9-49BE-89A9-97FE3D620138}" type="slidenum">
              <a:rPr lang="zh-CN" altLang="en-US" sz="800" b="0"/>
              <a:pPr/>
              <a:t>15</a:t>
            </a:fld>
            <a:endParaRPr lang="en-US" altLang="zh-CN" sz="800" b="0"/>
          </a:p>
        </p:txBody>
      </p:sp>
      <p:sp>
        <p:nvSpPr>
          <p:cNvPr id="16389" name="Rectangle 2"/>
          <p:cNvSpPr>
            <a:spLocks noChangeArrowheads="1"/>
          </p:cNvSpPr>
          <p:nvPr/>
        </p:nvSpPr>
        <p:spPr bwMode="auto">
          <a:xfrm>
            <a:off x="1352550" y="1125538"/>
            <a:ext cx="7677150"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600">
                <a:latin typeface="Courier New" panose="02070309020205020404" pitchFamily="49" charset="0"/>
                <a:ea typeface="宋体" panose="02010600030101010101" pitchFamily="2" charset="-122"/>
              </a:rPr>
              <a:t>.............</a:t>
            </a:r>
          </a:p>
          <a:p>
            <a:pPr eaLnBrk="1" hangingPunct="1">
              <a:spcBef>
                <a:spcPct val="50000"/>
              </a:spcBef>
            </a:pPr>
            <a:r>
              <a:rPr lang="en-US" altLang="zh-CN" sz="1600">
                <a:latin typeface="Courier New" panose="02070309020205020404" pitchFamily="49" charset="0"/>
                <a:ea typeface="宋体" panose="02010600030101010101" pitchFamily="2" charset="-122"/>
              </a:rPr>
              <a:t> case 9:   c = nextchar();</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if (isletter(c)) state = 10;</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else state = fail();</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break;</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case 10;  c = nextchar();</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if (isletter(c)) state = 10;</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else if (isdigit(c)) state = 10;</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else state = 11;</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break;</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case 11;  retract(1); lexical_value = install_id();</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          return ( gettoken(lexical_value) );</a:t>
            </a:r>
          </a:p>
          <a:p>
            <a:pPr eaLnBrk="1" hangingPunct="1">
              <a:lnSpc>
                <a:spcPct val="70000"/>
              </a:lnSpc>
              <a:spcBef>
                <a:spcPct val="50000"/>
              </a:spcBef>
            </a:pPr>
            <a:r>
              <a:rPr lang="en-US" altLang="zh-CN" sz="1600">
                <a:latin typeface="Courier New" panose="02070309020205020404" pitchFamily="49" charset="0"/>
                <a:ea typeface="宋体" panose="02010600030101010101" pitchFamily="2" charset="-122"/>
              </a:rPr>
              <a:t>.............</a:t>
            </a:r>
          </a:p>
        </p:txBody>
      </p:sp>
      <p:grpSp>
        <p:nvGrpSpPr>
          <p:cNvPr id="416771" name="Group 3"/>
          <p:cNvGrpSpPr>
            <a:grpSpLocks/>
          </p:cNvGrpSpPr>
          <p:nvPr/>
        </p:nvGrpSpPr>
        <p:grpSpPr bwMode="auto">
          <a:xfrm>
            <a:off x="5232400" y="4935538"/>
            <a:ext cx="3467100" cy="990600"/>
            <a:chOff x="3552" y="384"/>
            <a:chExt cx="2016" cy="624"/>
          </a:xfrm>
        </p:grpSpPr>
        <p:sp>
          <p:nvSpPr>
            <p:cNvPr id="16396" name="Oval 4"/>
            <p:cNvSpPr>
              <a:spLocks noChangeArrowheads="1"/>
            </p:cNvSpPr>
            <p:nvPr/>
          </p:nvSpPr>
          <p:spPr bwMode="auto">
            <a:xfrm>
              <a:off x="3552" y="720"/>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6397" name="Line 5"/>
            <p:cNvSpPr>
              <a:spLocks noChangeShapeType="1"/>
            </p:cNvSpPr>
            <p:nvPr/>
          </p:nvSpPr>
          <p:spPr bwMode="auto">
            <a:xfrm>
              <a:off x="3840" y="864"/>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8" name="Text Box 6"/>
            <p:cNvSpPr txBox="1">
              <a:spLocks noChangeArrowheads="1"/>
            </p:cNvSpPr>
            <p:nvPr/>
          </p:nvSpPr>
          <p:spPr bwMode="auto">
            <a:xfrm>
              <a:off x="3888" y="6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letter</a:t>
              </a:r>
            </a:p>
          </p:txBody>
        </p:sp>
        <p:sp>
          <p:nvSpPr>
            <p:cNvPr id="16399" name="Text Box 7"/>
            <p:cNvSpPr txBox="1">
              <a:spLocks noChangeArrowheads="1"/>
            </p:cNvSpPr>
            <p:nvPr/>
          </p:nvSpPr>
          <p:spPr bwMode="auto">
            <a:xfrm>
              <a:off x="3600" y="768"/>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9</a:t>
              </a:r>
            </a:p>
          </p:txBody>
        </p:sp>
        <p:sp>
          <p:nvSpPr>
            <p:cNvPr id="16400" name="Line 8"/>
            <p:cNvSpPr>
              <a:spLocks noChangeShapeType="1"/>
            </p:cNvSpPr>
            <p:nvPr/>
          </p:nvSpPr>
          <p:spPr bwMode="auto">
            <a:xfrm>
              <a:off x="4752" y="864"/>
              <a:ext cx="52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1" name="Text Box 9"/>
            <p:cNvSpPr txBox="1">
              <a:spLocks noChangeArrowheads="1"/>
            </p:cNvSpPr>
            <p:nvPr/>
          </p:nvSpPr>
          <p:spPr bwMode="auto">
            <a:xfrm>
              <a:off x="4752" y="67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other</a:t>
              </a:r>
            </a:p>
          </p:txBody>
        </p:sp>
        <p:grpSp>
          <p:nvGrpSpPr>
            <p:cNvPr id="16402" name="Group 10"/>
            <p:cNvGrpSpPr>
              <a:grpSpLocks/>
            </p:cNvGrpSpPr>
            <p:nvPr/>
          </p:nvGrpSpPr>
          <p:grpSpPr bwMode="auto">
            <a:xfrm>
              <a:off x="5280" y="720"/>
              <a:ext cx="288" cy="288"/>
              <a:chOff x="3696" y="1152"/>
              <a:chExt cx="288" cy="288"/>
            </a:xfrm>
          </p:grpSpPr>
          <p:sp>
            <p:nvSpPr>
              <p:cNvPr id="16408" name="Oval 11"/>
              <p:cNvSpPr>
                <a:spLocks noChangeArrowheads="1"/>
              </p:cNvSpPr>
              <p:nvPr/>
            </p:nvSpPr>
            <p:spPr bwMode="auto">
              <a:xfrm>
                <a:off x="3696"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6409" name="Oval 12"/>
              <p:cNvSpPr>
                <a:spLocks noChangeArrowheads="1"/>
              </p:cNvSpPr>
              <p:nvPr/>
            </p:nvSpPr>
            <p:spPr bwMode="auto">
              <a:xfrm>
                <a:off x="3744" y="1200"/>
                <a:ext cx="192" cy="19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6410" name="Text Box 13"/>
              <p:cNvSpPr txBox="1">
                <a:spLocks noChangeArrowheads="1"/>
              </p:cNvSpPr>
              <p:nvPr/>
            </p:nvSpPr>
            <p:spPr bwMode="auto">
              <a:xfrm>
                <a:off x="3696" y="120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11</a:t>
                </a:r>
              </a:p>
            </p:txBody>
          </p:sp>
        </p:grpSp>
        <p:grpSp>
          <p:nvGrpSpPr>
            <p:cNvPr id="16403" name="Group 14"/>
            <p:cNvGrpSpPr>
              <a:grpSpLocks/>
            </p:cNvGrpSpPr>
            <p:nvPr/>
          </p:nvGrpSpPr>
          <p:grpSpPr bwMode="auto">
            <a:xfrm>
              <a:off x="4464" y="720"/>
              <a:ext cx="288" cy="288"/>
              <a:chOff x="2880" y="1152"/>
              <a:chExt cx="288" cy="288"/>
            </a:xfrm>
          </p:grpSpPr>
          <p:sp>
            <p:nvSpPr>
              <p:cNvPr id="16405" name="Oval 15"/>
              <p:cNvSpPr>
                <a:spLocks noChangeArrowheads="1"/>
              </p:cNvSpPr>
              <p:nvPr/>
            </p:nvSpPr>
            <p:spPr bwMode="auto">
              <a:xfrm>
                <a:off x="2880" y="1152"/>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6406" name="Text Box 16"/>
              <p:cNvSpPr txBox="1">
                <a:spLocks noChangeArrowheads="1"/>
              </p:cNvSpPr>
              <p:nvPr/>
            </p:nvSpPr>
            <p:spPr bwMode="auto">
              <a:xfrm>
                <a:off x="2880" y="120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10</a:t>
                </a:r>
              </a:p>
            </p:txBody>
          </p:sp>
          <p:cxnSp>
            <p:nvCxnSpPr>
              <p:cNvPr id="16407" name="AutoShape 17"/>
              <p:cNvCxnSpPr>
                <a:cxnSpLocks noChangeShapeType="1"/>
                <a:stCxn id="16405" idx="7"/>
                <a:endCxn id="16406" idx="0"/>
              </p:cNvCxnSpPr>
              <p:nvPr/>
            </p:nvCxnSpPr>
            <p:spPr bwMode="auto">
              <a:xfrm rot="-5400000" flipH="1" flipV="1">
                <a:off x="3072" y="1146"/>
                <a:ext cx="6" cy="102"/>
              </a:xfrm>
              <a:prstGeom prst="curvedConnector3">
                <a:avLst>
                  <a:gd name="adj1" fmla="val -31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6404" name="Text Box 18"/>
            <p:cNvSpPr txBox="1">
              <a:spLocks noChangeArrowheads="1"/>
            </p:cNvSpPr>
            <p:nvPr/>
          </p:nvSpPr>
          <p:spPr bwMode="auto">
            <a:xfrm>
              <a:off x="4272" y="384"/>
              <a:ext cx="10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800">
                  <a:ea typeface="宋体" panose="02010600030101010101" pitchFamily="2" charset="-122"/>
                </a:rPr>
                <a:t>letter or digit</a:t>
              </a:r>
            </a:p>
          </p:txBody>
        </p:sp>
      </p:grpSp>
      <p:sp>
        <p:nvSpPr>
          <p:cNvPr id="416787" name="Text Box 19"/>
          <p:cNvSpPr txBox="1">
            <a:spLocks noChangeArrowheads="1"/>
          </p:cNvSpPr>
          <p:nvPr/>
        </p:nvSpPr>
        <p:spPr bwMode="auto">
          <a:xfrm>
            <a:off x="8451850" y="5254625"/>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rPr>
              <a:t>*</a:t>
            </a:r>
          </a:p>
        </p:txBody>
      </p:sp>
      <p:sp>
        <p:nvSpPr>
          <p:cNvPr id="416788" name="Rectangle 20"/>
          <p:cNvSpPr>
            <a:spLocks noChangeArrowheads="1"/>
          </p:cNvSpPr>
          <p:nvPr/>
        </p:nvSpPr>
        <p:spPr bwMode="auto">
          <a:xfrm>
            <a:off x="1171575" y="0"/>
            <a:ext cx="8734425" cy="111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algn="ctr" eaLnBrk="1" hangingPunct="1">
              <a:lnSpc>
                <a:spcPct val="80000"/>
              </a:lnSpc>
              <a:defRPr/>
            </a:pPr>
            <a:r>
              <a:rPr lang="en-US" altLang="zh-CN" sz="3600" b="0" smtClean="0">
                <a:solidFill>
                  <a:schemeClr val="tx2"/>
                </a:solidFill>
                <a:effectLst>
                  <a:outerShdw blurRad="38100" dist="38100" dir="2700000" algn="tl">
                    <a:srgbClr val="FFFFFF"/>
                  </a:outerShdw>
                </a:effectLst>
                <a:ea typeface="宋体" pitchFamily="2" charset="-122"/>
              </a:rPr>
              <a:t>Implementing Transition Diagrams, III</a:t>
            </a:r>
          </a:p>
        </p:txBody>
      </p:sp>
      <p:sp>
        <p:nvSpPr>
          <p:cNvPr id="416789" name="Line 21"/>
          <p:cNvSpPr>
            <a:spLocks noChangeShapeType="1"/>
          </p:cNvSpPr>
          <p:nvPr/>
        </p:nvSpPr>
        <p:spPr bwMode="auto">
          <a:xfrm flipV="1">
            <a:off x="4016375" y="4799013"/>
            <a:ext cx="142875" cy="717550"/>
          </a:xfrm>
          <a:prstGeom prst="line">
            <a:avLst/>
          </a:prstGeom>
          <a:noFill/>
          <a:ln w="25400">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6790" name="Text Box 22"/>
          <p:cNvSpPr txBox="1">
            <a:spLocks noChangeArrowheads="1"/>
          </p:cNvSpPr>
          <p:nvPr/>
        </p:nvSpPr>
        <p:spPr bwMode="auto">
          <a:xfrm>
            <a:off x="2921000" y="5545138"/>
            <a:ext cx="20637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reads token</a:t>
            </a:r>
            <a:br>
              <a:rPr lang="en-US" altLang="zh-CN" sz="2000">
                <a:solidFill>
                  <a:schemeClr val="accent2"/>
                </a:solidFill>
                <a:ea typeface="宋体" panose="02010600030101010101" pitchFamily="2" charset="-122"/>
              </a:rPr>
            </a:br>
            <a:r>
              <a:rPr lang="en-US" altLang="zh-CN" sz="2000">
                <a:solidFill>
                  <a:schemeClr val="accent2"/>
                </a:solidFill>
                <a:ea typeface="宋体" panose="02010600030101010101" pitchFamily="2" charset="-122"/>
              </a:rPr>
              <a:t>name from ST</a:t>
            </a:r>
            <a:endParaRPr lang="en-US" altLang="zh-CN" sz="1600">
              <a:latin typeface="Courier New" panose="02070309020205020404" pitchFamily="49" charset="0"/>
              <a:ea typeface="宋体" panose="02010600030101010101" pitchFamily="2" charset="-122"/>
            </a:endParaRPr>
          </a:p>
        </p:txBody>
      </p:sp>
      <p:sp>
        <p:nvSpPr>
          <p:cNvPr id="16395" name="Text Box 23"/>
          <p:cNvSpPr txBox="1">
            <a:spLocks noChangeArrowheads="1"/>
          </p:cNvSpPr>
          <p:nvPr/>
        </p:nvSpPr>
        <p:spPr bwMode="auto">
          <a:xfrm>
            <a:off x="2000250" y="6165850"/>
            <a:ext cx="6119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Fig.3.16 C code for lexical analyzer. (P.106)</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416771"/>
                                        </p:tgtEl>
                                        <p:attrNameLst>
                                          <p:attrName>style.visibility</p:attrName>
                                        </p:attrNameLst>
                                      </p:cBhvr>
                                      <p:to>
                                        <p:strVal val="visible"/>
                                      </p:to>
                                    </p:set>
                                    <p:anim calcmode="lin" valueType="num">
                                      <p:cBhvr additive="base">
                                        <p:cTn id="7" dur="1000" fill="hold"/>
                                        <p:tgtEl>
                                          <p:spTgt spid="416771"/>
                                        </p:tgtEl>
                                        <p:attrNameLst>
                                          <p:attrName>ppt_x</p:attrName>
                                        </p:attrNameLst>
                                      </p:cBhvr>
                                      <p:tavLst>
                                        <p:tav tm="0">
                                          <p:val>
                                            <p:strVal val="1+#ppt_w/2"/>
                                          </p:val>
                                        </p:tav>
                                        <p:tav tm="100000">
                                          <p:val>
                                            <p:strVal val="#ppt_x"/>
                                          </p:val>
                                        </p:tav>
                                      </p:tavLst>
                                    </p:anim>
                                    <p:anim calcmode="lin" valueType="num">
                                      <p:cBhvr additive="base">
                                        <p:cTn id="8" dur="1000" fill="hold"/>
                                        <p:tgtEl>
                                          <p:spTgt spid="41677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16787"/>
                                        </p:tgtEl>
                                        <p:attrNameLst>
                                          <p:attrName>style.visibility</p:attrName>
                                        </p:attrNameLst>
                                      </p:cBhvr>
                                      <p:to>
                                        <p:strVal val="visible"/>
                                      </p:to>
                                    </p:set>
                                    <p:anim calcmode="lin" valueType="num">
                                      <p:cBhvr additive="base">
                                        <p:cTn id="11" dur="1000" fill="hold"/>
                                        <p:tgtEl>
                                          <p:spTgt spid="416787"/>
                                        </p:tgtEl>
                                        <p:attrNameLst>
                                          <p:attrName>ppt_x</p:attrName>
                                        </p:attrNameLst>
                                      </p:cBhvr>
                                      <p:tavLst>
                                        <p:tav tm="0">
                                          <p:val>
                                            <p:strVal val="1+#ppt_w/2"/>
                                          </p:val>
                                        </p:tav>
                                        <p:tav tm="100000">
                                          <p:val>
                                            <p:strVal val="#ppt_x"/>
                                          </p:val>
                                        </p:tav>
                                      </p:tavLst>
                                    </p:anim>
                                    <p:anim calcmode="lin" valueType="num">
                                      <p:cBhvr additive="base">
                                        <p:cTn id="12" dur="1000" fill="hold"/>
                                        <p:tgtEl>
                                          <p:spTgt spid="416787"/>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16790"/>
                                        </p:tgtEl>
                                        <p:attrNameLst>
                                          <p:attrName>style.visibility</p:attrName>
                                        </p:attrNameLst>
                                      </p:cBhvr>
                                      <p:to>
                                        <p:strVal val="visible"/>
                                      </p:to>
                                    </p:set>
                                    <p:anim calcmode="lin" valueType="num">
                                      <p:cBhvr additive="base">
                                        <p:cTn id="17" dur="1000" fill="hold"/>
                                        <p:tgtEl>
                                          <p:spTgt spid="416790"/>
                                        </p:tgtEl>
                                        <p:attrNameLst>
                                          <p:attrName>ppt_x</p:attrName>
                                        </p:attrNameLst>
                                      </p:cBhvr>
                                      <p:tavLst>
                                        <p:tav tm="0">
                                          <p:val>
                                            <p:strVal val="#ppt_x"/>
                                          </p:val>
                                        </p:tav>
                                        <p:tav tm="100000">
                                          <p:val>
                                            <p:strVal val="#ppt_x"/>
                                          </p:val>
                                        </p:tav>
                                      </p:tavLst>
                                    </p:anim>
                                    <p:anim calcmode="lin" valueType="num">
                                      <p:cBhvr additive="base">
                                        <p:cTn id="18" dur="1000" fill="hold"/>
                                        <p:tgtEl>
                                          <p:spTgt spid="41679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16789"/>
                                        </p:tgtEl>
                                        <p:attrNameLst>
                                          <p:attrName>style.visibility</p:attrName>
                                        </p:attrNameLst>
                                      </p:cBhvr>
                                      <p:to>
                                        <p:strVal val="visible"/>
                                      </p:to>
                                    </p:set>
                                    <p:anim calcmode="lin" valueType="num">
                                      <p:cBhvr additive="base">
                                        <p:cTn id="21" dur="1000" fill="hold"/>
                                        <p:tgtEl>
                                          <p:spTgt spid="416789"/>
                                        </p:tgtEl>
                                        <p:attrNameLst>
                                          <p:attrName>ppt_x</p:attrName>
                                        </p:attrNameLst>
                                      </p:cBhvr>
                                      <p:tavLst>
                                        <p:tav tm="0">
                                          <p:val>
                                            <p:strVal val="#ppt_x"/>
                                          </p:val>
                                        </p:tav>
                                        <p:tav tm="100000">
                                          <p:val>
                                            <p:strVal val="#ppt_x"/>
                                          </p:val>
                                        </p:tav>
                                      </p:tavLst>
                                    </p:anim>
                                    <p:anim calcmode="lin" valueType="num">
                                      <p:cBhvr additive="base">
                                        <p:cTn id="22" dur="1000" fill="hold"/>
                                        <p:tgtEl>
                                          <p:spTgt spid="4167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87" grpId="0"/>
      <p:bldP spid="41679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741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741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DDB0DACF-222D-491E-BEC0-D7D8BBACB088}" type="slidenum">
              <a:rPr lang="zh-CN" altLang="en-US" sz="800" b="0"/>
              <a:pPr/>
              <a:t>16</a:t>
            </a:fld>
            <a:endParaRPr lang="en-US" altLang="zh-CN" sz="800" b="0"/>
          </a:p>
        </p:txBody>
      </p:sp>
      <p:sp>
        <p:nvSpPr>
          <p:cNvPr id="17413"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When Failures Occur: (P.105)</a:t>
            </a:r>
          </a:p>
        </p:txBody>
      </p:sp>
      <p:sp>
        <p:nvSpPr>
          <p:cNvPr id="17414" name="Text Box 3"/>
          <p:cNvSpPr txBox="1">
            <a:spLocks noChangeArrowheads="1"/>
          </p:cNvSpPr>
          <p:nvPr/>
        </p:nvSpPr>
        <p:spPr bwMode="auto">
          <a:xfrm>
            <a:off x="488950" y="908050"/>
            <a:ext cx="6696075" cy="424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Init fail()</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start = state;</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forward = lexeme beginning;</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switch (start) {</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case 0:   start = 9;  break;</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case 9:   start = 12; break;</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case 12:  start = 20; break;</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case 20:  start = 25; break;</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case 25:  recover();  break;</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default:   /* lex error */</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     return start;</a:t>
            </a:r>
          </a:p>
          <a:p>
            <a:pPr eaLnBrk="1" hangingPunct="1">
              <a:lnSpc>
                <a:spcPct val="70000"/>
              </a:lnSpc>
              <a:spcBef>
                <a:spcPct val="50000"/>
              </a:spcBef>
            </a:pPr>
            <a:r>
              <a:rPr lang="en-US" altLang="zh-CN" sz="1800">
                <a:latin typeface="Courier New" panose="02070309020205020404" pitchFamily="49" charset="0"/>
                <a:ea typeface="宋体" panose="02010600030101010101" pitchFamily="2" charset="-122"/>
              </a:rPr>
              <a:t>}</a:t>
            </a:r>
          </a:p>
        </p:txBody>
      </p:sp>
      <p:sp>
        <p:nvSpPr>
          <p:cNvPr id="17415" name="Text Box 4"/>
          <p:cNvSpPr txBox="1">
            <a:spLocks noChangeArrowheads="1"/>
          </p:cNvSpPr>
          <p:nvPr/>
        </p:nvSpPr>
        <p:spPr bwMode="auto">
          <a:xfrm>
            <a:off x="7329488" y="3644900"/>
            <a:ext cx="23034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r>
              <a:rPr lang="en-US" altLang="zh-CN">
                <a:solidFill>
                  <a:schemeClr val="accent2"/>
                </a:solidFill>
                <a:ea typeface="宋体" panose="02010600030101010101" pitchFamily="2" charset="-122"/>
              </a:rPr>
              <a:t>Switch to</a:t>
            </a:r>
          </a:p>
          <a:p>
            <a:pPr eaLnBrk="1" hangingPunct="1"/>
            <a:r>
              <a:rPr lang="en-US" altLang="zh-CN">
                <a:solidFill>
                  <a:schemeClr val="accent2"/>
                </a:solidFill>
                <a:ea typeface="宋体" panose="02010600030101010101" pitchFamily="2" charset="-122"/>
              </a:rPr>
              <a:t>next transition</a:t>
            </a:r>
          </a:p>
          <a:p>
            <a:pPr eaLnBrk="1" hangingPunct="1"/>
            <a:r>
              <a:rPr lang="en-US" altLang="zh-CN">
                <a:solidFill>
                  <a:schemeClr val="accent2"/>
                </a:solidFill>
                <a:ea typeface="宋体" panose="02010600030101010101" pitchFamily="2" charset="-122"/>
              </a:rPr>
              <a:t>diagram</a:t>
            </a:r>
          </a:p>
        </p:txBody>
      </p:sp>
      <p:sp>
        <p:nvSpPr>
          <p:cNvPr id="17416" name="Text Box 6"/>
          <p:cNvSpPr txBox="1">
            <a:spLocks noChangeArrowheads="1"/>
          </p:cNvSpPr>
          <p:nvPr/>
        </p:nvSpPr>
        <p:spPr bwMode="auto">
          <a:xfrm>
            <a:off x="1639888" y="5661025"/>
            <a:ext cx="5327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Fig.3.15 C code to find next start state.</a:t>
            </a:r>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8435"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8436"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A6B51E9B-6447-424E-A72B-7950F606A279}" type="slidenum">
              <a:rPr lang="zh-CN" altLang="en-US" sz="800" b="0"/>
              <a:pPr/>
              <a:t>17</a:t>
            </a:fld>
            <a:endParaRPr lang="en-US" altLang="zh-CN" sz="800" b="0"/>
          </a:p>
        </p:txBody>
      </p:sp>
      <p:sp>
        <p:nvSpPr>
          <p:cNvPr id="18437" name="Rectangle 2"/>
          <p:cNvSpPr>
            <a:spLocks noGrp="1" noChangeArrowheads="1"/>
          </p:cNvSpPr>
          <p:nvPr>
            <p:ph type="title"/>
          </p:nvPr>
        </p:nvSpPr>
        <p:spPr/>
        <p:txBody>
          <a:bodyPr/>
          <a:lstStyle/>
          <a:p>
            <a:r>
              <a:rPr lang="en-US" altLang="zh-CN" smtClean="0">
                <a:ea typeface="宋体" panose="02010600030101010101" pitchFamily="2" charset="-122"/>
              </a:rPr>
              <a:t>3.6 Finite Automata (P.113)</a:t>
            </a:r>
          </a:p>
        </p:txBody>
      </p:sp>
      <p:sp>
        <p:nvSpPr>
          <p:cNvPr id="18438" name="Rectangle 3"/>
          <p:cNvSpPr>
            <a:spLocks noGrp="1" noChangeArrowheads="1"/>
          </p:cNvSpPr>
          <p:nvPr>
            <p:ph type="body" idx="1"/>
          </p:nvPr>
        </p:nvSpPr>
        <p:spPr/>
        <p:txBody>
          <a:bodyPr/>
          <a:lstStyle/>
          <a:p>
            <a:r>
              <a:rPr lang="en-US" altLang="zh-CN" sz="2800" smtClean="0">
                <a:ea typeface="宋体" panose="02010600030101010101" pitchFamily="2" charset="-122"/>
              </a:rPr>
              <a:t>A </a:t>
            </a:r>
            <a:r>
              <a:rPr lang="en-US" altLang="zh-CN" sz="2800" b="1" i="1" smtClean="0">
                <a:ea typeface="宋体" panose="02010600030101010101" pitchFamily="2" charset="-122"/>
              </a:rPr>
              <a:t>recognizer</a:t>
            </a:r>
            <a:r>
              <a:rPr lang="en-US" altLang="zh-CN" sz="2800" smtClean="0">
                <a:ea typeface="宋体" panose="02010600030101010101" pitchFamily="2" charset="-122"/>
              </a:rPr>
              <a:t> for a language is a program that takes a string x, and answers “yes” if x is a sentence of that language, and “no” otherwise.</a:t>
            </a:r>
          </a:p>
          <a:p>
            <a:r>
              <a:rPr lang="en-US" altLang="zh-CN" sz="2800" smtClean="0">
                <a:ea typeface="宋体" panose="02010600030101010101" pitchFamily="2" charset="-122"/>
              </a:rPr>
              <a:t>We call the recognizer of the tokens as a </a:t>
            </a:r>
            <a:r>
              <a:rPr lang="en-US" altLang="zh-CN" sz="2800" b="1" i="1" smtClean="0">
                <a:ea typeface="宋体" panose="02010600030101010101" pitchFamily="2" charset="-122"/>
              </a:rPr>
              <a:t>finite automaton</a:t>
            </a:r>
            <a:r>
              <a:rPr lang="en-US" altLang="zh-CN" sz="2800" smtClean="0">
                <a:ea typeface="宋体" panose="02010600030101010101" pitchFamily="2" charset="-122"/>
              </a:rPr>
              <a:t>.</a:t>
            </a:r>
          </a:p>
          <a:p>
            <a:r>
              <a:rPr lang="en-US" altLang="zh-CN" sz="2800" smtClean="0">
                <a:ea typeface="宋体" panose="02010600030101010101" pitchFamily="2" charset="-122"/>
              </a:rPr>
              <a:t>A finite automaton can be: </a:t>
            </a:r>
            <a:r>
              <a:rPr lang="en-US" altLang="zh-CN" sz="2800" b="1" i="1" smtClean="0">
                <a:solidFill>
                  <a:schemeClr val="accent2"/>
                </a:solidFill>
                <a:ea typeface="宋体" panose="02010600030101010101" pitchFamily="2" charset="-122"/>
              </a:rPr>
              <a:t>deterministic(DFA)</a:t>
            </a:r>
            <a:r>
              <a:rPr lang="en-US" altLang="zh-CN" sz="2800" smtClean="0">
                <a:ea typeface="宋体" panose="02010600030101010101" pitchFamily="2" charset="-122"/>
              </a:rPr>
              <a:t> or </a:t>
            </a:r>
            <a:r>
              <a:rPr lang="en-US" altLang="zh-CN" sz="2800" b="1" i="1" smtClean="0">
                <a:solidFill>
                  <a:schemeClr val="accent2"/>
                </a:solidFill>
                <a:ea typeface="宋体" panose="02010600030101010101" pitchFamily="2" charset="-122"/>
              </a:rPr>
              <a:t>non-deterministic (NFA)</a:t>
            </a:r>
          </a:p>
          <a:p>
            <a:r>
              <a:rPr lang="en-US" altLang="zh-CN" sz="2800" smtClean="0">
                <a:ea typeface="宋体" panose="02010600030101010101" pitchFamily="2" charset="-122"/>
              </a:rPr>
              <a:t>This means that we may use a deterministic or non-deterministic automaton as a lexical analyzer.</a:t>
            </a: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19459"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19460"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9DDF993B-92C0-4006-BA41-77740F4F33BF}" type="slidenum">
              <a:rPr lang="zh-CN" altLang="en-US" sz="800" b="0"/>
              <a:pPr/>
              <a:t>18</a:t>
            </a:fld>
            <a:endParaRPr lang="en-US" altLang="zh-CN" sz="800" b="0"/>
          </a:p>
        </p:txBody>
      </p:sp>
      <p:sp>
        <p:nvSpPr>
          <p:cNvPr id="19461"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Finite Automata (cont.)</a:t>
            </a:r>
          </a:p>
        </p:txBody>
      </p:sp>
      <p:grpSp>
        <p:nvGrpSpPr>
          <p:cNvPr id="420867" name="Group 3"/>
          <p:cNvGrpSpPr>
            <a:grpSpLocks/>
          </p:cNvGrpSpPr>
          <p:nvPr/>
        </p:nvGrpSpPr>
        <p:grpSpPr bwMode="auto">
          <a:xfrm>
            <a:off x="792163" y="1268413"/>
            <a:ext cx="8337550" cy="1187450"/>
            <a:chOff x="816" y="864"/>
            <a:chExt cx="4848" cy="748"/>
          </a:xfrm>
        </p:grpSpPr>
        <p:sp>
          <p:nvSpPr>
            <p:cNvPr id="19470" name="Text Box 4"/>
            <p:cNvSpPr txBox="1">
              <a:spLocks noChangeArrowheads="1"/>
            </p:cNvSpPr>
            <p:nvPr/>
          </p:nvSpPr>
          <p:spPr bwMode="auto">
            <a:xfrm>
              <a:off x="816" y="864"/>
              <a:ext cx="16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ea typeface="宋体" panose="02010600030101010101" pitchFamily="2" charset="-122"/>
                </a:rPr>
                <a:t>Finite Automata :</a:t>
              </a:r>
            </a:p>
          </p:txBody>
        </p:sp>
        <p:sp>
          <p:nvSpPr>
            <p:cNvPr id="19471" name="Text Box 5"/>
            <p:cNvSpPr txBox="1">
              <a:spLocks noChangeArrowheads="1"/>
            </p:cNvSpPr>
            <p:nvPr/>
          </p:nvSpPr>
          <p:spPr bwMode="auto">
            <a:xfrm>
              <a:off x="2544" y="864"/>
              <a:ext cx="3120"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A recognizer that takes an input string &amp; determines whether it’s a valid sentence of the language</a:t>
              </a:r>
            </a:p>
          </p:txBody>
        </p:sp>
      </p:grpSp>
      <p:grpSp>
        <p:nvGrpSpPr>
          <p:cNvPr id="420870" name="Group 6"/>
          <p:cNvGrpSpPr>
            <a:grpSpLocks/>
          </p:cNvGrpSpPr>
          <p:nvPr/>
        </p:nvGrpSpPr>
        <p:grpSpPr bwMode="auto">
          <a:xfrm>
            <a:off x="627063" y="2716213"/>
            <a:ext cx="8502650" cy="822325"/>
            <a:chOff x="720" y="1776"/>
            <a:chExt cx="4944" cy="518"/>
          </a:xfrm>
        </p:grpSpPr>
        <p:sp>
          <p:nvSpPr>
            <p:cNvPr id="19468" name="Text Box 7"/>
            <p:cNvSpPr txBox="1">
              <a:spLocks noChangeArrowheads="1"/>
            </p:cNvSpPr>
            <p:nvPr/>
          </p:nvSpPr>
          <p:spPr bwMode="auto">
            <a:xfrm>
              <a:off x="720" y="1776"/>
              <a:ext cx="18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ea typeface="宋体" panose="02010600030101010101" pitchFamily="2" charset="-122"/>
                </a:rPr>
                <a:t>Non-Deterministic :</a:t>
              </a:r>
            </a:p>
          </p:txBody>
        </p:sp>
        <p:sp>
          <p:nvSpPr>
            <p:cNvPr id="19469" name="Text Box 8"/>
            <p:cNvSpPr txBox="1">
              <a:spLocks noChangeArrowheads="1"/>
            </p:cNvSpPr>
            <p:nvPr/>
          </p:nvSpPr>
          <p:spPr bwMode="auto">
            <a:xfrm>
              <a:off x="2504" y="1776"/>
              <a:ext cx="31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Has more than one alternative action for the same input symbol.         </a:t>
              </a:r>
            </a:p>
          </p:txBody>
        </p:sp>
      </p:grpSp>
      <p:grpSp>
        <p:nvGrpSpPr>
          <p:cNvPr id="420873" name="Group 9"/>
          <p:cNvGrpSpPr>
            <a:grpSpLocks/>
          </p:cNvGrpSpPr>
          <p:nvPr/>
        </p:nvGrpSpPr>
        <p:grpSpPr bwMode="auto">
          <a:xfrm>
            <a:off x="627063" y="4240213"/>
            <a:ext cx="8502650" cy="822325"/>
            <a:chOff x="720" y="1776"/>
            <a:chExt cx="4944" cy="518"/>
          </a:xfrm>
        </p:grpSpPr>
        <p:sp>
          <p:nvSpPr>
            <p:cNvPr id="19466" name="Text Box 10"/>
            <p:cNvSpPr txBox="1">
              <a:spLocks noChangeArrowheads="1"/>
            </p:cNvSpPr>
            <p:nvPr/>
          </p:nvSpPr>
          <p:spPr bwMode="auto">
            <a:xfrm>
              <a:off x="720" y="1776"/>
              <a:ext cx="18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ea typeface="宋体" panose="02010600030101010101" pitchFamily="2" charset="-122"/>
                </a:rPr>
                <a:t>Deterministic :</a:t>
              </a:r>
            </a:p>
          </p:txBody>
        </p:sp>
        <p:sp>
          <p:nvSpPr>
            <p:cNvPr id="19467" name="Text Box 11"/>
            <p:cNvSpPr txBox="1">
              <a:spLocks noChangeArrowheads="1"/>
            </p:cNvSpPr>
            <p:nvPr/>
          </p:nvSpPr>
          <p:spPr bwMode="auto">
            <a:xfrm>
              <a:off x="2504" y="1776"/>
              <a:ext cx="31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Has at most one action for a given input symbol.         </a:t>
              </a:r>
            </a:p>
          </p:txBody>
        </p:sp>
      </p:grpSp>
      <p:sp>
        <p:nvSpPr>
          <p:cNvPr id="19465" name="Text Box 12"/>
          <p:cNvSpPr txBox="1">
            <a:spLocks noChangeArrowheads="1"/>
          </p:cNvSpPr>
          <p:nvPr/>
        </p:nvSpPr>
        <p:spPr bwMode="auto">
          <a:xfrm>
            <a:off x="709613" y="5611813"/>
            <a:ext cx="825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Both types are used to recognize regular expressions.</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20867"/>
                                        </p:tgtEl>
                                        <p:attrNameLst>
                                          <p:attrName>style.visibility</p:attrName>
                                        </p:attrNameLst>
                                      </p:cBhvr>
                                      <p:to>
                                        <p:strVal val="visible"/>
                                      </p:to>
                                    </p:set>
                                    <p:anim calcmode="lin" valueType="num">
                                      <p:cBhvr additive="base">
                                        <p:cTn id="7" dur="500" fill="hold"/>
                                        <p:tgtEl>
                                          <p:spTgt spid="420867"/>
                                        </p:tgtEl>
                                        <p:attrNameLst>
                                          <p:attrName>ppt_x</p:attrName>
                                        </p:attrNameLst>
                                      </p:cBhvr>
                                      <p:tavLst>
                                        <p:tav tm="0">
                                          <p:val>
                                            <p:strVal val="#ppt_x"/>
                                          </p:val>
                                        </p:tav>
                                        <p:tav tm="100000">
                                          <p:val>
                                            <p:strVal val="#ppt_x"/>
                                          </p:val>
                                        </p:tav>
                                      </p:tavLst>
                                    </p:anim>
                                    <p:anim calcmode="lin" valueType="num">
                                      <p:cBhvr additive="base">
                                        <p:cTn id="8" dur="500" fill="hold"/>
                                        <p:tgtEl>
                                          <p:spTgt spid="420867"/>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420870"/>
                                        </p:tgtEl>
                                        <p:attrNameLst>
                                          <p:attrName>style.visibility</p:attrName>
                                        </p:attrNameLst>
                                      </p:cBhvr>
                                      <p:to>
                                        <p:strVal val="visible"/>
                                      </p:to>
                                    </p:set>
                                    <p:anim calcmode="lin" valueType="num">
                                      <p:cBhvr additive="base">
                                        <p:cTn id="12" dur="500" fill="hold"/>
                                        <p:tgtEl>
                                          <p:spTgt spid="420870"/>
                                        </p:tgtEl>
                                        <p:attrNameLst>
                                          <p:attrName>ppt_x</p:attrName>
                                        </p:attrNameLst>
                                      </p:cBhvr>
                                      <p:tavLst>
                                        <p:tav tm="0">
                                          <p:val>
                                            <p:strVal val="#ppt_x"/>
                                          </p:val>
                                        </p:tav>
                                        <p:tav tm="100000">
                                          <p:val>
                                            <p:strVal val="#ppt_x"/>
                                          </p:val>
                                        </p:tav>
                                      </p:tavLst>
                                    </p:anim>
                                    <p:anim calcmode="lin" valueType="num">
                                      <p:cBhvr additive="base">
                                        <p:cTn id="13" dur="500" fill="hold"/>
                                        <p:tgtEl>
                                          <p:spTgt spid="420870"/>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nodeType="afterEffect">
                                  <p:stCondLst>
                                    <p:cond delay="0"/>
                                  </p:stCondLst>
                                  <p:childTnLst>
                                    <p:set>
                                      <p:cBhvr>
                                        <p:cTn id="16" dur="1" fill="hold">
                                          <p:stCondLst>
                                            <p:cond delay="0"/>
                                          </p:stCondLst>
                                        </p:cTn>
                                        <p:tgtEl>
                                          <p:spTgt spid="420873"/>
                                        </p:tgtEl>
                                        <p:attrNameLst>
                                          <p:attrName>style.visibility</p:attrName>
                                        </p:attrNameLst>
                                      </p:cBhvr>
                                      <p:to>
                                        <p:strVal val="visible"/>
                                      </p:to>
                                    </p:set>
                                    <p:anim calcmode="lin" valueType="num">
                                      <p:cBhvr additive="base">
                                        <p:cTn id="17" dur="500" fill="hold"/>
                                        <p:tgtEl>
                                          <p:spTgt spid="420873"/>
                                        </p:tgtEl>
                                        <p:attrNameLst>
                                          <p:attrName>ppt_x</p:attrName>
                                        </p:attrNameLst>
                                      </p:cBhvr>
                                      <p:tavLst>
                                        <p:tav tm="0">
                                          <p:val>
                                            <p:strVal val="#ppt_x"/>
                                          </p:val>
                                        </p:tav>
                                        <p:tav tm="100000">
                                          <p:val>
                                            <p:strVal val="#ppt_x"/>
                                          </p:val>
                                        </p:tav>
                                      </p:tavLst>
                                    </p:anim>
                                    <p:anim calcmode="lin" valueType="num">
                                      <p:cBhvr additive="base">
                                        <p:cTn id="18" dur="500" fill="hold"/>
                                        <p:tgtEl>
                                          <p:spTgt spid="4208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0483"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0484"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99C2877A-D743-40FF-96D2-D327F76E0595}" type="slidenum">
              <a:rPr lang="zh-CN" altLang="en-US" sz="800" b="0"/>
              <a:pPr/>
              <a:t>19</a:t>
            </a:fld>
            <a:endParaRPr lang="en-US" altLang="zh-CN" sz="800" b="0"/>
          </a:p>
        </p:txBody>
      </p:sp>
      <p:sp>
        <p:nvSpPr>
          <p:cNvPr id="20485" name="Rectangle 2"/>
          <p:cNvSpPr>
            <a:spLocks noGrp="1" noChangeArrowheads="1"/>
          </p:cNvSpPr>
          <p:nvPr>
            <p:ph type="title"/>
          </p:nvPr>
        </p:nvSpPr>
        <p:spPr/>
        <p:txBody>
          <a:bodyPr/>
          <a:lstStyle/>
          <a:p>
            <a:r>
              <a:rPr lang="en-US" altLang="zh-CN" smtClean="0">
                <a:ea typeface="宋体" panose="02010600030101010101" pitchFamily="2" charset="-122"/>
              </a:rPr>
              <a:t>Finite Automata (cont.)</a:t>
            </a:r>
            <a:endParaRPr lang="zh-CN" altLang="en-US" smtClean="0">
              <a:ea typeface="宋体" panose="02010600030101010101" pitchFamily="2" charset="-122"/>
            </a:endParaRPr>
          </a:p>
        </p:txBody>
      </p:sp>
      <p:sp>
        <p:nvSpPr>
          <p:cNvPr id="419843" name="Rectangle 3"/>
          <p:cNvSpPr>
            <a:spLocks noGrp="1" noChangeArrowheads="1"/>
          </p:cNvSpPr>
          <p:nvPr>
            <p:ph type="body" idx="1"/>
          </p:nvPr>
        </p:nvSpPr>
        <p:spPr>
          <a:xfrm>
            <a:off x="381000" y="1123950"/>
            <a:ext cx="9372600" cy="5400675"/>
          </a:xfrm>
        </p:spPr>
        <p:txBody>
          <a:bodyPr/>
          <a:lstStyle/>
          <a:p>
            <a:r>
              <a:rPr lang="en-US" altLang="zh-CN" smtClean="0">
                <a:ea typeface="宋体" panose="02010600030101010101" pitchFamily="2" charset="-122"/>
              </a:rPr>
              <a:t>Both deterministic and non-deterministic finite automaton recognize regular sets.</a:t>
            </a:r>
          </a:p>
          <a:p>
            <a:r>
              <a:rPr lang="en-US" altLang="zh-CN" smtClean="0">
                <a:ea typeface="宋体" panose="02010600030101010101" pitchFamily="2" charset="-122"/>
              </a:rPr>
              <a:t>Which one?</a:t>
            </a:r>
          </a:p>
          <a:p>
            <a:pPr lvl="1"/>
            <a:r>
              <a:rPr lang="en-US" altLang="zh-CN" sz="2400" smtClean="0">
                <a:solidFill>
                  <a:schemeClr val="accent2"/>
                </a:solidFill>
                <a:ea typeface="宋体" panose="02010600030101010101" pitchFamily="2" charset="-122"/>
              </a:rPr>
              <a:t>deterministic – faster recognizer, but it may take more space</a:t>
            </a:r>
          </a:p>
          <a:p>
            <a:pPr lvl="1"/>
            <a:r>
              <a:rPr lang="en-US" altLang="zh-CN" sz="2400" smtClean="0">
                <a:solidFill>
                  <a:schemeClr val="accent2"/>
                </a:solidFill>
                <a:ea typeface="宋体" panose="02010600030101010101" pitchFamily="2" charset="-122"/>
              </a:rPr>
              <a:t>non-deterministic – slower, but it may take less space</a:t>
            </a:r>
          </a:p>
          <a:p>
            <a:pPr lvl="1"/>
            <a:r>
              <a:rPr lang="en-US" altLang="zh-CN" sz="2400" smtClean="0">
                <a:solidFill>
                  <a:schemeClr val="accent2"/>
                </a:solidFill>
                <a:ea typeface="宋体" panose="02010600030101010101" pitchFamily="2" charset="-122"/>
              </a:rPr>
              <a:t>Deterministic automatons are widely used lexical analyzers.</a:t>
            </a:r>
          </a:p>
          <a:p>
            <a:r>
              <a:rPr lang="en-US" altLang="zh-CN" smtClean="0">
                <a:ea typeface="宋体" panose="02010600030101010101" pitchFamily="2" charset="-122"/>
              </a:rPr>
              <a:t>First, we define regular expressions for tokens; Then we convert them into a DFA to get a lexical analyzer for our tokens.</a:t>
            </a:r>
          </a:p>
          <a:p>
            <a:pPr lvl="1"/>
            <a:r>
              <a:rPr lang="en-US" altLang="zh-CN" sz="2400" smtClean="0">
                <a:solidFill>
                  <a:schemeClr val="accent2"/>
                </a:solidFill>
                <a:ea typeface="宋体" panose="02010600030101010101" pitchFamily="2" charset="-122"/>
              </a:rPr>
              <a:t>Algorithm1:  </a:t>
            </a:r>
            <a:r>
              <a:rPr lang="en-US" altLang="zh-CN" sz="2400" b="1" smtClean="0">
                <a:solidFill>
                  <a:srgbClr val="9900CC"/>
                </a:solidFill>
                <a:ea typeface="宋体" panose="02010600030101010101" pitchFamily="2" charset="-122"/>
              </a:rPr>
              <a:t>Regular Expression  </a:t>
            </a:r>
            <a:r>
              <a:rPr lang="en-US" altLang="zh-CN" sz="2400" b="1" smtClean="0">
                <a:solidFill>
                  <a:srgbClr val="9900CC"/>
                </a:solidFill>
                <a:ea typeface="宋体" panose="02010600030101010101" pitchFamily="2" charset="-122"/>
                <a:sym typeface="Wingdings" panose="05000000000000000000" pitchFamily="2" charset="2"/>
              </a:rPr>
              <a:t>  NFA  DFA</a:t>
            </a:r>
            <a:r>
              <a:rPr lang="en-US" altLang="zh-CN" sz="2400" smtClean="0">
                <a:solidFill>
                  <a:schemeClr val="accent2"/>
                </a:solidFill>
                <a:ea typeface="宋体" panose="02010600030101010101" pitchFamily="2" charset="-122"/>
                <a:sym typeface="Wingdings" panose="05000000000000000000" pitchFamily="2" charset="2"/>
              </a:rPr>
              <a:t>  (two steps: first to NFA, then to DFA)</a:t>
            </a:r>
          </a:p>
          <a:p>
            <a:pPr lvl="1"/>
            <a:r>
              <a:rPr lang="en-US" altLang="zh-CN" sz="2400" smtClean="0">
                <a:solidFill>
                  <a:schemeClr val="accent2"/>
                </a:solidFill>
                <a:ea typeface="宋体" panose="02010600030101010101" pitchFamily="2" charset="-122"/>
              </a:rPr>
              <a:t>Algorithm2:  </a:t>
            </a:r>
            <a:r>
              <a:rPr lang="en-US" altLang="zh-CN" sz="2400" b="1" smtClean="0">
                <a:solidFill>
                  <a:srgbClr val="9900CC"/>
                </a:solidFill>
                <a:ea typeface="宋体" panose="02010600030101010101" pitchFamily="2" charset="-122"/>
              </a:rPr>
              <a:t>Regular Expression </a:t>
            </a:r>
            <a:r>
              <a:rPr lang="en-US" altLang="zh-CN" sz="2400" b="1" smtClean="0">
                <a:solidFill>
                  <a:srgbClr val="9900CC"/>
                </a:solidFill>
                <a:ea typeface="宋体" panose="02010600030101010101" pitchFamily="2" charset="-122"/>
                <a:sym typeface="Wingdings" panose="05000000000000000000" pitchFamily="2" charset="2"/>
              </a:rPr>
              <a:t> DFA</a:t>
            </a:r>
            <a:r>
              <a:rPr lang="en-US" altLang="zh-CN" sz="2400" smtClean="0">
                <a:solidFill>
                  <a:schemeClr val="accent2"/>
                </a:solidFill>
                <a:ea typeface="宋体" panose="02010600030101010101" pitchFamily="2" charset="-122"/>
                <a:sym typeface="Wingdings" panose="05000000000000000000" pitchFamily="2" charset="2"/>
              </a:rPr>
              <a:t>   (directly convert a regular expression into a DFA)</a:t>
            </a:r>
            <a:r>
              <a:rPr lang="zh-CN" altLang="en-US" sz="1600" smtClean="0">
                <a:solidFill>
                  <a:schemeClr val="accent2"/>
                </a:solidFill>
                <a:ea typeface="宋体" panose="02010600030101010101" pitchFamily="2"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9843">
                                            <p:txEl>
                                              <p:pRg st="2" end="2"/>
                                            </p:txEl>
                                          </p:spTgt>
                                        </p:tgtEl>
                                        <p:attrNameLst>
                                          <p:attrName>style.visibility</p:attrName>
                                        </p:attrNameLst>
                                      </p:cBhvr>
                                      <p:to>
                                        <p:strVal val="visible"/>
                                      </p:to>
                                    </p:set>
                                    <p:animEffect transition="in" filter="wipe(left)">
                                      <p:cBhvr>
                                        <p:cTn id="7" dur="2000"/>
                                        <p:tgtEl>
                                          <p:spTgt spid="419843">
                                            <p:txEl>
                                              <p:pRg st="2" end="2"/>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419843">
                                            <p:txEl>
                                              <p:pRg st="3" end="3"/>
                                            </p:txEl>
                                          </p:spTgt>
                                        </p:tgtEl>
                                        <p:attrNameLst>
                                          <p:attrName>style.visibility</p:attrName>
                                        </p:attrNameLst>
                                      </p:cBhvr>
                                      <p:to>
                                        <p:strVal val="visible"/>
                                      </p:to>
                                    </p:set>
                                    <p:animEffect transition="in" filter="wipe(left)">
                                      <p:cBhvr>
                                        <p:cTn id="11" dur="2000"/>
                                        <p:tgtEl>
                                          <p:spTgt spid="419843">
                                            <p:txEl>
                                              <p:pRg st="3" end="3"/>
                                            </p:txEl>
                                          </p:spTgt>
                                        </p:tgtEl>
                                      </p:cBhvr>
                                    </p:animEffect>
                                  </p:childTnLst>
                                </p:cTn>
                              </p:par>
                            </p:childTnLst>
                          </p:cTn>
                        </p:par>
                        <p:par>
                          <p:cTn id="12" fill="hold" nodeType="afterGroup">
                            <p:stCondLst>
                              <p:cond delay="5000"/>
                            </p:stCondLst>
                            <p:childTnLst>
                              <p:par>
                                <p:cTn id="13" presetID="22" presetClass="entr" presetSubtype="8" fill="hold" nodeType="afterEffect">
                                  <p:stCondLst>
                                    <p:cond delay="1000"/>
                                  </p:stCondLst>
                                  <p:childTnLst>
                                    <p:set>
                                      <p:cBhvr>
                                        <p:cTn id="14" dur="1" fill="hold">
                                          <p:stCondLst>
                                            <p:cond delay="0"/>
                                          </p:stCondLst>
                                        </p:cTn>
                                        <p:tgtEl>
                                          <p:spTgt spid="419843">
                                            <p:txEl>
                                              <p:pRg st="4" end="4"/>
                                            </p:txEl>
                                          </p:spTgt>
                                        </p:tgtEl>
                                        <p:attrNameLst>
                                          <p:attrName>style.visibility</p:attrName>
                                        </p:attrNameLst>
                                      </p:cBhvr>
                                      <p:to>
                                        <p:strVal val="visible"/>
                                      </p:to>
                                    </p:set>
                                    <p:animEffect transition="in" filter="wipe(left)">
                                      <p:cBhvr>
                                        <p:cTn id="15" dur="2000"/>
                                        <p:tgtEl>
                                          <p:spTgt spid="419843">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19843">
                                            <p:txEl>
                                              <p:pRg st="6" end="6"/>
                                            </p:txEl>
                                          </p:spTgt>
                                        </p:tgtEl>
                                        <p:attrNameLst>
                                          <p:attrName>style.visibility</p:attrName>
                                        </p:attrNameLst>
                                      </p:cBhvr>
                                      <p:to>
                                        <p:strVal val="visible"/>
                                      </p:to>
                                    </p:set>
                                    <p:animEffect transition="in" filter="wipe(left)">
                                      <p:cBhvr>
                                        <p:cTn id="20" dur="2000"/>
                                        <p:tgtEl>
                                          <p:spTgt spid="419843">
                                            <p:txEl>
                                              <p:pRg st="6" end="6"/>
                                            </p:txEl>
                                          </p:spTgt>
                                        </p:tgtEl>
                                      </p:cBhvr>
                                    </p:animEffect>
                                  </p:childTnLst>
                                </p:cTn>
                              </p:par>
                            </p:childTnLst>
                          </p:cTn>
                        </p:par>
                        <p:par>
                          <p:cTn id="21" fill="hold" nodeType="afterGroup">
                            <p:stCondLst>
                              <p:cond delay="2000"/>
                            </p:stCondLst>
                            <p:childTnLst>
                              <p:par>
                                <p:cTn id="22" presetID="22" presetClass="entr" presetSubtype="8" fill="hold" nodeType="afterEffect">
                                  <p:stCondLst>
                                    <p:cond delay="2000"/>
                                  </p:stCondLst>
                                  <p:childTnLst>
                                    <p:set>
                                      <p:cBhvr>
                                        <p:cTn id="23" dur="1" fill="hold">
                                          <p:stCondLst>
                                            <p:cond delay="0"/>
                                          </p:stCondLst>
                                        </p:cTn>
                                        <p:tgtEl>
                                          <p:spTgt spid="419843">
                                            <p:txEl>
                                              <p:pRg st="7" end="7"/>
                                            </p:txEl>
                                          </p:spTgt>
                                        </p:tgtEl>
                                        <p:attrNameLst>
                                          <p:attrName>style.visibility</p:attrName>
                                        </p:attrNameLst>
                                      </p:cBhvr>
                                      <p:to>
                                        <p:strVal val="visible"/>
                                      </p:to>
                                    </p:set>
                                    <p:animEffect transition="in" filter="wipe(left)">
                                      <p:cBhvr>
                                        <p:cTn id="24" dur="2000"/>
                                        <p:tgtEl>
                                          <p:spTgt spid="4198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1507"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1508"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C29C8677-22E1-41BF-A887-8066AABA3C8E}" type="slidenum">
              <a:rPr lang="zh-CN" altLang="en-US" sz="800" b="0"/>
              <a:pPr/>
              <a:t>20</a:t>
            </a:fld>
            <a:endParaRPr lang="en-US" altLang="zh-CN" sz="800" b="0"/>
          </a:p>
        </p:txBody>
      </p:sp>
      <p:sp>
        <p:nvSpPr>
          <p:cNvPr id="21509"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NFAs &amp; DFAs</a:t>
            </a:r>
          </a:p>
        </p:txBody>
      </p:sp>
      <p:sp>
        <p:nvSpPr>
          <p:cNvPr id="21510" name="Text Box 3"/>
          <p:cNvSpPr txBox="1">
            <a:spLocks noChangeArrowheads="1"/>
          </p:cNvSpPr>
          <p:nvPr/>
        </p:nvSpPr>
        <p:spPr bwMode="auto">
          <a:xfrm>
            <a:off x="1423988" y="1341438"/>
            <a:ext cx="77597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ea typeface="宋体" panose="02010600030101010101" pitchFamily="2" charset="-122"/>
              </a:rPr>
              <a:t>Non-Deterministic Finite Automata (NFAs) </a:t>
            </a:r>
            <a:r>
              <a:rPr lang="en-US" altLang="zh-CN">
                <a:solidFill>
                  <a:srgbClr val="00CC00"/>
                </a:solidFill>
                <a:ea typeface="宋体" panose="02010600030101010101" pitchFamily="2" charset="-122"/>
              </a:rPr>
              <a:t>easily</a:t>
            </a:r>
            <a:r>
              <a:rPr lang="en-US" altLang="zh-CN">
                <a:ea typeface="宋体" panose="02010600030101010101" pitchFamily="2" charset="-122"/>
              </a:rPr>
              <a:t> represent regular expression, but are somewhat </a:t>
            </a:r>
            <a:r>
              <a:rPr lang="en-US" altLang="zh-CN">
                <a:solidFill>
                  <a:srgbClr val="FF3300"/>
                </a:solidFill>
                <a:ea typeface="宋体" panose="02010600030101010101" pitchFamily="2" charset="-122"/>
              </a:rPr>
              <a:t>less precise.</a:t>
            </a:r>
          </a:p>
          <a:p>
            <a:pPr eaLnBrk="1" hangingPunct="1">
              <a:spcBef>
                <a:spcPct val="50000"/>
              </a:spcBef>
            </a:pPr>
            <a:endParaRPr lang="en-US" altLang="zh-CN">
              <a:ea typeface="宋体" panose="02010600030101010101" pitchFamily="2" charset="-122"/>
            </a:endParaRPr>
          </a:p>
          <a:p>
            <a:pPr eaLnBrk="1" hangingPunct="1">
              <a:spcBef>
                <a:spcPct val="50000"/>
              </a:spcBef>
            </a:pPr>
            <a:r>
              <a:rPr lang="en-US" altLang="zh-CN">
                <a:ea typeface="宋体" panose="02010600030101010101" pitchFamily="2" charset="-122"/>
              </a:rPr>
              <a:t>Deterministic Finite Automata (DFAs) require </a:t>
            </a:r>
            <a:r>
              <a:rPr lang="en-US" altLang="zh-CN">
                <a:solidFill>
                  <a:srgbClr val="FF3300"/>
                </a:solidFill>
                <a:ea typeface="宋体" panose="02010600030101010101" pitchFamily="2" charset="-122"/>
              </a:rPr>
              <a:t>more complexity</a:t>
            </a:r>
            <a:r>
              <a:rPr lang="en-US" altLang="zh-CN">
                <a:ea typeface="宋体" panose="02010600030101010101" pitchFamily="2" charset="-122"/>
              </a:rPr>
              <a:t> to represent regular expressions, but offer </a:t>
            </a:r>
            <a:r>
              <a:rPr lang="en-US" altLang="zh-CN">
                <a:solidFill>
                  <a:srgbClr val="9900CC"/>
                </a:solidFill>
                <a:ea typeface="宋体" panose="02010600030101010101" pitchFamily="2" charset="-122"/>
              </a:rPr>
              <a:t>more precision</a:t>
            </a:r>
            <a:r>
              <a:rPr lang="en-US" altLang="zh-CN">
                <a:ea typeface="宋体" panose="02010600030101010101" pitchFamily="2" charset="-122"/>
              </a:rPr>
              <a:t>.</a:t>
            </a:r>
          </a:p>
        </p:txBody>
      </p:sp>
      <p:sp>
        <p:nvSpPr>
          <p:cNvPr id="21511" name="Text Box 4"/>
          <p:cNvSpPr txBox="1">
            <a:spLocks noChangeArrowheads="1"/>
          </p:cNvSpPr>
          <p:nvPr/>
        </p:nvSpPr>
        <p:spPr bwMode="auto">
          <a:xfrm>
            <a:off x="992188" y="5029200"/>
            <a:ext cx="77597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solidFill>
                  <a:schemeClr val="accent2"/>
                </a:solidFill>
                <a:ea typeface="宋体" panose="02010600030101010101" pitchFamily="2" charset="-122"/>
              </a:rPr>
              <a:t>We’ll review both plus conversion algorithms, i.e., </a:t>
            </a:r>
          </a:p>
          <a:p>
            <a:pPr algn="ctr" eaLnBrk="1" hangingPunct="1">
              <a:spcBef>
                <a:spcPct val="50000"/>
              </a:spcBef>
            </a:pPr>
            <a:r>
              <a:rPr lang="en-US" altLang="zh-CN">
                <a:solidFill>
                  <a:srgbClr val="FF00FF"/>
                </a:solidFill>
                <a:ea typeface="宋体" panose="02010600030101010101" pitchFamily="2" charset="-122"/>
              </a:rPr>
              <a:t>NFA </a:t>
            </a:r>
            <a:r>
              <a:rPr lang="en-US" altLang="zh-CN">
                <a:solidFill>
                  <a:srgbClr val="FF00FF"/>
                </a:solidFill>
                <a:ea typeface="宋体" panose="02010600030101010101" pitchFamily="2" charset="-122"/>
                <a:sym typeface="Symbol" panose="05050102010706020507" pitchFamily="18" charset="2"/>
              </a:rPr>
              <a:t> DFA</a:t>
            </a:r>
            <a:r>
              <a:rPr lang="en-US" altLang="zh-CN">
                <a:solidFill>
                  <a:schemeClr val="accent2"/>
                </a:solidFill>
                <a:ea typeface="宋体" panose="02010600030101010101" pitchFamily="2" charset="-122"/>
                <a:sym typeface="Symbol" panose="05050102010706020507" pitchFamily="18" charset="2"/>
              </a:rPr>
              <a:t>  and  D</a:t>
            </a:r>
            <a:r>
              <a:rPr lang="en-US" altLang="zh-CN">
                <a:solidFill>
                  <a:schemeClr val="accent2"/>
                </a:solidFill>
                <a:ea typeface="宋体" panose="02010600030101010101" pitchFamily="2" charset="-122"/>
              </a:rPr>
              <a:t>FA </a:t>
            </a:r>
            <a:r>
              <a:rPr lang="en-US" altLang="zh-CN">
                <a:solidFill>
                  <a:schemeClr val="accent2"/>
                </a:solidFill>
                <a:ea typeface="宋体" panose="02010600030101010101" pitchFamily="2" charset="-122"/>
                <a:sym typeface="Symbol" panose="05050102010706020507" pitchFamily="18" charset="2"/>
              </a:rPr>
              <a:t> NFA </a:t>
            </a:r>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2531"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2532"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0E4DE9C-3575-4DCB-BB9C-5DCD524A39DC}" type="slidenum">
              <a:rPr lang="zh-CN" altLang="en-US" sz="800" b="0"/>
              <a:pPr/>
              <a:t>21</a:t>
            </a:fld>
            <a:endParaRPr lang="en-US" altLang="zh-CN" sz="800" b="0"/>
          </a:p>
        </p:txBody>
      </p:sp>
      <p:sp>
        <p:nvSpPr>
          <p:cNvPr id="22533" name="Rectangle 3"/>
          <p:cNvSpPr>
            <a:spLocks noGrp="1" noChangeArrowheads="1"/>
          </p:cNvSpPr>
          <p:nvPr>
            <p:ph type="body" idx="1"/>
          </p:nvPr>
        </p:nvSpPr>
        <p:spPr>
          <a:xfrm>
            <a:off x="200025" y="620713"/>
            <a:ext cx="9372600" cy="3384550"/>
          </a:xfrm>
        </p:spPr>
        <p:txBody>
          <a:bodyPr/>
          <a:lstStyle/>
          <a:p>
            <a:r>
              <a:rPr lang="en-US" altLang="zh-CN" smtClean="0">
                <a:ea typeface="宋体" panose="02010600030101010101" pitchFamily="2" charset="-122"/>
              </a:rPr>
              <a:t>A strong relationship between finite automata and regular expression</a:t>
            </a:r>
            <a:endParaRPr lang="en-US" altLang="zh-CN" i="1" smtClean="0">
              <a:ea typeface="宋体" panose="02010600030101010101" pitchFamily="2" charset="-122"/>
            </a:endParaRPr>
          </a:p>
          <a:p>
            <a:r>
              <a:rPr lang="en-US" altLang="zh-CN" b="1" i="1" smtClean="0">
                <a:solidFill>
                  <a:schemeClr val="accent2"/>
                </a:solidFill>
                <a:ea typeface="宋体" panose="02010600030101010101" pitchFamily="2" charset="-122"/>
              </a:rPr>
              <a:t>Transition</a:t>
            </a:r>
            <a:r>
              <a:rPr lang="en-US" altLang="zh-CN" smtClean="0">
                <a:ea typeface="宋体" panose="02010600030101010101" pitchFamily="2" charset="-122"/>
              </a:rPr>
              <a:t>: record a change from one state to another upon a match of the character or characters by which they are labeled.</a:t>
            </a:r>
          </a:p>
          <a:p>
            <a:r>
              <a:rPr lang="en-US" altLang="zh-CN" smtClean="0">
                <a:ea typeface="宋体" panose="02010600030101010101" pitchFamily="2" charset="-122"/>
              </a:rPr>
              <a:t> </a:t>
            </a:r>
            <a:r>
              <a:rPr lang="en-US" altLang="zh-CN" b="1" i="1" smtClean="0">
                <a:solidFill>
                  <a:schemeClr val="accent2"/>
                </a:solidFill>
                <a:ea typeface="宋体" panose="02010600030101010101" pitchFamily="2" charset="-122"/>
              </a:rPr>
              <a:t>start state</a:t>
            </a:r>
            <a:r>
              <a:rPr lang="en-US" altLang="zh-CN" smtClean="0">
                <a:ea typeface="宋体" panose="02010600030101010101" pitchFamily="2" charset="-122"/>
              </a:rPr>
              <a:t>:  the recognition process begins</a:t>
            </a:r>
          </a:p>
          <a:p>
            <a:pPr>
              <a:buFontTx/>
              <a:buNone/>
            </a:pPr>
            <a:r>
              <a:rPr lang="en-US" altLang="zh-CN" smtClean="0">
                <a:ea typeface="宋体" panose="02010600030101010101" pitchFamily="2" charset="-122"/>
              </a:rPr>
              <a:t>           drawing an unlabeled arrowed line to it coming “from nowhere”</a:t>
            </a:r>
          </a:p>
          <a:p>
            <a:r>
              <a:rPr lang="en-US" altLang="zh-CN" smtClean="0">
                <a:ea typeface="宋体" panose="02010600030101010101" pitchFamily="2" charset="-122"/>
              </a:rPr>
              <a:t> </a:t>
            </a:r>
            <a:r>
              <a:rPr lang="en-US" altLang="zh-CN" b="1" i="1" smtClean="0">
                <a:solidFill>
                  <a:schemeClr val="accent2"/>
                </a:solidFill>
                <a:ea typeface="宋体" panose="02010600030101010101" pitchFamily="2" charset="-122"/>
              </a:rPr>
              <a:t>accepting states</a:t>
            </a:r>
            <a:r>
              <a:rPr lang="en-US" altLang="zh-CN" smtClean="0">
                <a:ea typeface="宋体" panose="02010600030101010101" pitchFamily="2" charset="-122"/>
              </a:rPr>
              <a:t>: represent the end of the recognition process.</a:t>
            </a:r>
          </a:p>
          <a:p>
            <a:pPr>
              <a:buFontTx/>
              <a:buNone/>
            </a:pPr>
            <a:r>
              <a:rPr lang="en-US" altLang="zh-CN" smtClean="0">
                <a:ea typeface="宋体" panose="02010600030101010101" pitchFamily="2" charset="-122"/>
              </a:rPr>
              <a:t>           drawing a double-line border around the state in the diagram</a:t>
            </a:r>
            <a:endParaRPr lang="zh-CN" altLang="en-US" smtClean="0">
              <a:ea typeface="宋体" panose="02010600030101010101" pitchFamily="2" charset="-122"/>
            </a:endParaRPr>
          </a:p>
        </p:txBody>
      </p:sp>
      <p:grpSp>
        <p:nvGrpSpPr>
          <p:cNvPr id="333847" name="Group 23"/>
          <p:cNvGrpSpPr>
            <a:grpSpLocks/>
          </p:cNvGrpSpPr>
          <p:nvPr/>
        </p:nvGrpSpPr>
        <p:grpSpPr bwMode="auto">
          <a:xfrm>
            <a:off x="4305300" y="4005263"/>
            <a:ext cx="4608513" cy="2447925"/>
            <a:chOff x="2712" y="2523"/>
            <a:chExt cx="2903" cy="1542"/>
          </a:xfrm>
        </p:grpSpPr>
        <p:sp>
          <p:nvSpPr>
            <p:cNvPr id="22536" name="Oval 5"/>
            <p:cNvSpPr>
              <a:spLocks noChangeArrowheads="1"/>
            </p:cNvSpPr>
            <p:nvPr/>
          </p:nvSpPr>
          <p:spPr bwMode="auto">
            <a:xfrm>
              <a:off x="4164" y="2956"/>
              <a:ext cx="725" cy="55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2537" name="Rectangle 6"/>
            <p:cNvSpPr>
              <a:spLocks noChangeArrowheads="1"/>
            </p:cNvSpPr>
            <p:nvPr/>
          </p:nvSpPr>
          <p:spPr bwMode="auto">
            <a:xfrm>
              <a:off x="4753" y="2523"/>
              <a:ext cx="605"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0" rIns="0" bIns="0"/>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just"/>
              <a:r>
                <a:rPr lang="en-US" altLang="zh-CN" sz="1600" b="0">
                  <a:ea typeface="宋体" panose="02010600030101010101" pitchFamily="2" charset="-122"/>
                </a:rPr>
                <a:t>letter</a:t>
              </a:r>
            </a:p>
          </p:txBody>
        </p:sp>
        <p:sp>
          <p:nvSpPr>
            <p:cNvPr id="22538" name="Line 8"/>
            <p:cNvSpPr>
              <a:spLocks noChangeShapeType="1"/>
            </p:cNvSpPr>
            <p:nvPr/>
          </p:nvSpPr>
          <p:spPr bwMode="auto">
            <a:xfrm>
              <a:off x="2712" y="3177"/>
              <a:ext cx="48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39" name="Oval 9"/>
            <p:cNvSpPr>
              <a:spLocks noChangeArrowheads="1"/>
            </p:cNvSpPr>
            <p:nvPr/>
          </p:nvSpPr>
          <p:spPr bwMode="auto">
            <a:xfrm>
              <a:off x="3196" y="2955"/>
              <a:ext cx="363" cy="444"/>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CN" sz="1600" b="0">
                  <a:ea typeface="宋体" panose="02010600030101010101" pitchFamily="2" charset="-122"/>
                </a:rPr>
                <a:t>1</a:t>
              </a:r>
            </a:p>
          </p:txBody>
        </p:sp>
        <p:sp>
          <p:nvSpPr>
            <p:cNvPr id="22540" name="Line 10"/>
            <p:cNvSpPr>
              <a:spLocks noChangeShapeType="1"/>
            </p:cNvSpPr>
            <p:nvPr/>
          </p:nvSpPr>
          <p:spPr bwMode="auto">
            <a:xfrm>
              <a:off x="3559" y="3177"/>
              <a:ext cx="60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1" name="Rectangle 11"/>
            <p:cNvSpPr>
              <a:spLocks noChangeArrowheads="1"/>
            </p:cNvSpPr>
            <p:nvPr/>
          </p:nvSpPr>
          <p:spPr bwMode="auto">
            <a:xfrm>
              <a:off x="3664" y="2931"/>
              <a:ext cx="60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just"/>
              <a:r>
                <a:rPr lang="en-US" altLang="zh-CN" sz="1600" b="0">
                  <a:ea typeface="宋体" panose="02010600030101010101" pitchFamily="2" charset="-122"/>
                </a:rPr>
                <a:t>letter</a:t>
              </a:r>
            </a:p>
          </p:txBody>
        </p:sp>
        <p:sp>
          <p:nvSpPr>
            <p:cNvPr id="22542" name="Oval 12"/>
            <p:cNvSpPr>
              <a:spLocks noChangeArrowheads="1"/>
            </p:cNvSpPr>
            <p:nvPr/>
          </p:nvSpPr>
          <p:spPr bwMode="auto">
            <a:xfrm>
              <a:off x="4284" y="3066"/>
              <a:ext cx="484" cy="33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CN" sz="1600" b="0">
                  <a:ea typeface="宋体" panose="02010600030101010101" pitchFamily="2" charset="-122"/>
                </a:rPr>
                <a:t>2</a:t>
              </a:r>
            </a:p>
          </p:txBody>
        </p:sp>
        <p:sp>
          <p:nvSpPr>
            <p:cNvPr id="22543" name="Arc 14"/>
            <p:cNvSpPr>
              <a:spLocks/>
            </p:cNvSpPr>
            <p:nvPr/>
          </p:nvSpPr>
          <p:spPr bwMode="auto">
            <a:xfrm flipV="1">
              <a:off x="4798" y="2840"/>
              <a:ext cx="121" cy="222"/>
            </a:xfrm>
            <a:custGeom>
              <a:avLst/>
              <a:gdLst>
                <a:gd name="T0" fmla="*/ 0 w 21600"/>
                <a:gd name="T1" fmla="*/ 0 h 21600"/>
                <a:gd name="T2" fmla="*/ 121 w 21600"/>
                <a:gd name="T3" fmla="*/ 222 h 21600"/>
                <a:gd name="T4" fmla="*/ 0 w 21600"/>
                <a:gd name="T5" fmla="*/ 22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4" name="Arc 15"/>
            <p:cNvSpPr>
              <a:spLocks/>
            </p:cNvSpPr>
            <p:nvPr/>
          </p:nvSpPr>
          <p:spPr bwMode="auto">
            <a:xfrm>
              <a:off x="4677" y="2729"/>
              <a:ext cx="242" cy="111"/>
            </a:xfrm>
            <a:custGeom>
              <a:avLst/>
              <a:gdLst>
                <a:gd name="T0" fmla="*/ 0 w 21600"/>
                <a:gd name="T1" fmla="*/ 0 h 21600"/>
                <a:gd name="T2" fmla="*/ 242 w 21600"/>
                <a:gd name="T3" fmla="*/ 111 h 21600"/>
                <a:gd name="T4" fmla="*/ 0 w 21600"/>
                <a:gd name="T5" fmla="*/ 11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5" name="Arc 16"/>
            <p:cNvSpPr>
              <a:spLocks/>
            </p:cNvSpPr>
            <p:nvPr/>
          </p:nvSpPr>
          <p:spPr bwMode="auto">
            <a:xfrm flipH="1">
              <a:off x="4556" y="2729"/>
              <a:ext cx="121" cy="222"/>
            </a:xfrm>
            <a:custGeom>
              <a:avLst/>
              <a:gdLst>
                <a:gd name="T0" fmla="*/ 0 w 21600"/>
                <a:gd name="T1" fmla="*/ 0 h 21600"/>
                <a:gd name="T2" fmla="*/ 121 w 21600"/>
                <a:gd name="T3" fmla="*/ 222 h 21600"/>
                <a:gd name="T4" fmla="*/ 0 w 21600"/>
                <a:gd name="T5" fmla="*/ 22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6" name="Freeform 18"/>
            <p:cNvSpPr>
              <a:spLocks/>
            </p:cNvSpPr>
            <p:nvPr/>
          </p:nvSpPr>
          <p:spPr bwMode="auto">
            <a:xfrm>
              <a:off x="4264" y="3510"/>
              <a:ext cx="645" cy="444"/>
            </a:xfrm>
            <a:custGeom>
              <a:avLst/>
              <a:gdLst>
                <a:gd name="T0" fmla="*/ 262 w 960"/>
                <a:gd name="T1" fmla="*/ 0 h 624"/>
                <a:gd name="T2" fmla="*/ 20 w 960"/>
                <a:gd name="T3" fmla="*/ 222 h 624"/>
                <a:gd name="T4" fmla="*/ 383 w 960"/>
                <a:gd name="T5" fmla="*/ 444 h 624"/>
                <a:gd name="T6" fmla="*/ 625 w 960"/>
                <a:gd name="T7" fmla="*/ 222 h 624"/>
                <a:gd name="T8" fmla="*/ 504 w 960"/>
                <a:gd name="T9" fmla="*/ 0 h 6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624">
                  <a:moveTo>
                    <a:pt x="390" y="0"/>
                  </a:moveTo>
                  <a:cubicBezTo>
                    <a:pt x="195" y="104"/>
                    <a:pt x="0" y="208"/>
                    <a:pt x="30" y="312"/>
                  </a:cubicBezTo>
                  <a:cubicBezTo>
                    <a:pt x="60" y="416"/>
                    <a:pt x="420" y="624"/>
                    <a:pt x="570" y="624"/>
                  </a:cubicBezTo>
                  <a:cubicBezTo>
                    <a:pt x="720" y="624"/>
                    <a:pt x="900" y="416"/>
                    <a:pt x="930" y="312"/>
                  </a:cubicBezTo>
                  <a:cubicBezTo>
                    <a:pt x="960" y="208"/>
                    <a:pt x="855" y="104"/>
                    <a:pt x="750" y="0"/>
                  </a:cubicBezTo>
                </a:path>
              </a:pathLst>
            </a:custGeom>
            <a:noFill/>
            <a:ln w="9525">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7" name="Rectangle 19"/>
            <p:cNvSpPr>
              <a:spLocks noChangeArrowheads="1"/>
            </p:cNvSpPr>
            <p:nvPr/>
          </p:nvSpPr>
          <p:spPr bwMode="auto">
            <a:xfrm>
              <a:off x="4889" y="3732"/>
              <a:ext cx="726"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0" tIns="0" rIns="0" bIns="0"/>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just"/>
              <a:r>
                <a:rPr lang="en-US" altLang="zh-CN" sz="1600" b="0">
                  <a:ea typeface="宋体" panose="02010600030101010101" pitchFamily="2" charset="-122"/>
                </a:rPr>
                <a:t>digit</a:t>
              </a:r>
            </a:p>
          </p:txBody>
        </p:sp>
      </p:grpSp>
      <p:sp>
        <p:nvSpPr>
          <p:cNvPr id="22535" name="Rectangle 20"/>
          <p:cNvSpPr>
            <a:spLocks noChangeArrowheads="1"/>
          </p:cNvSpPr>
          <p:nvPr/>
        </p:nvSpPr>
        <p:spPr bwMode="auto">
          <a:xfrm>
            <a:off x="200025" y="4016375"/>
            <a:ext cx="5262563"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nSpc>
                <a:spcPct val="90000"/>
              </a:lnSpc>
              <a:spcBef>
                <a:spcPct val="20000"/>
              </a:spcBef>
              <a:buFontTx/>
              <a:buChar char="•"/>
            </a:pPr>
            <a:r>
              <a:rPr lang="en-US" altLang="zh-CN" b="0" i="1">
                <a:ea typeface="宋体" panose="02010600030101010101" pitchFamily="2" charset="-122"/>
              </a:rPr>
              <a:t>   EX.:  Identifier</a:t>
            </a:r>
            <a:r>
              <a:rPr lang="en-US" altLang="zh-CN" b="0">
                <a:ea typeface="宋体" panose="02010600030101010101" pitchFamily="2" charset="-122"/>
              </a:rPr>
              <a:t> -&gt;</a:t>
            </a:r>
            <a:r>
              <a:rPr lang="en-US" altLang="zh-CN" b="0" i="1">
                <a:ea typeface="宋体" panose="02010600030101010101" pitchFamily="2" charset="-122"/>
              </a:rPr>
              <a:t>letter</a:t>
            </a:r>
            <a:r>
              <a:rPr lang="en-US" altLang="zh-CN" b="0">
                <a:ea typeface="宋体" panose="02010600030101010101" pitchFamily="2" charset="-122"/>
              </a:rPr>
              <a:t> (</a:t>
            </a:r>
            <a:r>
              <a:rPr lang="en-US" altLang="zh-CN" b="0" i="1">
                <a:ea typeface="宋体" panose="02010600030101010101" pitchFamily="2" charset="-122"/>
              </a:rPr>
              <a:t>letter </a:t>
            </a:r>
            <a:r>
              <a:rPr lang="en-US" altLang="zh-CN" b="0">
                <a:ea typeface="宋体" panose="02010600030101010101" pitchFamily="2" charset="-122"/>
              </a:rPr>
              <a:t>| </a:t>
            </a:r>
            <a:r>
              <a:rPr lang="en-US" altLang="zh-CN" b="0" i="1">
                <a:ea typeface="宋体" panose="02010600030101010101" pitchFamily="2" charset="-122"/>
              </a:rPr>
              <a:t>digit</a:t>
            </a:r>
            <a:r>
              <a:rPr lang="en-US" altLang="zh-CN" b="0">
                <a:ea typeface="宋体" panose="02010600030101010101" pitchFamily="2"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33847"/>
                                        </p:tgtEl>
                                        <p:attrNameLst>
                                          <p:attrName>style.visibility</p:attrName>
                                        </p:attrNameLst>
                                      </p:cBhvr>
                                      <p:to>
                                        <p:strVal val="visible"/>
                                      </p:to>
                                    </p:set>
                                    <p:animEffect transition="in" filter="wipe(left)">
                                      <p:cBhvr>
                                        <p:cTn id="7" dur="2000"/>
                                        <p:tgtEl>
                                          <p:spTgt spid="333847"/>
                                        </p:tgtEl>
                                      </p:cBhvr>
                                    </p:animEffect>
                                  </p:childTnLst>
                                  <p:subTnLst>
                                    <p:animClr clrSpc="rgb" dir="cw">
                                      <p:cBhvr override="childStyle">
                                        <p:cTn dur="1" fill="hold" display="0" masterRel="nextClick" afterEffect="1"/>
                                        <p:tgtEl>
                                          <p:spTgt spid="333847"/>
                                        </p:tgtEl>
                                        <p:attrNameLst>
                                          <p:attrName>ppt_c</p:attrName>
                                        </p:attrNameLst>
                                      </p:cBhvr>
                                      <p:to>
                                        <a:srgbClr val="CC0099"/>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3555"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3556"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A342C585-5BAF-4A68-BFB2-9414356A6745}" type="slidenum">
              <a:rPr lang="zh-CN" altLang="en-US" sz="800" b="0"/>
              <a:pPr/>
              <a:t>22</a:t>
            </a:fld>
            <a:endParaRPr lang="en-US" altLang="zh-CN" sz="800" b="0"/>
          </a:p>
        </p:txBody>
      </p:sp>
      <p:sp>
        <p:nvSpPr>
          <p:cNvPr id="23557"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Non-Deterministic Finite Automata (P.114)</a:t>
            </a:r>
          </a:p>
        </p:txBody>
      </p:sp>
      <p:sp>
        <p:nvSpPr>
          <p:cNvPr id="23558" name="Text Box 3"/>
          <p:cNvSpPr txBox="1">
            <a:spLocks noChangeArrowheads="1"/>
          </p:cNvSpPr>
          <p:nvPr/>
        </p:nvSpPr>
        <p:spPr bwMode="auto">
          <a:xfrm>
            <a:off x="1535113" y="1295400"/>
            <a:ext cx="7594600" cy="429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a:defRPr sz="2400" b="1">
                <a:solidFill>
                  <a:schemeClr val="tx1"/>
                </a:solidFill>
                <a:latin typeface="Times New Roman" panose="02020603050405020304" pitchFamily="18" charset="0"/>
              </a:defRPr>
            </a:lvl2pPr>
            <a:lvl3pPr>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ea typeface="宋体" panose="02010600030101010101" pitchFamily="2" charset="-122"/>
              </a:rPr>
              <a:t>An </a:t>
            </a:r>
            <a:r>
              <a:rPr lang="en-US" altLang="zh-CN">
                <a:solidFill>
                  <a:schemeClr val="accent2"/>
                </a:solidFill>
                <a:ea typeface="宋体" panose="02010600030101010101" pitchFamily="2" charset="-122"/>
              </a:rPr>
              <a:t>NFA </a:t>
            </a:r>
            <a:r>
              <a:rPr lang="en-US" altLang="zh-CN">
                <a:ea typeface="宋体" panose="02010600030101010101" pitchFamily="2" charset="-122"/>
              </a:rPr>
              <a:t>is a mathematical model that consists of :</a:t>
            </a:r>
            <a:endParaRPr lang="en-US" altLang="zh-CN">
              <a:solidFill>
                <a:schemeClr val="accent2"/>
              </a:solidFill>
              <a:ea typeface="宋体" panose="02010600030101010101" pitchFamily="2" charset="-122"/>
            </a:endParaRPr>
          </a:p>
          <a:p>
            <a:pPr lvl="1" eaLnBrk="1" hangingPunct="1">
              <a:spcBef>
                <a:spcPct val="50000"/>
              </a:spcBef>
              <a:buFontTx/>
              <a:buChar char="•"/>
            </a:pPr>
            <a:r>
              <a:rPr lang="en-US" altLang="zh-CN">
                <a:ea typeface="宋体" panose="02010600030101010101" pitchFamily="2" charset="-122"/>
              </a:rPr>
              <a:t> S, a set of </a:t>
            </a:r>
            <a:r>
              <a:rPr lang="en-US" altLang="zh-CN">
                <a:solidFill>
                  <a:srgbClr val="9900CC"/>
                </a:solidFill>
                <a:ea typeface="宋体" panose="02010600030101010101" pitchFamily="2" charset="-122"/>
              </a:rPr>
              <a:t>states</a:t>
            </a:r>
          </a:p>
          <a:p>
            <a:pPr lvl="1" eaLnBrk="1" hangingPunct="1">
              <a:spcBef>
                <a:spcPct val="50000"/>
              </a:spcBef>
              <a:buFontTx/>
              <a:buChar char="•"/>
            </a:pPr>
            <a:r>
              <a:rPr lang="en-US" altLang="zh-CN">
                <a:ea typeface="宋体" panose="02010600030101010101" pitchFamily="2" charset="-122"/>
              </a:rPr>
              <a:t> </a:t>
            </a:r>
            <a:r>
              <a:rPr lang="en-US" altLang="zh-CN">
                <a:ea typeface="宋体" panose="02010600030101010101" pitchFamily="2" charset="-122"/>
                <a:sym typeface="Symbol" panose="05050102010706020507" pitchFamily="18" charset="2"/>
              </a:rPr>
              <a:t>, the symbols of the </a:t>
            </a:r>
            <a:r>
              <a:rPr lang="en-US" altLang="zh-CN">
                <a:solidFill>
                  <a:srgbClr val="9900CC"/>
                </a:solidFill>
                <a:ea typeface="宋体" panose="02010600030101010101" pitchFamily="2" charset="-122"/>
                <a:sym typeface="Symbol" panose="05050102010706020507" pitchFamily="18" charset="2"/>
              </a:rPr>
              <a:t>input alphabet</a:t>
            </a:r>
          </a:p>
          <a:p>
            <a:pPr lvl="1" eaLnBrk="1" hangingPunct="1">
              <a:spcBef>
                <a:spcPct val="50000"/>
              </a:spcBef>
              <a:buFontTx/>
              <a:buChar char="•"/>
            </a:pPr>
            <a:r>
              <a:rPr lang="en-US" altLang="zh-CN">
                <a:ea typeface="宋体" panose="02010600030101010101" pitchFamily="2" charset="-122"/>
                <a:sym typeface="Symbol" panose="05050102010706020507" pitchFamily="18" charset="2"/>
              </a:rPr>
              <a:t> </a:t>
            </a:r>
            <a:r>
              <a:rPr lang="en-US" altLang="zh-CN" i="1">
                <a:ea typeface="宋体" panose="02010600030101010101" pitchFamily="2" charset="-122"/>
                <a:sym typeface="Symbol" panose="05050102010706020507" pitchFamily="18" charset="2"/>
              </a:rPr>
              <a:t>move</a:t>
            </a:r>
            <a:r>
              <a:rPr lang="en-US" altLang="zh-CN">
                <a:ea typeface="宋体" panose="02010600030101010101" pitchFamily="2" charset="-122"/>
                <a:sym typeface="Symbol" panose="05050102010706020507" pitchFamily="18" charset="2"/>
              </a:rPr>
              <a:t>, a </a:t>
            </a:r>
            <a:r>
              <a:rPr lang="en-US" altLang="zh-CN">
                <a:solidFill>
                  <a:srgbClr val="9900CC"/>
                </a:solidFill>
                <a:ea typeface="宋体" panose="02010600030101010101" pitchFamily="2" charset="-122"/>
                <a:sym typeface="Symbol" panose="05050102010706020507" pitchFamily="18" charset="2"/>
              </a:rPr>
              <a:t>transition function</a:t>
            </a:r>
            <a:r>
              <a:rPr lang="en-US" altLang="zh-CN">
                <a:ea typeface="宋体" panose="02010600030101010101" pitchFamily="2" charset="-122"/>
                <a:sym typeface="Symbol" panose="05050102010706020507" pitchFamily="18" charset="2"/>
              </a:rPr>
              <a:t>.  </a:t>
            </a:r>
          </a:p>
          <a:p>
            <a:pPr lvl="2" eaLnBrk="1" hangingPunct="1">
              <a:spcBef>
                <a:spcPct val="50000"/>
              </a:spcBef>
              <a:buFontTx/>
              <a:buChar char="•"/>
            </a:pPr>
            <a:r>
              <a:rPr lang="en-US" altLang="zh-CN">
                <a:ea typeface="宋体" panose="02010600030101010101" pitchFamily="2" charset="-122"/>
              </a:rPr>
              <a:t> </a:t>
            </a:r>
            <a:r>
              <a:rPr lang="en-US" altLang="zh-CN" i="1">
                <a:ea typeface="宋体" panose="02010600030101010101" pitchFamily="2" charset="-122"/>
              </a:rPr>
              <a:t>move</a:t>
            </a:r>
            <a:r>
              <a:rPr lang="en-US" altLang="zh-CN">
                <a:ea typeface="宋体" panose="02010600030101010101" pitchFamily="2" charset="-122"/>
              </a:rPr>
              <a:t>(state, symbol) </a:t>
            </a:r>
            <a:r>
              <a:rPr lang="en-US" altLang="zh-CN">
                <a:ea typeface="宋体" panose="02010600030101010101" pitchFamily="2" charset="-122"/>
                <a:sym typeface="Symbol" panose="05050102010706020507" pitchFamily="18" charset="2"/>
              </a:rPr>
              <a:t> set of states</a:t>
            </a:r>
          </a:p>
          <a:p>
            <a:pPr lvl="2" eaLnBrk="1" hangingPunct="1">
              <a:spcBef>
                <a:spcPct val="50000"/>
              </a:spcBef>
              <a:buFontTx/>
              <a:buChar char="•"/>
            </a:pPr>
            <a:r>
              <a:rPr lang="en-US" altLang="zh-CN">
                <a:ea typeface="宋体" panose="02010600030101010101" pitchFamily="2" charset="-122"/>
                <a:sym typeface="Symbol" panose="05050102010706020507" pitchFamily="18" charset="2"/>
              </a:rPr>
              <a:t> </a:t>
            </a:r>
            <a:r>
              <a:rPr lang="en-US" altLang="zh-CN" i="1">
                <a:ea typeface="宋体" panose="02010600030101010101" pitchFamily="2" charset="-122"/>
                <a:sym typeface="Symbol" panose="05050102010706020507" pitchFamily="18" charset="2"/>
              </a:rPr>
              <a:t>move</a:t>
            </a:r>
            <a:r>
              <a:rPr lang="en-US" altLang="zh-CN">
                <a:ea typeface="宋体" panose="02010600030101010101" pitchFamily="2" charset="-122"/>
                <a:sym typeface="Symbol" panose="05050102010706020507" pitchFamily="18" charset="2"/>
              </a:rPr>
              <a:t> : </a:t>
            </a:r>
            <a:r>
              <a:rPr lang="en-US" altLang="zh-CN">
                <a:ea typeface="宋体" panose="02010600030101010101" pitchFamily="2" charset="-122"/>
              </a:rPr>
              <a:t>S </a:t>
            </a:r>
            <a:r>
              <a:rPr lang="en-US" altLang="zh-CN">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a:t>
            </a:r>
            <a:r>
              <a:rPr lang="en-US" altLang="zh-CN">
                <a:ea typeface="宋体" panose="02010600030101010101" pitchFamily="2" charset="-122"/>
                <a:sym typeface="Symbol" panose="05050102010706020507" pitchFamily="18" charset="2"/>
              </a:rPr>
              <a:t>}  Pow(</a:t>
            </a:r>
            <a:r>
              <a:rPr lang="en-US" altLang="zh-CN">
                <a:ea typeface="宋体" panose="02010600030101010101" pitchFamily="2" charset="-122"/>
              </a:rPr>
              <a:t>S) (path of word)</a:t>
            </a:r>
          </a:p>
          <a:p>
            <a:pPr lvl="1" eaLnBrk="1" hangingPunct="1">
              <a:spcBef>
                <a:spcPct val="50000"/>
              </a:spcBef>
              <a:buFontTx/>
              <a:buChar char="•"/>
            </a:pPr>
            <a:r>
              <a:rPr lang="en-US" altLang="zh-CN">
                <a:ea typeface="宋体" panose="02010600030101010101" pitchFamily="2" charset="-122"/>
              </a:rPr>
              <a:t> A state, s</a:t>
            </a:r>
            <a:r>
              <a:rPr lang="en-US" altLang="zh-CN" baseline="-25000">
                <a:ea typeface="宋体" panose="02010600030101010101" pitchFamily="2" charset="-122"/>
              </a:rPr>
              <a:t>0</a:t>
            </a:r>
            <a:r>
              <a:rPr lang="en-US" altLang="zh-CN">
                <a:ea typeface="宋体" panose="02010600030101010101" pitchFamily="2" charset="-122"/>
              </a:rPr>
              <a:t> </a:t>
            </a:r>
            <a:r>
              <a:rPr lang="en-US" altLang="zh-CN">
                <a:ea typeface="宋体" panose="02010600030101010101" pitchFamily="2" charset="-122"/>
                <a:sym typeface="Symbol" panose="05050102010706020507" pitchFamily="18" charset="2"/>
              </a:rPr>
              <a:t> S, the </a:t>
            </a:r>
            <a:r>
              <a:rPr lang="en-US" altLang="zh-CN">
                <a:solidFill>
                  <a:srgbClr val="9900CC"/>
                </a:solidFill>
                <a:ea typeface="宋体" panose="02010600030101010101" pitchFamily="2" charset="-122"/>
                <a:sym typeface="Symbol" panose="05050102010706020507" pitchFamily="18" charset="2"/>
              </a:rPr>
              <a:t>start state</a:t>
            </a:r>
          </a:p>
          <a:p>
            <a:pPr lvl="1" eaLnBrk="1" hangingPunct="1">
              <a:spcBef>
                <a:spcPct val="50000"/>
              </a:spcBef>
              <a:buFontTx/>
              <a:buChar char="•"/>
            </a:pPr>
            <a:r>
              <a:rPr lang="en-US" altLang="zh-CN">
                <a:ea typeface="宋体" panose="02010600030101010101" pitchFamily="2" charset="-122"/>
                <a:sym typeface="Symbol" panose="05050102010706020507" pitchFamily="18" charset="2"/>
              </a:rPr>
              <a:t> F  S, a set of </a:t>
            </a:r>
            <a:r>
              <a:rPr lang="en-US" altLang="zh-CN">
                <a:solidFill>
                  <a:srgbClr val="9900CC"/>
                </a:solidFill>
                <a:ea typeface="宋体" panose="02010600030101010101" pitchFamily="2" charset="-122"/>
                <a:sym typeface="Symbol" panose="05050102010706020507" pitchFamily="18" charset="2"/>
              </a:rPr>
              <a:t>final</a:t>
            </a:r>
            <a:r>
              <a:rPr lang="en-US" altLang="zh-CN">
                <a:ea typeface="宋体" panose="02010600030101010101" pitchFamily="2" charset="-122"/>
                <a:sym typeface="Symbol" panose="05050102010706020507" pitchFamily="18" charset="2"/>
              </a:rPr>
              <a:t> or </a:t>
            </a:r>
            <a:r>
              <a:rPr lang="en-US" altLang="zh-CN">
                <a:solidFill>
                  <a:srgbClr val="9900CC"/>
                </a:solidFill>
                <a:ea typeface="宋体" panose="02010600030101010101" pitchFamily="2" charset="-122"/>
                <a:sym typeface="Symbol" panose="05050102010706020507" pitchFamily="18" charset="2"/>
              </a:rPr>
              <a:t>accepting states</a:t>
            </a:r>
            <a:r>
              <a:rPr lang="en-US" altLang="zh-CN">
                <a:ea typeface="宋体" panose="02010600030101010101" pitchFamily="2" charset="-122"/>
                <a:sym typeface="Symbol" panose="05050102010706020507" pitchFamily="18" charset="2"/>
              </a:rPr>
              <a:t>.</a:t>
            </a:r>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4579"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4580"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09330A2A-1F9A-45F7-B5E7-EA9AC28DEF50}" type="slidenum">
              <a:rPr lang="zh-CN" altLang="en-US" sz="800" b="0"/>
              <a:pPr/>
              <a:t>23</a:t>
            </a:fld>
            <a:endParaRPr lang="en-US" altLang="zh-CN" sz="800" b="0"/>
          </a:p>
        </p:txBody>
      </p:sp>
      <p:sp>
        <p:nvSpPr>
          <p:cNvPr id="24581" name="Rectangle 2"/>
          <p:cNvSpPr>
            <a:spLocks noGrp="1" noChangeArrowheads="1"/>
          </p:cNvSpPr>
          <p:nvPr>
            <p:ph type="title"/>
          </p:nvPr>
        </p:nvSpPr>
        <p:spPr/>
        <p:txBody>
          <a:bodyPr/>
          <a:lstStyle/>
          <a:p>
            <a:r>
              <a:rPr lang="en-US" altLang="zh-CN" smtClean="0">
                <a:ea typeface="宋体" panose="02010600030101010101" pitchFamily="2" charset="-122"/>
              </a:rPr>
              <a:t>NFA (cont.)</a:t>
            </a:r>
          </a:p>
        </p:txBody>
      </p:sp>
      <p:sp>
        <p:nvSpPr>
          <p:cNvPr id="24582" name="Rectangle 3"/>
          <p:cNvSpPr>
            <a:spLocks noGrp="1" noChangeArrowheads="1"/>
          </p:cNvSpPr>
          <p:nvPr>
            <p:ph type="body" idx="1"/>
          </p:nvPr>
        </p:nvSpPr>
        <p:spPr/>
        <p:txBody>
          <a:bodyPr/>
          <a:lstStyle/>
          <a:p>
            <a:r>
              <a:rPr lang="en-US" altLang="zh-CN" sz="2800" b="1" smtClean="0">
                <a:solidFill>
                  <a:srgbClr val="9900CC"/>
                </a:solidFill>
                <a:ea typeface="宋体" panose="02010600030101010101" pitchFamily="2" charset="-122"/>
                <a:sym typeface="Symbol" panose="05050102010706020507" pitchFamily="18" charset="2"/>
              </a:rPr>
              <a:t>- transitions</a:t>
            </a:r>
            <a:r>
              <a:rPr lang="en-US" altLang="zh-CN" sz="2800" smtClean="0">
                <a:ea typeface="宋体" panose="02010600030101010101" pitchFamily="2" charset="-122"/>
                <a:sym typeface="Symbol" panose="05050102010706020507" pitchFamily="18" charset="2"/>
              </a:rPr>
              <a:t> are allowed in NFAs. In other words, we can move from one state to another one </a:t>
            </a:r>
            <a:r>
              <a:rPr lang="en-US" altLang="zh-CN" sz="2800" b="1" smtClean="0">
                <a:solidFill>
                  <a:srgbClr val="9900CC"/>
                </a:solidFill>
                <a:ea typeface="宋体" panose="02010600030101010101" pitchFamily="2" charset="-122"/>
                <a:sym typeface="Symbol" panose="05050102010706020507" pitchFamily="18" charset="2"/>
              </a:rPr>
              <a:t>without consuming any symbol.</a:t>
            </a:r>
          </a:p>
          <a:p>
            <a:r>
              <a:rPr lang="en-US" altLang="zh-CN" sz="2800" smtClean="0">
                <a:ea typeface="宋体" panose="02010600030101010101" pitchFamily="2" charset="-122"/>
                <a:sym typeface="Symbol" panose="05050102010706020507" pitchFamily="18" charset="2"/>
              </a:rPr>
              <a:t>A NFA accepts a string x, if and only if there is a path from the starting state to one of accepting states such that edge labels along this path spell out x.</a:t>
            </a:r>
            <a:endParaRPr lang="en-US" altLang="zh-CN" sz="2800" smtClean="0">
              <a:ea typeface="宋体" panose="02010600030101010101" pitchFamily="2" charset="-122"/>
            </a:endParaRPr>
          </a:p>
          <a:p>
            <a:pPr>
              <a:buFontTx/>
              <a:buNone/>
            </a:pPr>
            <a:endParaRPr lang="en-US" altLang="zh-CN" sz="2800" smtClean="0">
              <a:ea typeface="宋体" panose="02010600030101010101" pitchFamily="2" charset="-122"/>
            </a:endParaRPr>
          </a:p>
          <a:p>
            <a:pPr lvl="1"/>
            <a:endParaRPr lang="zh-CN" altLang="en-US" smtClean="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4"/>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5603" name="页脚占位符 5"/>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5604" name="灯片编号占位符 6"/>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57ACFD23-FEAF-4749-BE60-7E8EB281CE2C}" type="slidenum">
              <a:rPr lang="zh-CN" altLang="en-US" sz="800" b="0"/>
              <a:pPr/>
              <a:t>24</a:t>
            </a:fld>
            <a:endParaRPr lang="en-US" altLang="zh-CN" sz="800" b="0"/>
          </a:p>
        </p:txBody>
      </p:sp>
      <p:sp>
        <p:nvSpPr>
          <p:cNvPr id="25605" name="Rectangle 32"/>
          <p:cNvSpPr>
            <a:spLocks noGrp="1" noChangeArrowheads="1"/>
          </p:cNvSpPr>
          <p:nvPr>
            <p:ph type="title"/>
          </p:nvPr>
        </p:nvSpPr>
        <p:spPr/>
        <p:txBody>
          <a:bodyPr/>
          <a:lstStyle/>
          <a:p>
            <a:endParaRPr lang="zh-CN" altLang="en-US" smtClean="0">
              <a:ea typeface="宋体" panose="02010600030101010101" pitchFamily="2" charset="-122"/>
            </a:endParaRPr>
          </a:p>
        </p:txBody>
      </p:sp>
      <p:sp>
        <p:nvSpPr>
          <p:cNvPr id="25606" name="Rectangle 3"/>
          <p:cNvSpPr>
            <a:spLocks noGrp="1" noChangeArrowheads="1"/>
          </p:cNvSpPr>
          <p:nvPr>
            <p:ph type="body" sz="half" idx="1"/>
          </p:nvPr>
        </p:nvSpPr>
        <p:spPr>
          <a:xfrm>
            <a:off x="381000" y="1219200"/>
            <a:ext cx="8316913" cy="554038"/>
          </a:xfrm>
        </p:spPr>
        <p:txBody>
          <a:bodyPr/>
          <a:lstStyle/>
          <a:p>
            <a:r>
              <a:rPr lang="en-US" altLang="zh-CN" smtClean="0">
                <a:ea typeface="宋体" panose="02010600030101010101" pitchFamily="2" charset="-122"/>
              </a:rPr>
              <a:t>EX. Regular expression: (a|b)*abb</a:t>
            </a:r>
          </a:p>
        </p:txBody>
      </p:sp>
      <p:grpSp>
        <p:nvGrpSpPr>
          <p:cNvPr id="516100" name="Group 4"/>
          <p:cNvGrpSpPr>
            <a:grpSpLocks/>
          </p:cNvGrpSpPr>
          <p:nvPr/>
        </p:nvGrpSpPr>
        <p:grpSpPr bwMode="auto">
          <a:xfrm>
            <a:off x="1712913" y="1773238"/>
            <a:ext cx="5365750" cy="1585912"/>
            <a:chOff x="2304" y="912"/>
            <a:chExt cx="3120" cy="999"/>
          </a:xfrm>
        </p:grpSpPr>
        <p:grpSp>
          <p:nvGrpSpPr>
            <p:cNvPr id="25610" name="Group 5"/>
            <p:cNvGrpSpPr>
              <a:grpSpLocks/>
            </p:cNvGrpSpPr>
            <p:nvPr/>
          </p:nvGrpSpPr>
          <p:grpSpPr bwMode="auto">
            <a:xfrm>
              <a:off x="5040" y="1200"/>
              <a:ext cx="384" cy="384"/>
              <a:chOff x="2496" y="2688"/>
              <a:chExt cx="384" cy="384"/>
            </a:xfrm>
          </p:grpSpPr>
          <p:sp>
            <p:nvSpPr>
              <p:cNvPr id="25633" name="Oval 6"/>
              <p:cNvSpPr>
                <a:spLocks noChangeArrowheads="1"/>
              </p:cNvSpPr>
              <p:nvPr/>
            </p:nvSpPr>
            <p:spPr bwMode="auto">
              <a:xfrm>
                <a:off x="2496" y="2688"/>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5634" name="Oval 7"/>
              <p:cNvSpPr>
                <a:spLocks noChangeArrowheads="1"/>
              </p:cNvSpPr>
              <p:nvPr/>
            </p:nvSpPr>
            <p:spPr bwMode="auto">
              <a:xfrm>
                <a:off x="2544" y="273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25611" name="Line 8"/>
            <p:cNvSpPr>
              <a:spLocks noChangeShapeType="1"/>
            </p:cNvSpPr>
            <p:nvPr/>
          </p:nvSpPr>
          <p:spPr bwMode="auto">
            <a:xfrm>
              <a:off x="4656"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2" name="Line 9"/>
            <p:cNvSpPr>
              <a:spLocks noChangeShapeType="1"/>
            </p:cNvSpPr>
            <p:nvPr/>
          </p:nvSpPr>
          <p:spPr bwMode="auto">
            <a:xfrm>
              <a:off x="3120"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3" name="Line 10"/>
            <p:cNvSpPr>
              <a:spLocks noChangeShapeType="1"/>
            </p:cNvSpPr>
            <p:nvPr/>
          </p:nvSpPr>
          <p:spPr bwMode="auto">
            <a:xfrm>
              <a:off x="2352"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4" name="Text Box 11"/>
            <p:cNvSpPr txBox="1">
              <a:spLocks noChangeArrowheads="1"/>
            </p:cNvSpPr>
            <p:nvPr/>
          </p:nvSpPr>
          <p:spPr bwMode="auto">
            <a:xfrm>
              <a:off x="2304" y="120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400">
                  <a:ea typeface="宋体" panose="02010600030101010101" pitchFamily="2" charset="-122"/>
                </a:rPr>
                <a:t>start</a:t>
              </a:r>
            </a:p>
          </p:txBody>
        </p:sp>
        <p:grpSp>
          <p:nvGrpSpPr>
            <p:cNvPr id="25615" name="Group 12"/>
            <p:cNvGrpSpPr>
              <a:grpSpLocks/>
            </p:cNvGrpSpPr>
            <p:nvPr/>
          </p:nvGrpSpPr>
          <p:grpSpPr bwMode="auto">
            <a:xfrm>
              <a:off x="2736" y="1200"/>
              <a:ext cx="384" cy="384"/>
              <a:chOff x="2736" y="1200"/>
              <a:chExt cx="384" cy="384"/>
            </a:xfrm>
          </p:grpSpPr>
          <p:sp>
            <p:nvSpPr>
              <p:cNvPr id="25631" name="Oval 13"/>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5632" name="Text Box 14"/>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25616" name="Text Box 15"/>
            <p:cNvSpPr txBox="1">
              <a:spLocks noChangeArrowheads="1"/>
            </p:cNvSpPr>
            <p:nvPr/>
          </p:nvSpPr>
          <p:spPr bwMode="auto">
            <a:xfrm>
              <a:off x="5136" y="12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25617" name="Text Box 16"/>
            <p:cNvSpPr txBox="1">
              <a:spLocks noChangeArrowheads="1"/>
            </p:cNvSpPr>
            <p:nvPr/>
          </p:nvSpPr>
          <p:spPr bwMode="auto">
            <a:xfrm>
              <a:off x="4704"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25618" name="Line 17"/>
            <p:cNvSpPr>
              <a:spLocks noChangeShapeType="1"/>
            </p:cNvSpPr>
            <p:nvPr/>
          </p:nvSpPr>
          <p:spPr bwMode="auto">
            <a:xfrm>
              <a:off x="3888"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5619" name="Group 18"/>
            <p:cNvGrpSpPr>
              <a:grpSpLocks/>
            </p:cNvGrpSpPr>
            <p:nvPr/>
          </p:nvGrpSpPr>
          <p:grpSpPr bwMode="auto">
            <a:xfrm>
              <a:off x="4272" y="1200"/>
              <a:ext cx="384" cy="384"/>
              <a:chOff x="2736" y="1200"/>
              <a:chExt cx="384" cy="384"/>
            </a:xfrm>
          </p:grpSpPr>
          <p:sp>
            <p:nvSpPr>
              <p:cNvPr id="25629" name="Oval 19"/>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5630" name="Text Box 20"/>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grpSp>
        <p:grpSp>
          <p:nvGrpSpPr>
            <p:cNvPr id="25620" name="Group 21"/>
            <p:cNvGrpSpPr>
              <a:grpSpLocks/>
            </p:cNvGrpSpPr>
            <p:nvPr/>
          </p:nvGrpSpPr>
          <p:grpSpPr bwMode="auto">
            <a:xfrm>
              <a:off x="3504" y="1200"/>
              <a:ext cx="384" cy="384"/>
              <a:chOff x="2736" y="1200"/>
              <a:chExt cx="384" cy="384"/>
            </a:xfrm>
          </p:grpSpPr>
          <p:sp>
            <p:nvSpPr>
              <p:cNvPr id="25627" name="Oval 22"/>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5628" name="Text Box 23"/>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25621" name="Text Box 24"/>
            <p:cNvSpPr txBox="1">
              <a:spLocks noChangeArrowheads="1"/>
            </p:cNvSpPr>
            <p:nvPr/>
          </p:nvSpPr>
          <p:spPr bwMode="auto">
            <a:xfrm>
              <a:off x="3936"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25622" name="Text Box 25"/>
            <p:cNvSpPr txBox="1">
              <a:spLocks noChangeArrowheads="1"/>
            </p:cNvSpPr>
            <p:nvPr/>
          </p:nvSpPr>
          <p:spPr bwMode="auto">
            <a:xfrm>
              <a:off x="3168"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25623" name="AutoShape 26"/>
            <p:cNvCxnSpPr>
              <a:cxnSpLocks noChangeShapeType="1"/>
              <a:stCxn id="25631" idx="7"/>
              <a:endCxn id="25631" idx="0"/>
            </p:cNvCxnSpPr>
            <p:nvPr/>
          </p:nvCxnSpPr>
          <p:spPr bwMode="auto">
            <a:xfrm rot="5400000" flipH="1">
              <a:off x="2968" y="1160"/>
              <a:ext cx="56" cy="136"/>
            </a:xfrm>
            <a:prstGeom prst="curvedConnector3">
              <a:avLst>
                <a:gd name="adj1" fmla="val 7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24" name="Text Box 27"/>
            <p:cNvSpPr txBox="1">
              <a:spLocks noChangeArrowheads="1"/>
            </p:cNvSpPr>
            <p:nvPr/>
          </p:nvSpPr>
          <p:spPr bwMode="auto">
            <a:xfrm>
              <a:off x="2736" y="91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25625" name="AutoShape 28"/>
            <p:cNvCxnSpPr>
              <a:cxnSpLocks noChangeShapeType="1"/>
              <a:stCxn id="25631" idx="3"/>
              <a:endCxn id="25631" idx="4"/>
            </p:cNvCxnSpPr>
            <p:nvPr/>
          </p:nvCxnSpPr>
          <p:spPr bwMode="auto">
            <a:xfrm rot="16200000" flipH="1">
              <a:off x="2832" y="1488"/>
              <a:ext cx="56" cy="136"/>
            </a:xfrm>
            <a:prstGeom prst="curvedConnector3">
              <a:avLst>
                <a:gd name="adj1" fmla="val 6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26" name="Text Box 29"/>
            <p:cNvSpPr txBox="1">
              <a:spLocks noChangeArrowheads="1"/>
            </p:cNvSpPr>
            <p:nvPr/>
          </p:nvSpPr>
          <p:spPr bwMode="auto">
            <a:xfrm>
              <a:off x="2880" y="168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grpSp>
      <p:sp>
        <p:nvSpPr>
          <p:cNvPr id="25608" name="Rectangle 30"/>
          <p:cNvSpPr>
            <a:spLocks noChangeArrowheads="1"/>
          </p:cNvSpPr>
          <p:nvPr/>
        </p:nvSpPr>
        <p:spPr bwMode="auto">
          <a:xfrm>
            <a:off x="273050" y="3500438"/>
            <a:ext cx="9372600"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r>
              <a:rPr lang="en-US" altLang="zh-CN" b="0">
                <a:ea typeface="宋体" panose="02010600030101010101" pitchFamily="2" charset="-122"/>
              </a:rPr>
              <a:t>The moves of string “aabb”:  </a:t>
            </a:r>
          </a:p>
        </p:txBody>
      </p:sp>
      <p:graphicFrame>
        <p:nvGraphicFramePr>
          <p:cNvPr id="516127" name="Object 31"/>
          <p:cNvGraphicFramePr>
            <a:graphicFrameLocks noChangeAspect="1"/>
          </p:cNvGraphicFramePr>
          <p:nvPr>
            <p:ph sz="half" idx="2"/>
          </p:nvPr>
        </p:nvGraphicFramePr>
        <p:xfrm>
          <a:off x="992188" y="4221163"/>
          <a:ext cx="6769100" cy="863600"/>
        </p:xfrm>
        <a:graphic>
          <a:graphicData uri="http://schemas.openxmlformats.org/presentationml/2006/ole">
            <mc:AlternateContent xmlns:mc="http://schemas.openxmlformats.org/markup-compatibility/2006">
              <mc:Choice xmlns:v="urn:schemas-microsoft-com:vml" Requires="v">
                <p:oleObj spid="_x0000_s25635" name="Visio" r:id="rId3" imgW="2875788" imgH="307238" progId="Visio.Drawing.6">
                  <p:embed/>
                </p:oleObj>
              </mc:Choice>
              <mc:Fallback>
                <p:oleObj name="Visio" r:id="rId3" imgW="2875788" imgH="307238" progId="Visio.Drawing.6">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188" y="4221163"/>
                        <a:ext cx="67691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6100"/>
                                        </p:tgtEl>
                                        <p:attrNameLst>
                                          <p:attrName>style.visibility</p:attrName>
                                        </p:attrNameLst>
                                      </p:cBhvr>
                                      <p:to>
                                        <p:strVal val="visible"/>
                                      </p:to>
                                    </p:set>
                                    <p:animEffect transition="in" filter="blinds(horizontal)">
                                      <p:cBhvr>
                                        <p:cTn id="7" dur="1000"/>
                                        <p:tgtEl>
                                          <p:spTgt spid="5161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6127"/>
                                        </p:tgtEl>
                                        <p:attrNameLst>
                                          <p:attrName>style.visibility</p:attrName>
                                        </p:attrNameLst>
                                      </p:cBhvr>
                                      <p:to>
                                        <p:strVal val="visible"/>
                                      </p:to>
                                    </p:set>
                                    <p:animEffect transition="in" filter="wipe(left)">
                                      <p:cBhvr>
                                        <p:cTn id="12" dur="2000"/>
                                        <p:tgtEl>
                                          <p:spTgt spid="516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6627"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6628"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7892E506-181D-4FE6-8C87-6DC731BA76BC}" type="slidenum">
              <a:rPr lang="zh-CN" altLang="en-US" sz="800" b="0"/>
              <a:pPr/>
              <a:t>25</a:t>
            </a:fld>
            <a:endParaRPr lang="en-US" altLang="zh-CN" sz="800" b="0"/>
          </a:p>
        </p:txBody>
      </p:sp>
      <p:sp>
        <p:nvSpPr>
          <p:cNvPr id="26629"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Representing NFAs</a:t>
            </a:r>
          </a:p>
        </p:txBody>
      </p:sp>
      <p:sp>
        <p:nvSpPr>
          <p:cNvPr id="26630" name="Text Box 3"/>
          <p:cNvSpPr txBox="1">
            <a:spLocks noChangeArrowheads="1"/>
          </p:cNvSpPr>
          <p:nvPr/>
        </p:nvSpPr>
        <p:spPr bwMode="auto">
          <a:xfrm>
            <a:off x="1733550" y="1828800"/>
            <a:ext cx="34671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rgbClr val="FF00FF"/>
                </a:solidFill>
                <a:ea typeface="宋体" panose="02010600030101010101" pitchFamily="2" charset="-122"/>
              </a:rPr>
              <a:t>Transition Diagrams</a:t>
            </a:r>
            <a:r>
              <a:rPr lang="en-US" altLang="zh-CN">
                <a:ea typeface="宋体" panose="02010600030101010101" pitchFamily="2" charset="-122"/>
              </a:rPr>
              <a:t> :</a:t>
            </a:r>
          </a:p>
          <a:p>
            <a:pPr eaLnBrk="1" hangingPunct="1">
              <a:spcBef>
                <a:spcPct val="50000"/>
              </a:spcBef>
            </a:pPr>
            <a:endParaRPr lang="en-US" altLang="zh-CN">
              <a:ea typeface="宋体" panose="02010600030101010101" pitchFamily="2" charset="-122"/>
            </a:endParaRPr>
          </a:p>
          <a:p>
            <a:pPr eaLnBrk="1" hangingPunct="1">
              <a:spcBef>
                <a:spcPct val="50000"/>
              </a:spcBef>
            </a:pPr>
            <a:endParaRPr lang="en-US" altLang="zh-CN">
              <a:ea typeface="宋体" panose="02010600030101010101" pitchFamily="2" charset="-122"/>
            </a:endParaRPr>
          </a:p>
          <a:p>
            <a:pPr eaLnBrk="1" hangingPunct="1">
              <a:spcBef>
                <a:spcPct val="50000"/>
              </a:spcBef>
            </a:pPr>
            <a:r>
              <a:rPr lang="en-US" altLang="zh-CN">
                <a:solidFill>
                  <a:srgbClr val="FF00FF"/>
                </a:solidFill>
                <a:ea typeface="宋体" panose="02010600030101010101" pitchFamily="2" charset="-122"/>
              </a:rPr>
              <a:t>Transition Tables</a:t>
            </a:r>
            <a:r>
              <a:rPr lang="en-US" altLang="zh-CN">
                <a:ea typeface="宋体" panose="02010600030101010101" pitchFamily="2" charset="-122"/>
              </a:rPr>
              <a:t>: </a:t>
            </a:r>
          </a:p>
        </p:txBody>
      </p:sp>
      <p:sp>
        <p:nvSpPr>
          <p:cNvPr id="26631" name="Text Box 4"/>
          <p:cNvSpPr txBox="1">
            <a:spLocks noChangeArrowheads="1"/>
          </p:cNvSpPr>
          <p:nvPr/>
        </p:nvSpPr>
        <p:spPr bwMode="auto">
          <a:xfrm>
            <a:off x="5613400" y="1828800"/>
            <a:ext cx="3797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Number states (circles), arcs, final states, … </a:t>
            </a:r>
          </a:p>
        </p:txBody>
      </p:sp>
      <p:sp>
        <p:nvSpPr>
          <p:cNvPr id="26632" name="Text Box 5"/>
          <p:cNvSpPr txBox="1">
            <a:spLocks noChangeArrowheads="1"/>
          </p:cNvSpPr>
          <p:nvPr/>
        </p:nvSpPr>
        <p:spPr bwMode="auto">
          <a:xfrm>
            <a:off x="5613400" y="3429000"/>
            <a:ext cx="37147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More suitable to representation within a computer</a:t>
            </a:r>
          </a:p>
        </p:txBody>
      </p:sp>
      <p:sp>
        <p:nvSpPr>
          <p:cNvPr id="26633" name="Text Box 6"/>
          <p:cNvSpPr txBox="1">
            <a:spLocks noChangeArrowheads="1"/>
          </p:cNvSpPr>
          <p:nvPr/>
        </p:nvSpPr>
        <p:spPr bwMode="auto">
          <a:xfrm>
            <a:off x="1712913" y="5300663"/>
            <a:ext cx="734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solidFill>
                  <a:srgbClr val="660066"/>
                </a:solidFill>
                <a:ea typeface="宋体" panose="02010600030101010101" pitchFamily="2" charset="-122"/>
              </a:rPr>
              <a:t>We’ll see examples of both !</a:t>
            </a:r>
          </a:p>
        </p:txBody>
      </p:sp>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765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765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0A0A37AB-B43F-4F66-879A-77CAB90E801D}" type="slidenum">
              <a:rPr lang="zh-CN" altLang="en-US" sz="800" b="0"/>
              <a:pPr/>
              <a:t>26</a:t>
            </a:fld>
            <a:endParaRPr lang="en-US" altLang="zh-CN" sz="800" b="0"/>
          </a:p>
        </p:txBody>
      </p:sp>
      <p:sp>
        <p:nvSpPr>
          <p:cNvPr id="27653"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Example NFA (P.114)</a:t>
            </a:r>
          </a:p>
        </p:txBody>
      </p:sp>
      <p:sp>
        <p:nvSpPr>
          <p:cNvPr id="27654" name="Text Box 3"/>
          <p:cNvSpPr txBox="1">
            <a:spLocks noChangeArrowheads="1"/>
          </p:cNvSpPr>
          <p:nvPr/>
        </p:nvSpPr>
        <p:spPr bwMode="auto">
          <a:xfrm>
            <a:off x="920750" y="1557338"/>
            <a:ext cx="2228850" cy="1858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ea typeface="宋体" panose="02010600030101010101" pitchFamily="2" charset="-122"/>
              </a:rPr>
              <a:t>S = { 0, 1, 2, 3 }</a:t>
            </a:r>
          </a:p>
          <a:p>
            <a:pPr eaLnBrk="1" hangingPunct="1">
              <a:lnSpc>
                <a:spcPct val="110000"/>
              </a:lnSpc>
              <a:spcBef>
                <a:spcPct val="50000"/>
              </a:spcBef>
            </a:pPr>
            <a:r>
              <a:rPr lang="en-US" altLang="zh-CN" sz="2000">
                <a:ea typeface="宋体" panose="02010600030101010101" pitchFamily="2" charset="-122"/>
              </a:rPr>
              <a:t>s</a:t>
            </a:r>
            <a:r>
              <a:rPr lang="en-US" altLang="zh-CN" sz="2000" baseline="-25000">
                <a:ea typeface="宋体" panose="02010600030101010101" pitchFamily="2" charset="-122"/>
              </a:rPr>
              <a:t>0</a:t>
            </a:r>
            <a:r>
              <a:rPr lang="en-US" altLang="zh-CN" sz="2000">
                <a:ea typeface="宋体" panose="02010600030101010101" pitchFamily="2" charset="-122"/>
              </a:rPr>
              <a:t> = 0</a:t>
            </a:r>
          </a:p>
          <a:p>
            <a:pPr eaLnBrk="1" hangingPunct="1">
              <a:lnSpc>
                <a:spcPct val="110000"/>
              </a:lnSpc>
              <a:spcBef>
                <a:spcPct val="50000"/>
              </a:spcBef>
            </a:pPr>
            <a:r>
              <a:rPr lang="en-US" altLang="zh-CN" sz="2000">
                <a:ea typeface="宋体" panose="02010600030101010101" pitchFamily="2" charset="-122"/>
              </a:rPr>
              <a:t>F = { 3 }</a:t>
            </a:r>
          </a:p>
          <a:p>
            <a:pPr eaLnBrk="1" hangingPunct="1">
              <a:lnSpc>
                <a:spcPct val="110000"/>
              </a:lnSpc>
              <a:spcBef>
                <a:spcPct val="50000"/>
              </a:spcBef>
            </a:pPr>
            <a:r>
              <a:rPr lang="en-US" altLang="zh-CN" sz="2000">
                <a:ea typeface="宋体" panose="02010600030101010101" pitchFamily="2" charset="-122"/>
                <a:sym typeface="Symbol" panose="05050102010706020507" pitchFamily="18" charset="2"/>
              </a:rPr>
              <a:t> = { a, b }</a:t>
            </a:r>
            <a:endParaRPr lang="en-US" altLang="zh-CN" sz="2000">
              <a:ea typeface="宋体" panose="02010600030101010101" pitchFamily="2" charset="-122"/>
            </a:endParaRPr>
          </a:p>
        </p:txBody>
      </p:sp>
      <p:sp>
        <p:nvSpPr>
          <p:cNvPr id="27655" name="Rectangle 4"/>
          <p:cNvSpPr>
            <a:spLocks noChangeArrowheads="1"/>
          </p:cNvSpPr>
          <p:nvPr/>
        </p:nvSpPr>
        <p:spPr bwMode="auto">
          <a:xfrm>
            <a:off x="920750" y="1557338"/>
            <a:ext cx="2228850" cy="1981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27656" name="Group 5"/>
          <p:cNvGrpSpPr>
            <a:grpSpLocks/>
          </p:cNvGrpSpPr>
          <p:nvPr/>
        </p:nvGrpSpPr>
        <p:grpSpPr bwMode="auto">
          <a:xfrm>
            <a:off x="3513138" y="1412875"/>
            <a:ext cx="5365750" cy="1585913"/>
            <a:chOff x="2304" y="912"/>
            <a:chExt cx="3120" cy="999"/>
          </a:xfrm>
        </p:grpSpPr>
        <p:grpSp>
          <p:nvGrpSpPr>
            <p:cNvPr id="27693" name="Group 6"/>
            <p:cNvGrpSpPr>
              <a:grpSpLocks/>
            </p:cNvGrpSpPr>
            <p:nvPr/>
          </p:nvGrpSpPr>
          <p:grpSpPr bwMode="auto">
            <a:xfrm>
              <a:off x="5040" y="1200"/>
              <a:ext cx="384" cy="384"/>
              <a:chOff x="2496" y="2688"/>
              <a:chExt cx="384" cy="384"/>
            </a:xfrm>
          </p:grpSpPr>
          <p:sp>
            <p:nvSpPr>
              <p:cNvPr id="27716" name="Oval 7"/>
              <p:cNvSpPr>
                <a:spLocks noChangeArrowheads="1"/>
              </p:cNvSpPr>
              <p:nvPr/>
            </p:nvSpPr>
            <p:spPr bwMode="auto">
              <a:xfrm>
                <a:off x="2496" y="2688"/>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717" name="Oval 8"/>
              <p:cNvSpPr>
                <a:spLocks noChangeArrowheads="1"/>
              </p:cNvSpPr>
              <p:nvPr/>
            </p:nvSpPr>
            <p:spPr bwMode="auto">
              <a:xfrm>
                <a:off x="2544" y="273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27694" name="Line 9"/>
            <p:cNvSpPr>
              <a:spLocks noChangeShapeType="1"/>
            </p:cNvSpPr>
            <p:nvPr/>
          </p:nvSpPr>
          <p:spPr bwMode="auto">
            <a:xfrm>
              <a:off x="4656"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5" name="Line 10"/>
            <p:cNvSpPr>
              <a:spLocks noChangeShapeType="1"/>
            </p:cNvSpPr>
            <p:nvPr/>
          </p:nvSpPr>
          <p:spPr bwMode="auto">
            <a:xfrm>
              <a:off x="3120"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6" name="Line 11"/>
            <p:cNvSpPr>
              <a:spLocks noChangeShapeType="1"/>
            </p:cNvSpPr>
            <p:nvPr/>
          </p:nvSpPr>
          <p:spPr bwMode="auto">
            <a:xfrm>
              <a:off x="2352"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7" name="Text Box 12"/>
            <p:cNvSpPr txBox="1">
              <a:spLocks noChangeArrowheads="1"/>
            </p:cNvSpPr>
            <p:nvPr/>
          </p:nvSpPr>
          <p:spPr bwMode="auto">
            <a:xfrm>
              <a:off x="2304" y="120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400">
                  <a:ea typeface="宋体" panose="02010600030101010101" pitchFamily="2" charset="-122"/>
                </a:rPr>
                <a:t>start</a:t>
              </a:r>
            </a:p>
          </p:txBody>
        </p:sp>
        <p:grpSp>
          <p:nvGrpSpPr>
            <p:cNvPr id="27698" name="Group 13"/>
            <p:cNvGrpSpPr>
              <a:grpSpLocks/>
            </p:cNvGrpSpPr>
            <p:nvPr/>
          </p:nvGrpSpPr>
          <p:grpSpPr bwMode="auto">
            <a:xfrm>
              <a:off x="2736" y="1200"/>
              <a:ext cx="384" cy="384"/>
              <a:chOff x="2736" y="1200"/>
              <a:chExt cx="384" cy="384"/>
            </a:xfrm>
          </p:grpSpPr>
          <p:sp>
            <p:nvSpPr>
              <p:cNvPr id="27714" name="Oval 14"/>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715" name="Text Box 15"/>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27699" name="Text Box 16"/>
            <p:cNvSpPr txBox="1">
              <a:spLocks noChangeArrowheads="1"/>
            </p:cNvSpPr>
            <p:nvPr/>
          </p:nvSpPr>
          <p:spPr bwMode="auto">
            <a:xfrm>
              <a:off x="5136" y="12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27700" name="Text Box 17"/>
            <p:cNvSpPr txBox="1">
              <a:spLocks noChangeArrowheads="1"/>
            </p:cNvSpPr>
            <p:nvPr/>
          </p:nvSpPr>
          <p:spPr bwMode="auto">
            <a:xfrm>
              <a:off x="4704"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27701" name="Line 18"/>
            <p:cNvSpPr>
              <a:spLocks noChangeShapeType="1"/>
            </p:cNvSpPr>
            <p:nvPr/>
          </p:nvSpPr>
          <p:spPr bwMode="auto">
            <a:xfrm>
              <a:off x="3888"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7702" name="Group 19"/>
            <p:cNvGrpSpPr>
              <a:grpSpLocks/>
            </p:cNvGrpSpPr>
            <p:nvPr/>
          </p:nvGrpSpPr>
          <p:grpSpPr bwMode="auto">
            <a:xfrm>
              <a:off x="4272" y="1200"/>
              <a:ext cx="384" cy="384"/>
              <a:chOff x="2736" y="1200"/>
              <a:chExt cx="384" cy="384"/>
            </a:xfrm>
          </p:grpSpPr>
          <p:sp>
            <p:nvSpPr>
              <p:cNvPr id="27712" name="Oval 20"/>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713" name="Text Box 21"/>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grpSp>
        <p:grpSp>
          <p:nvGrpSpPr>
            <p:cNvPr id="27703" name="Group 22"/>
            <p:cNvGrpSpPr>
              <a:grpSpLocks/>
            </p:cNvGrpSpPr>
            <p:nvPr/>
          </p:nvGrpSpPr>
          <p:grpSpPr bwMode="auto">
            <a:xfrm>
              <a:off x="3504" y="1200"/>
              <a:ext cx="384" cy="384"/>
              <a:chOff x="2736" y="1200"/>
              <a:chExt cx="384" cy="384"/>
            </a:xfrm>
          </p:grpSpPr>
          <p:sp>
            <p:nvSpPr>
              <p:cNvPr id="27710" name="Oval 23"/>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711" name="Text Box 24"/>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27704" name="Text Box 25"/>
            <p:cNvSpPr txBox="1">
              <a:spLocks noChangeArrowheads="1"/>
            </p:cNvSpPr>
            <p:nvPr/>
          </p:nvSpPr>
          <p:spPr bwMode="auto">
            <a:xfrm>
              <a:off x="3936"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27705" name="Text Box 26"/>
            <p:cNvSpPr txBox="1">
              <a:spLocks noChangeArrowheads="1"/>
            </p:cNvSpPr>
            <p:nvPr/>
          </p:nvSpPr>
          <p:spPr bwMode="auto">
            <a:xfrm>
              <a:off x="3168"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27706" name="AutoShape 27"/>
            <p:cNvCxnSpPr>
              <a:cxnSpLocks noChangeShapeType="1"/>
              <a:stCxn id="27714" idx="7"/>
              <a:endCxn id="27714" idx="0"/>
            </p:cNvCxnSpPr>
            <p:nvPr/>
          </p:nvCxnSpPr>
          <p:spPr bwMode="auto">
            <a:xfrm rot="5400000" flipH="1">
              <a:off x="2968" y="1160"/>
              <a:ext cx="56" cy="136"/>
            </a:xfrm>
            <a:prstGeom prst="curvedConnector3">
              <a:avLst>
                <a:gd name="adj1" fmla="val 7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07" name="Text Box 28"/>
            <p:cNvSpPr txBox="1">
              <a:spLocks noChangeArrowheads="1"/>
            </p:cNvSpPr>
            <p:nvPr/>
          </p:nvSpPr>
          <p:spPr bwMode="auto">
            <a:xfrm>
              <a:off x="2736" y="91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27708" name="AutoShape 29"/>
            <p:cNvCxnSpPr>
              <a:cxnSpLocks noChangeShapeType="1"/>
              <a:stCxn id="27714" idx="3"/>
              <a:endCxn id="27714" idx="4"/>
            </p:cNvCxnSpPr>
            <p:nvPr/>
          </p:nvCxnSpPr>
          <p:spPr bwMode="auto">
            <a:xfrm rot="16200000" flipH="1">
              <a:off x="2832" y="1488"/>
              <a:ext cx="56" cy="136"/>
            </a:xfrm>
            <a:prstGeom prst="curvedConnector3">
              <a:avLst>
                <a:gd name="adj1" fmla="val 6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09" name="Text Box 30"/>
            <p:cNvSpPr txBox="1">
              <a:spLocks noChangeArrowheads="1"/>
            </p:cNvSpPr>
            <p:nvPr/>
          </p:nvSpPr>
          <p:spPr bwMode="auto">
            <a:xfrm>
              <a:off x="2880" y="168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grpSp>
      <p:sp>
        <p:nvSpPr>
          <p:cNvPr id="27657" name="Text Box 31"/>
          <p:cNvSpPr txBox="1">
            <a:spLocks noChangeArrowheads="1"/>
          </p:cNvSpPr>
          <p:nvPr/>
        </p:nvSpPr>
        <p:spPr bwMode="auto">
          <a:xfrm>
            <a:off x="4540250" y="3048000"/>
            <a:ext cx="5118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800">
                <a:solidFill>
                  <a:srgbClr val="FF3300"/>
                </a:solidFill>
                <a:ea typeface="宋体" panose="02010600030101010101" pitchFamily="2" charset="-122"/>
              </a:rPr>
              <a:t>What Language is defined ?</a:t>
            </a:r>
          </a:p>
        </p:txBody>
      </p:sp>
      <p:sp>
        <p:nvSpPr>
          <p:cNvPr id="27658" name="Text Box 32"/>
          <p:cNvSpPr txBox="1">
            <a:spLocks noChangeArrowheads="1"/>
          </p:cNvSpPr>
          <p:nvPr/>
        </p:nvSpPr>
        <p:spPr bwMode="auto">
          <a:xfrm>
            <a:off x="1733550" y="3810000"/>
            <a:ext cx="7759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800">
                <a:solidFill>
                  <a:srgbClr val="FF3300"/>
                </a:solidFill>
                <a:ea typeface="宋体" panose="02010600030101010101" pitchFamily="2" charset="-122"/>
              </a:rPr>
              <a:t>What is the Transition Table ?</a:t>
            </a:r>
          </a:p>
        </p:txBody>
      </p:sp>
      <p:sp>
        <p:nvSpPr>
          <p:cNvPr id="429089" name="Line 33"/>
          <p:cNvSpPr>
            <a:spLocks noChangeShapeType="1"/>
          </p:cNvSpPr>
          <p:nvPr/>
        </p:nvSpPr>
        <p:spPr bwMode="auto">
          <a:xfrm>
            <a:off x="3054350" y="5029200"/>
            <a:ext cx="2559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0" name="Line 34"/>
          <p:cNvSpPr>
            <a:spLocks noChangeShapeType="1"/>
          </p:cNvSpPr>
          <p:nvPr/>
        </p:nvSpPr>
        <p:spPr bwMode="auto">
          <a:xfrm>
            <a:off x="3054350" y="6096000"/>
            <a:ext cx="2559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1" name="Line 35"/>
          <p:cNvSpPr>
            <a:spLocks noChangeShapeType="1"/>
          </p:cNvSpPr>
          <p:nvPr/>
        </p:nvSpPr>
        <p:spPr bwMode="auto">
          <a:xfrm>
            <a:off x="3054350" y="5562600"/>
            <a:ext cx="255905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2" name="Line 36"/>
          <p:cNvSpPr>
            <a:spLocks noChangeShapeType="1"/>
          </p:cNvSpPr>
          <p:nvPr/>
        </p:nvSpPr>
        <p:spPr bwMode="auto">
          <a:xfrm flipV="1">
            <a:off x="4622800" y="4800600"/>
            <a:ext cx="0" cy="1676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3" name="Line 37"/>
          <p:cNvSpPr>
            <a:spLocks noChangeShapeType="1"/>
          </p:cNvSpPr>
          <p:nvPr/>
        </p:nvSpPr>
        <p:spPr bwMode="auto">
          <a:xfrm flipV="1">
            <a:off x="3632200" y="4800600"/>
            <a:ext cx="0" cy="1676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9094" name="Text Box 38"/>
          <p:cNvSpPr txBox="1">
            <a:spLocks noChangeArrowheads="1"/>
          </p:cNvSpPr>
          <p:nvPr/>
        </p:nvSpPr>
        <p:spPr bwMode="auto">
          <a:xfrm>
            <a:off x="2825750" y="4687888"/>
            <a:ext cx="974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state</a:t>
            </a:r>
          </a:p>
        </p:txBody>
      </p:sp>
      <p:sp>
        <p:nvSpPr>
          <p:cNvPr id="429095" name="Text Box 39"/>
          <p:cNvSpPr txBox="1">
            <a:spLocks noChangeArrowheads="1"/>
          </p:cNvSpPr>
          <p:nvPr/>
        </p:nvSpPr>
        <p:spPr bwMode="auto">
          <a:xfrm>
            <a:off x="3632200" y="4343400"/>
            <a:ext cx="1816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i n p u t</a:t>
            </a:r>
          </a:p>
        </p:txBody>
      </p:sp>
      <p:sp>
        <p:nvSpPr>
          <p:cNvPr id="429096" name="Text Box 40"/>
          <p:cNvSpPr txBox="1">
            <a:spLocks noChangeArrowheads="1"/>
          </p:cNvSpPr>
          <p:nvPr/>
        </p:nvSpPr>
        <p:spPr bwMode="auto">
          <a:xfrm>
            <a:off x="3136900" y="51054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sp>
        <p:nvSpPr>
          <p:cNvPr id="429097" name="Text Box 41"/>
          <p:cNvSpPr txBox="1">
            <a:spLocks noChangeArrowheads="1"/>
          </p:cNvSpPr>
          <p:nvPr/>
        </p:nvSpPr>
        <p:spPr bwMode="auto">
          <a:xfrm>
            <a:off x="3136900" y="55626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sp>
        <p:nvSpPr>
          <p:cNvPr id="429098" name="Text Box 42"/>
          <p:cNvSpPr txBox="1">
            <a:spLocks noChangeArrowheads="1"/>
          </p:cNvSpPr>
          <p:nvPr/>
        </p:nvSpPr>
        <p:spPr bwMode="auto">
          <a:xfrm>
            <a:off x="3136900" y="60960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sp>
        <p:nvSpPr>
          <p:cNvPr id="429099" name="Text Box 43"/>
          <p:cNvSpPr txBox="1">
            <a:spLocks noChangeArrowheads="1"/>
          </p:cNvSpPr>
          <p:nvPr/>
        </p:nvSpPr>
        <p:spPr bwMode="auto">
          <a:xfrm>
            <a:off x="3962400" y="47244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429100" name="Text Box 44"/>
          <p:cNvSpPr txBox="1">
            <a:spLocks noChangeArrowheads="1"/>
          </p:cNvSpPr>
          <p:nvPr/>
        </p:nvSpPr>
        <p:spPr bwMode="auto">
          <a:xfrm>
            <a:off x="4870450" y="47244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429101" name="Text Box 45"/>
          <p:cNvSpPr txBox="1">
            <a:spLocks noChangeArrowheads="1"/>
          </p:cNvSpPr>
          <p:nvPr/>
        </p:nvSpPr>
        <p:spPr bwMode="auto">
          <a:xfrm>
            <a:off x="3632200" y="51054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 0, 1 }</a:t>
            </a:r>
          </a:p>
        </p:txBody>
      </p:sp>
      <p:sp>
        <p:nvSpPr>
          <p:cNvPr id="429102" name="Text Box 46"/>
          <p:cNvSpPr txBox="1">
            <a:spLocks noChangeArrowheads="1"/>
          </p:cNvSpPr>
          <p:nvPr/>
        </p:nvSpPr>
        <p:spPr bwMode="auto">
          <a:xfrm>
            <a:off x="3632200" y="56388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t>
            </a:r>
          </a:p>
        </p:txBody>
      </p:sp>
      <p:sp>
        <p:nvSpPr>
          <p:cNvPr id="429103" name="Text Box 47"/>
          <p:cNvSpPr txBox="1">
            <a:spLocks noChangeArrowheads="1"/>
          </p:cNvSpPr>
          <p:nvPr/>
        </p:nvSpPr>
        <p:spPr bwMode="auto">
          <a:xfrm>
            <a:off x="4622800" y="56388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 2 }</a:t>
            </a:r>
          </a:p>
        </p:txBody>
      </p:sp>
      <p:sp>
        <p:nvSpPr>
          <p:cNvPr id="429104" name="Text Box 48"/>
          <p:cNvSpPr txBox="1">
            <a:spLocks noChangeArrowheads="1"/>
          </p:cNvSpPr>
          <p:nvPr/>
        </p:nvSpPr>
        <p:spPr bwMode="auto">
          <a:xfrm>
            <a:off x="3632200" y="61722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t>
            </a:r>
          </a:p>
        </p:txBody>
      </p:sp>
      <p:sp>
        <p:nvSpPr>
          <p:cNvPr id="429105" name="Text Box 49"/>
          <p:cNvSpPr txBox="1">
            <a:spLocks noChangeArrowheads="1"/>
          </p:cNvSpPr>
          <p:nvPr/>
        </p:nvSpPr>
        <p:spPr bwMode="auto">
          <a:xfrm>
            <a:off x="4622800" y="61722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 3 }</a:t>
            </a:r>
          </a:p>
        </p:txBody>
      </p:sp>
      <p:sp>
        <p:nvSpPr>
          <p:cNvPr id="429106" name="Text Box 50"/>
          <p:cNvSpPr txBox="1">
            <a:spLocks noChangeArrowheads="1"/>
          </p:cNvSpPr>
          <p:nvPr/>
        </p:nvSpPr>
        <p:spPr bwMode="auto">
          <a:xfrm>
            <a:off x="4622800" y="5105400"/>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 0 }</a:t>
            </a:r>
          </a:p>
        </p:txBody>
      </p:sp>
      <p:grpSp>
        <p:nvGrpSpPr>
          <p:cNvPr id="429107" name="Group 51"/>
          <p:cNvGrpSpPr>
            <a:grpSpLocks/>
          </p:cNvGrpSpPr>
          <p:nvPr/>
        </p:nvGrpSpPr>
        <p:grpSpPr bwMode="auto">
          <a:xfrm>
            <a:off x="6604000" y="4572000"/>
            <a:ext cx="3136900" cy="1920875"/>
            <a:chOff x="3840" y="2976"/>
            <a:chExt cx="1824" cy="1210"/>
          </a:xfrm>
        </p:grpSpPr>
        <p:sp>
          <p:nvSpPr>
            <p:cNvPr id="27682" name="Text Box 52"/>
            <p:cNvSpPr txBox="1">
              <a:spLocks noChangeArrowheads="1"/>
            </p:cNvSpPr>
            <p:nvPr/>
          </p:nvSpPr>
          <p:spPr bwMode="auto">
            <a:xfrm>
              <a:off x="3840" y="2976"/>
              <a:ext cx="1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solidFill>
                    <a:schemeClr val="accent2"/>
                  </a:solidFill>
                  <a:ea typeface="宋体" panose="02010600030101010101" pitchFamily="2" charset="-122"/>
                  <a:sym typeface="Symbol" panose="05050102010706020507" pitchFamily="18" charset="2"/>
                </a:rPr>
                <a:t> </a:t>
              </a:r>
              <a:r>
                <a:rPr lang="en-US" altLang="zh-CN" sz="2000">
                  <a:solidFill>
                    <a:schemeClr val="accent2"/>
                  </a:solidFill>
                  <a:ea typeface="宋体" panose="02010600030101010101" pitchFamily="2" charset="-122"/>
                  <a:sym typeface="Symbol" panose="05050102010706020507" pitchFamily="18" charset="2"/>
                </a:rPr>
                <a:t>(null) moves possible</a:t>
              </a:r>
              <a:endParaRPr lang="en-US" altLang="zh-CN" sz="2000">
                <a:solidFill>
                  <a:schemeClr val="accent2"/>
                </a:solidFill>
                <a:ea typeface="宋体" panose="02010600030101010101" pitchFamily="2" charset="-122"/>
              </a:endParaRPr>
            </a:p>
          </p:txBody>
        </p:sp>
        <p:grpSp>
          <p:nvGrpSpPr>
            <p:cNvPr id="27683" name="Group 53"/>
            <p:cNvGrpSpPr>
              <a:grpSpLocks/>
            </p:cNvGrpSpPr>
            <p:nvPr/>
          </p:nvGrpSpPr>
          <p:grpSpPr bwMode="auto">
            <a:xfrm>
              <a:off x="4080" y="3264"/>
              <a:ext cx="1152" cy="384"/>
              <a:chOff x="3504" y="1200"/>
              <a:chExt cx="1152" cy="384"/>
            </a:xfrm>
          </p:grpSpPr>
          <p:sp>
            <p:nvSpPr>
              <p:cNvPr id="27685" name="Line 54"/>
              <p:cNvSpPr>
                <a:spLocks noChangeShapeType="1"/>
              </p:cNvSpPr>
              <p:nvPr/>
            </p:nvSpPr>
            <p:spPr bwMode="auto">
              <a:xfrm>
                <a:off x="3888"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7686" name="Group 55"/>
              <p:cNvGrpSpPr>
                <a:grpSpLocks/>
              </p:cNvGrpSpPr>
              <p:nvPr/>
            </p:nvGrpSpPr>
            <p:grpSpPr bwMode="auto">
              <a:xfrm>
                <a:off x="4272" y="1200"/>
                <a:ext cx="384" cy="384"/>
                <a:chOff x="2736" y="1200"/>
                <a:chExt cx="384" cy="384"/>
              </a:xfrm>
            </p:grpSpPr>
            <p:sp>
              <p:nvSpPr>
                <p:cNvPr id="27691" name="Oval 56"/>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692" name="Text Box 57"/>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j</a:t>
                  </a:r>
                </a:p>
              </p:txBody>
            </p:sp>
          </p:grpSp>
          <p:grpSp>
            <p:nvGrpSpPr>
              <p:cNvPr id="27687" name="Group 58"/>
              <p:cNvGrpSpPr>
                <a:grpSpLocks/>
              </p:cNvGrpSpPr>
              <p:nvPr/>
            </p:nvGrpSpPr>
            <p:grpSpPr bwMode="auto">
              <a:xfrm>
                <a:off x="3504" y="1200"/>
                <a:ext cx="384" cy="384"/>
                <a:chOff x="2736" y="1200"/>
                <a:chExt cx="384" cy="384"/>
              </a:xfrm>
            </p:grpSpPr>
            <p:sp>
              <p:nvSpPr>
                <p:cNvPr id="27689" name="Oval 59"/>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690" name="Text Box 60"/>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i</a:t>
                  </a:r>
                </a:p>
              </p:txBody>
            </p:sp>
          </p:grpSp>
          <p:sp>
            <p:nvSpPr>
              <p:cNvPr id="27688" name="Text Box 61"/>
              <p:cNvSpPr txBox="1">
                <a:spLocks noChangeArrowheads="1"/>
              </p:cNvSpPr>
              <p:nvPr/>
            </p:nvSpPr>
            <p:spPr bwMode="auto">
              <a:xfrm>
                <a:off x="3936"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grpSp>
        <p:sp>
          <p:nvSpPr>
            <p:cNvPr id="27684" name="Text Box 62"/>
            <p:cNvSpPr txBox="1">
              <a:spLocks noChangeArrowheads="1"/>
            </p:cNvSpPr>
            <p:nvPr/>
          </p:nvSpPr>
          <p:spPr bwMode="auto">
            <a:xfrm>
              <a:off x="3840" y="3744"/>
              <a:ext cx="182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solidFill>
                    <a:schemeClr val="accent2"/>
                  </a:solidFill>
                  <a:ea typeface="宋体" panose="02010600030101010101" pitchFamily="2" charset="-122"/>
                </a:rPr>
                <a:t>Switch state but do not use any input symbol</a:t>
              </a:r>
            </a:p>
          </p:txBody>
        </p:sp>
      </p:grpSp>
      <p:sp>
        <p:nvSpPr>
          <p:cNvPr id="429119" name="Rectangle 63"/>
          <p:cNvSpPr>
            <a:spLocks noChangeArrowheads="1"/>
          </p:cNvSpPr>
          <p:nvPr/>
        </p:nvSpPr>
        <p:spPr bwMode="auto">
          <a:xfrm>
            <a:off x="6273800" y="4495800"/>
            <a:ext cx="3467100" cy="19812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7679" name="Text Box 64"/>
          <p:cNvSpPr txBox="1">
            <a:spLocks noChangeArrowheads="1"/>
          </p:cNvSpPr>
          <p:nvPr/>
        </p:nvSpPr>
        <p:spPr bwMode="auto">
          <a:xfrm>
            <a:off x="920750" y="3573463"/>
            <a:ext cx="25923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sz="2000" b="0">
                <a:ea typeface="宋体" panose="02010600030101010101" pitchFamily="2" charset="-122"/>
              </a:rPr>
              <a:t>Fig.3.19. Transition graph of the NFA</a:t>
            </a:r>
          </a:p>
        </p:txBody>
      </p:sp>
      <p:sp>
        <p:nvSpPr>
          <p:cNvPr id="27680" name="Text Box 65"/>
          <p:cNvSpPr txBox="1">
            <a:spLocks noChangeArrowheads="1"/>
          </p:cNvSpPr>
          <p:nvPr/>
        </p:nvSpPr>
        <p:spPr bwMode="auto">
          <a:xfrm>
            <a:off x="128588" y="4941888"/>
            <a:ext cx="2360612"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sz="2000" b="0">
                <a:ea typeface="宋体" panose="02010600030101010101" pitchFamily="2" charset="-122"/>
              </a:rPr>
              <a:t>Fig.3.20. Transition table for the finite automaton of Fig.3.19.</a:t>
            </a:r>
          </a:p>
        </p:txBody>
      </p:sp>
      <p:sp>
        <p:nvSpPr>
          <p:cNvPr id="27681" name="Rectangle 66"/>
          <p:cNvSpPr>
            <a:spLocks noChangeArrowheads="1"/>
          </p:cNvSpPr>
          <p:nvPr/>
        </p:nvSpPr>
        <p:spPr bwMode="auto">
          <a:xfrm>
            <a:off x="7400925" y="1052513"/>
            <a:ext cx="1420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a:solidFill>
                  <a:schemeClr val="accent2"/>
                </a:solidFill>
                <a:ea typeface="宋体" panose="02010600030101010101" pitchFamily="2" charset="-122"/>
              </a:rPr>
              <a:t>(a|b)*abb</a:t>
            </a:r>
            <a:endParaRPr lang="zh-CN" altLang="en-US">
              <a:solidFill>
                <a:schemeClr val="accent2"/>
              </a:solidFill>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29089"/>
                                        </p:tgtEl>
                                        <p:attrNameLst>
                                          <p:attrName>style.visibility</p:attrName>
                                        </p:attrNameLst>
                                      </p:cBhvr>
                                      <p:to>
                                        <p:strVal val="visible"/>
                                      </p:to>
                                    </p:set>
                                    <p:anim calcmode="lin" valueType="num">
                                      <p:cBhvr additive="base">
                                        <p:cTn id="7" dur="1000" fill="hold"/>
                                        <p:tgtEl>
                                          <p:spTgt spid="429089"/>
                                        </p:tgtEl>
                                        <p:attrNameLst>
                                          <p:attrName>ppt_x</p:attrName>
                                        </p:attrNameLst>
                                      </p:cBhvr>
                                      <p:tavLst>
                                        <p:tav tm="0">
                                          <p:val>
                                            <p:strVal val="#ppt_x"/>
                                          </p:val>
                                        </p:tav>
                                        <p:tav tm="100000">
                                          <p:val>
                                            <p:strVal val="#ppt_x"/>
                                          </p:val>
                                        </p:tav>
                                      </p:tavLst>
                                    </p:anim>
                                    <p:anim calcmode="lin" valueType="num">
                                      <p:cBhvr additive="base">
                                        <p:cTn id="8" dur="1000" fill="hold"/>
                                        <p:tgtEl>
                                          <p:spTgt spid="42908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9090"/>
                                        </p:tgtEl>
                                        <p:attrNameLst>
                                          <p:attrName>style.visibility</p:attrName>
                                        </p:attrNameLst>
                                      </p:cBhvr>
                                      <p:to>
                                        <p:strVal val="visible"/>
                                      </p:to>
                                    </p:set>
                                    <p:anim calcmode="lin" valueType="num">
                                      <p:cBhvr additive="base">
                                        <p:cTn id="11" dur="1000" fill="hold"/>
                                        <p:tgtEl>
                                          <p:spTgt spid="429090"/>
                                        </p:tgtEl>
                                        <p:attrNameLst>
                                          <p:attrName>ppt_x</p:attrName>
                                        </p:attrNameLst>
                                      </p:cBhvr>
                                      <p:tavLst>
                                        <p:tav tm="0">
                                          <p:val>
                                            <p:strVal val="#ppt_x"/>
                                          </p:val>
                                        </p:tav>
                                        <p:tav tm="100000">
                                          <p:val>
                                            <p:strVal val="#ppt_x"/>
                                          </p:val>
                                        </p:tav>
                                      </p:tavLst>
                                    </p:anim>
                                    <p:anim calcmode="lin" valueType="num">
                                      <p:cBhvr additive="base">
                                        <p:cTn id="12" dur="1000" fill="hold"/>
                                        <p:tgtEl>
                                          <p:spTgt spid="42909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29091"/>
                                        </p:tgtEl>
                                        <p:attrNameLst>
                                          <p:attrName>style.visibility</p:attrName>
                                        </p:attrNameLst>
                                      </p:cBhvr>
                                      <p:to>
                                        <p:strVal val="visible"/>
                                      </p:to>
                                    </p:set>
                                    <p:anim calcmode="lin" valueType="num">
                                      <p:cBhvr additive="base">
                                        <p:cTn id="15" dur="1000" fill="hold"/>
                                        <p:tgtEl>
                                          <p:spTgt spid="429091"/>
                                        </p:tgtEl>
                                        <p:attrNameLst>
                                          <p:attrName>ppt_x</p:attrName>
                                        </p:attrNameLst>
                                      </p:cBhvr>
                                      <p:tavLst>
                                        <p:tav tm="0">
                                          <p:val>
                                            <p:strVal val="#ppt_x"/>
                                          </p:val>
                                        </p:tav>
                                        <p:tav tm="100000">
                                          <p:val>
                                            <p:strVal val="#ppt_x"/>
                                          </p:val>
                                        </p:tav>
                                      </p:tavLst>
                                    </p:anim>
                                    <p:anim calcmode="lin" valueType="num">
                                      <p:cBhvr additive="base">
                                        <p:cTn id="16" dur="1000" fill="hold"/>
                                        <p:tgtEl>
                                          <p:spTgt spid="42909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29092"/>
                                        </p:tgtEl>
                                        <p:attrNameLst>
                                          <p:attrName>style.visibility</p:attrName>
                                        </p:attrNameLst>
                                      </p:cBhvr>
                                      <p:to>
                                        <p:strVal val="visible"/>
                                      </p:to>
                                    </p:set>
                                    <p:anim calcmode="lin" valueType="num">
                                      <p:cBhvr additive="base">
                                        <p:cTn id="19" dur="1000" fill="hold"/>
                                        <p:tgtEl>
                                          <p:spTgt spid="429092"/>
                                        </p:tgtEl>
                                        <p:attrNameLst>
                                          <p:attrName>ppt_x</p:attrName>
                                        </p:attrNameLst>
                                      </p:cBhvr>
                                      <p:tavLst>
                                        <p:tav tm="0">
                                          <p:val>
                                            <p:strVal val="#ppt_x"/>
                                          </p:val>
                                        </p:tav>
                                        <p:tav tm="100000">
                                          <p:val>
                                            <p:strVal val="#ppt_x"/>
                                          </p:val>
                                        </p:tav>
                                      </p:tavLst>
                                    </p:anim>
                                    <p:anim calcmode="lin" valueType="num">
                                      <p:cBhvr additive="base">
                                        <p:cTn id="20" dur="1000" fill="hold"/>
                                        <p:tgtEl>
                                          <p:spTgt spid="42909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29093"/>
                                        </p:tgtEl>
                                        <p:attrNameLst>
                                          <p:attrName>style.visibility</p:attrName>
                                        </p:attrNameLst>
                                      </p:cBhvr>
                                      <p:to>
                                        <p:strVal val="visible"/>
                                      </p:to>
                                    </p:set>
                                    <p:anim calcmode="lin" valueType="num">
                                      <p:cBhvr additive="base">
                                        <p:cTn id="23" dur="1000" fill="hold"/>
                                        <p:tgtEl>
                                          <p:spTgt spid="429093"/>
                                        </p:tgtEl>
                                        <p:attrNameLst>
                                          <p:attrName>ppt_x</p:attrName>
                                        </p:attrNameLst>
                                      </p:cBhvr>
                                      <p:tavLst>
                                        <p:tav tm="0">
                                          <p:val>
                                            <p:strVal val="#ppt_x"/>
                                          </p:val>
                                        </p:tav>
                                        <p:tav tm="100000">
                                          <p:val>
                                            <p:strVal val="#ppt_x"/>
                                          </p:val>
                                        </p:tav>
                                      </p:tavLst>
                                    </p:anim>
                                    <p:anim calcmode="lin" valueType="num">
                                      <p:cBhvr additive="base">
                                        <p:cTn id="24" dur="1000" fill="hold"/>
                                        <p:tgtEl>
                                          <p:spTgt spid="42909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29094"/>
                                        </p:tgtEl>
                                        <p:attrNameLst>
                                          <p:attrName>style.visibility</p:attrName>
                                        </p:attrNameLst>
                                      </p:cBhvr>
                                      <p:to>
                                        <p:strVal val="visible"/>
                                      </p:to>
                                    </p:set>
                                    <p:anim calcmode="lin" valueType="num">
                                      <p:cBhvr additive="base">
                                        <p:cTn id="27" dur="1000" fill="hold"/>
                                        <p:tgtEl>
                                          <p:spTgt spid="429094"/>
                                        </p:tgtEl>
                                        <p:attrNameLst>
                                          <p:attrName>ppt_x</p:attrName>
                                        </p:attrNameLst>
                                      </p:cBhvr>
                                      <p:tavLst>
                                        <p:tav tm="0">
                                          <p:val>
                                            <p:strVal val="#ppt_x"/>
                                          </p:val>
                                        </p:tav>
                                        <p:tav tm="100000">
                                          <p:val>
                                            <p:strVal val="#ppt_x"/>
                                          </p:val>
                                        </p:tav>
                                      </p:tavLst>
                                    </p:anim>
                                    <p:anim calcmode="lin" valueType="num">
                                      <p:cBhvr additive="base">
                                        <p:cTn id="28" dur="1000" fill="hold"/>
                                        <p:tgtEl>
                                          <p:spTgt spid="42909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29095"/>
                                        </p:tgtEl>
                                        <p:attrNameLst>
                                          <p:attrName>style.visibility</p:attrName>
                                        </p:attrNameLst>
                                      </p:cBhvr>
                                      <p:to>
                                        <p:strVal val="visible"/>
                                      </p:to>
                                    </p:set>
                                    <p:anim calcmode="lin" valueType="num">
                                      <p:cBhvr additive="base">
                                        <p:cTn id="31" dur="1000" fill="hold"/>
                                        <p:tgtEl>
                                          <p:spTgt spid="429095"/>
                                        </p:tgtEl>
                                        <p:attrNameLst>
                                          <p:attrName>ppt_x</p:attrName>
                                        </p:attrNameLst>
                                      </p:cBhvr>
                                      <p:tavLst>
                                        <p:tav tm="0">
                                          <p:val>
                                            <p:strVal val="#ppt_x"/>
                                          </p:val>
                                        </p:tav>
                                        <p:tav tm="100000">
                                          <p:val>
                                            <p:strVal val="#ppt_x"/>
                                          </p:val>
                                        </p:tav>
                                      </p:tavLst>
                                    </p:anim>
                                    <p:anim calcmode="lin" valueType="num">
                                      <p:cBhvr additive="base">
                                        <p:cTn id="32" dur="1000" fill="hold"/>
                                        <p:tgtEl>
                                          <p:spTgt spid="42909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29096"/>
                                        </p:tgtEl>
                                        <p:attrNameLst>
                                          <p:attrName>style.visibility</p:attrName>
                                        </p:attrNameLst>
                                      </p:cBhvr>
                                      <p:to>
                                        <p:strVal val="visible"/>
                                      </p:to>
                                    </p:set>
                                    <p:anim calcmode="lin" valueType="num">
                                      <p:cBhvr additive="base">
                                        <p:cTn id="35" dur="1000" fill="hold"/>
                                        <p:tgtEl>
                                          <p:spTgt spid="429096"/>
                                        </p:tgtEl>
                                        <p:attrNameLst>
                                          <p:attrName>ppt_x</p:attrName>
                                        </p:attrNameLst>
                                      </p:cBhvr>
                                      <p:tavLst>
                                        <p:tav tm="0">
                                          <p:val>
                                            <p:strVal val="#ppt_x"/>
                                          </p:val>
                                        </p:tav>
                                        <p:tav tm="100000">
                                          <p:val>
                                            <p:strVal val="#ppt_x"/>
                                          </p:val>
                                        </p:tav>
                                      </p:tavLst>
                                    </p:anim>
                                    <p:anim calcmode="lin" valueType="num">
                                      <p:cBhvr additive="base">
                                        <p:cTn id="36" dur="1000" fill="hold"/>
                                        <p:tgtEl>
                                          <p:spTgt spid="42909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29097"/>
                                        </p:tgtEl>
                                        <p:attrNameLst>
                                          <p:attrName>style.visibility</p:attrName>
                                        </p:attrNameLst>
                                      </p:cBhvr>
                                      <p:to>
                                        <p:strVal val="visible"/>
                                      </p:to>
                                    </p:set>
                                    <p:anim calcmode="lin" valueType="num">
                                      <p:cBhvr additive="base">
                                        <p:cTn id="39" dur="1000" fill="hold"/>
                                        <p:tgtEl>
                                          <p:spTgt spid="429097"/>
                                        </p:tgtEl>
                                        <p:attrNameLst>
                                          <p:attrName>ppt_x</p:attrName>
                                        </p:attrNameLst>
                                      </p:cBhvr>
                                      <p:tavLst>
                                        <p:tav tm="0">
                                          <p:val>
                                            <p:strVal val="#ppt_x"/>
                                          </p:val>
                                        </p:tav>
                                        <p:tav tm="100000">
                                          <p:val>
                                            <p:strVal val="#ppt_x"/>
                                          </p:val>
                                        </p:tav>
                                      </p:tavLst>
                                    </p:anim>
                                    <p:anim calcmode="lin" valueType="num">
                                      <p:cBhvr additive="base">
                                        <p:cTn id="40" dur="1000" fill="hold"/>
                                        <p:tgtEl>
                                          <p:spTgt spid="42909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29098"/>
                                        </p:tgtEl>
                                        <p:attrNameLst>
                                          <p:attrName>style.visibility</p:attrName>
                                        </p:attrNameLst>
                                      </p:cBhvr>
                                      <p:to>
                                        <p:strVal val="visible"/>
                                      </p:to>
                                    </p:set>
                                    <p:anim calcmode="lin" valueType="num">
                                      <p:cBhvr additive="base">
                                        <p:cTn id="43" dur="1000" fill="hold"/>
                                        <p:tgtEl>
                                          <p:spTgt spid="429098"/>
                                        </p:tgtEl>
                                        <p:attrNameLst>
                                          <p:attrName>ppt_x</p:attrName>
                                        </p:attrNameLst>
                                      </p:cBhvr>
                                      <p:tavLst>
                                        <p:tav tm="0">
                                          <p:val>
                                            <p:strVal val="#ppt_x"/>
                                          </p:val>
                                        </p:tav>
                                        <p:tav tm="100000">
                                          <p:val>
                                            <p:strVal val="#ppt_x"/>
                                          </p:val>
                                        </p:tav>
                                      </p:tavLst>
                                    </p:anim>
                                    <p:anim calcmode="lin" valueType="num">
                                      <p:cBhvr additive="base">
                                        <p:cTn id="44" dur="1000" fill="hold"/>
                                        <p:tgtEl>
                                          <p:spTgt spid="42909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29099"/>
                                        </p:tgtEl>
                                        <p:attrNameLst>
                                          <p:attrName>style.visibility</p:attrName>
                                        </p:attrNameLst>
                                      </p:cBhvr>
                                      <p:to>
                                        <p:strVal val="visible"/>
                                      </p:to>
                                    </p:set>
                                    <p:anim calcmode="lin" valueType="num">
                                      <p:cBhvr additive="base">
                                        <p:cTn id="47" dur="1000" fill="hold"/>
                                        <p:tgtEl>
                                          <p:spTgt spid="429099"/>
                                        </p:tgtEl>
                                        <p:attrNameLst>
                                          <p:attrName>ppt_x</p:attrName>
                                        </p:attrNameLst>
                                      </p:cBhvr>
                                      <p:tavLst>
                                        <p:tav tm="0">
                                          <p:val>
                                            <p:strVal val="#ppt_x"/>
                                          </p:val>
                                        </p:tav>
                                        <p:tav tm="100000">
                                          <p:val>
                                            <p:strVal val="#ppt_x"/>
                                          </p:val>
                                        </p:tav>
                                      </p:tavLst>
                                    </p:anim>
                                    <p:anim calcmode="lin" valueType="num">
                                      <p:cBhvr additive="base">
                                        <p:cTn id="48" dur="1000" fill="hold"/>
                                        <p:tgtEl>
                                          <p:spTgt spid="42909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29100"/>
                                        </p:tgtEl>
                                        <p:attrNameLst>
                                          <p:attrName>style.visibility</p:attrName>
                                        </p:attrNameLst>
                                      </p:cBhvr>
                                      <p:to>
                                        <p:strVal val="visible"/>
                                      </p:to>
                                    </p:set>
                                    <p:anim calcmode="lin" valueType="num">
                                      <p:cBhvr additive="base">
                                        <p:cTn id="51" dur="1000" fill="hold"/>
                                        <p:tgtEl>
                                          <p:spTgt spid="429100"/>
                                        </p:tgtEl>
                                        <p:attrNameLst>
                                          <p:attrName>ppt_x</p:attrName>
                                        </p:attrNameLst>
                                      </p:cBhvr>
                                      <p:tavLst>
                                        <p:tav tm="0">
                                          <p:val>
                                            <p:strVal val="#ppt_x"/>
                                          </p:val>
                                        </p:tav>
                                        <p:tav tm="100000">
                                          <p:val>
                                            <p:strVal val="#ppt_x"/>
                                          </p:val>
                                        </p:tav>
                                      </p:tavLst>
                                    </p:anim>
                                    <p:anim calcmode="lin" valueType="num">
                                      <p:cBhvr additive="base">
                                        <p:cTn id="52" dur="1000" fill="hold"/>
                                        <p:tgtEl>
                                          <p:spTgt spid="42910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29101"/>
                                        </p:tgtEl>
                                        <p:attrNameLst>
                                          <p:attrName>style.visibility</p:attrName>
                                        </p:attrNameLst>
                                      </p:cBhvr>
                                      <p:to>
                                        <p:strVal val="visible"/>
                                      </p:to>
                                    </p:set>
                                    <p:anim calcmode="lin" valueType="num">
                                      <p:cBhvr additive="base">
                                        <p:cTn id="55" dur="1000" fill="hold"/>
                                        <p:tgtEl>
                                          <p:spTgt spid="429101"/>
                                        </p:tgtEl>
                                        <p:attrNameLst>
                                          <p:attrName>ppt_x</p:attrName>
                                        </p:attrNameLst>
                                      </p:cBhvr>
                                      <p:tavLst>
                                        <p:tav tm="0">
                                          <p:val>
                                            <p:strVal val="#ppt_x"/>
                                          </p:val>
                                        </p:tav>
                                        <p:tav tm="100000">
                                          <p:val>
                                            <p:strVal val="#ppt_x"/>
                                          </p:val>
                                        </p:tav>
                                      </p:tavLst>
                                    </p:anim>
                                    <p:anim calcmode="lin" valueType="num">
                                      <p:cBhvr additive="base">
                                        <p:cTn id="56" dur="1000" fill="hold"/>
                                        <p:tgtEl>
                                          <p:spTgt spid="42910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29102"/>
                                        </p:tgtEl>
                                        <p:attrNameLst>
                                          <p:attrName>style.visibility</p:attrName>
                                        </p:attrNameLst>
                                      </p:cBhvr>
                                      <p:to>
                                        <p:strVal val="visible"/>
                                      </p:to>
                                    </p:set>
                                    <p:anim calcmode="lin" valueType="num">
                                      <p:cBhvr additive="base">
                                        <p:cTn id="59" dur="1000" fill="hold"/>
                                        <p:tgtEl>
                                          <p:spTgt spid="429102"/>
                                        </p:tgtEl>
                                        <p:attrNameLst>
                                          <p:attrName>ppt_x</p:attrName>
                                        </p:attrNameLst>
                                      </p:cBhvr>
                                      <p:tavLst>
                                        <p:tav tm="0">
                                          <p:val>
                                            <p:strVal val="#ppt_x"/>
                                          </p:val>
                                        </p:tav>
                                        <p:tav tm="100000">
                                          <p:val>
                                            <p:strVal val="#ppt_x"/>
                                          </p:val>
                                        </p:tav>
                                      </p:tavLst>
                                    </p:anim>
                                    <p:anim calcmode="lin" valueType="num">
                                      <p:cBhvr additive="base">
                                        <p:cTn id="60" dur="1000" fill="hold"/>
                                        <p:tgtEl>
                                          <p:spTgt spid="42910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29103"/>
                                        </p:tgtEl>
                                        <p:attrNameLst>
                                          <p:attrName>style.visibility</p:attrName>
                                        </p:attrNameLst>
                                      </p:cBhvr>
                                      <p:to>
                                        <p:strVal val="visible"/>
                                      </p:to>
                                    </p:set>
                                    <p:anim calcmode="lin" valueType="num">
                                      <p:cBhvr additive="base">
                                        <p:cTn id="63" dur="1000" fill="hold"/>
                                        <p:tgtEl>
                                          <p:spTgt spid="429103"/>
                                        </p:tgtEl>
                                        <p:attrNameLst>
                                          <p:attrName>ppt_x</p:attrName>
                                        </p:attrNameLst>
                                      </p:cBhvr>
                                      <p:tavLst>
                                        <p:tav tm="0">
                                          <p:val>
                                            <p:strVal val="#ppt_x"/>
                                          </p:val>
                                        </p:tav>
                                        <p:tav tm="100000">
                                          <p:val>
                                            <p:strVal val="#ppt_x"/>
                                          </p:val>
                                        </p:tav>
                                      </p:tavLst>
                                    </p:anim>
                                    <p:anim calcmode="lin" valueType="num">
                                      <p:cBhvr additive="base">
                                        <p:cTn id="64" dur="1000" fill="hold"/>
                                        <p:tgtEl>
                                          <p:spTgt spid="42910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29104"/>
                                        </p:tgtEl>
                                        <p:attrNameLst>
                                          <p:attrName>style.visibility</p:attrName>
                                        </p:attrNameLst>
                                      </p:cBhvr>
                                      <p:to>
                                        <p:strVal val="visible"/>
                                      </p:to>
                                    </p:set>
                                    <p:anim calcmode="lin" valueType="num">
                                      <p:cBhvr additive="base">
                                        <p:cTn id="67" dur="1000" fill="hold"/>
                                        <p:tgtEl>
                                          <p:spTgt spid="429104"/>
                                        </p:tgtEl>
                                        <p:attrNameLst>
                                          <p:attrName>ppt_x</p:attrName>
                                        </p:attrNameLst>
                                      </p:cBhvr>
                                      <p:tavLst>
                                        <p:tav tm="0">
                                          <p:val>
                                            <p:strVal val="#ppt_x"/>
                                          </p:val>
                                        </p:tav>
                                        <p:tav tm="100000">
                                          <p:val>
                                            <p:strVal val="#ppt_x"/>
                                          </p:val>
                                        </p:tav>
                                      </p:tavLst>
                                    </p:anim>
                                    <p:anim calcmode="lin" valueType="num">
                                      <p:cBhvr additive="base">
                                        <p:cTn id="68" dur="1000" fill="hold"/>
                                        <p:tgtEl>
                                          <p:spTgt spid="429104"/>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29105"/>
                                        </p:tgtEl>
                                        <p:attrNameLst>
                                          <p:attrName>style.visibility</p:attrName>
                                        </p:attrNameLst>
                                      </p:cBhvr>
                                      <p:to>
                                        <p:strVal val="visible"/>
                                      </p:to>
                                    </p:set>
                                    <p:anim calcmode="lin" valueType="num">
                                      <p:cBhvr additive="base">
                                        <p:cTn id="71" dur="1000" fill="hold"/>
                                        <p:tgtEl>
                                          <p:spTgt spid="429105"/>
                                        </p:tgtEl>
                                        <p:attrNameLst>
                                          <p:attrName>ppt_x</p:attrName>
                                        </p:attrNameLst>
                                      </p:cBhvr>
                                      <p:tavLst>
                                        <p:tav tm="0">
                                          <p:val>
                                            <p:strVal val="#ppt_x"/>
                                          </p:val>
                                        </p:tav>
                                        <p:tav tm="100000">
                                          <p:val>
                                            <p:strVal val="#ppt_x"/>
                                          </p:val>
                                        </p:tav>
                                      </p:tavLst>
                                    </p:anim>
                                    <p:anim calcmode="lin" valueType="num">
                                      <p:cBhvr additive="base">
                                        <p:cTn id="72" dur="1000" fill="hold"/>
                                        <p:tgtEl>
                                          <p:spTgt spid="429105"/>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429106"/>
                                        </p:tgtEl>
                                        <p:attrNameLst>
                                          <p:attrName>style.visibility</p:attrName>
                                        </p:attrNameLst>
                                      </p:cBhvr>
                                      <p:to>
                                        <p:strVal val="visible"/>
                                      </p:to>
                                    </p:set>
                                    <p:anim calcmode="lin" valueType="num">
                                      <p:cBhvr additive="base">
                                        <p:cTn id="75" dur="1000" fill="hold"/>
                                        <p:tgtEl>
                                          <p:spTgt spid="429106"/>
                                        </p:tgtEl>
                                        <p:attrNameLst>
                                          <p:attrName>ppt_x</p:attrName>
                                        </p:attrNameLst>
                                      </p:cBhvr>
                                      <p:tavLst>
                                        <p:tav tm="0">
                                          <p:val>
                                            <p:strVal val="#ppt_x"/>
                                          </p:val>
                                        </p:tav>
                                        <p:tav tm="100000">
                                          <p:val>
                                            <p:strVal val="#ppt_x"/>
                                          </p:val>
                                        </p:tav>
                                      </p:tavLst>
                                    </p:anim>
                                    <p:anim calcmode="lin" valueType="num">
                                      <p:cBhvr additive="base">
                                        <p:cTn id="76" dur="1000" fill="hold"/>
                                        <p:tgtEl>
                                          <p:spTgt spid="429106"/>
                                        </p:tgtEl>
                                        <p:attrNameLst>
                                          <p:attrName>ppt_y</p:attrName>
                                        </p:attrNameLst>
                                      </p:cBhvr>
                                      <p:tavLst>
                                        <p:tav tm="0">
                                          <p:val>
                                            <p:strVal val="1+#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2" fill="hold" nodeType="clickEffect">
                                  <p:stCondLst>
                                    <p:cond delay="0"/>
                                  </p:stCondLst>
                                  <p:childTnLst>
                                    <p:set>
                                      <p:cBhvr>
                                        <p:cTn id="80" dur="1" fill="hold">
                                          <p:stCondLst>
                                            <p:cond delay="0"/>
                                          </p:stCondLst>
                                        </p:cTn>
                                        <p:tgtEl>
                                          <p:spTgt spid="429107"/>
                                        </p:tgtEl>
                                        <p:attrNameLst>
                                          <p:attrName>style.visibility</p:attrName>
                                        </p:attrNameLst>
                                      </p:cBhvr>
                                      <p:to>
                                        <p:strVal val="visible"/>
                                      </p:to>
                                    </p:set>
                                    <p:anim calcmode="lin" valueType="num">
                                      <p:cBhvr additive="base">
                                        <p:cTn id="81" dur="1000" fill="hold"/>
                                        <p:tgtEl>
                                          <p:spTgt spid="429107"/>
                                        </p:tgtEl>
                                        <p:attrNameLst>
                                          <p:attrName>ppt_x</p:attrName>
                                        </p:attrNameLst>
                                      </p:cBhvr>
                                      <p:tavLst>
                                        <p:tav tm="0">
                                          <p:val>
                                            <p:strVal val="1+#ppt_w/2"/>
                                          </p:val>
                                        </p:tav>
                                        <p:tav tm="100000">
                                          <p:val>
                                            <p:strVal val="#ppt_x"/>
                                          </p:val>
                                        </p:tav>
                                      </p:tavLst>
                                    </p:anim>
                                    <p:anim calcmode="lin" valueType="num">
                                      <p:cBhvr additive="base">
                                        <p:cTn id="82" dur="1000" fill="hold"/>
                                        <p:tgtEl>
                                          <p:spTgt spid="429107"/>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429119"/>
                                        </p:tgtEl>
                                        <p:attrNameLst>
                                          <p:attrName>style.visibility</p:attrName>
                                        </p:attrNameLst>
                                      </p:cBhvr>
                                      <p:to>
                                        <p:strVal val="visible"/>
                                      </p:to>
                                    </p:set>
                                    <p:anim calcmode="lin" valueType="num">
                                      <p:cBhvr additive="base">
                                        <p:cTn id="85" dur="1000" fill="hold"/>
                                        <p:tgtEl>
                                          <p:spTgt spid="429119"/>
                                        </p:tgtEl>
                                        <p:attrNameLst>
                                          <p:attrName>ppt_x</p:attrName>
                                        </p:attrNameLst>
                                      </p:cBhvr>
                                      <p:tavLst>
                                        <p:tav tm="0">
                                          <p:val>
                                            <p:strVal val="1+#ppt_w/2"/>
                                          </p:val>
                                        </p:tav>
                                        <p:tav tm="100000">
                                          <p:val>
                                            <p:strVal val="#ppt_x"/>
                                          </p:val>
                                        </p:tav>
                                      </p:tavLst>
                                    </p:anim>
                                    <p:anim calcmode="lin" valueType="num">
                                      <p:cBhvr additive="base">
                                        <p:cTn id="86" dur="1000" fill="hold"/>
                                        <p:tgtEl>
                                          <p:spTgt spid="4291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94" grpId="0"/>
      <p:bldP spid="429095" grpId="0"/>
      <p:bldP spid="429096" grpId="0"/>
      <p:bldP spid="429097" grpId="0"/>
      <p:bldP spid="429098" grpId="0"/>
      <p:bldP spid="429099" grpId="0"/>
      <p:bldP spid="429100" grpId="0"/>
      <p:bldP spid="429101" grpId="0"/>
      <p:bldP spid="429102" grpId="0"/>
      <p:bldP spid="429103" grpId="0"/>
      <p:bldP spid="429104" grpId="0"/>
      <p:bldP spid="429105" grpId="0"/>
      <p:bldP spid="429106" grpId="0"/>
      <p:bldP spid="4291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8675"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8676"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0EDC7298-B12F-42A3-A01D-775BF3D65E18}" type="slidenum">
              <a:rPr lang="zh-CN" altLang="en-US" sz="800" b="0"/>
              <a:pPr/>
              <a:t>27</a:t>
            </a:fld>
            <a:endParaRPr lang="en-US" altLang="zh-CN" sz="800" b="0"/>
          </a:p>
        </p:txBody>
      </p:sp>
      <p:sp>
        <p:nvSpPr>
          <p:cNvPr id="28677" name="Rectangle 2"/>
          <p:cNvSpPr>
            <a:spLocks noGrp="1" noChangeArrowheads="1"/>
          </p:cNvSpPr>
          <p:nvPr>
            <p:ph type="title"/>
          </p:nvPr>
        </p:nvSpPr>
        <p:spPr/>
        <p:txBody>
          <a:bodyPr/>
          <a:lstStyle/>
          <a:p>
            <a:r>
              <a:rPr lang="en-US" altLang="zh-CN" smtClean="0">
                <a:ea typeface="宋体" panose="02010600030101010101" pitchFamily="2" charset="-122"/>
              </a:rPr>
              <a:t>NFA (exercise) </a:t>
            </a:r>
            <a:endParaRPr lang="zh-CN" altLang="en-US" smtClean="0">
              <a:ea typeface="宋体" panose="02010600030101010101" pitchFamily="2" charset="-122"/>
            </a:endParaRPr>
          </a:p>
        </p:txBody>
      </p:sp>
      <p:sp>
        <p:nvSpPr>
          <p:cNvPr id="28678" name="Text Box 4"/>
          <p:cNvSpPr>
            <a:spLocks noChangeArrowheads="1"/>
          </p:cNvSpPr>
          <p:nvPr>
            <p:ph type="body" idx="1"/>
          </p:nvPr>
        </p:nvSpPr>
        <p:spPr>
          <a:xfrm>
            <a:off x="381000" y="1219200"/>
            <a:ext cx="9372600" cy="3073400"/>
          </a:xfrm>
          <a:noFill/>
        </p:spPr>
        <p:txBody>
          <a:bodyPr/>
          <a:lstStyle/>
          <a:p>
            <a:pPr>
              <a:spcBef>
                <a:spcPct val="50000"/>
              </a:spcBef>
              <a:buFontTx/>
              <a:buNone/>
            </a:pPr>
            <a:r>
              <a:rPr lang="en-US" altLang="zh-CN" sz="3200" smtClean="0">
                <a:ea typeface="宋体" panose="02010600030101010101" pitchFamily="2" charset="-122"/>
              </a:rPr>
              <a:t>	The language recognized by this NFA is   (a|b) *  a b, figure out the transition graph and transition table for NFA.</a:t>
            </a:r>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29699"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29700"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06E4C810-D477-48BD-B943-32B054D858B9}" type="slidenum">
              <a:rPr lang="zh-CN" altLang="en-US" sz="800" b="0"/>
              <a:pPr/>
              <a:t>28</a:t>
            </a:fld>
            <a:endParaRPr lang="en-US" altLang="zh-CN" sz="800" b="0"/>
          </a:p>
        </p:txBody>
      </p:sp>
      <p:sp>
        <p:nvSpPr>
          <p:cNvPr id="29701" name="Rectangle 2"/>
          <p:cNvSpPr>
            <a:spLocks noGrp="1" noChangeArrowheads="1"/>
          </p:cNvSpPr>
          <p:nvPr>
            <p:ph type="title"/>
          </p:nvPr>
        </p:nvSpPr>
        <p:spPr/>
        <p:txBody>
          <a:bodyPr/>
          <a:lstStyle/>
          <a:p>
            <a:r>
              <a:rPr lang="en-US" altLang="zh-CN" smtClean="0">
                <a:ea typeface="宋体" panose="02010600030101010101" pitchFamily="2" charset="-122"/>
              </a:rPr>
              <a:t>NFA (exercise answer)</a:t>
            </a:r>
          </a:p>
        </p:txBody>
      </p:sp>
      <p:grpSp>
        <p:nvGrpSpPr>
          <p:cNvPr id="29702" name="Group 32"/>
          <p:cNvGrpSpPr>
            <a:grpSpLocks/>
          </p:cNvGrpSpPr>
          <p:nvPr/>
        </p:nvGrpSpPr>
        <p:grpSpPr bwMode="auto">
          <a:xfrm>
            <a:off x="415925" y="1846263"/>
            <a:ext cx="4114800" cy="1295400"/>
            <a:chOff x="262" y="1163"/>
            <a:chExt cx="2592" cy="816"/>
          </a:xfrm>
        </p:grpSpPr>
        <p:sp>
          <p:nvSpPr>
            <p:cNvPr id="29707" name="Oval 3"/>
            <p:cNvSpPr>
              <a:spLocks noChangeArrowheads="1"/>
            </p:cNvSpPr>
            <p:nvPr/>
          </p:nvSpPr>
          <p:spPr bwMode="auto">
            <a:xfrm>
              <a:off x="838" y="1499"/>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29708" name="Group 10"/>
            <p:cNvGrpSpPr>
              <a:grpSpLocks/>
            </p:cNvGrpSpPr>
            <p:nvPr/>
          </p:nvGrpSpPr>
          <p:grpSpPr bwMode="auto">
            <a:xfrm>
              <a:off x="2566" y="1451"/>
              <a:ext cx="288" cy="288"/>
              <a:chOff x="1296" y="1056"/>
              <a:chExt cx="288" cy="288"/>
            </a:xfrm>
          </p:grpSpPr>
          <p:sp>
            <p:nvSpPr>
              <p:cNvPr id="29723" name="Oval 11"/>
              <p:cNvSpPr>
                <a:spLocks noChangeArrowheads="1"/>
              </p:cNvSpPr>
              <p:nvPr/>
            </p:nvSpPr>
            <p:spPr bwMode="auto">
              <a:xfrm>
                <a:off x="1296" y="1056"/>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9724" name="Oval 12"/>
              <p:cNvSpPr>
                <a:spLocks noChangeArrowheads="1"/>
              </p:cNvSpPr>
              <p:nvPr/>
            </p:nvSpPr>
            <p:spPr bwMode="auto">
              <a:xfrm>
                <a:off x="1344" y="110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29709" name="Oval 13"/>
            <p:cNvSpPr>
              <a:spLocks noChangeArrowheads="1"/>
            </p:cNvSpPr>
            <p:nvPr/>
          </p:nvSpPr>
          <p:spPr bwMode="auto">
            <a:xfrm>
              <a:off x="1654" y="1499"/>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29710" name="Line 14"/>
            <p:cNvSpPr>
              <a:spLocks noChangeShapeType="1"/>
            </p:cNvSpPr>
            <p:nvPr/>
          </p:nvSpPr>
          <p:spPr bwMode="auto">
            <a:xfrm>
              <a:off x="406" y="1595"/>
              <a:ext cx="4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1" name="Line 15"/>
            <p:cNvSpPr>
              <a:spLocks noChangeShapeType="1"/>
            </p:cNvSpPr>
            <p:nvPr/>
          </p:nvSpPr>
          <p:spPr bwMode="auto">
            <a:xfrm>
              <a:off x="1030" y="1595"/>
              <a:ext cx="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2" name="Line 16"/>
            <p:cNvSpPr>
              <a:spLocks noChangeShapeType="1"/>
            </p:cNvSpPr>
            <p:nvPr/>
          </p:nvSpPr>
          <p:spPr bwMode="auto">
            <a:xfrm>
              <a:off x="1846" y="1595"/>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29713" name="AutoShape 18"/>
            <p:cNvCxnSpPr>
              <a:cxnSpLocks noChangeShapeType="1"/>
              <a:stCxn id="29707" idx="7"/>
              <a:endCxn id="29707" idx="1"/>
            </p:cNvCxnSpPr>
            <p:nvPr/>
          </p:nvCxnSpPr>
          <p:spPr bwMode="auto">
            <a:xfrm rot="-5400000" flipH="1" flipV="1">
              <a:off x="933" y="1460"/>
              <a:ext cx="1" cy="136"/>
            </a:xfrm>
            <a:prstGeom prst="curvedConnector3">
              <a:avLst>
                <a:gd name="adj1" fmla="val -1720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14" name="AutoShape 19"/>
            <p:cNvCxnSpPr>
              <a:cxnSpLocks noChangeShapeType="1"/>
              <a:stCxn id="29707" idx="3"/>
              <a:endCxn id="29707" idx="5"/>
            </p:cNvCxnSpPr>
            <p:nvPr/>
          </p:nvCxnSpPr>
          <p:spPr bwMode="auto">
            <a:xfrm rot="16200000" flipH="1">
              <a:off x="933" y="1596"/>
              <a:ext cx="1" cy="136"/>
            </a:xfrm>
            <a:prstGeom prst="curvedConnector3">
              <a:avLst>
                <a:gd name="adj1" fmla="val 1720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15" name="Text Box 20"/>
            <p:cNvSpPr txBox="1">
              <a:spLocks noChangeArrowheads="1"/>
            </p:cNvSpPr>
            <p:nvPr/>
          </p:nvSpPr>
          <p:spPr bwMode="auto">
            <a:xfrm>
              <a:off x="1654" y="149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1</a:t>
              </a:r>
            </a:p>
          </p:txBody>
        </p:sp>
        <p:sp>
          <p:nvSpPr>
            <p:cNvPr id="29716" name="Text Box 21"/>
            <p:cNvSpPr txBox="1">
              <a:spLocks noChangeArrowheads="1"/>
            </p:cNvSpPr>
            <p:nvPr/>
          </p:nvSpPr>
          <p:spPr bwMode="auto">
            <a:xfrm>
              <a:off x="838" y="149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0</a:t>
              </a:r>
            </a:p>
          </p:txBody>
        </p:sp>
        <p:sp>
          <p:nvSpPr>
            <p:cNvPr id="29717" name="Text Box 22"/>
            <p:cNvSpPr txBox="1">
              <a:spLocks noChangeArrowheads="1"/>
            </p:cNvSpPr>
            <p:nvPr/>
          </p:nvSpPr>
          <p:spPr bwMode="auto">
            <a:xfrm>
              <a:off x="2614" y="149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2</a:t>
              </a:r>
            </a:p>
          </p:txBody>
        </p:sp>
        <p:sp>
          <p:nvSpPr>
            <p:cNvPr id="29718" name="Text Box 23"/>
            <p:cNvSpPr txBox="1">
              <a:spLocks noChangeArrowheads="1"/>
            </p:cNvSpPr>
            <p:nvPr/>
          </p:nvSpPr>
          <p:spPr bwMode="auto">
            <a:xfrm>
              <a:off x="1174" y="1403"/>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a</a:t>
              </a:r>
            </a:p>
          </p:txBody>
        </p:sp>
        <p:sp>
          <p:nvSpPr>
            <p:cNvPr id="29719" name="Text Box 24"/>
            <p:cNvSpPr txBox="1">
              <a:spLocks noChangeArrowheads="1"/>
            </p:cNvSpPr>
            <p:nvPr/>
          </p:nvSpPr>
          <p:spPr bwMode="auto">
            <a:xfrm>
              <a:off x="2086" y="140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b</a:t>
              </a:r>
            </a:p>
          </p:txBody>
        </p:sp>
        <p:sp>
          <p:nvSpPr>
            <p:cNvPr id="29720" name="Text Box 25"/>
            <p:cNvSpPr txBox="1">
              <a:spLocks noChangeArrowheads="1"/>
            </p:cNvSpPr>
            <p:nvPr/>
          </p:nvSpPr>
          <p:spPr bwMode="auto">
            <a:xfrm>
              <a:off x="262" y="1595"/>
              <a:ext cx="3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start</a:t>
              </a:r>
            </a:p>
          </p:txBody>
        </p:sp>
        <p:sp>
          <p:nvSpPr>
            <p:cNvPr id="29721" name="Text Box 26"/>
            <p:cNvSpPr txBox="1">
              <a:spLocks noChangeArrowheads="1"/>
            </p:cNvSpPr>
            <p:nvPr/>
          </p:nvSpPr>
          <p:spPr bwMode="auto">
            <a:xfrm>
              <a:off x="838" y="1163"/>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a</a:t>
              </a:r>
            </a:p>
          </p:txBody>
        </p:sp>
        <p:sp>
          <p:nvSpPr>
            <p:cNvPr id="29722" name="Text Box 27"/>
            <p:cNvSpPr txBox="1">
              <a:spLocks noChangeArrowheads="1"/>
            </p:cNvSpPr>
            <p:nvPr/>
          </p:nvSpPr>
          <p:spPr bwMode="auto">
            <a:xfrm>
              <a:off x="838" y="1787"/>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b</a:t>
              </a:r>
            </a:p>
          </p:txBody>
        </p:sp>
      </p:grpSp>
      <p:sp>
        <p:nvSpPr>
          <p:cNvPr id="29703" name="Text Box 28"/>
          <p:cNvSpPr txBox="1">
            <a:spLocks noChangeArrowheads="1"/>
          </p:cNvSpPr>
          <p:nvPr/>
        </p:nvSpPr>
        <p:spPr bwMode="auto">
          <a:xfrm>
            <a:off x="5529263" y="1484313"/>
            <a:ext cx="3455987"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2000" b="0">
                <a:ea typeface="宋体" panose="02010600030101010101" pitchFamily="2" charset="-122"/>
              </a:rPr>
              <a:t>0  is the start state s</a:t>
            </a:r>
            <a:r>
              <a:rPr lang="en-US" altLang="zh-CN" sz="2000" b="0" baseline="-25000">
                <a:ea typeface="宋体" panose="02010600030101010101" pitchFamily="2" charset="-122"/>
              </a:rPr>
              <a:t>0</a:t>
            </a:r>
          </a:p>
          <a:p>
            <a:r>
              <a:rPr lang="en-US" altLang="zh-CN" sz="2000" b="0">
                <a:ea typeface="宋体" panose="02010600030101010101" pitchFamily="2" charset="-122"/>
              </a:rPr>
              <a:t>{2} is the set of final states F</a:t>
            </a:r>
          </a:p>
          <a:p>
            <a:pPr>
              <a:buFont typeface="Symbol" panose="05050102010706020507" pitchFamily="18" charset="2"/>
              <a:buChar char="S"/>
            </a:pPr>
            <a:r>
              <a:rPr lang="en-US" altLang="zh-CN" sz="2000" b="0">
                <a:ea typeface="宋体" panose="02010600030101010101" pitchFamily="2" charset="-122"/>
                <a:sym typeface="Symbol" panose="05050102010706020507" pitchFamily="18" charset="2"/>
              </a:rPr>
              <a:t> = {a,b}</a:t>
            </a:r>
          </a:p>
          <a:p>
            <a:pPr>
              <a:buFont typeface="Symbol" panose="05050102010706020507" pitchFamily="18" charset="2"/>
              <a:buNone/>
            </a:pPr>
            <a:r>
              <a:rPr lang="en-US" altLang="zh-CN" sz="2000" b="0">
                <a:ea typeface="宋体" panose="02010600030101010101" pitchFamily="2" charset="-122"/>
              </a:rPr>
              <a:t>S = {0,1,2}</a:t>
            </a:r>
          </a:p>
          <a:p>
            <a:pPr>
              <a:buFont typeface="Symbol" panose="05050102010706020507" pitchFamily="18" charset="2"/>
              <a:buNone/>
            </a:pPr>
            <a:r>
              <a:rPr lang="en-US" altLang="zh-CN" sz="2000" b="0">
                <a:ea typeface="宋体" panose="02010600030101010101" pitchFamily="2" charset="-122"/>
              </a:rPr>
              <a:t>Transition Function:      </a:t>
            </a:r>
          </a:p>
          <a:p>
            <a:pPr>
              <a:buFont typeface="Symbol" panose="05050102010706020507" pitchFamily="18" charset="2"/>
              <a:buNone/>
            </a:pPr>
            <a:r>
              <a:rPr lang="en-US" altLang="zh-CN" sz="2000" b="0">
                <a:ea typeface="宋体" panose="02010600030101010101" pitchFamily="2" charset="-122"/>
              </a:rPr>
              <a:t>       </a:t>
            </a:r>
            <a:r>
              <a:rPr lang="en-US" altLang="zh-CN" sz="2000" b="0" u="sng">
                <a:ea typeface="宋体" panose="02010600030101010101" pitchFamily="2" charset="-122"/>
              </a:rPr>
              <a:t>a             b</a:t>
            </a:r>
            <a:endParaRPr lang="en-US" altLang="zh-CN" sz="2000" b="0">
              <a:ea typeface="宋体" panose="02010600030101010101" pitchFamily="2" charset="-122"/>
            </a:endParaRPr>
          </a:p>
          <a:p>
            <a:pPr>
              <a:buFont typeface="Symbol" panose="05050102010706020507" pitchFamily="18" charset="2"/>
              <a:buNone/>
            </a:pPr>
            <a:r>
              <a:rPr lang="en-US" altLang="zh-CN" sz="2000" b="0">
                <a:ea typeface="宋体" panose="02010600030101010101" pitchFamily="2" charset="-122"/>
              </a:rPr>
              <a:t>0    {0,1}      {0}</a:t>
            </a:r>
          </a:p>
          <a:p>
            <a:pPr>
              <a:buFont typeface="Symbol" panose="05050102010706020507" pitchFamily="18" charset="2"/>
              <a:buNone/>
            </a:pPr>
            <a:r>
              <a:rPr lang="en-US" altLang="zh-CN" sz="2000" b="0">
                <a:ea typeface="宋体" panose="02010600030101010101" pitchFamily="2" charset="-122"/>
              </a:rPr>
              <a:t>1       _          {2}</a:t>
            </a:r>
          </a:p>
          <a:p>
            <a:pPr>
              <a:buFont typeface="Symbol" panose="05050102010706020507" pitchFamily="18" charset="2"/>
              <a:buNone/>
            </a:pPr>
            <a:r>
              <a:rPr lang="en-US" altLang="zh-CN" sz="2000" b="0">
                <a:ea typeface="宋体" panose="02010600030101010101" pitchFamily="2" charset="-122"/>
              </a:rPr>
              <a:t>2       _            _</a:t>
            </a:r>
            <a:endParaRPr lang="en-US" altLang="zh-CN" sz="2000" b="0" u="sng">
              <a:ea typeface="宋体" panose="02010600030101010101" pitchFamily="2" charset="-122"/>
            </a:endParaRPr>
          </a:p>
          <a:p>
            <a:endParaRPr lang="zh-CN" altLang="en-US" sz="2000" b="0">
              <a:ea typeface="宋体" panose="02010600030101010101" pitchFamily="2" charset="-122"/>
            </a:endParaRPr>
          </a:p>
        </p:txBody>
      </p:sp>
      <p:sp>
        <p:nvSpPr>
          <p:cNvPr id="29704" name="Text Box 29"/>
          <p:cNvSpPr txBox="1">
            <a:spLocks noChangeArrowheads="1"/>
          </p:cNvSpPr>
          <p:nvPr/>
        </p:nvSpPr>
        <p:spPr bwMode="auto">
          <a:xfrm>
            <a:off x="273050" y="4005263"/>
            <a:ext cx="429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sz="2000" b="0">
                <a:ea typeface="宋体" panose="02010600030101010101" pitchFamily="2" charset="-122"/>
              </a:rPr>
              <a:t>Fig.3.19. Transition graph of the NFA</a:t>
            </a:r>
          </a:p>
        </p:txBody>
      </p:sp>
      <p:sp>
        <p:nvSpPr>
          <p:cNvPr id="29705" name="Text Box 30"/>
          <p:cNvSpPr txBox="1">
            <a:spLocks noChangeArrowheads="1"/>
          </p:cNvSpPr>
          <p:nvPr/>
        </p:nvSpPr>
        <p:spPr bwMode="auto">
          <a:xfrm>
            <a:off x="560388" y="5373688"/>
            <a:ext cx="7129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b="0">
                <a:solidFill>
                  <a:schemeClr val="accent2"/>
                </a:solidFill>
                <a:ea typeface="宋体" panose="02010600030101010101" pitchFamily="2" charset="-122"/>
              </a:rPr>
              <a:t>The language recognized by this NFA is   (a|b)</a:t>
            </a:r>
            <a:r>
              <a:rPr lang="en-US" altLang="zh-CN" b="0" baseline="30000">
                <a:solidFill>
                  <a:schemeClr val="accent2"/>
                </a:solidFill>
                <a:ea typeface="宋体" panose="02010600030101010101" pitchFamily="2" charset="-122"/>
              </a:rPr>
              <a:t> *</a:t>
            </a:r>
            <a:r>
              <a:rPr lang="en-US" altLang="zh-CN" b="0" baseline="-25000">
                <a:solidFill>
                  <a:schemeClr val="accent2"/>
                </a:solidFill>
                <a:ea typeface="宋体" panose="02010600030101010101" pitchFamily="2" charset="-122"/>
              </a:rPr>
              <a:t> </a:t>
            </a:r>
            <a:r>
              <a:rPr lang="en-US" altLang="zh-CN" b="0">
                <a:solidFill>
                  <a:schemeClr val="accent2"/>
                </a:solidFill>
                <a:ea typeface="宋体" panose="02010600030101010101" pitchFamily="2" charset="-122"/>
              </a:rPr>
              <a:t> a b</a:t>
            </a:r>
          </a:p>
        </p:txBody>
      </p:sp>
      <p:sp>
        <p:nvSpPr>
          <p:cNvPr id="29706" name="Text Box 31"/>
          <p:cNvSpPr txBox="1">
            <a:spLocks noChangeArrowheads="1"/>
          </p:cNvSpPr>
          <p:nvPr/>
        </p:nvSpPr>
        <p:spPr bwMode="auto">
          <a:xfrm>
            <a:off x="5313363" y="4365625"/>
            <a:ext cx="43195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sz="2000" b="0">
                <a:ea typeface="宋体" panose="02010600030101010101" pitchFamily="2" charset="-122"/>
              </a:rPr>
              <a:t>Fig.3.20. Transition table for the finite automaton of Fig.3.19.</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0723"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0724"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7A930F1F-F047-4284-AA8B-2679BF368B47}" type="slidenum">
              <a:rPr lang="zh-CN" altLang="en-US" sz="800" b="0"/>
              <a:pPr/>
              <a:t>29</a:t>
            </a:fld>
            <a:endParaRPr lang="en-US" altLang="zh-CN" sz="800" b="0"/>
          </a:p>
        </p:txBody>
      </p:sp>
      <p:sp>
        <p:nvSpPr>
          <p:cNvPr id="30725" name="Rectangle 2"/>
          <p:cNvSpPr>
            <a:spLocks noGrp="1" noChangeArrowheads="1"/>
          </p:cNvSpPr>
          <p:nvPr>
            <p:ph type="title"/>
          </p:nvPr>
        </p:nvSpPr>
        <p:spPr/>
        <p:txBody>
          <a:bodyPr/>
          <a:lstStyle/>
          <a:p>
            <a:r>
              <a:rPr lang="en-US" altLang="zh-CN" smtClean="0">
                <a:ea typeface="宋体" panose="02010600030101010101" pitchFamily="2" charset="-122"/>
              </a:rPr>
              <a:t>Another NFA exercise</a:t>
            </a:r>
          </a:p>
        </p:txBody>
      </p:sp>
      <p:sp>
        <p:nvSpPr>
          <p:cNvPr id="30726" name="Rectangle 3"/>
          <p:cNvSpPr>
            <a:spLocks noGrp="1" noChangeArrowheads="1"/>
          </p:cNvSpPr>
          <p:nvPr>
            <p:ph type="body" idx="1"/>
          </p:nvPr>
        </p:nvSpPr>
        <p:spPr/>
        <p:txBody>
          <a:bodyPr/>
          <a:lstStyle/>
          <a:p>
            <a:pPr>
              <a:spcBef>
                <a:spcPct val="50000"/>
              </a:spcBef>
              <a:buFontTx/>
              <a:buNone/>
            </a:pPr>
            <a:r>
              <a:rPr lang="en-US" altLang="zh-CN" sz="3200" smtClean="0">
                <a:ea typeface="宋体" panose="02010600030101010101" pitchFamily="2" charset="-122"/>
              </a:rPr>
              <a:t>	The language recognized by this NFA is  a (a|b) * b, figure out the transition graph and transition table for NFA.</a:t>
            </a:r>
          </a:p>
          <a:p>
            <a:endParaRPr lang="zh-CN" altLang="en-US" smtClean="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1747"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1748"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E5D795FB-28FC-4F2D-BC19-68C49CA79752}" type="slidenum">
              <a:rPr lang="zh-CN" altLang="en-US" sz="800" b="0"/>
              <a:pPr/>
              <a:t>30</a:t>
            </a:fld>
            <a:endParaRPr lang="en-US" altLang="zh-CN" sz="800" b="0"/>
          </a:p>
        </p:txBody>
      </p:sp>
      <p:sp>
        <p:nvSpPr>
          <p:cNvPr id="31749"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How Does An NFA Work ?</a:t>
            </a:r>
          </a:p>
        </p:txBody>
      </p:sp>
      <p:grpSp>
        <p:nvGrpSpPr>
          <p:cNvPr id="31750" name="Group 3"/>
          <p:cNvGrpSpPr>
            <a:grpSpLocks/>
          </p:cNvGrpSpPr>
          <p:nvPr/>
        </p:nvGrpSpPr>
        <p:grpSpPr bwMode="auto">
          <a:xfrm>
            <a:off x="1238250" y="1447800"/>
            <a:ext cx="5365750" cy="1585913"/>
            <a:chOff x="2304" y="912"/>
            <a:chExt cx="3120" cy="999"/>
          </a:xfrm>
        </p:grpSpPr>
        <p:grpSp>
          <p:nvGrpSpPr>
            <p:cNvPr id="31758" name="Group 4"/>
            <p:cNvGrpSpPr>
              <a:grpSpLocks/>
            </p:cNvGrpSpPr>
            <p:nvPr/>
          </p:nvGrpSpPr>
          <p:grpSpPr bwMode="auto">
            <a:xfrm>
              <a:off x="5040" y="1200"/>
              <a:ext cx="384" cy="384"/>
              <a:chOff x="2496" y="2688"/>
              <a:chExt cx="384" cy="384"/>
            </a:xfrm>
          </p:grpSpPr>
          <p:sp>
            <p:nvSpPr>
              <p:cNvPr id="31781" name="Oval 5"/>
              <p:cNvSpPr>
                <a:spLocks noChangeArrowheads="1"/>
              </p:cNvSpPr>
              <p:nvPr/>
            </p:nvSpPr>
            <p:spPr bwMode="auto">
              <a:xfrm>
                <a:off x="2496" y="2688"/>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782" name="Oval 6"/>
              <p:cNvSpPr>
                <a:spLocks noChangeArrowheads="1"/>
              </p:cNvSpPr>
              <p:nvPr/>
            </p:nvSpPr>
            <p:spPr bwMode="auto">
              <a:xfrm>
                <a:off x="2544" y="273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1759" name="Line 7"/>
            <p:cNvSpPr>
              <a:spLocks noChangeShapeType="1"/>
            </p:cNvSpPr>
            <p:nvPr/>
          </p:nvSpPr>
          <p:spPr bwMode="auto">
            <a:xfrm>
              <a:off x="4656"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0" name="Line 8"/>
            <p:cNvSpPr>
              <a:spLocks noChangeShapeType="1"/>
            </p:cNvSpPr>
            <p:nvPr/>
          </p:nvSpPr>
          <p:spPr bwMode="auto">
            <a:xfrm>
              <a:off x="3120"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1" name="Line 9"/>
            <p:cNvSpPr>
              <a:spLocks noChangeShapeType="1"/>
            </p:cNvSpPr>
            <p:nvPr/>
          </p:nvSpPr>
          <p:spPr bwMode="auto">
            <a:xfrm>
              <a:off x="2352"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2" name="Text Box 10"/>
            <p:cNvSpPr txBox="1">
              <a:spLocks noChangeArrowheads="1"/>
            </p:cNvSpPr>
            <p:nvPr/>
          </p:nvSpPr>
          <p:spPr bwMode="auto">
            <a:xfrm>
              <a:off x="2304" y="120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400">
                  <a:ea typeface="宋体" panose="02010600030101010101" pitchFamily="2" charset="-122"/>
                </a:rPr>
                <a:t>start</a:t>
              </a:r>
            </a:p>
          </p:txBody>
        </p:sp>
        <p:grpSp>
          <p:nvGrpSpPr>
            <p:cNvPr id="31763" name="Group 11"/>
            <p:cNvGrpSpPr>
              <a:grpSpLocks/>
            </p:cNvGrpSpPr>
            <p:nvPr/>
          </p:nvGrpSpPr>
          <p:grpSpPr bwMode="auto">
            <a:xfrm>
              <a:off x="2736" y="1200"/>
              <a:ext cx="384" cy="384"/>
              <a:chOff x="2736" y="1200"/>
              <a:chExt cx="384" cy="384"/>
            </a:xfrm>
          </p:grpSpPr>
          <p:sp>
            <p:nvSpPr>
              <p:cNvPr id="31779" name="Oval 12"/>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780" name="Text Box 13"/>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31764" name="Text Box 14"/>
            <p:cNvSpPr txBox="1">
              <a:spLocks noChangeArrowheads="1"/>
            </p:cNvSpPr>
            <p:nvPr/>
          </p:nvSpPr>
          <p:spPr bwMode="auto">
            <a:xfrm>
              <a:off x="5136" y="12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31765" name="Text Box 15"/>
            <p:cNvSpPr txBox="1">
              <a:spLocks noChangeArrowheads="1"/>
            </p:cNvSpPr>
            <p:nvPr/>
          </p:nvSpPr>
          <p:spPr bwMode="auto">
            <a:xfrm>
              <a:off x="4704"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1766" name="Line 16"/>
            <p:cNvSpPr>
              <a:spLocks noChangeShapeType="1"/>
            </p:cNvSpPr>
            <p:nvPr/>
          </p:nvSpPr>
          <p:spPr bwMode="auto">
            <a:xfrm>
              <a:off x="3888"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767" name="Group 17"/>
            <p:cNvGrpSpPr>
              <a:grpSpLocks/>
            </p:cNvGrpSpPr>
            <p:nvPr/>
          </p:nvGrpSpPr>
          <p:grpSpPr bwMode="auto">
            <a:xfrm>
              <a:off x="4272" y="1200"/>
              <a:ext cx="384" cy="384"/>
              <a:chOff x="2736" y="1200"/>
              <a:chExt cx="384" cy="384"/>
            </a:xfrm>
          </p:grpSpPr>
          <p:sp>
            <p:nvSpPr>
              <p:cNvPr id="31777" name="Oval 18"/>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778" name="Text Box 19"/>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grpSp>
        <p:grpSp>
          <p:nvGrpSpPr>
            <p:cNvPr id="31768" name="Group 20"/>
            <p:cNvGrpSpPr>
              <a:grpSpLocks/>
            </p:cNvGrpSpPr>
            <p:nvPr/>
          </p:nvGrpSpPr>
          <p:grpSpPr bwMode="auto">
            <a:xfrm>
              <a:off x="3504" y="1200"/>
              <a:ext cx="384" cy="384"/>
              <a:chOff x="2736" y="1200"/>
              <a:chExt cx="384" cy="384"/>
            </a:xfrm>
          </p:grpSpPr>
          <p:sp>
            <p:nvSpPr>
              <p:cNvPr id="31775" name="Oval 21"/>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776" name="Text Box 22"/>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31769" name="Text Box 23"/>
            <p:cNvSpPr txBox="1">
              <a:spLocks noChangeArrowheads="1"/>
            </p:cNvSpPr>
            <p:nvPr/>
          </p:nvSpPr>
          <p:spPr bwMode="auto">
            <a:xfrm>
              <a:off x="3936"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1770" name="Text Box 24"/>
            <p:cNvSpPr txBox="1">
              <a:spLocks noChangeArrowheads="1"/>
            </p:cNvSpPr>
            <p:nvPr/>
          </p:nvSpPr>
          <p:spPr bwMode="auto">
            <a:xfrm>
              <a:off x="3168"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31771" name="AutoShape 25"/>
            <p:cNvCxnSpPr>
              <a:cxnSpLocks noChangeShapeType="1"/>
              <a:stCxn id="31779" idx="7"/>
              <a:endCxn id="31779" idx="0"/>
            </p:cNvCxnSpPr>
            <p:nvPr/>
          </p:nvCxnSpPr>
          <p:spPr bwMode="auto">
            <a:xfrm rot="5400000" flipH="1">
              <a:off x="2968" y="1160"/>
              <a:ext cx="56" cy="136"/>
            </a:xfrm>
            <a:prstGeom prst="curvedConnector3">
              <a:avLst>
                <a:gd name="adj1" fmla="val 7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772" name="Text Box 26"/>
            <p:cNvSpPr txBox="1">
              <a:spLocks noChangeArrowheads="1"/>
            </p:cNvSpPr>
            <p:nvPr/>
          </p:nvSpPr>
          <p:spPr bwMode="auto">
            <a:xfrm>
              <a:off x="2736" y="91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31773" name="AutoShape 27"/>
            <p:cNvCxnSpPr>
              <a:cxnSpLocks noChangeShapeType="1"/>
              <a:stCxn id="31779" idx="3"/>
              <a:endCxn id="31779" idx="4"/>
            </p:cNvCxnSpPr>
            <p:nvPr/>
          </p:nvCxnSpPr>
          <p:spPr bwMode="auto">
            <a:xfrm rot="16200000" flipH="1">
              <a:off x="2832" y="1488"/>
              <a:ext cx="56" cy="136"/>
            </a:xfrm>
            <a:prstGeom prst="curvedConnector3">
              <a:avLst>
                <a:gd name="adj1" fmla="val 6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774" name="Text Box 28"/>
            <p:cNvSpPr txBox="1">
              <a:spLocks noChangeArrowheads="1"/>
            </p:cNvSpPr>
            <p:nvPr/>
          </p:nvSpPr>
          <p:spPr bwMode="auto">
            <a:xfrm>
              <a:off x="2880" y="168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grpSp>
      <p:sp>
        <p:nvSpPr>
          <p:cNvPr id="31751" name="Text Box 29"/>
          <p:cNvSpPr txBox="1">
            <a:spLocks noChangeArrowheads="1"/>
          </p:cNvSpPr>
          <p:nvPr/>
        </p:nvSpPr>
        <p:spPr bwMode="auto">
          <a:xfrm>
            <a:off x="3054350" y="2667000"/>
            <a:ext cx="619125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buFontTx/>
              <a:buChar char="•"/>
            </a:pPr>
            <a:r>
              <a:rPr lang="zh-CN" altLang="en-US" sz="2000">
                <a:solidFill>
                  <a:schemeClr val="accent2"/>
                </a:solidFill>
                <a:ea typeface="宋体" panose="02010600030101010101" pitchFamily="2" charset="-122"/>
              </a:rPr>
              <a:t> </a:t>
            </a:r>
            <a:r>
              <a:rPr lang="en-US" altLang="zh-CN" sz="2000">
                <a:solidFill>
                  <a:schemeClr val="accent2"/>
                </a:solidFill>
                <a:ea typeface="宋体" panose="02010600030101010101" pitchFamily="2" charset="-122"/>
              </a:rPr>
              <a:t>Given an input string, we trace moves </a:t>
            </a:r>
          </a:p>
          <a:p>
            <a:pPr eaLnBrk="1" hangingPunct="1">
              <a:spcBef>
                <a:spcPct val="50000"/>
              </a:spcBef>
              <a:buFontTx/>
              <a:buChar char="•"/>
            </a:pPr>
            <a:r>
              <a:rPr lang="en-US" altLang="zh-CN" sz="2000">
                <a:solidFill>
                  <a:schemeClr val="accent2"/>
                </a:solidFill>
                <a:ea typeface="宋体" panose="02010600030101010101" pitchFamily="2" charset="-122"/>
              </a:rPr>
              <a:t> If no more input &amp; in final state, ACCEPT </a:t>
            </a:r>
          </a:p>
        </p:txBody>
      </p:sp>
      <p:sp>
        <p:nvSpPr>
          <p:cNvPr id="31752" name="Text Box 30"/>
          <p:cNvSpPr txBox="1">
            <a:spLocks noChangeArrowheads="1"/>
          </p:cNvSpPr>
          <p:nvPr/>
        </p:nvSpPr>
        <p:spPr bwMode="auto">
          <a:xfrm>
            <a:off x="1403350" y="3581400"/>
            <a:ext cx="3405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a:ea typeface="宋体" panose="02010600030101010101" pitchFamily="2" charset="-122"/>
              </a:rPr>
              <a:t>EXAMPLE:</a:t>
            </a:r>
            <a:r>
              <a:rPr lang="en-US" altLang="zh-CN" sz="2000">
                <a:solidFill>
                  <a:srgbClr val="00CC00"/>
                </a:solidFill>
                <a:ea typeface="宋体" panose="02010600030101010101" pitchFamily="2" charset="-122"/>
              </a:rPr>
              <a:t>  </a:t>
            </a:r>
            <a:r>
              <a:rPr lang="en-US" altLang="zh-CN" sz="2000">
                <a:ea typeface="宋体" panose="02010600030101010101" pitchFamily="2" charset="-122"/>
              </a:rPr>
              <a:t>Input:  ababb</a:t>
            </a:r>
            <a:endParaRPr lang="en-US" altLang="zh-CN" sz="2000">
              <a:solidFill>
                <a:srgbClr val="00CC00"/>
              </a:solidFill>
              <a:ea typeface="宋体" panose="02010600030101010101" pitchFamily="2" charset="-122"/>
            </a:endParaRPr>
          </a:p>
        </p:txBody>
      </p:sp>
      <p:sp>
        <p:nvSpPr>
          <p:cNvPr id="431135" name="Text Box 31"/>
          <p:cNvSpPr txBox="1">
            <a:spLocks noChangeArrowheads="1"/>
          </p:cNvSpPr>
          <p:nvPr/>
        </p:nvSpPr>
        <p:spPr bwMode="auto">
          <a:xfrm>
            <a:off x="1733550" y="4419600"/>
            <a:ext cx="343535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i="1">
                <a:ea typeface="宋体" panose="02010600030101010101" pitchFamily="2" charset="-122"/>
              </a:rPr>
              <a:t>move</a:t>
            </a:r>
            <a:r>
              <a:rPr lang="en-US" altLang="zh-CN" sz="2000">
                <a:ea typeface="宋体" panose="02010600030101010101" pitchFamily="2" charset="-122"/>
              </a:rPr>
              <a:t>(0, a) = 1</a:t>
            </a:r>
          </a:p>
          <a:p>
            <a:pPr eaLnBrk="1" hangingPunct="1">
              <a:lnSpc>
                <a:spcPct val="70000"/>
              </a:lnSpc>
              <a:spcBef>
                <a:spcPct val="50000"/>
              </a:spcBef>
            </a:pPr>
            <a:r>
              <a:rPr lang="en-US" altLang="zh-CN" sz="2000" i="1">
                <a:ea typeface="宋体" panose="02010600030101010101" pitchFamily="2" charset="-122"/>
              </a:rPr>
              <a:t>move</a:t>
            </a:r>
            <a:r>
              <a:rPr lang="en-US" altLang="zh-CN" sz="2000">
                <a:ea typeface="宋体" panose="02010600030101010101" pitchFamily="2" charset="-122"/>
              </a:rPr>
              <a:t>(1, b) = 2</a:t>
            </a:r>
          </a:p>
          <a:p>
            <a:pPr eaLnBrk="1" hangingPunct="1">
              <a:lnSpc>
                <a:spcPct val="70000"/>
              </a:lnSpc>
              <a:spcBef>
                <a:spcPct val="50000"/>
              </a:spcBef>
            </a:pPr>
            <a:r>
              <a:rPr lang="en-US" altLang="zh-CN" sz="2000" i="1">
                <a:ea typeface="宋体" panose="02010600030101010101" pitchFamily="2" charset="-122"/>
              </a:rPr>
              <a:t>move</a:t>
            </a:r>
            <a:r>
              <a:rPr lang="en-US" altLang="zh-CN" sz="2000">
                <a:ea typeface="宋体" panose="02010600030101010101" pitchFamily="2" charset="-122"/>
              </a:rPr>
              <a:t>(2, a) = ? (undefined)</a:t>
            </a:r>
          </a:p>
          <a:p>
            <a:pPr eaLnBrk="1" hangingPunct="1">
              <a:lnSpc>
                <a:spcPct val="70000"/>
              </a:lnSpc>
              <a:spcBef>
                <a:spcPct val="50000"/>
              </a:spcBef>
            </a:pPr>
            <a:endParaRPr lang="en-US" altLang="zh-CN" sz="2000">
              <a:ea typeface="宋体" panose="02010600030101010101" pitchFamily="2" charset="-122"/>
            </a:endParaRPr>
          </a:p>
          <a:p>
            <a:pPr eaLnBrk="1" hangingPunct="1">
              <a:lnSpc>
                <a:spcPct val="70000"/>
              </a:lnSpc>
              <a:spcBef>
                <a:spcPct val="50000"/>
              </a:spcBef>
            </a:pPr>
            <a:r>
              <a:rPr lang="en-US" altLang="zh-CN" sz="2000">
                <a:solidFill>
                  <a:srgbClr val="FF3300"/>
                </a:solidFill>
                <a:ea typeface="宋体" panose="02010600030101010101" pitchFamily="2" charset="-122"/>
              </a:rPr>
              <a:t>REJECT !</a:t>
            </a:r>
            <a:endParaRPr lang="en-US" altLang="zh-CN" sz="2000">
              <a:ea typeface="宋体" panose="02010600030101010101" pitchFamily="2" charset="-122"/>
            </a:endParaRPr>
          </a:p>
        </p:txBody>
      </p:sp>
      <p:sp>
        <p:nvSpPr>
          <p:cNvPr id="431136" name="Text Box 32"/>
          <p:cNvSpPr txBox="1">
            <a:spLocks noChangeArrowheads="1"/>
          </p:cNvSpPr>
          <p:nvPr/>
        </p:nvSpPr>
        <p:spPr bwMode="auto">
          <a:xfrm>
            <a:off x="5943600" y="4114800"/>
            <a:ext cx="2897188" cy="222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000" i="1">
                <a:ea typeface="宋体" panose="02010600030101010101" pitchFamily="2" charset="-122"/>
              </a:rPr>
              <a:t>move</a:t>
            </a:r>
            <a:r>
              <a:rPr lang="en-US" altLang="zh-CN" sz="2000">
                <a:ea typeface="宋体" panose="02010600030101010101" pitchFamily="2" charset="-122"/>
              </a:rPr>
              <a:t>(0, a) = 0</a:t>
            </a:r>
          </a:p>
          <a:p>
            <a:pPr eaLnBrk="1" hangingPunct="1">
              <a:lnSpc>
                <a:spcPct val="70000"/>
              </a:lnSpc>
              <a:spcBef>
                <a:spcPct val="50000"/>
              </a:spcBef>
            </a:pPr>
            <a:r>
              <a:rPr lang="en-US" altLang="zh-CN" sz="2000" i="1">
                <a:ea typeface="宋体" panose="02010600030101010101" pitchFamily="2" charset="-122"/>
              </a:rPr>
              <a:t>move</a:t>
            </a:r>
            <a:r>
              <a:rPr lang="en-US" altLang="zh-CN" sz="2000">
                <a:ea typeface="宋体" panose="02010600030101010101" pitchFamily="2" charset="-122"/>
              </a:rPr>
              <a:t>(0, b) = 0</a:t>
            </a:r>
          </a:p>
          <a:p>
            <a:pPr eaLnBrk="1" hangingPunct="1">
              <a:lnSpc>
                <a:spcPct val="70000"/>
              </a:lnSpc>
              <a:spcBef>
                <a:spcPct val="50000"/>
              </a:spcBef>
            </a:pPr>
            <a:r>
              <a:rPr lang="en-US" altLang="zh-CN" sz="2000" i="1">
                <a:ea typeface="宋体" panose="02010600030101010101" pitchFamily="2" charset="-122"/>
              </a:rPr>
              <a:t>move</a:t>
            </a:r>
            <a:r>
              <a:rPr lang="en-US" altLang="zh-CN" sz="2000">
                <a:ea typeface="宋体" panose="02010600030101010101" pitchFamily="2" charset="-122"/>
              </a:rPr>
              <a:t>(0, a) = 1</a:t>
            </a:r>
          </a:p>
          <a:p>
            <a:pPr eaLnBrk="1" hangingPunct="1">
              <a:lnSpc>
                <a:spcPct val="70000"/>
              </a:lnSpc>
              <a:spcBef>
                <a:spcPct val="50000"/>
              </a:spcBef>
            </a:pPr>
            <a:r>
              <a:rPr lang="en-US" altLang="zh-CN" sz="2000" i="1">
                <a:ea typeface="宋体" panose="02010600030101010101" pitchFamily="2" charset="-122"/>
              </a:rPr>
              <a:t>move</a:t>
            </a:r>
            <a:r>
              <a:rPr lang="en-US" altLang="zh-CN" sz="2000">
                <a:ea typeface="宋体" panose="02010600030101010101" pitchFamily="2" charset="-122"/>
              </a:rPr>
              <a:t>(1, b) = 2</a:t>
            </a:r>
          </a:p>
          <a:p>
            <a:pPr eaLnBrk="1" hangingPunct="1">
              <a:lnSpc>
                <a:spcPct val="70000"/>
              </a:lnSpc>
              <a:spcBef>
                <a:spcPct val="50000"/>
              </a:spcBef>
            </a:pPr>
            <a:r>
              <a:rPr lang="en-US" altLang="zh-CN" sz="2000" i="1">
                <a:ea typeface="宋体" panose="02010600030101010101" pitchFamily="2" charset="-122"/>
              </a:rPr>
              <a:t>move</a:t>
            </a:r>
            <a:r>
              <a:rPr lang="en-US" altLang="zh-CN" sz="2000">
                <a:ea typeface="宋体" panose="02010600030101010101" pitchFamily="2" charset="-122"/>
              </a:rPr>
              <a:t>(2, b) = 3</a:t>
            </a:r>
          </a:p>
          <a:p>
            <a:pPr eaLnBrk="1" hangingPunct="1">
              <a:lnSpc>
                <a:spcPct val="70000"/>
              </a:lnSpc>
              <a:spcBef>
                <a:spcPct val="50000"/>
              </a:spcBef>
            </a:pPr>
            <a:r>
              <a:rPr lang="en-US" altLang="zh-CN" sz="2000">
                <a:solidFill>
                  <a:schemeClr val="accent2"/>
                </a:solidFill>
                <a:ea typeface="宋体" panose="02010600030101010101" pitchFamily="2" charset="-122"/>
              </a:rPr>
              <a:t>ACCEPT !</a:t>
            </a:r>
            <a:endParaRPr lang="en-US" altLang="zh-CN" sz="2000">
              <a:ea typeface="宋体" panose="02010600030101010101" pitchFamily="2" charset="-122"/>
            </a:endParaRPr>
          </a:p>
        </p:txBody>
      </p:sp>
      <p:sp>
        <p:nvSpPr>
          <p:cNvPr id="431137" name="Rectangle 33"/>
          <p:cNvSpPr>
            <a:spLocks noChangeArrowheads="1"/>
          </p:cNvSpPr>
          <p:nvPr/>
        </p:nvSpPr>
        <p:spPr bwMode="auto">
          <a:xfrm>
            <a:off x="1651000" y="4419600"/>
            <a:ext cx="3549650" cy="18288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1138" name="Rectangle 34"/>
          <p:cNvSpPr>
            <a:spLocks noChangeArrowheads="1"/>
          </p:cNvSpPr>
          <p:nvPr/>
        </p:nvSpPr>
        <p:spPr bwMode="auto">
          <a:xfrm>
            <a:off x="5778500" y="4114800"/>
            <a:ext cx="3054350" cy="22098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1757" name="Text Box 35"/>
          <p:cNvSpPr txBox="1">
            <a:spLocks noChangeArrowheads="1"/>
          </p:cNvSpPr>
          <p:nvPr/>
        </p:nvSpPr>
        <p:spPr bwMode="auto">
          <a:xfrm>
            <a:off x="6273800" y="3657600"/>
            <a:ext cx="115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solidFill>
                  <a:schemeClr val="accent2"/>
                </a:solidFill>
                <a:ea typeface="宋体" panose="02010600030101010101" pitchFamily="2" charset="-122"/>
              </a:rPr>
              <a:t>-OR-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1135"/>
                                        </p:tgtEl>
                                        <p:attrNameLst>
                                          <p:attrName>style.visibility</p:attrName>
                                        </p:attrNameLst>
                                      </p:cBhvr>
                                      <p:to>
                                        <p:strVal val="visible"/>
                                      </p:to>
                                    </p:set>
                                    <p:anim calcmode="lin" valueType="num">
                                      <p:cBhvr additive="base">
                                        <p:cTn id="7" dur="1000" fill="hold"/>
                                        <p:tgtEl>
                                          <p:spTgt spid="431135"/>
                                        </p:tgtEl>
                                        <p:attrNameLst>
                                          <p:attrName>ppt_x</p:attrName>
                                        </p:attrNameLst>
                                      </p:cBhvr>
                                      <p:tavLst>
                                        <p:tav tm="0">
                                          <p:val>
                                            <p:strVal val="#ppt_x"/>
                                          </p:val>
                                        </p:tav>
                                        <p:tav tm="100000">
                                          <p:val>
                                            <p:strVal val="#ppt_x"/>
                                          </p:val>
                                        </p:tav>
                                      </p:tavLst>
                                    </p:anim>
                                    <p:anim calcmode="lin" valueType="num">
                                      <p:cBhvr additive="base">
                                        <p:cTn id="8" dur="1000" fill="hold"/>
                                        <p:tgtEl>
                                          <p:spTgt spid="43113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1137"/>
                                        </p:tgtEl>
                                        <p:attrNameLst>
                                          <p:attrName>style.visibility</p:attrName>
                                        </p:attrNameLst>
                                      </p:cBhvr>
                                      <p:to>
                                        <p:strVal val="visible"/>
                                      </p:to>
                                    </p:set>
                                    <p:anim calcmode="lin" valueType="num">
                                      <p:cBhvr additive="base">
                                        <p:cTn id="11" dur="1000" fill="hold"/>
                                        <p:tgtEl>
                                          <p:spTgt spid="431137"/>
                                        </p:tgtEl>
                                        <p:attrNameLst>
                                          <p:attrName>ppt_x</p:attrName>
                                        </p:attrNameLst>
                                      </p:cBhvr>
                                      <p:tavLst>
                                        <p:tav tm="0">
                                          <p:val>
                                            <p:strVal val="#ppt_x"/>
                                          </p:val>
                                        </p:tav>
                                        <p:tav tm="100000">
                                          <p:val>
                                            <p:strVal val="#ppt_x"/>
                                          </p:val>
                                        </p:tav>
                                      </p:tavLst>
                                    </p:anim>
                                    <p:anim calcmode="lin" valueType="num">
                                      <p:cBhvr additive="base">
                                        <p:cTn id="12" dur="1000" fill="hold"/>
                                        <p:tgtEl>
                                          <p:spTgt spid="43113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31136"/>
                                        </p:tgtEl>
                                        <p:attrNameLst>
                                          <p:attrName>style.visibility</p:attrName>
                                        </p:attrNameLst>
                                      </p:cBhvr>
                                      <p:to>
                                        <p:strVal val="visible"/>
                                      </p:to>
                                    </p:set>
                                    <p:anim calcmode="lin" valueType="num">
                                      <p:cBhvr additive="base">
                                        <p:cTn id="17" dur="1000" fill="hold"/>
                                        <p:tgtEl>
                                          <p:spTgt spid="431136"/>
                                        </p:tgtEl>
                                        <p:attrNameLst>
                                          <p:attrName>ppt_x</p:attrName>
                                        </p:attrNameLst>
                                      </p:cBhvr>
                                      <p:tavLst>
                                        <p:tav tm="0">
                                          <p:val>
                                            <p:strVal val="#ppt_x"/>
                                          </p:val>
                                        </p:tav>
                                        <p:tav tm="100000">
                                          <p:val>
                                            <p:strVal val="#ppt_x"/>
                                          </p:val>
                                        </p:tav>
                                      </p:tavLst>
                                    </p:anim>
                                    <p:anim calcmode="lin" valueType="num">
                                      <p:cBhvr additive="base">
                                        <p:cTn id="18" dur="1000" fill="hold"/>
                                        <p:tgtEl>
                                          <p:spTgt spid="43113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31138"/>
                                        </p:tgtEl>
                                        <p:attrNameLst>
                                          <p:attrName>style.visibility</p:attrName>
                                        </p:attrNameLst>
                                      </p:cBhvr>
                                      <p:to>
                                        <p:strVal val="visible"/>
                                      </p:to>
                                    </p:set>
                                    <p:anim calcmode="lin" valueType="num">
                                      <p:cBhvr additive="base">
                                        <p:cTn id="21" dur="1000" fill="hold"/>
                                        <p:tgtEl>
                                          <p:spTgt spid="431138"/>
                                        </p:tgtEl>
                                        <p:attrNameLst>
                                          <p:attrName>ppt_x</p:attrName>
                                        </p:attrNameLst>
                                      </p:cBhvr>
                                      <p:tavLst>
                                        <p:tav tm="0">
                                          <p:val>
                                            <p:strVal val="#ppt_x"/>
                                          </p:val>
                                        </p:tav>
                                        <p:tav tm="100000">
                                          <p:val>
                                            <p:strVal val="#ppt_x"/>
                                          </p:val>
                                        </p:tav>
                                      </p:tavLst>
                                    </p:anim>
                                    <p:anim calcmode="lin" valueType="num">
                                      <p:cBhvr additive="base">
                                        <p:cTn id="22" dur="1000" fill="hold"/>
                                        <p:tgtEl>
                                          <p:spTgt spid="4311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35" grpId="0"/>
      <p:bldP spid="431136" grpId="0"/>
      <p:bldP spid="431137" grpId="0" animBg="1"/>
      <p:bldP spid="43113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277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277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BDDDFBC3-D063-468D-96A1-D3719970E742}" type="slidenum">
              <a:rPr lang="zh-CN" altLang="en-US" sz="800" b="0"/>
              <a:pPr/>
              <a:t>31</a:t>
            </a:fld>
            <a:endParaRPr lang="en-US" altLang="zh-CN" sz="800" b="0"/>
          </a:p>
        </p:txBody>
      </p:sp>
      <p:sp>
        <p:nvSpPr>
          <p:cNvPr id="32773"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Handling Undefined Transitions</a:t>
            </a:r>
          </a:p>
        </p:txBody>
      </p:sp>
      <p:sp>
        <p:nvSpPr>
          <p:cNvPr id="32774" name="Text Box 3"/>
          <p:cNvSpPr txBox="1">
            <a:spLocks noChangeArrowheads="1"/>
          </p:cNvSpPr>
          <p:nvPr/>
        </p:nvSpPr>
        <p:spPr bwMode="auto">
          <a:xfrm>
            <a:off x="1281113" y="1341438"/>
            <a:ext cx="79248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800" b="0">
                <a:ea typeface="宋体" panose="02010600030101010101" pitchFamily="2" charset="-122"/>
              </a:rPr>
              <a:t>We can handle undefined transitions by defining one more state, a </a:t>
            </a:r>
            <a:r>
              <a:rPr lang="en-US" altLang="zh-CN" sz="2800" b="0">
                <a:solidFill>
                  <a:srgbClr val="660066"/>
                </a:solidFill>
                <a:ea typeface="宋体" panose="02010600030101010101" pitchFamily="2" charset="-122"/>
              </a:rPr>
              <a:t>“death” state</a:t>
            </a:r>
            <a:r>
              <a:rPr lang="en-US" altLang="zh-CN" sz="2800" b="0">
                <a:ea typeface="宋体" panose="02010600030101010101" pitchFamily="2" charset="-122"/>
              </a:rPr>
              <a:t>, and transitioning all previously undefined transition to this death state.</a:t>
            </a:r>
          </a:p>
        </p:txBody>
      </p:sp>
      <p:grpSp>
        <p:nvGrpSpPr>
          <p:cNvPr id="32775" name="Group 4"/>
          <p:cNvGrpSpPr>
            <a:grpSpLocks/>
          </p:cNvGrpSpPr>
          <p:nvPr/>
        </p:nvGrpSpPr>
        <p:grpSpPr bwMode="auto">
          <a:xfrm>
            <a:off x="1928813" y="3141663"/>
            <a:ext cx="5365750" cy="2728912"/>
            <a:chOff x="1200" y="2112"/>
            <a:chExt cx="3120" cy="1719"/>
          </a:xfrm>
        </p:grpSpPr>
        <p:grpSp>
          <p:nvGrpSpPr>
            <p:cNvPr id="32776" name="Group 5"/>
            <p:cNvGrpSpPr>
              <a:grpSpLocks/>
            </p:cNvGrpSpPr>
            <p:nvPr/>
          </p:nvGrpSpPr>
          <p:grpSpPr bwMode="auto">
            <a:xfrm>
              <a:off x="3936" y="2400"/>
              <a:ext cx="384" cy="384"/>
              <a:chOff x="2496" y="2688"/>
              <a:chExt cx="384" cy="384"/>
            </a:xfrm>
          </p:grpSpPr>
          <p:sp>
            <p:nvSpPr>
              <p:cNvPr id="32810" name="Oval 6"/>
              <p:cNvSpPr>
                <a:spLocks noChangeArrowheads="1"/>
              </p:cNvSpPr>
              <p:nvPr/>
            </p:nvSpPr>
            <p:spPr bwMode="auto">
              <a:xfrm>
                <a:off x="2496" y="2688"/>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2811" name="Oval 7"/>
              <p:cNvSpPr>
                <a:spLocks noChangeArrowheads="1"/>
              </p:cNvSpPr>
              <p:nvPr/>
            </p:nvSpPr>
            <p:spPr bwMode="auto">
              <a:xfrm>
                <a:off x="2544" y="273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2777" name="Line 8"/>
            <p:cNvSpPr>
              <a:spLocks noChangeShapeType="1"/>
            </p:cNvSpPr>
            <p:nvPr/>
          </p:nvSpPr>
          <p:spPr bwMode="auto">
            <a:xfrm>
              <a:off x="3552" y="25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8" name="Line 9"/>
            <p:cNvSpPr>
              <a:spLocks noChangeShapeType="1"/>
            </p:cNvSpPr>
            <p:nvPr/>
          </p:nvSpPr>
          <p:spPr bwMode="auto">
            <a:xfrm>
              <a:off x="2016" y="25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9" name="Line 10"/>
            <p:cNvSpPr>
              <a:spLocks noChangeShapeType="1"/>
            </p:cNvSpPr>
            <p:nvPr/>
          </p:nvSpPr>
          <p:spPr bwMode="auto">
            <a:xfrm>
              <a:off x="1248" y="25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0" name="Text Box 11"/>
            <p:cNvSpPr txBox="1">
              <a:spLocks noChangeArrowheads="1"/>
            </p:cNvSpPr>
            <p:nvPr/>
          </p:nvSpPr>
          <p:spPr bwMode="auto">
            <a:xfrm>
              <a:off x="1200" y="240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400">
                  <a:ea typeface="宋体" panose="02010600030101010101" pitchFamily="2" charset="-122"/>
                </a:rPr>
                <a:t>start</a:t>
              </a:r>
            </a:p>
          </p:txBody>
        </p:sp>
        <p:grpSp>
          <p:nvGrpSpPr>
            <p:cNvPr id="32781" name="Group 12"/>
            <p:cNvGrpSpPr>
              <a:grpSpLocks/>
            </p:cNvGrpSpPr>
            <p:nvPr/>
          </p:nvGrpSpPr>
          <p:grpSpPr bwMode="auto">
            <a:xfrm>
              <a:off x="1632" y="2400"/>
              <a:ext cx="384" cy="384"/>
              <a:chOff x="2736" y="1200"/>
              <a:chExt cx="384" cy="384"/>
            </a:xfrm>
          </p:grpSpPr>
          <p:sp>
            <p:nvSpPr>
              <p:cNvPr id="32808" name="Oval 13"/>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2809" name="Text Box 14"/>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32782" name="Text Box 15"/>
            <p:cNvSpPr txBox="1">
              <a:spLocks noChangeArrowheads="1"/>
            </p:cNvSpPr>
            <p:nvPr/>
          </p:nvSpPr>
          <p:spPr bwMode="auto">
            <a:xfrm>
              <a:off x="4032" y="24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32783" name="Text Box 16"/>
            <p:cNvSpPr txBox="1">
              <a:spLocks noChangeArrowheads="1"/>
            </p:cNvSpPr>
            <p:nvPr/>
          </p:nvSpPr>
          <p:spPr bwMode="auto">
            <a:xfrm>
              <a:off x="3600" y="24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2784" name="Line 17"/>
            <p:cNvSpPr>
              <a:spLocks noChangeShapeType="1"/>
            </p:cNvSpPr>
            <p:nvPr/>
          </p:nvSpPr>
          <p:spPr bwMode="auto">
            <a:xfrm>
              <a:off x="2784" y="25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2785" name="Group 18"/>
            <p:cNvGrpSpPr>
              <a:grpSpLocks/>
            </p:cNvGrpSpPr>
            <p:nvPr/>
          </p:nvGrpSpPr>
          <p:grpSpPr bwMode="auto">
            <a:xfrm>
              <a:off x="3168" y="2400"/>
              <a:ext cx="384" cy="384"/>
              <a:chOff x="2736" y="1200"/>
              <a:chExt cx="384" cy="384"/>
            </a:xfrm>
          </p:grpSpPr>
          <p:sp>
            <p:nvSpPr>
              <p:cNvPr id="32806" name="Oval 19"/>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2807" name="Text Box 20"/>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grpSp>
        <p:grpSp>
          <p:nvGrpSpPr>
            <p:cNvPr id="32786" name="Group 21"/>
            <p:cNvGrpSpPr>
              <a:grpSpLocks/>
            </p:cNvGrpSpPr>
            <p:nvPr/>
          </p:nvGrpSpPr>
          <p:grpSpPr bwMode="auto">
            <a:xfrm>
              <a:off x="2400" y="2400"/>
              <a:ext cx="384" cy="384"/>
              <a:chOff x="2736" y="1200"/>
              <a:chExt cx="384" cy="384"/>
            </a:xfrm>
          </p:grpSpPr>
          <p:sp>
            <p:nvSpPr>
              <p:cNvPr id="32804" name="Oval 22"/>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2805" name="Text Box 23"/>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32787" name="Text Box 24"/>
            <p:cNvSpPr txBox="1">
              <a:spLocks noChangeArrowheads="1"/>
            </p:cNvSpPr>
            <p:nvPr/>
          </p:nvSpPr>
          <p:spPr bwMode="auto">
            <a:xfrm>
              <a:off x="2832" y="24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2788" name="Text Box 25"/>
            <p:cNvSpPr txBox="1">
              <a:spLocks noChangeArrowheads="1"/>
            </p:cNvSpPr>
            <p:nvPr/>
          </p:nvSpPr>
          <p:spPr bwMode="auto">
            <a:xfrm>
              <a:off x="2064" y="24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32789" name="AutoShape 26"/>
            <p:cNvCxnSpPr>
              <a:cxnSpLocks noChangeShapeType="1"/>
              <a:stCxn id="32808" idx="7"/>
              <a:endCxn id="32808" idx="0"/>
            </p:cNvCxnSpPr>
            <p:nvPr/>
          </p:nvCxnSpPr>
          <p:spPr bwMode="auto">
            <a:xfrm rot="5400000" flipH="1">
              <a:off x="1864" y="2360"/>
              <a:ext cx="56" cy="136"/>
            </a:xfrm>
            <a:prstGeom prst="curvedConnector3">
              <a:avLst>
                <a:gd name="adj1" fmla="val 7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90" name="Text Box 27"/>
            <p:cNvSpPr txBox="1">
              <a:spLocks noChangeArrowheads="1"/>
            </p:cNvSpPr>
            <p:nvPr/>
          </p:nvSpPr>
          <p:spPr bwMode="auto">
            <a:xfrm>
              <a:off x="1632" y="211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32791" name="AutoShape 28"/>
            <p:cNvCxnSpPr>
              <a:cxnSpLocks noChangeShapeType="1"/>
              <a:stCxn id="32808" idx="3"/>
              <a:endCxn id="32808" idx="4"/>
            </p:cNvCxnSpPr>
            <p:nvPr/>
          </p:nvCxnSpPr>
          <p:spPr bwMode="auto">
            <a:xfrm rot="16200000" flipH="1">
              <a:off x="1728" y="2688"/>
              <a:ext cx="56" cy="136"/>
            </a:xfrm>
            <a:prstGeom prst="curvedConnector3">
              <a:avLst>
                <a:gd name="adj1" fmla="val 6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92" name="Text Box 29"/>
            <p:cNvSpPr txBox="1">
              <a:spLocks noChangeArrowheads="1"/>
            </p:cNvSpPr>
            <p:nvPr/>
          </p:nvSpPr>
          <p:spPr bwMode="auto">
            <a:xfrm>
              <a:off x="1776" y="288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grpSp>
          <p:nvGrpSpPr>
            <p:cNvPr id="32793" name="Group 30"/>
            <p:cNvGrpSpPr>
              <a:grpSpLocks/>
            </p:cNvGrpSpPr>
            <p:nvPr/>
          </p:nvGrpSpPr>
          <p:grpSpPr bwMode="auto">
            <a:xfrm>
              <a:off x="3024" y="3312"/>
              <a:ext cx="384" cy="384"/>
              <a:chOff x="2736" y="1200"/>
              <a:chExt cx="384" cy="384"/>
            </a:xfrm>
          </p:grpSpPr>
          <p:sp>
            <p:nvSpPr>
              <p:cNvPr id="32802" name="Oval 31"/>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2803" name="Text Box 32"/>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4</a:t>
                </a:r>
              </a:p>
            </p:txBody>
          </p:sp>
        </p:grpSp>
        <p:sp>
          <p:nvSpPr>
            <p:cNvPr id="32794" name="Line 33"/>
            <p:cNvSpPr>
              <a:spLocks noChangeShapeType="1"/>
            </p:cNvSpPr>
            <p:nvPr/>
          </p:nvSpPr>
          <p:spPr bwMode="auto">
            <a:xfrm>
              <a:off x="2640" y="2784"/>
              <a:ext cx="432" cy="576"/>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5" name="Line 34"/>
            <p:cNvSpPr>
              <a:spLocks noChangeShapeType="1"/>
            </p:cNvSpPr>
            <p:nvPr/>
          </p:nvSpPr>
          <p:spPr bwMode="auto">
            <a:xfrm flipH="1">
              <a:off x="3216" y="2784"/>
              <a:ext cx="144" cy="528"/>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6" name="Line 35"/>
            <p:cNvSpPr>
              <a:spLocks noChangeShapeType="1"/>
            </p:cNvSpPr>
            <p:nvPr/>
          </p:nvSpPr>
          <p:spPr bwMode="auto">
            <a:xfrm flipH="1">
              <a:off x="3360" y="2784"/>
              <a:ext cx="768" cy="624"/>
            </a:xfrm>
            <a:prstGeom prst="line">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7" name="Text Box 36"/>
            <p:cNvSpPr txBox="1">
              <a:spLocks noChangeArrowheads="1"/>
            </p:cNvSpPr>
            <p:nvPr/>
          </p:nvSpPr>
          <p:spPr bwMode="auto">
            <a:xfrm>
              <a:off x="3648" y="307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 b</a:t>
              </a:r>
            </a:p>
          </p:txBody>
        </p:sp>
        <p:sp>
          <p:nvSpPr>
            <p:cNvPr id="32798" name="Text Box 37"/>
            <p:cNvSpPr txBox="1">
              <a:spLocks noChangeArrowheads="1"/>
            </p:cNvSpPr>
            <p:nvPr/>
          </p:nvSpPr>
          <p:spPr bwMode="auto">
            <a:xfrm>
              <a:off x="3120" y="283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32799" name="Text Box 38"/>
            <p:cNvSpPr txBox="1">
              <a:spLocks noChangeArrowheads="1"/>
            </p:cNvSpPr>
            <p:nvPr/>
          </p:nvSpPr>
          <p:spPr bwMode="auto">
            <a:xfrm>
              <a:off x="2592" y="2928"/>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32800" name="AutoShape 39"/>
            <p:cNvCxnSpPr>
              <a:cxnSpLocks noChangeShapeType="1"/>
              <a:stCxn id="32802" idx="4"/>
              <a:endCxn id="32802" idx="2"/>
            </p:cNvCxnSpPr>
            <p:nvPr/>
          </p:nvCxnSpPr>
          <p:spPr bwMode="auto">
            <a:xfrm rot="16200000" flipV="1">
              <a:off x="3024" y="3504"/>
              <a:ext cx="192" cy="192"/>
            </a:xfrm>
            <a:prstGeom prst="curvedConnector4">
              <a:avLst>
                <a:gd name="adj1" fmla="val -75000"/>
                <a:gd name="adj2" fmla="val 175000"/>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801" name="Text Box 40"/>
            <p:cNvSpPr txBox="1">
              <a:spLocks noChangeArrowheads="1"/>
            </p:cNvSpPr>
            <p:nvPr/>
          </p:nvSpPr>
          <p:spPr bwMode="auto">
            <a:xfrm>
              <a:off x="2688" y="36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grpSp>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3795"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3796"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5F9FB63-8126-4213-8A28-F18C7E8D7663}" type="slidenum">
              <a:rPr lang="zh-CN" altLang="en-US" sz="800" b="0"/>
              <a:pPr/>
              <a:t>32</a:t>
            </a:fld>
            <a:endParaRPr lang="en-US" altLang="zh-CN" sz="800" b="0"/>
          </a:p>
        </p:txBody>
      </p:sp>
      <p:sp>
        <p:nvSpPr>
          <p:cNvPr id="33797"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NFA- Regular Expressions &amp; Compilation</a:t>
            </a:r>
          </a:p>
        </p:txBody>
      </p:sp>
      <p:sp>
        <p:nvSpPr>
          <p:cNvPr id="33798" name="Text Box 3"/>
          <p:cNvSpPr txBox="1">
            <a:spLocks noChangeArrowheads="1"/>
          </p:cNvSpPr>
          <p:nvPr/>
        </p:nvSpPr>
        <p:spPr bwMode="auto">
          <a:xfrm>
            <a:off x="1320800" y="1219200"/>
            <a:ext cx="84201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u="sng">
                <a:ea typeface="宋体" panose="02010600030101010101" pitchFamily="2" charset="-122"/>
              </a:rPr>
              <a:t>Problems with NFAs for Regular Expressions:</a:t>
            </a:r>
            <a:endParaRPr lang="en-US" altLang="zh-CN">
              <a:ea typeface="宋体" panose="02010600030101010101" pitchFamily="2" charset="-122"/>
            </a:endParaRPr>
          </a:p>
          <a:p>
            <a:pPr eaLnBrk="1" hangingPunct="1">
              <a:spcBef>
                <a:spcPct val="50000"/>
              </a:spcBef>
            </a:pPr>
            <a:r>
              <a:rPr lang="en-US" altLang="zh-CN">
                <a:solidFill>
                  <a:schemeClr val="accent2"/>
                </a:solidFill>
                <a:ea typeface="宋体" panose="02010600030101010101" pitchFamily="2" charset="-122"/>
              </a:rPr>
              <a:t>1.  Valid input might not be accepted</a:t>
            </a:r>
          </a:p>
          <a:p>
            <a:pPr eaLnBrk="1" hangingPunct="1">
              <a:spcBef>
                <a:spcPct val="50000"/>
              </a:spcBef>
            </a:pPr>
            <a:r>
              <a:rPr lang="en-US" altLang="zh-CN">
                <a:solidFill>
                  <a:schemeClr val="accent2"/>
                </a:solidFill>
                <a:ea typeface="宋体" panose="02010600030101010101" pitchFamily="2" charset="-122"/>
              </a:rPr>
              <a:t>2.  NFA may behave differently on the same input</a:t>
            </a:r>
          </a:p>
        </p:txBody>
      </p:sp>
      <p:sp>
        <p:nvSpPr>
          <p:cNvPr id="33799" name="Text Box 4"/>
          <p:cNvSpPr txBox="1">
            <a:spLocks noChangeArrowheads="1"/>
          </p:cNvSpPr>
          <p:nvPr/>
        </p:nvSpPr>
        <p:spPr bwMode="auto">
          <a:xfrm>
            <a:off x="1320800" y="3200400"/>
            <a:ext cx="8240713"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u="sng">
                <a:ea typeface="宋体" panose="02010600030101010101" pitchFamily="2" charset="-122"/>
              </a:rPr>
              <a:t>Relationship of NFAs to Compilation:</a:t>
            </a:r>
            <a:endParaRPr lang="en-US" altLang="zh-CN">
              <a:ea typeface="宋体" panose="02010600030101010101" pitchFamily="2" charset="-122"/>
            </a:endParaRPr>
          </a:p>
          <a:p>
            <a:pPr eaLnBrk="1" hangingPunct="1">
              <a:spcBef>
                <a:spcPct val="50000"/>
              </a:spcBef>
            </a:pPr>
            <a:r>
              <a:rPr lang="en-US" altLang="zh-CN">
                <a:solidFill>
                  <a:schemeClr val="accent2"/>
                </a:solidFill>
                <a:ea typeface="宋体" panose="02010600030101010101" pitchFamily="2" charset="-122"/>
              </a:rPr>
              <a:t>1.  Regular expression “</a:t>
            </a:r>
            <a:r>
              <a:rPr lang="en-US" altLang="zh-CN">
                <a:solidFill>
                  <a:srgbClr val="660066"/>
                </a:solidFill>
                <a:ea typeface="宋体" panose="02010600030101010101" pitchFamily="2" charset="-122"/>
              </a:rPr>
              <a:t>recognized</a:t>
            </a:r>
            <a:r>
              <a:rPr lang="en-US" altLang="zh-CN">
                <a:solidFill>
                  <a:schemeClr val="accent2"/>
                </a:solidFill>
                <a:ea typeface="宋体" panose="02010600030101010101" pitchFamily="2" charset="-122"/>
              </a:rPr>
              <a:t>” by NFA</a:t>
            </a:r>
          </a:p>
          <a:p>
            <a:pPr eaLnBrk="1" hangingPunct="1">
              <a:spcBef>
                <a:spcPct val="50000"/>
              </a:spcBef>
            </a:pPr>
            <a:r>
              <a:rPr lang="en-US" altLang="zh-CN">
                <a:solidFill>
                  <a:schemeClr val="accent2"/>
                </a:solidFill>
                <a:ea typeface="宋体" panose="02010600030101010101" pitchFamily="2" charset="-122"/>
              </a:rPr>
              <a:t>2.  Regular expression is “</a:t>
            </a:r>
            <a:r>
              <a:rPr lang="en-US" altLang="zh-CN">
                <a:solidFill>
                  <a:srgbClr val="660066"/>
                </a:solidFill>
                <a:ea typeface="宋体" panose="02010600030101010101" pitchFamily="2" charset="-122"/>
              </a:rPr>
              <a:t>pattern</a:t>
            </a:r>
            <a:r>
              <a:rPr lang="en-US" altLang="zh-CN">
                <a:solidFill>
                  <a:schemeClr val="accent2"/>
                </a:solidFill>
                <a:ea typeface="宋体" panose="02010600030101010101" pitchFamily="2" charset="-122"/>
              </a:rPr>
              <a:t>” for a “</a:t>
            </a:r>
            <a:r>
              <a:rPr lang="en-US" altLang="zh-CN">
                <a:solidFill>
                  <a:srgbClr val="660066"/>
                </a:solidFill>
                <a:ea typeface="宋体" panose="02010600030101010101" pitchFamily="2" charset="-122"/>
              </a:rPr>
              <a:t>token</a:t>
            </a:r>
            <a:r>
              <a:rPr lang="en-US" altLang="zh-CN">
                <a:solidFill>
                  <a:schemeClr val="accent2"/>
                </a:solidFill>
                <a:ea typeface="宋体" panose="02010600030101010101" pitchFamily="2" charset="-122"/>
              </a:rPr>
              <a:t>”</a:t>
            </a:r>
          </a:p>
          <a:p>
            <a:pPr eaLnBrk="1" hangingPunct="1">
              <a:spcBef>
                <a:spcPct val="50000"/>
              </a:spcBef>
            </a:pPr>
            <a:r>
              <a:rPr lang="en-US" altLang="zh-CN">
                <a:solidFill>
                  <a:schemeClr val="accent2"/>
                </a:solidFill>
                <a:ea typeface="宋体" panose="02010600030101010101" pitchFamily="2" charset="-122"/>
              </a:rPr>
              <a:t>3.  Tokens are building blocks for lexical analysis</a:t>
            </a:r>
          </a:p>
          <a:p>
            <a:pPr eaLnBrk="1" hangingPunct="1">
              <a:spcBef>
                <a:spcPct val="50000"/>
              </a:spcBef>
            </a:pPr>
            <a:r>
              <a:rPr lang="en-US" altLang="zh-CN">
                <a:solidFill>
                  <a:schemeClr val="accent2"/>
                </a:solidFill>
                <a:ea typeface="宋体" panose="02010600030101010101" pitchFamily="2" charset="-122"/>
              </a:rPr>
              <a:t>4.  Lexical analyzer can be described by a collection of  NFAs.  </a:t>
            </a:r>
            <a:r>
              <a:rPr lang="en-US" altLang="zh-CN">
                <a:solidFill>
                  <a:srgbClr val="660066"/>
                </a:solidFill>
                <a:ea typeface="宋体" panose="02010600030101010101" pitchFamily="2" charset="-122"/>
              </a:rPr>
              <a:t>Each NFA is for a language token</a:t>
            </a:r>
            <a:r>
              <a:rPr lang="en-US" altLang="zh-CN">
                <a:solidFill>
                  <a:schemeClr val="accent2"/>
                </a:solidFill>
                <a:ea typeface="宋体" panose="02010600030101010101" pitchFamily="2" charset="-122"/>
              </a:rPr>
              <a:t>.</a:t>
            </a:r>
          </a:p>
        </p:txBody>
      </p:sp>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4819"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4820"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CAC262E7-EBB0-4A1D-8B1B-2170B418030C}" type="slidenum">
              <a:rPr lang="zh-CN" altLang="en-US" sz="800" b="0"/>
              <a:pPr/>
              <a:t>33</a:t>
            </a:fld>
            <a:endParaRPr lang="en-US" altLang="zh-CN" sz="800" b="0"/>
          </a:p>
        </p:txBody>
      </p:sp>
      <p:sp>
        <p:nvSpPr>
          <p:cNvPr id="34821"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Second NFA Example</a:t>
            </a:r>
          </a:p>
        </p:txBody>
      </p:sp>
      <p:sp>
        <p:nvSpPr>
          <p:cNvPr id="34822" name="Text Box 3"/>
          <p:cNvSpPr txBox="1">
            <a:spLocks noChangeArrowheads="1"/>
          </p:cNvSpPr>
          <p:nvPr/>
        </p:nvSpPr>
        <p:spPr bwMode="auto">
          <a:xfrm>
            <a:off x="704850" y="1600200"/>
            <a:ext cx="8540750"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800">
                <a:ea typeface="宋体" panose="02010600030101010101" pitchFamily="2" charset="-122"/>
              </a:rPr>
              <a:t>Given the regular expression :  </a:t>
            </a:r>
            <a:r>
              <a:rPr lang="en-US" altLang="zh-CN" sz="2800">
                <a:solidFill>
                  <a:schemeClr val="accent2"/>
                </a:solidFill>
                <a:ea typeface="宋体" panose="02010600030101010101" pitchFamily="2" charset="-122"/>
              </a:rPr>
              <a:t>(a (b*c)) | (a (b | c</a:t>
            </a:r>
            <a:r>
              <a:rPr lang="en-US" altLang="zh-CN" sz="2800" baseline="30000">
                <a:solidFill>
                  <a:schemeClr val="accent2"/>
                </a:solidFill>
                <a:ea typeface="宋体" panose="02010600030101010101" pitchFamily="2" charset="-122"/>
              </a:rPr>
              <a:t>+</a:t>
            </a:r>
            <a:r>
              <a:rPr lang="en-US" altLang="zh-CN" sz="2800">
                <a:solidFill>
                  <a:schemeClr val="accent2"/>
                </a:solidFill>
                <a:ea typeface="宋体" panose="02010600030101010101" pitchFamily="2" charset="-122"/>
              </a:rPr>
              <a:t>)?)</a:t>
            </a:r>
          </a:p>
          <a:p>
            <a:pPr eaLnBrk="1" hangingPunct="1">
              <a:lnSpc>
                <a:spcPct val="80000"/>
              </a:lnSpc>
              <a:spcBef>
                <a:spcPct val="50000"/>
              </a:spcBef>
            </a:pPr>
            <a:r>
              <a:rPr lang="en-US" altLang="zh-CN" sz="2800">
                <a:solidFill>
                  <a:srgbClr val="660066"/>
                </a:solidFill>
                <a:ea typeface="宋体" panose="02010600030101010101" pitchFamily="2" charset="-122"/>
              </a:rPr>
              <a:t>Find a transition diagram NFA that recognizes it.</a:t>
            </a:r>
          </a:p>
        </p:txBody>
      </p:sp>
    </p:spTree>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5843"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5844"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E28EBDBF-37A8-4BCE-8023-0E9A64BE610E}" type="slidenum">
              <a:rPr lang="zh-CN" altLang="en-US" sz="800" b="0"/>
              <a:pPr/>
              <a:t>34</a:t>
            </a:fld>
            <a:endParaRPr lang="en-US" altLang="zh-CN" sz="800" b="0"/>
          </a:p>
        </p:txBody>
      </p:sp>
      <p:sp>
        <p:nvSpPr>
          <p:cNvPr id="35845" name="Rectangle 2"/>
          <p:cNvSpPr>
            <a:spLocks noGrp="1" noChangeArrowheads="1"/>
          </p:cNvSpPr>
          <p:nvPr>
            <p:ph type="title"/>
          </p:nvPr>
        </p:nvSpPr>
        <p:spPr>
          <a:xfrm>
            <a:off x="382588" y="152400"/>
            <a:ext cx="9371012" cy="914400"/>
          </a:xfrm>
        </p:spPr>
        <p:txBody>
          <a:bodyPr/>
          <a:lstStyle/>
          <a:p>
            <a:r>
              <a:rPr lang="zh-CN" altLang="en-US" smtClean="0">
                <a:ea typeface="宋体" panose="02010600030101010101" pitchFamily="2" charset="-122"/>
              </a:rPr>
              <a:t/>
            </a:r>
            <a:br>
              <a:rPr lang="zh-CN" altLang="en-US" smtClean="0">
                <a:ea typeface="宋体" panose="02010600030101010101" pitchFamily="2" charset="-122"/>
              </a:rPr>
            </a:br>
            <a:endParaRPr lang="zh-CN" altLang="en-US" smtClean="0">
              <a:ea typeface="宋体" panose="02010600030101010101" pitchFamily="2" charset="-122"/>
            </a:endParaRPr>
          </a:p>
        </p:txBody>
      </p:sp>
      <p:sp>
        <p:nvSpPr>
          <p:cNvPr id="35846" name="Rectangle 3"/>
          <p:cNvSpPr>
            <a:spLocks noChangeArrowheads="1"/>
          </p:cNvSpPr>
          <p:nvPr/>
        </p:nvSpPr>
        <p:spPr bwMode="auto">
          <a:xfrm>
            <a:off x="1171575" y="0"/>
            <a:ext cx="8734425" cy="111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CN" sz="3200">
                <a:solidFill>
                  <a:schemeClr val="tx2"/>
                </a:solidFill>
                <a:ea typeface="宋体" panose="02010600030101010101" pitchFamily="2" charset="-122"/>
              </a:rPr>
              <a:t>Second NFA Example - Solution</a:t>
            </a:r>
          </a:p>
        </p:txBody>
      </p:sp>
      <p:sp>
        <p:nvSpPr>
          <p:cNvPr id="35847" name="Text Box 4"/>
          <p:cNvSpPr txBox="1">
            <a:spLocks noChangeArrowheads="1"/>
          </p:cNvSpPr>
          <p:nvPr/>
        </p:nvSpPr>
        <p:spPr bwMode="auto">
          <a:xfrm>
            <a:off x="1281113" y="1125538"/>
            <a:ext cx="7677150" cy="93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Given the regular expression :  </a:t>
            </a:r>
            <a:r>
              <a:rPr lang="en-US" altLang="zh-CN">
                <a:solidFill>
                  <a:schemeClr val="accent2"/>
                </a:solidFill>
                <a:ea typeface="宋体" panose="02010600030101010101" pitchFamily="2" charset="-122"/>
              </a:rPr>
              <a:t>(a (b*c)) | (a (b | c</a:t>
            </a:r>
            <a:r>
              <a:rPr lang="en-US" altLang="zh-CN" baseline="30000">
                <a:solidFill>
                  <a:schemeClr val="accent2"/>
                </a:solidFill>
                <a:ea typeface="宋体" panose="02010600030101010101" pitchFamily="2" charset="-122"/>
              </a:rPr>
              <a:t>+</a:t>
            </a:r>
            <a:r>
              <a:rPr lang="en-US" altLang="zh-CN">
                <a:solidFill>
                  <a:schemeClr val="accent2"/>
                </a:solidFill>
                <a:ea typeface="宋体" panose="02010600030101010101" pitchFamily="2" charset="-122"/>
              </a:rPr>
              <a:t>)?)</a:t>
            </a:r>
          </a:p>
          <a:p>
            <a:pPr eaLnBrk="1" hangingPunct="1">
              <a:lnSpc>
                <a:spcPct val="80000"/>
              </a:lnSpc>
              <a:spcBef>
                <a:spcPct val="50000"/>
              </a:spcBef>
            </a:pPr>
            <a:r>
              <a:rPr lang="en-US" altLang="zh-CN">
                <a:solidFill>
                  <a:srgbClr val="660066"/>
                </a:solidFill>
                <a:ea typeface="宋体" panose="02010600030101010101" pitchFamily="2" charset="-122"/>
              </a:rPr>
              <a:t>Find a transition diagram NFA that recognizes it.</a:t>
            </a:r>
          </a:p>
        </p:txBody>
      </p:sp>
      <p:sp>
        <p:nvSpPr>
          <p:cNvPr id="35848" name="Oval 6"/>
          <p:cNvSpPr>
            <a:spLocks noChangeArrowheads="1"/>
          </p:cNvSpPr>
          <p:nvPr/>
        </p:nvSpPr>
        <p:spPr bwMode="auto">
          <a:xfrm>
            <a:off x="2724150" y="3886200"/>
            <a:ext cx="742950" cy="685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5849" name="Oval 7"/>
          <p:cNvSpPr>
            <a:spLocks noChangeArrowheads="1"/>
          </p:cNvSpPr>
          <p:nvPr/>
        </p:nvSpPr>
        <p:spPr bwMode="auto">
          <a:xfrm>
            <a:off x="5365750" y="2895600"/>
            <a:ext cx="742950" cy="685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5850" name="Oval 8"/>
          <p:cNvSpPr>
            <a:spLocks noChangeArrowheads="1"/>
          </p:cNvSpPr>
          <p:nvPr/>
        </p:nvSpPr>
        <p:spPr bwMode="auto">
          <a:xfrm>
            <a:off x="4044950" y="3886200"/>
            <a:ext cx="742950" cy="685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35851" name="Group 9"/>
          <p:cNvGrpSpPr>
            <a:grpSpLocks/>
          </p:cNvGrpSpPr>
          <p:nvPr/>
        </p:nvGrpSpPr>
        <p:grpSpPr bwMode="auto">
          <a:xfrm>
            <a:off x="7429500" y="2895600"/>
            <a:ext cx="742950" cy="685800"/>
            <a:chOff x="2448" y="2448"/>
            <a:chExt cx="432" cy="432"/>
          </a:xfrm>
        </p:grpSpPr>
        <p:sp>
          <p:nvSpPr>
            <p:cNvPr id="35898" name="Oval 10"/>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5899" name="Oval 11"/>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grpSp>
        <p:nvGrpSpPr>
          <p:cNvPr id="35852" name="Group 12"/>
          <p:cNvGrpSpPr>
            <a:grpSpLocks/>
          </p:cNvGrpSpPr>
          <p:nvPr/>
        </p:nvGrpSpPr>
        <p:grpSpPr bwMode="auto">
          <a:xfrm>
            <a:off x="5530850" y="4953000"/>
            <a:ext cx="742950" cy="685800"/>
            <a:chOff x="2448" y="2448"/>
            <a:chExt cx="432" cy="432"/>
          </a:xfrm>
        </p:grpSpPr>
        <p:sp>
          <p:nvSpPr>
            <p:cNvPr id="35896" name="Oval 13"/>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5897" name="Oval 14"/>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grpSp>
        <p:nvGrpSpPr>
          <p:cNvPr id="35853" name="Group 15"/>
          <p:cNvGrpSpPr>
            <a:grpSpLocks/>
          </p:cNvGrpSpPr>
          <p:nvPr/>
        </p:nvGrpSpPr>
        <p:grpSpPr bwMode="auto">
          <a:xfrm>
            <a:off x="6969125" y="5407025"/>
            <a:ext cx="742950" cy="685800"/>
            <a:chOff x="2448" y="2448"/>
            <a:chExt cx="432" cy="432"/>
          </a:xfrm>
        </p:grpSpPr>
        <p:sp>
          <p:nvSpPr>
            <p:cNvPr id="35894" name="Oval 16"/>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5895" name="Oval 17"/>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5854" name="Line 18"/>
          <p:cNvSpPr>
            <a:spLocks noChangeShapeType="1"/>
          </p:cNvSpPr>
          <p:nvPr/>
        </p:nvSpPr>
        <p:spPr bwMode="auto">
          <a:xfrm>
            <a:off x="1981200" y="4267200"/>
            <a:ext cx="74295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5" name="Line 19"/>
          <p:cNvSpPr>
            <a:spLocks noChangeShapeType="1"/>
          </p:cNvSpPr>
          <p:nvPr/>
        </p:nvSpPr>
        <p:spPr bwMode="auto">
          <a:xfrm>
            <a:off x="6273800" y="5334000"/>
            <a:ext cx="695325" cy="327025"/>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6" name="Line 20"/>
          <p:cNvSpPr>
            <a:spLocks noChangeShapeType="1"/>
          </p:cNvSpPr>
          <p:nvPr/>
        </p:nvSpPr>
        <p:spPr bwMode="auto">
          <a:xfrm flipV="1">
            <a:off x="6191250" y="4652963"/>
            <a:ext cx="777875" cy="376237"/>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7" name="Line 21"/>
          <p:cNvSpPr>
            <a:spLocks noChangeShapeType="1"/>
          </p:cNvSpPr>
          <p:nvPr/>
        </p:nvSpPr>
        <p:spPr bwMode="auto">
          <a:xfrm>
            <a:off x="6108700" y="3200400"/>
            <a:ext cx="13208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8" name="Line 22"/>
          <p:cNvSpPr>
            <a:spLocks noChangeShapeType="1"/>
          </p:cNvSpPr>
          <p:nvPr/>
        </p:nvSpPr>
        <p:spPr bwMode="auto">
          <a:xfrm>
            <a:off x="4540250" y="4572000"/>
            <a:ext cx="1073150" cy="6096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9" name="Line 23"/>
          <p:cNvSpPr>
            <a:spLocks noChangeShapeType="1"/>
          </p:cNvSpPr>
          <p:nvPr/>
        </p:nvSpPr>
        <p:spPr bwMode="auto">
          <a:xfrm flipV="1">
            <a:off x="4622800" y="3505200"/>
            <a:ext cx="825500" cy="4572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0" name="Line 24"/>
          <p:cNvSpPr>
            <a:spLocks noChangeShapeType="1"/>
          </p:cNvSpPr>
          <p:nvPr/>
        </p:nvSpPr>
        <p:spPr bwMode="auto">
          <a:xfrm>
            <a:off x="3467100" y="4267200"/>
            <a:ext cx="57785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5861" name="AutoShape 25"/>
          <p:cNvCxnSpPr>
            <a:cxnSpLocks noChangeShapeType="1"/>
          </p:cNvCxnSpPr>
          <p:nvPr/>
        </p:nvCxnSpPr>
        <p:spPr bwMode="auto">
          <a:xfrm flipH="1" flipV="1">
            <a:off x="7299325" y="5407025"/>
            <a:ext cx="371475" cy="342900"/>
          </a:xfrm>
          <a:prstGeom prst="curvedConnector4">
            <a:avLst>
              <a:gd name="adj1" fmla="val -66667"/>
              <a:gd name="adj2" fmla="val 166667"/>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62" name="AutoShape 26"/>
          <p:cNvCxnSpPr>
            <a:cxnSpLocks noChangeShapeType="1"/>
            <a:stCxn id="35849" idx="0"/>
            <a:endCxn id="35849" idx="2"/>
          </p:cNvCxnSpPr>
          <p:nvPr/>
        </p:nvCxnSpPr>
        <p:spPr bwMode="auto">
          <a:xfrm rot="-5400000" flipH="1" flipV="1">
            <a:off x="5380038" y="2881312"/>
            <a:ext cx="342900" cy="371475"/>
          </a:xfrm>
          <a:prstGeom prst="curvedConnector4">
            <a:avLst>
              <a:gd name="adj1" fmla="val -66667"/>
              <a:gd name="adj2" fmla="val 166667"/>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863" name="Text Box 27"/>
          <p:cNvSpPr txBox="1">
            <a:spLocks noChangeArrowheads="1"/>
          </p:cNvSpPr>
          <p:nvPr/>
        </p:nvSpPr>
        <p:spPr bwMode="auto">
          <a:xfrm>
            <a:off x="2806700" y="40386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sp>
        <p:nvSpPr>
          <p:cNvPr id="35864" name="Text Box 28"/>
          <p:cNvSpPr txBox="1">
            <a:spLocks noChangeArrowheads="1"/>
          </p:cNvSpPr>
          <p:nvPr/>
        </p:nvSpPr>
        <p:spPr bwMode="auto">
          <a:xfrm>
            <a:off x="7512050" y="30480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4</a:t>
            </a:r>
          </a:p>
        </p:txBody>
      </p:sp>
      <p:sp>
        <p:nvSpPr>
          <p:cNvPr id="35865" name="Text Box 29"/>
          <p:cNvSpPr txBox="1">
            <a:spLocks noChangeArrowheads="1"/>
          </p:cNvSpPr>
          <p:nvPr/>
        </p:nvSpPr>
        <p:spPr bwMode="auto">
          <a:xfrm>
            <a:off x="5448300" y="30480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sp>
        <p:nvSpPr>
          <p:cNvPr id="35866" name="Text Box 30"/>
          <p:cNvSpPr txBox="1">
            <a:spLocks noChangeArrowheads="1"/>
          </p:cNvSpPr>
          <p:nvPr/>
        </p:nvSpPr>
        <p:spPr bwMode="auto">
          <a:xfrm>
            <a:off x="4127500" y="40386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sp>
        <p:nvSpPr>
          <p:cNvPr id="35867" name="Text Box 31"/>
          <p:cNvSpPr txBox="1">
            <a:spLocks noChangeArrowheads="1"/>
          </p:cNvSpPr>
          <p:nvPr/>
        </p:nvSpPr>
        <p:spPr bwMode="auto">
          <a:xfrm>
            <a:off x="5613400" y="5105400"/>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35868" name="Text Box 32"/>
          <p:cNvSpPr txBox="1">
            <a:spLocks noChangeArrowheads="1"/>
          </p:cNvSpPr>
          <p:nvPr/>
        </p:nvSpPr>
        <p:spPr bwMode="auto">
          <a:xfrm>
            <a:off x="7051675" y="5559425"/>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5</a:t>
            </a:r>
          </a:p>
        </p:txBody>
      </p:sp>
      <p:sp>
        <p:nvSpPr>
          <p:cNvPr id="35869" name="Text Box 33"/>
          <p:cNvSpPr txBox="1">
            <a:spLocks noChangeArrowheads="1"/>
          </p:cNvSpPr>
          <p:nvPr/>
        </p:nvSpPr>
        <p:spPr bwMode="auto">
          <a:xfrm>
            <a:off x="1898650" y="3962400"/>
            <a:ext cx="825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start</a:t>
            </a:r>
          </a:p>
        </p:txBody>
      </p:sp>
      <p:sp>
        <p:nvSpPr>
          <p:cNvPr id="35870" name="Text Box 34"/>
          <p:cNvSpPr txBox="1">
            <a:spLocks noChangeArrowheads="1"/>
          </p:cNvSpPr>
          <p:nvPr/>
        </p:nvSpPr>
        <p:spPr bwMode="auto">
          <a:xfrm>
            <a:off x="7329488" y="4941888"/>
            <a:ext cx="495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5871" name="Text Box 35"/>
          <p:cNvSpPr txBox="1">
            <a:spLocks noChangeArrowheads="1"/>
          </p:cNvSpPr>
          <p:nvPr/>
        </p:nvSpPr>
        <p:spPr bwMode="auto">
          <a:xfrm>
            <a:off x="4787900" y="2743200"/>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5872" name="Text Box 36"/>
          <p:cNvSpPr txBox="1">
            <a:spLocks noChangeArrowheads="1"/>
          </p:cNvSpPr>
          <p:nvPr/>
        </p:nvSpPr>
        <p:spPr bwMode="auto">
          <a:xfrm>
            <a:off x="4953000" y="4572000"/>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
        <p:nvSpPr>
          <p:cNvPr id="35873" name="Text Box 37"/>
          <p:cNvSpPr txBox="1">
            <a:spLocks noChangeArrowheads="1"/>
          </p:cNvSpPr>
          <p:nvPr/>
        </p:nvSpPr>
        <p:spPr bwMode="auto">
          <a:xfrm>
            <a:off x="6537325" y="5229225"/>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5874" name="Text Box 38"/>
          <p:cNvSpPr txBox="1">
            <a:spLocks noChangeArrowheads="1"/>
          </p:cNvSpPr>
          <p:nvPr/>
        </p:nvSpPr>
        <p:spPr bwMode="auto">
          <a:xfrm>
            <a:off x="6321425" y="4508500"/>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5875" name="Text Box 39"/>
          <p:cNvSpPr txBox="1">
            <a:spLocks noChangeArrowheads="1"/>
          </p:cNvSpPr>
          <p:nvPr/>
        </p:nvSpPr>
        <p:spPr bwMode="auto">
          <a:xfrm>
            <a:off x="6438900" y="2895600"/>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5876" name="Text Box 40"/>
          <p:cNvSpPr txBox="1">
            <a:spLocks noChangeArrowheads="1"/>
          </p:cNvSpPr>
          <p:nvPr/>
        </p:nvSpPr>
        <p:spPr bwMode="auto">
          <a:xfrm>
            <a:off x="4622800" y="3429000"/>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
        <p:nvSpPr>
          <p:cNvPr id="35877" name="Text Box 41"/>
          <p:cNvSpPr txBox="1">
            <a:spLocks noChangeArrowheads="1"/>
          </p:cNvSpPr>
          <p:nvPr/>
        </p:nvSpPr>
        <p:spPr bwMode="auto">
          <a:xfrm>
            <a:off x="3549650" y="3962400"/>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35878" name="Text Box 42"/>
          <p:cNvSpPr txBox="1">
            <a:spLocks noChangeArrowheads="1"/>
          </p:cNvSpPr>
          <p:nvPr/>
        </p:nvSpPr>
        <p:spPr bwMode="auto">
          <a:xfrm>
            <a:off x="920750" y="5589588"/>
            <a:ext cx="4968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solidFill>
                  <a:srgbClr val="FF3300"/>
                </a:solidFill>
                <a:ea typeface="宋体" panose="02010600030101010101" pitchFamily="2" charset="-122"/>
              </a:rPr>
              <a:t>String </a:t>
            </a:r>
            <a:r>
              <a:rPr lang="en-US" altLang="zh-CN">
                <a:solidFill>
                  <a:schemeClr val="accent2"/>
                </a:solidFill>
                <a:ea typeface="宋体" panose="02010600030101010101" pitchFamily="2" charset="-122"/>
              </a:rPr>
              <a:t>abbc</a:t>
            </a:r>
            <a:r>
              <a:rPr lang="en-US" altLang="zh-CN">
                <a:solidFill>
                  <a:srgbClr val="FF3300"/>
                </a:solidFill>
                <a:ea typeface="宋体" panose="02010600030101010101" pitchFamily="2" charset="-122"/>
              </a:rPr>
              <a:t> can be accepted.</a:t>
            </a:r>
          </a:p>
        </p:txBody>
      </p:sp>
      <p:sp>
        <p:nvSpPr>
          <p:cNvPr id="35879" name="Rectangle 43"/>
          <p:cNvSpPr>
            <a:spLocks noChangeArrowheads="1"/>
          </p:cNvSpPr>
          <p:nvPr/>
        </p:nvSpPr>
        <p:spPr bwMode="auto">
          <a:xfrm>
            <a:off x="1423988" y="3141663"/>
            <a:ext cx="2624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a ((b*c) |  (b | c+)?)</a:t>
            </a:r>
          </a:p>
        </p:txBody>
      </p:sp>
      <p:sp>
        <p:nvSpPr>
          <p:cNvPr id="35880" name="Rectangle 44"/>
          <p:cNvSpPr>
            <a:spLocks noChangeArrowheads="1"/>
          </p:cNvSpPr>
          <p:nvPr/>
        </p:nvSpPr>
        <p:spPr bwMode="auto">
          <a:xfrm>
            <a:off x="1352550" y="2636838"/>
            <a:ext cx="2979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a:solidFill>
                  <a:schemeClr val="accent2"/>
                </a:solidFill>
                <a:ea typeface="宋体" panose="02010600030101010101" pitchFamily="2" charset="-122"/>
              </a:rPr>
              <a:t>(a (b*c)) | (a (b | c+)?)</a:t>
            </a:r>
            <a:endParaRPr lang="zh-CN" altLang="en-US">
              <a:solidFill>
                <a:schemeClr val="accent2"/>
              </a:solidFill>
              <a:ea typeface="宋体" panose="02010600030101010101" pitchFamily="2" charset="-122"/>
            </a:endParaRPr>
          </a:p>
        </p:txBody>
      </p:sp>
      <p:sp>
        <p:nvSpPr>
          <p:cNvPr id="35881" name="Line 45"/>
          <p:cNvSpPr>
            <a:spLocks noChangeShapeType="1"/>
          </p:cNvSpPr>
          <p:nvPr/>
        </p:nvSpPr>
        <p:spPr bwMode="auto">
          <a:xfrm>
            <a:off x="776288" y="3429000"/>
            <a:ext cx="647700"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2" name="Oval 50"/>
          <p:cNvSpPr>
            <a:spLocks noChangeArrowheads="1"/>
          </p:cNvSpPr>
          <p:nvPr/>
        </p:nvSpPr>
        <p:spPr bwMode="auto">
          <a:xfrm>
            <a:off x="6873875" y="4111625"/>
            <a:ext cx="742950" cy="685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5883" name="Text Box 51"/>
          <p:cNvSpPr txBox="1">
            <a:spLocks noChangeArrowheads="1"/>
          </p:cNvSpPr>
          <p:nvPr/>
        </p:nvSpPr>
        <p:spPr bwMode="auto">
          <a:xfrm>
            <a:off x="6945313" y="4256088"/>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6</a:t>
            </a:r>
          </a:p>
        </p:txBody>
      </p:sp>
      <p:sp>
        <p:nvSpPr>
          <p:cNvPr id="35884" name="Line 52"/>
          <p:cNvSpPr>
            <a:spLocks noChangeShapeType="1"/>
          </p:cNvSpPr>
          <p:nvPr/>
        </p:nvSpPr>
        <p:spPr bwMode="auto">
          <a:xfrm flipV="1">
            <a:off x="7689850" y="5157788"/>
            <a:ext cx="647700" cy="719137"/>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5" name="Line 53"/>
          <p:cNvSpPr>
            <a:spLocks noChangeShapeType="1"/>
          </p:cNvSpPr>
          <p:nvPr/>
        </p:nvSpPr>
        <p:spPr bwMode="auto">
          <a:xfrm>
            <a:off x="7616825" y="4437063"/>
            <a:ext cx="503238" cy="287337"/>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86" name="Group 54"/>
          <p:cNvGrpSpPr>
            <a:grpSpLocks/>
          </p:cNvGrpSpPr>
          <p:nvPr/>
        </p:nvGrpSpPr>
        <p:grpSpPr bwMode="auto">
          <a:xfrm>
            <a:off x="8039100" y="4500563"/>
            <a:ext cx="742950" cy="685800"/>
            <a:chOff x="2448" y="2448"/>
            <a:chExt cx="432" cy="432"/>
          </a:xfrm>
        </p:grpSpPr>
        <p:sp>
          <p:nvSpPr>
            <p:cNvPr id="35892" name="Oval 55"/>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5893" name="Oval 56"/>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5887" name="Text Box 57"/>
          <p:cNvSpPr txBox="1">
            <a:spLocks noChangeArrowheads="1"/>
          </p:cNvSpPr>
          <p:nvPr/>
        </p:nvSpPr>
        <p:spPr bwMode="auto">
          <a:xfrm>
            <a:off x="8121650" y="46529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7</a:t>
            </a:r>
          </a:p>
        </p:txBody>
      </p:sp>
      <p:sp>
        <p:nvSpPr>
          <p:cNvPr id="35888" name="Text Box 58"/>
          <p:cNvSpPr txBox="1">
            <a:spLocks noChangeArrowheads="1"/>
          </p:cNvSpPr>
          <p:nvPr/>
        </p:nvSpPr>
        <p:spPr bwMode="auto">
          <a:xfrm>
            <a:off x="7905750" y="5445125"/>
            <a:ext cx="495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
        <p:nvSpPr>
          <p:cNvPr id="35889" name="Text Box 59"/>
          <p:cNvSpPr txBox="1">
            <a:spLocks noChangeArrowheads="1"/>
          </p:cNvSpPr>
          <p:nvPr/>
        </p:nvSpPr>
        <p:spPr bwMode="auto">
          <a:xfrm>
            <a:off x="7689850" y="4221163"/>
            <a:ext cx="495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
        <p:nvSpPr>
          <p:cNvPr id="35890" name="Freeform 64"/>
          <p:cNvSpPr>
            <a:spLocks/>
          </p:cNvSpPr>
          <p:nvPr/>
        </p:nvSpPr>
        <p:spPr bwMode="auto">
          <a:xfrm>
            <a:off x="5745163" y="3562350"/>
            <a:ext cx="2620962" cy="1390650"/>
          </a:xfrm>
          <a:custGeom>
            <a:avLst/>
            <a:gdLst>
              <a:gd name="T0" fmla="*/ 0 w 1651"/>
              <a:gd name="T1" fmla="*/ 1390650 h 876"/>
              <a:gd name="T2" fmla="*/ 152400 w 1651"/>
              <a:gd name="T3" fmla="*/ 1039813 h 876"/>
              <a:gd name="T4" fmla="*/ 258762 w 1651"/>
              <a:gd name="T5" fmla="*/ 841375 h 876"/>
              <a:gd name="T6" fmla="*/ 366712 w 1651"/>
              <a:gd name="T7" fmla="*/ 552450 h 876"/>
              <a:gd name="T8" fmla="*/ 442912 w 1651"/>
              <a:gd name="T9" fmla="*/ 415925 h 876"/>
              <a:gd name="T10" fmla="*/ 1935162 w 1651"/>
              <a:gd name="T11" fmla="*/ 369888 h 876"/>
              <a:gd name="T12" fmla="*/ 2149475 w 1651"/>
              <a:gd name="T13" fmla="*/ 415925 h 876"/>
              <a:gd name="T14" fmla="*/ 2468562 w 1651"/>
              <a:gd name="T15" fmla="*/ 628650 h 876"/>
              <a:gd name="T16" fmla="*/ 2560637 w 1651"/>
              <a:gd name="T17" fmla="*/ 765175 h 876"/>
              <a:gd name="T18" fmla="*/ 2620962 w 1651"/>
              <a:gd name="T19" fmla="*/ 949325 h 8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51" h="876">
                <a:moveTo>
                  <a:pt x="0" y="876"/>
                </a:moveTo>
                <a:cubicBezTo>
                  <a:pt x="13" y="789"/>
                  <a:pt x="44" y="725"/>
                  <a:pt x="96" y="655"/>
                </a:cubicBezTo>
                <a:cubicBezTo>
                  <a:pt x="112" y="609"/>
                  <a:pt x="144" y="574"/>
                  <a:pt x="163" y="530"/>
                </a:cubicBezTo>
                <a:cubicBezTo>
                  <a:pt x="188" y="472"/>
                  <a:pt x="184" y="393"/>
                  <a:pt x="231" y="348"/>
                </a:cubicBezTo>
                <a:cubicBezTo>
                  <a:pt x="241" y="304"/>
                  <a:pt x="241" y="287"/>
                  <a:pt x="279" y="262"/>
                </a:cubicBezTo>
                <a:cubicBezTo>
                  <a:pt x="451" y="0"/>
                  <a:pt x="906" y="229"/>
                  <a:pt x="1219" y="233"/>
                </a:cubicBezTo>
                <a:cubicBezTo>
                  <a:pt x="1263" y="247"/>
                  <a:pt x="1309" y="253"/>
                  <a:pt x="1354" y="262"/>
                </a:cubicBezTo>
                <a:cubicBezTo>
                  <a:pt x="1420" y="311"/>
                  <a:pt x="1488" y="351"/>
                  <a:pt x="1555" y="396"/>
                </a:cubicBezTo>
                <a:cubicBezTo>
                  <a:pt x="1600" y="463"/>
                  <a:pt x="1581" y="435"/>
                  <a:pt x="1613" y="482"/>
                </a:cubicBezTo>
                <a:cubicBezTo>
                  <a:pt x="1636" y="516"/>
                  <a:pt x="1624" y="568"/>
                  <a:pt x="1651" y="598"/>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1" name="Text Box 66"/>
          <p:cNvSpPr txBox="1">
            <a:spLocks noChangeArrowheads="1"/>
          </p:cNvSpPr>
          <p:nvPr/>
        </p:nvSpPr>
        <p:spPr bwMode="auto">
          <a:xfrm>
            <a:off x="6248400" y="3716338"/>
            <a:ext cx="495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6867"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6868"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C3BAAD84-4C55-420A-8E34-625FC712C346}" type="slidenum">
              <a:rPr lang="zh-CN" altLang="en-US" sz="800" b="0"/>
              <a:pPr/>
              <a:t>35</a:t>
            </a:fld>
            <a:endParaRPr lang="en-US" altLang="zh-CN" sz="800" b="0"/>
          </a:p>
        </p:txBody>
      </p:sp>
      <p:sp>
        <p:nvSpPr>
          <p:cNvPr id="36869"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Alternative Solution Strategy</a:t>
            </a:r>
          </a:p>
        </p:txBody>
      </p:sp>
      <p:grpSp>
        <p:nvGrpSpPr>
          <p:cNvPr id="36870" name="Group 3"/>
          <p:cNvGrpSpPr>
            <a:grpSpLocks/>
          </p:cNvGrpSpPr>
          <p:nvPr/>
        </p:nvGrpSpPr>
        <p:grpSpPr bwMode="auto">
          <a:xfrm>
            <a:off x="3302000" y="1295400"/>
            <a:ext cx="5448300" cy="838200"/>
            <a:chOff x="1920" y="816"/>
            <a:chExt cx="3168" cy="528"/>
          </a:xfrm>
        </p:grpSpPr>
        <p:sp>
          <p:nvSpPr>
            <p:cNvPr id="36905" name="Oval 4"/>
            <p:cNvSpPr>
              <a:spLocks noChangeArrowheads="1"/>
            </p:cNvSpPr>
            <p:nvPr/>
          </p:nvSpPr>
          <p:spPr bwMode="auto">
            <a:xfrm>
              <a:off x="3456" y="912"/>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6906" name="Oval 5"/>
            <p:cNvSpPr>
              <a:spLocks noChangeArrowheads="1"/>
            </p:cNvSpPr>
            <p:nvPr/>
          </p:nvSpPr>
          <p:spPr bwMode="auto">
            <a:xfrm>
              <a:off x="2400" y="912"/>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36907" name="Group 6"/>
            <p:cNvGrpSpPr>
              <a:grpSpLocks/>
            </p:cNvGrpSpPr>
            <p:nvPr/>
          </p:nvGrpSpPr>
          <p:grpSpPr bwMode="auto">
            <a:xfrm>
              <a:off x="4656" y="912"/>
              <a:ext cx="432" cy="432"/>
              <a:chOff x="2448" y="2448"/>
              <a:chExt cx="432" cy="432"/>
            </a:xfrm>
          </p:grpSpPr>
          <p:sp>
            <p:nvSpPr>
              <p:cNvPr id="36920" name="Oval 7"/>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6921" name="Oval 8"/>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6908" name="Line 9"/>
            <p:cNvSpPr>
              <a:spLocks noChangeShapeType="1"/>
            </p:cNvSpPr>
            <p:nvPr/>
          </p:nvSpPr>
          <p:spPr bwMode="auto">
            <a:xfrm>
              <a:off x="3888" y="1104"/>
              <a:ext cx="76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9" name="Line 10"/>
            <p:cNvSpPr>
              <a:spLocks noChangeShapeType="1"/>
            </p:cNvSpPr>
            <p:nvPr/>
          </p:nvSpPr>
          <p:spPr bwMode="auto">
            <a:xfrm>
              <a:off x="2832" y="1152"/>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6910" name="AutoShape 11"/>
            <p:cNvCxnSpPr>
              <a:cxnSpLocks noChangeShapeType="1"/>
              <a:stCxn id="36905" idx="0"/>
              <a:endCxn id="36905" idx="2"/>
            </p:cNvCxnSpPr>
            <p:nvPr/>
          </p:nvCxnSpPr>
          <p:spPr bwMode="auto">
            <a:xfrm rot="-5400000" flipH="1" flipV="1">
              <a:off x="3456" y="912"/>
              <a:ext cx="216" cy="216"/>
            </a:xfrm>
            <a:prstGeom prst="curvedConnector4">
              <a:avLst>
                <a:gd name="adj1" fmla="val -66667"/>
                <a:gd name="adj2" fmla="val 166667"/>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911" name="Text Box 12"/>
            <p:cNvSpPr txBox="1">
              <a:spLocks noChangeArrowheads="1"/>
            </p:cNvSpPr>
            <p:nvPr/>
          </p:nvSpPr>
          <p:spPr bwMode="auto">
            <a:xfrm>
              <a:off x="4704" y="10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36912" name="Text Box 13"/>
            <p:cNvSpPr txBox="1">
              <a:spLocks noChangeArrowheads="1"/>
            </p:cNvSpPr>
            <p:nvPr/>
          </p:nvSpPr>
          <p:spPr bwMode="auto">
            <a:xfrm>
              <a:off x="3504" y="10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sp>
          <p:nvSpPr>
            <p:cNvPr id="36913" name="Text Box 14"/>
            <p:cNvSpPr txBox="1">
              <a:spLocks noChangeArrowheads="1"/>
            </p:cNvSpPr>
            <p:nvPr/>
          </p:nvSpPr>
          <p:spPr bwMode="auto">
            <a:xfrm>
              <a:off x="3120" y="816"/>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6914" name="Text Box 15"/>
            <p:cNvSpPr txBox="1">
              <a:spLocks noChangeArrowheads="1"/>
            </p:cNvSpPr>
            <p:nvPr/>
          </p:nvSpPr>
          <p:spPr bwMode="auto">
            <a:xfrm>
              <a:off x="4080" y="91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6915" name="Text Box 16"/>
            <p:cNvSpPr txBox="1">
              <a:spLocks noChangeArrowheads="1"/>
            </p:cNvSpPr>
            <p:nvPr/>
          </p:nvSpPr>
          <p:spPr bwMode="auto">
            <a:xfrm>
              <a:off x="2880" y="91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sym typeface="Symbol" panose="05050102010706020507" pitchFamily="18" charset="2"/>
                </a:rPr>
                <a:t>a</a:t>
              </a:r>
              <a:endParaRPr lang="en-US" altLang="zh-CN" sz="1800">
                <a:ea typeface="宋体" panose="02010600030101010101" pitchFamily="2" charset="-122"/>
              </a:endParaRPr>
            </a:p>
          </p:txBody>
        </p:sp>
        <p:sp>
          <p:nvSpPr>
            <p:cNvPr id="36916" name="Text Box 17"/>
            <p:cNvSpPr txBox="1">
              <a:spLocks noChangeArrowheads="1"/>
            </p:cNvSpPr>
            <p:nvPr/>
          </p:nvSpPr>
          <p:spPr bwMode="auto">
            <a:xfrm>
              <a:off x="2448" y="10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nvGrpSpPr>
            <p:cNvPr id="36917" name="Group 18"/>
            <p:cNvGrpSpPr>
              <a:grpSpLocks/>
            </p:cNvGrpSpPr>
            <p:nvPr/>
          </p:nvGrpSpPr>
          <p:grpSpPr bwMode="auto">
            <a:xfrm>
              <a:off x="1920" y="960"/>
              <a:ext cx="480" cy="231"/>
              <a:chOff x="1104" y="2496"/>
              <a:chExt cx="480" cy="231"/>
            </a:xfrm>
          </p:grpSpPr>
          <p:sp>
            <p:nvSpPr>
              <p:cNvPr id="36918" name="Line 19"/>
              <p:cNvSpPr>
                <a:spLocks noChangeShapeType="1"/>
              </p:cNvSpPr>
              <p:nvPr/>
            </p:nvSpPr>
            <p:spPr bwMode="auto">
              <a:xfrm>
                <a:off x="1152" y="2688"/>
                <a:ext cx="43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9" name="Text Box 20"/>
              <p:cNvSpPr txBox="1">
                <a:spLocks noChangeArrowheads="1"/>
              </p:cNvSpPr>
              <p:nvPr/>
            </p:nvSpPr>
            <p:spPr bwMode="auto">
              <a:xfrm>
                <a:off x="1104" y="249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endParaRPr lang="zh-CN" altLang="en-US" sz="1800">
                  <a:ea typeface="宋体" panose="02010600030101010101" pitchFamily="2" charset="-122"/>
                </a:endParaRPr>
              </a:p>
            </p:txBody>
          </p:sp>
        </p:grpSp>
      </p:grpSp>
      <p:grpSp>
        <p:nvGrpSpPr>
          <p:cNvPr id="36871" name="Group 21"/>
          <p:cNvGrpSpPr>
            <a:grpSpLocks/>
          </p:cNvGrpSpPr>
          <p:nvPr/>
        </p:nvGrpSpPr>
        <p:grpSpPr bwMode="auto">
          <a:xfrm>
            <a:off x="3384550" y="2895600"/>
            <a:ext cx="5448300" cy="2743200"/>
            <a:chOff x="1872" y="1824"/>
            <a:chExt cx="3168" cy="1728"/>
          </a:xfrm>
        </p:grpSpPr>
        <p:grpSp>
          <p:nvGrpSpPr>
            <p:cNvPr id="36880" name="Group 22"/>
            <p:cNvGrpSpPr>
              <a:grpSpLocks/>
            </p:cNvGrpSpPr>
            <p:nvPr/>
          </p:nvGrpSpPr>
          <p:grpSpPr bwMode="auto">
            <a:xfrm>
              <a:off x="4320" y="1824"/>
              <a:ext cx="432" cy="432"/>
              <a:chOff x="2448" y="2448"/>
              <a:chExt cx="432" cy="432"/>
            </a:xfrm>
          </p:grpSpPr>
          <p:sp>
            <p:nvSpPr>
              <p:cNvPr id="36903" name="Oval 23"/>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6904" name="Oval 24"/>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6881" name="Text Box 25"/>
            <p:cNvSpPr txBox="1">
              <a:spLocks noChangeArrowheads="1"/>
            </p:cNvSpPr>
            <p:nvPr/>
          </p:nvSpPr>
          <p:spPr bwMode="auto">
            <a:xfrm>
              <a:off x="4368" y="192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6</a:t>
              </a:r>
            </a:p>
          </p:txBody>
        </p:sp>
        <p:grpSp>
          <p:nvGrpSpPr>
            <p:cNvPr id="36882" name="Group 26"/>
            <p:cNvGrpSpPr>
              <a:grpSpLocks/>
            </p:cNvGrpSpPr>
            <p:nvPr/>
          </p:nvGrpSpPr>
          <p:grpSpPr bwMode="auto">
            <a:xfrm>
              <a:off x="3216" y="2400"/>
              <a:ext cx="432" cy="432"/>
              <a:chOff x="2448" y="2448"/>
              <a:chExt cx="432" cy="432"/>
            </a:xfrm>
          </p:grpSpPr>
          <p:sp>
            <p:nvSpPr>
              <p:cNvPr id="36901" name="Oval 27"/>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6902" name="Oval 28"/>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grpSp>
          <p:nvGrpSpPr>
            <p:cNvPr id="36883" name="Group 29"/>
            <p:cNvGrpSpPr>
              <a:grpSpLocks/>
            </p:cNvGrpSpPr>
            <p:nvPr/>
          </p:nvGrpSpPr>
          <p:grpSpPr bwMode="auto">
            <a:xfrm>
              <a:off x="4320" y="3120"/>
              <a:ext cx="432" cy="432"/>
              <a:chOff x="2448" y="2448"/>
              <a:chExt cx="432" cy="432"/>
            </a:xfrm>
          </p:grpSpPr>
          <p:sp>
            <p:nvSpPr>
              <p:cNvPr id="36899" name="Oval 30"/>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6900" name="Oval 31"/>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6884" name="Line 32"/>
            <p:cNvSpPr>
              <a:spLocks noChangeShapeType="1"/>
            </p:cNvSpPr>
            <p:nvPr/>
          </p:nvSpPr>
          <p:spPr bwMode="auto">
            <a:xfrm>
              <a:off x="3552" y="2784"/>
              <a:ext cx="768" cy="432"/>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5" name="Line 33"/>
            <p:cNvSpPr>
              <a:spLocks noChangeShapeType="1"/>
            </p:cNvSpPr>
            <p:nvPr/>
          </p:nvSpPr>
          <p:spPr bwMode="auto">
            <a:xfrm flipV="1">
              <a:off x="3648" y="2160"/>
              <a:ext cx="720" cy="384"/>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6" name="Line 34"/>
            <p:cNvSpPr>
              <a:spLocks noChangeShapeType="1"/>
            </p:cNvSpPr>
            <p:nvPr/>
          </p:nvSpPr>
          <p:spPr bwMode="auto">
            <a:xfrm>
              <a:off x="2784" y="2640"/>
              <a:ext cx="43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6887" name="AutoShape 35"/>
            <p:cNvCxnSpPr>
              <a:cxnSpLocks noChangeShapeType="1"/>
            </p:cNvCxnSpPr>
            <p:nvPr/>
          </p:nvCxnSpPr>
          <p:spPr bwMode="auto">
            <a:xfrm flipH="1" flipV="1">
              <a:off x="4512" y="3120"/>
              <a:ext cx="216" cy="216"/>
            </a:xfrm>
            <a:prstGeom prst="curvedConnector4">
              <a:avLst>
                <a:gd name="adj1" fmla="val -66667"/>
                <a:gd name="adj2" fmla="val 166667"/>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888" name="Text Box 36"/>
            <p:cNvSpPr txBox="1">
              <a:spLocks noChangeArrowheads="1"/>
            </p:cNvSpPr>
            <p:nvPr/>
          </p:nvSpPr>
          <p:spPr bwMode="auto">
            <a:xfrm>
              <a:off x="3264" y="249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5</a:t>
              </a:r>
            </a:p>
          </p:txBody>
        </p:sp>
        <p:sp>
          <p:nvSpPr>
            <p:cNvPr id="36889" name="Text Box 37"/>
            <p:cNvSpPr txBox="1">
              <a:spLocks noChangeArrowheads="1"/>
            </p:cNvSpPr>
            <p:nvPr/>
          </p:nvSpPr>
          <p:spPr bwMode="auto">
            <a:xfrm>
              <a:off x="4368" y="321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7</a:t>
              </a:r>
            </a:p>
          </p:txBody>
        </p:sp>
        <p:sp>
          <p:nvSpPr>
            <p:cNvPr id="36890" name="Text Box 38"/>
            <p:cNvSpPr txBox="1">
              <a:spLocks noChangeArrowheads="1"/>
            </p:cNvSpPr>
            <p:nvPr/>
          </p:nvSpPr>
          <p:spPr bwMode="auto">
            <a:xfrm>
              <a:off x="4752" y="292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6891" name="Text Box 39"/>
            <p:cNvSpPr txBox="1">
              <a:spLocks noChangeArrowheads="1"/>
            </p:cNvSpPr>
            <p:nvPr/>
          </p:nvSpPr>
          <p:spPr bwMode="auto">
            <a:xfrm>
              <a:off x="2880" y="244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sym typeface="Symbol" panose="05050102010706020507" pitchFamily="18" charset="2"/>
                </a:rPr>
                <a:t>a</a:t>
              </a:r>
              <a:endParaRPr lang="en-US" altLang="zh-CN" sz="1800">
                <a:ea typeface="宋体" panose="02010600030101010101" pitchFamily="2" charset="-122"/>
              </a:endParaRPr>
            </a:p>
          </p:txBody>
        </p:sp>
        <p:sp>
          <p:nvSpPr>
            <p:cNvPr id="36892" name="Text Box 40"/>
            <p:cNvSpPr txBox="1">
              <a:spLocks noChangeArrowheads="1"/>
            </p:cNvSpPr>
            <p:nvPr/>
          </p:nvSpPr>
          <p:spPr bwMode="auto">
            <a:xfrm>
              <a:off x="3792" y="302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6893" name="Oval 41"/>
            <p:cNvSpPr>
              <a:spLocks noChangeArrowheads="1"/>
            </p:cNvSpPr>
            <p:nvPr/>
          </p:nvSpPr>
          <p:spPr bwMode="auto">
            <a:xfrm>
              <a:off x="2352" y="2400"/>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6894" name="Text Box 42"/>
            <p:cNvSpPr txBox="1">
              <a:spLocks noChangeArrowheads="1"/>
            </p:cNvSpPr>
            <p:nvPr/>
          </p:nvSpPr>
          <p:spPr bwMode="auto">
            <a:xfrm>
              <a:off x="2400" y="249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4</a:t>
              </a:r>
            </a:p>
          </p:txBody>
        </p:sp>
        <p:sp>
          <p:nvSpPr>
            <p:cNvPr id="36895" name="Text Box 43"/>
            <p:cNvSpPr txBox="1">
              <a:spLocks noChangeArrowheads="1"/>
            </p:cNvSpPr>
            <p:nvPr/>
          </p:nvSpPr>
          <p:spPr bwMode="auto">
            <a:xfrm>
              <a:off x="3840" y="244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grpSp>
          <p:nvGrpSpPr>
            <p:cNvPr id="36896" name="Group 44"/>
            <p:cNvGrpSpPr>
              <a:grpSpLocks/>
            </p:cNvGrpSpPr>
            <p:nvPr/>
          </p:nvGrpSpPr>
          <p:grpSpPr bwMode="auto">
            <a:xfrm>
              <a:off x="1872" y="2448"/>
              <a:ext cx="480" cy="231"/>
              <a:chOff x="1104" y="2496"/>
              <a:chExt cx="480" cy="231"/>
            </a:xfrm>
          </p:grpSpPr>
          <p:sp>
            <p:nvSpPr>
              <p:cNvPr id="36897" name="Line 45"/>
              <p:cNvSpPr>
                <a:spLocks noChangeShapeType="1"/>
              </p:cNvSpPr>
              <p:nvPr/>
            </p:nvSpPr>
            <p:spPr bwMode="auto">
              <a:xfrm>
                <a:off x="1152" y="2688"/>
                <a:ext cx="43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8" name="Text Box 46"/>
              <p:cNvSpPr txBox="1">
                <a:spLocks noChangeArrowheads="1"/>
              </p:cNvSpPr>
              <p:nvPr/>
            </p:nvSpPr>
            <p:spPr bwMode="auto">
              <a:xfrm>
                <a:off x="1104" y="249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endParaRPr lang="zh-CN" altLang="en-US" sz="1800">
                  <a:ea typeface="宋体" panose="02010600030101010101" pitchFamily="2" charset="-122"/>
                </a:endParaRPr>
              </a:p>
            </p:txBody>
          </p:sp>
        </p:grpSp>
      </p:grpSp>
      <p:sp>
        <p:nvSpPr>
          <p:cNvPr id="36872" name="Text Box 47"/>
          <p:cNvSpPr txBox="1">
            <a:spLocks noChangeArrowheads="1"/>
          </p:cNvSpPr>
          <p:nvPr/>
        </p:nvSpPr>
        <p:spPr bwMode="auto">
          <a:xfrm>
            <a:off x="1320800" y="16002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solidFill>
                  <a:schemeClr val="accent2"/>
                </a:solidFill>
                <a:ea typeface="宋体" panose="02010600030101010101" pitchFamily="2" charset="-122"/>
              </a:rPr>
              <a:t>a (b*c)</a:t>
            </a:r>
          </a:p>
        </p:txBody>
      </p:sp>
      <p:sp>
        <p:nvSpPr>
          <p:cNvPr id="36873" name="Text Box 48"/>
          <p:cNvSpPr txBox="1">
            <a:spLocks noChangeArrowheads="1"/>
          </p:cNvSpPr>
          <p:nvPr/>
        </p:nvSpPr>
        <p:spPr bwMode="auto">
          <a:xfrm>
            <a:off x="1320800" y="39624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solidFill>
                  <a:schemeClr val="accent2"/>
                </a:solidFill>
                <a:ea typeface="宋体" panose="02010600030101010101" pitchFamily="2" charset="-122"/>
              </a:rPr>
              <a:t>a (b | c+)?</a:t>
            </a:r>
          </a:p>
        </p:txBody>
      </p:sp>
      <p:sp>
        <p:nvSpPr>
          <p:cNvPr id="36874" name="Text Box 49"/>
          <p:cNvSpPr txBox="1">
            <a:spLocks noChangeArrowheads="1"/>
          </p:cNvSpPr>
          <p:nvPr/>
        </p:nvSpPr>
        <p:spPr bwMode="auto">
          <a:xfrm>
            <a:off x="1568450" y="5157788"/>
            <a:ext cx="43926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Now that you have the individual diagrams, “or” them as follows:</a:t>
            </a:r>
          </a:p>
        </p:txBody>
      </p:sp>
      <p:sp>
        <p:nvSpPr>
          <p:cNvPr id="36875" name="Rectangle 50"/>
          <p:cNvSpPr>
            <a:spLocks noChangeArrowheads="1"/>
          </p:cNvSpPr>
          <p:nvPr/>
        </p:nvSpPr>
        <p:spPr bwMode="auto">
          <a:xfrm>
            <a:off x="1495425" y="5084763"/>
            <a:ext cx="4465638" cy="99060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6876" name="Arc 54"/>
          <p:cNvSpPr>
            <a:spLocks/>
          </p:cNvSpPr>
          <p:nvPr/>
        </p:nvSpPr>
        <p:spPr bwMode="auto">
          <a:xfrm rot="10800000" flipV="1">
            <a:off x="6105525" y="2997200"/>
            <a:ext cx="1728788" cy="792163"/>
          </a:xfrm>
          <a:custGeom>
            <a:avLst/>
            <a:gdLst>
              <a:gd name="T0" fmla="*/ 46501 w 21600"/>
              <a:gd name="T1" fmla="*/ 0 h 21592"/>
              <a:gd name="T2" fmla="*/ 1728788 w 21600"/>
              <a:gd name="T3" fmla="*/ 792163 h 21592"/>
              <a:gd name="T4" fmla="*/ 0 w 21600"/>
              <a:gd name="T5" fmla="*/ 792163 h 21592"/>
              <a:gd name="T6" fmla="*/ 0 60000 65536"/>
              <a:gd name="T7" fmla="*/ 0 60000 65536"/>
              <a:gd name="T8" fmla="*/ 0 60000 65536"/>
            </a:gdLst>
            <a:ahLst/>
            <a:cxnLst>
              <a:cxn ang="T6">
                <a:pos x="T0" y="T1"/>
              </a:cxn>
              <a:cxn ang="T7">
                <a:pos x="T2" y="T3"/>
              </a:cxn>
              <a:cxn ang="T8">
                <a:pos x="T4" y="T5"/>
              </a:cxn>
            </a:cxnLst>
            <a:rect l="0" t="0" r="r" b="b"/>
            <a:pathLst>
              <a:path w="21600" h="21592" fill="none" extrusionOk="0">
                <a:moveTo>
                  <a:pt x="581" y="-1"/>
                </a:moveTo>
                <a:cubicBezTo>
                  <a:pt x="12279" y="314"/>
                  <a:pt x="21600" y="9888"/>
                  <a:pt x="21600" y="21592"/>
                </a:cubicBezTo>
              </a:path>
              <a:path w="21600" h="21592" stroke="0" extrusionOk="0">
                <a:moveTo>
                  <a:pt x="581" y="-1"/>
                </a:moveTo>
                <a:cubicBezTo>
                  <a:pt x="12279" y="314"/>
                  <a:pt x="21600" y="9888"/>
                  <a:pt x="21600" y="21592"/>
                </a:cubicBezTo>
                <a:lnTo>
                  <a:pt x="0" y="21592"/>
                </a:lnTo>
                <a:lnTo>
                  <a:pt x="581" y="-1"/>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7" name="Arc 56"/>
          <p:cNvSpPr>
            <a:spLocks/>
          </p:cNvSpPr>
          <p:nvPr/>
        </p:nvSpPr>
        <p:spPr bwMode="auto">
          <a:xfrm rot="10583394">
            <a:off x="5961063" y="4437063"/>
            <a:ext cx="1657350" cy="1008062"/>
          </a:xfrm>
          <a:custGeom>
            <a:avLst/>
            <a:gdLst>
              <a:gd name="T0" fmla="*/ 0 w 21600"/>
              <a:gd name="T1" fmla="*/ 0 h 21600"/>
              <a:gd name="T2" fmla="*/ 1657350 w 21600"/>
              <a:gd name="T3" fmla="*/ 1008062 h 21600"/>
              <a:gd name="T4" fmla="*/ 0 w 21600"/>
              <a:gd name="T5" fmla="*/ 100806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Text Box 57"/>
          <p:cNvSpPr txBox="1">
            <a:spLocks noChangeArrowheads="1"/>
          </p:cNvSpPr>
          <p:nvPr/>
        </p:nvSpPr>
        <p:spPr bwMode="auto">
          <a:xfrm>
            <a:off x="6824663" y="5300663"/>
            <a:ext cx="495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
        <p:nvSpPr>
          <p:cNvPr id="36879" name="Text Box 58"/>
          <p:cNvSpPr txBox="1">
            <a:spLocks noChangeArrowheads="1"/>
          </p:cNvSpPr>
          <p:nvPr/>
        </p:nvSpPr>
        <p:spPr bwMode="auto">
          <a:xfrm>
            <a:off x="6465888" y="3141663"/>
            <a:ext cx="495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789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789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DAFA8F0C-C6AE-48E7-8FE5-948816580AEC}" type="slidenum">
              <a:rPr lang="zh-CN" altLang="en-US" sz="800" b="0"/>
              <a:pPr/>
              <a:t>36</a:t>
            </a:fld>
            <a:endParaRPr lang="en-US" altLang="zh-CN" sz="800" b="0"/>
          </a:p>
        </p:txBody>
      </p:sp>
      <p:sp>
        <p:nvSpPr>
          <p:cNvPr id="37893"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Using Null Transitions to “OR” NFAs</a:t>
            </a:r>
          </a:p>
        </p:txBody>
      </p:sp>
      <p:grpSp>
        <p:nvGrpSpPr>
          <p:cNvPr id="37894" name="Group 3"/>
          <p:cNvGrpSpPr>
            <a:grpSpLocks/>
          </p:cNvGrpSpPr>
          <p:nvPr/>
        </p:nvGrpSpPr>
        <p:grpSpPr bwMode="auto">
          <a:xfrm>
            <a:off x="1136650" y="1557338"/>
            <a:ext cx="7099300" cy="4343400"/>
            <a:chOff x="1008" y="816"/>
            <a:chExt cx="4128" cy="2736"/>
          </a:xfrm>
        </p:grpSpPr>
        <p:sp>
          <p:nvSpPr>
            <p:cNvPr id="37899" name="Oval 4"/>
            <p:cNvSpPr>
              <a:spLocks noChangeArrowheads="1"/>
            </p:cNvSpPr>
            <p:nvPr/>
          </p:nvSpPr>
          <p:spPr bwMode="auto">
            <a:xfrm>
              <a:off x="3456" y="912"/>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37900" name="Group 5"/>
            <p:cNvGrpSpPr>
              <a:grpSpLocks/>
            </p:cNvGrpSpPr>
            <p:nvPr/>
          </p:nvGrpSpPr>
          <p:grpSpPr bwMode="auto">
            <a:xfrm>
              <a:off x="4656" y="912"/>
              <a:ext cx="432" cy="432"/>
              <a:chOff x="2448" y="2448"/>
              <a:chExt cx="432" cy="432"/>
            </a:xfrm>
          </p:grpSpPr>
          <p:sp>
            <p:nvSpPr>
              <p:cNvPr id="37946" name="Oval 6"/>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947" name="Oval 7"/>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7901" name="Line 8"/>
            <p:cNvSpPr>
              <a:spLocks noChangeShapeType="1"/>
            </p:cNvSpPr>
            <p:nvPr/>
          </p:nvSpPr>
          <p:spPr bwMode="auto">
            <a:xfrm>
              <a:off x="3888" y="1104"/>
              <a:ext cx="768"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2" name="Line 9"/>
            <p:cNvSpPr>
              <a:spLocks noChangeShapeType="1"/>
            </p:cNvSpPr>
            <p:nvPr/>
          </p:nvSpPr>
          <p:spPr bwMode="auto">
            <a:xfrm>
              <a:off x="2832" y="1152"/>
              <a:ext cx="62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7903" name="AutoShape 10"/>
            <p:cNvCxnSpPr>
              <a:cxnSpLocks noChangeShapeType="1"/>
              <a:stCxn id="37899" idx="0"/>
              <a:endCxn id="37899" idx="2"/>
            </p:cNvCxnSpPr>
            <p:nvPr/>
          </p:nvCxnSpPr>
          <p:spPr bwMode="auto">
            <a:xfrm rot="-5400000" flipH="1" flipV="1">
              <a:off x="3456" y="912"/>
              <a:ext cx="216" cy="216"/>
            </a:xfrm>
            <a:prstGeom prst="curvedConnector4">
              <a:avLst>
                <a:gd name="adj1" fmla="val -66667"/>
                <a:gd name="adj2" fmla="val 166667"/>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04" name="Text Box 11"/>
            <p:cNvSpPr txBox="1">
              <a:spLocks noChangeArrowheads="1"/>
            </p:cNvSpPr>
            <p:nvPr/>
          </p:nvSpPr>
          <p:spPr bwMode="auto">
            <a:xfrm>
              <a:off x="4704" y="10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37905" name="Text Box 12"/>
            <p:cNvSpPr txBox="1">
              <a:spLocks noChangeArrowheads="1"/>
            </p:cNvSpPr>
            <p:nvPr/>
          </p:nvSpPr>
          <p:spPr bwMode="auto">
            <a:xfrm>
              <a:off x="3504" y="10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sp>
          <p:nvSpPr>
            <p:cNvPr id="37906" name="Text Box 13"/>
            <p:cNvSpPr txBox="1">
              <a:spLocks noChangeArrowheads="1"/>
            </p:cNvSpPr>
            <p:nvPr/>
          </p:nvSpPr>
          <p:spPr bwMode="auto">
            <a:xfrm>
              <a:off x="3120" y="816"/>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7907" name="Text Box 14"/>
            <p:cNvSpPr txBox="1">
              <a:spLocks noChangeArrowheads="1"/>
            </p:cNvSpPr>
            <p:nvPr/>
          </p:nvSpPr>
          <p:spPr bwMode="auto">
            <a:xfrm>
              <a:off x="4080" y="91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7908" name="Text Box 15"/>
            <p:cNvSpPr txBox="1">
              <a:spLocks noChangeArrowheads="1"/>
            </p:cNvSpPr>
            <p:nvPr/>
          </p:nvSpPr>
          <p:spPr bwMode="auto">
            <a:xfrm>
              <a:off x="2880" y="912"/>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sym typeface="Symbol" panose="05050102010706020507" pitchFamily="18" charset="2"/>
                </a:rPr>
                <a:t>a</a:t>
              </a:r>
              <a:endParaRPr lang="en-US" altLang="zh-CN" sz="1800">
                <a:ea typeface="宋体" panose="02010600030101010101" pitchFamily="2" charset="-122"/>
              </a:endParaRPr>
            </a:p>
          </p:txBody>
        </p:sp>
        <p:grpSp>
          <p:nvGrpSpPr>
            <p:cNvPr id="37909" name="Group 16"/>
            <p:cNvGrpSpPr>
              <a:grpSpLocks/>
            </p:cNvGrpSpPr>
            <p:nvPr/>
          </p:nvGrpSpPr>
          <p:grpSpPr bwMode="auto">
            <a:xfrm>
              <a:off x="2400" y="912"/>
              <a:ext cx="432" cy="432"/>
              <a:chOff x="2400" y="912"/>
              <a:chExt cx="432" cy="432"/>
            </a:xfrm>
          </p:grpSpPr>
          <p:sp>
            <p:nvSpPr>
              <p:cNvPr id="37944" name="Oval 17"/>
              <p:cNvSpPr>
                <a:spLocks noChangeArrowheads="1"/>
              </p:cNvSpPr>
              <p:nvPr/>
            </p:nvSpPr>
            <p:spPr bwMode="auto">
              <a:xfrm>
                <a:off x="2400" y="912"/>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945" name="Text Box 18"/>
              <p:cNvSpPr txBox="1">
                <a:spLocks noChangeArrowheads="1"/>
              </p:cNvSpPr>
              <p:nvPr/>
            </p:nvSpPr>
            <p:spPr bwMode="auto">
              <a:xfrm>
                <a:off x="2448" y="10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37910" name="Line 19"/>
            <p:cNvSpPr>
              <a:spLocks noChangeShapeType="1"/>
            </p:cNvSpPr>
            <p:nvPr/>
          </p:nvSpPr>
          <p:spPr bwMode="auto">
            <a:xfrm flipV="1">
              <a:off x="1872" y="1152"/>
              <a:ext cx="528" cy="72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1" name="Text Box 20"/>
            <p:cNvSpPr txBox="1">
              <a:spLocks noChangeArrowheads="1"/>
            </p:cNvSpPr>
            <p:nvPr/>
          </p:nvSpPr>
          <p:spPr bwMode="auto">
            <a:xfrm>
              <a:off x="1920" y="96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endParaRPr lang="zh-CN" altLang="en-US" sz="1800">
                <a:ea typeface="宋体" panose="02010600030101010101" pitchFamily="2" charset="-122"/>
              </a:endParaRPr>
            </a:p>
          </p:txBody>
        </p:sp>
        <p:grpSp>
          <p:nvGrpSpPr>
            <p:cNvPr id="37912" name="Group 21"/>
            <p:cNvGrpSpPr>
              <a:grpSpLocks/>
            </p:cNvGrpSpPr>
            <p:nvPr/>
          </p:nvGrpSpPr>
          <p:grpSpPr bwMode="auto">
            <a:xfrm>
              <a:off x="4416" y="1824"/>
              <a:ext cx="432" cy="432"/>
              <a:chOff x="2448" y="2448"/>
              <a:chExt cx="432" cy="432"/>
            </a:xfrm>
          </p:grpSpPr>
          <p:sp>
            <p:nvSpPr>
              <p:cNvPr id="37942" name="Oval 22"/>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943" name="Oval 23"/>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7913" name="Text Box 24"/>
            <p:cNvSpPr txBox="1">
              <a:spLocks noChangeArrowheads="1"/>
            </p:cNvSpPr>
            <p:nvPr/>
          </p:nvSpPr>
          <p:spPr bwMode="auto">
            <a:xfrm>
              <a:off x="4464" y="192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6</a:t>
              </a:r>
            </a:p>
          </p:txBody>
        </p:sp>
        <p:grpSp>
          <p:nvGrpSpPr>
            <p:cNvPr id="37914" name="Group 25"/>
            <p:cNvGrpSpPr>
              <a:grpSpLocks/>
            </p:cNvGrpSpPr>
            <p:nvPr/>
          </p:nvGrpSpPr>
          <p:grpSpPr bwMode="auto">
            <a:xfrm>
              <a:off x="3312" y="2400"/>
              <a:ext cx="432" cy="432"/>
              <a:chOff x="2448" y="2448"/>
              <a:chExt cx="432" cy="432"/>
            </a:xfrm>
          </p:grpSpPr>
          <p:sp>
            <p:nvSpPr>
              <p:cNvPr id="37940" name="Oval 26"/>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941" name="Oval 27"/>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grpSp>
          <p:nvGrpSpPr>
            <p:cNvPr id="37915" name="Group 28"/>
            <p:cNvGrpSpPr>
              <a:grpSpLocks/>
            </p:cNvGrpSpPr>
            <p:nvPr/>
          </p:nvGrpSpPr>
          <p:grpSpPr bwMode="auto">
            <a:xfrm>
              <a:off x="4416" y="3120"/>
              <a:ext cx="432" cy="432"/>
              <a:chOff x="2448" y="2448"/>
              <a:chExt cx="432" cy="432"/>
            </a:xfrm>
          </p:grpSpPr>
          <p:sp>
            <p:nvSpPr>
              <p:cNvPr id="37938" name="Oval 29"/>
              <p:cNvSpPr>
                <a:spLocks noChangeArrowheads="1"/>
              </p:cNvSpPr>
              <p:nvPr/>
            </p:nvSpPr>
            <p:spPr bwMode="auto">
              <a:xfrm>
                <a:off x="2448" y="244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939" name="Oval 30"/>
              <p:cNvSpPr>
                <a:spLocks noChangeArrowheads="1"/>
              </p:cNvSpPr>
              <p:nvPr/>
            </p:nvSpPr>
            <p:spPr bwMode="auto">
              <a:xfrm>
                <a:off x="2496" y="2496"/>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7916" name="Line 31"/>
            <p:cNvSpPr>
              <a:spLocks noChangeShapeType="1"/>
            </p:cNvSpPr>
            <p:nvPr/>
          </p:nvSpPr>
          <p:spPr bwMode="auto">
            <a:xfrm>
              <a:off x="3648" y="2784"/>
              <a:ext cx="768" cy="432"/>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7" name="Line 32"/>
            <p:cNvSpPr>
              <a:spLocks noChangeShapeType="1"/>
            </p:cNvSpPr>
            <p:nvPr/>
          </p:nvSpPr>
          <p:spPr bwMode="auto">
            <a:xfrm flipV="1">
              <a:off x="3744" y="2160"/>
              <a:ext cx="720" cy="384"/>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8" name="Line 33"/>
            <p:cNvSpPr>
              <a:spLocks noChangeShapeType="1"/>
            </p:cNvSpPr>
            <p:nvPr/>
          </p:nvSpPr>
          <p:spPr bwMode="auto">
            <a:xfrm>
              <a:off x="2880" y="2640"/>
              <a:ext cx="43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7919" name="AutoShape 34"/>
            <p:cNvCxnSpPr>
              <a:cxnSpLocks noChangeShapeType="1"/>
            </p:cNvCxnSpPr>
            <p:nvPr/>
          </p:nvCxnSpPr>
          <p:spPr bwMode="auto">
            <a:xfrm flipH="1" flipV="1">
              <a:off x="4608" y="3120"/>
              <a:ext cx="216" cy="216"/>
            </a:xfrm>
            <a:prstGeom prst="curvedConnector4">
              <a:avLst>
                <a:gd name="adj1" fmla="val -66667"/>
                <a:gd name="adj2" fmla="val 166667"/>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20" name="Text Box 35"/>
            <p:cNvSpPr txBox="1">
              <a:spLocks noChangeArrowheads="1"/>
            </p:cNvSpPr>
            <p:nvPr/>
          </p:nvSpPr>
          <p:spPr bwMode="auto">
            <a:xfrm>
              <a:off x="3360" y="249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5</a:t>
              </a:r>
            </a:p>
          </p:txBody>
        </p:sp>
        <p:sp>
          <p:nvSpPr>
            <p:cNvPr id="37921" name="Text Box 36"/>
            <p:cNvSpPr txBox="1">
              <a:spLocks noChangeArrowheads="1"/>
            </p:cNvSpPr>
            <p:nvPr/>
          </p:nvSpPr>
          <p:spPr bwMode="auto">
            <a:xfrm>
              <a:off x="4464" y="321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7</a:t>
              </a:r>
            </a:p>
          </p:txBody>
        </p:sp>
        <p:sp>
          <p:nvSpPr>
            <p:cNvPr id="37922" name="Text Box 37"/>
            <p:cNvSpPr txBox="1">
              <a:spLocks noChangeArrowheads="1"/>
            </p:cNvSpPr>
            <p:nvPr/>
          </p:nvSpPr>
          <p:spPr bwMode="auto">
            <a:xfrm>
              <a:off x="4848" y="292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7923" name="Text Box 38"/>
            <p:cNvSpPr txBox="1">
              <a:spLocks noChangeArrowheads="1"/>
            </p:cNvSpPr>
            <p:nvPr/>
          </p:nvSpPr>
          <p:spPr bwMode="auto">
            <a:xfrm>
              <a:off x="2976" y="244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sym typeface="Symbol" panose="05050102010706020507" pitchFamily="18" charset="2"/>
                </a:rPr>
                <a:t>a</a:t>
              </a:r>
              <a:endParaRPr lang="en-US" altLang="zh-CN" sz="1800">
                <a:ea typeface="宋体" panose="02010600030101010101" pitchFamily="2" charset="-122"/>
              </a:endParaRPr>
            </a:p>
          </p:txBody>
        </p:sp>
        <p:sp>
          <p:nvSpPr>
            <p:cNvPr id="37924" name="Text Box 39"/>
            <p:cNvSpPr txBox="1">
              <a:spLocks noChangeArrowheads="1"/>
            </p:cNvSpPr>
            <p:nvPr/>
          </p:nvSpPr>
          <p:spPr bwMode="auto">
            <a:xfrm>
              <a:off x="3888" y="3024"/>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c</a:t>
              </a:r>
            </a:p>
          </p:txBody>
        </p:sp>
        <p:sp>
          <p:nvSpPr>
            <p:cNvPr id="37925" name="Oval 40"/>
            <p:cNvSpPr>
              <a:spLocks noChangeArrowheads="1"/>
            </p:cNvSpPr>
            <p:nvPr/>
          </p:nvSpPr>
          <p:spPr bwMode="auto">
            <a:xfrm>
              <a:off x="2448" y="2400"/>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926" name="Text Box 41"/>
            <p:cNvSpPr txBox="1">
              <a:spLocks noChangeArrowheads="1"/>
            </p:cNvSpPr>
            <p:nvPr/>
          </p:nvSpPr>
          <p:spPr bwMode="auto">
            <a:xfrm>
              <a:off x="2496" y="249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4</a:t>
              </a:r>
            </a:p>
          </p:txBody>
        </p:sp>
        <p:sp>
          <p:nvSpPr>
            <p:cNvPr id="37927" name="Text Box 42"/>
            <p:cNvSpPr txBox="1">
              <a:spLocks noChangeArrowheads="1"/>
            </p:cNvSpPr>
            <p:nvPr/>
          </p:nvSpPr>
          <p:spPr bwMode="auto">
            <a:xfrm>
              <a:off x="3936" y="244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7928" name="Line 43"/>
            <p:cNvSpPr>
              <a:spLocks noChangeShapeType="1"/>
            </p:cNvSpPr>
            <p:nvPr/>
          </p:nvSpPr>
          <p:spPr bwMode="auto">
            <a:xfrm>
              <a:off x="1872" y="2208"/>
              <a:ext cx="576" cy="432"/>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9" name="Text Box 44"/>
            <p:cNvSpPr txBox="1">
              <a:spLocks noChangeArrowheads="1"/>
            </p:cNvSpPr>
            <p:nvPr/>
          </p:nvSpPr>
          <p:spPr bwMode="auto">
            <a:xfrm>
              <a:off x="1968" y="244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endParaRPr lang="zh-CN" altLang="en-US" sz="1800">
                <a:ea typeface="宋体" panose="02010600030101010101" pitchFamily="2" charset="-122"/>
              </a:endParaRPr>
            </a:p>
          </p:txBody>
        </p:sp>
        <p:grpSp>
          <p:nvGrpSpPr>
            <p:cNvPr id="37930" name="Group 45"/>
            <p:cNvGrpSpPr>
              <a:grpSpLocks/>
            </p:cNvGrpSpPr>
            <p:nvPr/>
          </p:nvGrpSpPr>
          <p:grpSpPr bwMode="auto">
            <a:xfrm>
              <a:off x="1008" y="1872"/>
              <a:ext cx="480" cy="231"/>
              <a:chOff x="1104" y="2496"/>
              <a:chExt cx="480" cy="231"/>
            </a:xfrm>
          </p:grpSpPr>
          <p:sp>
            <p:nvSpPr>
              <p:cNvPr id="37936" name="Line 46"/>
              <p:cNvSpPr>
                <a:spLocks noChangeShapeType="1"/>
              </p:cNvSpPr>
              <p:nvPr/>
            </p:nvSpPr>
            <p:spPr bwMode="auto">
              <a:xfrm>
                <a:off x="1152" y="2688"/>
                <a:ext cx="432"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7" name="Text Box 47"/>
              <p:cNvSpPr txBox="1">
                <a:spLocks noChangeArrowheads="1"/>
              </p:cNvSpPr>
              <p:nvPr/>
            </p:nvSpPr>
            <p:spPr bwMode="auto">
              <a:xfrm>
                <a:off x="1104" y="249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endParaRPr lang="zh-CN" altLang="en-US" sz="1800">
                  <a:ea typeface="宋体" panose="02010600030101010101" pitchFamily="2" charset="-122"/>
                </a:endParaRPr>
              </a:p>
            </p:txBody>
          </p:sp>
        </p:grpSp>
        <p:grpSp>
          <p:nvGrpSpPr>
            <p:cNvPr id="37931" name="Group 48"/>
            <p:cNvGrpSpPr>
              <a:grpSpLocks/>
            </p:cNvGrpSpPr>
            <p:nvPr/>
          </p:nvGrpSpPr>
          <p:grpSpPr bwMode="auto">
            <a:xfrm>
              <a:off x="1488" y="1824"/>
              <a:ext cx="432" cy="432"/>
              <a:chOff x="2400" y="912"/>
              <a:chExt cx="432" cy="432"/>
            </a:xfrm>
          </p:grpSpPr>
          <p:sp>
            <p:nvSpPr>
              <p:cNvPr id="37934" name="Oval 49"/>
              <p:cNvSpPr>
                <a:spLocks noChangeArrowheads="1"/>
              </p:cNvSpPr>
              <p:nvPr/>
            </p:nvSpPr>
            <p:spPr bwMode="auto">
              <a:xfrm>
                <a:off x="2400" y="912"/>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7935" name="Text Box 50"/>
              <p:cNvSpPr txBox="1">
                <a:spLocks noChangeArrowheads="1"/>
              </p:cNvSpPr>
              <p:nvPr/>
            </p:nvSpPr>
            <p:spPr bwMode="auto">
              <a:xfrm>
                <a:off x="2448" y="10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37932" name="Text Box 51"/>
            <p:cNvSpPr txBox="1">
              <a:spLocks noChangeArrowheads="1"/>
            </p:cNvSpPr>
            <p:nvPr/>
          </p:nvSpPr>
          <p:spPr bwMode="auto">
            <a:xfrm>
              <a:off x="2112" y="144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
          <p:nvSpPr>
            <p:cNvPr id="37933" name="Text Box 52"/>
            <p:cNvSpPr txBox="1">
              <a:spLocks noChangeArrowheads="1"/>
            </p:cNvSpPr>
            <p:nvPr/>
          </p:nvSpPr>
          <p:spPr bwMode="auto">
            <a:xfrm>
              <a:off x="2016" y="216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grpSp>
      <p:sp>
        <p:nvSpPr>
          <p:cNvPr id="37895" name="Arc 53"/>
          <p:cNvSpPr>
            <a:spLocks/>
          </p:cNvSpPr>
          <p:nvPr/>
        </p:nvSpPr>
        <p:spPr bwMode="auto">
          <a:xfrm rot="10800000" flipV="1">
            <a:off x="5457825" y="3279775"/>
            <a:ext cx="1728788" cy="792163"/>
          </a:xfrm>
          <a:custGeom>
            <a:avLst/>
            <a:gdLst>
              <a:gd name="T0" fmla="*/ 46501 w 21600"/>
              <a:gd name="T1" fmla="*/ 0 h 21592"/>
              <a:gd name="T2" fmla="*/ 1728788 w 21600"/>
              <a:gd name="T3" fmla="*/ 792163 h 21592"/>
              <a:gd name="T4" fmla="*/ 0 w 21600"/>
              <a:gd name="T5" fmla="*/ 792163 h 21592"/>
              <a:gd name="T6" fmla="*/ 0 60000 65536"/>
              <a:gd name="T7" fmla="*/ 0 60000 65536"/>
              <a:gd name="T8" fmla="*/ 0 60000 65536"/>
            </a:gdLst>
            <a:ahLst/>
            <a:cxnLst>
              <a:cxn ang="T6">
                <a:pos x="T0" y="T1"/>
              </a:cxn>
              <a:cxn ang="T7">
                <a:pos x="T2" y="T3"/>
              </a:cxn>
              <a:cxn ang="T8">
                <a:pos x="T4" y="T5"/>
              </a:cxn>
            </a:cxnLst>
            <a:rect l="0" t="0" r="r" b="b"/>
            <a:pathLst>
              <a:path w="21600" h="21592" fill="none" extrusionOk="0">
                <a:moveTo>
                  <a:pt x="581" y="-1"/>
                </a:moveTo>
                <a:cubicBezTo>
                  <a:pt x="12279" y="314"/>
                  <a:pt x="21600" y="9888"/>
                  <a:pt x="21600" y="21592"/>
                </a:cubicBezTo>
              </a:path>
              <a:path w="21600" h="21592" stroke="0" extrusionOk="0">
                <a:moveTo>
                  <a:pt x="581" y="-1"/>
                </a:moveTo>
                <a:cubicBezTo>
                  <a:pt x="12279" y="314"/>
                  <a:pt x="21600" y="9888"/>
                  <a:pt x="21600" y="21592"/>
                </a:cubicBezTo>
                <a:lnTo>
                  <a:pt x="0" y="21592"/>
                </a:lnTo>
                <a:lnTo>
                  <a:pt x="581" y="-1"/>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6" name="Arc 54"/>
          <p:cNvSpPr>
            <a:spLocks/>
          </p:cNvSpPr>
          <p:nvPr/>
        </p:nvSpPr>
        <p:spPr bwMode="auto">
          <a:xfrm rot="10583394">
            <a:off x="5313363" y="4719638"/>
            <a:ext cx="1657350" cy="1008062"/>
          </a:xfrm>
          <a:custGeom>
            <a:avLst/>
            <a:gdLst>
              <a:gd name="T0" fmla="*/ 0 w 21600"/>
              <a:gd name="T1" fmla="*/ 0 h 21600"/>
              <a:gd name="T2" fmla="*/ 1657350 w 21600"/>
              <a:gd name="T3" fmla="*/ 1008062 h 21600"/>
              <a:gd name="T4" fmla="*/ 0 w 21600"/>
              <a:gd name="T5" fmla="*/ 100806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7" name="Text Box 55"/>
          <p:cNvSpPr txBox="1">
            <a:spLocks noChangeArrowheads="1"/>
          </p:cNvSpPr>
          <p:nvPr/>
        </p:nvSpPr>
        <p:spPr bwMode="auto">
          <a:xfrm>
            <a:off x="6176963" y="5583238"/>
            <a:ext cx="495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
        <p:nvSpPr>
          <p:cNvPr id="37898" name="Text Box 56"/>
          <p:cNvSpPr txBox="1">
            <a:spLocks noChangeArrowheads="1"/>
          </p:cNvSpPr>
          <p:nvPr/>
        </p:nvSpPr>
        <p:spPr bwMode="auto">
          <a:xfrm>
            <a:off x="5818188" y="3424238"/>
            <a:ext cx="495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800">
                <a:ea typeface="宋体" panose="02010600030101010101" pitchFamily="2" charset="-122"/>
                <a:sym typeface="Symbol" panose="05050102010706020507" pitchFamily="18" charset="2"/>
              </a:rPr>
              <a:t></a:t>
            </a:r>
            <a:endParaRPr lang="zh-CN" altLang="en-US" sz="1800">
              <a:ea typeface="宋体" panose="02010600030101010101" pitchFamily="2" charset="-122"/>
            </a:endParaRPr>
          </a:p>
        </p:txBody>
      </p:sp>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8915"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8916"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F4642E89-A87A-4265-A724-ABAD011DB37B}" type="slidenum">
              <a:rPr lang="zh-CN" altLang="en-US" sz="800" b="0"/>
              <a:pPr/>
              <a:t>37</a:t>
            </a:fld>
            <a:endParaRPr lang="en-US" altLang="zh-CN" sz="800" b="0"/>
          </a:p>
        </p:txBody>
      </p:sp>
      <p:sp>
        <p:nvSpPr>
          <p:cNvPr id="38917" name="Rectangle 2"/>
          <p:cNvSpPr>
            <a:spLocks noGrp="1" noChangeArrowheads="1"/>
          </p:cNvSpPr>
          <p:nvPr>
            <p:ph type="title"/>
          </p:nvPr>
        </p:nvSpPr>
        <p:spPr>
          <a:xfrm>
            <a:off x="382588" y="152400"/>
            <a:ext cx="9371012" cy="914400"/>
          </a:xfrm>
        </p:spPr>
        <p:txBody>
          <a:bodyPr/>
          <a:lstStyle/>
          <a:p>
            <a:r>
              <a:rPr lang="en-US" altLang="zh-CN" smtClean="0">
                <a:ea typeface="宋体" panose="02010600030101010101" pitchFamily="2" charset="-122"/>
              </a:rPr>
              <a:t>Other issues</a:t>
            </a:r>
          </a:p>
        </p:txBody>
      </p:sp>
      <p:grpSp>
        <p:nvGrpSpPr>
          <p:cNvPr id="38918" name="Group 3"/>
          <p:cNvGrpSpPr>
            <a:grpSpLocks/>
          </p:cNvGrpSpPr>
          <p:nvPr/>
        </p:nvGrpSpPr>
        <p:grpSpPr bwMode="auto">
          <a:xfrm>
            <a:off x="1784350" y="1981200"/>
            <a:ext cx="5365750" cy="1585913"/>
            <a:chOff x="2304" y="912"/>
            <a:chExt cx="3120" cy="999"/>
          </a:xfrm>
        </p:grpSpPr>
        <p:grpSp>
          <p:nvGrpSpPr>
            <p:cNvPr id="38923" name="Group 4"/>
            <p:cNvGrpSpPr>
              <a:grpSpLocks/>
            </p:cNvGrpSpPr>
            <p:nvPr/>
          </p:nvGrpSpPr>
          <p:grpSpPr bwMode="auto">
            <a:xfrm>
              <a:off x="5040" y="1200"/>
              <a:ext cx="384" cy="384"/>
              <a:chOff x="2496" y="2688"/>
              <a:chExt cx="384" cy="384"/>
            </a:xfrm>
          </p:grpSpPr>
          <p:sp>
            <p:nvSpPr>
              <p:cNvPr id="38946" name="Oval 5"/>
              <p:cNvSpPr>
                <a:spLocks noChangeArrowheads="1"/>
              </p:cNvSpPr>
              <p:nvPr/>
            </p:nvSpPr>
            <p:spPr bwMode="auto">
              <a:xfrm>
                <a:off x="2496" y="2688"/>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8947" name="Oval 6"/>
              <p:cNvSpPr>
                <a:spLocks noChangeArrowheads="1"/>
              </p:cNvSpPr>
              <p:nvPr/>
            </p:nvSpPr>
            <p:spPr bwMode="auto">
              <a:xfrm>
                <a:off x="2544" y="273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38924" name="Line 7"/>
            <p:cNvSpPr>
              <a:spLocks noChangeShapeType="1"/>
            </p:cNvSpPr>
            <p:nvPr/>
          </p:nvSpPr>
          <p:spPr bwMode="auto">
            <a:xfrm>
              <a:off x="4656"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5" name="Line 8"/>
            <p:cNvSpPr>
              <a:spLocks noChangeShapeType="1"/>
            </p:cNvSpPr>
            <p:nvPr/>
          </p:nvSpPr>
          <p:spPr bwMode="auto">
            <a:xfrm>
              <a:off x="3120"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6" name="Line 9"/>
            <p:cNvSpPr>
              <a:spLocks noChangeShapeType="1"/>
            </p:cNvSpPr>
            <p:nvPr/>
          </p:nvSpPr>
          <p:spPr bwMode="auto">
            <a:xfrm>
              <a:off x="2352"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7" name="Text Box 10"/>
            <p:cNvSpPr txBox="1">
              <a:spLocks noChangeArrowheads="1"/>
            </p:cNvSpPr>
            <p:nvPr/>
          </p:nvSpPr>
          <p:spPr bwMode="auto">
            <a:xfrm>
              <a:off x="2304" y="120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400">
                  <a:ea typeface="宋体" panose="02010600030101010101" pitchFamily="2" charset="-122"/>
                </a:rPr>
                <a:t>start</a:t>
              </a:r>
            </a:p>
          </p:txBody>
        </p:sp>
        <p:grpSp>
          <p:nvGrpSpPr>
            <p:cNvPr id="38928" name="Group 11"/>
            <p:cNvGrpSpPr>
              <a:grpSpLocks/>
            </p:cNvGrpSpPr>
            <p:nvPr/>
          </p:nvGrpSpPr>
          <p:grpSpPr bwMode="auto">
            <a:xfrm>
              <a:off x="2736" y="1200"/>
              <a:ext cx="384" cy="384"/>
              <a:chOff x="2736" y="1200"/>
              <a:chExt cx="384" cy="384"/>
            </a:xfrm>
          </p:grpSpPr>
          <p:sp>
            <p:nvSpPr>
              <p:cNvPr id="38944" name="Oval 12"/>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8945" name="Text Box 13"/>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38929" name="Text Box 14"/>
            <p:cNvSpPr txBox="1">
              <a:spLocks noChangeArrowheads="1"/>
            </p:cNvSpPr>
            <p:nvPr/>
          </p:nvSpPr>
          <p:spPr bwMode="auto">
            <a:xfrm>
              <a:off x="5136" y="12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38930" name="Text Box 15"/>
            <p:cNvSpPr txBox="1">
              <a:spLocks noChangeArrowheads="1"/>
            </p:cNvSpPr>
            <p:nvPr/>
          </p:nvSpPr>
          <p:spPr bwMode="auto">
            <a:xfrm>
              <a:off x="4704"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8931" name="Line 16"/>
            <p:cNvSpPr>
              <a:spLocks noChangeShapeType="1"/>
            </p:cNvSpPr>
            <p:nvPr/>
          </p:nvSpPr>
          <p:spPr bwMode="auto">
            <a:xfrm>
              <a:off x="3888"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8932" name="Group 17"/>
            <p:cNvGrpSpPr>
              <a:grpSpLocks/>
            </p:cNvGrpSpPr>
            <p:nvPr/>
          </p:nvGrpSpPr>
          <p:grpSpPr bwMode="auto">
            <a:xfrm>
              <a:off x="4272" y="1200"/>
              <a:ext cx="384" cy="384"/>
              <a:chOff x="2736" y="1200"/>
              <a:chExt cx="384" cy="384"/>
            </a:xfrm>
          </p:grpSpPr>
          <p:sp>
            <p:nvSpPr>
              <p:cNvPr id="38942" name="Oval 18"/>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8943" name="Text Box 19"/>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grpSp>
        <p:grpSp>
          <p:nvGrpSpPr>
            <p:cNvPr id="38933" name="Group 20"/>
            <p:cNvGrpSpPr>
              <a:grpSpLocks/>
            </p:cNvGrpSpPr>
            <p:nvPr/>
          </p:nvGrpSpPr>
          <p:grpSpPr bwMode="auto">
            <a:xfrm>
              <a:off x="3504" y="1200"/>
              <a:ext cx="384" cy="384"/>
              <a:chOff x="2736" y="1200"/>
              <a:chExt cx="384" cy="384"/>
            </a:xfrm>
          </p:grpSpPr>
          <p:sp>
            <p:nvSpPr>
              <p:cNvPr id="38940" name="Oval 21"/>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38941" name="Text Box 22"/>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38934" name="Text Box 23"/>
            <p:cNvSpPr txBox="1">
              <a:spLocks noChangeArrowheads="1"/>
            </p:cNvSpPr>
            <p:nvPr/>
          </p:nvSpPr>
          <p:spPr bwMode="auto">
            <a:xfrm>
              <a:off x="3936"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38935" name="Text Box 24"/>
            <p:cNvSpPr txBox="1">
              <a:spLocks noChangeArrowheads="1"/>
            </p:cNvSpPr>
            <p:nvPr/>
          </p:nvSpPr>
          <p:spPr bwMode="auto">
            <a:xfrm>
              <a:off x="3168"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38936" name="AutoShape 25"/>
            <p:cNvCxnSpPr>
              <a:cxnSpLocks noChangeShapeType="1"/>
              <a:stCxn id="38944" idx="7"/>
              <a:endCxn id="38944" idx="0"/>
            </p:cNvCxnSpPr>
            <p:nvPr/>
          </p:nvCxnSpPr>
          <p:spPr bwMode="auto">
            <a:xfrm rot="5400000" flipH="1">
              <a:off x="2968" y="1160"/>
              <a:ext cx="56" cy="136"/>
            </a:xfrm>
            <a:prstGeom prst="curvedConnector3">
              <a:avLst>
                <a:gd name="adj1" fmla="val 7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37" name="Text Box 26"/>
            <p:cNvSpPr txBox="1">
              <a:spLocks noChangeArrowheads="1"/>
            </p:cNvSpPr>
            <p:nvPr/>
          </p:nvSpPr>
          <p:spPr bwMode="auto">
            <a:xfrm>
              <a:off x="2736" y="91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38938" name="AutoShape 27"/>
            <p:cNvCxnSpPr>
              <a:cxnSpLocks noChangeShapeType="1"/>
              <a:stCxn id="38944" idx="3"/>
              <a:endCxn id="38944" idx="4"/>
            </p:cNvCxnSpPr>
            <p:nvPr/>
          </p:nvCxnSpPr>
          <p:spPr bwMode="auto">
            <a:xfrm rot="16200000" flipH="1">
              <a:off x="2832" y="1488"/>
              <a:ext cx="56" cy="136"/>
            </a:xfrm>
            <a:prstGeom prst="curvedConnector3">
              <a:avLst>
                <a:gd name="adj1" fmla="val 6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39" name="Text Box 28"/>
            <p:cNvSpPr txBox="1">
              <a:spLocks noChangeArrowheads="1"/>
            </p:cNvSpPr>
            <p:nvPr/>
          </p:nvSpPr>
          <p:spPr bwMode="auto">
            <a:xfrm>
              <a:off x="2880" y="168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grpSp>
      <p:sp>
        <p:nvSpPr>
          <p:cNvPr id="38919" name="Text Box 29"/>
          <p:cNvSpPr txBox="1">
            <a:spLocks noChangeArrowheads="1"/>
          </p:cNvSpPr>
          <p:nvPr/>
        </p:nvSpPr>
        <p:spPr bwMode="auto">
          <a:xfrm>
            <a:off x="1485900" y="1371600"/>
            <a:ext cx="8089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2800" b="0">
                <a:ea typeface="宋体" panose="02010600030101010101" pitchFamily="2" charset="-122"/>
              </a:rPr>
              <a:t>Not all paths may result in acceptance.</a:t>
            </a:r>
          </a:p>
        </p:txBody>
      </p:sp>
      <p:sp>
        <p:nvSpPr>
          <p:cNvPr id="38920" name="Text Box 30"/>
          <p:cNvSpPr txBox="1">
            <a:spLocks noChangeArrowheads="1"/>
          </p:cNvSpPr>
          <p:nvPr/>
        </p:nvSpPr>
        <p:spPr bwMode="auto">
          <a:xfrm>
            <a:off x="1568450" y="3962400"/>
            <a:ext cx="67691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solidFill>
                  <a:srgbClr val="FF3300"/>
                </a:solidFill>
                <a:ea typeface="宋体" panose="02010600030101010101" pitchFamily="2" charset="-122"/>
              </a:rPr>
              <a:t>aabb</a:t>
            </a:r>
            <a:r>
              <a:rPr lang="en-US" altLang="zh-CN" b="0">
                <a:ea typeface="宋体" panose="02010600030101010101" pitchFamily="2" charset="-122"/>
              </a:rPr>
              <a:t> is accepted along path :   0 </a:t>
            </a:r>
            <a:r>
              <a:rPr lang="en-US" altLang="zh-CN" b="0">
                <a:ea typeface="宋体" panose="02010600030101010101" pitchFamily="2" charset="-122"/>
                <a:sym typeface="Symbol" panose="05050102010706020507" pitchFamily="18" charset="2"/>
              </a:rPr>
              <a:t> 0  1  2  3</a:t>
            </a:r>
          </a:p>
          <a:p>
            <a:pPr eaLnBrk="1" hangingPunct="1">
              <a:spcBef>
                <a:spcPct val="50000"/>
              </a:spcBef>
            </a:pPr>
            <a:endParaRPr lang="en-US" altLang="zh-CN" b="0">
              <a:ea typeface="宋体" panose="02010600030101010101" pitchFamily="2" charset="-122"/>
              <a:sym typeface="Symbol" panose="05050102010706020507" pitchFamily="18" charset="2"/>
            </a:endParaRPr>
          </a:p>
          <a:p>
            <a:pPr eaLnBrk="1" hangingPunct="1">
              <a:spcBef>
                <a:spcPct val="50000"/>
              </a:spcBef>
            </a:pPr>
            <a:r>
              <a:rPr lang="en-US" altLang="zh-CN" b="0">
                <a:ea typeface="宋体" panose="02010600030101010101" pitchFamily="2" charset="-122"/>
                <a:sym typeface="Symbol" panose="05050102010706020507" pitchFamily="18" charset="2"/>
              </a:rPr>
              <a:t>BUT… it is </a:t>
            </a:r>
            <a:r>
              <a:rPr lang="en-US" altLang="zh-CN" b="0" u="sng">
                <a:ea typeface="宋体" panose="02010600030101010101" pitchFamily="2" charset="-122"/>
                <a:sym typeface="Symbol" panose="05050102010706020507" pitchFamily="18" charset="2"/>
              </a:rPr>
              <a:t>not accepted</a:t>
            </a:r>
            <a:r>
              <a:rPr lang="en-US" altLang="zh-CN" b="0">
                <a:ea typeface="宋体" panose="02010600030101010101" pitchFamily="2" charset="-122"/>
                <a:sym typeface="Symbol" panose="05050102010706020507" pitchFamily="18" charset="2"/>
              </a:rPr>
              <a:t> along the valid path:</a:t>
            </a:r>
          </a:p>
          <a:p>
            <a:pPr algn="ctr" eaLnBrk="1" hangingPunct="1">
              <a:spcBef>
                <a:spcPct val="50000"/>
              </a:spcBef>
            </a:pPr>
            <a:r>
              <a:rPr lang="en-US" altLang="zh-CN" b="0">
                <a:ea typeface="宋体" panose="02010600030101010101" pitchFamily="2" charset="-122"/>
              </a:rPr>
              <a:t>0 </a:t>
            </a:r>
            <a:r>
              <a:rPr lang="en-US" altLang="zh-CN" b="0">
                <a:ea typeface="宋体" panose="02010600030101010101" pitchFamily="2" charset="-122"/>
                <a:sym typeface="Symbol" panose="05050102010706020507" pitchFamily="18" charset="2"/>
              </a:rPr>
              <a:t> 0  </a:t>
            </a:r>
            <a:r>
              <a:rPr lang="en-US" altLang="zh-CN" b="0">
                <a:ea typeface="宋体" panose="02010600030101010101" pitchFamily="2" charset="-122"/>
              </a:rPr>
              <a:t>0 </a:t>
            </a:r>
            <a:r>
              <a:rPr lang="en-US" altLang="zh-CN" b="0">
                <a:ea typeface="宋体" panose="02010600030101010101" pitchFamily="2" charset="-122"/>
                <a:sym typeface="Symbol" panose="05050102010706020507" pitchFamily="18" charset="2"/>
              </a:rPr>
              <a:t> 0  0 </a:t>
            </a:r>
          </a:p>
        </p:txBody>
      </p:sp>
      <p:sp>
        <p:nvSpPr>
          <p:cNvPr id="445471" name="Rectangle 31"/>
          <p:cNvSpPr>
            <a:spLocks noChangeArrowheads="1"/>
          </p:cNvSpPr>
          <p:nvPr/>
        </p:nvSpPr>
        <p:spPr bwMode="auto">
          <a:xfrm>
            <a:off x="8048625" y="5373688"/>
            <a:ext cx="811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a:solidFill>
                  <a:srgbClr val="FF00FF"/>
                </a:solidFill>
                <a:ea typeface="宋体" panose="02010600030101010101" pitchFamily="2" charset="-122"/>
                <a:sym typeface="Symbol" panose="05050102010706020507" pitchFamily="18" charset="2"/>
              </a:rPr>
              <a:t>DFA</a:t>
            </a:r>
            <a:endParaRPr lang="zh-CN" altLang="en-US">
              <a:solidFill>
                <a:srgbClr val="FF00FF"/>
              </a:solidFill>
              <a:ea typeface="宋体" panose="02010600030101010101" pitchFamily="2" charset="-122"/>
              <a:sym typeface="Symbol" panose="05050102010706020507" pitchFamily="18" charset="2"/>
            </a:endParaRPr>
          </a:p>
        </p:txBody>
      </p:sp>
      <p:sp>
        <p:nvSpPr>
          <p:cNvPr id="445472" name="Line 32"/>
          <p:cNvSpPr>
            <a:spLocks noChangeShapeType="1"/>
          </p:cNvSpPr>
          <p:nvPr/>
        </p:nvSpPr>
        <p:spPr bwMode="auto">
          <a:xfrm>
            <a:off x="7258050" y="5589588"/>
            <a:ext cx="719138" cy="0"/>
          </a:xfrm>
          <a:prstGeom prst="line">
            <a:avLst/>
          </a:prstGeom>
          <a:noFill/>
          <a:ln w="762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5471"/>
                                        </p:tgtEl>
                                        <p:attrNameLst>
                                          <p:attrName>style.visibility</p:attrName>
                                        </p:attrNameLst>
                                      </p:cBhvr>
                                      <p:to>
                                        <p:strVal val="visible"/>
                                      </p:to>
                                    </p:set>
                                    <p:animEffect transition="in" filter="wipe(left)">
                                      <p:cBhvr>
                                        <p:cTn id="7" dur="1000"/>
                                        <p:tgtEl>
                                          <p:spTgt spid="445471"/>
                                        </p:tgtEl>
                                      </p:cBhvr>
                                    </p:animEffect>
                                  </p:childTnLst>
                                </p:cTn>
                              </p:par>
                              <p:par>
                                <p:cTn id="8" presetID="22" presetClass="entr" presetSubtype="8" fill="hold" nodeType="withEffect">
                                  <p:stCondLst>
                                    <p:cond delay="0"/>
                                  </p:stCondLst>
                                  <p:childTnLst>
                                    <p:set>
                                      <p:cBhvr>
                                        <p:cTn id="9" dur="1" fill="hold">
                                          <p:stCondLst>
                                            <p:cond delay="0"/>
                                          </p:stCondLst>
                                        </p:cTn>
                                        <p:tgtEl>
                                          <p:spTgt spid="445472"/>
                                        </p:tgtEl>
                                        <p:attrNameLst>
                                          <p:attrName>style.visibility</p:attrName>
                                        </p:attrNameLst>
                                      </p:cBhvr>
                                      <p:to>
                                        <p:strVal val="visible"/>
                                      </p:to>
                                    </p:set>
                                    <p:animEffect transition="in" filter="wipe(left)">
                                      <p:cBhvr>
                                        <p:cTn id="10" dur="1000"/>
                                        <p:tgtEl>
                                          <p:spTgt spid="445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7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39939"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39940"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F674EBE4-12F0-43BD-BA2A-1048B97B5201}" type="slidenum">
              <a:rPr lang="zh-CN" altLang="en-US" sz="800" b="0"/>
              <a:pPr/>
              <a:t>38</a:t>
            </a:fld>
            <a:endParaRPr lang="en-US" altLang="zh-CN" sz="800" b="0"/>
          </a:p>
        </p:txBody>
      </p:sp>
      <p:sp>
        <p:nvSpPr>
          <p:cNvPr id="39941"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mtClean="0">
                <a:ea typeface="宋体" panose="02010600030101010101" pitchFamily="2" charset="-122"/>
              </a:rPr>
              <a:t>Deterministic finite automation (DFA) (P.115)</a:t>
            </a:r>
          </a:p>
        </p:txBody>
      </p:sp>
      <p:sp>
        <p:nvSpPr>
          <p:cNvPr id="448515" name="Text Box 3"/>
          <p:cNvSpPr txBox="1">
            <a:spLocks noChangeArrowheads="1"/>
          </p:cNvSpPr>
          <p:nvPr/>
        </p:nvSpPr>
        <p:spPr bwMode="auto">
          <a:xfrm>
            <a:off x="560388" y="1295400"/>
            <a:ext cx="8929687"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3200" b="0">
                <a:ea typeface="宋体" panose="02010600030101010101" pitchFamily="2" charset="-122"/>
              </a:rPr>
              <a:t>A </a:t>
            </a:r>
            <a:r>
              <a:rPr lang="en-US" altLang="zh-CN" sz="3200" b="0">
                <a:solidFill>
                  <a:schemeClr val="accent2"/>
                </a:solidFill>
                <a:ea typeface="宋体" panose="02010600030101010101" pitchFamily="2" charset="-122"/>
              </a:rPr>
              <a:t>DFA </a:t>
            </a:r>
            <a:r>
              <a:rPr lang="en-US" altLang="zh-CN" sz="3200" b="0">
                <a:ea typeface="宋体" panose="02010600030101010101" pitchFamily="2" charset="-122"/>
              </a:rPr>
              <a:t>is an NFA with the following restrictions:</a:t>
            </a:r>
            <a:endParaRPr lang="en-US" altLang="zh-CN" sz="3200" b="0">
              <a:solidFill>
                <a:schemeClr val="accent2"/>
              </a:solidFill>
              <a:ea typeface="宋体" panose="02010600030101010101" pitchFamily="2" charset="-122"/>
            </a:endParaRPr>
          </a:p>
          <a:p>
            <a:pPr lvl="1" eaLnBrk="1" hangingPunct="1">
              <a:lnSpc>
                <a:spcPct val="70000"/>
              </a:lnSpc>
              <a:spcBef>
                <a:spcPct val="50000"/>
              </a:spcBef>
              <a:buFontTx/>
              <a:buChar char="•"/>
            </a:pPr>
            <a:r>
              <a:rPr lang="en-US" altLang="zh-CN" sz="3200" b="0">
                <a:solidFill>
                  <a:schemeClr val="accent2"/>
                </a:solidFill>
                <a:ea typeface="宋体" panose="02010600030101010101" pitchFamily="2" charset="-122"/>
              </a:rPr>
              <a:t> </a:t>
            </a:r>
            <a:r>
              <a:rPr lang="en-US" altLang="zh-CN" sz="3200" b="0">
                <a:solidFill>
                  <a:schemeClr val="accent2"/>
                </a:solidFill>
                <a:ea typeface="宋体" panose="02010600030101010101" pitchFamily="2" charset="-122"/>
                <a:sym typeface="Symbol" panose="05050102010706020507" pitchFamily="18" charset="2"/>
              </a:rPr>
              <a:t> moves are </a:t>
            </a:r>
            <a:r>
              <a:rPr lang="en-US" altLang="zh-CN" sz="3200" u="sng">
                <a:solidFill>
                  <a:srgbClr val="FF00FF"/>
                </a:solidFill>
                <a:ea typeface="宋体" panose="02010600030101010101" pitchFamily="2" charset="-122"/>
                <a:sym typeface="Symbol" panose="05050102010706020507" pitchFamily="18" charset="2"/>
              </a:rPr>
              <a:t>not</a:t>
            </a:r>
            <a:r>
              <a:rPr lang="en-US" altLang="zh-CN" sz="3200" b="0">
                <a:solidFill>
                  <a:schemeClr val="accent2"/>
                </a:solidFill>
                <a:ea typeface="宋体" panose="02010600030101010101" pitchFamily="2" charset="-122"/>
                <a:sym typeface="Symbol" panose="05050102010706020507" pitchFamily="18" charset="2"/>
              </a:rPr>
              <a:t> allowed</a:t>
            </a:r>
            <a:endParaRPr lang="en-US" altLang="zh-CN" sz="3200" b="0">
              <a:solidFill>
                <a:schemeClr val="accent2"/>
              </a:solidFill>
              <a:ea typeface="宋体" panose="02010600030101010101" pitchFamily="2" charset="-122"/>
            </a:endParaRPr>
          </a:p>
          <a:p>
            <a:pPr lvl="1" eaLnBrk="1" hangingPunct="1">
              <a:lnSpc>
                <a:spcPct val="80000"/>
              </a:lnSpc>
              <a:spcBef>
                <a:spcPct val="50000"/>
              </a:spcBef>
              <a:buFontTx/>
              <a:buChar char="•"/>
            </a:pPr>
            <a:r>
              <a:rPr lang="en-US" altLang="zh-CN" sz="3200" b="0">
                <a:solidFill>
                  <a:schemeClr val="accent2"/>
                </a:solidFill>
                <a:ea typeface="宋体" panose="02010600030101010101" pitchFamily="2" charset="-122"/>
              </a:rPr>
              <a:t> For every state s </a:t>
            </a:r>
            <a:r>
              <a:rPr lang="en-US" altLang="zh-CN" sz="3200" b="0">
                <a:solidFill>
                  <a:schemeClr val="accent2"/>
                </a:solidFill>
                <a:ea typeface="宋体" panose="02010600030101010101" pitchFamily="2" charset="-122"/>
                <a:sym typeface="Symbol" panose="05050102010706020507" pitchFamily="18" charset="2"/>
              </a:rPr>
              <a:t>S, there is one and only one path from s for every input symbol a 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48515">
                                            <p:txEl>
                                              <p:pRg st="1" end="1"/>
                                            </p:txEl>
                                          </p:spTgt>
                                        </p:tgtEl>
                                        <p:attrNameLst>
                                          <p:attrName>style.visibility</p:attrName>
                                        </p:attrNameLst>
                                      </p:cBhvr>
                                      <p:to>
                                        <p:strVal val="visible"/>
                                      </p:to>
                                    </p:set>
                                    <p:anim calcmode="lin" valueType="num">
                                      <p:cBhvr additive="base">
                                        <p:cTn id="7" dur="1000" fill="hold"/>
                                        <p:tgtEl>
                                          <p:spTgt spid="448515">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4485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8515">
                                            <p:txEl>
                                              <p:pRg st="2" end="2"/>
                                            </p:txEl>
                                          </p:spTgt>
                                        </p:tgtEl>
                                        <p:attrNameLst>
                                          <p:attrName>style.visibility</p:attrName>
                                        </p:attrNameLst>
                                      </p:cBhvr>
                                      <p:to>
                                        <p:strVal val="visible"/>
                                      </p:to>
                                    </p:set>
                                    <p:anim calcmode="lin" valueType="num">
                                      <p:cBhvr additive="base">
                                        <p:cTn id="13" dur="1000" fill="hold"/>
                                        <p:tgtEl>
                                          <p:spTgt spid="448515">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4485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0963"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0964"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6677D287-C2FA-460F-A482-B22B1400ED50}" type="slidenum">
              <a:rPr lang="zh-CN" altLang="en-US" sz="800" b="0"/>
              <a:pPr/>
              <a:t>39</a:t>
            </a:fld>
            <a:endParaRPr lang="en-US" altLang="zh-CN" sz="800" b="0"/>
          </a:p>
        </p:txBody>
      </p:sp>
      <p:sp>
        <p:nvSpPr>
          <p:cNvPr id="40965" name="Rectangle 2"/>
          <p:cNvSpPr>
            <a:spLocks noGrp="1" noChangeArrowheads="1"/>
          </p:cNvSpPr>
          <p:nvPr>
            <p:ph type="title"/>
          </p:nvPr>
        </p:nvSpPr>
        <p:spPr/>
        <p:txBody>
          <a:bodyPr/>
          <a:lstStyle/>
          <a:p>
            <a:r>
              <a:rPr lang="en-US" altLang="zh-CN" smtClean="0">
                <a:ea typeface="宋体" panose="02010600030101010101" pitchFamily="2" charset="-122"/>
              </a:rPr>
              <a:t>Implementing a DFA </a:t>
            </a:r>
            <a:r>
              <a:rPr lang="en-US" altLang="zh-CN" sz="3600" smtClean="0">
                <a:ea typeface="宋体" panose="02010600030101010101" pitchFamily="2" charset="-122"/>
              </a:rPr>
              <a:t>(P.116)</a:t>
            </a:r>
            <a:endParaRPr lang="zh-CN" altLang="en-US" sz="3600" smtClean="0">
              <a:ea typeface="宋体" panose="02010600030101010101" pitchFamily="2" charset="-122"/>
            </a:endParaRPr>
          </a:p>
        </p:txBody>
      </p:sp>
      <p:sp>
        <p:nvSpPr>
          <p:cNvPr id="40966" name="Rectangle 3"/>
          <p:cNvSpPr>
            <a:spLocks noGrp="1" noChangeArrowheads="1"/>
          </p:cNvSpPr>
          <p:nvPr>
            <p:ph type="body" idx="1"/>
          </p:nvPr>
        </p:nvSpPr>
        <p:spPr>
          <a:xfrm>
            <a:off x="2289175" y="5876925"/>
            <a:ext cx="5040313" cy="374650"/>
          </a:xfrm>
        </p:spPr>
        <p:txBody>
          <a:bodyPr/>
          <a:lstStyle/>
          <a:p>
            <a:pPr>
              <a:lnSpc>
                <a:spcPct val="90000"/>
              </a:lnSpc>
              <a:buFontTx/>
              <a:buNone/>
            </a:pPr>
            <a:r>
              <a:rPr lang="en-US" altLang="zh-CN" smtClean="0">
                <a:ea typeface="宋体" panose="02010600030101010101" pitchFamily="2" charset="-122"/>
              </a:rPr>
              <a:t>Fig.3.22 Simulating a DFA.  </a:t>
            </a:r>
          </a:p>
        </p:txBody>
      </p:sp>
      <p:sp>
        <p:nvSpPr>
          <p:cNvPr id="40967" name="Text Box 4"/>
          <p:cNvSpPr txBox="1">
            <a:spLocks noChangeArrowheads="1"/>
          </p:cNvSpPr>
          <p:nvPr/>
        </p:nvSpPr>
        <p:spPr bwMode="auto">
          <a:xfrm>
            <a:off x="920750" y="1196975"/>
            <a:ext cx="81724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20000"/>
              </a:spcBef>
              <a:buFontTx/>
              <a:buChar char="•"/>
            </a:pPr>
            <a:r>
              <a:rPr lang="en-US" altLang="zh-CN" b="0">
                <a:ea typeface="宋体" panose="02010600030101010101" pitchFamily="2" charset="-122"/>
              </a:rPr>
              <a:t>Let us assume that the end of a string is marked with a special symbol (say eof). The algorithm for recognition will be as follows: (an efficient implementation) (algorithm 3.1 p116) </a:t>
            </a:r>
          </a:p>
        </p:txBody>
      </p:sp>
      <p:sp>
        <p:nvSpPr>
          <p:cNvPr id="40968" name="Text Box 5"/>
          <p:cNvSpPr txBox="1">
            <a:spLocks noChangeArrowheads="1"/>
          </p:cNvSpPr>
          <p:nvPr/>
        </p:nvSpPr>
        <p:spPr bwMode="auto">
          <a:xfrm>
            <a:off x="1281113" y="2465388"/>
            <a:ext cx="7559675" cy="326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solidFill>
                  <a:schemeClr val="accent2"/>
                </a:solidFill>
                <a:latin typeface="Courier New" panose="02070309020205020404" pitchFamily="49" charset="0"/>
                <a:ea typeface="宋体" panose="02010600030101010101" pitchFamily="2" charset="-122"/>
              </a:rPr>
              <a:t>s </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s</a:t>
            </a:r>
            <a:r>
              <a:rPr lang="en-US" altLang="zh-CN" b="0" baseline="-25000">
                <a:solidFill>
                  <a:schemeClr val="accent2"/>
                </a:solidFill>
                <a:latin typeface="Courier New" panose="02070309020205020404" pitchFamily="49" charset="0"/>
                <a:ea typeface="宋体" panose="02010600030101010101" pitchFamily="2" charset="-122"/>
                <a:sym typeface="Symbol" panose="05050102010706020507" pitchFamily="18" charset="2"/>
              </a:rPr>
              <a:t>0</a:t>
            </a:r>
            <a:endPar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endParaRPr>
          </a:p>
          <a:p>
            <a:pPr eaLnBrk="1" hangingPunct="1">
              <a:lnSpc>
                <a:spcPct val="60000"/>
              </a:lnSpc>
              <a:spcBef>
                <a:spcPct val="50000"/>
              </a:spcBef>
            </a:pPr>
            <a:r>
              <a:rPr lang="en-US" altLang="zh-CN" b="0">
                <a:solidFill>
                  <a:schemeClr val="accent2"/>
                </a:solidFill>
                <a:latin typeface="Courier New" panose="02070309020205020404" pitchFamily="49" charset="0"/>
                <a:ea typeface="宋体" panose="02010600030101010101" pitchFamily="2" charset="-122"/>
              </a:rPr>
              <a:t>c </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nextchar;</a:t>
            </a:r>
          </a:p>
          <a:p>
            <a:pPr eaLnBrk="1" hangingPunct="1">
              <a:lnSpc>
                <a:spcPct val="60000"/>
              </a:lnSpc>
              <a:spcBef>
                <a:spcPct val="50000"/>
              </a:spcBef>
            </a:pP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while</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c  </a:t>
            </a: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eof do</a:t>
            </a:r>
          </a:p>
          <a:p>
            <a:pPr eaLnBrk="1" hangingPunct="1">
              <a:lnSpc>
                <a:spcPct val="60000"/>
              </a:lnSpc>
              <a:spcBef>
                <a:spcPct val="50000"/>
              </a:spcBef>
            </a:pP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s  move(s,c); //state transition</a:t>
            </a:r>
          </a:p>
          <a:p>
            <a:pPr eaLnBrk="1" hangingPunct="1">
              <a:lnSpc>
                <a:spcPct val="60000"/>
              </a:lnSpc>
              <a:spcBef>
                <a:spcPct val="50000"/>
              </a:spcBef>
            </a:pP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c  nextchar; //read next character</a:t>
            </a:r>
          </a:p>
          <a:p>
            <a:pPr eaLnBrk="1" hangingPunct="1">
              <a:lnSpc>
                <a:spcPct val="60000"/>
              </a:lnSpc>
              <a:spcBef>
                <a:spcPct val="50000"/>
              </a:spcBef>
            </a:pP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end</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a:t>
            </a:r>
          </a:p>
          <a:p>
            <a:pPr eaLnBrk="1" hangingPunct="1">
              <a:lnSpc>
                <a:spcPct val="60000"/>
              </a:lnSpc>
              <a:spcBef>
                <a:spcPct val="50000"/>
              </a:spcBef>
            </a:pP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if</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s is in F </a:t>
            </a: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then</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a:t>
            </a: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return</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“yes”</a:t>
            </a:r>
          </a:p>
          <a:p>
            <a:pPr eaLnBrk="1" hangingPunct="1">
              <a:lnSpc>
                <a:spcPct val="60000"/>
              </a:lnSpc>
              <a:spcBef>
                <a:spcPct val="50000"/>
              </a:spcBef>
            </a:pP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else</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a:t>
            </a:r>
            <a:r>
              <a:rPr lang="en-US" altLang="zh-CN">
                <a:solidFill>
                  <a:schemeClr val="accent2"/>
                </a:solidFill>
                <a:latin typeface="Courier New" panose="02070309020205020404" pitchFamily="49" charset="0"/>
                <a:ea typeface="宋体" panose="02010600030101010101" pitchFamily="2" charset="-122"/>
                <a:sym typeface="Symbol" panose="05050102010706020507" pitchFamily="18" charset="2"/>
              </a:rPr>
              <a:t>return</a:t>
            </a:r>
            <a:r>
              <a:rPr lang="en-US" altLang="zh-CN" b="0">
                <a:solidFill>
                  <a:schemeClr val="accent2"/>
                </a:solidFill>
                <a:latin typeface="Courier New" panose="02070309020205020404" pitchFamily="49" charset="0"/>
                <a:ea typeface="宋体" panose="02010600030101010101" pitchFamily="2" charset="-122"/>
                <a:sym typeface="Symbol" panose="05050102010706020507" pitchFamily="18" charset="2"/>
              </a:rPr>
              <a:t> “no”</a:t>
            </a:r>
          </a:p>
        </p:txBody>
      </p:sp>
      <p:sp>
        <p:nvSpPr>
          <p:cNvPr id="40969" name="Rectangle 10"/>
          <p:cNvSpPr>
            <a:spLocks noChangeArrowheads="1"/>
          </p:cNvSpPr>
          <p:nvPr/>
        </p:nvSpPr>
        <p:spPr bwMode="auto">
          <a:xfrm>
            <a:off x="7473950" y="5734050"/>
            <a:ext cx="1252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b="0">
                <a:solidFill>
                  <a:schemeClr val="accent2"/>
                </a:solidFill>
                <a:ea typeface="宋体" panose="02010600030101010101" pitchFamily="2" charset="-122"/>
                <a:sym typeface="Symbol" panose="05050102010706020507" pitchFamily="18" charset="2"/>
              </a:rPr>
              <a:t>Cf. </a:t>
            </a:r>
            <a:r>
              <a:rPr lang="en-US" altLang="zh-CN" b="0">
                <a:ea typeface="宋体" panose="02010600030101010101" pitchFamily="2" charset="-122"/>
                <a:sym typeface="Symbol" panose="05050102010706020507" pitchFamily="18" charset="2"/>
                <a:hlinkClick r:id="rId2" action="ppaction://hlinksldjump"/>
              </a:rPr>
              <a:t>NFA</a:t>
            </a:r>
            <a:endParaRPr lang="zh-CN" altLang="en-US" b="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1987"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1988"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7145D7E2-DCF8-48C3-B3E5-A59F2EA712E8}" type="slidenum">
              <a:rPr lang="zh-CN" altLang="en-US" sz="800" b="0"/>
              <a:pPr/>
              <a:t>40</a:t>
            </a:fld>
            <a:endParaRPr lang="en-US" altLang="zh-CN" sz="800" b="0"/>
          </a:p>
        </p:txBody>
      </p:sp>
      <p:sp>
        <p:nvSpPr>
          <p:cNvPr id="41989" name="Rectangle 2"/>
          <p:cNvSpPr>
            <a:spLocks noGrp="1" noChangeArrowheads="1"/>
          </p:cNvSpPr>
          <p:nvPr>
            <p:ph type="title"/>
          </p:nvPr>
        </p:nvSpPr>
        <p:spPr/>
        <p:txBody>
          <a:bodyPr/>
          <a:lstStyle/>
          <a:p>
            <a:r>
              <a:rPr lang="en-US" altLang="zh-CN" smtClean="0">
                <a:ea typeface="宋体" panose="02010600030101010101" pitchFamily="2" charset="-122"/>
              </a:rPr>
              <a:t>Implementing a NFA (P.126)</a:t>
            </a:r>
          </a:p>
        </p:txBody>
      </p:sp>
      <p:sp>
        <p:nvSpPr>
          <p:cNvPr id="41990" name="Rectangle 3"/>
          <p:cNvSpPr>
            <a:spLocks noGrp="1" noChangeArrowheads="1"/>
          </p:cNvSpPr>
          <p:nvPr>
            <p:ph type="body" idx="1"/>
          </p:nvPr>
        </p:nvSpPr>
        <p:spPr>
          <a:xfrm>
            <a:off x="200025" y="1219200"/>
            <a:ext cx="9553575" cy="5105400"/>
          </a:xfrm>
        </p:spPr>
        <p:txBody>
          <a:bodyPr/>
          <a:lstStyle/>
          <a:p>
            <a:pPr marL="800100" lvl="1" indent="-342900">
              <a:buFontTx/>
              <a:buNone/>
            </a:pPr>
            <a:endParaRPr lang="zh-CN" altLang="en-US" smtClean="0">
              <a:ea typeface="宋体" panose="02010600030101010101" pitchFamily="2" charset="-122"/>
            </a:endParaRPr>
          </a:p>
          <a:p>
            <a:pPr marL="800100" lvl="1" indent="-342900">
              <a:buFontTx/>
              <a:buNone/>
            </a:pPr>
            <a:r>
              <a:rPr lang="en-US" altLang="zh-CN" sz="2000" smtClean="0">
                <a:ea typeface="宋体" panose="02010600030101010101" pitchFamily="2" charset="-122"/>
              </a:rPr>
              <a:t>S</a:t>
            </a:r>
            <a:r>
              <a:rPr lang="en-US" altLang="zh-CN" smtClean="0">
                <a:ea typeface="宋体" panose="02010600030101010101" pitchFamily="2" charset="-122"/>
              </a:rPr>
              <a:t> </a:t>
            </a:r>
            <a:r>
              <a:rPr lang="en-US" altLang="zh-CN" smtClean="0">
                <a:ea typeface="宋体" panose="02010600030101010101" pitchFamily="2" charset="-122"/>
                <a:sym typeface="Wingdings" panose="05000000000000000000" pitchFamily="2" charset="2"/>
              </a:rPr>
              <a:t> </a:t>
            </a:r>
            <a:r>
              <a:rPr lang="en-US" altLang="zh-CN" smtClean="0">
                <a:ea typeface="宋体" panose="02010600030101010101" pitchFamily="2" charset="-122"/>
                <a:sym typeface="Symbol" panose="05050102010706020507" pitchFamily="18" charset="2"/>
              </a:rPr>
              <a:t></a:t>
            </a:r>
            <a:r>
              <a:rPr lang="en-US" altLang="zh-CN" smtClean="0">
                <a:ea typeface="宋体" panose="02010600030101010101" pitchFamily="2" charset="-122"/>
                <a:sym typeface="Wingdings" panose="05000000000000000000" pitchFamily="2" charset="2"/>
              </a:rPr>
              <a:t>-closure({s</a:t>
            </a:r>
            <a:r>
              <a:rPr lang="en-US" altLang="zh-CN" baseline="-25000" smtClean="0">
                <a:ea typeface="宋体" panose="02010600030101010101" pitchFamily="2" charset="-122"/>
                <a:sym typeface="Wingdings" panose="05000000000000000000" pitchFamily="2" charset="2"/>
              </a:rPr>
              <a:t>0</a:t>
            </a:r>
            <a:r>
              <a:rPr lang="en-US" altLang="zh-CN" smtClean="0">
                <a:ea typeface="宋体" panose="02010600030101010101" pitchFamily="2" charset="-122"/>
                <a:sym typeface="Wingdings" panose="05000000000000000000" pitchFamily="2" charset="2"/>
              </a:rPr>
              <a:t>})	{ set all of states can be accessible from s</a:t>
            </a:r>
            <a:r>
              <a:rPr lang="en-US" altLang="zh-CN" baseline="-25000" smtClean="0">
                <a:ea typeface="宋体" panose="02010600030101010101" pitchFamily="2" charset="-122"/>
                <a:sym typeface="Wingdings" panose="05000000000000000000" pitchFamily="2" charset="2"/>
              </a:rPr>
              <a:t>0 </a:t>
            </a:r>
            <a:r>
              <a:rPr lang="en-US" altLang="zh-CN" smtClean="0">
                <a:ea typeface="宋体" panose="02010600030101010101" pitchFamily="2" charset="-122"/>
                <a:sym typeface="Wingdings" panose="05000000000000000000" pitchFamily="2" charset="2"/>
              </a:rPr>
              <a:t>by </a:t>
            </a:r>
            <a:r>
              <a:rPr lang="en-US" altLang="zh-CN" smtClean="0">
                <a:ea typeface="宋体" panose="02010600030101010101" pitchFamily="2" charset="-122"/>
                <a:sym typeface="Symbol" panose="05050102010706020507" pitchFamily="18" charset="2"/>
              </a:rPr>
              <a:t>-transitions }</a:t>
            </a:r>
            <a:endParaRPr lang="en-US" altLang="zh-CN" smtClean="0">
              <a:ea typeface="宋体" panose="02010600030101010101" pitchFamily="2" charset="-122"/>
              <a:sym typeface="Wingdings" panose="05000000000000000000" pitchFamily="2" charset="2"/>
            </a:endParaRPr>
          </a:p>
          <a:p>
            <a:pPr marL="800100" lvl="1" indent="-342900">
              <a:buFontTx/>
              <a:buNone/>
            </a:pPr>
            <a:r>
              <a:rPr lang="en-US" altLang="zh-CN" smtClean="0">
                <a:ea typeface="宋体" panose="02010600030101010101" pitchFamily="2" charset="-122"/>
                <a:sym typeface="Wingdings" panose="05000000000000000000" pitchFamily="2" charset="2"/>
              </a:rPr>
              <a:t>c  nextchar</a:t>
            </a:r>
          </a:p>
          <a:p>
            <a:pPr marL="800100" lvl="1" indent="-342900">
              <a:buFontTx/>
              <a:buNone/>
            </a:pPr>
            <a:r>
              <a:rPr lang="en-US" altLang="zh-CN" smtClean="0">
                <a:ea typeface="宋体" panose="02010600030101010101" pitchFamily="2" charset="-122"/>
                <a:sym typeface="Wingdings" panose="05000000000000000000" pitchFamily="2" charset="2"/>
              </a:rPr>
              <a:t>while (c != eof) {</a:t>
            </a:r>
          </a:p>
          <a:p>
            <a:pPr marL="800100" lvl="1" indent="-342900">
              <a:buFontTx/>
              <a:buNone/>
            </a:pPr>
            <a:r>
              <a:rPr lang="en-US" altLang="zh-CN" smtClean="0">
                <a:ea typeface="宋体" panose="02010600030101010101" pitchFamily="2" charset="-122"/>
                <a:sym typeface="Wingdings" panose="05000000000000000000" pitchFamily="2" charset="2"/>
              </a:rPr>
              <a:t>	begin</a:t>
            </a:r>
          </a:p>
          <a:p>
            <a:pPr marL="800100" lvl="1" indent="-342900">
              <a:buFontTx/>
              <a:buNone/>
            </a:pPr>
            <a:r>
              <a:rPr lang="en-US" altLang="zh-CN" smtClean="0">
                <a:ea typeface="宋体" panose="02010600030101010101" pitchFamily="2" charset="-122"/>
                <a:sym typeface="Wingdings" panose="05000000000000000000" pitchFamily="2" charset="2"/>
              </a:rPr>
              <a:t>	      s  </a:t>
            </a:r>
            <a:r>
              <a:rPr lang="en-US" altLang="zh-CN" smtClean="0">
                <a:ea typeface="宋体" panose="02010600030101010101" pitchFamily="2" charset="-122"/>
                <a:sym typeface="Symbol" panose="05050102010706020507" pitchFamily="18" charset="2"/>
              </a:rPr>
              <a:t></a:t>
            </a:r>
            <a:r>
              <a:rPr lang="en-US" altLang="zh-CN" smtClean="0">
                <a:ea typeface="宋体" panose="02010600030101010101" pitchFamily="2" charset="-122"/>
                <a:sym typeface="Wingdings" panose="05000000000000000000" pitchFamily="2" charset="2"/>
              </a:rPr>
              <a:t>-closure(move(</a:t>
            </a:r>
            <a:r>
              <a:rPr lang="en-US" altLang="zh-CN" sz="2000" smtClean="0">
                <a:ea typeface="宋体" panose="02010600030101010101" pitchFamily="2" charset="-122"/>
                <a:sym typeface="Wingdings" panose="05000000000000000000" pitchFamily="2" charset="2"/>
              </a:rPr>
              <a:t>S</a:t>
            </a:r>
            <a:r>
              <a:rPr lang="en-US" altLang="zh-CN" smtClean="0">
                <a:ea typeface="宋体" panose="02010600030101010101" pitchFamily="2" charset="-122"/>
                <a:sym typeface="Wingdings" panose="05000000000000000000" pitchFamily="2" charset="2"/>
              </a:rPr>
              <a:t>,c))	{ set of all states can be accessible from a state in S </a:t>
            </a:r>
          </a:p>
          <a:p>
            <a:pPr marL="800100" lvl="1" indent="-342900">
              <a:buFontTx/>
              <a:buNone/>
            </a:pPr>
            <a:r>
              <a:rPr lang="en-US" altLang="zh-CN" smtClean="0">
                <a:ea typeface="宋体" panose="02010600030101010101" pitchFamily="2" charset="-122"/>
                <a:sym typeface="Wingdings" panose="05000000000000000000" pitchFamily="2" charset="2"/>
              </a:rPr>
              <a:t>		    c  nextchar		   by a transition on c }</a:t>
            </a:r>
          </a:p>
          <a:p>
            <a:pPr marL="800100" lvl="1" indent="-342900">
              <a:buFontTx/>
              <a:buNone/>
            </a:pPr>
            <a:r>
              <a:rPr lang="en-US" altLang="zh-CN" smtClean="0">
                <a:ea typeface="宋体" panose="02010600030101010101" pitchFamily="2" charset="-122"/>
                <a:sym typeface="Wingdings" panose="05000000000000000000" pitchFamily="2" charset="2"/>
              </a:rPr>
              <a:t>	end</a:t>
            </a:r>
          </a:p>
          <a:p>
            <a:pPr marL="800100" lvl="1" indent="-342900">
              <a:buFontTx/>
              <a:buNone/>
            </a:pPr>
            <a:r>
              <a:rPr lang="en-US" altLang="zh-CN" smtClean="0">
                <a:ea typeface="宋体" panose="02010600030101010101" pitchFamily="2" charset="-122"/>
                <a:sym typeface="Wingdings" panose="05000000000000000000" pitchFamily="2" charset="2"/>
              </a:rPr>
              <a:t>if (</a:t>
            </a:r>
            <a:r>
              <a:rPr lang="en-US" altLang="zh-CN" sz="2000" smtClean="0">
                <a:ea typeface="宋体" panose="02010600030101010101" pitchFamily="2" charset="-122"/>
                <a:sym typeface="Wingdings" panose="05000000000000000000" pitchFamily="2" charset="2"/>
              </a:rPr>
              <a:t>S</a:t>
            </a:r>
            <a:r>
              <a:rPr lang="en-US" altLang="zh-CN" smtClean="0">
                <a:ea typeface="宋体" panose="02010600030101010101" pitchFamily="2" charset="-122"/>
                <a:sym typeface="Symbol" panose="05050102010706020507" pitchFamily="18" charset="2"/>
              </a:rPr>
              <a:t>F != ) then		{ if S contains an accepting state }</a:t>
            </a:r>
          </a:p>
          <a:p>
            <a:pPr marL="800100" lvl="1" indent="-342900">
              <a:buFontTx/>
              <a:buNone/>
            </a:pPr>
            <a:r>
              <a:rPr lang="en-US" altLang="zh-CN" smtClean="0">
                <a:ea typeface="宋体" panose="02010600030101010101" pitchFamily="2" charset="-122"/>
                <a:sym typeface="Symbol" panose="05050102010706020507" pitchFamily="18" charset="2"/>
              </a:rPr>
              <a:t>	return “yes”</a:t>
            </a:r>
          </a:p>
          <a:p>
            <a:pPr marL="800100" lvl="1" indent="-342900">
              <a:buFontTx/>
              <a:buNone/>
            </a:pPr>
            <a:r>
              <a:rPr lang="en-US" altLang="zh-CN" smtClean="0">
                <a:ea typeface="宋体" panose="02010600030101010101" pitchFamily="2" charset="-122"/>
                <a:sym typeface="Symbol" panose="05050102010706020507" pitchFamily="18" charset="2"/>
              </a:rPr>
              <a:t>else</a:t>
            </a:r>
          </a:p>
          <a:p>
            <a:pPr marL="800100" lvl="1" indent="-342900">
              <a:buFontTx/>
              <a:buNone/>
            </a:pPr>
            <a:r>
              <a:rPr lang="en-US" altLang="zh-CN" smtClean="0">
                <a:ea typeface="宋体" panose="02010600030101010101" pitchFamily="2" charset="-122"/>
                <a:sym typeface="Symbol" panose="05050102010706020507" pitchFamily="18" charset="2"/>
              </a:rPr>
              <a:t>	return “no”</a:t>
            </a:r>
          </a:p>
          <a:p>
            <a:pPr marL="800100" lvl="1" indent="-342900">
              <a:buFontTx/>
              <a:buNone/>
            </a:pPr>
            <a:endParaRPr lang="en-US" altLang="zh-CN" smtClean="0">
              <a:ea typeface="宋体" panose="02010600030101010101" pitchFamily="2" charset="-122"/>
              <a:sym typeface="Symbol" panose="05050102010706020507" pitchFamily="18" charset="2"/>
            </a:endParaRPr>
          </a:p>
          <a:p>
            <a:pPr marL="457200" indent="-457200"/>
            <a:r>
              <a:rPr lang="en-US" altLang="zh-CN" smtClean="0">
                <a:ea typeface="宋体" panose="02010600030101010101" pitchFamily="2" charset="-122"/>
                <a:sym typeface="Symbol" panose="05050102010706020507" pitchFamily="18" charset="2"/>
              </a:rPr>
              <a:t>This algorithm is not efficient.</a:t>
            </a:r>
          </a:p>
        </p:txBody>
      </p:sp>
      <p:sp>
        <p:nvSpPr>
          <p:cNvPr id="41991" name="Rectangle 4"/>
          <p:cNvSpPr>
            <a:spLocks noChangeArrowheads="1"/>
          </p:cNvSpPr>
          <p:nvPr/>
        </p:nvSpPr>
        <p:spPr bwMode="auto">
          <a:xfrm>
            <a:off x="4160838" y="4797425"/>
            <a:ext cx="54006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CN" sz="2000" b="0">
                <a:solidFill>
                  <a:schemeClr val="tx2"/>
                </a:solidFill>
                <a:ea typeface="宋体" panose="02010600030101010101" pitchFamily="2" charset="-122"/>
              </a:rPr>
              <a:t>Fig.3.31 simulating the NFA of algorithm 3.3 Thompson’s construction</a:t>
            </a:r>
          </a:p>
        </p:txBody>
      </p:sp>
      <p:sp>
        <p:nvSpPr>
          <p:cNvPr id="41992" name="Rectangle 5"/>
          <p:cNvSpPr>
            <a:spLocks noChangeArrowheads="1"/>
          </p:cNvSpPr>
          <p:nvPr/>
        </p:nvSpPr>
        <p:spPr bwMode="auto">
          <a:xfrm>
            <a:off x="7473950" y="5734050"/>
            <a:ext cx="177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b="0">
                <a:solidFill>
                  <a:schemeClr val="accent2"/>
                </a:solidFill>
                <a:ea typeface="宋体" panose="02010600030101010101" pitchFamily="2" charset="-122"/>
                <a:sym typeface="Symbol" panose="05050102010706020507" pitchFamily="18" charset="2"/>
              </a:rPr>
              <a:t>Return. </a:t>
            </a:r>
            <a:r>
              <a:rPr lang="en-US" altLang="zh-CN" b="0">
                <a:ea typeface="宋体" panose="02010600030101010101" pitchFamily="2" charset="-122"/>
                <a:sym typeface="Symbol" panose="05050102010706020507" pitchFamily="18" charset="2"/>
                <a:hlinkClick r:id="rId2" action="ppaction://hlinksldjump"/>
              </a:rPr>
              <a:t>DFA</a:t>
            </a:r>
            <a:endParaRPr lang="zh-CN" altLang="en-US" b="0">
              <a:ea typeface="宋体" panose="02010600030101010101" pitchFamily="2" charset="-122"/>
              <a:sym typeface="Symbol" panose="05050102010706020507" pitchFamily="18" charset="2"/>
            </a:endParaRPr>
          </a:p>
        </p:txBody>
      </p:sp>
    </p:spTree>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301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301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B39BAD4-95A3-4F47-9D0C-8915F9FD49FC}" type="slidenum">
              <a:rPr lang="zh-CN" altLang="en-US" sz="800" b="0"/>
              <a:pPr/>
              <a:t>41</a:t>
            </a:fld>
            <a:endParaRPr lang="en-US" altLang="zh-CN" sz="800" b="0"/>
          </a:p>
        </p:txBody>
      </p:sp>
      <p:sp>
        <p:nvSpPr>
          <p:cNvPr id="43013"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mtClean="0">
                <a:ea typeface="宋体" panose="02010600030101010101" pitchFamily="2" charset="-122"/>
              </a:rPr>
              <a:t>DFA (example) (P.117)</a:t>
            </a:r>
          </a:p>
        </p:txBody>
      </p:sp>
      <p:grpSp>
        <p:nvGrpSpPr>
          <p:cNvPr id="450563" name="Group 3"/>
          <p:cNvGrpSpPr>
            <a:grpSpLocks/>
          </p:cNvGrpSpPr>
          <p:nvPr/>
        </p:nvGrpSpPr>
        <p:grpSpPr bwMode="auto">
          <a:xfrm>
            <a:off x="2073275" y="1916113"/>
            <a:ext cx="5365750" cy="1585912"/>
            <a:chOff x="2304" y="912"/>
            <a:chExt cx="3120" cy="999"/>
          </a:xfrm>
        </p:grpSpPr>
        <p:grpSp>
          <p:nvGrpSpPr>
            <p:cNvPr id="43051" name="Group 4"/>
            <p:cNvGrpSpPr>
              <a:grpSpLocks/>
            </p:cNvGrpSpPr>
            <p:nvPr/>
          </p:nvGrpSpPr>
          <p:grpSpPr bwMode="auto">
            <a:xfrm>
              <a:off x="5040" y="1200"/>
              <a:ext cx="384" cy="384"/>
              <a:chOff x="2496" y="2688"/>
              <a:chExt cx="384" cy="384"/>
            </a:xfrm>
          </p:grpSpPr>
          <p:sp>
            <p:nvSpPr>
              <p:cNvPr id="43074" name="Oval 5"/>
              <p:cNvSpPr>
                <a:spLocks noChangeArrowheads="1"/>
              </p:cNvSpPr>
              <p:nvPr/>
            </p:nvSpPr>
            <p:spPr bwMode="auto">
              <a:xfrm>
                <a:off x="2496" y="2688"/>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75" name="Oval 6"/>
              <p:cNvSpPr>
                <a:spLocks noChangeArrowheads="1"/>
              </p:cNvSpPr>
              <p:nvPr/>
            </p:nvSpPr>
            <p:spPr bwMode="auto">
              <a:xfrm>
                <a:off x="2544" y="273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43052" name="Line 7"/>
            <p:cNvSpPr>
              <a:spLocks noChangeShapeType="1"/>
            </p:cNvSpPr>
            <p:nvPr/>
          </p:nvSpPr>
          <p:spPr bwMode="auto">
            <a:xfrm>
              <a:off x="4656"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3" name="Line 8"/>
            <p:cNvSpPr>
              <a:spLocks noChangeShapeType="1"/>
            </p:cNvSpPr>
            <p:nvPr/>
          </p:nvSpPr>
          <p:spPr bwMode="auto">
            <a:xfrm>
              <a:off x="3120"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4" name="Line 9"/>
            <p:cNvSpPr>
              <a:spLocks noChangeShapeType="1"/>
            </p:cNvSpPr>
            <p:nvPr/>
          </p:nvSpPr>
          <p:spPr bwMode="auto">
            <a:xfrm>
              <a:off x="2352"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5" name="Text Box 10"/>
            <p:cNvSpPr txBox="1">
              <a:spLocks noChangeArrowheads="1"/>
            </p:cNvSpPr>
            <p:nvPr/>
          </p:nvSpPr>
          <p:spPr bwMode="auto">
            <a:xfrm>
              <a:off x="2304" y="1200"/>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400">
                  <a:ea typeface="宋体" panose="02010600030101010101" pitchFamily="2" charset="-122"/>
                </a:rPr>
                <a:t>start</a:t>
              </a:r>
            </a:p>
          </p:txBody>
        </p:sp>
        <p:grpSp>
          <p:nvGrpSpPr>
            <p:cNvPr id="43056" name="Group 11"/>
            <p:cNvGrpSpPr>
              <a:grpSpLocks/>
            </p:cNvGrpSpPr>
            <p:nvPr/>
          </p:nvGrpSpPr>
          <p:grpSpPr bwMode="auto">
            <a:xfrm>
              <a:off x="2736" y="1200"/>
              <a:ext cx="384" cy="384"/>
              <a:chOff x="2736" y="1200"/>
              <a:chExt cx="384" cy="384"/>
            </a:xfrm>
          </p:grpSpPr>
          <p:sp>
            <p:nvSpPr>
              <p:cNvPr id="43072" name="Oval 12"/>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73" name="Text Box 13"/>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43057" name="Text Box 14"/>
            <p:cNvSpPr txBox="1">
              <a:spLocks noChangeArrowheads="1"/>
            </p:cNvSpPr>
            <p:nvPr/>
          </p:nvSpPr>
          <p:spPr bwMode="auto">
            <a:xfrm>
              <a:off x="5136" y="1248"/>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43058" name="Text Box 15"/>
            <p:cNvSpPr txBox="1">
              <a:spLocks noChangeArrowheads="1"/>
            </p:cNvSpPr>
            <p:nvPr/>
          </p:nvSpPr>
          <p:spPr bwMode="auto">
            <a:xfrm>
              <a:off x="4704"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43059" name="Line 16"/>
            <p:cNvSpPr>
              <a:spLocks noChangeShapeType="1"/>
            </p:cNvSpPr>
            <p:nvPr/>
          </p:nvSpPr>
          <p:spPr bwMode="auto">
            <a:xfrm>
              <a:off x="3888" y="1392"/>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060" name="Group 17"/>
            <p:cNvGrpSpPr>
              <a:grpSpLocks/>
            </p:cNvGrpSpPr>
            <p:nvPr/>
          </p:nvGrpSpPr>
          <p:grpSpPr bwMode="auto">
            <a:xfrm>
              <a:off x="4272" y="1200"/>
              <a:ext cx="384" cy="384"/>
              <a:chOff x="2736" y="1200"/>
              <a:chExt cx="384" cy="384"/>
            </a:xfrm>
          </p:grpSpPr>
          <p:sp>
            <p:nvSpPr>
              <p:cNvPr id="43070" name="Oval 18"/>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71" name="Text Box 19"/>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grpSp>
        <p:grpSp>
          <p:nvGrpSpPr>
            <p:cNvPr id="43061" name="Group 20"/>
            <p:cNvGrpSpPr>
              <a:grpSpLocks/>
            </p:cNvGrpSpPr>
            <p:nvPr/>
          </p:nvGrpSpPr>
          <p:grpSpPr bwMode="auto">
            <a:xfrm>
              <a:off x="3504" y="1200"/>
              <a:ext cx="384" cy="384"/>
              <a:chOff x="2736" y="1200"/>
              <a:chExt cx="384" cy="384"/>
            </a:xfrm>
          </p:grpSpPr>
          <p:sp>
            <p:nvSpPr>
              <p:cNvPr id="43068" name="Oval 21"/>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69" name="Text Box 22"/>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43062" name="Text Box 23"/>
            <p:cNvSpPr txBox="1">
              <a:spLocks noChangeArrowheads="1"/>
            </p:cNvSpPr>
            <p:nvPr/>
          </p:nvSpPr>
          <p:spPr bwMode="auto">
            <a:xfrm>
              <a:off x="3936"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43063" name="Text Box 24"/>
            <p:cNvSpPr txBox="1">
              <a:spLocks noChangeArrowheads="1"/>
            </p:cNvSpPr>
            <p:nvPr/>
          </p:nvSpPr>
          <p:spPr bwMode="auto">
            <a:xfrm>
              <a:off x="3168" y="120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43064" name="AutoShape 25"/>
            <p:cNvCxnSpPr>
              <a:cxnSpLocks noChangeShapeType="1"/>
              <a:stCxn id="43072" idx="7"/>
              <a:endCxn id="43072" idx="0"/>
            </p:cNvCxnSpPr>
            <p:nvPr/>
          </p:nvCxnSpPr>
          <p:spPr bwMode="auto">
            <a:xfrm rot="5400000" flipH="1">
              <a:off x="2968" y="1160"/>
              <a:ext cx="56" cy="136"/>
            </a:xfrm>
            <a:prstGeom prst="curvedConnector3">
              <a:avLst>
                <a:gd name="adj1" fmla="val 7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065" name="Text Box 26"/>
            <p:cNvSpPr txBox="1">
              <a:spLocks noChangeArrowheads="1"/>
            </p:cNvSpPr>
            <p:nvPr/>
          </p:nvSpPr>
          <p:spPr bwMode="auto">
            <a:xfrm>
              <a:off x="2736" y="91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43066" name="AutoShape 27"/>
            <p:cNvCxnSpPr>
              <a:cxnSpLocks noChangeShapeType="1"/>
              <a:stCxn id="43072" idx="3"/>
              <a:endCxn id="43072" idx="4"/>
            </p:cNvCxnSpPr>
            <p:nvPr/>
          </p:nvCxnSpPr>
          <p:spPr bwMode="auto">
            <a:xfrm rot="16200000" flipH="1">
              <a:off x="2832" y="1488"/>
              <a:ext cx="56" cy="136"/>
            </a:xfrm>
            <a:prstGeom prst="curvedConnector3">
              <a:avLst>
                <a:gd name="adj1" fmla="val 6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067" name="Text Box 28"/>
            <p:cNvSpPr txBox="1">
              <a:spLocks noChangeArrowheads="1"/>
            </p:cNvSpPr>
            <p:nvPr/>
          </p:nvSpPr>
          <p:spPr bwMode="auto">
            <a:xfrm>
              <a:off x="2880" y="168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grpSp>
      <p:grpSp>
        <p:nvGrpSpPr>
          <p:cNvPr id="450589" name="Group 29"/>
          <p:cNvGrpSpPr>
            <a:grpSpLocks/>
          </p:cNvGrpSpPr>
          <p:nvPr/>
        </p:nvGrpSpPr>
        <p:grpSpPr bwMode="auto">
          <a:xfrm>
            <a:off x="2144713" y="3933825"/>
            <a:ext cx="5365750" cy="1814513"/>
            <a:chOff x="1392" y="768"/>
            <a:chExt cx="3120" cy="1143"/>
          </a:xfrm>
        </p:grpSpPr>
        <p:grpSp>
          <p:nvGrpSpPr>
            <p:cNvPr id="43020" name="Group 30"/>
            <p:cNvGrpSpPr>
              <a:grpSpLocks/>
            </p:cNvGrpSpPr>
            <p:nvPr/>
          </p:nvGrpSpPr>
          <p:grpSpPr bwMode="auto">
            <a:xfrm>
              <a:off x="4128" y="1152"/>
              <a:ext cx="384" cy="384"/>
              <a:chOff x="2496" y="2688"/>
              <a:chExt cx="384" cy="384"/>
            </a:xfrm>
          </p:grpSpPr>
          <p:sp>
            <p:nvSpPr>
              <p:cNvPr id="43049" name="Oval 31"/>
              <p:cNvSpPr>
                <a:spLocks noChangeArrowheads="1"/>
              </p:cNvSpPr>
              <p:nvPr/>
            </p:nvSpPr>
            <p:spPr bwMode="auto">
              <a:xfrm>
                <a:off x="2496" y="2688"/>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50" name="Oval 32"/>
              <p:cNvSpPr>
                <a:spLocks noChangeArrowheads="1"/>
              </p:cNvSpPr>
              <p:nvPr/>
            </p:nvSpPr>
            <p:spPr bwMode="auto">
              <a:xfrm>
                <a:off x="2544" y="2736"/>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43021" name="Line 33"/>
            <p:cNvSpPr>
              <a:spLocks noChangeShapeType="1"/>
            </p:cNvSpPr>
            <p:nvPr/>
          </p:nvSpPr>
          <p:spPr bwMode="auto">
            <a:xfrm>
              <a:off x="3744" y="1344"/>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2" name="Line 34"/>
            <p:cNvSpPr>
              <a:spLocks noChangeShapeType="1"/>
            </p:cNvSpPr>
            <p:nvPr/>
          </p:nvSpPr>
          <p:spPr bwMode="auto">
            <a:xfrm>
              <a:off x="2208" y="1344"/>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3" name="Line 35"/>
            <p:cNvSpPr>
              <a:spLocks noChangeShapeType="1"/>
            </p:cNvSpPr>
            <p:nvPr/>
          </p:nvSpPr>
          <p:spPr bwMode="auto">
            <a:xfrm>
              <a:off x="1440" y="1344"/>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4" name="Text Box 36"/>
            <p:cNvSpPr txBox="1">
              <a:spLocks noChangeArrowheads="1"/>
            </p:cNvSpPr>
            <p:nvPr/>
          </p:nvSpPr>
          <p:spPr bwMode="auto">
            <a:xfrm>
              <a:off x="1392" y="1152"/>
              <a:ext cx="4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400">
                  <a:ea typeface="宋体" panose="02010600030101010101" pitchFamily="2" charset="-122"/>
                </a:rPr>
                <a:t>start</a:t>
              </a:r>
            </a:p>
          </p:txBody>
        </p:sp>
        <p:grpSp>
          <p:nvGrpSpPr>
            <p:cNvPr id="43025" name="Group 37"/>
            <p:cNvGrpSpPr>
              <a:grpSpLocks/>
            </p:cNvGrpSpPr>
            <p:nvPr/>
          </p:nvGrpSpPr>
          <p:grpSpPr bwMode="auto">
            <a:xfrm>
              <a:off x="1824" y="1152"/>
              <a:ext cx="384" cy="384"/>
              <a:chOff x="2736" y="1200"/>
              <a:chExt cx="384" cy="384"/>
            </a:xfrm>
          </p:grpSpPr>
          <p:sp>
            <p:nvSpPr>
              <p:cNvPr id="43047" name="Oval 38"/>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48" name="Text Box 39"/>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0</a:t>
                </a:r>
              </a:p>
            </p:txBody>
          </p:sp>
        </p:grpSp>
        <p:sp>
          <p:nvSpPr>
            <p:cNvPr id="43026" name="Text Box 40"/>
            <p:cNvSpPr txBox="1">
              <a:spLocks noChangeArrowheads="1"/>
            </p:cNvSpPr>
            <p:nvPr/>
          </p:nvSpPr>
          <p:spPr bwMode="auto">
            <a:xfrm>
              <a:off x="4224" y="1200"/>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3</a:t>
              </a:r>
            </a:p>
          </p:txBody>
        </p:sp>
        <p:sp>
          <p:nvSpPr>
            <p:cNvPr id="43027" name="Text Box 41"/>
            <p:cNvSpPr txBox="1">
              <a:spLocks noChangeArrowheads="1"/>
            </p:cNvSpPr>
            <p:nvPr/>
          </p:nvSpPr>
          <p:spPr bwMode="auto">
            <a:xfrm>
              <a:off x="3792" y="115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43028" name="Line 42"/>
            <p:cNvSpPr>
              <a:spLocks noChangeShapeType="1"/>
            </p:cNvSpPr>
            <p:nvPr/>
          </p:nvSpPr>
          <p:spPr bwMode="auto">
            <a:xfrm>
              <a:off x="2976" y="1344"/>
              <a:ext cx="384"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3029" name="Group 43"/>
            <p:cNvGrpSpPr>
              <a:grpSpLocks/>
            </p:cNvGrpSpPr>
            <p:nvPr/>
          </p:nvGrpSpPr>
          <p:grpSpPr bwMode="auto">
            <a:xfrm>
              <a:off x="3360" y="1152"/>
              <a:ext cx="384" cy="384"/>
              <a:chOff x="2736" y="1200"/>
              <a:chExt cx="384" cy="384"/>
            </a:xfrm>
          </p:grpSpPr>
          <p:sp>
            <p:nvSpPr>
              <p:cNvPr id="43045" name="Oval 44"/>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46" name="Text Box 45"/>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2</a:t>
                </a:r>
              </a:p>
            </p:txBody>
          </p:sp>
        </p:grpSp>
        <p:grpSp>
          <p:nvGrpSpPr>
            <p:cNvPr id="43030" name="Group 46"/>
            <p:cNvGrpSpPr>
              <a:grpSpLocks/>
            </p:cNvGrpSpPr>
            <p:nvPr/>
          </p:nvGrpSpPr>
          <p:grpSpPr bwMode="auto">
            <a:xfrm>
              <a:off x="2592" y="1152"/>
              <a:ext cx="384" cy="384"/>
              <a:chOff x="2736" y="1200"/>
              <a:chExt cx="384" cy="384"/>
            </a:xfrm>
          </p:grpSpPr>
          <p:sp>
            <p:nvSpPr>
              <p:cNvPr id="43043" name="Oval 47"/>
              <p:cNvSpPr>
                <a:spLocks noChangeArrowheads="1"/>
              </p:cNvSpPr>
              <p:nvPr/>
            </p:nvSpPr>
            <p:spPr bwMode="auto">
              <a:xfrm>
                <a:off x="2736" y="120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43044" name="Text Box 48"/>
              <p:cNvSpPr txBox="1">
                <a:spLocks noChangeArrowheads="1"/>
              </p:cNvSpPr>
              <p:nvPr/>
            </p:nvSpPr>
            <p:spPr bwMode="auto">
              <a:xfrm>
                <a:off x="2784" y="124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ea typeface="宋体" panose="02010600030101010101" pitchFamily="2" charset="-122"/>
                  </a:rPr>
                  <a:t>1</a:t>
                </a:r>
              </a:p>
            </p:txBody>
          </p:sp>
        </p:grpSp>
        <p:sp>
          <p:nvSpPr>
            <p:cNvPr id="43031" name="Text Box 49"/>
            <p:cNvSpPr txBox="1">
              <a:spLocks noChangeArrowheads="1"/>
            </p:cNvSpPr>
            <p:nvPr/>
          </p:nvSpPr>
          <p:spPr bwMode="auto">
            <a:xfrm>
              <a:off x="3024" y="115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43032" name="Text Box 50"/>
            <p:cNvSpPr txBox="1">
              <a:spLocks noChangeArrowheads="1"/>
            </p:cNvSpPr>
            <p:nvPr/>
          </p:nvSpPr>
          <p:spPr bwMode="auto">
            <a:xfrm>
              <a:off x="2256" y="115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cxnSp>
          <p:nvCxnSpPr>
            <p:cNvPr id="43033" name="AutoShape 51"/>
            <p:cNvCxnSpPr>
              <a:cxnSpLocks noChangeShapeType="1"/>
              <a:stCxn id="43047" idx="3"/>
              <a:endCxn id="43047" idx="4"/>
            </p:cNvCxnSpPr>
            <p:nvPr/>
          </p:nvCxnSpPr>
          <p:spPr bwMode="auto">
            <a:xfrm rot="16200000" flipH="1">
              <a:off x="1920" y="1440"/>
              <a:ext cx="56" cy="136"/>
            </a:xfrm>
            <a:prstGeom prst="curvedConnector3">
              <a:avLst>
                <a:gd name="adj1" fmla="val 607139"/>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034" name="Text Box 52"/>
            <p:cNvSpPr txBox="1">
              <a:spLocks noChangeArrowheads="1"/>
            </p:cNvSpPr>
            <p:nvPr/>
          </p:nvSpPr>
          <p:spPr bwMode="auto">
            <a:xfrm>
              <a:off x="1968" y="1632"/>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cxnSp>
          <p:nvCxnSpPr>
            <p:cNvPr id="43035" name="AutoShape 53"/>
            <p:cNvCxnSpPr>
              <a:cxnSpLocks noChangeShapeType="1"/>
              <a:stCxn id="43049" idx="4"/>
              <a:endCxn id="43043" idx="4"/>
            </p:cNvCxnSpPr>
            <p:nvPr/>
          </p:nvCxnSpPr>
          <p:spPr bwMode="auto">
            <a:xfrm rot="5400000">
              <a:off x="3551" y="769"/>
              <a:ext cx="1" cy="1536"/>
            </a:xfrm>
            <a:prstGeom prst="curvedConnector3">
              <a:avLst>
                <a:gd name="adj1" fmla="val 37999995"/>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36" name="AutoShape 54"/>
            <p:cNvCxnSpPr>
              <a:cxnSpLocks noChangeShapeType="1"/>
              <a:stCxn id="43045" idx="4"/>
              <a:endCxn id="43043" idx="5"/>
            </p:cNvCxnSpPr>
            <p:nvPr/>
          </p:nvCxnSpPr>
          <p:spPr bwMode="auto">
            <a:xfrm rot="16200000" flipV="1">
              <a:off x="3208" y="1192"/>
              <a:ext cx="56" cy="632"/>
            </a:xfrm>
            <a:prstGeom prst="curvedConnector3">
              <a:avLst>
                <a:gd name="adj1" fmla="val -257144"/>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37" name="AutoShape 55"/>
            <p:cNvCxnSpPr>
              <a:cxnSpLocks noChangeShapeType="1"/>
              <a:stCxn id="43043" idx="0"/>
              <a:endCxn id="43044" idx="1"/>
            </p:cNvCxnSpPr>
            <p:nvPr/>
          </p:nvCxnSpPr>
          <p:spPr bwMode="auto">
            <a:xfrm rot="-5400000" flipH="1" flipV="1">
              <a:off x="2625" y="1167"/>
              <a:ext cx="173" cy="144"/>
            </a:xfrm>
            <a:prstGeom prst="curvedConnector4">
              <a:avLst>
                <a:gd name="adj1" fmla="val -83236"/>
                <a:gd name="adj2" fmla="val 233333"/>
              </a:avLst>
            </a:prstGeom>
            <a:noFill/>
            <a:ln w="190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038" name="AutoShape 56"/>
            <p:cNvCxnSpPr>
              <a:cxnSpLocks noChangeShapeType="1"/>
              <a:stCxn id="43049" idx="0"/>
              <a:endCxn id="43047" idx="0"/>
            </p:cNvCxnSpPr>
            <p:nvPr/>
          </p:nvCxnSpPr>
          <p:spPr bwMode="auto">
            <a:xfrm rot="-5400000" flipH="1" flipV="1">
              <a:off x="3167" y="1"/>
              <a:ext cx="1" cy="2304"/>
            </a:xfrm>
            <a:prstGeom prst="curvedConnector3">
              <a:avLst>
                <a:gd name="adj1" fmla="val -33600005"/>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039" name="Text Box 57"/>
            <p:cNvSpPr txBox="1">
              <a:spLocks noChangeArrowheads="1"/>
            </p:cNvSpPr>
            <p:nvPr/>
          </p:nvSpPr>
          <p:spPr bwMode="auto">
            <a:xfrm>
              <a:off x="2640" y="864"/>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43040" name="Text Box 58"/>
            <p:cNvSpPr txBox="1">
              <a:spLocks noChangeArrowheads="1"/>
            </p:cNvSpPr>
            <p:nvPr/>
          </p:nvSpPr>
          <p:spPr bwMode="auto">
            <a:xfrm>
              <a:off x="3312" y="768"/>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43041" name="Text Box 59"/>
            <p:cNvSpPr txBox="1">
              <a:spLocks noChangeArrowheads="1"/>
            </p:cNvSpPr>
            <p:nvPr/>
          </p:nvSpPr>
          <p:spPr bwMode="auto">
            <a:xfrm>
              <a:off x="3168" y="1488"/>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43042" name="Text Box 60"/>
            <p:cNvSpPr txBox="1">
              <a:spLocks noChangeArrowheads="1"/>
            </p:cNvSpPr>
            <p:nvPr/>
          </p:nvSpPr>
          <p:spPr bwMode="auto">
            <a:xfrm>
              <a:off x="3744" y="1680"/>
              <a:ext cx="2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grpSp>
      <p:sp>
        <p:nvSpPr>
          <p:cNvPr id="43016" name="Text Box 61"/>
          <p:cNvSpPr txBox="1">
            <a:spLocks noChangeArrowheads="1"/>
          </p:cNvSpPr>
          <p:nvPr/>
        </p:nvSpPr>
        <p:spPr bwMode="auto">
          <a:xfrm>
            <a:off x="4232275" y="3284538"/>
            <a:ext cx="4176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r>
              <a:rPr lang="en-US" altLang="zh-CN">
                <a:solidFill>
                  <a:srgbClr val="FF3300"/>
                </a:solidFill>
                <a:ea typeface="宋体" panose="02010600030101010101" pitchFamily="2" charset="-122"/>
              </a:rPr>
              <a:t>What Language is Accepted?</a:t>
            </a:r>
          </a:p>
        </p:txBody>
      </p:sp>
      <p:sp>
        <p:nvSpPr>
          <p:cNvPr id="43017" name="Text Box 62"/>
          <p:cNvSpPr txBox="1">
            <a:spLocks noChangeArrowheads="1"/>
          </p:cNvSpPr>
          <p:nvPr/>
        </p:nvSpPr>
        <p:spPr bwMode="auto">
          <a:xfrm>
            <a:off x="1712913" y="1341438"/>
            <a:ext cx="4210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ea typeface="宋体" panose="02010600030101010101" pitchFamily="2" charset="-122"/>
              </a:rPr>
              <a:t>Recall the original NFA:</a:t>
            </a:r>
          </a:p>
        </p:txBody>
      </p:sp>
      <p:sp>
        <p:nvSpPr>
          <p:cNvPr id="43018" name="Text Box 63"/>
          <p:cNvSpPr txBox="1">
            <a:spLocks noChangeArrowheads="1"/>
          </p:cNvSpPr>
          <p:nvPr/>
        </p:nvSpPr>
        <p:spPr bwMode="auto">
          <a:xfrm>
            <a:off x="2432050" y="5949950"/>
            <a:ext cx="4968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b="0">
                <a:ea typeface="宋体" panose="02010600030101010101" pitchFamily="2" charset="-122"/>
              </a:rPr>
              <a:t>Fig.3.23. DFA accepting  (a|b)</a:t>
            </a:r>
            <a:r>
              <a:rPr lang="en-US" altLang="zh-CN" b="0" baseline="30000">
                <a:ea typeface="宋体" panose="02010600030101010101" pitchFamily="2" charset="-122"/>
              </a:rPr>
              <a:t> *</a:t>
            </a:r>
            <a:r>
              <a:rPr lang="en-US" altLang="zh-CN" b="0" baseline="-25000">
                <a:ea typeface="宋体" panose="02010600030101010101" pitchFamily="2" charset="-122"/>
              </a:rPr>
              <a:t> </a:t>
            </a:r>
            <a:r>
              <a:rPr lang="en-US" altLang="zh-CN" b="0">
                <a:ea typeface="宋体" panose="02010600030101010101" pitchFamily="2" charset="-122"/>
              </a:rPr>
              <a:t> abb</a:t>
            </a:r>
          </a:p>
        </p:txBody>
      </p:sp>
      <p:sp>
        <p:nvSpPr>
          <p:cNvPr id="43019" name="Rectangle 64"/>
          <p:cNvSpPr>
            <a:spLocks noChangeArrowheads="1"/>
          </p:cNvSpPr>
          <p:nvPr/>
        </p:nvSpPr>
        <p:spPr bwMode="auto">
          <a:xfrm>
            <a:off x="631825" y="836613"/>
            <a:ext cx="1725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a:solidFill>
                  <a:srgbClr val="9900CC"/>
                </a:solidFill>
                <a:ea typeface="宋体" panose="02010600030101010101" pitchFamily="2" charset="-122"/>
              </a:rPr>
              <a:t>(a|b) *  a bb</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450563"/>
                                        </p:tgtEl>
                                        <p:attrNameLst>
                                          <p:attrName>style.visibility</p:attrName>
                                        </p:attrNameLst>
                                      </p:cBhvr>
                                      <p:to>
                                        <p:strVal val="visible"/>
                                      </p:to>
                                    </p:set>
                                    <p:animEffect transition="in" filter="diamond(in)">
                                      <p:cBhvr>
                                        <p:cTn id="7" dur="2000"/>
                                        <p:tgtEl>
                                          <p:spTgt spid="4505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50589"/>
                                        </p:tgtEl>
                                        <p:attrNameLst>
                                          <p:attrName>style.visibility</p:attrName>
                                        </p:attrNameLst>
                                      </p:cBhvr>
                                      <p:to>
                                        <p:strVal val="visible"/>
                                      </p:to>
                                    </p:set>
                                    <p:animEffect transition="in" filter="wipe(left)">
                                      <p:cBhvr>
                                        <p:cTn id="12" dur="2000"/>
                                        <p:tgtEl>
                                          <p:spTgt spid="450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4035"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4036"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31AE3A3-F978-4BAF-94DB-8DDA2CB539CA}" type="slidenum">
              <a:rPr lang="zh-CN" altLang="en-US" sz="800" b="0"/>
              <a:pPr/>
              <a:t>42</a:t>
            </a:fld>
            <a:endParaRPr lang="en-US" altLang="zh-CN" sz="800" b="0"/>
          </a:p>
        </p:txBody>
      </p:sp>
      <p:sp>
        <p:nvSpPr>
          <p:cNvPr id="44037" name="Rectangle 2"/>
          <p:cNvSpPr>
            <a:spLocks noGrp="1" noChangeArrowheads="1"/>
          </p:cNvSpPr>
          <p:nvPr>
            <p:ph type="title"/>
          </p:nvPr>
        </p:nvSpPr>
        <p:spPr/>
        <p:txBody>
          <a:bodyPr/>
          <a:lstStyle/>
          <a:p>
            <a:r>
              <a:rPr lang="en-US" altLang="zh-CN" smtClean="0">
                <a:ea typeface="宋体" panose="02010600030101010101" pitchFamily="2" charset="-122"/>
              </a:rPr>
              <a:t>Converting a NFA into a DFA (P.117)</a:t>
            </a:r>
            <a:endParaRPr lang="zh-CN" altLang="en-US" smtClean="0">
              <a:ea typeface="宋体" panose="02010600030101010101" pitchFamily="2" charset="-122"/>
            </a:endParaRPr>
          </a:p>
        </p:txBody>
      </p:sp>
      <p:sp>
        <p:nvSpPr>
          <p:cNvPr id="453635" name="Rectangle 3"/>
          <p:cNvSpPr>
            <a:spLocks noGrp="1" noChangeArrowheads="1"/>
          </p:cNvSpPr>
          <p:nvPr>
            <p:ph type="body" idx="1"/>
          </p:nvPr>
        </p:nvSpPr>
        <p:spPr/>
        <p:txBody>
          <a:bodyPr/>
          <a:lstStyle/>
          <a:p>
            <a:pPr>
              <a:lnSpc>
                <a:spcPct val="90000"/>
              </a:lnSpc>
            </a:pPr>
            <a:r>
              <a:rPr lang="en-US" altLang="zh-CN" sz="3200" smtClean="0">
                <a:ea typeface="宋体" panose="02010600030101010101" pitchFamily="2" charset="-122"/>
              </a:rPr>
              <a:t>given an arbitrary NFA, construct an equivalent DFA (i.e., one that accepts precisely the same strings)</a:t>
            </a:r>
          </a:p>
          <a:p>
            <a:pPr>
              <a:lnSpc>
                <a:spcPct val="90000"/>
              </a:lnSpc>
            </a:pPr>
            <a:r>
              <a:rPr lang="en-US" altLang="zh-CN" sz="3200" smtClean="0">
                <a:ea typeface="宋体" panose="02010600030101010101" pitchFamily="2" charset="-122"/>
              </a:rPr>
              <a:t>need: </a:t>
            </a:r>
          </a:p>
          <a:p>
            <a:pPr>
              <a:lnSpc>
                <a:spcPct val="90000"/>
              </a:lnSpc>
              <a:buFontTx/>
              <a:buNone/>
            </a:pPr>
            <a:r>
              <a:rPr lang="en-US" altLang="zh-CN" sz="3200" smtClean="0">
                <a:ea typeface="宋体" panose="02010600030101010101" pitchFamily="2" charset="-122"/>
              </a:rPr>
              <a:t>     </a:t>
            </a:r>
            <a:r>
              <a:rPr lang="en-US" altLang="zh-CN" sz="3200" smtClean="0">
                <a:solidFill>
                  <a:schemeClr val="accent2"/>
                </a:solidFill>
                <a:ea typeface="宋体" panose="02010600030101010101" pitchFamily="2" charset="-122"/>
              </a:rPr>
              <a:t>1</a:t>
            </a:r>
            <a:r>
              <a:rPr lang="zh-CN" altLang="en-US" sz="3200" smtClean="0">
                <a:solidFill>
                  <a:schemeClr val="accent2"/>
                </a:solidFill>
                <a:ea typeface="宋体" panose="02010600030101010101" pitchFamily="2" charset="-122"/>
              </a:rPr>
              <a:t>、</a:t>
            </a:r>
            <a:r>
              <a:rPr lang="en-US" altLang="zh-CN" sz="3200" smtClean="0">
                <a:solidFill>
                  <a:schemeClr val="accent2"/>
                </a:solidFill>
                <a:ea typeface="宋体" panose="02010600030101010101" pitchFamily="2" charset="-122"/>
              </a:rPr>
              <a:t>eliminating </a:t>
            </a:r>
            <a:r>
              <a:rPr lang="en-US" altLang="zh-CN" sz="3200" smtClean="0">
                <a:solidFill>
                  <a:schemeClr val="accent2"/>
                </a:solidFill>
                <a:ea typeface="宋体" panose="02010600030101010101" pitchFamily="2" charset="-122"/>
                <a:sym typeface="Symbol" panose="05050102010706020507" pitchFamily="18" charset="2"/>
              </a:rPr>
              <a:t></a:t>
            </a:r>
            <a:r>
              <a:rPr lang="en-US" altLang="zh-CN" sz="3200" smtClean="0">
                <a:solidFill>
                  <a:schemeClr val="accent2"/>
                </a:solidFill>
                <a:ea typeface="宋体" panose="02010600030101010101" pitchFamily="2" charset="-122"/>
              </a:rPr>
              <a:t>-transitions </a:t>
            </a:r>
          </a:p>
          <a:p>
            <a:pPr>
              <a:lnSpc>
                <a:spcPct val="90000"/>
              </a:lnSpc>
              <a:buFontTx/>
              <a:buNone/>
            </a:pPr>
            <a:r>
              <a:rPr lang="en-US" altLang="zh-CN" sz="3200" smtClean="0">
                <a:solidFill>
                  <a:schemeClr val="accent2"/>
                </a:solidFill>
                <a:ea typeface="宋体" panose="02010600030101010101" pitchFamily="2" charset="-122"/>
              </a:rPr>
              <a:t>     an </a:t>
            </a:r>
            <a:r>
              <a:rPr lang="en-US" altLang="zh-CN" sz="3200" b="1" smtClean="0">
                <a:solidFill>
                  <a:srgbClr val="FF00FF"/>
                </a:solidFill>
                <a:ea typeface="宋体" panose="02010600030101010101" pitchFamily="2" charset="-122"/>
                <a:sym typeface="Symbol" panose="05050102010706020507" pitchFamily="18" charset="2"/>
              </a:rPr>
              <a:t></a:t>
            </a:r>
            <a:r>
              <a:rPr lang="en-US" altLang="zh-CN" sz="3200" b="1" smtClean="0">
                <a:solidFill>
                  <a:srgbClr val="FF00FF"/>
                </a:solidFill>
                <a:ea typeface="宋体" panose="02010600030101010101" pitchFamily="2" charset="-122"/>
              </a:rPr>
              <a:t>-closure</a:t>
            </a:r>
            <a:r>
              <a:rPr lang="en-US" altLang="zh-CN" sz="3200" smtClean="0">
                <a:solidFill>
                  <a:schemeClr val="accent2"/>
                </a:solidFill>
                <a:ea typeface="宋体" panose="02010600030101010101" pitchFamily="2" charset="-122"/>
              </a:rPr>
              <a:t>:  the set of all states reachable by </a:t>
            </a:r>
            <a:r>
              <a:rPr lang="en-US" altLang="zh-CN" sz="3200" smtClean="0">
                <a:solidFill>
                  <a:schemeClr val="accent2"/>
                </a:solidFill>
                <a:ea typeface="宋体" panose="02010600030101010101" pitchFamily="2" charset="-122"/>
                <a:sym typeface="Symbol" panose="05050102010706020507" pitchFamily="18" charset="2"/>
              </a:rPr>
              <a:t></a:t>
            </a:r>
            <a:r>
              <a:rPr lang="en-US" altLang="zh-CN" sz="3200" smtClean="0">
                <a:solidFill>
                  <a:schemeClr val="accent2"/>
                </a:solidFill>
                <a:ea typeface="宋体" panose="02010600030101010101" pitchFamily="2" charset="-122"/>
              </a:rPr>
              <a:t>-transitions from a state or states.</a:t>
            </a:r>
          </a:p>
          <a:p>
            <a:pPr>
              <a:lnSpc>
                <a:spcPct val="90000"/>
              </a:lnSpc>
              <a:buFontTx/>
              <a:buNone/>
            </a:pPr>
            <a:r>
              <a:rPr lang="en-US" altLang="zh-CN" sz="3200" smtClean="0">
                <a:solidFill>
                  <a:schemeClr val="accent2"/>
                </a:solidFill>
                <a:ea typeface="宋体" panose="02010600030101010101" pitchFamily="2" charset="-122"/>
              </a:rPr>
              <a:t>     2</a:t>
            </a:r>
            <a:r>
              <a:rPr lang="zh-CN" altLang="en-US" sz="3200" smtClean="0">
                <a:solidFill>
                  <a:schemeClr val="accent2"/>
                </a:solidFill>
                <a:ea typeface="宋体" panose="02010600030101010101" pitchFamily="2" charset="-122"/>
              </a:rPr>
              <a:t>、</a:t>
            </a:r>
            <a:r>
              <a:rPr lang="en-US" altLang="zh-CN" sz="3200" smtClean="0">
                <a:solidFill>
                  <a:schemeClr val="accent2"/>
                </a:solidFill>
                <a:ea typeface="宋体" panose="02010600030101010101" pitchFamily="2" charset="-122"/>
              </a:rPr>
              <a:t>multiple transitions from a state on a single input character.</a:t>
            </a:r>
          </a:p>
          <a:p>
            <a:pPr>
              <a:lnSpc>
                <a:spcPct val="90000"/>
              </a:lnSpc>
              <a:buFontTx/>
              <a:buNone/>
            </a:pPr>
            <a:r>
              <a:rPr lang="en-US" altLang="zh-CN" sz="3200" smtClean="0">
                <a:ea typeface="宋体" panose="02010600030101010101" pitchFamily="2" charset="-122"/>
              </a:rPr>
              <a:t>       keeping track of the set of states that are reachable by matching a single character.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53635">
                                            <p:txEl>
                                              <p:pRg st="2" end="2"/>
                                            </p:txEl>
                                          </p:spTgt>
                                        </p:tgtEl>
                                        <p:attrNameLst>
                                          <p:attrName>style.visibility</p:attrName>
                                        </p:attrNameLst>
                                      </p:cBhvr>
                                      <p:to>
                                        <p:strVal val="visible"/>
                                      </p:to>
                                    </p:set>
                                    <p:anim calcmode="lin" valueType="num">
                                      <p:cBhvr additive="base">
                                        <p:cTn id="7" dur="1000" fill="hold"/>
                                        <p:tgtEl>
                                          <p:spTgt spid="453635">
                                            <p:txEl>
                                              <p:pRg st="2" end="2"/>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453635">
                                            <p:txEl>
                                              <p:pRg st="2" end="2"/>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1000"/>
                            </p:stCondLst>
                            <p:childTnLst>
                              <p:par>
                                <p:cTn id="10" presetID="2" presetClass="entr" presetSubtype="8" fill="hold" nodeType="afterEffect">
                                  <p:stCondLst>
                                    <p:cond delay="0"/>
                                  </p:stCondLst>
                                  <p:childTnLst>
                                    <p:set>
                                      <p:cBhvr>
                                        <p:cTn id="11" dur="1" fill="hold">
                                          <p:stCondLst>
                                            <p:cond delay="0"/>
                                          </p:stCondLst>
                                        </p:cTn>
                                        <p:tgtEl>
                                          <p:spTgt spid="453635">
                                            <p:txEl>
                                              <p:pRg st="3" end="3"/>
                                            </p:txEl>
                                          </p:spTgt>
                                        </p:tgtEl>
                                        <p:attrNameLst>
                                          <p:attrName>style.visibility</p:attrName>
                                        </p:attrNameLst>
                                      </p:cBhvr>
                                      <p:to>
                                        <p:strVal val="visible"/>
                                      </p:to>
                                    </p:set>
                                    <p:anim calcmode="lin" valueType="num">
                                      <p:cBhvr additive="base">
                                        <p:cTn id="12" dur="1000" fill="hold"/>
                                        <p:tgtEl>
                                          <p:spTgt spid="453635">
                                            <p:txEl>
                                              <p:pRg st="3" end="3"/>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453635">
                                            <p:txEl>
                                              <p:pRg st="3" end="3"/>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000"/>
                            </p:stCondLst>
                            <p:childTnLst>
                              <p:par>
                                <p:cTn id="15" presetID="2" presetClass="entr" presetSubtype="8" fill="hold" nodeType="afterEffect">
                                  <p:stCondLst>
                                    <p:cond delay="0"/>
                                  </p:stCondLst>
                                  <p:childTnLst>
                                    <p:set>
                                      <p:cBhvr>
                                        <p:cTn id="16" dur="1" fill="hold">
                                          <p:stCondLst>
                                            <p:cond delay="0"/>
                                          </p:stCondLst>
                                        </p:cTn>
                                        <p:tgtEl>
                                          <p:spTgt spid="453635">
                                            <p:txEl>
                                              <p:pRg st="4" end="4"/>
                                            </p:txEl>
                                          </p:spTgt>
                                        </p:tgtEl>
                                        <p:attrNameLst>
                                          <p:attrName>style.visibility</p:attrName>
                                        </p:attrNameLst>
                                      </p:cBhvr>
                                      <p:to>
                                        <p:strVal val="visible"/>
                                      </p:to>
                                    </p:set>
                                    <p:anim calcmode="lin" valueType="num">
                                      <p:cBhvr additive="base">
                                        <p:cTn id="17" dur="1000" fill="hold"/>
                                        <p:tgtEl>
                                          <p:spTgt spid="453635">
                                            <p:txEl>
                                              <p:pRg st="4" end="4"/>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4536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5059"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5060"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1DA0DEA8-2F2B-4550-B4DA-F968A7D0D71D}" type="slidenum">
              <a:rPr lang="zh-CN" altLang="en-US" sz="800" b="0"/>
              <a:pPr/>
              <a:t>43</a:t>
            </a:fld>
            <a:endParaRPr lang="en-US" altLang="zh-CN" sz="800" b="0"/>
          </a:p>
        </p:txBody>
      </p:sp>
      <p:sp>
        <p:nvSpPr>
          <p:cNvPr id="45061" name="Rectangle 2"/>
          <p:cNvSpPr>
            <a:spLocks noGrp="1" noChangeArrowheads="1"/>
          </p:cNvSpPr>
          <p:nvPr>
            <p:ph type="title"/>
          </p:nvPr>
        </p:nvSpPr>
        <p:spPr/>
        <p:txBody>
          <a:bodyPr/>
          <a:lstStyle/>
          <a:p>
            <a:endParaRPr lang="zh-CN" altLang="en-US" smtClean="0">
              <a:ea typeface="宋体" panose="02010600030101010101" pitchFamily="2" charset="-122"/>
            </a:endParaRPr>
          </a:p>
        </p:txBody>
      </p:sp>
      <p:sp>
        <p:nvSpPr>
          <p:cNvPr id="45062" name="Rectangle 3"/>
          <p:cNvSpPr>
            <a:spLocks noGrp="1" noChangeArrowheads="1"/>
          </p:cNvSpPr>
          <p:nvPr>
            <p:ph type="body" idx="1"/>
          </p:nvPr>
        </p:nvSpPr>
        <p:spPr>
          <a:xfrm>
            <a:off x="381000" y="1219200"/>
            <a:ext cx="9180513" cy="4873625"/>
          </a:xfrm>
        </p:spPr>
        <p:txBody>
          <a:bodyPr/>
          <a:lstStyle/>
          <a:p>
            <a:pPr>
              <a:lnSpc>
                <a:spcPct val="90000"/>
              </a:lnSpc>
            </a:pPr>
            <a:r>
              <a:rPr lang="en-US" altLang="zh-CN" sz="3200" smtClean="0">
                <a:ea typeface="宋体" panose="02010600030101010101" pitchFamily="2" charset="-122"/>
              </a:rPr>
              <a:t>Both these processes lead us to consider </a:t>
            </a:r>
            <a:r>
              <a:rPr lang="en-US" altLang="zh-CN" sz="3200" b="1" smtClean="0">
                <a:solidFill>
                  <a:srgbClr val="660066"/>
                </a:solidFill>
                <a:ea typeface="宋体" panose="02010600030101010101" pitchFamily="2" charset="-122"/>
              </a:rPr>
              <a:t>sets of states</a:t>
            </a:r>
            <a:r>
              <a:rPr lang="en-US" altLang="zh-CN" sz="3200" smtClean="0">
                <a:solidFill>
                  <a:schemeClr val="accent1"/>
                </a:solidFill>
                <a:ea typeface="宋体" panose="02010600030101010101" pitchFamily="2" charset="-122"/>
              </a:rPr>
              <a:t> </a:t>
            </a:r>
            <a:r>
              <a:rPr lang="en-US" altLang="zh-CN" sz="3200" smtClean="0">
                <a:ea typeface="宋体" panose="02010600030101010101" pitchFamily="2" charset="-122"/>
              </a:rPr>
              <a:t>instead of</a:t>
            </a:r>
            <a:r>
              <a:rPr lang="en-US" altLang="zh-CN" sz="3200" smtClean="0">
                <a:solidFill>
                  <a:schemeClr val="accent1"/>
                </a:solidFill>
                <a:ea typeface="宋体" panose="02010600030101010101" pitchFamily="2" charset="-122"/>
              </a:rPr>
              <a:t> </a:t>
            </a:r>
            <a:r>
              <a:rPr lang="en-US" altLang="zh-CN" sz="3200" b="1" smtClean="0">
                <a:solidFill>
                  <a:srgbClr val="660066"/>
                </a:solidFill>
                <a:ea typeface="宋体" panose="02010600030101010101" pitchFamily="2" charset="-122"/>
              </a:rPr>
              <a:t>single state</a:t>
            </a:r>
            <a:r>
              <a:rPr lang="en-US" altLang="zh-CN" sz="3200" smtClean="0">
                <a:ea typeface="宋体" panose="02010600030101010101" pitchFamily="2" charset="-122"/>
              </a:rPr>
              <a:t>. Thus, it is not surprising that the DFA we construct has as its states </a:t>
            </a:r>
            <a:r>
              <a:rPr lang="en-US" altLang="zh-CN" sz="3200" i="1" smtClean="0">
                <a:ea typeface="宋体" panose="02010600030101010101" pitchFamily="2" charset="-122"/>
              </a:rPr>
              <a:t>sets of states </a:t>
            </a:r>
            <a:r>
              <a:rPr lang="en-US" altLang="zh-CN" sz="3200" smtClean="0">
                <a:ea typeface="宋体" panose="02010600030101010101" pitchFamily="2" charset="-122"/>
              </a:rPr>
              <a:t>of the original NFA.</a:t>
            </a:r>
          </a:p>
          <a:p>
            <a:pPr>
              <a:lnSpc>
                <a:spcPct val="90000"/>
              </a:lnSpc>
            </a:pPr>
            <a:r>
              <a:rPr lang="en-US" altLang="zh-CN" sz="3200" smtClean="0">
                <a:ea typeface="宋体" panose="02010600030101010101" pitchFamily="2" charset="-122"/>
              </a:rPr>
              <a:t>The algorithm is called the </a:t>
            </a:r>
            <a:r>
              <a:rPr lang="en-US" altLang="zh-CN" sz="3200" b="1" smtClean="0">
                <a:solidFill>
                  <a:schemeClr val="accent2"/>
                </a:solidFill>
                <a:ea typeface="宋体" panose="02010600030101010101" pitchFamily="2" charset="-122"/>
              </a:rPr>
              <a:t>subset construction</a:t>
            </a:r>
            <a:r>
              <a:rPr lang="en-US" altLang="zh-CN" sz="3200" smtClean="0">
                <a:solidFill>
                  <a:schemeClr val="accent2"/>
                </a:solidFill>
                <a:ea typeface="宋体" panose="02010600030101010101" pitchFamily="2" charset="-122"/>
              </a:rPr>
              <a:t> (</a:t>
            </a:r>
            <a:r>
              <a:rPr lang="zh-CN" altLang="en-US" sz="3200" smtClean="0">
                <a:solidFill>
                  <a:schemeClr val="accent2"/>
                </a:solidFill>
                <a:ea typeface="宋体" panose="02010600030101010101" pitchFamily="2" charset="-122"/>
              </a:rPr>
              <a:t>子集构造法或子集法</a:t>
            </a:r>
            <a:r>
              <a:rPr lang="en-US" altLang="zh-CN" sz="3200" smtClean="0">
                <a:solidFill>
                  <a:schemeClr val="accent2"/>
                </a:solidFill>
                <a:ea typeface="宋体" panose="02010600030101010101" pitchFamily="2" charset="-122"/>
              </a:rPr>
              <a:t>)</a:t>
            </a:r>
            <a:r>
              <a:rPr lang="en-US" altLang="zh-CN" sz="3200" smtClean="0">
                <a:ea typeface="宋体" panose="02010600030101010101" pitchFamily="2" charset="-122"/>
              </a:rPr>
              <a:t>.</a:t>
            </a:r>
            <a:r>
              <a:rPr lang="zh-CN" altLang="en-US" sz="3200" smtClean="0">
                <a:ea typeface="宋体" panose="02010600030101010101" pitchFamily="2" charset="-122"/>
              </a:rPr>
              <a:t> </a:t>
            </a:r>
          </a:p>
        </p:txBody>
      </p:sp>
    </p:spTree>
  </p:cSld>
  <p:clrMapOvr>
    <a:masterClrMapping/>
  </p:clrMapOvr>
  <p:transition>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6083"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6084"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B6BE75BC-EC54-4141-AA20-12066311575F}" type="slidenum">
              <a:rPr lang="zh-CN" altLang="en-US" sz="800" b="0"/>
              <a:pPr/>
              <a:t>44</a:t>
            </a:fld>
            <a:endParaRPr lang="en-US" altLang="zh-CN" sz="800" b="0"/>
          </a:p>
        </p:txBody>
      </p:sp>
      <p:sp>
        <p:nvSpPr>
          <p:cNvPr id="46085"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mtClean="0">
                <a:ea typeface="宋体" panose="02010600030101010101" pitchFamily="2" charset="-122"/>
              </a:rPr>
              <a:t>Conversion :  NFA </a:t>
            </a:r>
            <a:r>
              <a:rPr lang="en-US" altLang="zh-CN" smtClean="0">
                <a:ea typeface="宋体" panose="02010600030101010101" pitchFamily="2" charset="-122"/>
                <a:sym typeface="Symbol" panose="05050102010706020507" pitchFamily="18" charset="2"/>
              </a:rPr>
              <a:t> DFA</a:t>
            </a:r>
            <a:endParaRPr lang="en-US" altLang="zh-CN" smtClean="0">
              <a:ea typeface="宋体" panose="02010600030101010101" pitchFamily="2" charset="-122"/>
            </a:endParaRPr>
          </a:p>
        </p:txBody>
      </p:sp>
      <p:sp>
        <p:nvSpPr>
          <p:cNvPr id="46086" name="Text Box 3"/>
          <p:cNvSpPr txBox="1">
            <a:spLocks noChangeArrowheads="1"/>
          </p:cNvSpPr>
          <p:nvPr/>
        </p:nvSpPr>
        <p:spPr bwMode="auto">
          <a:xfrm>
            <a:off x="560388" y="1125538"/>
            <a:ext cx="8783637" cy="465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buFontTx/>
              <a:buChar char="•"/>
            </a:pPr>
            <a:r>
              <a:rPr lang="zh-CN" altLang="en-US" sz="2000">
                <a:ea typeface="宋体" panose="02010600030101010101" pitchFamily="2" charset="-122"/>
              </a:rPr>
              <a:t> </a:t>
            </a:r>
            <a:r>
              <a:rPr lang="en-US" altLang="zh-CN" b="0">
                <a:ea typeface="宋体" panose="02010600030101010101" pitchFamily="2" charset="-122"/>
              </a:rPr>
              <a:t>Algorithm Constructs a Transition Table for DFA from NFA</a:t>
            </a:r>
          </a:p>
          <a:p>
            <a:pPr eaLnBrk="1" hangingPunct="1">
              <a:spcBef>
                <a:spcPct val="50000"/>
              </a:spcBef>
              <a:buFontTx/>
              <a:buChar char="•"/>
            </a:pPr>
            <a:r>
              <a:rPr lang="en-US" altLang="zh-CN" b="0">
                <a:ea typeface="宋体" panose="02010600030101010101" pitchFamily="2" charset="-122"/>
              </a:rPr>
              <a:t> Each state in DFA corresponds to a </a:t>
            </a:r>
            <a:r>
              <a:rPr lang="en-US" altLang="zh-CN">
                <a:solidFill>
                  <a:srgbClr val="9900CC"/>
                </a:solidFill>
                <a:ea typeface="宋体" panose="02010600030101010101" pitchFamily="2" charset="-122"/>
              </a:rPr>
              <a:t>SET</a:t>
            </a:r>
            <a:r>
              <a:rPr lang="en-US" altLang="zh-CN">
                <a:solidFill>
                  <a:srgbClr val="00CC00"/>
                </a:solidFill>
                <a:ea typeface="宋体" panose="02010600030101010101" pitchFamily="2" charset="-122"/>
              </a:rPr>
              <a:t> </a:t>
            </a:r>
            <a:r>
              <a:rPr lang="en-US" altLang="zh-CN">
                <a:solidFill>
                  <a:srgbClr val="660066"/>
                </a:solidFill>
                <a:ea typeface="宋体" panose="02010600030101010101" pitchFamily="2" charset="-122"/>
              </a:rPr>
              <a:t>of states</a:t>
            </a:r>
            <a:r>
              <a:rPr lang="en-US" altLang="zh-CN" b="0">
                <a:ea typeface="宋体" panose="02010600030101010101" pitchFamily="2" charset="-122"/>
              </a:rPr>
              <a:t> of the NFA</a:t>
            </a:r>
          </a:p>
          <a:p>
            <a:pPr eaLnBrk="1" hangingPunct="1">
              <a:spcBef>
                <a:spcPct val="50000"/>
              </a:spcBef>
              <a:buFontTx/>
              <a:buChar char="•"/>
            </a:pPr>
            <a:r>
              <a:rPr lang="en-US" altLang="zh-CN" b="0">
                <a:ea typeface="宋体" panose="02010600030101010101" pitchFamily="2" charset="-122"/>
              </a:rPr>
              <a:t> Why does this occur ?</a:t>
            </a:r>
          </a:p>
          <a:p>
            <a:pPr lvl="1" eaLnBrk="1" hangingPunct="1">
              <a:spcBef>
                <a:spcPct val="50000"/>
              </a:spcBef>
              <a:buFontTx/>
              <a:buChar char="•"/>
            </a:pPr>
            <a:r>
              <a:rPr lang="en-US" altLang="zh-CN" b="0">
                <a:ea typeface="宋体" panose="02010600030101010101" pitchFamily="2" charset="-122"/>
              </a:rPr>
              <a:t> </a:t>
            </a:r>
            <a:r>
              <a:rPr lang="en-US" altLang="zh-CN" b="0">
                <a:solidFill>
                  <a:schemeClr val="accent2"/>
                </a:solidFill>
                <a:ea typeface="宋体" panose="02010600030101010101" pitchFamily="2" charset="-122"/>
                <a:sym typeface="Symbol" panose="05050102010706020507" pitchFamily="18" charset="2"/>
              </a:rPr>
              <a:t> moves</a:t>
            </a:r>
          </a:p>
          <a:p>
            <a:pPr lvl="1" eaLnBrk="1" hangingPunct="1">
              <a:spcBef>
                <a:spcPct val="50000"/>
              </a:spcBef>
              <a:buFontTx/>
              <a:buChar char="•"/>
            </a:pPr>
            <a:r>
              <a:rPr lang="en-US" altLang="zh-CN" b="0">
                <a:solidFill>
                  <a:schemeClr val="accent2"/>
                </a:solidFill>
                <a:ea typeface="宋体" panose="02010600030101010101" pitchFamily="2" charset="-122"/>
                <a:sym typeface="Symbol" panose="05050102010706020507" pitchFamily="18" charset="2"/>
              </a:rPr>
              <a:t> non-determinism</a:t>
            </a:r>
          </a:p>
          <a:p>
            <a:pPr lvl="1" eaLnBrk="1" hangingPunct="1">
              <a:spcBef>
                <a:spcPct val="50000"/>
              </a:spcBef>
            </a:pPr>
            <a:r>
              <a:rPr lang="en-US" altLang="zh-CN" b="0">
                <a:ea typeface="宋体" panose="02010600030101010101" pitchFamily="2" charset="-122"/>
              </a:rPr>
              <a:t>Both require us to characterize multiple situations that occur for accepting the same string.</a:t>
            </a:r>
          </a:p>
          <a:p>
            <a:pPr lvl="1" eaLnBrk="1" hangingPunct="1">
              <a:spcBef>
                <a:spcPct val="50000"/>
              </a:spcBef>
            </a:pPr>
            <a:r>
              <a:rPr lang="en-US" altLang="zh-CN" b="0">
                <a:solidFill>
                  <a:srgbClr val="FF3300"/>
                </a:solidFill>
                <a:ea typeface="宋体" panose="02010600030101010101" pitchFamily="2" charset="-122"/>
              </a:rPr>
              <a:t>(Recall : Same input can have multiple paths in NFA)</a:t>
            </a:r>
          </a:p>
          <a:p>
            <a:pPr eaLnBrk="1" hangingPunct="1">
              <a:spcBef>
                <a:spcPct val="50000"/>
              </a:spcBef>
              <a:buFontTx/>
              <a:buChar char="•"/>
            </a:pPr>
            <a:r>
              <a:rPr lang="en-US" altLang="zh-CN" b="0">
                <a:ea typeface="宋体" panose="02010600030101010101" pitchFamily="2" charset="-122"/>
              </a:rPr>
              <a:t> Key Issue :  Reconciling</a:t>
            </a:r>
            <a:r>
              <a:rPr lang="en-US" altLang="zh-CN">
                <a:ea typeface="宋体" panose="02010600030101010101" pitchFamily="2" charset="-122"/>
              </a:rPr>
              <a:t> AMBIGUITY !</a:t>
            </a:r>
          </a:p>
        </p:txBody>
      </p:sp>
    </p:spTree>
  </p:cSld>
  <p:clrMapOvr>
    <a:masterClrMapping/>
  </p:clrMapOvr>
  <p:transition>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4"/>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7107" name="页脚占位符 5"/>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7108" name="灯片编号占位符 6"/>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2E9D4D6A-9EEB-4D72-995C-D9912DC69B3B}" type="slidenum">
              <a:rPr lang="zh-CN" altLang="en-US" sz="800" b="0"/>
              <a:pPr/>
              <a:t>45</a:t>
            </a:fld>
            <a:endParaRPr lang="en-US" altLang="zh-CN" sz="800" b="0"/>
          </a:p>
        </p:txBody>
      </p:sp>
      <p:sp>
        <p:nvSpPr>
          <p:cNvPr id="47109" name="Rectangle 22"/>
          <p:cNvSpPr>
            <a:spLocks noGrp="1" noChangeArrowheads="1"/>
          </p:cNvSpPr>
          <p:nvPr>
            <p:ph type="title"/>
          </p:nvPr>
        </p:nvSpPr>
        <p:spPr/>
        <p:txBody>
          <a:bodyPr/>
          <a:lstStyle/>
          <a:p>
            <a:r>
              <a:rPr lang="en-US" altLang="zh-CN" smtClean="0">
                <a:ea typeface="宋体" panose="02010600030101010101" pitchFamily="2" charset="-122"/>
              </a:rPr>
              <a:t>Algorithm Concepts</a:t>
            </a:r>
            <a:endParaRPr lang="zh-CN" altLang="en-US" smtClean="0">
              <a:ea typeface="宋体" panose="02010600030101010101" pitchFamily="2" charset="-122"/>
            </a:endParaRPr>
          </a:p>
        </p:txBody>
      </p:sp>
      <p:sp>
        <p:nvSpPr>
          <p:cNvPr id="47110" name="Rectangle 3"/>
          <p:cNvSpPr>
            <a:spLocks noGrp="1" noChangeArrowheads="1"/>
          </p:cNvSpPr>
          <p:nvPr>
            <p:ph type="body" sz="half" idx="1"/>
          </p:nvPr>
        </p:nvSpPr>
        <p:spPr>
          <a:xfrm>
            <a:off x="1857375" y="5445125"/>
            <a:ext cx="5761038" cy="503238"/>
          </a:xfrm>
        </p:spPr>
        <p:txBody>
          <a:bodyPr/>
          <a:lstStyle/>
          <a:p>
            <a:pPr>
              <a:buFontTx/>
              <a:buNone/>
            </a:pPr>
            <a:r>
              <a:rPr lang="en-US" altLang="zh-CN" smtClean="0">
                <a:ea typeface="宋体" panose="02010600030101010101" pitchFamily="2" charset="-122"/>
              </a:rPr>
              <a:t>Fig.3.24 Operations on NFA states. (P.118)</a:t>
            </a:r>
          </a:p>
        </p:txBody>
      </p:sp>
      <p:graphicFrame>
        <p:nvGraphicFramePr>
          <p:cNvPr id="462881" name="Group 33"/>
          <p:cNvGraphicFramePr>
            <a:graphicFrameLocks noGrp="1"/>
          </p:cNvGraphicFramePr>
          <p:nvPr>
            <p:ph sz="half" idx="2"/>
          </p:nvPr>
        </p:nvGraphicFramePr>
        <p:xfrm>
          <a:off x="273050" y="1412875"/>
          <a:ext cx="9359900" cy="3576638"/>
        </p:xfrm>
        <a:graphic>
          <a:graphicData uri="http://schemas.openxmlformats.org/drawingml/2006/table">
            <a:tbl>
              <a:tblPr/>
              <a:tblGrid>
                <a:gridCol w="2376488">
                  <a:extLst>
                    <a:ext uri="{9D8B030D-6E8A-4147-A177-3AD203B41FA5}">
                      <a16:colId xmlns:a16="http://schemas.microsoft.com/office/drawing/2014/main" val="20000"/>
                    </a:ext>
                  </a:extLst>
                </a:gridCol>
                <a:gridCol w="6983412">
                  <a:extLst>
                    <a:ext uri="{9D8B030D-6E8A-4147-A177-3AD203B41FA5}">
                      <a16:colId xmlns:a16="http://schemas.microsoft.com/office/drawing/2014/main" val="20001"/>
                    </a:ext>
                  </a:extLst>
                </a:gridCol>
              </a:tblGrid>
              <a:tr h="741495">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operation</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description</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5048">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-closrue(s)</a:t>
                      </a:r>
                      <a:endParaRPr kumimoji="0" lang="zh-CN" altLang="en-US" sz="2800" b="0" i="0" u="none" strike="noStrike" cap="none" normalizeH="0" baseline="0" smtClean="0">
                        <a:ln>
                          <a:noFill/>
                        </a:ln>
                        <a:solidFill>
                          <a:schemeClr val="tx1"/>
                        </a:solidFill>
                        <a:effectLst/>
                        <a:latin typeface="Times New Roman" pitchFamily="18" charset="0"/>
                        <a:ea typeface="宋体" pitchFamily="2" charset="-122"/>
                        <a:sym typeface="Symbol" pitchFamily="18" charset="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Set of NFA states reachable from NFA state s on </a:t>
                      </a: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-transitions alone.</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5048">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-closrue(T)</a:t>
                      </a:r>
                      <a:endParaRPr kumimoji="0" lang="zh-CN" altLang="en-US" sz="2800" b="0" i="0" u="none" strike="noStrike" cap="none" normalizeH="0" baseline="0" smtClean="0">
                        <a:ln>
                          <a:noFill/>
                        </a:ln>
                        <a:solidFill>
                          <a:schemeClr val="tx1"/>
                        </a:solidFill>
                        <a:effectLst/>
                        <a:latin typeface="Times New Roman" pitchFamily="18" charset="0"/>
                        <a:ea typeface="宋体" pitchFamily="2" charset="-122"/>
                        <a:sym typeface="Symbol" pitchFamily="18" charset="2"/>
                      </a:endParaRP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zh-CN" altLang="en-US" sz="2000" b="0" i="0" u="none" strike="noStrike" cap="none" normalizeH="0" baseline="0" smtClean="0">
                        <a:ln>
                          <a:noFill/>
                        </a:ln>
                        <a:solidFill>
                          <a:schemeClr val="tx1"/>
                        </a:solidFill>
                        <a:effectLst/>
                        <a:latin typeface="Times New Roman" pitchFamily="18" charset="0"/>
                        <a:ea typeface="宋体" pitchFamily="2" charset="-122"/>
                      </a:endParaRP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Set of NFA states reachable from some NFA states in T on </a:t>
                      </a: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sym typeface="Symbol" pitchFamily="18" charset="2"/>
                        </a:rPr>
                        <a:t>-transitions alone. </a:t>
                      </a:r>
                      <a:endParaRPr kumimoji="0" lang="zh-CN" altLang="en-US" sz="2800" b="0" i="0" u="none" strike="noStrike" cap="none" normalizeH="0" baseline="0" smtClean="0">
                        <a:ln>
                          <a:noFill/>
                        </a:ln>
                        <a:solidFill>
                          <a:schemeClr val="tx1"/>
                        </a:solidFill>
                        <a:effectLst/>
                        <a:latin typeface="Times New Roman" pitchFamily="18" charset="0"/>
                        <a:ea typeface="宋体" pitchFamily="2" charset="-122"/>
                      </a:endParaRP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5048">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Move(T,a)</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000">
                          <a:solidFill>
                            <a:schemeClr val="tx1"/>
                          </a:solidFill>
                          <a:latin typeface="Times New Roman" pitchFamily="18" charset="0"/>
                        </a:defRPr>
                      </a:lvl1pPr>
                      <a:lvl2pPr>
                        <a:spcBef>
                          <a:spcPct val="20000"/>
                        </a:spcBef>
                        <a:defRPr sz="1600">
                          <a:solidFill>
                            <a:schemeClr val="tx1"/>
                          </a:solidFill>
                          <a:latin typeface="Times New Roman" pitchFamily="18" charset="0"/>
                        </a:defRPr>
                      </a:lvl2pPr>
                      <a:lvl3pPr>
                        <a:spcBef>
                          <a:spcPct val="20000"/>
                        </a:spcBef>
                        <a:defRPr sz="1400">
                          <a:solidFill>
                            <a:schemeClr val="tx1"/>
                          </a:solidFill>
                          <a:latin typeface="Times New Roman" pitchFamily="18" charset="0"/>
                        </a:defRPr>
                      </a:lvl3pPr>
                      <a:lvl4pPr>
                        <a:spcBef>
                          <a:spcPct val="20000"/>
                        </a:spcBef>
                        <a:defRPr sz="1200">
                          <a:solidFill>
                            <a:schemeClr val="tx1"/>
                          </a:solidFill>
                          <a:latin typeface="Times New Roman" pitchFamily="18" charset="0"/>
                        </a:defRPr>
                      </a:lvl4pPr>
                      <a:lvl5pPr>
                        <a:spcBef>
                          <a:spcPct val="20000"/>
                        </a:spcBef>
                        <a:defRPr sz="1000">
                          <a:solidFill>
                            <a:schemeClr val="tx1"/>
                          </a:solidFill>
                          <a:latin typeface="Times New Roman" pitchFamily="18" charset="0"/>
                        </a:defRPr>
                      </a:lvl5pPr>
                      <a:lvl6pPr eaLnBrk="0" fontAlgn="base" hangingPunct="0">
                        <a:spcBef>
                          <a:spcPct val="20000"/>
                        </a:spcBef>
                        <a:spcAft>
                          <a:spcPct val="0"/>
                        </a:spcAft>
                        <a:defRPr sz="1000">
                          <a:solidFill>
                            <a:schemeClr val="tx1"/>
                          </a:solidFill>
                          <a:latin typeface="Times New Roman" pitchFamily="18" charset="0"/>
                        </a:defRPr>
                      </a:lvl6pPr>
                      <a:lvl7pPr eaLnBrk="0" fontAlgn="base" hangingPunct="0">
                        <a:spcBef>
                          <a:spcPct val="20000"/>
                        </a:spcBef>
                        <a:spcAft>
                          <a:spcPct val="0"/>
                        </a:spcAft>
                        <a:defRPr sz="1000">
                          <a:solidFill>
                            <a:schemeClr val="tx1"/>
                          </a:solidFill>
                          <a:latin typeface="Times New Roman" pitchFamily="18" charset="0"/>
                        </a:defRPr>
                      </a:lvl7pPr>
                      <a:lvl8pPr eaLnBrk="0" fontAlgn="base" hangingPunct="0">
                        <a:spcBef>
                          <a:spcPct val="20000"/>
                        </a:spcBef>
                        <a:spcAft>
                          <a:spcPct val="0"/>
                        </a:spcAft>
                        <a:defRPr sz="1000">
                          <a:solidFill>
                            <a:schemeClr val="tx1"/>
                          </a:solidFill>
                          <a:latin typeface="Times New Roman" pitchFamily="18" charset="0"/>
                        </a:defRPr>
                      </a:lvl8pPr>
                      <a:lvl9pPr eaLnBrk="0" fontAlgn="base" hangingPunct="0">
                        <a:spcBef>
                          <a:spcPct val="20000"/>
                        </a:spcBef>
                        <a:spcAft>
                          <a:spcPct val="0"/>
                        </a:spcAft>
                        <a:defRPr sz="1000">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smtClean="0">
                          <a:ln>
                            <a:noFill/>
                          </a:ln>
                          <a:solidFill>
                            <a:schemeClr val="tx1"/>
                          </a:solidFill>
                          <a:effectLst/>
                          <a:latin typeface="Times New Roman" pitchFamily="18" charset="0"/>
                          <a:ea typeface="宋体" pitchFamily="2" charset="-122"/>
                        </a:rPr>
                        <a:t>Set of NFA states to which there is a transition on input symbol a from some NFA state s in T.</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8131"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8132"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C051BC21-2C7E-4E35-A302-CE88EE59DDEF}" type="slidenum">
              <a:rPr lang="zh-CN" altLang="en-US" sz="800" b="0"/>
              <a:pPr/>
              <a:t>46</a:t>
            </a:fld>
            <a:endParaRPr lang="en-US" altLang="zh-CN" sz="800" b="0"/>
          </a:p>
        </p:txBody>
      </p:sp>
      <p:sp>
        <p:nvSpPr>
          <p:cNvPr id="48133"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mtClean="0">
                <a:ea typeface="宋体" panose="02010600030101010101" pitchFamily="2" charset="-122"/>
              </a:rPr>
              <a:t>Algorithm Concepts </a:t>
            </a:r>
            <a:r>
              <a:rPr lang="zh-CN" altLang="en-US" smtClean="0">
                <a:ea typeface="宋体" panose="02010600030101010101" pitchFamily="2" charset="-122"/>
              </a:rPr>
              <a:t>（</a:t>
            </a:r>
            <a:r>
              <a:rPr lang="en-US" altLang="zh-CN" smtClean="0">
                <a:ea typeface="宋体" panose="02010600030101010101" pitchFamily="2" charset="-122"/>
              </a:rPr>
              <a:t>cont.</a:t>
            </a:r>
            <a:r>
              <a:rPr lang="zh-CN" altLang="en-US" smtClean="0">
                <a:ea typeface="宋体" panose="02010600030101010101" pitchFamily="2" charset="-122"/>
              </a:rPr>
              <a:t>）</a:t>
            </a:r>
          </a:p>
        </p:txBody>
      </p:sp>
      <p:sp>
        <p:nvSpPr>
          <p:cNvPr id="48134" name="Text Box 3"/>
          <p:cNvSpPr txBox="1">
            <a:spLocks noChangeArrowheads="1"/>
          </p:cNvSpPr>
          <p:nvPr/>
        </p:nvSpPr>
        <p:spPr bwMode="auto">
          <a:xfrm>
            <a:off x="1485900" y="1219200"/>
            <a:ext cx="544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solidFill>
                  <a:schemeClr val="accent2"/>
                </a:solidFill>
                <a:ea typeface="宋体" panose="02010600030101010101" pitchFamily="2" charset="-122"/>
              </a:rPr>
              <a:t>NFA     N = ( S, </a:t>
            </a:r>
            <a:r>
              <a:rPr lang="en-US" altLang="zh-CN">
                <a:solidFill>
                  <a:schemeClr val="accent2"/>
                </a:solidFill>
                <a:ea typeface="宋体" panose="02010600030101010101" pitchFamily="2" charset="-122"/>
                <a:sym typeface="Symbol" panose="05050102010706020507" pitchFamily="18" charset="2"/>
              </a:rPr>
              <a:t>, s</a:t>
            </a:r>
            <a:r>
              <a:rPr lang="en-US" altLang="zh-CN" baseline="-25000">
                <a:solidFill>
                  <a:schemeClr val="accent2"/>
                </a:solidFill>
                <a:ea typeface="宋体" panose="02010600030101010101" pitchFamily="2" charset="-122"/>
                <a:sym typeface="Symbol" panose="05050102010706020507" pitchFamily="18" charset="2"/>
              </a:rPr>
              <a:t>0</a:t>
            </a:r>
            <a:r>
              <a:rPr lang="en-US" altLang="zh-CN">
                <a:solidFill>
                  <a:schemeClr val="accent2"/>
                </a:solidFill>
                <a:ea typeface="宋体" panose="02010600030101010101" pitchFamily="2" charset="-122"/>
                <a:sym typeface="Symbol" panose="05050102010706020507" pitchFamily="18" charset="2"/>
              </a:rPr>
              <a:t>, F, MOVE )</a:t>
            </a:r>
            <a:endParaRPr lang="en-US" altLang="zh-CN">
              <a:solidFill>
                <a:schemeClr val="accent2"/>
              </a:solidFill>
              <a:ea typeface="宋体" panose="02010600030101010101" pitchFamily="2" charset="-122"/>
            </a:endParaRPr>
          </a:p>
        </p:txBody>
      </p:sp>
      <p:sp>
        <p:nvSpPr>
          <p:cNvPr id="48135" name="Text Box 4"/>
          <p:cNvSpPr txBox="1">
            <a:spLocks noChangeArrowheads="1"/>
          </p:cNvSpPr>
          <p:nvPr/>
        </p:nvSpPr>
        <p:spPr bwMode="auto">
          <a:xfrm>
            <a:off x="1981200" y="1752600"/>
            <a:ext cx="7594600"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solidFill>
                  <a:schemeClr val="accent2"/>
                </a:solidFill>
                <a:ea typeface="宋体" panose="02010600030101010101" pitchFamily="2" charset="-122"/>
                <a:sym typeface="Symbol" panose="05050102010706020507" pitchFamily="18" charset="2"/>
              </a:rPr>
              <a:t></a:t>
            </a:r>
            <a:r>
              <a:rPr lang="en-US" altLang="zh-CN" sz="2000">
                <a:solidFill>
                  <a:schemeClr val="accent2"/>
                </a:solidFill>
                <a:ea typeface="宋体" panose="02010600030101010101" pitchFamily="2" charset="-122"/>
                <a:sym typeface="Symbol" panose="05050102010706020507" pitchFamily="18" charset="2"/>
              </a:rPr>
              <a:t>-Closure(s)  : s S</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                         : set of states in S that are reachable </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                            from s via -moves of N that originate</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                            from s.</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-Closure(T) : T  S</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                           : NFA states reachable from all t  T</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                             on -moves only.</a:t>
            </a:r>
          </a:p>
          <a:p>
            <a:pPr eaLnBrk="1" hangingPunct="1">
              <a:lnSpc>
                <a:spcPct val="70000"/>
              </a:lnSpc>
              <a:spcBef>
                <a:spcPct val="50000"/>
              </a:spcBef>
            </a:pPr>
            <a:r>
              <a:rPr lang="en-US" altLang="zh-CN" sz="2000" i="1">
                <a:solidFill>
                  <a:schemeClr val="accent2"/>
                </a:solidFill>
                <a:ea typeface="宋体" panose="02010600030101010101" pitchFamily="2" charset="-122"/>
                <a:sym typeface="Symbol" panose="05050102010706020507" pitchFamily="18" charset="2"/>
              </a:rPr>
              <a:t>move</a:t>
            </a:r>
            <a:r>
              <a:rPr lang="en-US" altLang="zh-CN" sz="2000">
                <a:solidFill>
                  <a:schemeClr val="accent2"/>
                </a:solidFill>
                <a:ea typeface="宋体" panose="02010600030101010101" pitchFamily="2" charset="-122"/>
                <a:sym typeface="Symbol" panose="05050102010706020507" pitchFamily="18" charset="2"/>
              </a:rPr>
              <a:t>(T,a)         : T  S,  a</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                           : Set of states to which there is a </a:t>
            </a:r>
          </a:p>
          <a:p>
            <a:pPr eaLnBrk="1" hangingPunct="1">
              <a:lnSpc>
                <a:spcPct val="70000"/>
              </a:lnSpc>
              <a:spcBef>
                <a:spcPct val="50000"/>
              </a:spcBef>
            </a:pPr>
            <a:r>
              <a:rPr lang="en-US" altLang="zh-CN" sz="2000">
                <a:solidFill>
                  <a:schemeClr val="accent2"/>
                </a:solidFill>
                <a:ea typeface="宋体" panose="02010600030101010101" pitchFamily="2" charset="-122"/>
                <a:sym typeface="Symbol" panose="05050102010706020507" pitchFamily="18" charset="2"/>
              </a:rPr>
              <a:t>                             transition on input a from some t  T</a:t>
            </a:r>
          </a:p>
        </p:txBody>
      </p:sp>
      <p:sp>
        <p:nvSpPr>
          <p:cNvPr id="48136" name="Text Box 5"/>
          <p:cNvSpPr txBox="1">
            <a:spLocks noChangeArrowheads="1"/>
          </p:cNvSpPr>
          <p:nvPr/>
        </p:nvSpPr>
        <p:spPr bwMode="auto">
          <a:xfrm>
            <a:off x="776288" y="5638800"/>
            <a:ext cx="83867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a:ea typeface="宋体" panose="02010600030101010101" pitchFamily="2" charset="-122"/>
              </a:rPr>
              <a:t>These 3 operations are utilized by algorithms / techniques to facilitate the conversion process.</a:t>
            </a:r>
          </a:p>
        </p:txBody>
      </p:sp>
      <p:sp>
        <p:nvSpPr>
          <p:cNvPr id="48137" name="Text Box 6"/>
          <p:cNvSpPr txBox="1">
            <a:spLocks noChangeArrowheads="1"/>
          </p:cNvSpPr>
          <p:nvPr/>
        </p:nvSpPr>
        <p:spPr bwMode="auto">
          <a:xfrm>
            <a:off x="1238250" y="2514600"/>
            <a:ext cx="13208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sz="1600">
                <a:solidFill>
                  <a:srgbClr val="660066"/>
                </a:solidFill>
                <a:ea typeface="宋体" panose="02010600030101010101" pitchFamily="2" charset="-122"/>
              </a:rPr>
              <a:t>No input is consumed</a:t>
            </a:r>
          </a:p>
        </p:txBody>
      </p:sp>
      <p:sp>
        <p:nvSpPr>
          <p:cNvPr id="48138" name="Line 7"/>
          <p:cNvSpPr>
            <a:spLocks noChangeShapeType="1"/>
          </p:cNvSpPr>
          <p:nvPr/>
        </p:nvSpPr>
        <p:spPr bwMode="auto">
          <a:xfrm flipV="1">
            <a:off x="1981200" y="2133600"/>
            <a:ext cx="330200" cy="457200"/>
          </a:xfrm>
          <a:prstGeom prst="line">
            <a:avLst/>
          </a:prstGeom>
          <a:noFill/>
          <a:ln w="127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39" name="Line 8"/>
          <p:cNvSpPr>
            <a:spLocks noChangeShapeType="1"/>
          </p:cNvSpPr>
          <p:nvPr/>
        </p:nvSpPr>
        <p:spPr bwMode="auto">
          <a:xfrm>
            <a:off x="1898650" y="3124200"/>
            <a:ext cx="82550" cy="152400"/>
          </a:xfrm>
          <a:prstGeom prst="line">
            <a:avLst/>
          </a:prstGeom>
          <a:noFill/>
          <a:ln w="127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49155"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49156"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0D719679-E9B6-4053-8A30-72B8E5681D07}" type="slidenum">
              <a:rPr lang="zh-CN" altLang="en-US" sz="800" b="0"/>
              <a:pPr/>
              <a:t>47</a:t>
            </a:fld>
            <a:endParaRPr lang="en-US" altLang="zh-CN" sz="800" b="0"/>
          </a:p>
        </p:txBody>
      </p:sp>
      <p:sp>
        <p:nvSpPr>
          <p:cNvPr id="49157" name="Rectangle 2"/>
          <p:cNvSpPr>
            <a:spLocks noGrp="1" noChangeArrowheads="1"/>
          </p:cNvSpPr>
          <p:nvPr>
            <p:ph type="title"/>
          </p:nvPr>
        </p:nvSpPr>
        <p:spPr/>
        <p:txBody>
          <a:bodyPr/>
          <a:lstStyle/>
          <a:p>
            <a:r>
              <a:rPr lang="en-US" altLang="zh-CN" smtClean="0">
                <a:ea typeface="宋体" panose="02010600030101010101" pitchFamily="2" charset="-122"/>
              </a:rPr>
              <a:t>Algorithm for subset construction (P.118)</a:t>
            </a:r>
          </a:p>
        </p:txBody>
      </p:sp>
      <p:sp>
        <p:nvSpPr>
          <p:cNvPr id="281603" name="Rectangle 3"/>
          <p:cNvSpPr>
            <a:spLocks noGrp="1" noChangeArrowheads="1"/>
          </p:cNvSpPr>
          <p:nvPr>
            <p:ph type="body" idx="1"/>
          </p:nvPr>
        </p:nvSpPr>
        <p:spPr>
          <a:xfrm>
            <a:off x="381000" y="1052513"/>
            <a:ext cx="9180513" cy="5272087"/>
          </a:xfrm>
        </p:spPr>
        <p:txBody>
          <a:bodyPr/>
          <a:lstStyle/>
          <a:p>
            <a:pPr lvl="1">
              <a:lnSpc>
                <a:spcPct val="90000"/>
              </a:lnSpc>
              <a:buFontTx/>
              <a:buNone/>
            </a:pPr>
            <a:r>
              <a:rPr lang="en-US" altLang="zh-CN" b="1" smtClean="0">
                <a:ea typeface="宋体" panose="02010600030101010101" pitchFamily="2" charset="-122"/>
              </a:rPr>
              <a:t>put  </a:t>
            </a:r>
            <a:r>
              <a:rPr lang="en-US" altLang="zh-CN" b="1" smtClean="0">
                <a:ea typeface="宋体" panose="02010600030101010101" pitchFamily="2" charset="-122"/>
                <a:sym typeface="Symbol" panose="05050102010706020507" pitchFamily="18" charset="2"/>
              </a:rPr>
              <a:t></a:t>
            </a:r>
            <a:r>
              <a:rPr lang="en-US" altLang="zh-CN" b="1" smtClean="0">
                <a:ea typeface="宋体" panose="02010600030101010101" pitchFamily="2" charset="-122"/>
                <a:sym typeface="Wingdings" panose="05000000000000000000" pitchFamily="2" charset="2"/>
              </a:rPr>
              <a:t>-closure({s</a:t>
            </a:r>
            <a:r>
              <a:rPr lang="en-US" altLang="zh-CN" b="1" baseline="-25000" smtClean="0">
                <a:ea typeface="宋体" panose="02010600030101010101" pitchFamily="2" charset="-122"/>
                <a:sym typeface="Wingdings" panose="05000000000000000000" pitchFamily="2" charset="2"/>
              </a:rPr>
              <a:t>0</a:t>
            </a:r>
            <a:r>
              <a:rPr lang="en-US" altLang="zh-CN" b="1" smtClean="0">
                <a:ea typeface="宋体" panose="02010600030101010101" pitchFamily="2" charset="-122"/>
                <a:sym typeface="Wingdings" panose="05000000000000000000" pitchFamily="2" charset="2"/>
              </a:rPr>
              <a:t>}) as an unmarked  state into the set of DFA (DStates)</a:t>
            </a:r>
          </a:p>
          <a:p>
            <a:pPr lvl="1">
              <a:lnSpc>
                <a:spcPct val="90000"/>
              </a:lnSpc>
              <a:buFontTx/>
              <a:buNone/>
            </a:pPr>
            <a:r>
              <a:rPr lang="en-US" altLang="zh-CN" b="1" smtClean="0">
                <a:solidFill>
                  <a:srgbClr val="FF00FF"/>
                </a:solidFill>
                <a:ea typeface="宋体" panose="02010600030101010101" pitchFamily="2" charset="-122"/>
                <a:sym typeface="Wingdings" panose="05000000000000000000" pitchFamily="2" charset="2"/>
              </a:rPr>
              <a:t>while</a:t>
            </a:r>
            <a:r>
              <a:rPr lang="en-US" altLang="zh-CN" b="1" smtClean="0">
                <a:ea typeface="宋体" panose="02010600030101010101" pitchFamily="2" charset="-122"/>
                <a:sym typeface="Wingdings" panose="05000000000000000000" pitchFamily="2" charset="2"/>
              </a:rPr>
              <a:t> (there is one unmarked S</a:t>
            </a:r>
            <a:r>
              <a:rPr lang="en-US" altLang="zh-CN" b="1" baseline="-25000" smtClean="0">
                <a:ea typeface="宋体" panose="02010600030101010101" pitchFamily="2" charset="-122"/>
                <a:sym typeface="Wingdings" panose="05000000000000000000" pitchFamily="2" charset="2"/>
              </a:rPr>
              <a:t>1</a:t>
            </a:r>
            <a:r>
              <a:rPr lang="en-US" altLang="zh-CN" b="1" smtClean="0">
                <a:ea typeface="宋体" panose="02010600030101010101" pitchFamily="2" charset="-122"/>
                <a:sym typeface="Wingdings" panose="05000000000000000000" pitchFamily="2" charset="2"/>
              </a:rPr>
              <a:t> in DStates) do </a:t>
            </a:r>
          </a:p>
          <a:p>
            <a:pPr lvl="1">
              <a:lnSpc>
                <a:spcPct val="90000"/>
              </a:lnSpc>
              <a:buFontTx/>
              <a:buNone/>
            </a:pPr>
            <a:r>
              <a:rPr lang="en-US" altLang="zh-CN" b="1" smtClean="0">
                <a:ea typeface="宋体" panose="02010600030101010101" pitchFamily="2" charset="-122"/>
                <a:sym typeface="Wingdings" panose="05000000000000000000" pitchFamily="2" charset="2"/>
              </a:rPr>
              <a:t>	</a:t>
            </a:r>
            <a:r>
              <a:rPr lang="en-US" altLang="zh-CN" b="1" smtClean="0">
                <a:solidFill>
                  <a:srgbClr val="FF00FF"/>
                </a:solidFill>
                <a:ea typeface="宋体" panose="02010600030101010101" pitchFamily="2" charset="-122"/>
                <a:sym typeface="Wingdings" panose="05000000000000000000" pitchFamily="2" charset="2"/>
              </a:rPr>
              <a:t>begin</a:t>
            </a:r>
          </a:p>
          <a:p>
            <a:pPr lvl="1">
              <a:lnSpc>
                <a:spcPct val="90000"/>
              </a:lnSpc>
              <a:buFontTx/>
              <a:buNone/>
            </a:pPr>
            <a:r>
              <a:rPr lang="en-US" altLang="zh-CN" b="1" smtClean="0">
                <a:ea typeface="宋体" panose="02010600030101010101" pitchFamily="2" charset="-122"/>
                <a:sym typeface="Wingdings" panose="05000000000000000000" pitchFamily="2" charset="2"/>
              </a:rPr>
              <a:t>		  mark S</a:t>
            </a:r>
            <a:r>
              <a:rPr lang="en-US" altLang="zh-CN" b="1" baseline="-25000" smtClean="0">
                <a:ea typeface="宋体" panose="02010600030101010101" pitchFamily="2" charset="-122"/>
                <a:sym typeface="Wingdings" panose="05000000000000000000" pitchFamily="2" charset="2"/>
              </a:rPr>
              <a:t>1</a:t>
            </a:r>
            <a:endParaRPr lang="en-US" altLang="zh-CN" b="1" smtClean="0">
              <a:ea typeface="宋体" panose="02010600030101010101" pitchFamily="2" charset="-122"/>
              <a:sym typeface="Wingdings" panose="05000000000000000000" pitchFamily="2" charset="2"/>
            </a:endParaRPr>
          </a:p>
          <a:p>
            <a:pPr lvl="1">
              <a:lnSpc>
                <a:spcPct val="90000"/>
              </a:lnSpc>
              <a:buFontTx/>
              <a:buNone/>
            </a:pPr>
            <a:r>
              <a:rPr lang="en-US" altLang="zh-CN" b="1" smtClean="0">
                <a:ea typeface="宋体" panose="02010600030101010101" pitchFamily="2" charset="-122"/>
                <a:sym typeface="Wingdings" panose="05000000000000000000" pitchFamily="2" charset="2"/>
              </a:rPr>
              <a:t>		  </a:t>
            </a:r>
            <a:r>
              <a:rPr lang="en-US" altLang="zh-CN" b="1" smtClean="0">
                <a:solidFill>
                  <a:srgbClr val="FF00FF"/>
                </a:solidFill>
                <a:ea typeface="宋体" panose="02010600030101010101" pitchFamily="2" charset="-122"/>
                <a:sym typeface="Wingdings" panose="05000000000000000000" pitchFamily="2" charset="2"/>
              </a:rPr>
              <a:t>for</a:t>
            </a:r>
            <a:r>
              <a:rPr lang="en-US" altLang="zh-CN" b="1" smtClean="0">
                <a:ea typeface="宋体" panose="02010600030101010101" pitchFamily="2" charset="-122"/>
                <a:sym typeface="Wingdings" panose="05000000000000000000" pitchFamily="2" charset="2"/>
              </a:rPr>
              <a:t> each input symbol a </a:t>
            </a:r>
            <a:r>
              <a:rPr lang="en-US" altLang="zh-CN" b="1" smtClean="0">
                <a:solidFill>
                  <a:srgbClr val="FF00FF"/>
                </a:solidFill>
                <a:ea typeface="宋体" panose="02010600030101010101" pitchFamily="2" charset="-122"/>
                <a:sym typeface="Wingdings" panose="05000000000000000000" pitchFamily="2" charset="2"/>
              </a:rPr>
              <a:t>do</a:t>
            </a:r>
            <a:r>
              <a:rPr lang="en-US" altLang="zh-CN" b="1" smtClean="0">
                <a:ea typeface="宋体" panose="02010600030101010101" pitchFamily="2" charset="-122"/>
                <a:sym typeface="Wingdings" panose="05000000000000000000" pitchFamily="2" charset="2"/>
              </a:rPr>
              <a:t> </a:t>
            </a:r>
          </a:p>
          <a:p>
            <a:pPr lvl="1">
              <a:lnSpc>
                <a:spcPct val="90000"/>
              </a:lnSpc>
              <a:buFontTx/>
              <a:buNone/>
            </a:pPr>
            <a:r>
              <a:rPr lang="en-US" altLang="zh-CN" b="1" smtClean="0">
                <a:ea typeface="宋体" panose="02010600030101010101" pitchFamily="2" charset="-122"/>
                <a:sym typeface="Wingdings" panose="05000000000000000000" pitchFamily="2" charset="2"/>
              </a:rPr>
              <a:t>		      </a:t>
            </a:r>
            <a:r>
              <a:rPr lang="en-US" altLang="zh-CN" b="1" smtClean="0">
                <a:solidFill>
                  <a:srgbClr val="FF00FF"/>
                </a:solidFill>
                <a:ea typeface="宋体" panose="02010600030101010101" pitchFamily="2" charset="-122"/>
                <a:sym typeface="Wingdings" panose="05000000000000000000" pitchFamily="2" charset="2"/>
              </a:rPr>
              <a:t>begin</a:t>
            </a:r>
          </a:p>
          <a:p>
            <a:pPr lvl="1">
              <a:lnSpc>
                <a:spcPct val="90000"/>
              </a:lnSpc>
              <a:buFontTx/>
              <a:buNone/>
            </a:pPr>
            <a:r>
              <a:rPr lang="en-US" altLang="zh-CN" b="1" smtClean="0">
                <a:ea typeface="宋体" panose="02010600030101010101" pitchFamily="2" charset="-122"/>
                <a:sym typeface="Wingdings" panose="05000000000000000000" pitchFamily="2" charset="2"/>
              </a:rPr>
              <a:t>		          S</a:t>
            </a:r>
            <a:r>
              <a:rPr lang="en-US" altLang="zh-CN" b="1" baseline="-25000" smtClean="0">
                <a:ea typeface="宋体" panose="02010600030101010101" pitchFamily="2" charset="-122"/>
                <a:sym typeface="Wingdings" panose="05000000000000000000" pitchFamily="2" charset="2"/>
              </a:rPr>
              <a:t>2</a:t>
            </a:r>
            <a:r>
              <a:rPr lang="en-US" altLang="zh-CN" b="1" smtClean="0">
                <a:ea typeface="宋体" panose="02010600030101010101" pitchFamily="2" charset="-122"/>
                <a:sym typeface="Wingdings" panose="05000000000000000000" pitchFamily="2" charset="2"/>
              </a:rPr>
              <a:t> </a:t>
            </a:r>
            <a:r>
              <a:rPr lang="en-US" altLang="zh-CN" b="1" smtClean="0">
                <a:solidFill>
                  <a:srgbClr val="FF00FF"/>
                </a:solidFill>
                <a:ea typeface="宋体" panose="02010600030101010101" pitchFamily="2" charset="-122"/>
                <a:sym typeface="Wingdings" panose="05000000000000000000" pitchFamily="2" charset="2"/>
              </a:rPr>
              <a:t></a:t>
            </a:r>
            <a:r>
              <a:rPr lang="en-US" altLang="zh-CN" b="1" smtClean="0">
                <a:ea typeface="宋体" panose="02010600030101010101" pitchFamily="2" charset="-122"/>
                <a:sym typeface="Wingdings" panose="05000000000000000000" pitchFamily="2" charset="2"/>
              </a:rPr>
              <a:t> </a:t>
            </a:r>
            <a:r>
              <a:rPr lang="en-US" altLang="zh-CN" b="1" smtClean="0">
                <a:ea typeface="宋体" panose="02010600030101010101" pitchFamily="2" charset="-122"/>
                <a:sym typeface="Symbol" panose="05050102010706020507" pitchFamily="18" charset="2"/>
              </a:rPr>
              <a:t></a:t>
            </a:r>
            <a:r>
              <a:rPr lang="en-US" altLang="zh-CN" b="1" smtClean="0">
                <a:ea typeface="宋体" panose="02010600030101010101" pitchFamily="2" charset="-122"/>
                <a:sym typeface="Wingdings" panose="05000000000000000000" pitchFamily="2" charset="2"/>
              </a:rPr>
              <a:t>-closure(move(S</a:t>
            </a:r>
            <a:r>
              <a:rPr lang="en-US" altLang="zh-CN" b="1" baseline="-25000" smtClean="0">
                <a:ea typeface="宋体" panose="02010600030101010101" pitchFamily="2" charset="-122"/>
                <a:sym typeface="Wingdings" panose="05000000000000000000" pitchFamily="2" charset="2"/>
              </a:rPr>
              <a:t>1</a:t>
            </a:r>
            <a:r>
              <a:rPr lang="en-US" altLang="zh-CN" b="1" smtClean="0">
                <a:ea typeface="宋体" panose="02010600030101010101" pitchFamily="2" charset="-122"/>
                <a:sym typeface="Wingdings" panose="05000000000000000000" pitchFamily="2" charset="2"/>
              </a:rPr>
              <a:t>,a))</a:t>
            </a:r>
          </a:p>
          <a:p>
            <a:pPr lvl="1">
              <a:lnSpc>
                <a:spcPct val="90000"/>
              </a:lnSpc>
              <a:buFontTx/>
              <a:buNone/>
            </a:pPr>
            <a:r>
              <a:rPr lang="en-US" altLang="zh-CN" b="1" smtClean="0">
                <a:ea typeface="宋体" panose="02010600030101010101" pitchFamily="2" charset="-122"/>
                <a:sym typeface="Wingdings" panose="05000000000000000000" pitchFamily="2" charset="2"/>
              </a:rPr>
              <a:t>		          if (S</a:t>
            </a:r>
            <a:r>
              <a:rPr lang="en-US" altLang="zh-CN" b="1" baseline="-25000" smtClean="0">
                <a:ea typeface="宋体" panose="02010600030101010101" pitchFamily="2" charset="-122"/>
                <a:sym typeface="Wingdings" panose="05000000000000000000" pitchFamily="2" charset="2"/>
              </a:rPr>
              <a:t>2</a:t>
            </a:r>
            <a:r>
              <a:rPr lang="en-US" altLang="zh-CN" b="1" smtClean="0">
                <a:ea typeface="宋体" panose="02010600030101010101" pitchFamily="2" charset="-122"/>
                <a:sym typeface="Wingdings" panose="05000000000000000000" pitchFamily="2" charset="2"/>
              </a:rPr>
              <a:t> is not in DStates) then</a:t>
            </a:r>
          </a:p>
          <a:p>
            <a:pPr lvl="1">
              <a:lnSpc>
                <a:spcPct val="90000"/>
              </a:lnSpc>
              <a:buFontTx/>
              <a:buNone/>
            </a:pPr>
            <a:r>
              <a:rPr lang="en-US" altLang="zh-CN" b="1" smtClean="0">
                <a:ea typeface="宋体" panose="02010600030101010101" pitchFamily="2" charset="-122"/>
                <a:sym typeface="Wingdings" panose="05000000000000000000" pitchFamily="2" charset="2"/>
              </a:rPr>
              <a:t>			add S</a:t>
            </a:r>
            <a:r>
              <a:rPr lang="en-US" altLang="zh-CN" b="1" baseline="-25000" smtClean="0">
                <a:ea typeface="宋体" panose="02010600030101010101" pitchFamily="2" charset="-122"/>
                <a:sym typeface="Wingdings" panose="05000000000000000000" pitchFamily="2" charset="2"/>
              </a:rPr>
              <a:t>2</a:t>
            </a:r>
            <a:r>
              <a:rPr lang="en-US" altLang="zh-CN" b="1" smtClean="0">
                <a:ea typeface="宋体" panose="02010600030101010101" pitchFamily="2" charset="-122"/>
                <a:sym typeface="Wingdings" panose="05000000000000000000" pitchFamily="2" charset="2"/>
              </a:rPr>
              <a:t> into DStates as an unmarked state</a:t>
            </a:r>
          </a:p>
          <a:p>
            <a:pPr lvl="1">
              <a:lnSpc>
                <a:spcPct val="90000"/>
              </a:lnSpc>
              <a:buFontTx/>
              <a:buNone/>
            </a:pPr>
            <a:r>
              <a:rPr lang="en-US" altLang="zh-CN" b="1" smtClean="0">
                <a:ea typeface="宋体" panose="02010600030101010101" pitchFamily="2" charset="-122"/>
                <a:sym typeface="Wingdings" panose="05000000000000000000" pitchFamily="2" charset="2"/>
              </a:rPr>
              <a:t>		          transfunc[S</a:t>
            </a:r>
            <a:r>
              <a:rPr lang="en-US" altLang="zh-CN" b="1" baseline="-25000" smtClean="0">
                <a:ea typeface="宋体" panose="02010600030101010101" pitchFamily="2" charset="-122"/>
                <a:sym typeface="Wingdings" panose="05000000000000000000" pitchFamily="2" charset="2"/>
              </a:rPr>
              <a:t>1</a:t>
            </a:r>
            <a:r>
              <a:rPr lang="en-US" altLang="zh-CN" b="1" smtClean="0">
                <a:ea typeface="宋体" panose="02010600030101010101" pitchFamily="2" charset="-122"/>
                <a:sym typeface="Wingdings" panose="05000000000000000000" pitchFamily="2" charset="2"/>
              </a:rPr>
              <a:t>,a] </a:t>
            </a:r>
            <a:r>
              <a:rPr lang="en-US" altLang="zh-CN" b="1" smtClean="0">
                <a:solidFill>
                  <a:srgbClr val="FF00FF"/>
                </a:solidFill>
                <a:ea typeface="宋体" panose="02010600030101010101" pitchFamily="2" charset="-122"/>
                <a:sym typeface="Wingdings" panose="05000000000000000000" pitchFamily="2" charset="2"/>
              </a:rPr>
              <a:t></a:t>
            </a:r>
            <a:r>
              <a:rPr lang="en-US" altLang="zh-CN" b="1" smtClean="0">
                <a:ea typeface="宋体" panose="02010600030101010101" pitchFamily="2" charset="-122"/>
                <a:sym typeface="Wingdings" panose="05000000000000000000" pitchFamily="2" charset="2"/>
              </a:rPr>
              <a:t> S</a:t>
            </a:r>
            <a:r>
              <a:rPr lang="en-US" altLang="zh-CN" b="1" baseline="-25000" smtClean="0">
                <a:ea typeface="宋体" panose="02010600030101010101" pitchFamily="2" charset="-122"/>
                <a:sym typeface="Wingdings" panose="05000000000000000000" pitchFamily="2" charset="2"/>
              </a:rPr>
              <a:t>2</a:t>
            </a:r>
            <a:endParaRPr lang="en-US" altLang="zh-CN" b="1" smtClean="0">
              <a:ea typeface="宋体" panose="02010600030101010101" pitchFamily="2" charset="-122"/>
              <a:sym typeface="Wingdings" panose="05000000000000000000" pitchFamily="2" charset="2"/>
            </a:endParaRPr>
          </a:p>
          <a:p>
            <a:pPr lvl="1">
              <a:lnSpc>
                <a:spcPct val="90000"/>
              </a:lnSpc>
              <a:buFontTx/>
              <a:buNone/>
            </a:pPr>
            <a:r>
              <a:rPr lang="en-US" altLang="zh-CN" b="1" smtClean="0">
                <a:ea typeface="宋体" panose="02010600030101010101" pitchFamily="2" charset="-122"/>
                <a:sym typeface="Wingdings" panose="05000000000000000000" pitchFamily="2" charset="2"/>
              </a:rPr>
              <a:t>		      </a:t>
            </a:r>
            <a:r>
              <a:rPr lang="en-US" altLang="zh-CN" b="1" smtClean="0">
                <a:solidFill>
                  <a:srgbClr val="FF00FF"/>
                </a:solidFill>
                <a:ea typeface="宋体" panose="02010600030101010101" pitchFamily="2" charset="-122"/>
                <a:sym typeface="Wingdings" panose="05000000000000000000" pitchFamily="2" charset="2"/>
              </a:rPr>
              <a:t>end</a:t>
            </a:r>
          </a:p>
          <a:p>
            <a:pPr lvl="1">
              <a:lnSpc>
                <a:spcPct val="90000"/>
              </a:lnSpc>
              <a:buFontTx/>
              <a:buNone/>
            </a:pPr>
            <a:r>
              <a:rPr lang="en-US" altLang="zh-CN" b="1" smtClean="0">
                <a:solidFill>
                  <a:srgbClr val="FF00FF"/>
                </a:solidFill>
                <a:ea typeface="宋体" panose="02010600030101010101" pitchFamily="2" charset="-122"/>
                <a:sym typeface="Wingdings" panose="05000000000000000000" pitchFamily="2" charset="2"/>
              </a:rPr>
              <a:t>		end</a:t>
            </a:r>
          </a:p>
          <a:p>
            <a:pPr>
              <a:lnSpc>
                <a:spcPct val="90000"/>
              </a:lnSpc>
              <a:buFontTx/>
              <a:buNone/>
            </a:pPr>
            <a:r>
              <a:rPr lang="en-US" altLang="zh-CN" sz="1800" b="1" smtClean="0">
                <a:ea typeface="宋体" panose="02010600030101010101" pitchFamily="2" charset="-122"/>
                <a:sym typeface="Wingdings" panose="05000000000000000000" pitchFamily="2" charset="2"/>
              </a:rPr>
              <a:t>         	</a:t>
            </a:r>
            <a:endParaRPr lang="en-US" altLang="zh-CN" sz="2000" b="1" smtClean="0">
              <a:ea typeface="宋体" panose="02010600030101010101" pitchFamily="2" charset="-122"/>
              <a:sym typeface="Wingdings" panose="05000000000000000000" pitchFamily="2" charset="2"/>
            </a:endParaRPr>
          </a:p>
          <a:p>
            <a:pPr>
              <a:lnSpc>
                <a:spcPct val="90000"/>
              </a:lnSpc>
            </a:pPr>
            <a:r>
              <a:rPr lang="en-US" altLang="zh-CN" smtClean="0">
                <a:solidFill>
                  <a:schemeClr val="accent2"/>
                </a:solidFill>
                <a:ea typeface="宋体" panose="02010600030101010101" pitchFamily="2" charset="-122"/>
                <a:sym typeface="Wingdings" panose="05000000000000000000" pitchFamily="2" charset="2"/>
              </a:rPr>
              <a:t>the start state of DFA is </a:t>
            </a:r>
            <a:r>
              <a:rPr lang="en-US" altLang="zh-CN" smtClean="0">
                <a:solidFill>
                  <a:schemeClr val="accent2"/>
                </a:solidFill>
                <a:ea typeface="宋体" panose="02010600030101010101" pitchFamily="2" charset="-122"/>
                <a:sym typeface="Symbol" panose="05050102010706020507" pitchFamily="18" charset="2"/>
              </a:rPr>
              <a:t></a:t>
            </a:r>
            <a:r>
              <a:rPr lang="en-US" altLang="zh-CN" smtClean="0">
                <a:solidFill>
                  <a:schemeClr val="accent2"/>
                </a:solidFill>
                <a:ea typeface="宋体" panose="02010600030101010101" pitchFamily="2" charset="-122"/>
                <a:sym typeface="Wingdings" panose="05000000000000000000" pitchFamily="2" charset="2"/>
              </a:rPr>
              <a:t>-closure({s</a:t>
            </a:r>
            <a:r>
              <a:rPr lang="en-US" altLang="zh-CN" baseline="-25000" smtClean="0">
                <a:solidFill>
                  <a:schemeClr val="accent2"/>
                </a:solidFill>
                <a:ea typeface="宋体" panose="02010600030101010101" pitchFamily="2" charset="-122"/>
                <a:sym typeface="Wingdings" panose="05000000000000000000" pitchFamily="2" charset="2"/>
              </a:rPr>
              <a:t>0</a:t>
            </a:r>
            <a:r>
              <a:rPr lang="en-US" altLang="zh-CN" smtClean="0">
                <a:solidFill>
                  <a:schemeClr val="accent2"/>
                </a:solidFill>
                <a:ea typeface="宋体" panose="02010600030101010101" pitchFamily="2" charset="-122"/>
                <a:sym typeface="Wingdings" panose="05000000000000000000" pitchFamily="2" charset="2"/>
              </a:rPr>
              <a:t>})</a:t>
            </a:r>
          </a:p>
          <a:p>
            <a:pPr>
              <a:lnSpc>
                <a:spcPct val="90000"/>
              </a:lnSpc>
            </a:pPr>
            <a:r>
              <a:rPr lang="en-US" altLang="zh-CN" smtClean="0">
                <a:solidFill>
                  <a:schemeClr val="accent2"/>
                </a:solidFill>
                <a:ea typeface="宋体" panose="02010600030101010101" pitchFamily="2" charset="-122"/>
                <a:sym typeface="Wingdings" panose="05000000000000000000" pitchFamily="2" charset="2"/>
              </a:rPr>
              <a:t>a state S in DStates is an accepting state of DFA if a state in S is an accepting state of NFA</a:t>
            </a:r>
            <a:r>
              <a:rPr lang="en-US" altLang="zh-CN" sz="3200" smtClean="0">
                <a:solidFill>
                  <a:schemeClr val="accent2"/>
                </a:solidFill>
                <a:ea typeface="宋体" panose="02010600030101010101" pitchFamily="2" charset="-122"/>
                <a:sym typeface="Wingdings" panose="05000000000000000000" pitchFamily="2" charset="2"/>
              </a:rPr>
              <a:t>		  		</a:t>
            </a:r>
          </a:p>
        </p:txBody>
      </p:sp>
      <p:sp>
        <p:nvSpPr>
          <p:cNvPr id="49159" name="Text Box 4"/>
          <p:cNvSpPr txBox="1">
            <a:spLocks noChangeArrowheads="1"/>
          </p:cNvSpPr>
          <p:nvPr/>
        </p:nvSpPr>
        <p:spPr bwMode="auto">
          <a:xfrm>
            <a:off x="7467600" y="8382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b="0">
              <a:ea typeface="宋体" panose="02010600030101010101" pitchFamily="2" charset="-122"/>
            </a:endParaRPr>
          </a:p>
        </p:txBody>
      </p:sp>
      <p:sp>
        <p:nvSpPr>
          <p:cNvPr id="281605" name="Text Box 5"/>
          <p:cNvSpPr txBox="1">
            <a:spLocks noChangeArrowheads="1"/>
          </p:cNvSpPr>
          <p:nvPr/>
        </p:nvSpPr>
        <p:spPr bwMode="auto">
          <a:xfrm>
            <a:off x="5029200" y="2365375"/>
            <a:ext cx="46243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2000">
                <a:solidFill>
                  <a:schemeClr val="accent2"/>
                </a:solidFill>
                <a:ea typeface="宋体" panose="02010600030101010101" pitchFamily="2" charset="-122"/>
              </a:rPr>
              <a:t>set of states to which there is a transition on a from a state s in S</a:t>
            </a:r>
            <a:r>
              <a:rPr lang="en-US" altLang="zh-CN" sz="2000" baseline="-25000">
                <a:solidFill>
                  <a:schemeClr val="accent2"/>
                </a:solidFill>
                <a:ea typeface="宋体" panose="02010600030101010101" pitchFamily="2" charset="-122"/>
              </a:rPr>
              <a:t>1</a:t>
            </a:r>
            <a:endParaRPr lang="en-US" altLang="zh-CN" sz="2000">
              <a:solidFill>
                <a:schemeClr val="accent2"/>
              </a:solidFill>
              <a:ea typeface="宋体" panose="02010600030101010101" pitchFamily="2" charset="-122"/>
            </a:endParaRPr>
          </a:p>
        </p:txBody>
      </p:sp>
      <p:sp>
        <p:nvSpPr>
          <p:cNvPr id="281607" name="Line 7"/>
          <p:cNvSpPr>
            <a:spLocks noChangeShapeType="1"/>
          </p:cNvSpPr>
          <p:nvPr/>
        </p:nvSpPr>
        <p:spPr bwMode="auto">
          <a:xfrm flipH="1">
            <a:off x="4394200" y="2708275"/>
            <a:ext cx="919163" cy="16192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1608" name="Text Box 8"/>
          <p:cNvSpPr txBox="1">
            <a:spLocks noChangeArrowheads="1"/>
          </p:cNvSpPr>
          <p:nvPr/>
        </p:nvSpPr>
        <p:spPr bwMode="auto">
          <a:xfrm>
            <a:off x="5240338" y="1557338"/>
            <a:ext cx="44656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2000">
                <a:solidFill>
                  <a:srgbClr val="FF00FF"/>
                </a:solidFill>
                <a:ea typeface="宋体" panose="02010600030101010101" pitchFamily="2" charset="-122"/>
                <a:sym typeface="Symbol" panose="05050102010706020507" pitchFamily="18" charset="2"/>
              </a:rPr>
              <a:t></a:t>
            </a:r>
            <a:r>
              <a:rPr lang="en-US" altLang="zh-CN" sz="2000">
                <a:solidFill>
                  <a:srgbClr val="FF00FF"/>
                </a:solidFill>
                <a:ea typeface="宋体" panose="02010600030101010101" pitchFamily="2" charset="-122"/>
                <a:sym typeface="Wingdings" panose="05000000000000000000" pitchFamily="2" charset="2"/>
              </a:rPr>
              <a:t>-closure({s</a:t>
            </a:r>
            <a:r>
              <a:rPr lang="en-US" altLang="zh-CN" sz="2000" baseline="-25000">
                <a:solidFill>
                  <a:srgbClr val="FF00FF"/>
                </a:solidFill>
                <a:ea typeface="宋体" panose="02010600030101010101" pitchFamily="2" charset="-122"/>
                <a:sym typeface="Wingdings" panose="05000000000000000000" pitchFamily="2" charset="2"/>
              </a:rPr>
              <a:t>0</a:t>
            </a:r>
            <a:r>
              <a:rPr lang="en-US" altLang="zh-CN" sz="2000">
                <a:solidFill>
                  <a:srgbClr val="FF00FF"/>
                </a:solidFill>
                <a:ea typeface="宋体" panose="02010600030101010101" pitchFamily="2" charset="-122"/>
                <a:sym typeface="Wingdings" panose="05000000000000000000" pitchFamily="2" charset="2"/>
              </a:rPr>
              <a:t>}) is the </a:t>
            </a:r>
            <a:r>
              <a:rPr lang="en-US" altLang="zh-CN" sz="2000">
                <a:solidFill>
                  <a:srgbClr val="FF00FF"/>
                </a:solidFill>
                <a:ea typeface="宋体" panose="02010600030101010101" pitchFamily="2" charset="-122"/>
              </a:rPr>
              <a:t>set of all states can be accessible from s</a:t>
            </a:r>
            <a:r>
              <a:rPr lang="en-US" altLang="zh-CN" sz="2000" baseline="-25000">
                <a:solidFill>
                  <a:srgbClr val="FF00FF"/>
                </a:solidFill>
                <a:ea typeface="宋体" panose="02010600030101010101" pitchFamily="2" charset="-122"/>
              </a:rPr>
              <a:t>0</a:t>
            </a:r>
            <a:r>
              <a:rPr lang="en-US" altLang="zh-CN" sz="2000">
                <a:solidFill>
                  <a:srgbClr val="FF00FF"/>
                </a:solidFill>
                <a:ea typeface="宋体" panose="02010600030101010101" pitchFamily="2" charset="-122"/>
              </a:rPr>
              <a:t> by </a:t>
            </a:r>
            <a:r>
              <a:rPr lang="en-US" altLang="zh-CN" sz="2000">
                <a:solidFill>
                  <a:srgbClr val="FF00FF"/>
                </a:solidFill>
                <a:ea typeface="宋体" panose="02010600030101010101" pitchFamily="2" charset="-122"/>
                <a:sym typeface="Symbol" panose="05050102010706020507" pitchFamily="18" charset="2"/>
              </a:rPr>
              <a:t>-</a:t>
            </a:r>
            <a:r>
              <a:rPr lang="en-US" altLang="zh-CN" sz="2000">
                <a:solidFill>
                  <a:srgbClr val="FF00FF"/>
                </a:solidFill>
                <a:ea typeface="宋体" panose="02010600030101010101" pitchFamily="2" charset="-122"/>
              </a:rPr>
              <a:t>transition.</a:t>
            </a:r>
            <a:endParaRPr lang="en-US" altLang="zh-CN" sz="2000" baseline="-25000">
              <a:solidFill>
                <a:srgbClr val="FF00FF"/>
              </a:solidFill>
              <a:ea typeface="宋体" panose="02010600030101010101" pitchFamily="2" charset="-122"/>
            </a:endParaRPr>
          </a:p>
        </p:txBody>
      </p:sp>
      <p:sp>
        <p:nvSpPr>
          <p:cNvPr id="49163" name="Text Box 10"/>
          <p:cNvSpPr txBox="1">
            <a:spLocks noChangeArrowheads="1"/>
          </p:cNvSpPr>
          <p:nvPr/>
        </p:nvSpPr>
        <p:spPr bwMode="auto">
          <a:xfrm>
            <a:off x="4737100" y="4508500"/>
            <a:ext cx="3529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2000" b="0">
                <a:ea typeface="宋体" panose="02010600030101010101" pitchFamily="2" charset="-122"/>
              </a:rPr>
              <a:t>Fig.3.25. the subset construction</a:t>
            </a:r>
          </a:p>
        </p:txBody>
      </p:sp>
      <p:sp>
        <p:nvSpPr>
          <p:cNvPr id="281612" name="Line 12"/>
          <p:cNvSpPr>
            <a:spLocks noChangeShapeType="1"/>
          </p:cNvSpPr>
          <p:nvPr/>
        </p:nvSpPr>
        <p:spPr bwMode="auto">
          <a:xfrm flipH="1" flipV="1">
            <a:off x="2432050" y="1341438"/>
            <a:ext cx="2808288" cy="574675"/>
          </a:xfrm>
          <a:prstGeom prst="line">
            <a:avLst/>
          </a:prstGeom>
          <a:noFill/>
          <a:ln w="2857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afterEffect">
                                  <p:stCondLst>
                                    <p:cond delay="10000"/>
                                  </p:stCondLst>
                                  <p:childTnLst>
                                    <p:set>
                                      <p:cBhvr>
                                        <p:cTn id="6" dur="1" fill="hold">
                                          <p:stCondLst>
                                            <p:cond delay="0"/>
                                          </p:stCondLst>
                                        </p:cTn>
                                        <p:tgtEl>
                                          <p:spTgt spid="281608"/>
                                        </p:tgtEl>
                                        <p:attrNameLst>
                                          <p:attrName>style.visibility</p:attrName>
                                        </p:attrNameLst>
                                      </p:cBhvr>
                                      <p:to>
                                        <p:strVal val="visible"/>
                                      </p:to>
                                    </p:set>
                                    <p:animEffect transition="in" filter="wipe(right)">
                                      <p:cBhvr>
                                        <p:cTn id="7" dur="2000"/>
                                        <p:tgtEl>
                                          <p:spTgt spid="281608"/>
                                        </p:tgtEl>
                                      </p:cBhvr>
                                    </p:animEffect>
                                  </p:childTnLst>
                                </p:cTn>
                              </p:par>
                            </p:childTnLst>
                          </p:cTn>
                        </p:par>
                        <p:par>
                          <p:cTn id="8" fill="hold" nodeType="afterGroup">
                            <p:stCondLst>
                              <p:cond delay="12000"/>
                            </p:stCondLst>
                            <p:childTnLst>
                              <p:par>
                                <p:cTn id="9" presetID="22" presetClass="entr" presetSubtype="2" fill="hold" nodeType="afterEffect">
                                  <p:stCondLst>
                                    <p:cond delay="0"/>
                                  </p:stCondLst>
                                  <p:childTnLst>
                                    <p:set>
                                      <p:cBhvr>
                                        <p:cTn id="10" dur="1" fill="hold">
                                          <p:stCondLst>
                                            <p:cond delay="0"/>
                                          </p:stCondLst>
                                        </p:cTn>
                                        <p:tgtEl>
                                          <p:spTgt spid="281612"/>
                                        </p:tgtEl>
                                        <p:attrNameLst>
                                          <p:attrName>style.visibility</p:attrName>
                                        </p:attrNameLst>
                                      </p:cBhvr>
                                      <p:to>
                                        <p:strVal val="visible"/>
                                      </p:to>
                                    </p:set>
                                    <p:animEffect transition="in" filter="wipe(right)">
                                      <p:cBhvr>
                                        <p:cTn id="11" dur="2000"/>
                                        <p:tgtEl>
                                          <p:spTgt spid="281612"/>
                                        </p:tgtEl>
                                      </p:cBhvr>
                                    </p:animEffect>
                                  </p:childTnLst>
                                </p:cTn>
                              </p:par>
                            </p:childTnLst>
                          </p:cTn>
                        </p:par>
                        <p:par>
                          <p:cTn id="12" fill="hold" nodeType="afterGroup">
                            <p:stCondLst>
                              <p:cond delay="14000"/>
                            </p:stCondLst>
                            <p:childTnLst>
                              <p:par>
                                <p:cTn id="13" presetID="22" presetClass="entr" presetSubtype="2" fill="hold" grpId="0" nodeType="afterEffect">
                                  <p:stCondLst>
                                    <p:cond delay="3000"/>
                                  </p:stCondLst>
                                  <p:childTnLst>
                                    <p:set>
                                      <p:cBhvr>
                                        <p:cTn id="14" dur="1" fill="hold">
                                          <p:stCondLst>
                                            <p:cond delay="0"/>
                                          </p:stCondLst>
                                        </p:cTn>
                                        <p:tgtEl>
                                          <p:spTgt spid="281605"/>
                                        </p:tgtEl>
                                        <p:attrNameLst>
                                          <p:attrName>style.visibility</p:attrName>
                                        </p:attrNameLst>
                                      </p:cBhvr>
                                      <p:to>
                                        <p:strVal val="visible"/>
                                      </p:to>
                                    </p:set>
                                    <p:animEffect transition="in" filter="wipe(right)">
                                      <p:cBhvr>
                                        <p:cTn id="15" dur="2000"/>
                                        <p:tgtEl>
                                          <p:spTgt spid="281605"/>
                                        </p:tgtEl>
                                      </p:cBhvr>
                                    </p:animEffect>
                                  </p:childTnLst>
                                </p:cTn>
                              </p:par>
                            </p:childTnLst>
                          </p:cTn>
                        </p:par>
                        <p:par>
                          <p:cTn id="16" fill="hold" nodeType="afterGroup">
                            <p:stCondLst>
                              <p:cond delay="19000"/>
                            </p:stCondLst>
                            <p:childTnLst>
                              <p:par>
                                <p:cTn id="17" presetID="22" presetClass="entr" presetSubtype="2" fill="hold" nodeType="afterEffect">
                                  <p:stCondLst>
                                    <p:cond delay="0"/>
                                  </p:stCondLst>
                                  <p:childTnLst>
                                    <p:set>
                                      <p:cBhvr>
                                        <p:cTn id="18" dur="1" fill="hold">
                                          <p:stCondLst>
                                            <p:cond delay="0"/>
                                          </p:stCondLst>
                                        </p:cTn>
                                        <p:tgtEl>
                                          <p:spTgt spid="281607"/>
                                        </p:tgtEl>
                                        <p:attrNameLst>
                                          <p:attrName>style.visibility</p:attrName>
                                        </p:attrNameLst>
                                      </p:cBhvr>
                                      <p:to>
                                        <p:strVal val="visible"/>
                                      </p:to>
                                    </p:set>
                                    <p:animEffect transition="in" filter="wipe(right)">
                                      <p:cBhvr>
                                        <p:cTn id="19" dur="3000"/>
                                        <p:tgtEl>
                                          <p:spTgt spid="281607"/>
                                        </p:tgtEl>
                                      </p:cBhvr>
                                    </p:animEffect>
                                  </p:childTnLst>
                                </p:cTn>
                              </p:par>
                            </p:childTnLst>
                          </p:cTn>
                        </p:par>
                        <p:par>
                          <p:cTn id="20" fill="hold" nodeType="afterGroup">
                            <p:stCondLst>
                              <p:cond delay="22000"/>
                            </p:stCondLst>
                            <p:childTnLst>
                              <p:par>
                                <p:cTn id="21" presetID="22" presetClass="entr" presetSubtype="8" fill="hold" nodeType="afterEffect">
                                  <p:stCondLst>
                                    <p:cond delay="20000"/>
                                  </p:stCondLst>
                                  <p:childTnLst>
                                    <p:set>
                                      <p:cBhvr>
                                        <p:cTn id="22" dur="1" fill="hold">
                                          <p:stCondLst>
                                            <p:cond delay="0"/>
                                          </p:stCondLst>
                                        </p:cTn>
                                        <p:tgtEl>
                                          <p:spTgt spid="281603">
                                            <p:txEl>
                                              <p:pRg st="13" end="13"/>
                                            </p:txEl>
                                          </p:spTgt>
                                        </p:tgtEl>
                                        <p:attrNameLst>
                                          <p:attrName>style.visibility</p:attrName>
                                        </p:attrNameLst>
                                      </p:cBhvr>
                                      <p:to>
                                        <p:strVal val="visible"/>
                                      </p:to>
                                    </p:set>
                                    <p:animEffect transition="in" filter="wipe(left)">
                                      <p:cBhvr>
                                        <p:cTn id="23" dur="2000"/>
                                        <p:tgtEl>
                                          <p:spTgt spid="281603">
                                            <p:txEl>
                                              <p:pRg st="13" end="13"/>
                                            </p:txEl>
                                          </p:spTgt>
                                        </p:tgtEl>
                                      </p:cBhvr>
                                    </p:animEffect>
                                  </p:childTnLst>
                                </p:cTn>
                              </p:par>
                            </p:childTnLst>
                          </p:cTn>
                        </p:par>
                        <p:par>
                          <p:cTn id="24" fill="hold" nodeType="afterGroup">
                            <p:stCondLst>
                              <p:cond delay="44000"/>
                            </p:stCondLst>
                            <p:childTnLst>
                              <p:par>
                                <p:cTn id="25" presetID="22" presetClass="entr" presetSubtype="8" fill="hold" nodeType="afterEffect">
                                  <p:stCondLst>
                                    <p:cond delay="3000"/>
                                  </p:stCondLst>
                                  <p:childTnLst>
                                    <p:set>
                                      <p:cBhvr>
                                        <p:cTn id="26" dur="1" fill="hold">
                                          <p:stCondLst>
                                            <p:cond delay="0"/>
                                          </p:stCondLst>
                                        </p:cTn>
                                        <p:tgtEl>
                                          <p:spTgt spid="281603">
                                            <p:txEl>
                                              <p:pRg st="14" end="14"/>
                                            </p:txEl>
                                          </p:spTgt>
                                        </p:tgtEl>
                                        <p:attrNameLst>
                                          <p:attrName>style.visibility</p:attrName>
                                        </p:attrNameLst>
                                      </p:cBhvr>
                                      <p:to>
                                        <p:strVal val="visible"/>
                                      </p:to>
                                    </p:set>
                                    <p:animEffect transition="in" filter="wipe(left)">
                                      <p:cBhvr>
                                        <p:cTn id="27" dur="2000"/>
                                        <p:tgtEl>
                                          <p:spTgt spid="28160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5" grpId="0"/>
      <p:bldP spid="28160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0179"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0180"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332D9AB7-B325-415C-8C56-28AC4616BBB6}" type="slidenum">
              <a:rPr lang="zh-CN" altLang="en-US" sz="800" b="0"/>
              <a:pPr/>
              <a:t>48</a:t>
            </a:fld>
            <a:endParaRPr lang="en-US" altLang="zh-CN" sz="800" b="0"/>
          </a:p>
        </p:txBody>
      </p:sp>
      <p:sp>
        <p:nvSpPr>
          <p:cNvPr id="50181"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mtClean="0">
                <a:ea typeface="宋体" panose="02010600030101010101" pitchFamily="2" charset="-122"/>
              </a:rPr>
              <a:t>Algorithm For Subset Construction (cont.)(P.119)</a:t>
            </a:r>
          </a:p>
        </p:txBody>
      </p:sp>
      <p:sp>
        <p:nvSpPr>
          <p:cNvPr id="50182" name="Text Box 3"/>
          <p:cNvSpPr txBox="1">
            <a:spLocks noChangeArrowheads="1"/>
          </p:cNvSpPr>
          <p:nvPr/>
        </p:nvSpPr>
        <p:spPr bwMode="auto">
          <a:xfrm>
            <a:off x="560388" y="1125538"/>
            <a:ext cx="8502650" cy="538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sym typeface="Symbol" panose="05050102010706020507" pitchFamily="18" charset="2"/>
              </a:rPr>
              <a:t>push all states in T onto stack;</a:t>
            </a:r>
          </a:p>
          <a:p>
            <a:pPr eaLnBrk="1" hangingPunct="1">
              <a:spcBef>
                <a:spcPct val="50000"/>
              </a:spcBef>
            </a:pPr>
            <a:r>
              <a:rPr lang="en-US" altLang="zh-CN" b="0">
                <a:ea typeface="宋体" panose="02010600030101010101" pitchFamily="2" charset="-122"/>
              </a:rPr>
              <a:t>initialize </a:t>
            </a:r>
            <a:r>
              <a:rPr lang="en-US" altLang="zh-CN" b="0">
                <a:ea typeface="宋体" panose="02010600030101010101" pitchFamily="2" charset="-122"/>
                <a:sym typeface="Symbol" panose="05050102010706020507" pitchFamily="18" charset="2"/>
              </a:rPr>
              <a:t>-closure(T) to T;</a:t>
            </a:r>
            <a:endParaRPr lang="en-US" altLang="zh-CN" b="0">
              <a:ea typeface="宋体" panose="02010600030101010101" pitchFamily="2" charset="-122"/>
            </a:endParaRPr>
          </a:p>
          <a:p>
            <a:pPr eaLnBrk="1" hangingPunct="1">
              <a:spcBef>
                <a:spcPct val="50000"/>
              </a:spcBef>
            </a:pPr>
            <a:r>
              <a:rPr lang="en-US" altLang="zh-CN">
                <a:latin typeface="Courier New" panose="02070309020205020404" pitchFamily="49" charset="0"/>
                <a:ea typeface="宋体" panose="02010600030101010101" pitchFamily="2" charset="-122"/>
              </a:rPr>
              <a:t>while</a:t>
            </a:r>
            <a:r>
              <a:rPr lang="en-US" altLang="zh-CN">
                <a:ea typeface="宋体" panose="02010600030101010101" pitchFamily="2" charset="-122"/>
              </a:rPr>
              <a:t> </a:t>
            </a:r>
            <a:r>
              <a:rPr lang="en-US" altLang="zh-CN" b="0">
                <a:ea typeface="宋体" panose="02010600030101010101" pitchFamily="2" charset="-122"/>
              </a:rPr>
              <a:t>stack is not empty</a:t>
            </a:r>
            <a:r>
              <a:rPr lang="en-US" altLang="zh-CN" b="0">
                <a:solidFill>
                  <a:srgbClr val="00CC00"/>
                </a:solidFill>
                <a:ea typeface="宋体" panose="02010600030101010101" pitchFamily="2" charset="-122"/>
                <a:sym typeface="Symbol" panose="05050102010706020507" pitchFamily="18" charset="2"/>
              </a:rPr>
              <a:t>  </a:t>
            </a:r>
            <a:r>
              <a:rPr lang="en-US" altLang="zh-CN">
                <a:latin typeface="Courier New" panose="02070309020205020404" pitchFamily="49" charset="0"/>
                <a:ea typeface="宋体" panose="02010600030101010101" pitchFamily="2" charset="-122"/>
                <a:sym typeface="Symbol" panose="05050102010706020507" pitchFamily="18" charset="2"/>
              </a:rPr>
              <a:t>do begin</a:t>
            </a:r>
            <a:endParaRPr lang="en-US" altLang="zh-CN">
              <a:ea typeface="宋体" panose="02010600030101010101" pitchFamily="2" charset="-122"/>
              <a:sym typeface="Symbol" panose="05050102010706020507" pitchFamily="18" charset="2"/>
            </a:endParaRPr>
          </a:p>
          <a:p>
            <a:pPr eaLnBrk="1" hangingPunct="1">
              <a:spcBef>
                <a:spcPct val="50000"/>
              </a:spcBef>
            </a:pPr>
            <a:r>
              <a:rPr lang="en-US" altLang="zh-CN" b="0">
                <a:ea typeface="宋体" panose="02010600030101010101" pitchFamily="2" charset="-122"/>
                <a:sym typeface="Symbol" panose="05050102010706020507" pitchFamily="18" charset="2"/>
              </a:rPr>
              <a:t>     pop t, the top element, off the stack;</a:t>
            </a:r>
          </a:p>
          <a:p>
            <a:pPr eaLnBrk="1" hangingPunct="1">
              <a:spcBef>
                <a:spcPct val="50000"/>
              </a:spcBef>
            </a:pPr>
            <a:r>
              <a:rPr lang="en-US" altLang="zh-CN" b="0">
                <a:ea typeface="宋体" panose="02010600030101010101" pitchFamily="2" charset="-122"/>
                <a:sym typeface="Symbol" panose="05050102010706020507" pitchFamily="18" charset="2"/>
              </a:rPr>
              <a:t>     </a:t>
            </a:r>
            <a:r>
              <a:rPr lang="en-US" altLang="zh-CN">
                <a:latin typeface="Courier New" panose="02070309020205020404" pitchFamily="49" charset="0"/>
                <a:ea typeface="宋体" panose="02010600030101010101" pitchFamily="2" charset="-122"/>
                <a:sym typeface="Symbol" panose="05050102010706020507" pitchFamily="18" charset="2"/>
              </a:rPr>
              <a:t>for</a:t>
            </a:r>
            <a:r>
              <a:rPr lang="en-US" altLang="zh-CN" b="0">
                <a:latin typeface="Courier New" panose="02070309020205020404" pitchFamily="49" charset="0"/>
                <a:ea typeface="宋体" panose="02010600030101010101" pitchFamily="2" charset="-122"/>
                <a:sym typeface="Symbol" panose="05050102010706020507" pitchFamily="18" charset="2"/>
              </a:rPr>
              <a:t> </a:t>
            </a:r>
            <a:r>
              <a:rPr lang="en-US" altLang="zh-CN" b="0">
                <a:ea typeface="宋体" panose="02010600030101010101" pitchFamily="2" charset="-122"/>
                <a:sym typeface="Symbol" panose="05050102010706020507" pitchFamily="18" charset="2"/>
              </a:rPr>
              <a:t>each   state u with edge from t to u labeled    </a:t>
            </a:r>
            <a:r>
              <a:rPr lang="en-US" altLang="zh-CN">
                <a:latin typeface="Courier New" panose="02070309020205020404" pitchFamily="49" charset="0"/>
                <a:ea typeface="宋体" panose="02010600030101010101" pitchFamily="2" charset="-122"/>
                <a:sym typeface="Symbol" panose="05050102010706020507" pitchFamily="18" charset="2"/>
              </a:rPr>
              <a:t>do</a:t>
            </a:r>
            <a:r>
              <a:rPr lang="en-US" altLang="zh-CN" b="0">
                <a:latin typeface="Courier New" panose="02070309020205020404" pitchFamily="49" charset="0"/>
                <a:ea typeface="宋体" panose="02010600030101010101" pitchFamily="2" charset="-122"/>
                <a:sym typeface="Symbol" panose="05050102010706020507" pitchFamily="18" charset="2"/>
              </a:rPr>
              <a:t> </a:t>
            </a:r>
          </a:p>
          <a:p>
            <a:pPr eaLnBrk="1" hangingPunct="1">
              <a:spcBef>
                <a:spcPct val="50000"/>
              </a:spcBef>
            </a:pPr>
            <a:r>
              <a:rPr lang="en-US" altLang="zh-CN" b="0">
                <a:latin typeface="Courier New" panose="02070309020205020404" pitchFamily="49" charset="0"/>
                <a:ea typeface="宋体" panose="02010600030101010101" pitchFamily="2" charset="-122"/>
                <a:sym typeface="Symbol" panose="05050102010706020507" pitchFamily="18" charset="2"/>
              </a:rPr>
              <a:t>      if </a:t>
            </a:r>
            <a:r>
              <a:rPr lang="en-US" altLang="zh-CN" b="0">
                <a:ea typeface="宋体" panose="02010600030101010101" pitchFamily="2" charset="-122"/>
                <a:sym typeface="Symbol" panose="05050102010706020507" pitchFamily="18" charset="2"/>
              </a:rPr>
              <a:t>u is not in -closure(T)</a:t>
            </a:r>
            <a:r>
              <a:rPr lang="en-US" altLang="zh-CN" b="0">
                <a:solidFill>
                  <a:srgbClr val="00CC00"/>
                </a:solidFill>
                <a:ea typeface="宋体" panose="02010600030101010101" pitchFamily="2" charset="-122"/>
                <a:sym typeface="Symbol" panose="05050102010706020507" pitchFamily="18" charset="2"/>
              </a:rPr>
              <a:t> </a:t>
            </a:r>
            <a:r>
              <a:rPr lang="en-US" altLang="zh-CN" b="0">
                <a:latin typeface="Courier New" panose="02070309020205020404" pitchFamily="49" charset="0"/>
                <a:ea typeface="宋体" panose="02010600030101010101" pitchFamily="2" charset="-122"/>
                <a:sym typeface="Symbol" panose="05050102010706020507" pitchFamily="18" charset="2"/>
              </a:rPr>
              <a:t> </a:t>
            </a:r>
            <a:r>
              <a:rPr lang="en-US" altLang="zh-CN">
                <a:latin typeface="Courier New" panose="02070309020205020404" pitchFamily="49" charset="0"/>
                <a:ea typeface="宋体" panose="02010600030101010101" pitchFamily="2" charset="-122"/>
                <a:sym typeface="Symbol" panose="05050102010706020507" pitchFamily="18" charset="2"/>
              </a:rPr>
              <a:t>do begin</a:t>
            </a:r>
            <a:endParaRPr lang="en-US" altLang="zh-CN">
              <a:ea typeface="宋体" panose="02010600030101010101" pitchFamily="2" charset="-122"/>
              <a:sym typeface="Symbol" panose="05050102010706020507" pitchFamily="18" charset="2"/>
            </a:endParaRPr>
          </a:p>
          <a:p>
            <a:pPr eaLnBrk="1" hangingPunct="1">
              <a:spcBef>
                <a:spcPct val="50000"/>
              </a:spcBef>
            </a:pPr>
            <a:r>
              <a:rPr lang="en-US" altLang="zh-CN" b="0">
                <a:ea typeface="宋体" panose="02010600030101010101" pitchFamily="2" charset="-122"/>
                <a:sym typeface="Symbol" panose="05050102010706020507" pitchFamily="18" charset="2"/>
              </a:rPr>
              <a:t>                     add u to -closure(T) ;</a:t>
            </a:r>
          </a:p>
          <a:p>
            <a:pPr eaLnBrk="1" hangingPunct="1">
              <a:spcBef>
                <a:spcPct val="50000"/>
              </a:spcBef>
            </a:pPr>
            <a:r>
              <a:rPr lang="en-US" altLang="zh-CN" b="0">
                <a:ea typeface="宋体" panose="02010600030101010101" pitchFamily="2" charset="-122"/>
                <a:sym typeface="Symbol" panose="05050102010706020507" pitchFamily="18" charset="2"/>
              </a:rPr>
              <a:t>               </a:t>
            </a:r>
            <a:r>
              <a:rPr lang="en-US" altLang="zh-CN" b="0">
                <a:solidFill>
                  <a:srgbClr val="00CC00"/>
                </a:solidFill>
                <a:ea typeface="宋体" panose="02010600030101010101" pitchFamily="2" charset="-122"/>
                <a:sym typeface="Symbol" panose="05050102010706020507" pitchFamily="18" charset="2"/>
              </a:rPr>
              <a:t>      </a:t>
            </a:r>
            <a:r>
              <a:rPr lang="en-US" altLang="zh-CN" b="0">
                <a:ea typeface="宋体" panose="02010600030101010101" pitchFamily="2" charset="-122"/>
                <a:sym typeface="Symbol" panose="05050102010706020507" pitchFamily="18" charset="2"/>
              </a:rPr>
              <a:t>push u onto stack</a:t>
            </a:r>
          </a:p>
          <a:p>
            <a:pPr eaLnBrk="1" hangingPunct="1">
              <a:spcBef>
                <a:spcPct val="50000"/>
              </a:spcBef>
            </a:pPr>
            <a:r>
              <a:rPr lang="en-US" altLang="zh-CN" b="0">
                <a:ea typeface="宋体" panose="02010600030101010101" pitchFamily="2" charset="-122"/>
                <a:sym typeface="Symbol" panose="05050102010706020507" pitchFamily="18" charset="2"/>
              </a:rPr>
              <a:t>     </a:t>
            </a:r>
            <a:r>
              <a:rPr lang="en-US" altLang="zh-CN">
                <a:latin typeface="Courier New" panose="02070309020205020404" pitchFamily="49" charset="0"/>
                <a:ea typeface="宋体" panose="02010600030101010101" pitchFamily="2" charset="-122"/>
                <a:sym typeface="Symbol" panose="05050102010706020507" pitchFamily="18" charset="2"/>
              </a:rPr>
              <a:t>end</a:t>
            </a:r>
          </a:p>
          <a:p>
            <a:pPr eaLnBrk="1" hangingPunct="1">
              <a:spcBef>
                <a:spcPct val="50000"/>
              </a:spcBef>
            </a:pPr>
            <a:r>
              <a:rPr lang="en-US" altLang="zh-CN">
                <a:latin typeface="Courier New" panose="02070309020205020404" pitchFamily="49" charset="0"/>
                <a:ea typeface="宋体" panose="02010600030101010101" pitchFamily="2" charset="-122"/>
                <a:sym typeface="Symbol" panose="05050102010706020507" pitchFamily="18" charset="2"/>
              </a:rPr>
              <a:t>end</a:t>
            </a:r>
          </a:p>
        </p:txBody>
      </p:sp>
      <p:sp>
        <p:nvSpPr>
          <p:cNvPr id="50183" name="Text Box 4"/>
          <p:cNvSpPr txBox="1">
            <a:spLocks noChangeArrowheads="1"/>
          </p:cNvSpPr>
          <p:nvPr/>
        </p:nvSpPr>
        <p:spPr bwMode="auto">
          <a:xfrm>
            <a:off x="6753225" y="1484313"/>
            <a:ext cx="20558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r>
              <a:rPr lang="en-US" altLang="zh-CN">
                <a:solidFill>
                  <a:srgbClr val="A50021"/>
                </a:solidFill>
                <a:ea typeface="宋体" panose="02010600030101010101" pitchFamily="2" charset="-122"/>
              </a:rPr>
              <a:t>computing the</a:t>
            </a:r>
          </a:p>
          <a:p>
            <a:pPr algn="ctr" eaLnBrk="1" hangingPunct="1"/>
            <a:r>
              <a:rPr lang="en-US" altLang="zh-CN">
                <a:solidFill>
                  <a:srgbClr val="A50021"/>
                </a:solidFill>
                <a:ea typeface="宋体" panose="02010600030101010101" pitchFamily="2" charset="-122"/>
                <a:sym typeface="Symbol" panose="05050102010706020507" pitchFamily="18" charset="2"/>
              </a:rPr>
              <a:t>-closure</a:t>
            </a:r>
          </a:p>
        </p:txBody>
      </p:sp>
      <p:sp>
        <p:nvSpPr>
          <p:cNvPr id="50184" name="Text Box 5"/>
          <p:cNvSpPr txBox="1">
            <a:spLocks noChangeArrowheads="1"/>
          </p:cNvSpPr>
          <p:nvPr/>
        </p:nvSpPr>
        <p:spPr bwMode="auto">
          <a:xfrm>
            <a:off x="3513138" y="5949950"/>
            <a:ext cx="5256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b="0">
                <a:ea typeface="宋体" panose="02010600030101010101" pitchFamily="2" charset="-122"/>
              </a:rPr>
              <a:t>Fig.3.26. computation of </a:t>
            </a:r>
            <a:r>
              <a:rPr lang="en-US" altLang="zh-CN" b="0">
                <a:ea typeface="宋体" panose="02010600030101010101" pitchFamily="2" charset="-122"/>
                <a:sym typeface="Symbol" panose="05050102010706020507" pitchFamily="18" charset="2"/>
              </a:rPr>
              <a:t>-closure.</a:t>
            </a:r>
          </a:p>
        </p:txBody>
      </p:sp>
    </p:spTree>
  </p:cSld>
  <p:clrMapOvr>
    <a:masterClrMapping/>
  </p:clrMapOvr>
  <p:transition>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1203"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1204"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8E0E497-A099-44F8-9E8D-577B18DD2864}" type="slidenum">
              <a:rPr lang="zh-CN" altLang="en-US" sz="800" b="0"/>
              <a:pPr/>
              <a:t>49</a:t>
            </a:fld>
            <a:endParaRPr lang="en-US" altLang="zh-CN" sz="800" b="0"/>
          </a:p>
        </p:txBody>
      </p:sp>
      <p:sp>
        <p:nvSpPr>
          <p:cNvPr id="51205"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z="2800" smtClean="0">
                <a:ea typeface="宋体" panose="02010600030101010101" pitchFamily="2" charset="-122"/>
              </a:rPr>
              <a:t>Converting NFA to DFA – 1</a:t>
            </a:r>
            <a:r>
              <a:rPr lang="en-US" altLang="zh-CN" sz="2800" baseline="30000" smtClean="0">
                <a:ea typeface="宋体" panose="02010600030101010101" pitchFamily="2" charset="-122"/>
              </a:rPr>
              <a:t>st</a:t>
            </a:r>
            <a:r>
              <a:rPr lang="en-US" altLang="zh-CN" sz="2800" smtClean="0">
                <a:ea typeface="宋体" panose="02010600030101010101" pitchFamily="2" charset="-122"/>
              </a:rPr>
              <a:t> Look (Example3.15  P.119)</a:t>
            </a:r>
          </a:p>
        </p:txBody>
      </p:sp>
      <p:sp>
        <p:nvSpPr>
          <p:cNvPr id="51206" name="Text Box 46"/>
          <p:cNvSpPr txBox="1">
            <a:spLocks noChangeArrowheads="1"/>
          </p:cNvSpPr>
          <p:nvPr/>
        </p:nvSpPr>
        <p:spPr bwMode="auto">
          <a:xfrm>
            <a:off x="560388" y="4941888"/>
            <a:ext cx="9097962"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en-US" altLang="zh-CN" b="0">
                <a:ea typeface="宋体" panose="02010600030101010101" pitchFamily="2" charset="-122"/>
              </a:rPr>
              <a:t>From State 0, Where can we move without consuming any input ?</a:t>
            </a:r>
          </a:p>
          <a:p>
            <a:pPr eaLnBrk="1" hangingPunct="1">
              <a:spcBef>
                <a:spcPct val="50000"/>
              </a:spcBef>
            </a:pPr>
            <a:r>
              <a:rPr lang="en-US" altLang="zh-CN" b="0">
                <a:ea typeface="宋体" panose="02010600030101010101" pitchFamily="2" charset="-122"/>
              </a:rPr>
              <a:t>This forms a new state: 0,1,2,4,7    What transitions are defined for this new state ?</a:t>
            </a:r>
          </a:p>
        </p:txBody>
      </p:sp>
      <p:grpSp>
        <p:nvGrpSpPr>
          <p:cNvPr id="467046" name="Group 102"/>
          <p:cNvGrpSpPr>
            <a:grpSpLocks/>
          </p:cNvGrpSpPr>
          <p:nvPr/>
        </p:nvGrpSpPr>
        <p:grpSpPr bwMode="auto">
          <a:xfrm>
            <a:off x="128588" y="1295400"/>
            <a:ext cx="9517062" cy="3308350"/>
            <a:chOff x="81" y="816"/>
            <a:chExt cx="5995" cy="2084"/>
          </a:xfrm>
        </p:grpSpPr>
        <p:grpSp>
          <p:nvGrpSpPr>
            <p:cNvPr id="51209" name="Group 49"/>
            <p:cNvGrpSpPr>
              <a:grpSpLocks/>
            </p:cNvGrpSpPr>
            <p:nvPr/>
          </p:nvGrpSpPr>
          <p:grpSpPr bwMode="auto">
            <a:xfrm>
              <a:off x="5660" y="1640"/>
              <a:ext cx="416" cy="384"/>
              <a:chOff x="1488" y="2880"/>
              <a:chExt cx="384" cy="384"/>
            </a:xfrm>
          </p:grpSpPr>
          <p:sp>
            <p:nvSpPr>
              <p:cNvPr id="51259" name="Oval 50"/>
              <p:cNvSpPr>
                <a:spLocks noChangeArrowheads="1"/>
              </p:cNvSpPr>
              <p:nvPr/>
            </p:nvSpPr>
            <p:spPr bwMode="auto">
              <a:xfrm>
                <a:off x="1488" y="2880"/>
                <a:ext cx="384"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60" name="Oval 51"/>
              <p:cNvSpPr>
                <a:spLocks noChangeArrowheads="1"/>
              </p:cNvSpPr>
              <p:nvPr/>
            </p:nvSpPr>
            <p:spPr bwMode="auto">
              <a:xfrm>
                <a:off x="1536" y="2928"/>
                <a:ext cx="288" cy="288"/>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51210" name="Oval 52"/>
            <p:cNvSpPr>
              <a:spLocks noChangeArrowheads="1"/>
            </p:cNvSpPr>
            <p:nvPr/>
          </p:nvSpPr>
          <p:spPr bwMode="auto">
            <a:xfrm>
              <a:off x="1947" y="2208"/>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1" name="Oval 53"/>
            <p:cNvSpPr>
              <a:spLocks noChangeArrowheads="1"/>
            </p:cNvSpPr>
            <p:nvPr/>
          </p:nvSpPr>
          <p:spPr bwMode="auto">
            <a:xfrm>
              <a:off x="1895" y="1152"/>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2" name="Oval 54"/>
            <p:cNvSpPr>
              <a:spLocks noChangeArrowheads="1"/>
            </p:cNvSpPr>
            <p:nvPr/>
          </p:nvSpPr>
          <p:spPr bwMode="auto">
            <a:xfrm>
              <a:off x="5120" y="1680"/>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3" name="Oval 55"/>
            <p:cNvSpPr>
              <a:spLocks noChangeArrowheads="1"/>
            </p:cNvSpPr>
            <p:nvPr/>
          </p:nvSpPr>
          <p:spPr bwMode="auto">
            <a:xfrm>
              <a:off x="4548" y="1680"/>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4" name="Oval 56"/>
            <p:cNvSpPr>
              <a:spLocks noChangeArrowheads="1"/>
            </p:cNvSpPr>
            <p:nvPr/>
          </p:nvSpPr>
          <p:spPr bwMode="auto">
            <a:xfrm>
              <a:off x="2779" y="2208"/>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5" name="Oval 57"/>
            <p:cNvSpPr>
              <a:spLocks noChangeArrowheads="1"/>
            </p:cNvSpPr>
            <p:nvPr/>
          </p:nvSpPr>
          <p:spPr bwMode="auto">
            <a:xfrm>
              <a:off x="3299" y="1680"/>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6" name="Oval 58"/>
            <p:cNvSpPr>
              <a:spLocks noChangeArrowheads="1"/>
            </p:cNvSpPr>
            <p:nvPr/>
          </p:nvSpPr>
          <p:spPr bwMode="auto">
            <a:xfrm>
              <a:off x="2779" y="1152"/>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7" name="Oval 59"/>
            <p:cNvSpPr>
              <a:spLocks noChangeArrowheads="1"/>
            </p:cNvSpPr>
            <p:nvPr/>
          </p:nvSpPr>
          <p:spPr bwMode="auto">
            <a:xfrm>
              <a:off x="653" y="1680"/>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8" name="Oval 60"/>
            <p:cNvSpPr>
              <a:spLocks noChangeArrowheads="1"/>
            </p:cNvSpPr>
            <p:nvPr/>
          </p:nvSpPr>
          <p:spPr bwMode="auto">
            <a:xfrm>
              <a:off x="3924" y="1680"/>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19" name="Oval 61"/>
            <p:cNvSpPr>
              <a:spLocks noChangeArrowheads="1"/>
            </p:cNvSpPr>
            <p:nvPr/>
          </p:nvSpPr>
          <p:spPr bwMode="auto">
            <a:xfrm>
              <a:off x="1333" y="1680"/>
              <a:ext cx="416" cy="384"/>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1220" name="Line 62"/>
            <p:cNvSpPr>
              <a:spLocks noChangeShapeType="1"/>
            </p:cNvSpPr>
            <p:nvPr/>
          </p:nvSpPr>
          <p:spPr bwMode="auto">
            <a:xfrm>
              <a:off x="1697" y="2016"/>
              <a:ext cx="289" cy="235"/>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1" name="Line 63"/>
            <p:cNvSpPr>
              <a:spLocks noChangeShapeType="1"/>
            </p:cNvSpPr>
            <p:nvPr/>
          </p:nvSpPr>
          <p:spPr bwMode="auto">
            <a:xfrm>
              <a:off x="2363" y="2400"/>
              <a:ext cx="416" cy="0"/>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2" name="Line 64"/>
            <p:cNvSpPr>
              <a:spLocks noChangeShapeType="1"/>
            </p:cNvSpPr>
            <p:nvPr/>
          </p:nvSpPr>
          <p:spPr bwMode="auto">
            <a:xfrm flipV="1">
              <a:off x="3143" y="2016"/>
              <a:ext cx="208" cy="288"/>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3" name="Line 65"/>
            <p:cNvSpPr>
              <a:spLocks noChangeShapeType="1"/>
            </p:cNvSpPr>
            <p:nvPr/>
          </p:nvSpPr>
          <p:spPr bwMode="auto">
            <a:xfrm>
              <a:off x="185" y="1872"/>
              <a:ext cx="468" cy="0"/>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4" name="Line 66"/>
            <p:cNvSpPr>
              <a:spLocks noChangeShapeType="1"/>
            </p:cNvSpPr>
            <p:nvPr/>
          </p:nvSpPr>
          <p:spPr bwMode="auto">
            <a:xfrm flipV="1">
              <a:off x="1079" y="1872"/>
              <a:ext cx="254" cy="16"/>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5" name="Line 67"/>
            <p:cNvSpPr>
              <a:spLocks noChangeShapeType="1"/>
            </p:cNvSpPr>
            <p:nvPr/>
          </p:nvSpPr>
          <p:spPr bwMode="auto">
            <a:xfrm flipV="1">
              <a:off x="1697" y="1525"/>
              <a:ext cx="243" cy="203"/>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6" name="Line 68"/>
            <p:cNvSpPr>
              <a:spLocks noChangeShapeType="1"/>
            </p:cNvSpPr>
            <p:nvPr/>
          </p:nvSpPr>
          <p:spPr bwMode="auto">
            <a:xfrm>
              <a:off x="2311" y="1344"/>
              <a:ext cx="468" cy="0"/>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7" name="Line 69"/>
            <p:cNvSpPr>
              <a:spLocks noChangeShapeType="1"/>
            </p:cNvSpPr>
            <p:nvPr/>
          </p:nvSpPr>
          <p:spPr bwMode="auto">
            <a:xfrm>
              <a:off x="3143" y="1440"/>
              <a:ext cx="260" cy="288"/>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8" name="Line 70"/>
            <p:cNvSpPr>
              <a:spLocks noChangeShapeType="1"/>
            </p:cNvSpPr>
            <p:nvPr/>
          </p:nvSpPr>
          <p:spPr bwMode="auto">
            <a:xfrm flipV="1">
              <a:off x="3716" y="1872"/>
              <a:ext cx="208" cy="0"/>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9" name="Line 71"/>
            <p:cNvSpPr>
              <a:spLocks noChangeShapeType="1"/>
            </p:cNvSpPr>
            <p:nvPr/>
          </p:nvSpPr>
          <p:spPr bwMode="auto">
            <a:xfrm>
              <a:off x="4340" y="1872"/>
              <a:ext cx="208" cy="0"/>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30" name="Line 72"/>
            <p:cNvSpPr>
              <a:spLocks noChangeShapeType="1"/>
            </p:cNvSpPr>
            <p:nvPr/>
          </p:nvSpPr>
          <p:spPr bwMode="auto">
            <a:xfrm>
              <a:off x="4964" y="1872"/>
              <a:ext cx="156" cy="0"/>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31" name="Line 73"/>
            <p:cNvSpPr>
              <a:spLocks noChangeShapeType="1"/>
            </p:cNvSpPr>
            <p:nvPr/>
          </p:nvSpPr>
          <p:spPr bwMode="auto">
            <a:xfrm>
              <a:off x="5524" y="1842"/>
              <a:ext cx="151" cy="5"/>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51232" name="AutoShape 74"/>
            <p:cNvCxnSpPr>
              <a:cxnSpLocks noChangeShapeType="1"/>
              <a:stCxn id="51217" idx="4"/>
              <a:endCxn id="51218" idx="4"/>
            </p:cNvCxnSpPr>
            <p:nvPr/>
          </p:nvCxnSpPr>
          <p:spPr bwMode="auto">
            <a:xfrm rot="16200000" flipH="1">
              <a:off x="2496" y="429"/>
              <a:ext cx="1" cy="3271"/>
            </a:xfrm>
            <a:prstGeom prst="curvedConnector3">
              <a:avLst>
                <a:gd name="adj1" fmla="val 85500000"/>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233" name="AutoShape 75"/>
            <p:cNvCxnSpPr>
              <a:cxnSpLocks noChangeShapeType="1"/>
              <a:stCxn id="51215" idx="0"/>
              <a:endCxn id="51219" idx="0"/>
            </p:cNvCxnSpPr>
            <p:nvPr/>
          </p:nvCxnSpPr>
          <p:spPr bwMode="auto">
            <a:xfrm rot="-5400000" flipH="1" flipV="1">
              <a:off x="2523" y="698"/>
              <a:ext cx="1" cy="1966"/>
            </a:xfrm>
            <a:prstGeom prst="curvedConnector3">
              <a:avLst>
                <a:gd name="adj1" fmla="val -86400000"/>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234" name="Text Box 76"/>
            <p:cNvSpPr txBox="1">
              <a:spLocks noChangeArrowheads="1"/>
            </p:cNvSpPr>
            <p:nvPr/>
          </p:nvSpPr>
          <p:spPr bwMode="auto">
            <a:xfrm>
              <a:off x="757" y="1776"/>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0</a:t>
              </a:r>
            </a:p>
          </p:txBody>
        </p:sp>
        <p:sp>
          <p:nvSpPr>
            <p:cNvPr id="51235" name="Text Box 77"/>
            <p:cNvSpPr txBox="1">
              <a:spLocks noChangeArrowheads="1"/>
            </p:cNvSpPr>
            <p:nvPr/>
          </p:nvSpPr>
          <p:spPr bwMode="auto">
            <a:xfrm>
              <a:off x="1437" y="1776"/>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a:t>
              </a:r>
            </a:p>
          </p:txBody>
        </p:sp>
        <p:sp>
          <p:nvSpPr>
            <p:cNvPr id="51236" name="Text Box 78"/>
            <p:cNvSpPr txBox="1">
              <a:spLocks noChangeArrowheads="1"/>
            </p:cNvSpPr>
            <p:nvPr/>
          </p:nvSpPr>
          <p:spPr bwMode="auto">
            <a:xfrm>
              <a:off x="1999" y="1248"/>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2</a:t>
              </a:r>
            </a:p>
          </p:txBody>
        </p:sp>
        <p:sp>
          <p:nvSpPr>
            <p:cNvPr id="51237" name="Text Box 79"/>
            <p:cNvSpPr txBox="1">
              <a:spLocks noChangeArrowheads="1"/>
            </p:cNvSpPr>
            <p:nvPr/>
          </p:nvSpPr>
          <p:spPr bwMode="auto">
            <a:xfrm>
              <a:off x="2883" y="1248"/>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3</a:t>
              </a:r>
            </a:p>
          </p:txBody>
        </p:sp>
        <p:sp>
          <p:nvSpPr>
            <p:cNvPr id="51238" name="Text Box 80"/>
            <p:cNvSpPr txBox="1">
              <a:spLocks noChangeArrowheads="1"/>
            </p:cNvSpPr>
            <p:nvPr/>
          </p:nvSpPr>
          <p:spPr bwMode="auto">
            <a:xfrm>
              <a:off x="2883" y="2304"/>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5</a:t>
              </a:r>
            </a:p>
          </p:txBody>
        </p:sp>
        <p:sp>
          <p:nvSpPr>
            <p:cNvPr id="51239" name="Text Box 81"/>
            <p:cNvSpPr txBox="1">
              <a:spLocks noChangeArrowheads="1"/>
            </p:cNvSpPr>
            <p:nvPr/>
          </p:nvSpPr>
          <p:spPr bwMode="auto">
            <a:xfrm>
              <a:off x="2051" y="2304"/>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4</a:t>
              </a:r>
            </a:p>
          </p:txBody>
        </p:sp>
        <p:sp>
          <p:nvSpPr>
            <p:cNvPr id="51240" name="Text Box 82"/>
            <p:cNvSpPr txBox="1">
              <a:spLocks noChangeArrowheads="1"/>
            </p:cNvSpPr>
            <p:nvPr/>
          </p:nvSpPr>
          <p:spPr bwMode="auto">
            <a:xfrm>
              <a:off x="3403" y="1776"/>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6</a:t>
              </a:r>
            </a:p>
          </p:txBody>
        </p:sp>
        <p:sp>
          <p:nvSpPr>
            <p:cNvPr id="51241" name="Text Box 83"/>
            <p:cNvSpPr txBox="1">
              <a:spLocks noChangeArrowheads="1"/>
            </p:cNvSpPr>
            <p:nvPr/>
          </p:nvSpPr>
          <p:spPr bwMode="auto">
            <a:xfrm>
              <a:off x="4028" y="1776"/>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7</a:t>
              </a:r>
            </a:p>
          </p:txBody>
        </p:sp>
        <p:sp>
          <p:nvSpPr>
            <p:cNvPr id="51242" name="Text Box 84"/>
            <p:cNvSpPr txBox="1">
              <a:spLocks noChangeArrowheads="1"/>
            </p:cNvSpPr>
            <p:nvPr/>
          </p:nvSpPr>
          <p:spPr bwMode="auto">
            <a:xfrm>
              <a:off x="4652" y="1776"/>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8</a:t>
              </a:r>
            </a:p>
          </p:txBody>
        </p:sp>
        <p:sp>
          <p:nvSpPr>
            <p:cNvPr id="51243" name="Text Box 85"/>
            <p:cNvSpPr txBox="1">
              <a:spLocks noChangeArrowheads="1"/>
            </p:cNvSpPr>
            <p:nvPr/>
          </p:nvSpPr>
          <p:spPr bwMode="auto">
            <a:xfrm>
              <a:off x="5224" y="1776"/>
              <a:ext cx="2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9</a:t>
              </a:r>
            </a:p>
          </p:txBody>
        </p:sp>
        <p:sp>
          <p:nvSpPr>
            <p:cNvPr id="51244" name="Text Box 86"/>
            <p:cNvSpPr txBox="1">
              <a:spLocks noChangeArrowheads="1"/>
            </p:cNvSpPr>
            <p:nvPr/>
          </p:nvSpPr>
          <p:spPr bwMode="auto">
            <a:xfrm>
              <a:off x="5712" y="1736"/>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rPr>
                <a:t>10</a:t>
              </a:r>
            </a:p>
          </p:txBody>
        </p:sp>
        <p:sp>
          <p:nvSpPr>
            <p:cNvPr id="51245" name="Text Box 87"/>
            <p:cNvSpPr txBox="1">
              <a:spLocks noChangeArrowheads="1"/>
            </p:cNvSpPr>
            <p:nvPr/>
          </p:nvSpPr>
          <p:spPr bwMode="auto">
            <a:xfrm>
              <a:off x="988" y="1661"/>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46" name="Text Box 88"/>
            <p:cNvSpPr txBox="1">
              <a:spLocks noChangeArrowheads="1"/>
            </p:cNvSpPr>
            <p:nvPr/>
          </p:nvSpPr>
          <p:spPr bwMode="auto">
            <a:xfrm>
              <a:off x="1645" y="1440"/>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47" name="Text Box 89"/>
            <p:cNvSpPr txBox="1">
              <a:spLocks noChangeArrowheads="1"/>
            </p:cNvSpPr>
            <p:nvPr/>
          </p:nvSpPr>
          <p:spPr bwMode="auto">
            <a:xfrm>
              <a:off x="1697" y="2112"/>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48" name="Text Box 90"/>
            <p:cNvSpPr txBox="1">
              <a:spLocks noChangeArrowheads="1"/>
            </p:cNvSpPr>
            <p:nvPr/>
          </p:nvSpPr>
          <p:spPr bwMode="auto">
            <a:xfrm>
              <a:off x="2354" y="2688"/>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49" name="Text Box 91"/>
            <p:cNvSpPr txBox="1">
              <a:spLocks noChangeArrowheads="1"/>
            </p:cNvSpPr>
            <p:nvPr/>
          </p:nvSpPr>
          <p:spPr bwMode="auto">
            <a:xfrm>
              <a:off x="2349" y="816"/>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50" name="Text Box 92"/>
            <p:cNvSpPr txBox="1">
              <a:spLocks noChangeArrowheads="1"/>
            </p:cNvSpPr>
            <p:nvPr/>
          </p:nvSpPr>
          <p:spPr bwMode="auto">
            <a:xfrm>
              <a:off x="3143" y="1392"/>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51" name="Text Box 93"/>
            <p:cNvSpPr txBox="1">
              <a:spLocks noChangeArrowheads="1"/>
            </p:cNvSpPr>
            <p:nvPr/>
          </p:nvSpPr>
          <p:spPr bwMode="auto">
            <a:xfrm>
              <a:off x="3143" y="2112"/>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52" name="Text Box 94"/>
            <p:cNvSpPr txBox="1">
              <a:spLocks noChangeArrowheads="1"/>
            </p:cNvSpPr>
            <p:nvPr/>
          </p:nvSpPr>
          <p:spPr bwMode="auto">
            <a:xfrm>
              <a:off x="3664" y="1632"/>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zh-CN" altLang="en-US" sz="1600">
                  <a:ea typeface="宋体" panose="02010600030101010101" pitchFamily="2" charset="-122"/>
                  <a:sym typeface="Symbol" panose="05050102010706020507" pitchFamily="18" charset="2"/>
                </a:rPr>
                <a:t></a:t>
              </a:r>
              <a:endParaRPr lang="zh-CN" altLang="en-US" sz="1600">
                <a:ea typeface="宋体" panose="02010600030101010101" pitchFamily="2" charset="-122"/>
              </a:endParaRPr>
            </a:p>
          </p:txBody>
        </p:sp>
        <p:sp>
          <p:nvSpPr>
            <p:cNvPr id="51253" name="Text Box 95"/>
            <p:cNvSpPr txBox="1">
              <a:spLocks noChangeArrowheads="1"/>
            </p:cNvSpPr>
            <p:nvPr/>
          </p:nvSpPr>
          <p:spPr bwMode="auto">
            <a:xfrm>
              <a:off x="4288" y="1632"/>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sym typeface="Symbol" panose="05050102010706020507" pitchFamily="18" charset="2"/>
                </a:rPr>
                <a:t>a</a:t>
              </a:r>
              <a:endParaRPr lang="en-US" altLang="zh-CN" sz="1600">
                <a:ea typeface="宋体" panose="02010600030101010101" pitchFamily="2" charset="-122"/>
              </a:endParaRPr>
            </a:p>
          </p:txBody>
        </p:sp>
        <p:sp>
          <p:nvSpPr>
            <p:cNvPr id="51254" name="Text Box 96"/>
            <p:cNvSpPr txBox="1">
              <a:spLocks noChangeArrowheads="1"/>
            </p:cNvSpPr>
            <p:nvPr/>
          </p:nvSpPr>
          <p:spPr bwMode="auto">
            <a:xfrm>
              <a:off x="2363" y="1152"/>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sym typeface="Symbol" panose="05050102010706020507" pitchFamily="18" charset="2"/>
                </a:rPr>
                <a:t>a</a:t>
              </a:r>
              <a:endParaRPr lang="en-US" altLang="zh-CN" sz="1600">
                <a:ea typeface="宋体" panose="02010600030101010101" pitchFamily="2" charset="-122"/>
              </a:endParaRPr>
            </a:p>
          </p:txBody>
        </p:sp>
        <p:sp>
          <p:nvSpPr>
            <p:cNvPr id="51255" name="Text Box 97"/>
            <p:cNvSpPr txBox="1">
              <a:spLocks noChangeArrowheads="1"/>
            </p:cNvSpPr>
            <p:nvPr/>
          </p:nvSpPr>
          <p:spPr bwMode="auto">
            <a:xfrm>
              <a:off x="2415" y="2208"/>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sym typeface="Symbol" panose="05050102010706020507" pitchFamily="18" charset="2"/>
                </a:rPr>
                <a:t>b</a:t>
              </a:r>
              <a:endParaRPr lang="en-US" altLang="zh-CN" sz="1600">
                <a:ea typeface="宋体" panose="02010600030101010101" pitchFamily="2" charset="-122"/>
              </a:endParaRPr>
            </a:p>
          </p:txBody>
        </p:sp>
        <p:sp>
          <p:nvSpPr>
            <p:cNvPr id="51256" name="Text Box 98"/>
            <p:cNvSpPr txBox="1">
              <a:spLocks noChangeArrowheads="1"/>
            </p:cNvSpPr>
            <p:nvPr/>
          </p:nvSpPr>
          <p:spPr bwMode="auto">
            <a:xfrm>
              <a:off x="4912" y="1632"/>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sym typeface="Symbol" panose="05050102010706020507" pitchFamily="18" charset="2"/>
                </a:rPr>
                <a:t>b</a:t>
              </a:r>
              <a:endParaRPr lang="en-US" altLang="zh-CN" sz="1600">
                <a:ea typeface="宋体" panose="02010600030101010101" pitchFamily="2" charset="-122"/>
              </a:endParaRPr>
            </a:p>
          </p:txBody>
        </p:sp>
        <p:sp>
          <p:nvSpPr>
            <p:cNvPr id="51257" name="Text Box 99"/>
            <p:cNvSpPr txBox="1">
              <a:spLocks noChangeArrowheads="1"/>
            </p:cNvSpPr>
            <p:nvPr/>
          </p:nvSpPr>
          <p:spPr bwMode="auto">
            <a:xfrm>
              <a:off x="5439" y="1630"/>
              <a:ext cx="3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sym typeface="Symbol" panose="05050102010706020507" pitchFamily="18" charset="2"/>
                </a:rPr>
                <a:t>b</a:t>
              </a:r>
              <a:endParaRPr lang="en-US" altLang="zh-CN" sz="1600">
                <a:ea typeface="宋体" panose="02010600030101010101" pitchFamily="2" charset="-122"/>
              </a:endParaRPr>
            </a:p>
          </p:txBody>
        </p:sp>
        <p:sp>
          <p:nvSpPr>
            <p:cNvPr id="51258" name="Text Box 100"/>
            <p:cNvSpPr txBox="1">
              <a:spLocks noChangeArrowheads="1"/>
            </p:cNvSpPr>
            <p:nvPr/>
          </p:nvSpPr>
          <p:spPr bwMode="auto">
            <a:xfrm>
              <a:off x="81" y="1680"/>
              <a:ext cx="5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600">
                  <a:ea typeface="宋体" panose="02010600030101010101" pitchFamily="2" charset="-122"/>
                  <a:sym typeface="Symbol" panose="05050102010706020507" pitchFamily="18" charset="2"/>
                </a:rPr>
                <a:t>start</a:t>
              </a:r>
              <a:endParaRPr lang="en-US" altLang="zh-CN" sz="1600">
                <a:ea typeface="宋体" panose="02010600030101010101" pitchFamily="2" charset="-122"/>
              </a:endParaRPr>
            </a:p>
          </p:txBody>
        </p:sp>
      </p:grpSp>
      <p:sp>
        <p:nvSpPr>
          <p:cNvPr id="51208" name="Text Box 101"/>
          <p:cNvSpPr txBox="1">
            <a:spLocks noChangeArrowheads="1"/>
          </p:cNvSpPr>
          <p:nvPr/>
        </p:nvSpPr>
        <p:spPr bwMode="auto">
          <a:xfrm>
            <a:off x="1065213" y="1052513"/>
            <a:ext cx="8502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r>
              <a:rPr lang="en-US" altLang="zh-CN">
                <a:ea typeface="宋体" panose="02010600030101010101" pitchFamily="2" charset="-122"/>
              </a:rPr>
              <a:t>Start with NFA:                                                 </a:t>
            </a:r>
            <a:r>
              <a:rPr lang="en-US" altLang="zh-CN">
                <a:solidFill>
                  <a:srgbClr val="FF6699"/>
                </a:solidFill>
                <a:ea typeface="宋体" panose="02010600030101010101" pitchFamily="2" charset="-122"/>
              </a:rPr>
              <a:t>(a | b)*abb</a:t>
            </a:r>
            <a:endParaRPr lang="en-US" altLang="zh-CN">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5000"/>
                                  </p:stCondLst>
                                  <p:childTnLst>
                                    <p:set>
                                      <p:cBhvr>
                                        <p:cTn id="6" dur="1" fill="hold">
                                          <p:stCondLst>
                                            <p:cond delay="0"/>
                                          </p:stCondLst>
                                        </p:cTn>
                                        <p:tgtEl>
                                          <p:spTgt spid="467046"/>
                                        </p:tgtEl>
                                        <p:attrNameLst>
                                          <p:attrName>style.visibility</p:attrName>
                                        </p:attrNameLst>
                                      </p:cBhvr>
                                      <p:to>
                                        <p:strVal val="visible"/>
                                      </p:to>
                                    </p:set>
                                    <p:animEffect transition="in" filter="wipe(left)">
                                      <p:cBhvr>
                                        <p:cTn id="7" dur="3000"/>
                                        <p:tgtEl>
                                          <p:spTgt spid="467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2227"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2228"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001EE5F1-1A2B-46B5-B47B-4A9134162B4B}" type="slidenum">
              <a:rPr lang="zh-CN" altLang="en-US" sz="800" b="0"/>
              <a:pPr/>
              <a:t>50</a:t>
            </a:fld>
            <a:endParaRPr lang="en-US" altLang="zh-CN" sz="800" b="0"/>
          </a:p>
        </p:txBody>
      </p:sp>
      <p:sp>
        <p:nvSpPr>
          <p:cNvPr id="52229" name="Rectangle 2"/>
          <p:cNvSpPr>
            <a:spLocks noGrp="1" noChangeArrowheads="1"/>
          </p:cNvSpPr>
          <p:nvPr>
            <p:ph type="title"/>
          </p:nvPr>
        </p:nvSpPr>
        <p:spPr>
          <a:xfrm>
            <a:off x="304800" y="0"/>
            <a:ext cx="9372600" cy="914400"/>
          </a:xfrm>
        </p:spPr>
        <p:txBody>
          <a:bodyPr/>
          <a:lstStyle/>
          <a:p>
            <a:r>
              <a:rPr lang="en-US" altLang="zh-CN" smtClean="0">
                <a:ea typeface="宋体" panose="02010600030101010101" pitchFamily="2" charset="-122"/>
              </a:rPr>
              <a:t>Converting a NFA into a DFA (calculate </a:t>
            </a:r>
            <a:r>
              <a:rPr lang="en-US" altLang="zh-CN" smtClean="0">
                <a:solidFill>
                  <a:schemeClr val="tx1"/>
                </a:solidFill>
                <a:ea typeface="宋体" panose="02010600030101010101" pitchFamily="2" charset="-122"/>
                <a:sym typeface="Symbol" panose="05050102010706020507" pitchFamily="18" charset="2"/>
              </a:rPr>
              <a:t></a:t>
            </a:r>
            <a:r>
              <a:rPr lang="en-US" altLang="zh-CN" smtClean="0">
                <a:solidFill>
                  <a:schemeClr val="tx1"/>
                </a:solidFill>
                <a:ea typeface="宋体" panose="02010600030101010101" pitchFamily="2" charset="-122"/>
                <a:sym typeface="Wingdings" panose="05000000000000000000" pitchFamily="2" charset="2"/>
              </a:rPr>
              <a:t>-closure</a:t>
            </a:r>
            <a:r>
              <a:rPr lang="en-US" altLang="zh-CN" smtClean="0">
                <a:ea typeface="宋体" panose="02010600030101010101" pitchFamily="2" charset="-122"/>
              </a:rPr>
              <a:t> )</a:t>
            </a:r>
          </a:p>
        </p:txBody>
      </p:sp>
      <p:sp>
        <p:nvSpPr>
          <p:cNvPr id="52230" name="Text Box 48"/>
          <p:cNvSpPr txBox="1">
            <a:spLocks noChangeArrowheads="1"/>
          </p:cNvSpPr>
          <p:nvPr/>
        </p:nvSpPr>
        <p:spPr bwMode="auto">
          <a:xfrm>
            <a:off x="517525" y="26289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sz="1800" b="0">
              <a:ea typeface="宋体" panose="02010600030101010101" pitchFamily="2" charset="-122"/>
            </a:endParaRPr>
          </a:p>
        </p:txBody>
      </p:sp>
      <p:sp>
        <p:nvSpPr>
          <p:cNvPr id="282673" name="Text Box 49"/>
          <p:cNvSpPr txBox="1">
            <a:spLocks noChangeArrowheads="1"/>
          </p:cNvSpPr>
          <p:nvPr/>
        </p:nvSpPr>
        <p:spPr bwMode="auto">
          <a:xfrm>
            <a:off x="609600" y="2420938"/>
            <a:ext cx="861060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-closure({0}) = {0,1,2,4,7}=S0</a:t>
            </a:r>
            <a:r>
              <a:rPr lang="en-US" altLang="zh-CN" sz="2000">
                <a:ea typeface="宋体" panose="02010600030101010101" pitchFamily="2" charset="-122"/>
                <a:sym typeface="Wingdings" panose="05000000000000000000" pitchFamily="2" charset="2"/>
              </a:rPr>
              <a:t> 	</a:t>
            </a:r>
            <a:r>
              <a:rPr lang="en-US" altLang="zh-CN" sz="2000" b="0">
                <a:ea typeface="宋体" panose="02010600030101010101" pitchFamily="2" charset="-122"/>
                <a:sym typeface="Wingdings" panose="05000000000000000000" pitchFamily="2" charset="2"/>
              </a:rPr>
              <a:t>S</a:t>
            </a:r>
            <a:r>
              <a:rPr lang="en-US" altLang="zh-CN" sz="2000" b="0" baseline="-25000">
                <a:ea typeface="宋体" panose="02010600030101010101" pitchFamily="2" charset="-122"/>
                <a:sym typeface="Wingdings" panose="05000000000000000000" pitchFamily="2" charset="2"/>
              </a:rPr>
              <a:t>0</a:t>
            </a:r>
            <a:r>
              <a:rPr lang="en-US" altLang="zh-CN" sz="2000" b="0">
                <a:ea typeface="宋体" panose="02010600030101010101" pitchFamily="2" charset="-122"/>
                <a:sym typeface="Wingdings" panose="05000000000000000000" pitchFamily="2" charset="2"/>
              </a:rPr>
              <a:t>into DS as an unmarked state</a:t>
            </a:r>
          </a:p>
          <a:p>
            <a:r>
              <a:rPr lang="en-US" altLang="zh-CN" sz="2000" b="0">
                <a:ea typeface="宋体" panose="02010600030101010101" pitchFamily="2" charset="-122"/>
                <a:sym typeface="Wingdings" panose="05000000000000000000" pitchFamily="2" charset="2"/>
              </a:rPr>
              <a:t>		</a:t>
            </a:r>
            <a:r>
              <a:rPr lang="en-US" altLang="zh-CN" sz="2000" b="0">
                <a:solidFill>
                  <a:srgbClr val="660066"/>
                </a:solidFill>
                <a:ea typeface="宋体" panose="02010600030101010101" pitchFamily="2" charset="-122"/>
                <a:sym typeface="Symbol" panose="05050102010706020507" pitchFamily="18" charset="2"/>
              </a:rPr>
              <a:t> </a:t>
            </a:r>
            <a:r>
              <a:rPr lang="en-US" altLang="zh-CN" sz="2000" b="0">
                <a:solidFill>
                  <a:srgbClr val="660066"/>
                </a:solidFill>
                <a:ea typeface="宋体" panose="02010600030101010101" pitchFamily="2" charset="-122"/>
                <a:sym typeface="Wingdings" panose="05000000000000000000" pitchFamily="2" charset="2"/>
              </a:rPr>
              <a:t>mark S0</a:t>
            </a:r>
          </a:p>
          <a:p>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-closure(move(S0,a)) = </a:t>
            </a:r>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-closure({3,8}) = {1,2,3,4,6,7,8} = S1</a:t>
            </a:r>
            <a:r>
              <a:rPr lang="en-US" altLang="zh-CN" sz="2000" b="0">
                <a:ea typeface="宋体" panose="02010600030101010101" pitchFamily="2" charset="-122"/>
                <a:sym typeface="Wingdings" panose="05000000000000000000" pitchFamily="2" charset="2"/>
              </a:rPr>
              <a:t>       S1</a:t>
            </a:r>
            <a:r>
              <a:rPr lang="en-US" altLang="zh-CN" sz="2000" b="0" baseline="-25000">
                <a:ea typeface="宋体" panose="02010600030101010101" pitchFamily="2" charset="-122"/>
                <a:sym typeface="Wingdings" panose="05000000000000000000" pitchFamily="2" charset="2"/>
              </a:rPr>
              <a:t> </a:t>
            </a:r>
            <a:r>
              <a:rPr lang="en-US" altLang="zh-CN" sz="2000" b="0">
                <a:ea typeface="宋体" panose="02010600030101010101" pitchFamily="2" charset="-122"/>
                <a:sym typeface="Wingdings" panose="05000000000000000000" pitchFamily="2" charset="2"/>
              </a:rPr>
              <a:t> into DS</a:t>
            </a:r>
          </a:p>
          <a:p>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-closure(move(S0,b)) = </a:t>
            </a:r>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-closure({5}) = {1,2,4,5,6,7} = S2</a:t>
            </a:r>
            <a:r>
              <a:rPr lang="en-US" altLang="zh-CN" sz="2000" b="0">
                <a:ea typeface="宋体" panose="02010600030101010101" pitchFamily="2" charset="-122"/>
                <a:sym typeface="Wingdings" panose="05000000000000000000" pitchFamily="2" charset="2"/>
              </a:rPr>
              <a:t>             S2</a:t>
            </a:r>
            <a:r>
              <a:rPr lang="en-US" altLang="zh-CN" sz="2000" b="0" baseline="-25000">
                <a:ea typeface="宋体" panose="02010600030101010101" pitchFamily="2" charset="-122"/>
                <a:sym typeface="Wingdings" panose="05000000000000000000" pitchFamily="2" charset="2"/>
              </a:rPr>
              <a:t> </a:t>
            </a:r>
            <a:r>
              <a:rPr lang="en-US" altLang="zh-CN" sz="2000" b="0">
                <a:ea typeface="宋体" panose="02010600030101010101" pitchFamily="2" charset="-122"/>
                <a:sym typeface="Wingdings" panose="05000000000000000000" pitchFamily="2" charset="2"/>
              </a:rPr>
              <a:t> into DS</a:t>
            </a:r>
          </a:p>
          <a:p>
            <a:r>
              <a:rPr lang="en-US" altLang="zh-CN" sz="2000" b="0">
                <a:ea typeface="宋体" panose="02010600030101010101" pitchFamily="2" charset="-122"/>
                <a:sym typeface="Wingdings" panose="05000000000000000000" pitchFamily="2" charset="2"/>
              </a:rPr>
              <a:t>	transfunc[S0,a]  S1</a:t>
            </a:r>
            <a:r>
              <a:rPr lang="en-US" altLang="zh-CN" sz="2000" b="0" baseline="-25000">
                <a:ea typeface="宋体" panose="02010600030101010101" pitchFamily="2" charset="-122"/>
                <a:sym typeface="Wingdings" panose="05000000000000000000" pitchFamily="2" charset="2"/>
              </a:rPr>
              <a:t> 	</a:t>
            </a:r>
            <a:r>
              <a:rPr lang="en-US" altLang="zh-CN" sz="2000" b="0">
                <a:ea typeface="宋体" panose="02010600030101010101" pitchFamily="2" charset="-122"/>
                <a:sym typeface="Wingdings" panose="05000000000000000000" pitchFamily="2" charset="2"/>
              </a:rPr>
              <a:t>transfunc[S0,b]  S2</a:t>
            </a:r>
          </a:p>
          <a:p>
            <a:r>
              <a:rPr lang="en-US" altLang="zh-CN" sz="2000" b="0">
                <a:ea typeface="宋体" panose="02010600030101010101" pitchFamily="2" charset="-122"/>
                <a:sym typeface="Wingdings" panose="05000000000000000000" pitchFamily="2" charset="2"/>
              </a:rPr>
              <a:t>	</a:t>
            </a:r>
            <a:r>
              <a:rPr lang="en-US" altLang="zh-CN" sz="2000" b="0">
                <a:solidFill>
                  <a:srgbClr val="660066"/>
                </a:solidFill>
                <a:ea typeface="宋体" panose="02010600030101010101" pitchFamily="2" charset="-122"/>
                <a:sym typeface="Wingdings" panose="05000000000000000000" pitchFamily="2" charset="2"/>
              </a:rPr>
              <a:t>	 </a:t>
            </a:r>
            <a:r>
              <a:rPr lang="en-US" altLang="zh-CN" sz="2000" b="0">
                <a:solidFill>
                  <a:srgbClr val="660066"/>
                </a:solidFill>
                <a:ea typeface="宋体" panose="02010600030101010101" pitchFamily="2" charset="-122"/>
                <a:sym typeface="Symbol" panose="05050102010706020507" pitchFamily="18" charset="2"/>
              </a:rPr>
              <a:t></a:t>
            </a:r>
            <a:r>
              <a:rPr lang="en-US" altLang="zh-CN" sz="2000" b="0">
                <a:solidFill>
                  <a:srgbClr val="660066"/>
                </a:solidFill>
                <a:ea typeface="宋体" panose="02010600030101010101" pitchFamily="2" charset="-122"/>
                <a:sym typeface="Wingdings" panose="05000000000000000000" pitchFamily="2" charset="2"/>
              </a:rPr>
              <a:t> mark S1</a:t>
            </a:r>
          </a:p>
          <a:p>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-closure(move(S1,a)) = </a:t>
            </a:r>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-closure({3,8}) = {1,2,3,4,6,7,8} = S1       	</a:t>
            </a:r>
          </a:p>
          <a:p>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-closure(move(S1,b)) = </a:t>
            </a:r>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-closure({5,9}) = {1,2,4,5,6,7,9} = S3</a:t>
            </a:r>
            <a:r>
              <a:rPr lang="en-US" altLang="zh-CN" sz="2000" b="0">
                <a:ea typeface="宋体" panose="02010600030101010101" pitchFamily="2" charset="-122"/>
                <a:sym typeface="Wingdings" panose="05000000000000000000" pitchFamily="2" charset="2"/>
              </a:rPr>
              <a:t>         	</a:t>
            </a:r>
          </a:p>
          <a:p>
            <a:r>
              <a:rPr lang="en-US" altLang="zh-CN" sz="2000" b="0">
                <a:ea typeface="宋体" panose="02010600030101010101" pitchFamily="2" charset="-122"/>
                <a:sym typeface="Wingdings" panose="05000000000000000000" pitchFamily="2" charset="2"/>
              </a:rPr>
              <a:t>	transfunc[S1,a] S1</a:t>
            </a:r>
            <a:r>
              <a:rPr lang="en-US" altLang="zh-CN" sz="2000" b="0" baseline="-25000">
                <a:ea typeface="宋体" panose="02010600030101010101" pitchFamily="2" charset="-122"/>
                <a:sym typeface="Wingdings" panose="05000000000000000000" pitchFamily="2" charset="2"/>
              </a:rPr>
              <a:t> 	</a:t>
            </a:r>
            <a:r>
              <a:rPr lang="en-US" altLang="zh-CN" sz="2000" b="0">
                <a:ea typeface="宋体" panose="02010600030101010101" pitchFamily="2" charset="-122"/>
                <a:sym typeface="Wingdings" panose="05000000000000000000" pitchFamily="2" charset="2"/>
              </a:rPr>
              <a:t>transfunc[S1,b]  S3</a:t>
            </a:r>
          </a:p>
          <a:p>
            <a:r>
              <a:rPr lang="en-US" altLang="zh-CN" sz="2000" b="0">
                <a:ea typeface="宋体" panose="02010600030101010101" pitchFamily="2" charset="-122"/>
                <a:sym typeface="Wingdings" panose="05000000000000000000" pitchFamily="2" charset="2"/>
              </a:rPr>
              <a:t>	</a:t>
            </a:r>
            <a:r>
              <a:rPr lang="en-US" altLang="zh-CN" sz="2000" b="0">
                <a:solidFill>
                  <a:srgbClr val="660066"/>
                </a:solidFill>
                <a:ea typeface="宋体" panose="02010600030101010101" pitchFamily="2" charset="-122"/>
                <a:sym typeface="Wingdings" panose="05000000000000000000" pitchFamily="2" charset="2"/>
              </a:rPr>
              <a:t>	 </a:t>
            </a:r>
            <a:r>
              <a:rPr lang="en-US" altLang="zh-CN" sz="2000" b="0">
                <a:solidFill>
                  <a:srgbClr val="660066"/>
                </a:solidFill>
                <a:ea typeface="宋体" panose="02010600030101010101" pitchFamily="2" charset="-122"/>
                <a:sym typeface="Symbol" panose="05050102010706020507" pitchFamily="18" charset="2"/>
              </a:rPr>
              <a:t></a:t>
            </a:r>
            <a:r>
              <a:rPr lang="en-US" altLang="zh-CN" sz="2000" b="0">
                <a:solidFill>
                  <a:srgbClr val="660066"/>
                </a:solidFill>
                <a:ea typeface="宋体" panose="02010600030101010101" pitchFamily="2" charset="-122"/>
                <a:sym typeface="Wingdings" panose="05000000000000000000" pitchFamily="2" charset="2"/>
              </a:rPr>
              <a:t> mark S2</a:t>
            </a:r>
          </a:p>
          <a:p>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-closure(move(S2,a)) = </a:t>
            </a:r>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-closure({3,8}) = {1,2,3,4,6,7,8} = S1       	</a:t>
            </a:r>
          </a:p>
          <a:p>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-closure(move(S2,b)) = </a:t>
            </a:r>
            <a:r>
              <a:rPr lang="en-US" altLang="zh-CN" sz="2000">
                <a:solidFill>
                  <a:srgbClr val="660066"/>
                </a:solidFill>
                <a:ea typeface="宋体" panose="02010600030101010101" pitchFamily="2" charset="-122"/>
                <a:sym typeface="Symbol" panose="05050102010706020507" pitchFamily="18" charset="2"/>
              </a:rPr>
              <a:t></a:t>
            </a:r>
            <a:r>
              <a:rPr lang="en-US" altLang="zh-CN" sz="2000">
                <a:solidFill>
                  <a:srgbClr val="660066"/>
                </a:solidFill>
                <a:ea typeface="宋体" panose="02010600030101010101" pitchFamily="2" charset="-122"/>
                <a:sym typeface="Wingdings" panose="05000000000000000000" pitchFamily="2" charset="2"/>
              </a:rPr>
              <a:t>-closure({5}) = {1,2,4,5,6,7} =S2</a:t>
            </a:r>
            <a:r>
              <a:rPr lang="en-US" altLang="zh-CN" sz="2000" b="0">
                <a:ea typeface="宋体" panose="02010600030101010101" pitchFamily="2" charset="-122"/>
                <a:sym typeface="Wingdings" panose="05000000000000000000" pitchFamily="2" charset="2"/>
              </a:rPr>
              <a:t>        	</a:t>
            </a:r>
          </a:p>
          <a:p>
            <a:r>
              <a:rPr lang="en-US" altLang="zh-CN" sz="2000" b="0">
                <a:ea typeface="宋体" panose="02010600030101010101" pitchFamily="2" charset="-122"/>
                <a:sym typeface="Wingdings" panose="05000000000000000000" pitchFamily="2" charset="2"/>
              </a:rPr>
              <a:t>	transfunc[S2,a]  S1</a:t>
            </a:r>
            <a:r>
              <a:rPr lang="en-US" altLang="zh-CN" sz="2000" b="0" baseline="-25000">
                <a:ea typeface="宋体" panose="02010600030101010101" pitchFamily="2" charset="-122"/>
                <a:sym typeface="Wingdings" panose="05000000000000000000" pitchFamily="2" charset="2"/>
              </a:rPr>
              <a:t> 	</a:t>
            </a:r>
            <a:r>
              <a:rPr lang="en-US" altLang="zh-CN" sz="2000" b="0">
                <a:ea typeface="宋体" panose="02010600030101010101" pitchFamily="2" charset="-122"/>
                <a:sym typeface="Wingdings" panose="05000000000000000000" pitchFamily="2" charset="2"/>
              </a:rPr>
              <a:t>transfunc[S2,b]  S2</a:t>
            </a:r>
          </a:p>
          <a:p>
            <a:endParaRPr lang="zh-CN" altLang="en-US" sz="2000" b="0">
              <a:ea typeface="宋体" panose="02010600030101010101" pitchFamily="2" charset="-122"/>
              <a:sym typeface="Wingdings" panose="05000000000000000000" pitchFamily="2" charset="2"/>
            </a:endParaRPr>
          </a:p>
        </p:txBody>
      </p:sp>
      <p:sp>
        <p:nvSpPr>
          <p:cNvPr id="52232" name="Text Box 50"/>
          <p:cNvSpPr txBox="1">
            <a:spLocks noChangeArrowheads="1"/>
          </p:cNvSpPr>
          <p:nvPr/>
        </p:nvSpPr>
        <p:spPr bwMode="auto">
          <a:xfrm>
            <a:off x="5961063" y="1773238"/>
            <a:ext cx="3529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2000" b="0">
                <a:ea typeface="宋体" panose="02010600030101010101" pitchFamily="2" charset="-122"/>
              </a:rPr>
              <a:t>Fig.3.27. NFA N for (a|b)*abb</a:t>
            </a:r>
          </a:p>
        </p:txBody>
      </p:sp>
      <p:grpSp>
        <p:nvGrpSpPr>
          <p:cNvPr id="52233" name="Group 117"/>
          <p:cNvGrpSpPr>
            <a:grpSpLocks/>
          </p:cNvGrpSpPr>
          <p:nvPr/>
        </p:nvGrpSpPr>
        <p:grpSpPr bwMode="auto">
          <a:xfrm>
            <a:off x="1905000" y="531813"/>
            <a:ext cx="6235700" cy="1824037"/>
            <a:chOff x="1200" y="335"/>
            <a:chExt cx="3928" cy="1149"/>
          </a:xfrm>
        </p:grpSpPr>
        <p:sp>
          <p:nvSpPr>
            <p:cNvPr id="52234" name="Oval 4"/>
            <p:cNvSpPr>
              <a:spLocks noChangeArrowheads="1"/>
            </p:cNvSpPr>
            <p:nvPr/>
          </p:nvSpPr>
          <p:spPr bwMode="auto">
            <a:xfrm>
              <a:off x="3552" y="86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52235" name="Group 5"/>
            <p:cNvGrpSpPr>
              <a:grpSpLocks/>
            </p:cNvGrpSpPr>
            <p:nvPr/>
          </p:nvGrpSpPr>
          <p:grpSpPr bwMode="auto">
            <a:xfrm>
              <a:off x="4840" y="812"/>
              <a:ext cx="288" cy="288"/>
              <a:chOff x="1296" y="1056"/>
              <a:chExt cx="288" cy="288"/>
            </a:xfrm>
          </p:grpSpPr>
          <p:sp>
            <p:nvSpPr>
              <p:cNvPr id="52283" name="Oval 6"/>
              <p:cNvSpPr>
                <a:spLocks noChangeArrowheads="1"/>
              </p:cNvSpPr>
              <p:nvPr/>
            </p:nvSpPr>
            <p:spPr bwMode="auto">
              <a:xfrm>
                <a:off x="1296" y="1056"/>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84" name="Oval 7"/>
              <p:cNvSpPr>
                <a:spLocks noChangeArrowheads="1"/>
              </p:cNvSpPr>
              <p:nvPr/>
            </p:nvSpPr>
            <p:spPr bwMode="auto">
              <a:xfrm>
                <a:off x="1344" y="110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52236" name="Oval 8"/>
            <p:cNvSpPr>
              <a:spLocks noChangeArrowheads="1"/>
            </p:cNvSpPr>
            <p:nvPr/>
          </p:nvSpPr>
          <p:spPr bwMode="auto">
            <a:xfrm>
              <a:off x="2736" y="110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37" name="Oval 9"/>
            <p:cNvSpPr>
              <a:spLocks noChangeArrowheads="1"/>
            </p:cNvSpPr>
            <p:nvPr/>
          </p:nvSpPr>
          <p:spPr bwMode="auto">
            <a:xfrm>
              <a:off x="2736" y="62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38" name="Oval 10"/>
            <p:cNvSpPr>
              <a:spLocks noChangeArrowheads="1"/>
            </p:cNvSpPr>
            <p:nvPr/>
          </p:nvSpPr>
          <p:spPr bwMode="auto">
            <a:xfrm>
              <a:off x="2208" y="110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39" name="Oval 11"/>
            <p:cNvSpPr>
              <a:spLocks noChangeArrowheads="1"/>
            </p:cNvSpPr>
            <p:nvPr/>
          </p:nvSpPr>
          <p:spPr bwMode="auto">
            <a:xfrm>
              <a:off x="2208" y="62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0" name="Oval 12"/>
            <p:cNvSpPr>
              <a:spLocks noChangeArrowheads="1"/>
            </p:cNvSpPr>
            <p:nvPr/>
          </p:nvSpPr>
          <p:spPr bwMode="auto">
            <a:xfrm>
              <a:off x="1728" y="812"/>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41" name="Line 13"/>
            <p:cNvSpPr>
              <a:spLocks noChangeShapeType="1"/>
            </p:cNvSpPr>
            <p:nvPr/>
          </p:nvSpPr>
          <p:spPr bwMode="auto">
            <a:xfrm>
              <a:off x="1536" y="908"/>
              <a:ext cx="192"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2" name="Line 14"/>
            <p:cNvSpPr>
              <a:spLocks noChangeShapeType="1"/>
            </p:cNvSpPr>
            <p:nvPr/>
          </p:nvSpPr>
          <p:spPr bwMode="auto">
            <a:xfrm flipV="1">
              <a:off x="1920" y="764"/>
              <a:ext cx="28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3" name="Line 15"/>
            <p:cNvSpPr>
              <a:spLocks noChangeShapeType="1"/>
            </p:cNvSpPr>
            <p:nvPr/>
          </p:nvSpPr>
          <p:spPr bwMode="auto">
            <a:xfrm>
              <a:off x="1920" y="956"/>
              <a:ext cx="288"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4" name="Line 16"/>
            <p:cNvSpPr>
              <a:spLocks noChangeShapeType="1"/>
            </p:cNvSpPr>
            <p:nvPr/>
          </p:nvSpPr>
          <p:spPr bwMode="auto">
            <a:xfrm>
              <a:off x="2400" y="716"/>
              <a:ext cx="336"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5" name="Line 17"/>
            <p:cNvSpPr>
              <a:spLocks noChangeShapeType="1"/>
            </p:cNvSpPr>
            <p:nvPr/>
          </p:nvSpPr>
          <p:spPr bwMode="auto">
            <a:xfrm>
              <a:off x="2400" y="1196"/>
              <a:ext cx="336"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6" name="Line 18"/>
            <p:cNvSpPr>
              <a:spLocks noChangeShapeType="1"/>
            </p:cNvSpPr>
            <p:nvPr/>
          </p:nvSpPr>
          <p:spPr bwMode="auto">
            <a:xfrm>
              <a:off x="2928" y="764"/>
              <a:ext cx="24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7" name="Line 19"/>
            <p:cNvSpPr>
              <a:spLocks noChangeShapeType="1"/>
            </p:cNvSpPr>
            <p:nvPr/>
          </p:nvSpPr>
          <p:spPr bwMode="auto">
            <a:xfrm flipV="1">
              <a:off x="2928" y="1052"/>
              <a:ext cx="24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8" name="Text Box 20"/>
            <p:cNvSpPr txBox="1">
              <a:spLocks noChangeArrowheads="1"/>
            </p:cNvSpPr>
            <p:nvPr/>
          </p:nvSpPr>
          <p:spPr bwMode="auto">
            <a:xfrm>
              <a:off x="2448" y="105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b</a:t>
              </a:r>
            </a:p>
          </p:txBody>
        </p:sp>
        <p:sp>
          <p:nvSpPr>
            <p:cNvPr id="52249" name="Text Box 21"/>
            <p:cNvSpPr txBox="1">
              <a:spLocks noChangeArrowheads="1"/>
            </p:cNvSpPr>
            <p:nvPr/>
          </p:nvSpPr>
          <p:spPr bwMode="auto">
            <a:xfrm>
              <a:off x="2928" y="956"/>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2250" name="Text Box 22"/>
            <p:cNvSpPr txBox="1">
              <a:spLocks noChangeArrowheads="1"/>
            </p:cNvSpPr>
            <p:nvPr/>
          </p:nvSpPr>
          <p:spPr bwMode="auto">
            <a:xfrm>
              <a:off x="2928" y="620"/>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2251" name="Text Box 23"/>
            <p:cNvSpPr txBox="1">
              <a:spLocks noChangeArrowheads="1"/>
            </p:cNvSpPr>
            <p:nvPr/>
          </p:nvSpPr>
          <p:spPr bwMode="auto">
            <a:xfrm>
              <a:off x="1968" y="908"/>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2252" name="Text Box 24"/>
            <p:cNvSpPr txBox="1">
              <a:spLocks noChangeArrowheads="1"/>
            </p:cNvSpPr>
            <p:nvPr/>
          </p:nvSpPr>
          <p:spPr bwMode="auto">
            <a:xfrm>
              <a:off x="1920" y="668"/>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2253" name="Text Box 25"/>
            <p:cNvSpPr txBox="1">
              <a:spLocks noChangeArrowheads="1"/>
            </p:cNvSpPr>
            <p:nvPr/>
          </p:nvSpPr>
          <p:spPr bwMode="auto">
            <a:xfrm>
              <a:off x="2448" y="572"/>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a</a:t>
              </a:r>
            </a:p>
          </p:txBody>
        </p:sp>
        <p:sp>
          <p:nvSpPr>
            <p:cNvPr id="52254" name="Oval 26"/>
            <p:cNvSpPr>
              <a:spLocks noChangeArrowheads="1"/>
            </p:cNvSpPr>
            <p:nvPr/>
          </p:nvSpPr>
          <p:spPr bwMode="auto">
            <a:xfrm>
              <a:off x="1344" y="812"/>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55" name="Oval 27"/>
            <p:cNvSpPr>
              <a:spLocks noChangeArrowheads="1"/>
            </p:cNvSpPr>
            <p:nvPr/>
          </p:nvSpPr>
          <p:spPr bwMode="auto">
            <a:xfrm>
              <a:off x="3120" y="86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56" name="Line 28"/>
            <p:cNvSpPr>
              <a:spLocks noChangeShapeType="1"/>
            </p:cNvSpPr>
            <p:nvPr/>
          </p:nvSpPr>
          <p:spPr bwMode="auto">
            <a:xfrm>
              <a:off x="3312" y="95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57" name="Text Box 29"/>
            <p:cNvSpPr txBox="1">
              <a:spLocks noChangeArrowheads="1"/>
            </p:cNvSpPr>
            <p:nvPr/>
          </p:nvSpPr>
          <p:spPr bwMode="auto">
            <a:xfrm>
              <a:off x="1536" y="764"/>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2258" name="Text Box 30"/>
            <p:cNvSpPr txBox="1">
              <a:spLocks noChangeArrowheads="1"/>
            </p:cNvSpPr>
            <p:nvPr/>
          </p:nvSpPr>
          <p:spPr bwMode="auto">
            <a:xfrm>
              <a:off x="3312" y="812"/>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cxnSp>
          <p:nvCxnSpPr>
            <p:cNvPr id="52259" name="AutoShape 31"/>
            <p:cNvCxnSpPr>
              <a:cxnSpLocks noChangeShapeType="1"/>
              <a:stCxn id="52255" idx="0"/>
              <a:endCxn id="52240" idx="0"/>
            </p:cNvCxnSpPr>
            <p:nvPr/>
          </p:nvCxnSpPr>
          <p:spPr bwMode="auto">
            <a:xfrm rot="5400000" flipH="1">
              <a:off x="2496" y="140"/>
              <a:ext cx="48" cy="1392"/>
            </a:xfrm>
            <a:prstGeom prst="curvedConnector3">
              <a:avLst>
                <a:gd name="adj1" fmla="val 74791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60" name="Line 32"/>
            <p:cNvSpPr>
              <a:spLocks noChangeShapeType="1"/>
            </p:cNvSpPr>
            <p:nvPr/>
          </p:nvSpPr>
          <p:spPr bwMode="auto">
            <a:xfrm>
              <a:off x="1200" y="90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1" name="Text Box 33"/>
            <p:cNvSpPr txBox="1">
              <a:spLocks noChangeArrowheads="1"/>
            </p:cNvSpPr>
            <p:nvPr/>
          </p:nvSpPr>
          <p:spPr bwMode="auto">
            <a:xfrm>
              <a:off x="2448" y="1292"/>
              <a:ext cx="26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cxnSp>
          <p:nvCxnSpPr>
            <p:cNvPr id="52262" name="AutoShape 34"/>
            <p:cNvCxnSpPr>
              <a:cxnSpLocks noChangeShapeType="1"/>
              <a:stCxn id="52254" idx="4"/>
              <a:endCxn id="52234" idx="4"/>
            </p:cNvCxnSpPr>
            <p:nvPr/>
          </p:nvCxnSpPr>
          <p:spPr bwMode="auto">
            <a:xfrm rot="16200000" flipH="1">
              <a:off x="2520" y="-76"/>
              <a:ext cx="48" cy="2208"/>
            </a:xfrm>
            <a:prstGeom prst="curvedConnector3">
              <a:avLst>
                <a:gd name="adj1" fmla="val 89791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63" name="Line 35"/>
            <p:cNvSpPr>
              <a:spLocks noChangeShapeType="1"/>
            </p:cNvSpPr>
            <p:nvPr/>
          </p:nvSpPr>
          <p:spPr bwMode="auto">
            <a:xfrm>
              <a:off x="3744" y="95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4" name="Text Box 36"/>
            <p:cNvSpPr txBox="1">
              <a:spLocks noChangeArrowheads="1"/>
            </p:cNvSpPr>
            <p:nvPr/>
          </p:nvSpPr>
          <p:spPr bwMode="auto">
            <a:xfrm>
              <a:off x="3744" y="812"/>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a</a:t>
              </a:r>
            </a:p>
          </p:txBody>
        </p:sp>
        <p:sp>
          <p:nvSpPr>
            <p:cNvPr id="52265" name="Text Box 37"/>
            <p:cNvSpPr txBox="1">
              <a:spLocks noChangeArrowheads="1"/>
            </p:cNvSpPr>
            <p:nvPr/>
          </p:nvSpPr>
          <p:spPr bwMode="auto">
            <a:xfrm>
              <a:off x="1344" y="8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0</a:t>
              </a:r>
            </a:p>
          </p:txBody>
        </p:sp>
        <p:sp>
          <p:nvSpPr>
            <p:cNvPr id="52266" name="Text Box 38"/>
            <p:cNvSpPr txBox="1">
              <a:spLocks noChangeArrowheads="1"/>
            </p:cNvSpPr>
            <p:nvPr/>
          </p:nvSpPr>
          <p:spPr bwMode="auto">
            <a:xfrm>
              <a:off x="1728" y="8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1</a:t>
              </a:r>
            </a:p>
          </p:txBody>
        </p:sp>
        <p:sp>
          <p:nvSpPr>
            <p:cNvPr id="52267" name="Text Box 39"/>
            <p:cNvSpPr txBox="1">
              <a:spLocks noChangeArrowheads="1"/>
            </p:cNvSpPr>
            <p:nvPr/>
          </p:nvSpPr>
          <p:spPr bwMode="auto">
            <a:xfrm>
              <a:off x="2736" y="62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3</a:t>
              </a:r>
            </a:p>
          </p:txBody>
        </p:sp>
        <p:sp>
          <p:nvSpPr>
            <p:cNvPr id="52268" name="Text Box 40"/>
            <p:cNvSpPr txBox="1">
              <a:spLocks noChangeArrowheads="1"/>
            </p:cNvSpPr>
            <p:nvPr/>
          </p:nvSpPr>
          <p:spPr bwMode="auto">
            <a:xfrm>
              <a:off x="2208" y="110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4</a:t>
              </a:r>
            </a:p>
          </p:txBody>
        </p:sp>
        <p:sp>
          <p:nvSpPr>
            <p:cNvPr id="52269" name="Text Box 41"/>
            <p:cNvSpPr txBox="1">
              <a:spLocks noChangeArrowheads="1"/>
            </p:cNvSpPr>
            <p:nvPr/>
          </p:nvSpPr>
          <p:spPr bwMode="auto">
            <a:xfrm>
              <a:off x="2736" y="110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5</a:t>
              </a:r>
            </a:p>
          </p:txBody>
        </p:sp>
        <p:sp>
          <p:nvSpPr>
            <p:cNvPr id="52270" name="Text Box 42"/>
            <p:cNvSpPr txBox="1">
              <a:spLocks noChangeArrowheads="1"/>
            </p:cNvSpPr>
            <p:nvPr/>
          </p:nvSpPr>
          <p:spPr bwMode="auto">
            <a:xfrm>
              <a:off x="2208" y="62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2</a:t>
              </a:r>
            </a:p>
          </p:txBody>
        </p:sp>
        <p:sp>
          <p:nvSpPr>
            <p:cNvPr id="52271" name="Text Box 43"/>
            <p:cNvSpPr txBox="1">
              <a:spLocks noChangeArrowheads="1"/>
            </p:cNvSpPr>
            <p:nvPr/>
          </p:nvSpPr>
          <p:spPr bwMode="auto">
            <a:xfrm>
              <a:off x="3552" y="86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7</a:t>
              </a:r>
            </a:p>
          </p:txBody>
        </p:sp>
        <p:sp>
          <p:nvSpPr>
            <p:cNvPr id="52272" name="Text Box 44"/>
            <p:cNvSpPr txBox="1">
              <a:spLocks noChangeArrowheads="1"/>
            </p:cNvSpPr>
            <p:nvPr/>
          </p:nvSpPr>
          <p:spPr bwMode="auto">
            <a:xfrm>
              <a:off x="4860" y="860"/>
              <a:ext cx="2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10</a:t>
              </a:r>
            </a:p>
          </p:txBody>
        </p:sp>
        <p:sp>
          <p:nvSpPr>
            <p:cNvPr id="52273" name="Text Box 45"/>
            <p:cNvSpPr txBox="1">
              <a:spLocks noChangeArrowheads="1"/>
            </p:cNvSpPr>
            <p:nvPr/>
          </p:nvSpPr>
          <p:spPr bwMode="auto">
            <a:xfrm>
              <a:off x="3120" y="86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6</a:t>
              </a:r>
            </a:p>
          </p:txBody>
        </p:sp>
        <p:sp>
          <p:nvSpPr>
            <p:cNvPr id="52274" name="Oval 107"/>
            <p:cNvSpPr>
              <a:spLocks noChangeArrowheads="1"/>
            </p:cNvSpPr>
            <p:nvPr/>
          </p:nvSpPr>
          <p:spPr bwMode="auto">
            <a:xfrm>
              <a:off x="3984" y="86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75" name="Line 108"/>
            <p:cNvSpPr>
              <a:spLocks noChangeShapeType="1"/>
            </p:cNvSpPr>
            <p:nvPr/>
          </p:nvSpPr>
          <p:spPr bwMode="auto">
            <a:xfrm>
              <a:off x="4176" y="96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76" name="Text Box 109"/>
            <p:cNvSpPr txBox="1">
              <a:spLocks noChangeArrowheads="1"/>
            </p:cNvSpPr>
            <p:nvPr/>
          </p:nvSpPr>
          <p:spPr bwMode="auto">
            <a:xfrm>
              <a:off x="4176" y="81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b</a:t>
              </a:r>
            </a:p>
          </p:txBody>
        </p:sp>
        <p:sp>
          <p:nvSpPr>
            <p:cNvPr id="52277" name="Text Box 110"/>
            <p:cNvSpPr txBox="1">
              <a:spLocks noChangeArrowheads="1"/>
            </p:cNvSpPr>
            <p:nvPr/>
          </p:nvSpPr>
          <p:spPr bwMode="auto">
            <a:xfrm>
              <a:off x="3984" y="8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8</a:t>
              </a:r>
            </a:p>
          </p:txBody>
        </p:sp>
        <p:sp>
          <p:nvSpPr>
            <p:cNvPr id="52278" name="Oval 111"/>
            <p:cNvSpPr>
              <a:spLocks noChangeArrowheads="1"/>
            </p:cNvSpPr>
            <p:nvPr/>
          </p:nvSpPr>
          <p:spPr bwMode="auto">
            <a:xfrm>
              <a:off x="4416" y="86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2279" name="Line 112"/>
            <p:cNvSpPr>
              <a:spLocks noChangeShapeType="1"/>
            </p:cNvSpPr>
            <p:nvPr/>
          </p:nvSpPr>
          <p:spPr bwMode="auto">
            <a:xfrm>
              <a:off x="4608" y="96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80" name="Text Box 113"/>
            <p:cNvSpPr txBox="1">
              <a:spLocks noChangeArrowheads="1"/>
            </p:cNvSpPr>
            <p:nvPr/>
          </p:nvSpPr>
          <p:spPr bwMode="auto">
            <a:xfrm>
              <a:off x="4608" y="81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b</a:t>
              </a:r>
            </a:p>
          </p:txBody>
        </p:sp>
        <p:sp>
          <p:nvSpPr>
            <p:cNvPr id="52281" name="Text Box 114"/>
            <p:cNvSpPr txBox="1">
              <a:spLocks noChangeArrowheads="1"/>
            </p:cNvSpPr>
            <p:nvPr/>
          </p:nvSpPr>
          <p:spPr bwMode="auto">
            <a:xfrm>
              <a:off x="4416" y="8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9</a:t>
              </a:r>
            </a:p>
          </p:txBody>
        </p:sp>
        <p:sp>
          <p:nvSpPr>
            <p:cNvPr id="52282" name="Text Box 116"/>
            <p:cNvSpPr txBox="1">
              <a:spLocks noChangeArrowheads="1"/>
            </p:cNvSpPr>
            <p:nvPr/>
          </p:nvSpPr>
          <p:spPr bwMode="auto">
            <a:xfrm>
              <a:off x="2440" y="335"/>
              <a:ext cx="26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82673">
                                            <p:txEl>
                                              <p:pRg st="0" end="0"/>
                                            </p:txEl>
                                          </p:spTgt>
                                        </p:tgtEl>
                                        <p:attrNameLst>
                                          <p:attrName>style.visibility</p:attrName>
                                        </p:attrNameLst>
                                      </p:cBhvr>
                                      <p:to>
                                        <p:strVal val="visible"/>
                                      </p:to>
                                    </p:set>
                                    <p:animEffect transition="in" filter="wipe(left)">
                                      <p:cBhvr>
                                        <p:cTn id="7" dur="2000"/>
                                        <p:tgtEl>
                                          <p:spTgt spid="282673">
                                            <p:txEl>
                                              <p:pRg st="0" end="0"/>
                                            </p:txEl>
                                          </p:spTgt>
                                        </p:tgtEl>
                                      </p:cBhvr>
                                    </p:animEffect>
                                  </p:childTnLst>
                                </p:cTn>
                              </p:par>
                            </p:childTnLst>
                          </p:cTn>
                        </p:par>
                        <p:par>
                          <p:cTn id="8" fill="hold" nodeType="afterGroup">
                            <p:stCondLst>
                              <p:cond delay="2000"/>
                            </p:stCondLst>
                            <p:childTnLst>
                              <p:par>
                                <p:cTn id="9" presetID="22" presetClass="entr" presetSubtype="1" fill="hold" nodeType="afterEffect">
                                  <p:stCondLst>
                                    <p:cond delay="2000"/>
                                  </p:stCondLst>
                                  <p:childTnLst>
                                    <p:set>
                                      <p:cBhvr>
                                        <p:cTn id="10" dur="1" fill="hold">
                                          <p:stCondLst>
                                            <p:cond delay="0"/>
                                          </p:stCondLst>
                                        </p:cTn>
                                        <p:tgtEl>
                                          <p:spTgt spid="282673">
                                            <p:txEl>
                                              <p:pRg st="1" end="1"/>
                                            </p:txEl>
                                          </p:spTgt>
                                        </p:tgtEl>
                                        <p:attrNameLst>
                                          <p:attrName>style.visibility</p:attrName>
                                        </p:attrNameLst>
                                      </p:cBhvr>
                                      <p:to>
                                        <p:strVal val="visible"/>
                                      </p:to>
                                    </p:set>
                                    <p:animEffect transition="in" filter="wipe(up)">
                                      <p:cBhvr>
                                        <p:cTn id="11" dur="2000"/>
                                        <p:tgtEl>
                                          <p:spTgt spid="282673">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82673">
                                            <p:txEl>
                                              <p:pRg st="2" end="2"/>
                                            </p:txEl>
                                          </p:spTgt>
                                        </p:tgtEl>
                                        <p:attrNameLst>
                                          <p:attrName>style.visibility</p:attrName>
                                        </p:attrNameLst>
                                      </p:cBhvr>
                                      <p:to>
                                        <p:strVal val="visible"/>
                                      </p:to>
                                    </p:set>
                                    <p:animEffect transition="in" filter="wipe(left)">
                                      <p:cBhvr>
                                        <p:cTn id="16" dur="2000"/>
                                        <p:tgtEl>
                                          <p:spTgt spid="282673">
                                            <p:txEl>
                                              <p:pRg st="2" end="2"/>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282673">
                                            <p:txEl>
                                              <p:pRg st="3" end="3"/>
                                            </p:txEl>
                                          </p:spTgt>
                                        </p:tgtEl>
                                        <p:attrNameLst>
                                          <p:attrName>style.visibility</p:attrName>
                                        </p:attrNameLst>
                                      </p:cBhvr>
                                      <p:to>
                                        <p:strVal val="visible"/>
                                      </p:to>
                                    </p:set>
                                    <p:animEffect transition="in" filter="wipe(left)">
                                      <p:cBhvr>
                                        <p:cTn id="19" dur="2000"/>
                                        <p:tgtEl>
                                          <p:spTgt spid="282673">
                                            <p:txEl>
                                              <p:pRg st="3" end="3"/>
                                            </p:txEl>
                                          </p:spTgt>
                                        </p:tgtEl>
                                      </p:cBhvr>
                                    </p:animEffect>
                                  </p:childTnLst>
                                </p:cTn>
                              </p:par>
                            </p:childTnLst>
                          </p:cTn>
                        </p:par>
                        <p:par>
                          <p:cTn id="20" fill="hold" nodeType="afterGroup">
                            <p:stCondLst>
                              <p:cond delay="2000"/>
                            </p:stCondLst>
                            <p:childTnLst>
                              <p:par>
                                <p:cTn id="21" presetID="22" presetClass="entr" presetSubtype="1" fill="hold" nodeType="afterEffect">
                                  <p:stCondLst>
                                    <p:cond delay="2000"/>
                                  </p:stCondLst>
                                  <p:childTnLst>
                                    <p:set>
                                      <p:cBhvr>
                                        <p:cTn id="22" dur="1" fill="hold">
                                          <p:stCondLst>
                                            <p:cond delay="0"/>
                                          </p:stCondLst>
                                        </p:cTn>
                                        <p:tgtEl>
                                          <p:spTgt spid="282673">
                                            <p:txEl>
                                              <p:pRg st="4" end="4"/>
                                            </p:txEl>
                                          </p:spTgt>
                                        </p:tgtEl>
                                        <p:attrNameLst>
                                          <p:attrName>style.visibility</p:attrName>
                                        </p:attrNameLst>
                                      </p:cBhvr>
                                      <p:to>
                                        <p:strVal val="visible"/>
                                      </p:to>
                                    </p:set>
                                    <p:animEffect transition="in" filter="wipe(up)">
                                      <p:cBhvr>
                                        <p:cTn id="23" dur="2000"/>
                                        <p:tgtEl>
                                          <p:spTgt spid="282673">
                                            <p:txEl>
                                              <p:pRg st="4" end="4"/>
                                            </p:txEl>
                                          </p:spTgt>
                                        </p:tgtEl>
                                      </p:cBhvr>
                                    </p:animEffect>
                                  </p:childTnLst>
                                </p:cTn>
                              </p:par>
                              <p:par>
                                <p:cTn id="24" presetID="22" presetClass="entr" presetSubtype="1" fill="hold" nodeType="withEffect">
                                  <p:stCondLst>
                                    <p:cond delay="0"/>
                                  </p:stCondLst>
                                  <p:childTnLst>
                                    <p:set>
                                      <p:cBhvr>
                                        <p:cTn id="25" dur="1" fill="hold">
                                          <p:stCondLst>
                                            <p:cond delay="0"/>
                                          </p:stCondLst>
                                        </p:cTn>
                                        <p:tgtEl>
                                          <p:spTgt spid="282673">
                                            <p:txEl>
                                              <p:pRg st="5" end="5"/>
                                            </p:txEl>
                                          </p:spTgt>
                                        </p:tgtEl>
                                        <p:attrNameLst>
                                          <p:attrName>style.visibility</p:attrName>
                                        </p:attrNameLst>
                                      </p:cBhvr>
                                      <p:to>
                                        <p:strVal val="visible"/>
                                      </p:to>
                                    </p:set>
                                    <p:animEffect transition="in" filter="wipe(up)">
                                      <p:cBhvr>
                                        <p:cTn id="26" dur="2000"/>
                                        <p:tgtEl>
                                          <p:spTgt spid="282673">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82673">
                                            <p:txEl>
                                              <p:pRg st="6" end="6"/>
                                            </p:txEl>
                                          </p:spTgt>
                                        </p:tgtEl>
                                        <p:attrNameLst>
                                          <p:attrName>style.visibility</p:attrName>
                                        </p:attrNameLst>
                                      </p:cBhvr>
                                      <p:to>
                                        <p:strVal val="visible"/>
                                      </p:to>
                                    </p:set>
                                    <p:animEffect transition="in" filter="wipe(left)">
                                      <p:cBhvr>
                                        <p:cTn id="31" dur="2000"/>
                                        <p:tgtEl>
                                          <p:spTgt spid="282673">
                                            <p:txEl>
                                              <p:pRg st="6" end="6"/>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282673">
                                            <p:txEl>
                                              <p:pRg st="7" end="7"/>
                                            </p:txEl>
                                          </p:spTgt>
                                        </p:tgtEl>
                                        <p:attrNameLst>
                                          <p:attrName>style.visibility</p:attrName>
                                        </p:attrNameLst>
                                      </p:cBhvr>
                                      <p:to>
                                        <p:strVal val="visible"/>
                                      </p:to>
                                    </p:set>
                                    <p:animEffect transition="in" filter="wipe(left)">
                                      <p:cBhvr>
                                        <p:cTn id="34" dur="2000"/>
                                        <p:tgtEl>
                                          <p:spTgt spid="282673">
                                            <p:txEl>
                                              <p:pRg st="7" end="7"/>
                                            </p:txEl>
                                          </p:spTgt>
                                        </p:tgtEl>
                                      </p:cBhvr>
                                    </p:animEffect>
                                  </p:childTnLst>
                                </p:cTn>
                              </p:par>
                            </p:childTnLst>
                          </p:cTn>
                        </p:par>
                        <p:par>
                          <p:cTn id="35" fill="hold" nodeType="afterGroup">
                            <p:stCondLst>
                              <p:cond delay="2000"/>
                            </p:stCondLst>
                            <p:childTnLst>
                              <p:par>
                                <p:cTn id="36" presetID="22" presetClass="entr" presetSubtype="1" fill="hold" nodeType="afterEffect">
                                  <p:stCondLst>
                                    <p:cond delay="2000"/>
                                  </p:stCondLst>
                                  <p:childTnLst>
                                    <p:set>
                                      <p:cBhvr>
                                        <p:cTn id="37" dur="1" fill="hold">
                                          <p:stCondLst>
                                            <p:cond delay="0"/>
                                          </p:stCondLst>
                                        </p:cTn>
                                        <p:tgtEl>
                                          <p:spTgt spid="282673">
                                            <p:txEl>
                                              <p:pRg st="8" end="8"/>
                                            </p:txEl>
                                          </p:spTgt>
                                        </p:tgtEl>
                                        <p:attrNameLst>
                                          <p:attrName>style.visibility</p:attrName>
                                        </p:attrNameLst>
                                      </p:cBhvr>
                                      <p:to>
                                        <p:strVal val="visible"/>
                                      </p:to>
                                    </p:set>
                                    <p:animEffect transition="in" filter="wipe(up)">
                                      <p:cBhvr>
                                        <p:cTn id="38" dur="2000"/>
                                        <p:tgtEl>
                                          <p:spTgt spid="282673">
                                            <p:txEl>
                                              <p:pRg st="8" end="8"/>
                                            </p:txEl>
                                          </p:spTgt>
                                        </p:tgtEl>
                                      </p:cBhvr>
                                    </p:animEffect>
                                  </p:childTnLst>
                                </p:cTn>
                              </p:par>
                              <p:par>
                                <p:cTn id="39" presetID="22" presetClass="entr" presetSubtype="1" fill="hold" nodeType="withEffect">
                                  <p:stCondLst>
                                    <p:cond delay="0"/>
                                  </p:stCondLst>
                                  <p:childTnLst>
                                    <p:set>
                                      <p:cBhvr>
                                        <p:cTn id="40" dur="1" fill="hold">
                                          <p:stCondLst>
                                            <p:cond delay="0"/>
                                          </p:stCondLst>
                                        </p:cTn>
                                        <p:tgtEl>
                                          <p:spTgt spid="282673">
                                            <p:txEl>
                                              <p:pRg st="9" end="9"/>
                                            </p:txEl>
                                          </p:spTgt>
                                        </p:tgtEl>
                                        <p:attrNameLst>
                                          <p:attrName>style.visibility</p:attrName>
                                        </p:attrNameLst>
                                      </p:cBhvr>
                                      <p:to>
                                        <p:strVal val="visible"/>
                                      </p:to>
                                    </p:set>
                                    <p:animEffect transition="in" filter="wipe(up)">
                                      <p:cBhvr>
                                        <p:cTn id="41" dur="2000"/>
                                        <p:tgtEl>
                                          <p:spTgt spid="282673">
                                            <p:txEl>
                                              <p:pRg st="9" end="9"/>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82673">
                                            <p:txEl>
                                              <p:pRg st="10" end="10"/>
                                            </p:txEl>
                                          </p:spTgt>
                                        </p:tgtEl>
                                        <p:attrNameLst>
                                          <p:attrName>style.visibility</p:attrName>
                                        </p:attrNameLst>
                                      </p:cBhvr>
                                      <p:to>
                                        <p:strVal val="visible"/>
                                      </p:to>
                                    </p:set>
                                    <p:animEffect transition="in" filter="wipe(left)">
                                      <p:cBhvr>
                                        <p:cTn id="46" dur="2000"/>
                                        <p:tgtEl>
                                          <p:spTgt spid="282673">
                                            <p:txEl>
                                              <p:pRg st="10" end="10"/>
                                            </p:txEl>
                                          </p:spTgt>
                                        </p:tgtEl>
                                      </p:cBhvr>
                                    </p:animEffect>
                                  </p:childTnLst>
                                </p:cTn>
                              </p:par>
                              <p:par>
                                <p:cTn id="47" presetID="22" presetClass="entr" presetSubtype="8" fill="hold" nodeType="withEffect">
                                  <p:stCondLst>
                                    <p:cond delay="0"/>
                                  </p:stCondLst>
                                  <p:childTnLst>
                                    <p:set>
                                      <p:cBhvr>
                                        <p:cTn id="48" dur="1" fill="hold">
                                          <p:stCondLst>
                                            <p:cond delay="0"/>
                                          </p:stCondLst>
                                        </p:cTn>
                                        <p:tgtEl>
                                          <p:spTgt spid="282673">
                                            <p:txEl>
                                              <p:pRg st="11" end="11"/>
                                            </p:txEl>
                                          </p:spTgt>
                                        </p:tgtEl>
                                        <p:attrNameLst>
                                          <p:attrName>style.visibility</p:attrName>
                                        </p:attrNameLst>
                                      </p:cBhvr>
                                      <p:to>
                                        <p:strVal val="visible"/>
                                      </p:to>
                                    </p:set>
                                    <p:animEffect transition="in" filter="wipe(left)">
                                      <p:cBhvr>
                                        <p:cTn id="49" dur="2000"/>
                                        <p:tgtEl>
                                          <p:spTgt spid="282673">
                                            <p:txEl>
                                              <p:pRg st="11" end="11"/>
                                            </p:txEl>
                                          </p:spTgt>
                                        </p:tgtEl>
                                      </p:cBhvr>
                                    </p:animEffect>
                                  </p:childTnLst>
                                </p:cTn>
                              </p:par>
                            </p:childTnLst>
                          </p:cTn>
                        </p:par>
                        <p:par>
                          <p:cTn id="50" fill="hold" nodeType="afterGroup">
                            <p:stCondLst>
                              <p:cond delay="2000"/>
                            </p:stCondLst>
                            <p:childTnLst>
                              <p:par>
                                <p:cTn id="51" presetID="22" presetClass="entr" presetSubtype="1" fill="hold" nodeType="afterEffect">
                                  <p:stCondLst>
                                    <p:cond delay="2000"/>
                                  </p:stCondLst>
                                  <p:childTnLst>
                                    <p:set>
                                      <p:cBhvr>
                                        <p:cTn id="52" dur="1" fill="hold">
                                          <p:stCondLst>
                                            <p:cond delay="0"/>
                                          </p:stCondLst>
                                        </p:cTn>
                                        <p:tgtEl>
                                          <p:spTgt spid="282673">
                                            <p:txEl>
                                              <p:pRg st="12" end="12"/>
                                            </p:txEl>
                                          </p:spTgt>
                                        </p:tgtEl>
                                        <p:attrNameLst>
                                          <p:attrName>style.visibility</p:attrName>
                                        </p:attrNameLst>
                                      </p:cBhvr>
                                      <p:to>
                                        <p:strVal val="visible"/>
                                      </p:to>
                                    </p:set>
                                    <p:animEffect transition="in" filter="wipe(up)">
                                      <p:cBhvr>
                                        <p:cTn id="53" dur="2000"/>
                                        <p:tgtEl>
                                          <p:spTgt spid="28267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3251"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3252"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BE55CB4F-2D56-41EE-8FF5-B445981B17EA}" type="slidenum">
              <a:rPr lang="zh-CN" altLang="en-US" sz="800" b="0"/>
              <a:pPr/>
              <a:t>51</a:t>
            </a:fld>
            <a:endParaRPr lang="en-US" altLang="zh-CN" sz="800" b="0"/>
          </a:p>
        </p:txBody>
      </p:sp>
      <p:sp>
        <p:nvSpPr>
          <p:cNvPr id="53253" name="Rectangle 2"/>
          <p:cNvSpPr>
            <a:spLocks noGrp="1" noChangeArrowheads="1"/>
          </p:cNvSpPr>
          <p:nvPr>
            <p:ph type="title"/>
          </p:nvPr>
        </p:nvSpPr>
        <p:spPr/>
        <p:txBody>
          <a:bodyPr/>
          <a:lstStyle/>
          <a:p>
            <a:endParaRPr lang="zh-CN" altLang="en-US" smtClean="0">
              <a:ea typeface="宋体" panose="02010600030101010101" pitchFamily="2" charset="-122"/>
            </a:endParaRPr>
          </a:p>
        </p:txBody>
      </p:sp>
      <p:sp>
        <p:nvSpPr>
          <p:cNvPr id="518147" name="Rectangle 3"/>
          <p:cNvSpPr>
            <a:spLocks noGrp="1" noChangeArrowheads="1"/>
          </p:cNvSpPr>
          <p:nvPr>
            <p:ph type="body" idx="1"/>
          </p:nvPr>
        </p:nvSpPr>
        <p:spPr>
          <a:xfrm>
            <a:off x="273050" y="2133600"/>
            <a:ext cx="9372600" cy="3810000"/>
          </a:xfrm>
        </p:spPr>
        <p:txBody>
          <a:bodyPr/>
          <a:lstStyle/>
          <a:p>
            <a:pPr>
              <a:buFontTx/>
              <a:buNone/>
            </a:pPr>
            <a:r>
              <a:rPr lang="en-US" altLang="zh-CN" smtClean="0">
                <a:solidFill>
                  <a:srgbClr val="660066"/>
                </a:solidFill>
                <a:ea typeface="宋体" panose="02010600030101010101" pitchFamily="2" charset="-122"/>
                <a:sym typeface="Wingdings" panose="05000000000000000000" pitchFamily="2" charset="2"/>
              </a:rPr>
              <a:t>		 </a:t>
            </a:r>
            <a:r>
              <a:rPr lang="en-US" altLang="zh-CN" smtClean="0">
                <a:solidFill>
                  <a:srgbClr val="660066"/>
                </a:solidFill>
                <a:ea typeface="宋体" panose="02010600030101010101" pitchFamily="2" charset="-122"/>
                <a:sym typeface="Symbol" panose="05050102010706020507" pitchFamily="18" charset="2"/>
              </a:rPr>
              <a:t></a:t>
            </a:r>
            <a:r>
              <a:rPr lang="en-US" altLang="zh-CN" smtClean="0">
                <a:solidFill>
                  <a:srgbClr val="660066"/>
                </a:solidFill>
                <a:ea typeface="宋体" panose="02010600030101010101" pitchFamily="2" charset="-122"/>
                <a:sym typeface="Wingdings" panose="05000000000000000000" pitchFamily="2" charset="2"/>
              </a:rPr>
              <a:t> mark S3</a:t>
            </a:r>
          </a:p>
          <a:p>
            <a:pPr>
              <a:buFontTx/>
              <a:buNone/>
            </a:pP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-closure(move(S3,a)) = </a:t>
            </a: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-closure({3,8}) = {1,2,3,4,6,7,8} = S1       	</a:t>
            </a:r>
          </a:p>
          <a:p>
            <a:pPr>
              <a:buFontTx/>
              <a:buNone/>
            </a:pP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-closure(move(S3,b)) = </a:t>
            </a: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-closure({5,10}) = {1,2,4,5,6,7,10} = S4</a:t>
            </a:r>
            <a:r>
              <a:rPr lang="en-US" altLang="zh-CN" smtClean="0">
                <a:ea typeface="宋体" panose="02010600030101010101" pitchFamily="2" charset="-122"/>
                <a:sym typeface="Wingdings" panose="05000000000000000000" pitchFamily="2" charset="2"/>
              </a:rPr>
              <a:t>       	</a:t>
            </a:r>
          </a:p>
          <a:p>
            <a:pPr>
              <a:buFontTx/>
              <a:buNone/>
            </a:pPr>
            <a:r>
              <a:rPr lang="en-US" altLang="zh-CN" smtClean="0">
                <a:ea typeface="宋体" panose="02010600030101010101" pitchFamily="2" charset="-122"/>
                <a:sym typeface="Wingdings" panose="05000000000000000000" pitchFamily="2" charset="2"/>
              </a:rPr>
              <a:t>	transfunc[S3,a]  S1	transfunc[S3,b]  S4</a:t>
            </a:r>
          </a:p>
          <a:p>
            <a:pPr>
              <a:buFontTx/>
              <a:buNone/>
            </a:pPr>
            <a:r>
              <a:rPr lang="en-US" altLang="zh-CN" smtClean="0">
                <a:solidFill>
                  <a:srgbClr val="660066"/>
                </a:solidFill>
                <a:ea typeface="宋体" panose="02010600030101010101" pitchFamily="2" charset="-122"/>
                <a:sym typeface="Wingdings" panose="05000000000000000000" pitchFamily="2" charset="2"/>
              </a:rPr>
              <a:t>		 </a:t>
            </a:r>
            <a:r>
              <a:rPr lang="en-US" altLang="zh-CN" smtClean="0">
                <a:solidFill>
                  <a:srgbClr val="660066"/>
                </a:solidFill>
                <a:ea typeface="宋体" panose="02010600030101010101" pitchFamily="2" charset="-122"/>
                <a:sym typeface="Symbol" panose="05050102010706020507" pitchFamily="18" charset="2"/>
              </a:rPr>
              <a:t></a:t>
            </a:r>
            <a:r>
              <a:rPr lang="en-US" altLang="zh-CN" smtClean="0">
                <a:solidFill>
                  <a:srgbClr val="660066"/>
                </a:solidFill>
                <a:ea typeface="宋体" panose="02010600030101010101" pitchFamily="2" charset="-122"/>
                <a:sym typeface="Wingdings" panose="05000000000000000000" pitchFamily="2" charset="2"/>
              </a:rPr>
              <a:t> mark S4</a:t>
            </a:r>
          </a:p>
          <a:p>
            <a:pPr>
              <a:buFontTx/>
              <a:buNone/>
            </a:pP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-closure(move(S4,a)) = </a:t>
            </a: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-closure({3,8}) = {1,2,3,4,6,7,8} =S1       	</a:t>
            </a:r>
          </a:p>
          <a:p>
            <a:pPr>
              <a:buFontTx/>
              <a:buNone/>
            </a:pP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-closure(move(S4,b)) = </a:t>
            </a:r>
            <a:r>
              <a:rPr lang="en-US" altLang="zh-CN" b="1" smtClean="0">
                <a:solidFill>
                  <a:srgbClr val="660066"/>
                </a:solidFill>
                <a:ea typeface="宋体" panose="02010600030101010101" pitchFamily="2" charset="-122"/>
                <a:sym typeface="Symbol" panose="05050102010706020507" pitchFamily="18" charset="2"/>
              </a:rPr>
              <a:t></a:t>
            </a:r>
            <a:r>
              <a:rPr lang="en-US" altLang="zh-CN" b="1" smtClean="0">
                <a:solidFill>
                  <a:srgbClr val="660066"/>
                </a:solidFill>
                <a:ea typeface="宋体" panose="02010600030101010101" pitchFamily="2" charset="-122"/>
                <a:sym typeface="Wingdings" panose="05000000000000000000" pitchFamily="2" charset="2"/>
              </a:rPr>
              <a:t>-closure({5}) = {1,2,4,5,6,7} = S2</a:t>
            </a:r>
            <a:r>
              <a:rPr lang="en-US" altLang="zh-CN" smtClean="0">
                <a:ea typeface="宋体" panose="02010600030101010101" pitchFamily="2" charset="-122"/>
                <a:sym typeface="Wingdings" panose="05000000000000000000" pitchFamily="2" charset="2"/>
              </a:rPr>
              <a:t>       	</a:t>
            </a:r>
          </a:p>
          <a:p>
            <a:pPr>
              <a:buFontTx/>
              <a:buNone/>
            </a:pPr>
            <a:r>
              <a:rPr lang="en-US" altLang="zh-CN" smtClean="0">
                <a:ea typeface="宋体" panose="02010600030101010101" pitchFamily="2" charset="-122"/>
                <a:sym typeface="Wingdings" panose="05000000000000000000" pitchFamily="2" charset="2"/>
              </a:rPr>
              <a:t>	transfunc[S4,a]  S1 	transfunc[S4,b]  S2</a:t>
            </a:r>
            <a:endParaRPr lang="zh-CN" altLang="en-US" smtClean="0">
              <a:ea typeface="宋体" panose="02010600030101010101" pitchFamily="2" charset="-122"/>
            </a:endParaRPr>
          </a:p>
        </p:txBody>
      </p:sp>
      <p:grpSp>
        <p:nvGrpSpPr>
          <p:cNvPr id="53255" name="Group 6"/>
          <p:cNvGrpSpPr>
            <a:grpSpLocks/>
          </p:cNvGrpSpPr>
          <p:nvPr/>
        </p:nvGrpSpPr>
        <p:grpSpPr bwMode="auto">
          <a:xfrm>
            <a:off x="1352550" y="549275"/>
            <a:ext cx="6235700" cy="1447800"/>
            <a:chOff x="1440" y="572"/>
            <a:chExt cx="3928" cy="912"/>
          </a:xfrm>
        </p:grpSpPr>
        <p:sp>
          <p:nvSpPr>
            <p:cNvPr id="53256" name="Oval 7"/>
            <p:cNvSpPr>
              <a:spLocks noChangeArrowheads="1"/>
            </p:cNvSpPr>
            <p:nvPr/>
          </p:nvSpPr>
          <p:spPr bwMode="auto">
            <a:xfrm>
              <a:off x="3792" y="86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nvGrpSpPr>
            <p:cNvPr id="53257" name="Group 8"/>
            <p:cNvGrpSpPr>
              <a:grpSpLocks/>
            </p:cNvGrpSpPr>
            <p:nvPr/>
          </p:nvGrpSpPr>
          <p:grpSpPr bwMode="auto">
            <a:xfrm>
              <a:off x="5080" y="812"/>
              <a:ext cx="288" cy="288"/>
              <a:chOff x="1296" y="1056"/>
              <a:chExt cx="288" cy="288"/>
            </a:xfrm>
          </p:grpSpPr>
          <p:sp>
            <p:nvSpPr>
              <p:cNvPr id="53304" name="Oval 9"/>
              <p:cNvSpPr>
                <a:spLocks noChangeArrowheads="1"/>
              </p:cNvSpPr>
              <p:nvPr/>
            </p:nvSpPr>
            <p:spPr bwMode="auto">
              <a:xfrm>
                <a:off x="1296" y="1056"/>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305" name="Oval 10"/>
              <p:cNvSpPr>
                <a:spLocks noChangeArrowheads="1"/>
              </p:cNvSpPr>
              <p:nvPr/>
            </p:nvSpPr>
            <p:spPr bwMode="auto">
              <a:xfrm>
                <a:off x="1344" y="110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53258" name="Oval 11"/>
            <p:cNvSpPr>
              <a:spLocks noChangeArrowheads="1"/>
            </p:cNvSpPr>
            <p:nvPr/>
          </p:nvSpPr>
          <p:spPr bwMode="auto">
            <a:xfrm>
              <a:off x="2976" y="110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59" name="Oval 12"/>
            <p:cNvSpPr>
              <a:spLocks noChangeArrowheads="1"/>
            </p:cNvSpPr>
            <p:nvPr/>
          </p:nvSpPr>
          <p:spPr bwMode="auto">
            <a:xfrm>
              <a:off x="2976" y="62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0" name="Oval 13"/>
            <p:cNvSpPr>
              <a:spLocks noChangeArrowheads="1"/>
            </p:cNvSpPr>
            <p:nvPr/>
          </p:nvSpPr>
          <p:spPr bwMode="auto">
            <a:xfrm>
              <a:off x="2448" y="110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1" name="Oval 14"/>
            <p:cNvSpPr>
              <a:spLocks noChangeArrowheads="1"/>
            </p:cNvSpPr>
            <p:nvPr/>
          </p:nvSpPr>
          <p:spPr bwMode="auto">
            <a:xfrm>
              <a:off x="2448" y="62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2" name="Oval 15"/>
            <p:cNvSpPr>
              <a:spLocks noChangeArrowheads="1"/>
            </p:cNvSpPr>
            <p:nvPr/>
          </p:nvSpPr>
          <p:spPr bwMode="auto">
            <a:xfrm>
              <a:off x="1968" y="812"/>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63" name="Line 16"/>
            <p:cNvSpPr>
              <a:spLocks noChangeShapeType="1"/>
            </p:cNvSpPr>
            <p:nvPr/>
          </p:nvSpPr>
          <p:spPr bwMode="auto">
            <a:xfrm>
              <a:off x="1776" y="908"/>
              <a:ext cx="192"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4" name="Line 17"/>
            <p:cNvSpPr>
              <a:spLocks noChangeShapeType="1"/>
            </p:cNvSpPr>
            <p:nvPr/>
          </p:nvSpPr>
          <p:spPr bwMode="auto">
            <a:xfrm flipV="1">
              <a:off x="2160" y="764"/>
              <a:ext cx="288"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5" name="Line 18"/>
            <p:cNvSpPr>
              <a:spLocks noChangeShapeType="1"/>
            </p:cNvSpPr>
            <p:nvPr/>
          </p:nvSpPr>
          <p:spPr bwMode="auto">
            <a:xfrm>
              <a:off x="2160" y="956"/>
              <a:ext cx="288"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6" name="Line 19"/>
            <p:cNvSpPr>
              <a:spLocks noChangeShapeType="1"/>
            </p:cNvSpPr>
            <p:nvPr/>
          </p:nvSpPr>
          <p:spPr bwMode="auto">
            <a:xfrm>
              <a:off x="2640" y="716"/>
              <a:ext cx="336"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7" name="Line 20"/>
            <p:cNvSpPr>
              <a:spLocks noChangeShapeType="1"/>
            </p:cNvSpPr>
            <p:nvPr/>
          </p:nvSpPr>
          <p:spPr bwMode="auto">
            <a:xfrm>
              <a:off x="2640" y="1196"/>
              <a:ext cx="336" cy="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8" name="Line 21"/>
            <p:cNvSpPr>
              <a:spLocks noChangeShapeType="1"/>
            </p:cNvSpPr>
            <p:nvPr/>
          </p:nvSpPr>
          <p:spPr bwMode="auto">
            <a:xfrm>
              <a:off x="3168" y="764"/>
              <a:ext cx="24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9" name="Line 22"/>
            <p:cNvSpPr>
              <a:spLocks noChangeShapeType="1"/>
            </p:cNvSpPr>
            <p:nvPr/>
          </p:nvSpPr>
          <p:spPr bwMode="auto">
            <a:xfrm flipV="1">
              <a:off x="3168" y="1052"/>
              <a:ext cx="24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0" name="Text Box 23"/>
            <p:cNvSpPr txBox="1">
              <a:spLocks noChangeArrowheads="1"/>
            </p:cNvSpPr>
            <p:nvPr/>
          </p:nvSpPr>
          <p:spPr bwMode="auto">
            <a:xfrm>
              <a:off x="2688" y="105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b</a:t>
              </a:r>
            </a:p>
          </p:txBody>
        </p:sp>
        <p:sp>
          <p:nvSpPr>
            <p:cNvPr id="53271" name="Text Box 24"/>
            <p:cNvSpPr txBox="1">
              <a:spLocks noChangeArrowheads="1"/>
            </p:cNvSpPr>
            <p:nvPr/>
          </p:nvSpPr>
          <p:spPr bwMode="auto">
            <a:xfrm>
              <a:off x="3168" y="956"/>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3272" name="Text Box 25"/>
            <p:cNvSpPr txBox="1">
              <a:spLocks noChangeArrowheads="1"/>
            </p:cNvSpPr>
            <p:nvPr/>
          </p:nvSpPr>
          <p:spPr bwMode="auto">
            <a:xfrm>
              <a:off x="3168" y="620"/>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3273" name="Text Box 26"/>
            <p:cNvSpPr txBox="1">
              <a:spLocks noChangeArrowheads="1"/>
            </p:cNvSpPr>
            <p:nvPr/>
          </p:nvSpPr>
          <p:spPr bwMode="auto">
            <a:xfrm>
              <a:off x="2208" y="908"/>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3274" name="Text Box 27"/>
            <p:cNvSpPr txBox="1">
              <a:spLocks noChangeArrowheads="1"/>
            </p:cNvSpPr>
            <p:nvPr/>
          </p:nvSpPr>
          <p:spPr bwMode="auto">
            <a:xfrm>
              <a:off x="2160" y="668"/>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3275" name="Text Box 28"/>
            <p:cNvSpPr txBox="1">
              <a:spLocks noChangeArrowheads="1"/>
            </p:cNvSpPr>
            <p:nvPr/>
          </p:nvSpPr>
          <p:spPr bwMode="auto">
            <a:xfrm>
              <a:off x="2688" y="572"/>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a</a:t>
              </a:r>
            </a:p>
          </p:txBody>
        </p:sp>
        <p:sp>
          <p:nvSpPr>
            <p:cNvPr id="53276" name="Oval 29"/>
            <p:cNvSpPr>
              <a:spLocks noChangeArrowheads="1"/>
            </p:cNvSpPr>
            <p:nvPr/>
          </p:nvSpPr>
          <p:spPr bwMode="auto">
            <a:xfrm>
              <a:off x="1584" y="812"/>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77" name="Oval 30"/>
            <p:cNvSpPr>
              <a:spLocks noChangeArrowheads="1"/>
            </p:cNvSpPr>
            <p:nvPr/>
          </p:nvSpPr>
          <p:spPr bwMode="auto">
            <a:xfrm>
              <a:off x="3360" y="860"/>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78" name="Line 31"/>
            <p:cNvSpPr>
              <a:spLocks noChangeShapeType="1"/>
            </p:cNvSpPr>
            <p:nvPr/>
          </p:nvSpPr>
          <p:spPr bwMode="auto">
            <a:xfrm>
              <a:off x="3552" y="95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9" name="Text Box 32"/>
            <p:cNvSpPr txBox="1">
              <a:spLocks noChangeArrowheads="1"/>
            </p:cNvSpPr>
            <p:nvPr/>
          </p:nvSpPr>
          <p:spPr bwMode="auto">
            <a:xfrm>
              <a:off x="1776" y="764"/>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sp>
          <p:nvSpPr>
            <p:cNvPr id="53280" name="Text Box 33"/>
            <p:cNvSpPr txBox="1">
              <a:spLocks noChangeArrowheads="1"/>
            </p:cNvSpPr>
            <p:nvPr/>
          </p:nvSpPr>
          <p:spPr bwMode="auto">
            <a:xfrm>
              <a:off x="3552" y="812"/>
              <a:ext cx="1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cxnSp>
          <p:nvCxnSpPr>
            <p:cNvPr id="53281" name="AutoShape 34"/>
            <p:cNvCxnSpPr>
              <a:cxnSpLocks noChangeShapeType="1"/>
              <a:stCxn id="53277" idx="0"/>
              <a:endCxn id="53262" idx="0"/>
            </p:cNvCxnSpPr>
            <p:nvPr/>
          </p:nvCxnSpPr>
          <p:spPr bwMode="auto">
            <a:xfrm rot="5400000" flipH="1">
              <a:off x="2736" y="140"/>
              <a:ext cx="48" cy="1392"/>
            </a:xfrm>
            <a:prstGeom prst="curvedConnector3">
              <a:avLst>
                <a:gd name="adj1" fmla="val 74791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82" name="Line 35"/>
            <p:cNvSpPr>
              <a:spLocks noChangeShapeType="1"/>
            </p:cNvSpPr>
            <p:nvPr/>
          </p:nvSpPr>
          <p:spPr bwMode="auto">
            <a:xfrm>
              <a:off x="1440" y="90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3" name="Text Box 36"/>
            <p:cNvSpPr txBox="1">
              <a:spLocks noChangeArrowheads="1"/>
            </p:cNvSpPr>
            <p:nvPr/>
          </p:nvSpPr>
          <p:spPr bwMode="auto">
            <a:xfrm>
              <a:off x="2688" y="1292"/>
              <a:ext cx="26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1400" b="0">
                  <a:ea typeface="宋体" panose="02010600030101010101" pitchFamily="2" charset="-122"/>
                  <a:sym typeface="Symbol" panose="05050102010706020507" pitchFamily="18" charset="2"/>
                </a:rPr>
                <a:t></a:t>
              </a:r>
            </a:p>
          </p:txBody>
        </p:sp>
        <p:cxnSp>
          <p:nvCxnSpPr>
            <p:cNvPr id="53284" name="AutoShape 37"/>
            <p:cNvCxnSpPr>
              <a:cxnSpLocks noChangeShapeType="1"/>
              <a:stCxn id="53276" idx="4"/>
              <a:endCxn id="53256" idx="4"/>
            </p:cNvCxnSpPr>
            <p:nvPr/>
          </p:nvCxnSpPr>
          <p:spPr bwMode="auto">
            <a:xfrm rot="16200000" flipH="1">
              <a:off x="2760" y="-76"/>
              <a:ext cx="48" cy="2208"/>
            </a:xfrm>
            <a:prstGeom prst="curvedConnector3">
              <a:avLst>
                <a:gd name="adj1" fmla="val 89791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85" name="Line 38"/>
            <p:cNvSpPr>
              <a:spLocks noChangeShapeType="1"/>
            </p:cNvSpPr>
            <p:nvPr/>
          </p:nvSpPr>
          <p:spPr bwMode="auto">
            <a:xfrm>
              <a:off x="3984" y="95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6" name="Text Box 39"/>
            <p:cNvSpPr txBox="1">
              <a:spLocks noChangeArrowheads="1"/>
            </p:cNvSpPr>
            <p:nvPr/>
          </p:nvSpPr>
          <p:spPr bwMode="auto">
            <a:xfrm>
              <a:off x="3984" y="812"/>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a</a:t>
              </a:r>
            </a:p>
          </p:txBody>
        </p:sp>
        <p:sp>
          <p:nvSpPr>
            <p:cNvPr id="53287" name="Text Box 40"/>
            <p:cNvSpPr txBox="1">
              <a:spLocks noChangeArrowheads="1"/>
            </p:cNvSpPr>
            <p:nvPr/>
          </p:nvSpPr>
          <p:spPr bwMode="auto">
            <a:xfrm>
              <a:off x="1584" y="8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0</a:t>
              </a:r>
            </a:p>
          </p:txBody>
        </p:sp>
        <p:sp>
          <p:nvSpPr>
            <p:cNvPr id="53288" name="Text Box 41"/>
            <p:cNvSpPr txBox="1">
              <a:spLocks noChangeArrowheads="1"/>
            </p:cNvSpPr>
            <p:nvPr/>
          </p:nvSpPr>
          <p:spPr bwMode="auto">
            <a:xfrm>
              <a:off x="1968" y="8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1</a:t>
              </a:r>
            </a:p>
          </p:txBody>
        </p:sp>
        <p:sp>
          <p:nvSpPr>
            <p:cNvPr id="53289" name="Text Box 42"/>
            <p:cNvSpPr txBox="1">
              <a:spLocks noChangeArrowheads="1"/>
            </p:cNvSpPr>
            <p:nvPr/>
          </p:nvSpPr>
          <p:spPr bwMode="auto">
            <a:xfrm>
              <a:off x="2976" y="62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3</a:t>
              </a:r>
            </a:p>
          </p:txBody>
        </p:sp>
        <p:sp>
          <p:nvSpPr>
            <p:cNvPr id="53290" name="Text Box 43"/>
            <p:cNvSpPr txBox="1">
              <a:spLocks noChangeArrowheads="1"/>
            </p:cNvSpPr>
            <p:nvPr/>
          </p:nvSpPr>
          <p:spPr bwMode="auto">
            <a:xfrm>
              <a:off x="2448" y="110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4</a:t>
              </a:r>
            </a:p>
          </p:txBody>
        </p:sp>
        <p:sp>
          <p:nvSpPr>
            <p:cNvPr id="53291" name="Text Box 44"/>
            <p:cNvSpPr txBox="1">
              <a:spLocks noChangeArrowheads="1"/>
            </p:cNvSpPr>
            <p:nvPr/>
          </p:nvSpPr>
          <p:spPr bwMode="auto">
            <a:xfrm>
              <a:off x="2976" y="110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5</a:t>
              </a:r>
            </a:p>
          </p:txBody>
        </p:sp>
        <p:sp>
          <p:nvSpPr>
            <p:cNvPr id="53292" name="Text Box 45"/>
            <p:cNvSpPr txBox="1">
              <a:spLocks noChangeArrowheads="1"/>
            </p:cNvSpPr>
            <p:nvPr/>
          </p:nvSpPr>
          <p:spPr bwMode="auto">
            <a:xfrm>
              <a:off x="2448" y="62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2</a:t>
              </a:r>
            </a:p>
          </p:txBody>
        </p:sp>
        <p:sp>
          <p:nvSpPr>
            <p:cNvPr id="53293" name="Text Box 46"/>
            <p:cNvSpPr txBox="1">
              <a:spLocks noChangeArrowheads="1"/>
            </p:cNvSpPr>
            <p:nvPr/>
          </p:nvSpPr>
          <p:spPr bwMode="auto">
            <a:xfrm>
              <a:off x="3792" y="86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7</a:t>
              </a:r>
            </a:p>
          </p:txBody>
        </p:sp>
        <p:sp>
          <p:nvSpPr>
            <p:cNvPr id="53294" name="Text Box 47"/>
            <p:cNvSpPr txBox="1">
              <a:spLocks noChangeArrowheads="1"/>
            </p:cNvSpPr>
            <p:nvPr/>
          </p:nvSpPr>
          <p:spPr bwMode="auto">
            <a:xfrm>
              <a:off x="5100" y="860"/>
              <a:ext cx="2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10</a:t>
              </a:r>
            </a:p>
          </p:txBody>
        </p:sp>
        <p:sp>
          <p:nvSpPr>
            <p:cNvPr id="53295" name="Text Box 48"/>
            <p:cNvSpPr txBox="1">
              <a:spLocks noChangeArrowheads="1"/>
            </p:cNvSpPr>
            <p:nvPr/>
          </p:nvSpPr>
          <p:spPr bwMode="auto">
            <a:xfrm>
              <a:off x="3360" y="86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6</a:t>
              </a:r>
            </a:p>
          </p:txBody>
        </p:sp>
        <p:sp>
          <p:nvSpPr>
            <p:cNvPr id="53296" name="Oval 49"/>
            <p:cNvSpPr>
              <a:spLocks noChangeArrowheads="1"/>
            </p:cNvSpPr>
            <p:nvPr/>
          </p:nvSpPr>
          <p:spPr bwMode="auto">
            <a:xfrm>
              <a:off x="4224" y="86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297" name="Line 50"/>
            <p:cNvSpPr>
              <a:spLocks noChangeShapeType="1"/>
            </p:cNvSpPr>
            <p:nvPr/>
          </p:nvSpPr>
          <p:spPr bwMode="auto">
            <a:xfrm>
              <a:off x="4416" y="96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8" name="Text Box 51"/>
            <p:cNvSpPr txBox="1">
              <a:spLocks noChangeArrowheads="1"/>
            </p:cNvSpPr>
            <p:nvPr/>
          </p:nvSpPr>
          <p:spPr bwMode="auto">
            <a:xfrm>
              <a:off x="4416" y="81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b</a:t>
              </a:r>
            </a:p>
          </p:txBody>
        </p:sp>
        <p:sp>
          <p:nvSpPr>
            <p:cNvPr id="53299" name="Text Box 52"/>
            <p:cNvSpPr txBox="1">
              <a:spLocks noChangeArrowheads="1"/>
            </p:cNvSpPr>
            <p:nvPr/>
          </p:nvSpPr>
          <p:spPr bwMode="auto">
            <a:xfrm>
              <a:off x="4224" y="8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8</a:t>
              </a:r>
            </a:p>
          </p:txBody>
        </p:sp>
        <p:sp>
          <p:nvSpPr>
            <p:cNvPr id="53300" name="Oval 53"/>
            <p:cNvSpPr>
              <a:spLocks noChangeArrowheads="1"/>
            </p:cNvSpPr>
            <p:nvPr/>
          </p:nvSpPr>
          <p:spPr bwMode="auto">
            <a:xfrm>
              <a:off x="4656" y="86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3301" name="Line 54"/>
            <p:cNvSpPr>
              <a:spLocks noChangeShapeType="1"/>
            </p:cNvSpPr>
            <p:nvPr/>
          </p:nvSpPr>
          <p:spPr bwMode="auto">
            <a:xfrm>
              <a:off x="4848" y="96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2" name="Text Box 55"/>
            <p:cNvSpPr txBox="1">
              <a:spLocks noChangeArrowheads="1"/>
            </p:cNvSpPr>
            <p:nvPr/>
          </p:nvSpPr>
          <p:spPr bwMode="auto">
            <a:xfrm>
              <a:off x="4848" y="81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sym typeface="Symbol" panose="05050102010706020507" pitchFamily="18" charset="2"/>
                </a:rPr>
                <a:t>b</a:t>
              </a:r>
            </a:p>
          </p:txBody>
        </p:sp>
        <p:sp>
          <p:nvSpPr>
            <p:cNvPr id="53303" name="Text Box 56"/>
            <p:cNvSpPr txBox="1">
              <a:spLocks noChangeArrowheads="1"/>
            </p:cNvSpPr>
            <p:nvPr/>
          </p:nvSpPr>
          <p:spPr bwMode="auto">
            <a:xfrm>
              <a:off x="4656" y="8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9</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18147">
                                            <p:txEl>
                                              <p:pRg st="0" end="0"/>
                                            </p:txEl>
                                          </p:spTgt>
                                        </p:tgtEl>
                                        <p:attrNameLst>
                                          <p:attrName>style.visibility</p:attrName>
                                        </p:attrNameLst>
                                      </p:cBhvr>
                                      <p:to>
                                        <p:strVal val="visible"/>
                                      </p:to>
                                    </p:set>
                                    <p:animEffect transition="in" filter="wipe(up)">
                                      <p:cBhvr>
                                        <p:cTn id="7" dur="2000"/>
                                        <p:tgtEl>
                                          <p:spTgt spid="518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18147">
                                            <p:txEl>
                                              <p:pRg st="1" end="1"/>
                                            </p:txEl>
                                          </p:spTgt>
                                        </p:tgtEl>
                                        <p:attrNameLst>
                                          <p:attrName>style.visibility</p:attrName>
                                        </p:attrNameLst>
                                      </p:cBhvr>
                                      <p:to>
                                        <p:strVal val="visible"/>
                                      </p:to>
                                    </p:set>
                                    <p:animEffect transition="in" filter="wipe(left)">
                                      <p:cBhvr>
                                        <p:cTn id="12" dur="2000"/>
                                        <p:tgtEl>
                                          <p:spTgt spid="518147">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518147">
                                            <p:txEl>
                                              <p:pRg st="2" end="2"/>
                                            </p:txEl>
                                          </p:spTgt>
                                        </p:tgtEl>
                                        <p:attrNameLst>
                                          <p:attrName>style.visibility</p:attrName>
                                        </p:attrNameLst>
                                      </p:cBhvr>
                                      <p:to>
                                        <p:strVal val="visible"/>
                                      </p:to>
                                    </p:set>
                                    <p:animEffect transition="in" filter="wipe(left)">
                                      <p:cBhvr>
                                        <p:cTn id="15" dur="2000"/>
                                        <p:tgtEl>
                                          <p:spTgt spid="518147">
                                            <p:txEl>
                                              <p:pRg st="2" end="2"/>
                                            </p:txEl>
                                          </p:spTgt>
                                        </p:tgtEl>
                                      </p:cBhvr>
                                    </p:animEffect>
                                  </p:childTnLst>
                                </p:cTn>
                              </p:par>
                            </p:childTnLst>
                          </p:cTn>
                        </p:par>
                        <p:par>
                          <p:cTn id="16" fill="hold" nodeType="afterGroup">
                            <p:stCondLst>
                              <p:cond delay="2000"/>
                            </p:stCondLst>
                            <p:childTnLst>
                              <p:par>
                                <p:cTn id="17" presetID="22" presetClass="entr" presetSubtype="1" fill="hold" nodeType="afterEffect">
                                  <p:stCondLst>
                                    <p:cond delay="2000"/>
                                  </p:stCondLst>
                                  <p:childTnLst>
                                    <p:set>
                                      <p:cBhvr>
                                        <p:cTn id="18" dur="1" fill="hold">
                                          <p:stCondLst>
                                            <p:cond delay="0"/>
                                          </p:stCondLst>
                                        </p:cTn>
                                        <p:tgtEl>
                                          <p:spTgt spid="518147">
                                            <p:txEl>
                                              <p:pRg st="3" end="3"/>
                                            </p:txEl>
                                          </p:spTgt>
                                        </p:tgtEl>
                                        <p:attrNameLst>
                                          <p:attrName>style.visibility</p:attrName>
                                        </p:attrNameLst>
                                      </p:cBhvr>
                                      <p:to>
                                        <p:strVal val="visible"/>
                                      </p:to>
                                    </p:set>
                                    <p:animEffect transition="in" filter="wipe(up)">
                                      <p:cBhvr>
                                        <p:cTn id="19" dur="2000"/>
                                        <p:tgtEl>
                                          <p:spTgt spid="518147">
                                            <p:txEl>
                                              <p:pRg st="3" end="3"/>
                                            </p:txEl>
                                          </p:spTgt>
                                        </p:tgtEl>
                                      </p:cBhvr>
                                    </p:animEffect>
                                  </p:childTnLst>
                                </p:cTn>
                              </p:par>
                            </p:childTnLst>
                          </p:cTn>
                        </p:par>
                        <p:par>
                          <p:cTn id="20" fill="hold" nodeType="afterGroup">
                            <p:stCondLst>
                              <p:cond delay="6000"/>
                            </p:stCondLst>
                            <p:childTnLst>
                              <p:par>
                                <p:cTn id="21" presetID="22" presetClass="entr" presetSubtype="1" fill="hold" nodeType="afterEffect">
                                  <p:stCondLst>
                                    <p:cond delay="0"/>
                                  </p:stCondLst>
                                  <p:childTnLst>
                                    <p:set>
                                      <p:cBhvr>
                                        <p:cTn id="22" dur="1" fill="hold">
                                          <p:stCondLst>
                                            <p:cond delay="0"/>
                                          </p:stCondLst>
                                        </p:cTn>
                                        <p:tgtEl>
                                          <p:spTgt spid="518147">
                                            <p:txEl>
                                              <p:pRg st="4" end="4"/>
                                            </p:txEl>
                                          </p:spTgt>
                                        </p:tgtEl>
                                        <p:attrNameLst>
                                          <p:attrName>style.visibility</p:attrName>
                                        </p:attrNameLst>
                                      </p:cBhvr>
                                      <p:to>
                                        <p:strVal val="visible"/>
                                      </p:to>
                                    </p:set>
                                    <p:animEffect transition="in" filter="wipe(up)">
                                      <p:cBhvr>
                                        <p:cTn id="23" dur="2000"/>
                                        <p:tgtEl>
                                          <p:spTgt spid="518147">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18147">
                                            <p:txEl>
                                              <p:pRg st="5" end="5"/>
                                            </p:txEl>
                                          </p:spTgt>
                                        </p:tgtEl>
                                        <p:attrNameLst>
                                          <p:attrName>style.visibility</p:attrName>
                                        </p:attrNameLst>
                                      </p:cBhvr>
                                      <p:to>
                                        <p:strVal val="visible"/>
                                      </p:to>
                                    </p:set>
                                    <p:animEffect transition="in" filter="wipe(left)">
                                      <p:cBhvr>
                                        <p:cTn id="28" dur="2000"/>
                                        <p:tgtEl>
                                          <p:spTgt spid="518147">
                                            <p:txEl>
                                              <p:pRg st="5" end="5"/>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518147">
                                            <p:txEl>
                                              <p:pRg st="6" end="6"/>
                                            </p:txEl>
                                          </p:spTgt>
                                        </p:tgtEl>
                                        <p:attrNameLst>
                                          <p:attrName>style.visibility</p:attrName>
                                        </p:attrNameLst>
                                      </p:cBhvr>
                                      <p:to>
                                        <p:strVal val="visible"/>
                                      </p:to>
                                    </p:set>
                                    <p:animEffect transition="in" filter="wipe(left)">
                                      <p:cBhvr>
                                        <p:cTn id="31" dur="2000"/>
                                        <p:tgtEl>
                                          <p:spTgt spid="518147">
                                            <p:txEl>
                                              <p:pRg st="6" end="6"/>
                                            </p:txEl>
                                          </p:spTgt>
                                        </p:tgtEl>
                                      </p:cBhvr>
                                    </p:animEffect>
                                  </p:childTnLst>
                                </p:cTn>
                              </p:par>
                            </p:childTnLst>
                          </p:cTn>
                        </p:par>
                        <p:par>
                          <p:cTn id="32" fill="hold" nodeType="afterGroup">
                            <p:stCondLst>
                              <p:cond delay="2000"/>
                            </p:stCondLst>
                            <p:childTnLst>
                              <p:par>
                                <p:cTn id="33" presetID="22" presetClass="entr" presetSubtype="1" fill="hold" nodeType="afterEffect">
                                  <p:stCondLst>
                                    <p:cond delay="2000"/>
                                  </p:stCondLst>
                                  <p:childTnLst>
                                    <p:set>
                                      <p:cBhvr>
                                        <p:cTn id="34" dur="1" fill="hold">
                                          <p:stCondLst>
                                            <p:cond delay="0"/>
                                          </p:stCondLst>
                                        </p:cTn>
                                        <p:tgtEl>
                                          <p:spTgt spid="518147">
                                            <p:txEl>
                                              <p:pRg st="7" end="7"/>
                                            </p:txEl>
                                          </p:spTgt>
                                        </p:tgtEl>
                                        <p:attrNameLst>
                                          <p:attrName>style.visibility</p:attrName>
                                        </p:attrNameLst>
                                      </p:cBhvr>
                                      <p:to>
                                        <p:strVal val="visible"/>
                                      </p:to>
                                    </p:set>
                                    <p:animEffect transition="in" filter="wipe(up)">
                                      <p:cBhvr>
                                        <p:cTn id="35" dur="2000"/>
                                        <p:tgtEl>
                                          <p:spTgt spid="518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2"/>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4275" name="页脚占位符 3"/>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4276" name="灯片编号占位符 4"/>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5C44DFD3-D3F9-4484-AD8A-7D695554AD3D}" type="slidenum">
              <a:rPr lang="zh-CN" altLang="en-US" sz="800" b="0"/>
              <a:pPr/>
              <a:t>52</a:t>
            </a:fld>
            <a:endParaRPr lang="en-US" altLang="zh-CN" sz="800" b="0"/>
          </a:p>
        </p:txBody>
      </p:sp>
      <p:sp>
        <p:nvSpPr>
          <p:cNvPr id="54277" name="Rectangle 2"/>
          <p:cNvSpPr>
            <a:spLocks noGrp="1" noChangeArrowheads="1"/>
          </p:cNvSpPr>
          <p:nvPr>
            <p:ph type="title"/>
          </p:nvPr>
        </p:nvSpPr>
        <p:spPr>
          <a:xfrm>
            <a:off x="382588" y="152400"/>
            <a:ext cx="9371012" cy="914400"/>
          </a:xfrm>
          <a:noFill/>
        </p:spPr>
        <p:txBody>
          <a:bodyPr lIns="92075" tIns="46038" rIns="92075" bIns="46038"/>
          <a:lstStyle/>
          <a:p>
            <a:r>
              <a:rPr lang="en-US" altLang="zh-CN" smtClean="0">
                <a:ea typeface="宋体" panose="02010600030101010101" pitchFamily="2" charset="-122"/>
              </a:rPr>
              <a:t>Conversion Example – continued (4)</a:t>
            </a:r>
          </a:p>
        </p:txBody>
      </p:sp>
      <p:sp>
        <p:nvSpPr>
          <p:cNvPr id="474124" name="Text Box 12"/>
          <p:cNvSpPr txBox="1">
            <a:spLocks noChangeArrowheads="1"/>
          </p:cNvSpPr>
          <p:nvPr/>
        </p:nvSpPr>
        <p:spPr bwMode="auto">
          <a:xfrm>
            <a:off x="1489075" y="2971800"/>
            <a:ext cx="6056313"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solidFill>
                  <a:srgbClr val="CC0099"/>
                </a:solidFill>
                <a:ea typeface="宋体" panose="02010600030101010101" pitchFamily="2" charset="-122"/>
              </a:rPr>
              <a:t>       </a:t>
            </a:r>
            <a:r>
              <a:rPr lang="en-US" altLang="zh-CN" sz="2000">
                <a:ea typeface="宋体" panose="02010600030101010101" pitchFamily="2" charset="-122"/>
              </a:rPr>
              <a:t>S0                         S1                          S2</a:t>
            </a:r>
          </a:p>
        </p:txBody>
      </p:sp>
      <p:sp>
        <p:nvSpPr>
          <p:cNvPr id="474126" name="Text Box 14"/>
          <p:cNvSpPr txBox="1">
            <a:spLocks noChangeArrowheads="1"/>
          </p:cNvSpPr>
          <p:nvPr/>
        </p:nvSpPr>
        <p:spPr bwMode="auto">
          <a:xfrm>
            <a:off x="1489075" y="3859213"/>
            <a:ext cx="6056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ea typeface="宋体" panose="02010600030101010101" pitchFamily="2" charset="-122"/>
              </a:rPr>
              <a:t>       </a:t>
            </a:r>
            <a:r>
              <a:rPr lang="en-US" altLang="zh-CN" sz="2000">
                <a:ea typeface="宋体" panose="02010600030101010101" pitchFamily="2" charset="-122"/>
              </a:rPr>
              <a:t>S2                         S1                          S2</a:t>
            </a:r>
          </a:p>
        </p:txBody>
      </p:sp>
      <p:grpSp>
        <p:nvGrpSpPr>
          <p:cNvPr id="474170" name="Group 58"/>
          <p:cNvGrpSpPr>
            <a:grpSpLocks/>
          </p:cNvGrpSpPr>
          <p:nvPr/>
        </p:nvGrpSpPr>
        <p:grpSpPr bwMode="auto">
          <a:xfrm>
            <a:off x="1489075" y="1752600"/>
            <a:ext cx="6056313" cy="3548063"/>
            <a:chOff x="938" y="1104"/>
            <a:chExt cx="3815" cy="2235"/>
          </a:xfrm>
        </p:grpSpPr>
        <p:sp>
          <p:nvSpPr>
            <p:cNvPr id="54284" name="Line 4"/>
            <p:cNvSpPr>
              <a:spLocks noChangeShapeType="1"/>
            </p:cNvSpPr>
            <p:nvPr/>
          </p:nvSpPr>
          <p:spPr bwMode="auto">
            <a:xfrm>
              <a:off x="938" y="3339"/>
              <a:ext cx="381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5" name="Line 5"/>
            <p:cNvSpPr>
              <a:spLocks noChangeShapeType="1"/>
            </p:cNvSpPr>
            <p:nvPr/>
          </p:nvSpPr>
          <p:spPr bwMode="auto">
            <a:xfrm>
              <a:off x="2044" y="1174"/>
              <a:ext cx="0" cy="216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6" name="Line 6"/>
            <p:cNvSpPr>
              <a:spLocks noChangeShapeType="1"/>
            </p:cNvSpPr>
            <p:nvPr/>
          </p:nvSpPr>
          <p:spPr bwMode="auto">
            <a:xfrm>
              <a:off x="3315" y="1593"/>
              <a:ext cx="0" cy="174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7" name="Line 7"/>
            <p:cNvSpPr>
              <a:spLocks noChangeShapeType="1"/>
            </p:cNvSpPr>
            <p:nvPr/>
          </p:nvSpPr>
          <p:spPr bwMode="auto">
            <a:xfrm>
              <a:off x="938" y="1802"/>
              <a:ext cx="381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8" name="Text Box 8"/>
            <p:cNvSpPr txBox="1">
              <a:spLocks noChangeArrowheads="1"/>
            </p:cNvSpPr>
            <p:nvPr/>
          </p:nvSpPr>
          <p:spPr bwMode="auto">
            <a:xfrm>
              <a:off x="1104" y="1383"/>
              <a:ext cx="774"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solidFill>
                    <a:srgbClr val="660066"/>
                  </a:solidFill>
                  <a:ea typeface="宋体" panose="02010600030101010101" pitchFamily="2" charset="-122"/>
                  <a:sym typeface="Symbol" panose="05050102010706020507" pitchFamily="18" charset="2"/>
                </a:rPr>
                <a:t>Dstates</a:t>
              </a:r>
            </a:p>
          </p:txBody>
        </p:sp>
        <p:sp>
          <p:nvSpPr>
            <p:cNvPr id="54289" name="Text Box 9"/>
            <p:cNvSpPr txBox="1">
              <a:spLocks noChangeArrowheads="1"/>
            </p:cNvSpPr>
            <p:nvPr/>
          </p:nvSpPr>
          <p:spPr bwMode="auto">
            <a:xfrm>
              <a:off x="2099" y="1104"/>
              <a:ext cx="25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Input Symbol</a:t>
              </a:r>
            </a:p>
          </p:txBody>
        </p:sp>
        <p:sp>
          <p:nvSpPr>
            <p:cNvPr id="54290" name="Text Box 10"/>
            <p:cNvSpPr txBox="1">
              <a:spLocks noChangeArrowheads="1"/>
            </p:cNvSpPr>
            <p:nvPr/>
          </p:nvSpPr>
          <p:spPr bwMode="auto">
            <a:xfrm>
              <a:off x="2431" y="1453"/>
              <a:ext cx="4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a</a:t>
              </a:r>
            </a:p>
          </p:txBody>
        </p:sp>
        <p:sp>
          <p:nvSpPr>
            <p:cNvPr id="54291" name="Text Box 11"/>
            <p:cNvSpPr txBox="1">
              <a:spLocks noChangeArrowheads="1"/>
            </p:cNvSpPr>
            <p:nvPr/>
          </p:nvSpPr>
          <p:spPr bwMode="auto">
            <a:xfrm>
              <a:off x="3813" y="1453"/>
              <a:ext cx="4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b</a:t>
              </a:r>
            </a:p>
          </p:txBody>
        </p:sp>
        <p:sp>
          <p:nvSpPr>
            <p:cNvPr id="54292" name="Text Box 13"/>
            <p:cNvSpPr txBox="1">
              <a:spLocks noChangeArrowheads="1"/>
            </p:cNvSpPr>
            <p:nvPr/>
          </p:nvSpPr>
          <p:spPr bwMode="auto">
            <a:xfrm>
              <a:off x="938" y="2152"/>
              <a:ext cx="381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ea typeface="宋体" panose="02010600030101010101" pitchFamily="2" charset="-122"/>
                </a:rPr>
                <a:t>       </a:t>
              </a:r>
              <a:r>
                <a:rPr lang="en-US" altLang="zh-CN" sz="2000">
                  <a:ea typeface="宋体" panose="02010600030101010101" pitchFamily="2" charset="-122"/>
                </a:rPr>
                <a:t>S1                         S1                          S3</a:t>
              </a:r>
            </a:p>
          </p:txBody>
        </p:sp>
        <p:sp>
          <p:nvSpPr>
            <p:cNvPr id="54293" name="Text Box 15"/>
            <p:cNvSpPr txBox="1">
              <a:spLocks noChangeArrowheads="1"/>
            </p:cNvSpPr>
            <p:nvPr/>
          </p:nvSpPr>
          <p:spPr bwMode="auto">
            <a:xfrm>
              <a:off x="938" y="2990"/>
              <a:ext cx="381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ea typeface="宋体" panose="02010600030101010101" pitchFamily="2" charset="-122"/>
                </a:rPr>
                <a:t>       </a:t>
              </a:r>
              <a:r>
                <a:rPr lang="en-US" altLang="zh-CN" sz="2000">
                  <a:ea typeface="宋体" panose="02010600030101010101" pitchFamily="2" charset="-122"/>
                </a:rPr>
                <a:t>S4                         S1                          S2</a:t>
              </a:r>
            </a:p>
          </p:txBody>
        </p:sp>
        <p:sp>
          <p:nvSpPr>
            <p:cNvPr id="54294" name="Text Box 16"/>
            <p:cNvSpPr txBox="1">
              <a:spLocks noChangeArrowheads="1"/>
            </p:cNvSpPr>
            <p:nvPr/>
          </p:nvSpPr>
          <p:spPr bwMode="auto">
            <a:xfrm>
              <a:off x="938" y="2710"/>
              <a:ext cx="3815"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ea typeface="宋体" panose="02010600030101010101" pitchFamily="2" charset="-122"/>
                </a:rPr>
                <a:t>       </a:t>
              </a:r>
              <a:r>
                <a:rPr lang="en-US" altLang="zh-CN" sz="2000">
                  <a:ea typeface="宋体" panose="02010600030101010101" pitchFamily="2" charset="-122"/>
                </a:rPr>
                <a:t>S3                         S1                          S4</a:t>
              </a:r>
            </a:p>
          </p:txBody>
        </p:sp>
      </p:grpSp>
      <p:sp>
        <p:nvSpPr>
          <p:cNvPr id="54281" name="Text Box 56"/>
          <p:cNvSpPr txBox="1">
            <a:spLocks noChangeArrowheads="1"/>
          </p:cNvSpPr>
          <p:nvPr/>
        </p:nvSpPr>
        <p:spPr bwMode="auto">
          <a:xfrm>
            <a:off x="1238250" y="1143000"/>
            <a:ext cx="828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r>
              <a:rPr lang="en-US" altLang="zh-CN">
                <a:ea typeface="宋体" panose="02010600030101010101" pitchFamily="2" charset="-122"/>
              </a:rPr>
              <a:t>This gives the transition table </a:t>
            </a:r>
            <a:r>
              <a:rPr lang="en-US" altLang="zh-CN">
                <a:solidFill>
                  <a:srgbClr val="660066"/>
                </a:solidFill>
                <a:ea typeface="宋体" panose="02010600030101010101" pitchFamily="2" charset="-122"/>
                <a:sym typeface="Symbol" panose="05050102010706020507" pitchFamily="18" charset="2"/>
              </a:rPr>
              <a:t>Dtran</a:t>
            </a:r>
            <a:r>
              <a:rPr lang="en-US" altLang="zh-CN">
                <a:solidFill>
                  <a:srgbClr val="660066"/>
                </a:solidFill>
                <a:ea typeface="宋体" panose="02010600030101010101" pitchFamily="2" charset="-122"/>
              </a:rPr>
              <a:t> </a:t>
            </a:r>
            <a:r>
              <a:rPr lang="en-US" altLang="zh-CN">
                <a:ea typeface="宋体" panose="02010600030101010101" pitchFamily="2" charset="-122"/>
              </a:rPr>
              <a:t>for the DFA of:</a:t>
            </a:r>
          </a:p>
        </p:txBody>
      </p:sp>
      <p:sp>
        <p:nvSpPr>
          <p:cNvPr id="54282" name="Text Box 57"/>
          <p:cNvSpPr txBox="1">
            <a:spLocks noChangeArrowheads="1"/>
          </p:cNvSpPr>
          <p:nvPr/>
        </p:nvSpPr>
        <p:spPr bwMode="auto">
          <a:xfrm>
            <a:off x="1927225" y="5373688"/>
            <a:ext cx="525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b="0">
                <a:ea typeface="宋体" panose="02010600030101010101" pitchFamily="2" charset="-122"/>
              </a:rPr>
              <a:t>Fig.3.28. transition table Dtran for DFA.</a:t>
            </a:r>
          </a:p>
        </p:txBody>
      </p:sp>
      <p:pic>
        <p:nvPicPr>
          <p:cNvPr id="474171" name="Picture 59" descr="C:\Users\xmju\AppData\Roaming\Tencent\Users\171427982\QQ\WinTemp\RichOle\R9]_G48R1GPSG%}ZCWC%Z5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4050" y="3143250"/>
            <a:ext cx="2865438"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74170"/>
                                        </p:tgtEl>
                                        <p:attrNameLst>
                                          <p:attrName>style.visibility</p:attrName>
                                        </p:attrNameLst>
                                      </p:cBhvr>
                                      <p:to>
                                        <p:strVal val="visible"/>
                                      </p:to>
                                    </p:set>
                                    <p:animEffect transition="in" filter="wipe(up)">
                                      <p:cBhvr>
                                        <p:cTn id="7" dur="500"/>
                                        <p:tgtEl>
                                          <p:spTgt spid="474170"/>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474124"/>
                                        </p:tgtEl>
                                        <p:attrNameLst>
                                          <p:attrName>style.visibility</p:attrName>
                                        </p:attrNameLst>
                                      </p:cBhvr>
                                      <p:to>
                                        <p:strVal val="visible"/>
                                      </p:to>
                                    </p:set>
                                    <p:animEffect transition="in" filter="wipe(left)">
                                      <p:cBhvr>
                                        <p:cTn id="11" dur="75"/>
                                        <p:tgtEl>
                                          <p:spTgt spid="474124"/>
                                        </p:tgtEl>
                                      </p:cBhvr>
                                    </p:animEffect>
                                  </p:childTnLst>
                                </p:cTn>
                              </p:par>
                            </p:childTnLst>
                          </p:cTn>
                        </p:par>
                        <p:par>
                          <p:cTn id="12" fill="hold" nodeType="afterGroup">
                            <p:stCondLst>
                              <p:cond delay="950"/>
                            </p:stCondLst>
                            <p:childTnLst>
                              <p:par>
                                <p:cTn id="13" presetID="22" presetClass="entr" presetSubtype="8" fill="hold" grpId="0" nodeType="afterEffect">
                                  <p:stCondLst>
                                    <p:cond delay="0"/>
                                  </p:stCondLst>
                                  <p:iterate type="lt">
                                    <p:tmPct val="100000"/>
                                  </p:iterate>
                                  <p:childTnLst>
                                    <p:set>
                                      <p:cBhvr>
                                        <p:cTn id="14" dur="1" fill="hold">
                                          <p:stCondLst>
                                            <p:cond delay="0"/>
                                          </p:stCondLst>
                                        </p:cTn>
                                        <p:tgtEl>
                                          <p:spTgt spid="474126"/>
                                        </p:tgtEl>
                                        <p:attrNameLst>
                                          <p:attrName>style.visibility</p:attrName>
                                        </p:attrNameLst>
                                      </p:cBhvr>
                                      <p:to>
                                        <p:strVal val="visible"/>
                                      </p:to>
                                    </p:set>
                                    <p:animEffect transition="in" filter="wipe(left)">
                                      <p:cBhvr>
                                        <p:cTn id="15" dur="75"/>
                                        <p:tgtEl>
                                          <p:spTgt spid="47412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474171"/>
                                        </p:tgtEl>
                                        <p:attrNameLst>
                                          <p:attrName>style.visibility</p:attrName>
                                        </p:attrNameLst>
                                      </p:cBhvr>
                                      <p:to>
                                        <p:strVal val="visible"/>
                                      </p:to>
                                    </p:set>
                                    <p:animEffect transition="in" filter="fade">
                                      <p:cBhvr>
                                        <p:cTn id="20" dur="500"/>
                                        <p:tgtEl>
                                          <p:spTgt spid="474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24" grpId="0" autoUpdateAnimBg="0"/>
      <p:bldP spid="474126"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5299"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5300"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96C8DE7-C6C9-4065-BF2B-69E39DF6B27E}" type="slidenum">
              <a:rPr lang="zh-CN" altLang="en-US" sz="800" b="0"/>
              <a:pPr/>
              <a:t>53</a:t>
            </a:fld>
            <a:endParaRPr lang="en-US" altLang="zh-CN" sz="800" b="0"/>
          </a:p>
        </p:txBody>
      </p:sp>
      <p:sp>
        <p:nvSpPr>
          <p:cNvPr id="55301" name="Rectangle 2"/>
          <p:cNvSpPr>
            <a:spLocks noGrp="1" noChangeArrowheads="1"/>
          </p:cNvSpPr>
          <p:nvPr>
            <p:ph type="title"/>
          </p:nvPr>
        </p:nvSpPr>
        <p:spPr/>
        <p:txBody>
          <a:bodyPr/>
          <a:lstStyle/>
          <a:p>
            <a:endParaRPr lang="zh-CN" altLang="en-US" smtClean="0">
              <a:ea typeface="宋体" panose="02010600030101010101" pitchFamily="2" charset="-122"/>
            </a:endParaRPr>
          </a:p>
        </p:txBody>
      </p:sp>
      <p:sp>
        <p:nvSpPr>
          <p:cNvPr id="55302" name="Rectangle 3"/>
          <p:cNvSpPr>
            <a:spLocks noGrp="1" noChangeArrowheads="1"/>
          </p:cNvSpPr>
          <p:nvPr>
            <p:ph type="body" idx="1"/>
          </p:nvPr>
        </p:nvSpPr>
        <p:spPr>
          <a:xfrm>
            <a:off x="344488" y="4868863"/>
            <a:ext cx="9145587" cy="576262"/>
          </a:xfrm>
        </p:spPr>
        <p:txBody>
          <a:bodyPr/>
          <a:lstStyle/>
          <a:p>
            <a:pPr>
              <a:spcBef>
                <a:spcPct val="0"/>
              </a:spcBef>
              <a:buFontTx/>
              <a:buNone/>
            </a:pPr>
            <a:r>
              <a:rPr lang="en-US" altLang="zh-CN" smtClean="0">
                <a:ea typeface="宋体" panose="02010600030101010101" pitchFamily="2" charset="-122"/>
              </a:rPr>
              <a:t>Fig.3.29. result of applying the subset construction to Fig.3.27. (P.121)</a:t>
            </a:r>
          </a:p>
        </p:txBody>
      </p:sp>
      <p:sp>
        <p:nvSpPr>
          <p:cNvPr id="55303" name="Rectangle 43"/>
          <p:cNvSpPr>
            <a:spLocks noChangeArrowheads="1"/>
          </p:cNvSpPr>
          <p:nvPr/>
        </p:nvSpPr>
        <p:spPr bwMode="auto">
          <a:xfrm>
            <a:off x="2792413" y="5445125"/>
            <a:ext cx="4392612"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400">
                <a:solidFill>
                  <a:schemeClr val="tx1"/>
                </a:solidFill>
                <a:latin typeface="Times New Roman" panose="02020603050405020304" pitchFamily="18" charset="0"/>
              </a:defRPr>
            </a:lvl1pPr>
            <a:lvl2pPr marL="742950" indent="-285750">
              <a:spcBef>
                <a:spcPct val="20000"/>
              </a:spcBef>
              <a:buChar char="–"/>
              <a:defRPr>
                <a:solidFill>
                  <a:schemeClr val="tx1"/>
                </a:solidFill>
                <a:latin typeface="Times New Roman" panose="02020603050405020304" pitchFamily="18" charset="0"/>
              </a:defRPr>
            </a:lvl2pPr>
            <a:lvl3pPr marL="1143000" indent="-228600">
              <a:spcBef>
                <a:spcPct val="20000"/>
              </a:spcBef>
              <a:buChar char="•"/>
              <a:defRPr sz="1600">
                <a:solidFill>
                  <a:schemeClr val="tx1"/>
                </a:solidFill>
                <a:latin typeface="Times New Roman" panose="02020603050405020304" pitchFamily="18" charset="0"/>
              </a:defRPr>
            </a:lvl3pPr>
            <a:lvl4pPr marL="1600200" indent="-228600">
              <a:spcBef>
                <a:spcPct val="20000"/>
              </a:spcBef>
              <a:buChar char="–"/>
              <a:defRPr sz="1400">
                <a:solidFill>
                  <a:schemeClr val="tx1"/>
                </a:solidFill>
                <a:latin typeface="Times New Roman" panose="02020603050405020304" pitchFamily="18" charset="0"/>
              </a:defRPr>
            </a:lvl4pPr>
            <a:lvl5pPr marL="2057400" indent="-228600">
              <a:spcBef>
                <a:spcPct val="20000"/>
              </a:spcBef>
              <a:buChar char="»"/>
              <a:defRPr sz="12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r>
              <a:rPr lang="en-US" altLang="zh-CN" b="0">
                <a:solidFill>
                  <a:srgbClr val="660066"/>
                </a:solidFill>
                <a:ea typeface="宋体" panose="02010600030101010101" pitchFamily="2" charset="-122"/>
              </a:rPr>
              <a:t>Fig.3.29. vs. Fig.3.23. (P.117)</a:t>
            </a:r>
          </a:p>
        </p:txBody>
      </p:sp>
      <p:grpSp>
        <p:nvGrpSpPr>
          <p:cNvPr id="477229" name="Group 45"/>
          <p:cNvGrpSpPr>
            <a:grpSpLocks/>
          </p:cNvGrpSpPr>
          <p:nvPr/>
        </p:nvGrpSpPr>
        <p:grpSpPr bwMode="auto">
          <a:xfrm>
            <a:off x="1423988" y="1484313"/>
            <a:ext cx="6553200" cy="2646362"/>
            <a:chOff x="897" y="935"/>
            <a:chExt cx="4128" cy="1667"/>
          </a:xfrm>
        </p:grpSpPr>
        <p:grpSp>
          <p:nvGrpSpPr>
            <p:cNvPr id="55305" name="Group 5"/>
            <p:cNvGrpSpPr>
              <a:grpSpLocks/>
            </p:cNvGrpSpPr>
            <p:nvPr/>
          </p:nvGrpSpPr>
          <p:grpSpPr bwMode="auto">
            <a:xfrm>
              <a:off x="1433" y="1893"/>
              <a:ext cx="483" cy="538"/>
              <a:chOff x="1440" y="3408"/>
              <a:chExt cx="432" cy="432"/>
            </a:xfrm>
          </p:grpSpPr>
          <p:sp>
            <p:nvSpPr>
              <p:cNvPr id="55342" name="Oval 6"/>
              <p:cNvSpPr>
                <a:spLocks noChangeArrowheads="1"/>
              </p:cNvSpPr>
              <p:nvPr/>
            </p:nvSpPr>
            <p:spPr bwMode="auto">
              <a:xfrm>
                <a:off x="1440" y="340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5343" name="Text Box 7"/>
              <p:cNvSpPr txBox="1">
                <a:spLocks noChangeArrowheads="1"/>
              </p:cNvSpPr>
              <p:nvPr/>
            </p:nvSpPr>
            <p:spPr bwMode="auto">
              <a:xfrm>
                <a:off x="1488"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S0</a:t>
                </a:r>
              </a:p>
            </p:txBody>
          </p:sp>
        </p:grpSp>
        <p:grpSp>
          <p:nvGrpSpPr>
            <p:cNvPr id="55306" name="Group 8"/>
            <p:cNvGrpSpPr>
              <a:grpSpLocks/>
            </p:cNvGrpSpPr>
            <p:nvPr/>
          </p:nvGrpSpPr>
          <p:grpSpPr bwMode="auto">
            <a:xfrm>
              <a:off x="2988" y="1234"/>
              <a:ext cx="482" cy="539"/>
              <a:chOff x="1440" y="3408"/>
              <a:chExt cx="432" cy="432"/>
            </a:xfrm>
          </p:grpSpPr>
          <p:sp>
            <p:nvSpPr>
              <p:cNvPr id="55340" name="Oval 9"/>
              <p:cNvSpPr>
                <a:spLocks noChangeArrowheads="1"/>
              </p:cNvSpPr>
              <p:nvPr/>
            </p:nvSpPr>
            <p:spPr bwMode="auto">
              <a:xfrm>
                <a:off x="1440" y="340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5341" name="Text Box 10"/>
              <p:cNvSpPr txBox="1">
                <a:spLocks noChangeArrowheads="1"/>
              </p:cNvSpPr>
              <p:nvPr/>
            </p:nvSpPr>
            <p:spPr bwMode="auto">
              <a:xfrm>
                <a:off x="1488"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S2</a:t>
                </a:r>
              </a:p>
            </p:txBody>
          </p:sp>
        </p:grpSp>
        <p:grpSp>
          <p:nvGrpSpPr>
            <p:cNvPr id="55307" name="Group 11"/>
            <p:cNvGrpSpPr>
              <a:grpSpLocks/>
            </p:cNvGrpSpPr>
            <p:nvPr/>
          </p:nvGrpSpPr>
          <p:grpSpPr bwMode="auto">
            <a:xfrm>
              <a:off x="2398" y="1893"/>
              <a:ext cx="483" cy="538"/>
              <a:chOff x="1440" y="3408"/>
              <a:chExt cx="432" cy="432"/>
            </a:xfrm>
          </p:grpSpPr>
          <p:sp>
            <p:nvSpPr>
              <p:cNvPr id="55338" name="Oval 12"/>
              <p:cNvSpPr>
                <a:spLocks noChangeArrowheads="1"/>
              </p:cNvSpPr>
              <p:nvPr/>
            </p:nvSpPr>
            <p:spPr bwMode="auto">
              <a:xfrm>
                <a:off x="1440" y="340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5339" name="Text Box 13"/>
              <p:cNvSpPr txBox="1">
                <a:spLocks noChangeArrowheads="1"/>
              </p:cNvSpPr>
              <p:nvPr/>
            </p:nvSpPr>
            <p:spPr bwMode="auto">
              <a:xfrm>
                <a:off x="1488"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S1</a:t>
                </a:r>
              </a:p>
            </p:txBody>
          </p:sp>
        </p:grpSp>
        <p:grpSp>
          <p:nvGrpSpPr>
            <p:cNvPr id="55308" name="Group 14"/>
            <p:cNvGrpSpPr>
              <a:grpSpLocks/>
            </p:cNvGrpSpPr>
            <p:nvPr/>
          </p:nvGrpSpPr>
          <p:grpSpPr bwMode="auto">
            <a:xfrm>
              <a:off x="3524" y="1893"/>
              <a:ext cx="482" cy="538"/>
              <a:chOff x="1440" y="3408"/>
              <a:chExt cx="432" cy="432"/>
            </a:xfrm>
          </p:grpSpPr>
          <p:sp>
            <p:nvSpPr>
              <p:cNvPr id="55336" name="Oval 15"/>
              <p:cNvSpPr>
                <a:spLocks noChangeArrowheads="1"/>
              </p:cNvSpPr>
              <p:nvPr/>
            </p:nvSpPr>
            <p:spPr bwMode="auto">
              <a:xfrm>
                <a:off x="1440" y="340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5337" name="Text Box 16"/>
              <p:cNvSpPr txBox="1">
                <a:spLocks noChangeArrowheads="1"/>
              </p:cNvSpPr>
              <p:nvPr/>
            </p:nvSpPr>
            <p:spPr bwMode="auto">
              <a:xfrm>
                <a:off x="1488"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S3</a:t>
                </a:r>
              </a:p>
            </p:txBody>
          </p:sp>
        </p:grpSp>
        <p:grpSp>
          <p:nvGrpSpPr>
            <p:cNvPr id="55309" name="Group 17"/>
            <p:cNvGrpSpPr>
              <a:grpSpLocks/>
            </p:cNvGrpSpPr>
            <p:nvPr/>
          </p:nvGrpSpPr>
          <p:grpSpPr bwMode="auto">
            <a:xfrm>
              <a:off x="4543" y="1893"/>
              <a:ext cx="482" cy="538"/>
              <a:chOff x="4032" y="3504"/>
              <a:chExt cx="432" cy="432"/>
            </a:xfrm>
          </p:grpSpPr>
          <p:grpSp>
            <p:nvGrpSpPr>
              <p:cNvPr id="55332" name="Group 18"/>
              <p:cNvGrpSpPr>
                <a:grpSpLocks/>
              </p:cNvGrpSpPr>
              <p:nvPr/>
            </p:nvGrpSpPr>
            <p:grpSpPr bwMode="auto">
              <a:xfrm>
                <a:off x="4032" y="3504"/>
                <a:ext cx="432" cy="432"/>
                <a:chOff x="1440" y="3408"/>
                <a:chExt cx="432" cy="432"/>
              </a:xfrm>
            </p:grpSpPr>
            <p:sp>
              <p:nvSpPr>
                <p:cNvPr id="55334" name="Oval 19"/>
                <p:cNvSpPr>
                  <a:spLocks noChangeArrowheads="1"/>
                </p:cNvSpPr>
                <p:nvPr/>
              </p:nvSpPr>
              <p:spPr bwMode="auto">
                <a:xfrm>
                  <a:off x="1440" y="3408"/>
                  <a:ext cx="432" cy="432"/>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5335" name="Text Box 20"/>
                <p:cNvSpPr txBox="1">
                  <a:spLocks noChangeArrowheads="1"/>
                </p:cNvSpPr>
                <p:nvPr/>
              </p:nvSpPr>
              <p:spPr bwMode="auto">
                <a:xfrm>
                  <a:off x="1488"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S4</a:t>
                  </a:r>
                </a:p>
              </p:txBody>
            </p:sp>
          </p:grpSp>
          <p:sp>
            <p:nvSpPr>
              <p:cNvPr id="55333" name="Oval 21"/>
              <p:cNvSpPr>
                <a:spLocks noChangeArrowheads="1"/>
              </p:cNvSpPr>
              <p:nvPr/>
            </p:nvSpPr>
            <p:spPr bwMode="auto">
              <a:xfrm>
                <a:off x="4080" y="3552"/>
                <a:ext cx="336" cy="336"/>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cxnSp>
          <p:nvCxnSpPr>
            <p:cNvPr id="55310" name="AutoShape 22"/>
            <p:cNvCxnSpPr>
              <a:cxnSpLocks noChangeShapeType="1"/>
              <a:stCxn id="55342" idx="6"/>
              <a:endCxn id="55338" idx="2"/>
            </p:cNvCxnSpPr>
            <p:nvPr/>
          </p:nvCxnSpPr>
          <p:spPr bwMode="auto">
            <a:xfrm>
              <a:off x="1916" y="2162"/>
              <a:ext cx="482" cy="0"/>
            </a:xfrm>
            <a:prstGeom prst="straightConnector1">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1" name="AutoShape 23"/>
            <p:cNvCxnSpPr>
              <a:cxnSpLocks noChangeShapeType="1"/>
              <a:stCxn id="55340" idx="4"/>
              <a:endCxn id="55338" idx="7"/>
            </p:cNvCxnSpPr>
            <p:nvPr/>
          </p:nvCxnSpPr>
          <p:spPr bwMode="auto">
            <a:xfrm rot="5400000">
              <a:off x="2921" y="1662"/>
              <a:ext cx="198" cy="419"/>
            </a:xfrm>
            <a:prstGeom prst="curvedConnector3">
              <a:avLst>
                <a:gd name="adj1" fmla="val 30190"/>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2" name="AutoShape 24"/>
            <p:cNvCxnSpPr>
              <a:cxnSpLocks noChangeShapeType="1"/>
              <a:stCxn id="55334" idx="1"/>
              <a:endCxn id="55340" idx="6"/>
            </p:cNvCxnSpPr>
            <p:nvPr/>
          </p:nvCxnSpPr>
          <p:spPr bwMode="auto">
            <a:xfrm rot="5400000" flipH="1">
              <a:off x="3808" y="1166"/>
              <a:ext cx="467" cy="1143"/>
            </a:xfrm>
            <a:prstGeom prst="curvedConnector2">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3" name="AutoShape 25"/>
            <p:cNvCxnSpPr>
              <a:cxnSpLocks noChangeShapeType="1"/>
              <a:stCxn id="55334" idx="3"/>
              <a:endCxn id="55338" idx="5"/>
            </p:cNvCxnSpPr>
            <p:nvPr/>
          </p:nvCxnSpPr>
          <p:spPr bwMode="auto">
            <a:xfrm rot="5400000">
              <a:off x="3711" y="1452"/>
              <a:ext cx="1" cy="1803"/>
            </a:xfrm>
            <a:prstGeom prst="curvedConnector3">
              <a:avLst>
                <a:gd name="adj1" fmla="val 20700000"/>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4" name="AutoShape 26"/>
            <p:cNvCxnSpPr>
              <a:cxnSpLocks noChangeShapeType="1"/>
              <a:stCxn id="55338" idx="4"/>
              <a:endCxn id="55338" idx="3"/>
            </p:cNvCxnSpPr>
            <p:nvPr/>
          </p:nvCxnSpPr>
          <p:spPr bwMode="auto">
            <a:xfrm rot="16200000" flipV="1">
              <a:off x="2515" y="2306"/>
              <a:ext cx="78" cy="171"/>
            </a:xfrm>
            <a:prstGeom prst="curvedConnector3">
              <a:avLst>
                <a:gd name="adj1" fmla="val -409528"/>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5" name="AutoShape 27"/>
            <p:cNvCxnSpPr>
              <a:cxnSpLocks noChangeShapeType="1"/>
              <a:stCxn id="55336" idx="3"/>
              <a:endCxn id="55338" idx="6"/>
            </p:cNvCxnSpPr>
            <p:nvPr/>
          </p:nvCxnSpPr>
          <p:spPr bwMode="auto">
            <a:xfrm rot="16200000" flipV="1">
              <a:off x="3142" y="1901"/>
              <a:ext cx="191" cy="713"/>
            </a:xfrm>
            <a:prstGeom prst="curvedConnector4">
              <a:avLst>
                <a:gd name="adj1" fmla="val -48370"/>
                <a:gd name="adj2" fmla="val 54931"/>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6" name="AutoShape 28"/>
            <p:cNvCxnSpPr>
              <a:cxnSpLocks noChangeShapeType="1"/>
              <a:stCxn id="55342" idx="0"/>
              <a:endCxn id="55340" idx="2"/>
            </p:cNvCxnSpPr>
            <p:nvPr/>
          </p:nvCxnSpPr>
          <p:spPr bwMode="auto">
            <a:xfrm rot="-5400000">
              <a:off x="2136" y="1042"/>
              <a:ext cx="389" cy="1314"/>
            </a:xfrm>
            <a:prstGeom prst="curvedConnector2">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7" name="AutoShape 29"/>
            <p:cNvCxnSpPr>
              <a:cxnSpLocks noChangeShapeType="1"/>
              <a:stCxn id="55336" idx="6"/>
              <a:endCxn id="55334" idx="2"/>
            </p:cNvCxnSpPr>
            <p:nvPr/>
          </p:nvCxnSpPr>
          <p:spPr bwMode="auto">
            <a:xfrm>
              <a:off x="4006" y="2162"/>
              <a:ext cx="537" cy="0"/>
            </a:xfrm>
            <a:prstGeom prst="straightConnector1">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18" name="AutoShape 30"/>
            <p:cNvCxnSpPr>
              <a:cxnSpLocks noChangeShapeType="1"/>
              <a:stCxn id="55338" idx="6"/>
              <a:endCxn id="55336" idx="2"/>
            </p:cNvCxnSpPr>
            <p:nvPr/>
          </p:nvCxnSpPr>
          <p:spPr bwMode="auto">
            <a:xfrm>
              <a:off x="2881" y="2162"/>
              <a:ext cx="643" cy="0"/>
            </a:xfrm>
            <a:prstGeom prst="straightConnector1">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19" name="Line 31"/>
            <p:cNvSpPr>
              <a:spLocks noChangeShapeType="1"/>
            </p:cNvSpPr>
            <p:nvPr/>
          </p:nvSpPr>
          <p:spPr bwMode="auto">
            <a:xfrm>
              <a:off x="1004" y="2192"/>
              <a:ext cx="429" cy="0"/>
            </a:xfrm>
            <a:prstGeom prst="line">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55320" name="AutoShape 32"/>
            <p:cNvCxnSpPr>
              <a:cxnSpLocks noChangeShapeType="1"/>
              <a:stCxn id="55340" idx="0"/>
              <a:endCxn id="55340" idx="1"/>
            </p:cNvCxnSpPr>
            <p:nvPr/>
          </p:nvCxnSpPr>
          <p:spPr bwMode="auto">
            <a:xfrm rot="-5400000" flipH="1" flipV="1">
              <a:off x="3104" y="1188"/>
              <a:ext cx="79" cy="171"/>
            </a:xfrm>
            <a:prstGeom prst="curvedConnector3">
              <a:avLst>
                <a:gd name="adj1" fmla="val -228569"/>
              </a:avLst>
            </a:prstGeom>
            <a:noFill/>
            <a:ln w="25400">
              <a:solidFill>
                <a:schemeClr val="tx1"/>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321" name="Text Box 33"/>
            <p:cNvSpPr txBox="1">
              <a:spLocks noChangeArrowheads="1"/>
            </p:cNvSpPr>
            <p:nvPr/>
          </p:nvSpPr>
          <p:spPr bwMode="auto">
            <a:xfrm>
              <a:off x="897" y="1952"/>
              <a:ext cx="5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start</a:t>
              </a:r>
            </a:p>
          </p:txBody>
        </p:sp>
        <p:sp>
          <p:nvSpPr>
            <p:cNvPr id="55322" name="Text Box 34"/>
            <p:cNvSpPr txBox="1">
              <a:spLocks noChangeArrowheads="1"/>
            </p:cNvSpPr>
            <p:nvPr/>
          </p:nvSpPr>
          <p:spPr bwMode="auto">
            <a:xfrm>
              <a:off x="4114" y="1952"/>
              <a:ext cx="32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55323" name="Text Box 35"/>
            <p:cNvSpPr txBox="1">
              <a:spLocks noChangeArrowheads="1"/>
            </p:cNvSpPr>
            <p:nvPr/>
          </p:nvSpPr>
          <p:spPr bwMode="auto">
            <a:xfrm>
              <a:off x="3095" y="1952"/>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55324" name="Text Box 36"/>
            <p:cNvSpPr txBox="1">
              <a:spLocks noChangeArrowheads="1"/>
            </p:cNvSpPr>
            <p:nvPr/>
          </p:nvSpPr>
          <p:spPr bwMode="auto">
            <a:xfrm>
              <a:off x="4060" y="1354"/>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55325" name="Text Box 37"/>
            <p:cNvSpPr txBox="1">
              <a:spLocks noChangeArrowheads="1"/>
            </p:cNvSpPr>
            <p:nvPr/>
          </p:nvSpPr>
          <p:spPr bwMode="auto">
            <a:xfrm>
              <a:off x="3095" y="935"/>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55326" name="Text Box 38"/>
            <p:cNvSpPr txBox="1">
              <a:spLocks noChangeArrowheads="1"/>
            </p:cNvSpPr>
            <p:nvPr/>
          </p:nvSpPr>
          <p:spPr bwMode="auto">
            <a:xfrm>
              <a:off x="1969" y="1354"/>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b</a:t>
              </a:r>
            </a:p>
          </p:txBody>
        </p:sp>
        <p:sp>
          <p:nvSpPr>
            <p:cNvPr id="55327" name="Text Box 39"/>
            <p:cNvSpPr txBox="1">
              <a:spLocks noChangeArrowheads="1"/>
            </p:cNvSpPr>
            <p:nvPr/>
          </p:nvSpPr>
          <p:spPr bwMode="auto">
            <a:xfrm>
              <a:off x="2237" y="2371"/>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55328" name="Text Box 40"/>
            <p:cNvSpPr txBox="1">
              <a:spLocks noChangeArrowheads="1"/>
            </p:cNvSpPr>
            <p:nvPr/>
          </p:nvSpPr>
          <p:spPr bwMode="auto">
            <a:xfrm>
              <a:off x="3202" y="2192"/>
              <a:ext cx="32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55329" name="Text Box 41"/>
            <p:cNvSpPr txBox="1">
              <a:spLocks noChangeArrowheads="1"/>
            </p:cNvSpPr>
            <p:nvPr/>
          </p:nvSpPr>
          <p:spPr bwMode="auto">
            <a:xfrm>
              <a:off x="1969" y="1952"/>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55330" name="Text Box 42"/>
            <p:cNvSpPr txBox="1">
              <a:spLocks noChangeArrowheads="1"/>
            </p:cNvSpPr>
            <p:nvPr/>
          </p:nvSpPr>
          <p:spPr bwMode="auto">
            <a:xfrm>
              <a:off x="4060" y="2311"/>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sp>
          <p:nvSpPr>
            <p:cNvPr id="55331" name="Text Box 44"/>
            <p:cNvSpPr txBox="1">
              <a:spLocks noChangeArrowheads="1"/>
            </p:cNvSpPr>
            <p:nvPr/>
          </p:nvSpPr>
          <p:spPr bwMode="auto">
            <a:xfrm>
              <a:off x="2712" y="1616"/>
              <a:ext cx="3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1800">
                  <a:ea typeface="宋体" panose="02010600030101010101" pitchFamily="2" charset="-122"/>
                </a:rPr>
                <a:t>a</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afterEffect">
                                  <p:stCondLst>
                                    <p:cond delay="0"/>
                                  </p:stCondLst>
                                  <p:childTnLst>
                                    <p:set>
                                      <p:cBhvr>
                                        <p:cTn id="6" dur="1" fill="hold">
                                          <p:stCondLst>
                                            <p:cond delay="0"/>
                                          </p:stCondLst>
                                        </p:cTn>
                                        <p:tgtEl>
                                          <p:spTgt spid="477229"/>
                                        </p:tgtEl>
                                        <p:attrNameLst>
                                          <p:attrName>style.visibility</p:attrName>
                                        </p:attrNameLst>
                                      </p:cBhvr>
                                      <p:to>
                                        <p:strVal val="visible"/>
                                      </p:to>
                                    </p:set>
                                    <p:animEffect transition="in" filter="diamond(in)">
                                      <p:cBhvr>
                                        <p:cTn id="7" dur="2000"/>
                                        <p:tgtEl>
                                          <p:spTgt spid="477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6323"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6324"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91B6D644-49FC-42E0-BA91-16DB38211048}" type="slidenum">
              <a:rPr lang="zh-CN" altLang="en-US" sz="800" b="0"/>
              <a:pPr/>
              <a:t>54</a:t>
            </a:fld>
            <a:endParaRPr lang="en-US" altLang="zh-CN" sz="800" b="0"/>
          </a:p>
        </p:txBody>
      </p:sp>
      <p:sp>
        <p:nvSpPr>
          <p:cNvPr id="56325" name="Rectangle 2"/>
          <p:cNvSpPr>
            <a:spLocks noGrp="1" noChangeArrowheads="1"/>
          </p:cNvSpPr>
          <p:nvPr>
            <p:ph type="title"/>
          </p:nvPr>
        </p:nvSpPr>
        <p:spPr/>
        <p:txBody>
          <a:bodyPr/>
          <a:lstStyle/>
          <a:p>
            <a:r>
              <a:rPr lang="en-US" altLang="zh-CN" smtClean="0">
                <a:ea typeface="宋体" panose="02010600030101010101" pitchFamily="2" charset="-122"/>
              </a:rPr>
              <a:t>DFA (exercise in class)</a:t>
            </a:r>
          </a:p>
        </p:txBody>
      </p:sp>
      <p:sp>
        <p:nvSpPr>
          <p:cNvPr id="56326" name="Text Box 3"/>
          <p:cNvSpPr txBox="1">
            <a:spLocks noChangeArrowheads="1"/>
          </p:cNvSpPr>
          <p:nvPr/>
        </p:nvSpPr>
        <p:spPr bwMode="auto">
          <a:xfrm>
            <a:off x="849313" y="981075"/>
            <a:ext cx="8280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sz="3200" b="0">
                <a:ea typeface="宋体" panose="02010600030101010101" pitchFamily="2" charset="-122"/>
              </a:rPr>
              <a:t>The language recognized by this DFA is also  </a:t>
            </a:r>
            <a:r>
              <a:rPr lang="en-US" altLang="zh-CN" sz="3200">
                <a:ea typeface="宋体" panose="02010600030101010101" pitchFamily="2" charset="-122"/>
              </a:rPr>
              <a:t>a(a|b)</a:t>
            </a:r>
            <a:r>
              <a:rPr lang="en-US" altLang="zh-CN" sz="3200" baseline="30000">
                <a:ea typeface="宋体" panose="02010600030101010101" pitchFamily="2" charset="-122"/>
              </a:rPr>
              <a:t> *</a:t>
            </a:r>
            <a:r>
              <a:rPr lang="en-US" altLang="zh-CN" sz="3200">
                <a:ea typeface="宋体" panose="02010600030101010101" pitchFamily="2" charset="-122"/>
              </a:rPr>
              <a:t>b</a:t>
            </a:r>
            <a:r>
              <a:rPr lang="en-US" altLang="zh-CN" sz="3200" b="0">
                <a:ea typeface="宋体" panose="02010600030101010101" pitchFamily="2" charset="-122"/>
              </a:rPr>
              <a:t>, figure out a transition graph of DFA.</a:t>
            </a:r>
          </a:p>
        </p:txBody>
      </p:sp>
      <p:graphicFrame>
        <p:nvGraphicFramePr>
          <p:cNvPr id="523292" name="Object 28"/>
          <p:cNvGraphicFramePr>
            <a:graphicFrameLocks noChangeAspect="1"/>
          </p:cNvGraphicFramePr>
          <p:nvPr>
            <p:ph idx="1"/>
          </p:nvPr>
        </p:nvGraphicFramePr>
        <p:xfrm>
          <a:off x="631825" y="2349500"/>
          <a:ext cx="8137525" cy="3267075"/>
        </p:xfrm>
        <a:graphic>
          <a:graphicData uri="http://schemas.openxmlformats.org/presentationml/2006/ole">
            <mc:AlternateContent xmlns:mc="http://schemas.openxmlformats.org/markup-compatibility/2006">
              <mc:Choice xmlns:v="urn:schemas-microsoft-com:vml" Requires="v">
                <p:oleObj spid="_x0000_s56328" name="Visio" r:id="rId3" imgW="5000854" imgH="2008022" progId="Visio.Drawing.11">
                  <p:embed/>
                </p:oleObj>
              </mc:Choice>
              <mc:Fallback>
                <p:oleObj name="Visio" r:id="rId3" imgW="5000854" imgH="2008022" progId="Visio.Drawing.11">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25" y="2349500"/>
                        <a:ext cx="8137525"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23292"/>
                                        </p:tgtEl>
                                        <p:attrNameLst>
                                          <p:attrName>style.visibility</p:attrName>
                                        </p:attrNameLst>
                                      </p:cBhvr>
                                      <p:to>
                                        <p:strVal val="visible"/>
                                      </p:to>
                                    </p:set>
                                    <p:animEffect transition="in" filter="wipe(left)">
                                      <p:cBhvr>
                                        <p:cTn id="7" dur="2000"/>
                                        <p:tgtEl>
                                          <p:spTgt spid="523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7347"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7348"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7AB3A40D-AB3C-45A5-8C1D-4473B89AD364}" type="slidenum">
              <a:rPr lang="zh-CN" altLang="en-US" sz="800" b="0"/>
              <a:pPr/>
              <a:t>55</a:t>
            </a:fld>
            <a:endParaRPr lang="en-US" altLang="zh-CN" sz="800" b="0"/>
          </a:p>
        </p:txBody>
      </p:sp>
      <p:sp>
        <p:nvSpPr>
          <p:cNvPr id="57349" name="Rectangle 2"/>
          <p:cNvSpPr>
            <a:spLocks noGrp="1" noChangeArrowheads="1"/>
          </p:cNvSpPr>
          <p:nvPr>
            <p:ph type="title"/>
          </p:nvPr>
        </p:nvSpPr>
        <p:spPr/>
        <p:txBody>
          <a:bodyPr/>
          <a:lstStyle/>
          <a:p>
            <a:r>
              <a:rPr lang="en-US" altLang="zh-CN" smtClean="0">
                <a:ea typeface="宋体" panose="02010600030101010101" pitchFamily="2" charset="-122"/>
              </a:rPr>
              <a:t>DFA (exercise answer) </a:t>
            </a:r>
            <a:endParaRPr lang="zh-CN" altLang="en-US" smtClean="0">
              <a:ea typeface="宋体" panose="02010600030101010101" pitchFamily="2" charset="-122"/>
            </a:endParaRPr>
          </a:p>
        </p:txBody>
      </p:sp>
      <p:sp>
        <p:nvSpPr>
          <p:cNvPr id="57350" name="Text Box 25"/>
          <p:cNvSpPr txBox="1">
            <a:spLocks noChangeArrowheads="1"/>
          </p:cNvSpPr>
          <p:nvPr/>
        </p:nvSpPr>
        <p:spPr bwMode="auto">
          <a:xfrm>
            <a:off x="3368675" y="5516563"/>
            <a:ext cx="3455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CN" b="0">
                <a:ea typeface="宋体" panose="02010600030101010101" pitchFamily="2" charset="-122"/>
              </a:rPr>
              <a:t>DFA accepting a (a|b)</a:t>
            </a:r>
            <a:r>
              <a:rPr lang="en-US" altLang="zh-CN" b="0" baseline="30000">
                <a:ea typeface="宋体" panose="02010600030101010101" pitchFamily="2" charset="-122"/>
              </a:rPr>
              <a:t> *</a:t>
            </a:r>
            <a:r>
              <a:rPr lang="en-US" altLang="zh-CN" b="0" baseline="-25000">
                <a:ea typeface="宋体" panose="02010600030101010101" pitchFamily="2" charset="-122"/>
              </a:rPr>
              <a:t> </a:t>
            </a:r>
            <a:r>
              <a:rPr lang="en-US" altLang="zh-CN" b="0">
                <a:ea typeface="宋体" panose="02010600030101010101" pitchFamily="2" charset="-122"/>
              </a:rPr>
              <a:t> b</a:t>
            </a:r>
          </a:p>
        </p:txBody>
      </p:sp>
      <p:grpSp>
        <p:nvGrpSpPr>
          <p:cNvPr id="524329" name="Group 41"/>
          <p:cNvGrpSpPr>
            <a:grpSpLocks/>
          </p:cNvGrpSpPr>
          <p:nvPr/>
        </p:nvGrpSpPr>
        <p:grpSpPr bwMode="auto">
          <a:xfrm>
            <a:off x="1857375" y="1341438"/>
            <a:ext cx="5695950" cy="1871662"/>
            <a:chOff x="308" y="1344"/>
            <a:chExt cx="3588" cy="1179"/>
          </a:xfrm>
        </p:grpSpPr>
        <p:sp>
          <p:nvSpPr>
            <p:cNvPr id="57373" name="Line 28"/>
            <p:cNvSpPr>
              <a:spLocks noChangeShapeType="1"/>
            </p:cNvSpPr>
            <p:nvPr/>
          </p:nvSpPr>
          <p:spPr bwMode="auto">
            <a:xfrm>
              <a:off x="308" y="2523"/>
              <a:ext cx="35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4" name="Line 29"/>
            <p:cNvSpPr>
              <a:spLocks noChangeShapeType="1"/>
            </p:cNvSpPr>
            <p:nvPr/>
          </p:nvSpPr>
          <p:spPr bwMode="auto">
            <a:xfrm>
              <a:off x="1348" y="1392"/>
              <a:ext cx="3" cy="11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5" name="Line 30"/>
            <p:cNvSpPr>
              <a:spLocks noChangeShapeType="1"/>
            </p:cNvSpPr>
            <p:nvPr/>
          </p:nvSpPr>
          <p:spPr bwMode="auto">
            <a:xfrm flipH="1">
              <a:off x="2530" y="1680"/>
              <a:ext cx="14" cy="84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6" name="Line 31"/>
            <p:cNvSpPr>
              <a:spLocks noChangeShapeType="1"/>
            </p:cNvSpPr>
            <p:nvPr/>
          </p:nvSpPr>
          <p:spPr bwMode="auto">
            <a:xfrm>
              <a:off x="308" y="1824"/>
              <a:ext cx="35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7" name="Text Box 32"/>
            <p:cNvSpPr txBox="1">
              <a:spLocks noChangeArrowheads="1"/>
            </p:cNvSpPr>
            <p:nvPr/>
          </p:nvSpPr>
          <p:spPr bwMode="auto">
            <a:xfrm>
              <a:off x="464" y="1536"/>
              <a:ext cx="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sz="2000">
                  <a:solidFill>
                    <a:srgbClr val="660066"/>
                  </a:solidFill>
                  <a:ea typeface="宋体" panose="02010600030101010101" pitchFamily="2" charset="-122"/>
                  <a:sym typeface="Symbol" panose="05050102010706020507" pitchFamily="18" charset="2"/>
                </a:rPr>
                <a:t>Dstates</a:t>
              </a:r>
            </a:p>
          </p:txBody>
        </p:sp>
        <p:sp>
          <p:nvSpPr>
            <p:cNvPr id="57378" name="Text Box 33"/>
            <p:cNvSpPr txBox="1">
              <a:spLocks noChangeArrowheads="1"/>
            </p:cNvSpPr>
            <p:nvPr/>
          </p:nvSpPr>
          <p:spPr bwMode="auto">
            <a:xfrm>
              <a:off x="1400" y="1344"/>
              <a:ext cx="24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Input Symbol</a:t>
              </a:r>
            </a:p>
          </p:txBody>
        </p:sp>
        <p:sp>
          <p:nvSpPr>
            <p:cNvPr id="57379" name="Text Box 34"/>
            <p:cNvSpPr txBox="1">
              <a:spLocks noChangeArrowheads="1"/>
            </p:cNvSpPr>
            <p:nvPr/>
          </p:nvSpPr>
          <p:spPr bwMode="auto">
            <a:xfrm>
              <a:off x="1712" y="1584"/>
              <a:ext cx="4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a</a:t>
              </a:r>
            </a:p>
          </p:txBody>
        </p:sp>
        <p:sp>
          <p:nvSpPr>
            <p:cNvPr id="57380" name="Text Box 35"/>
            <p:cNvSpPr txBox="1">
              <a:spLocks noChangeArrowheads="1"/>
            </p:cNvSpPr>
            <p:nvPr/>
          </p:nvSpPr>
          <p:spPr bwMode="auto">
            <a:xfrm>
              <a:off x="3012" y="1584"/>
              <a:ext cx="4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lgn="ctr" eaLnBrk="1" hangingPunct="1">
                <a:spcBef>
                  <a:spcPct val="50000"/>
                </a:spcBef>
              </a:pPr>
              <a:r>
                <a:rPr lang="en-US" altLang="zh-CN">
                  <a:ea typeface="宋体" panose="02010600030101010101" pitchFamily="2" charset="-122"/>
                </a:rPr>
                <a:t>b</a:t>
              </a:r>
            </a:p>
          </p:txBody>
        </p:sp>
        <p:sp>
          <p:nvSpPr>
            <p:cNvPr id="57381" name="Text Box 36"/>
            <p:cNvSpPr txBox="1">
              <a:spLocks noChangeArrowheads="1"/>
            </p:cNvSpPr>
            <p:nvPr/>
          </p:nvSpPr>
          <p:spPr bwMode="auto">
            <a:xfrm>
              <a:off x="308" y="1872"/>
              <a:ext cx="3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ea typeface="宋体" panose="02010600030101010101" pitchFamily="2" charset="-122"/>
                </a:rPr>
                <a:t>       </a:t>
              </a:r>
              <a:r>
                <a:rPr lang="en-US" altLang="zh-CN" sz="2000">
                  <a:ea typeface="宋体" panose="02010600030101010101" pitchFamily="2" charset="-122"/>
                </a:rPr>
                <a:t>S0                         S1                           </a:t>
              </a:r>
            </a:p>
          </p:txBody>
        </p:sp>
        <p:sp>
          <p:nvSpPr>
            <p:cNvPr id="57382" name="Text Box 37"/>
            <p:cNvSpPr txBox="1">
              <a:spLocks noChangeArrowheads="1"/>
            </p:cNvSpPr>
            <p:nvPr/>
          </p:nvSpPr>
          <p:spPr bwMode="auto">
            <a:xfrm>
              <a:off x="308" y="2064"/>
              <a:ext cx="3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ea typeface="宋体" panose="02010600030101010101" pitchFamily="2" charset="-122"/>
                </a:rPr>
                <a:t>       </a:t>
              </a:r>
              <a:r>
                <a:rPr lang="en-US" altLang="zh-CN" sz="2000">
                  <a:ea typeface="宋体" panose="02010600030101010101" pitchFamily="2" charset="-122"/>
                </a:rPr>
                <a:t>S1                         S1                          S2</a:t>
              </a:r>
            </a:p>
          </p:txBody>
        </p:sp>
        <p:sp>
          <p:nvSpPr>
            <p:cNvPr id="57383" name="Text Box 38"/>
            <p:cNvSpPr txBox="1">
              <a:spLocks noChangeArrowheads="1"/>
            </p:cNvSpPr>
            <p:nvPr/>
          </p:nvSpPr>
          <p:spPr bwMode="auto">
            <a:xfrm>
              <a:off x="308" y="2256"/>
              <a:ext cx="35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eaLnBrk="1" hangingPunct="1">
                <a:spcBef>
                  <a:spcPct val="50000"/>
                </a:spcBef>
              </a:pPr>
              <a:r>
                <a:rPr lang="zh-CN" altLang="en-US" sz="2000">
                  <a:ea typeface="宋体" panose="02010600030101010101" pitchFamily="2" charset="-122"/>
                </a:rPr>
                <a:t>       </a:t>
              </a:r>
              <a:r>
                <a:rPr lang="en-US" altLang="zh-CN" sz="2000">
                  <a:ea typeface="宋体" panose="02010600030101010101" pitchFamily="2" charset="-122"/>
                </a:rPr>
                <a:t>S2                         S1                          S2</a:t>
              </a:r>
            </a:p>
          </p:txBody>
        </p:sp>
      </p:grpSp>
      <p:grpSp>
        <p:nvGrpSpPr>
          <p:cNvPr id="524351" name="Group 63"/>
          <p:cNvGrpSpPr>
            <a:grpSpLocks/>
          </p:cNvGrpSpPr>
          <p:nvPr/>
        </p:nvGrpSpPr>
        <p:grpSpPr bwMode="auto">
          <a:xfrm>
            <a:off x="2233613" y="3357563"/>
            <a:ext cx="5314950" cy="1744662"/>
            <a:chOff x="1407" y="2115"/>
            <a:chExt cx="3348" cy="1099"/>
          </a:xfrm>
        </p:grpSpPr>
        <p:sp>
          <p:nvSpPr>
            <p:cNvPr id="57353" name="Oval 42"/>
            <p:cNvSpPr>
              <a:spLocks noChangeArrowheads="1"/>
            </p:cNvSpPr>
            <p:nvPr/>
          </p:nvSpPr>
          <p:spPr bwMode="auto">
            <a:xfrm>
              <a:off x="1981" y="2421"/>
              <a:ext cx="255" cy="43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7354" name="Line 43"/>
            <p:cNvSpPr>
              <a:spLocks noChangeShapeType="1"/>
            </p:cNvSpPr>
            <p:nvPr/>
          </p:nvSpPr>
          <p:spPr bwMode="auto">
            <a:xfrm>
              <a:off x="1407" y="2638"/>
              <a:ext cx="57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5" name="Line 44"/>
            <p:cNvSpPr>
              <a:spLocks noChangeShapeType="1"/>
            </p:cNvSpPr>
            <p:nvPr/>
          </p:nvSpPr>
          <p:spPr bwMode="auto">
            <a:xfrm>
              <a:off x="2236" y="2638"/>
              <a:ext cx="83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6" name="Line 45"/>
            <p:cNvSpPr>
              <a:spLocks noChangeShapeType="1"/>
            </p:cNvSpPr>
            <p:nvPr/>
          </p:nvSpPr>
          <p:spPr bwMode="auto">
            <a:xfrm>
              <a:off x="3322" y="2638"/>
              <a:ext cx="95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57357" name="AutoShape 46"/>
            <p:cNvCxnSpPr>
              <a:cxnSpLocks noChangeShapeType="1"/>
              <a:stCxn id="57371" idx="0"/>
              <a:endCxn id="57368" idx="0"/>
            </p:cNvCxnSpPr>
            <p:nvPr/>
          </p:nvCxnSpPr>
          <p:spPr bwMode="auto">
            <a:xfrm rot="-5400000" flipH="1" flipV="1">
              <a:off x="3769" y="1730"/>
              <a:ext cx="136" cy="1268"/>
            </a:xfrm>
            <a:prstGeom prst="curvedConnector3">
              <a:avLst>
                <a:gd name="adj1" fmla="val -10588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358" name="AutoShape 47"/>
            <p:cNvCxnSpPr>
              <a:cxnSpLocks noChangeShapeType="1"/>
            </p:cNvCxnSpPr>
            <p:nvPr/>
          </p:nvCxnSpPr>
          <p:spPr bwMode="auto">
            <a:xfrm rot="16200000" flipH="1">
              <a:off x="4434" y="2841"/>
              <a:ext cx="2" cy="181"/>
            </a:xfrm>
            <a:prstGeom prst="curvedConnector3">
              <a:avLst>
                <a:gd name="adj1" fmla="val 1720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59" name="Text Box 48"/>
            <p:cNvSpPr txBox="1">
              <a:spLocks noChangeArrowheads="1"/>
            </p:cNvSpPr>
            <p:nvPr/>
          </p:nvSpPr>
          <p:spPr bwMode="auto">
            <a:xfrm>
              <a:off x="4370" y="2523"/>
              <a:ext cx="20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2</a:t>
              </a:r>
            </a:p>
          </p:txBody>
        </p:sp>
        <p:sp>
          <p:nvSpPr>
            <p:cNvPr id="57360" name="Text Box 49"/>
            <p:cNvSpPr txBox="1">
              <a:spLocks noChangeArrowheads="1"/>
            </p:cNvSpPr>
            <p:nvPr/>
          </p:nvSpPr>
          <p:spPr bwMode="auto">
            <a:xfrm>
              <a:off x="2031" y="252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0</a:t>
              </a:r>
            </a:p>
          </p:txBody>
        </p:sp>
        <p:sp>
          <p:nvSpPr>
            <p:cNvPr id="57361" name="Text Box 50"/>
            <p:cNvSpPr txBox="1">
              <a:spLocks noChangeArrowheads="1"/>
            </p:cNvSpPr>
            <p:nvPr/>
          </p:nvSpPr>
          <p:spPr bwMode="auto">
            <a:xfrm>
              <a:off x="3072" y="2568"/>
              <a:ext cx="17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1</a:t>
              </a:r>
            </a:p>
          </p:txBody>
        </p:sp>
        <p:sp>
          <p:nvSpPr>
            <p:cNvPr id="57362" name="Text Box 51"/>
            <p:cNvSpPr txBox="1">
              <a:spLocks noChangeArrowheads="1"/>
            </p:cNvSpPr>
            <p:nvPr/>
          </p:nvSpPr>
          <p:spPr bwMode="auto">
            <a:xfrm>
              <a:off x="2485" y="2432"/>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a</a:t>
              </a:r>
            </a:p>
          </p:txBody>
        </p:sp>
        <p:sp>
          <p:nvSpPr>
            <p:cNvPr id="57363" name="Text Box 52"/>
            <p:cNvSpPr txBox="1">
              <a:spLocks noChangeArrowheads="1"/>
            </p:cNvSpPr>
            <p:nvPr/>
          </p:nvSpPr>
          <p:spPr bwMode="auto">
            <a:xfrm>
              <a:off x="3619" y="2432"/>
              <a:ext cx="17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b</a:t>
              </a:r>
            </a:p>
          </p:txBody>
        </p:sp>
        <p:sp>
          <p:nvSpPr>
            <p:cNvPr id="57364" name="Text Box 53"/>
            <p:cNvSpPr txBox="1">
              <a:spLocks noChangeArrowheads="1"/>
            </p:cNvSpPr>
            <p:nvPr/>
          </p:nvSpPr>
          <p:spPr bwMode="auto">
            <a:xfrm>
              <a:off x="1487" y="2432"/>
              <a:ext cx="309"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start</a:t>
              </a:r>
            </a:p>
          </p:txBody>
        </p:sp>
        <p:sp>
          <p:nvSpPr>
            <p:cNvPr id="57365" name="Text Box 54"/>
            <p:cNvSpPr txBox="1">
              <a:spLocks noChangeArrowheads="1"/>
            </p:cNvSpPr>
            <p:nvPr/>
          </p:nvSpPr>
          <p:spPr bwMode="auto">
            <a:xfrm>
              <a:off x="3710" y="2115"/>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a</a:t>
              </a:r>
            </a:p>
          </p:txBody>
        </p:sp>
        <p:sp>
          <p:nvSpPr>
            <p:cNvPr id="57366" name="Text Box 55"/>
            <p:cNvSpPr txBox="1">
              <a:spLocks noChangeArrowheads="1"/>
            </p:cNvSpPr>
            <p:nvPr/>
          </p:nvSpPr>
          <p:spPr bwMode="auto">
            <a:xfrm>
              <a:off x="4526" y="3022"/>
              <a:ext cx="22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b</a:t>
              </a:r>
            </a:p>
          </p:txBody>
        </p:sp>
        <p:grpSp>
          <p:nvGrpSpPr>
            <p:cNvPr id="57367" name="Group 56"/>
            <p:cNvGrpSpPr>
              <a:grpSpLocks/>
            </p:cNvGrpSpPr>
            <p:nvPr/>
          </p:nvGrpSpPr>
          <p:grpSpPr bwMode="auto">
            <a:xfrm>
              <a:off x="4279" y="2296"/>
              <a:ext cx="383" cy="651"/>
              <a:chOff x="1296" y="1056"/>
              <a:chExt cx="288" cy="288"/>
            </a:xfrm>
          </p:grpSpPr>
          <p:sp>
            <p:nvSpPr>
              <p:cNvPr id="57371" name="Oval 57"/>
              <p:cNvSpPr>
                <a:spLocks noChangeArrowheads="1"/>
              </p:cNvSpPr>
              <p:nvPr/>
            </p:nvSpPr>
            <p:spPr bwMode="auto">
              <a:xfrm>
                <a:off x="1296" y="1056"/>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7372" name="Oval 58"/>
              <p:cNvSpPr>
                <a:spLocks noChangeArrowheads="1"/>
              </p:cNvSpPr>
              <p:nvPr/>
            </p:nvSpPr>
            <p:spPr bwMode="auto">
              <a:xfrm>
                <a:off x="1344" y="1104"/>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57368" name="Oval 59"/>
            <p:cNvSpPr>
              <a:spLocks noChangeArrowheads="1"/>
            </p:cNvSpPr>
            <p:nvPr/>
          </p:nvSpPr>
          <p:spPr bwMode="auto">
            <a:xfrm>
              <a:off x="3075" y="2432"/>
              <a:ext cx="256" cy="43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cxnSp>
          <p:nvCxnSpPr>
            <p:cNvPr id="57369" name="AutoShape 61"/>
            <p:cNvCxnSpPr>
              <a:cxnSpLocks noChangeShapeType="1"/>
            </p:cNvCxnSpPr>
            <p:nvPr/>
          </p:nvCxnSpPr>
          <p:spPr bwMode="auto">
            <a:xfrm rot="16200000" flipH="1">
              <a:off x="3209" y="2750"/>
              <a:ext cx="2" cy="181"/>
            </a:xfrm>
            <a:prstGeom prst="curvedConnector3">
              <a:avLst>
                <a:gd name="adj1" fmla="val 1720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370" name="Text Box 62"/>
            <p:cNvSpPr txBox="1">
              <a:spLocks noChangeArrowheads="1"/>
            </p:cNvSpPr>
            <p:nvPr/>
          </p:nvSpPr>
          <p:spPr bwMode="auto">
            <a:xfrm>
              <a:off x="3301" y="2931"/>
              <a:ext cx="22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CN" sz="1400" b="0">
                  <a:ea typeface="宋体" panose="02010600030101010101" pitchFamily="2" charset="-122"/>
                </a:rPr>
                <a:t>a</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4329"/>
                                        </p:tgtEl>
                                        <p:attrNameLst>
                                          <p:attrName>style.visibility</p:attrName>
                                        </p:attrNameLst>
                                      </p:cBhvr>
                                      <p:to>
                                        <p:strVal val="visible"/>
                                      </p:to>
                                    </p:set>
                                    <p:animEffect transition="in" filter="blinds(horizontal)">
                                      <p:cBhvr>
                                        <p:cTn id="7" dur="1000"/>
                                        <p:tgtEl>
                                          <p:spTgt spid="524329"/>
                                        </p:tgtEl>
                                      </p:cBhvr>
                                    </p:animEffect>
                                  </p:childTnLst>
                                  <p:subTnLst>
                                    <p:animClr clrSpc="rgb" dir="cw">
                                      <p:cBhvr override="childStyle">
                                        <p:cTn dur="1" fill="hold" display="0" masterRel="nextClick" afterEffect="1"/>
                                        <p:tgtEl>
                                          <p:spTgt spid="524329"/>
                                        </p:tgtEl>
                                        <p:attrNameLst>
                                          <p:attrName>ppt_c</p:attrName>
                                        </p:attrNameLst>
                                      </p:cBhvr>
                                      <p:to>
                                        <a:srgbClr val="9900CC"/>
                                      </p:to>
                                    </p:animClr>
                                  </p:sub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524351"/>
                                        </p:tgtEl>
                                        <p:attrNameLst>
                                          <p:attrName>style.visibility</p:attrName>
                                        </p:attrNameLst>
                                      </p:cBhvr>
                                      <p:to>
                                        <p:strVal val="visible"/>
                                      </p:to>
                                    </p:set>
                                    <p:animEffect transition="in" filter="wipe(left)">
                                      <p:cBhvr>
                                        <p:cTn id="11" dur="2000"/>
                                        <p:tgtEl>
                                          <p:spTgt spid="524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4"/>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8371" name="页脚占位符 5"/>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8372" name="灯片编号占位符 6"/>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1DBCFB33-8610-4FDB-955D-BD84B5B4A76E}" type="slidenum">
              <a:rPr lang="zh-CN" altLang="en-US" sz="800" b="0"/>
              <a:pPr/>
              <a:t>56</a:t>
            </a:fld>
            <a:endParaRPr lang="en-US" altLang="zh-CN" sz="800" b="0"/>
          </a:p>
        </p:txBody>
      </p:sp>
      <p:sp>
        <p:nvSpPr>
          <p:cNvPr id="58373" name="Rectangle 2"/>
          <p:cNvSpPr>
            <a:spLocks noGrp="1" noChangeArrowheads="1"/>
          </p:cNvSpPr>
          <p:nvPr>
            <p:ph type="title"/>
          </p:nvPr>
        </p:nvSpPr>
        <p:spPr/>
        <p:txBody>
          <a:bodyPr/>
          <a:lstStyle/>
          <a:p>
            <a:r>
              <a:rPr lang="en-US" altLang="zh-CN" smtClean="0">
                <a:ea typeface="宋体" panose="02010600030101010101" pitchFamily="2" charset="-122"/>
              </a:rPr>
              <a:t>Another exercise</a:t>
            </a:r>
          </a:p>
        </p:txBody>
      </p:sp>
      <p:sp>
        <p:nvSpPr>
          <p:cNvPr id="58374" name="Rectangle 3"/>
          <p:cNvSpPr>
            <a:spLocks noGrp="1" noChangeArrowheads="1"/>
          </p:cNvSpPr>
          <p:nvPr>
            <p:ph type="body" sz="half" idx="1"/>
          </p:nvPr>
        </p:nvSpPr>
        <p:spPr>
          <a:xfrm>
            <a:off x="381000" y="1219200"/>
            <a:ext cx="7308850" cy="481013"/>
          </a:xfrm>
        </p:spPr>
        <p:txBody>
          <a:bodyPr/>
          <a:lstStyle/>
          <a:p>
            <a:r>
              <a:rPr lang="en-US" altLang="zh-CN" sz="2000" smtClean="0">
                <a:ea typeface="宋体" panose="02010600030101010101" pitchFamily="2" charset="-122"/>
              </a:rPr>
              <a:t>Using subset construction to construct DFA from NFA.</a:t>
            </a:r>
          </a:p>
        </p:txBody>
      </p:sp>
      <p:graphicFrame>
        <p:nvGraphicFramePr>
          <p:cNvPr id="527364" name="Object 4"/>
          <p:cNvGraphicFramePr>
            <a:graphicFrameLocks noChangeAspect="1"/>
          </p:cNvGraphicFramePr>
          <p:nvPr>
            <p:ph sz="half" idx="2"/>
          </p:nvPr>
        </p:nvGraphicFramePr>
        <p:xfrm>
          <a:off x="273050" y="2636838"/>
          <a:ext cx="9288463" cy="3024187"/>
        </p:xfrm>
        <a:graphic>
          <a:graphicData uri="http://schemas.openxmlformats.org/presentationml/2006/ole">
            <mc:AlternateContent xmlns:mc="http://schemas.openxmlformats.org/markup-compatibility/2006">
              <mc:Choice xmlns:v="urn:schemas-microsoft-com:vml" Requires="v">
                <p:oleObj spid="_x0000_s58377" name="Visio" r:id="rId3" imgW="7459370" imgH="2008022" progId="Visio.Drawing.11">
                  <p:embed/>
                </p:oleObj>
              </mc:Choice>
              <mc:Fallback>
                <p:oleObj name="Visio" r:id="rId3" imgW="7459370" imgH="2008022"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 y="2636838"/>
                        <a:ext cx="9288463" cy="302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6" name="Rectangle 6"/>
          <p:cNvSpPr>
            <a:spLocks noChangeArrowheads="1"/>
          </p:cNvSpPr>
          <p:nvPr/>
        </p:nvSpPr>
        <p:spPr bwMode="auto">
          <a:xfrm>
            <a:off x="3224213" y="1700213"/>
            <a:ext cx="2093912"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20000"/>
              </a:spcBef>
            </a:pPr>
            <a:r>
              <a:rPr lang="en-US" altLang="zh-CN" sz="4800" b="0">
                <a:ea typeface="宋体" panose="02010600030101010101" pitchFamily="2" charset="-122"/>
              </a:rPr>
              <a:t>b(a|b)</a:t>
            </a:r>
            <a:r>
              <a:rPr lang="en-US" altLang="zh-CN" sz="4800" baseline="30000">
                <a:ea typeface="宋体" panose="02010600030101010101" pitchFamily="2" charset="-122"/>
              </a:rPr>
              <a:t>+</a:t>
            </a:r>
            <a:r>
              <a:rPr lang="en-US" altLang="zh-CN" sz="4800" b="0">
                <a:ea typeface="宋体" panose="02010600030101010101" pitchFamily="2" charset="-122"/>
              </a:rPr>
              <a:t>a</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27364"/>
                                        </p:tgtEl>
                                        <p:attrNameLst>
                                          <p:attrName>style.visibility</p:attrName>
                                        </p:attrNameLst>
                                      </p:cBhvr>
                                      <p:to>
                                        <p:strVal val="visible"/>
                                      </p:to>
                                    </p:set>
                                    <p:animEffect transition="in" filter="wipe(left)">
                                      <p:cBhvr>
                                        <p:cTn id="7" dur="2000"/>
                                        <p:tgtEl>
                                          <p:spTgt spid="527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p:cNvSpPr>
            <a:spLocks noGrp="1"/>
          </p:cNvSpPr>
          <p:nvPr>
            <p:ph type="dt" sz="quarter" idx="10"/>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◎2005 ECNU SEI</a:t>
            </a:r>
            <a:endParaRPr lang="en-US" altLang="zh-CN" sz="800" b="0"/>
          </a:p>
        </p:txBody>
      </p:sp>
      <p:sp>
        <p:nvSpPr>
          <p:cNvPr id="59395" name="页脚占位符 4"/>
          <p:cNvSpPr>
            <a:spLocks noGrp="1"/>
          </p:cNvSpPr>
          <p:nvPr>
            <p:ph type="ftr" sz="quarter" idx="11"/>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zh-CN" altLang="en-US" sz="800" b="0"/>
              <a:t>Compilers: Principles, Techniques, and Tools</a:t>
            </a:r>
            <a:endParaRPr lang="en-US" altLang="zh-CN" sz="800" b="0"/>
          </a:p>
        </p:txBody>
      </p:sp>
      <p:sp>
        <p:nvSpPr>
          <p:cNvPr id="59396" name="灯片编号占位符 5"/>
          <p:cNvSpPr>
            <a:spLocks noGrp="1"/>
          </p:cNvSpPr>
          <p:nvPr>
            <p:ph type="sldNum" sz="quarter" idx="12"/>
          </p:nvPr>
        </p:nvSpPr>
        <p:spPr>
          <a:noFill/>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567A632B-5C6D-4592-B7BA-A6C974701CFE}" type="slidenum">
              <a:rPr lang="zh-CN" altLang="en-US" sz="800" b="0"/>
              <a:pPr/>
              <a:t>57</a:t>
            </a:fld>
            <a:endParaRPr lang="en-US" altLang="zh-CN" sz="800" b="0"/>
          </a:p>
        </p:txBody>
      </p:sp>
      <p:sp>
        <p:nvSpPr>
          <p:cNvPr id="59397" name="Rectangle 2"/>
          <p:cNvSpPr>
            <a:spLocks noGrp="1" noChangeArrowheads="1"/>
          </p:cNvSpPr>
          <p:nvPr>
            <p:ph type="title"/>
          </p:nvPr>
        </p:nvSpPr>
        <p:spPr/>
        <p:txBody>
          <a:bodyPr/>
          <a:lstStyle/>
          <a:p>
            <a:r>
              <a:rPr lang="zh-CN" altLang="en-US" smtClean="0">
                <a:ea typeface="宋体" panose="02010600030101010101" pitchFamily="2" charset="-122"/>
              </a:rPr>
              <a:t>典型练习</a:t>
            </a:r>
            <a:r>
              <a:rPr lang="en-US" altLang="zh-CN" smtClean="0">
                <a:ea typeface="宋体" panose="02010600030101010101" pitchFamily="2" charset="-122"/>
              </a:rPr>
              <a:t>RE-&gt;NFA-&gt;DFA</a:t>
            </a:r>
          </a:p>
        </p:txBody>
      </p:sp>
      <p:sp>
        <p:nvSpPr>
          <p:cNvPr id="59398" name="Rectangle 3"/>
          <p:cNvSpPr>
            <a:spLocks noGrp="1" noChangeArrowheads="1"/>
          </p:cNvSpPr>
          <p:nvPr>
            <p:ph type="body" idx="1"/>
          </p:nvPr>
        </p:nvSpPr>
        <p:spPr/>
        <p:txBody>
          <a:bodyPr/>
          <a:lstStyle/>
          <a:p>
            <a:r>
              <a:rPr lang="en-US" altLang="zh-CN" sz="3600" smtClean="0">
                <a:ea typeface="宋体" panose="02010600030101010101" pitchFamily="2" charset="-122"/>
              </a:rPr>
              <a:t>1</a:t>
            </a:r>
            <a:r>
              <a:rPr lang="zh-CN" altLang="en-US" sz="3600" smtClean="0">
                <a:ea typeface="宋体" panose="02010600030101010101" pitchFamily="2" charset="-122"/>
              </a:rPr>
              <a:t>、</a:t>
            </a:r>
            <a:r>
              <a:rPr lang="en-US" altLang="zh-CN" sz="3600" b="1" smtClean="0">
                <a:ea typeface="宋体" panose="02010600030101010101" pitchFamily="2" charset="-122"/>
              </a:rPr>
              <a:t>a ( b c )*</a:t>
            </a:r>
          </a:p>
          <a:p>
            <a:r>
              <a:rPr lang="en-US" altLang="zh-CN" sz="3600" smtClean="0">
                <a:ea typeface="宋体" panose="02010600030101010101" pitchFamily="2" charset="-122"/>
              </a:rPr>
              <a:t>2</a:t>
            </a:r>
            <a:r>
              <a:rPr lang="zh-CN" altLang="en-US" sz="3600" smtClean="0">
                <a:ea typeface="宋体" panose="02010600030101010101" pitchFamily="2" charset="-122"/>
              </a:rPr>
              <a:t>、</a:t>
            </a:r>
            <a:r>
              <a:rPr lang="en-US" altLang="zh-CN" sz="3600" b="1" smtClean="0">
                <a:ea typeface="宋体" panose="02010600030101010101" pitchFamily="2" charset="-122"/>
              </a:rPr>
              <a:t>a ( a | b | c )* b</a:t>
            </a:r>
          </a:p>
          <a:p>
            <a:r>
              <a:rPr lang="en-US" altLang="zh-CN" sz="3600" smtClean="0">
                <a:ea typeface="宋体" panose="02010600030101010101" pitchFamily="2" charset="-122"/>
              </a:rPr>
              <a:t>3</a:t>
            </a:r>
            <a:r>
              <a:rPr lang="zh-CN" altLang="en-US" sz="3600" smtClean="0">
                <a:ea typeface="宋体" panose="02010600030101010101" pitchFamily="2" charset="-122"/>
              </a:rPr>
              <a:t>、</a:t>
            </a:r>
            <a:r>
              <a:rPr lang="en-US" altLang="zh-CN" sz="3600" b="1" smtClean="0">
                <a:ea typeface="宋体" panose="02010600030101010101" pitchFamily="2" charset="-122"/>
              </a:rPr>
              <a:t>a ( a | b )* ( b | ∈) </a:t>
            </a:r>
          </a:p>
          <a:p>
            <a:r>
              <a:rPr lang="en-US" altLang="zh-CN" sz="3600" smtClean="0">
                <a:ea typeface="宋体" panose="02010600030101010101" pitchFamily="2" charset="-122"/>
              </a:rPr>
              <a:t>4</a:t>
            </a:r>
            <a:r>
              <a:rPr lang="zh-CN" altLang="en-US" sz="3600" smtClean="0">
                <a:ea typeface="宋体" panose="02010600030101010101" pitchFamily="2" charset="-122"/>
              </a:rPr>
              <a:t>、</a:t>
            </a:r>
            <a:r>
              <a:rPr lang="en-US" altLang="zh-CN" sz="3600" b="1" smtClean="0">
                <a:ea typeface="宋体" panose="02010600030101010101" pitchFamily="2" charset="-122"/>
              </a:rPr>
              <a:t>a b ( a | b )* b a</a:t>
            </a:r>
          </a:p>
          <a:p>
            <a:r>
              <a:rPr lang="en-US" altLang="zh-CN" sz="3600" smtClean="0">
                <a:ea typeface="宋体" panose="02010600030101010101" pitchFamily="2" charset="-122"/>
              </a:rPr>
              <a:t>5</a:t>
            </a:r>
            <a:r>
              <a:rPr lang="zh-CN" altLang="en-US" sz="3600" smtClean="0">
                <a:ea typeface="宋体" panose="02010600030101010101" pitchFamily="2" charset="-122"/>
              </a:rPr>
              <a:t>、</a:t>
            </a:r>
            <a:r>
              <a:rPr lang="en-US" altLang="zh-CN" sz="3600" b="1" smtClean="0">
                <a:ea typeface="宋体" panose="02010600030101010101" pitchFamily="2" charset="-122"/>
              </a:rPr>
              <a:t>a ( a | b )* a ( a | b ) a</a:t>
            </a:r>
          </a:p>
          <a:p>
            <a:r>
              <a:rPr lang="en-US" altLang="zh-CN" sz="3600" smtClean="0">
                <a:ea typeface="宋体" panose="02010600030101010101" pitchFamily="2" charset="-122"/>
              </a:rPr>
              <a:t>6</a:t>
            </a:r>
            <a:r>
              <a:rPr lang="zh-CN" altLang="en-US" sz="3600" smtClean="0">
                <a:ea typeface="宋体" panose="02010600030101010101" pitchFamily="2" charset="-122"/>
              </a:rPr>
              <a:t>、</a:t>
            </a:r>
            <a:r>
              <a:rPr lang="en-US" altLang="zh-CN" sz="3600" b="1" smtClean="0">
                <a:ea typeface="宋体" panose="02010600030101010101" pitchFamily="2" charset="-122"/>
              </a:rPr>
              <a:t>a ( a | b )* b ( b | c ) c</a:t>
            </a:r>
            <a:endParaRPr lang="zh-CN" altLang="en-US" sz="3600" b="1" smtClean="0">
              <a:ea typeface="宋体" panose="02010600030101010101" pitchFamily="2" charset="-122"/>
            </a:endParaRPr>
          </a:p>
        </p:txBody>
      </p:sp>
    </p:spTree>
  </p:cSld>
  <p:clrMapOvr>
    <a:masterClrMapping/>
  </p:clrMapOvr>
  <p:transition>
    <p:random/>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9768</TotalTime>
  <Words>4841</Words>
  <Application>Microsoft Office PowerPoint</Application>
  <PresentationFormat>A4 纸张(210x297 毫米)</PresentationFormat>
  <Paragraphs>1179</Paragraphs>
  <Slides>57</Slides>
  <Notes>27</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57</vt:i4>
      </vt:variant>
    </vt:vector>
  </HeadingPairs>
  <TitlesOfParts>
    <vt:vector size="66" baseType="lpstr">
      <vt:lpstr>Times New Roman</vt:lpstr>
      <vt:lpstr>Arial</vt:lpstr>
      <vt:lpstr>宋体</vt:lpstr>
      <vt:lpstr>Symbol</vt:lpstr>
      <vt:lpstr>Courier New</vt:lpstr>
      <vt:lpstr>Wingdings</vt:lpstr>
      <vt:lpstr>Default Design</vt:lpstr>
      <vt:lpstr>Microsoft Visio Drawing</vt:lpstr>
      <vt:lpstr>Microsoft Visio 绘图</vt:lpstr>
      <vt:lpstr>3.4 Token Recognition (P.98)</vt:lpstr>
      <vt:lpstr>What Else Does Lexical Analyzer Do? (P.99)</vt:lpstr>
      <vt:lpstr>PowerPoint 演示文稿</vt:lpstr>
      <vt:lpstr>Constructing Transition Diagrams for Tokens (P.99)</vt:lpstr>
      <vt:lpstr>Example TDs (P.100)</vt:lpstr>
      <vt:lpstr>Example 3.7:  All RELOPs (P.101)</vt:lpstr>
      <vt:lpstr>Example 3.8, 3.10 : id and delim (P.101)</vt:lpstr>
      <vt:lpstr>PowerPoint 演示文稿</vt:lpstr>
      <vt:lpstr>Example 3.9 : Unsigned #s (P.102)</vt:lpstr>
      <vt:lpstr>QUESTION :</vt:lpstr>
      <vt:lpstr>Answer</vt:lpstr>
      <vt:lpstr>What Else Does Lexical Analyzer Do? (P.102)</vt:lpstr>
      <vt:lpstr>Implementing Transition Diagrams (P.104)</vt:lpstr>
      <vt:lpstr>PowerPoint 演示文稿</vt:lpstr>
      <vt:lpstr>PowerPoint 演示文稿</vt:lpstr>
      <vt:lpstr>When Failures Occur: (P.105)</vt:lpstr>
      <vt:lpstr>3.6 Finite Automata (P.113)</vt:lpstr>
      <vt:lpstr>Finite Automata (cont.)</vt:lpstr>
      <vt:lpstr>Finite Automata (cont.)</vt:lpstr>
      <vt:lpstr>NFAs &amp; DFAs</vt:lpstr>
      <vt:lpstr>PowerPoint 演示文稿</vt:lpstr>
      <vt:lpstr>Non-Deterministic Finite Automata (P.114)</vt:lpstr>
      <vt:lpstr>NFA (cont.)</vt:lpstr>
      <vt:lpstr>PowerPoint 演示文稿</vt:lpstr>
      <vt:lpstr>Representing NFAs</vt:lpstr>
      <vt:lpstr>Example NFA (P.114)</vt:lpstr>
      <vt:lpstr>NFA (exercise) </vt:lpstr>
      <vt:lpstr>NFA (exercise answer)</vt:lpstr>
      <vt:lpstr>Another NFA exercise</vt:lpstr>
      <vt:lpstr>How Does An NFA Work ?</vt:lpstr>
      <vt:lpstr>Handling Undefined Transitions</vt:lpstr>
      <vt:lpstr>NFA- Regular Expressions &amp; Compilation</vt:lpstr>
      <vt:lpstr>Second NFA Example</vt:lpstr>
      <vt:lpstr> </vt:lpstr>
      <vt:lpstr>Alternative Solution Strategy</vt:lpstr>
      <vt:lpstr>Using Null Transitions to “OR” NFAs</vt:lpstr>
      <vt:lpstr>Other issues</vt:lpstr>
      <vt:lpstr>Deterministic finite automation (DFA) (P.115)</vt:lpstr>
      <vt:lpstr>Implementing a DFA (P.116)</vt:lpstr>
      <vt:lpstr>Implementing a NFA (P.126)</vt:lpstr>
      <vt:lpstr>DFA (example) (P.117)</vt:lpstr>
      <vt:lpstr>Converting a NFA into a DFA (P.117)</vt:lpstr>
      <vt:lpstr>PowerPoint 演示文稿</vt:lpstr>
      <vt:lpstr>Conversion :  NFA  DFA</vt:lpstr>
      <vt:lpstr>Algorithm Concepts</vt:lpstr>
      <vt:lpstr>Algorithm Concepts （cont.）</vt:lpstr>
      <vt:lpstr>Algorithm for subset construction (P.118)</vt:lpstr>
      <vt:lpstr>Algorithm For Subset Construction (cont.)(P.119)</vt:lpstr>
      <vt:lpstr>Converting NFA to DFA – 1st Look (Example3.15  P.119)</vt:lpstr>
      <vt:lpstr>Converting a NFA into a DFA (calculate -closure )</vt:lpstr>
      <vt:lpstr>PowerPoint 演示文稿</vt:lpstr>
      <vt:lpstr>Conversion Example – continued (4)</vt:lpstr>
      <vt:lpstr>PowerPoint 演示文稿</vt:lpstr>
      <vt:lpstr>DFA (exercise in class)</vt:lpstr>
      <vt:lpstr>DFA (exercise answer) </vt:lpstr>
      <vt:lpstr>Another exercise</vt:lpstr>
      <vt:lpstr>典型练习RE-&gt;NFA-&gt;DFA</vt:lpstr>
    </vt:vector>
  </TitlesOfParts>
  <Company>Bilkent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CS416:lec01-lexicalanalyzer</dc:title>
  <dc:creator>Ilyas Cicekli</dc:creator>
  <cp:lastModifiedBy>Exin Y</cp:lastModifiedBy>
  <cp:revision>354</cp:revision>
  <cp:lastPrinted>1999-09-09T03:15:50Z</cp:lastPrinted>
  <dcterms:created xsi:type="dcterms:W3CDTF">1999-01-20T19:57:44Z</dcterms:created>
  <dcterms:modified xsi:type="dcterms:W3CDTF">2015-10-07T09:26:01Z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radev@cs.columbia.edu</vt:lpwstr>
  </property>
  <property fmtid="{D5CDD505-2E9C-101B-9397-08002B2CF9AE}" pid="8" name="HomePage">
    <vt:lpwstr>http://www.cs.columbia.edu/~radev/cs4705/</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F:\html\cs4705</vt:lpwstr>
  </property>
</Properties>
</file>