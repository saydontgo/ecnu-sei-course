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84" r:id="rId3"/>
    <p:sldId id="286" r:id="rId4"/>
    <p:sldId id="287" r:id="rId5"/>
    <p:sldId id="288" r:id="rId6"/>
    <p:sldId id="257" r:id="rId7"/>
    <p:sldId id="290" r:id="rId8"/>
    <p:sldId id="292" r:id="rId9"/>
    <p:sldId id="293" r:id="rId10"/>
    <p:sldId id="294" r:id="rId11"/>
    <p:sldId id="295" r:id="rId12"/>
    <p:sldId id="296" r:id="rId13"/>
    <p:sldId id="25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8" r:id="rId23"/>
    <p:sldId id="307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61B3A-E7F1-407C-A964-03237EC30CB3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19BDF-7FFF-4586-A201-6E4E2E1DAE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7400" y="279707"/>
            <a:ext cx="279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dk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求实创造 为人师表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608" y="105289"/>
            <a:ext cx="2286414" cy="613900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16DD7-6795-4212-A327-F2BD6B16E0D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5.png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image" Target="../media/image9.png"/><Relationship Id="rId2" Type="http://schemas.openxmlformats.org/officeDocument/2006/relationships/tags" Target="../tags/tag44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60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1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3.png"/><Relationship Id="rId5" Type="http://schemas.openxmlformats.org/officeDocument/2006/relationships/tags" Target="../tags/tag68.xml"/><Relationship Id="rId10" Type="http://schemas.openxmlformats.org/officeDocument/2006/relationships/image" Target="../media/image5.png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10" Type="http://schemas.openxmlformats.org/officeDocument/2006/relationships/image" Target="../media/image15.png"/><Relationship Id="rId4" Type="http://schemas.openxmlformats.org/officeDocument/2006/relationships/tags" Target="../tags/tag80.xml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89.xml"/><Relationship Id="rId7" Type="http://schemas.openxmlformats.org/officeDocument/2006/relationships/image" Target="../media/image17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91.xml"/><Relationship Id="rId10" Type="http://schemas.openxmlformats.org/officeDocument/2006/relationships/image" Target="../media/image19.png"/><Relationship Id="rId4" Type="http://schemas.openxmlformats.org/officeDocument/2006/relationships/tags" Target="../tags/tag90.xml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4" y="0"/>
            <a:ext cx="12190111" cy="6858000"/>
          </a:xfrm>
          <a:prstGeom prst="rect">
            <a:avLst/>
          </a:prstGeom>
          <a:gradFill>
            <a:gsLst>
              <a:gs pos="77000">
                <a:schemeClr val="accent2">
                  <a:alpha val="0"/>
                </a:schemeClr>
              </a:gs>
              <a:gs pos="77000">
                <a:schemeClr val="accent2"/>
              </a:gs>
            </a:gsLst>
            <a:lin ang="0" scaled="1"/>
          </a:gradFill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6884324"/>
          </a:xfrm>
          <a:prstGeom prst="rect">
            <a:avLst/>
          </a:prstGeom>
          <a:gradFill>
            <a:gsLst>
              <a:gs pos="76000">
                <a:schemeClr val="bg1">
                  <a:alpha val="0"/>
                </a:schemeClr>
              </a:gs>
              <a:gs pos="63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363418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chemeClr val="accent2">
                    <a:alpha val="0"/>
                  </a:schemeClr>
                </a:gs>
                <a:gs pos="77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7"/>
          <p:cNvSpPr/>
          <p:nvPr/>
        </p:nvSpPr>
        <p:spPr>
          <a:xfrm>
            <a:off x="6261100" y="0"/>
            <a:ext cx="5930900" cy="6894372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100000"/>
                </a:schemeClr>
              </a:gs>
              <a:gs pos="71000">
                <a:schemeClr val="dk1">
                  <a:lumMod val="10000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iconfont-11208-5297042"/>
          <p:cNvSpPr/>
          <p:nvPr/>
        </p:nvSpPr>
        <p:spPr>
          <a:xfrm>
            <a:off x="240665" y="32829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dk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直角三角形 20"/>
          <p:cNvSpPr/>
          <p:nvPr/>
        </p:nvSpPr>
        <p:spPr>
          <a:xfrm rot="5400000" flipH="1" flipV="1">
            <a:off x="1738791" y="-1413562"/>
            <a:ext cx="6821630" cy="9747817"/>
          </a:xfrm>
          <a:prstGeom prst="rtTriangle">
            <a:avLst/>
          </a:prstGeom>
          <a:gradFill>
            <a:gsLst>
              <a:gs pos="4300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  <a:alpha val="4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7878008" y="4267893"/>
            <a:ext cx="3923593" cy="2783672"/>
            <a:chOff x="4659892" y="3664499"/>
            <a:chExt cx="3923593" cy="2783672"/>
          </a:xfrm>
          <a:solidFill>
            <a:schemeClr val="lt1">
              <a:alpha val="14000"/>
            </a:schemeClr>
          </a:solidFill>
        </p:grpSpPr>
        <p:sp>
          <p:nvSpPr>
            <p:cNvPr id="22" name="íṥḷíďe"/>
            <p:cNvSpPr/>
            <p:nvPr/>
          </p:nvSpPr>
          <p:spPr bwMode="auto">
            <a:xfrm>
              <a:off x="4659892" y="3664499"/>
              <a:ext cx="2119058" cy="2783672"/>
            </a:xfrm>
            <a:custGeom>
              <a:avLst/>
              <a:gdLst>
                <a:gd name="T0" fmla="*/ 28 w 321"/>
                <a:gd name="T1" fmla="*/ 93 h 333"/>
                <a:gd name="T2" fmla="*/ 99 w 321"/>
                <a:gd name="T3" fmla="*/ 68 h 333"/>
                <a:gd name="T4" fmla="*/ 108 w 321"/>
                <a:gd name="T5" fmla="*/ 34 h 333"/>
                <a:gd name="T6" fmla="*/ 298 w 321"/>
                <a:gd name="T7" fmla="*/ 303 h 333"/>
                <a:gd name="T8" fmla="*/ 0 w 321"/>
                <a:gd name="T9" fmla="*/ 333 h 333"/>
                <a:gd name="T10" fmla="*/ 181 w 321"/>
                <a:gd name="T11" fmla="*/ 68 h 333"/>
                <a:gd name="T12" fmla="*/ 193 w 321"/>
                <a:gd name="T13" fmla="*/ 50 h 333"/>
                <a:gd name="T14" fmla="*/ 181 w 321"/>
                <a:gd name="T15" fmla="*/ 92 h 333"/>
                <a:gd name="T16" fmla="*/ 193 w 321"/>
                <a:gd name="T17" fmla="*/ 106 h 333"/>
                <a:gd name="T18" fmla="*/ 181 w 321"/>
                <a:gd name="T19" fmla="*/ 92 h 333"/>
                <a:gd name="T20" fmla="*/ 187 w 321"/>
                <a:gd name="T21" fmla="*/ 87 h 333"/>
                <a:gd name="T22" fmla="*/ 187 w 321"/>
                <a:gd name="T23" fmla="*/ 71 h 333"/>
                <a:gd name="T24" fmla="*/ 205 w 321"/>
                <a:gd name="T25" fmla="*/ 64 h 333"/>
                <a:gd name="T26" fmla="*/ 217 w 321"/>
                <a:gd name="T27" fmla="*/ 46 h 333"/>
                <a:gd name="T28" fmla="*/ 205 w 321"/>
                <a:gd name="T29" fmla="*/ 89 h 333"/>
                <a:gd name="T30" fmla="*/ 217 w 321"/>
                <a:gd name="T31" fmla="*/ 103 h 333"/>
                <a:gd name="T32" fmla="*/ 205 w 321"/>
                <a:gd name="T33" fmla="*/ 89 h 333"/>
                <a:gd name="T34" fmla="*/ 211 w 321"/>
                <a:gd name="T35" fmla="*/ 83 h 333"/>
                <a:gd name="T36" fmla="*/ 211 w 321"/>
                <a:gd name="T37" fmla="*/ 67 h 333"/>
                <a:gd name="T38" fmla="*/ 57 w 321"/>
                <a:gd name="T39" fmla="*/ 127 h 333"/>
                <a:gd name="T40" fmla="*/ 69 w 321"/>
                <a:gd name="T41" fmla="*/ 109 h 333"/>
                <a:gd name="T42" fmla="*/ 57 w 321"/>
                <a:gd name="T43" fmla="*/ 190 h 333"/>
                <a:gd name="T44" fmla="*/ 69 w 321"/>
                <a:gd name="T45" fmla="*/ 205 h 333"/>
                <a:gd name="T46" fmla="*/ 57 w 321"/>
                <a:gd name="T47" fmla="*/ 190 h 333"/>
                <a:gd name="T48" fmla="*/ 63 w 321"/>
                <a:gd name="T49" fmla="*/ 185 h 333"/>
                <a:gd name="T50" fmla="*/ 63 w 321"/>
                <a:gd name="T51" fmla="*/ 169 h 333"/>
                <a:gd name="T52" fmla="*/ 57 w 321"/>
                <a:gd name="T53" fmla="*/ 166 h 333"/>
                <a:gd name="T54" fmla="*/ 69 w 321"/>
                <a:gd name="T55" fmla="*/ 149 h 333"/>
                <a:gd name="T56" fmla="*/ 57 w 321"/>
                <a:gd name="T57" fmla="*/ 131 h 333"/>
                <a:gd name="T58" fmla="*/ 69 w 321"/>
                <a:gd name="T59" fmla="*/ 144 h 333"/>
                <a:gd name="T60" fmla="*/ 57 w 321"/>
                <a:gd name="T61" fmla="*/ 131 h 333"/>
                <a:gd name="T62" fmla="*/ 145 w 321"/>
                <a:gd name="T63" fmla="*/ 184 h 333"/>
                <a:gd name="T64" fmla="*/ 145 w 321"/>
                <a:gd name="T65" fmla="*/ 162 h 333"/>
                <a:gd name="T66" fmla="*/ 137 w 321"/>
                <a:gd name="T67" fmla="*/ 294 h 333"/>
                <a:gd name="T68" fmla="*/ 154 w 321"/>
                <a:gd name="T69" fmla="*/ 272 h 333"/>
                <a:gd name="T70" fmla="*/ 137 w 321"/>
                <a:gd name="T71" fmla="*/ 245 h 333"/>
                <a:gd name="T72" fmla="*/ 154 w 321"/>
                <a:gd name="T73" fmla="*/ 265 h 333"/>
                <a:gd name="T74" fmla="*/ 137 w 321"/>
                <a:gd name="T75" fmla="*/ 245 h 333"/>
                <a:gd name="T76" fmla="*/ 145 w 321"/>
                <a:gd name="T77" fmla="*/ 239 h 333"/>
                <a:gd name="T78" fmla="*/ 145 w 321"/>
                <a:gd name="T79" fmla="*/ 217 h 333"/>
                <a:gd name="T80" fmla="*/ 137 w 321"/>
                <a:gd name="T81" fmla="*/ 212 h 333"/>
                <a:gd name="T82" fmla="*/ 154 w 321"/>
                <a:gd name="T83" fmla="*/ 188 h 333"/>
                <a:gd name="T84" fmla="*/ 111 w 321"/>
                <a:gd name="T85" fmla="*/ 169 h 333"/>
                <a:gd name="T86" fmla="*/ 127 w 321"/>
                <a:gd name="T87" fmla="*/ 186 h 333"/>
                <a:gd name="T88" fmla="*/ 111 w 321"/>
                <a:gd name="T89" fmla="*/ 169 h 333"/>
                <a:gd name="T90" fmla="*/ 119 w 321"/>
                <a:gd name="T91" fmla="*/ 294 h 333"/>
                <a:gd name="T92" fmla="*/ 119 w 321"/>
                <a:gd name="T93" fmla="*/ 273 h 333"/>
                <a:gd name="T94" fmla="*/ 111 w 321"/>
                <a:gd name="T95" fmla="*/ 267 h 333"/>
                <a:gd name="T96" fmla="*/ 127 w 321"/>
                <a:gd name="T97" fmla="*/ 246 h 333"/>
                <a:gd name="T98" fmla="*/ 111 w 321"/>
                <a:gd name="T99" fmla="*/ 221 h 333"/>
                <a:gd name="T100" fmla="*/ 127 w 321"/>
                <a:gd name="T101" fmla="*/ 240 h 333"/>
                <a:gd name="T102" fmla="*/ 111 w 321"/>
                <a:gd name="T103" fmla="*/ 221 h 333"/>
                <a:gd name="T104" fmla="*/ 119 w 321"/>
                <a:gd name="T105" fmla="*/ 214 h 333"/>
                <a:gd name="T106" fmla="*/ 119 w 321"/>
                <a:gd name="T107" fmla="*/ 193 h 333"/>
                <a:gd name="T108" fmla="*/ 127 w 321"/>
                <a:gd name="T109" fmla="*/ 62 h 333"/>
                <a:gd name="T110" fmla="*/ 171 w 321"/>
                <a:gd name="T111" fmla="*/ 117 h 333"/>
                <a:gd name="T112" fmla="*/ 224 w 321"/>
                <a:gd name="T113" fmla="*/ 134 h 333"/>
                <a:gd name="T114" fmla="*/ 239 w 321"/>
                <a:gd name="T115" fmla="*/ 28 h 333"/>
                <a:gd name="T116" fmla="*/ 51 w 321"/>
                <a:gd name="T117" fmla="*/ 303 h 333"/>
                <a:gd name="T118" fmla="*/ 118 w 321"/>
                <a:gd name="T119" fmla="*/ 129 h 333"/>
                <a:gd name="T120" fmla="*/ 51 w 321"/>
                <a:gd name="T121" fmla="*/ 303 h 333"/>
                <a:gd name="T122" fmla="*/ 166 w 321"/>
                <a:gd name="T123" fmla="*/ 142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1" h="333">
                  <a:moveTo>
                    <a:pt x="0" y="303"/>
                  </a:moveTo>
                  <a:cubicBezTo>
                    <a:pt x="28" y="303"/>
                    <a:pt x="28" y="303"/>
                    <a:pt x="28" y="303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03"/>
                    <a:pt x="298" y="303"/>
                    <a:pt x="298" y="303"/>
                  </a:cubicBezTo>
                  <a:cubicBezTo>
                    <a:pt x="321" y="303"/>
                    <a:pt x="321" y="303"/>
                    <a:pt x="321" y="303"/>
                  </a:cubicBezTo>
                  <a:cubicBezTo>
                    <a:pt x="321" y="333"/>
                    <a:pt x="321" y="333"/>
                    <a:pt x="321" y="333"/>
                  </a:cubicBezTo>
                  <a:cubicBezTo>
                    <a:pt x="0" y="333"/>
                    <a:pt x="0" y="333"/>
                    <a:pt x="0" y="333"/>
                  </a:cubicBezTo>
                  <a:cubicBezTo>
                    <a:pt x="0" y="303"/>
                    <a:pt x="0" y="303"/>
                    <a:pt x="0" y="303"/>
                  </a:cubicBezTo>
                  <a:close/>
                  <a:moveTo>
                    <a:pt x="181" y="53"/>
                  </a:moveTo>
                  <a:cubicBezTo>
                    <a:pt x="181" y="58"/>
                    <a:pt x="181" y="63"/>
                    <a:pt x="181" y="68"/>
                  </a:cubicBezTo>
                  <a:cubicBezTo>
                    <a:pt x="183" y="68"/>
                    <a:pt x="185" y="67"/>
                    <a:pt x="187" y="67"/>
                  </a:cubicBezTo>
                  <a:cubicBezTo>
                    <a:pt x="189" y="67"/>
                    <a:pt x="191" y="66"/>
                    <a:pt x="193" y="66"/>
                  </a:cubicBezTo>
                  <a:cubicBezTo>
                    <a:pt x="193" y="61"/>
                    <a:pt x="193" y="55"/>
                    <a:pt x="193" y="50"/>
                  </a:cubicBezTo>
                  <a:cubicBezTo>
                    <a:pt x="191" y="51"/>
                    <a:pt x="189" y="51"/>
                    <a:pt x="187" y="52"/>
                  </a:cubicBezTo>
                  <a:cubicBezTo>
                    <a:pt x="185" y="52"/>
                    <a:pt x="183" y="53"/>
                    <a:pt x="181" y="53"/>
                  </a:cubicBezTo>
                  <a:close/>
                  <a:moveTo>
                    <a:pt x="181" y="92"/>
                  </a:moveTo>
                  <a:cubicBezTo>
                    <a:pt x="181" y="97"/>
                    <a:pt x="181" y="102"/>
                    <a:pt x="181" y="107"/>
                  </a:cubicBezTo>
                  <a:cubicBezTo>
                    <a:pt x="183" y="107"/>
                    <a:pt x="185" y="107"/>
                    <a:pt x="187" y="106"/>
                  </a:cubicBezTo>
                  <a:cubicBezTo>
                    <a:pt x="189" y="106"/>
                    <a:pt x="191" y="106"/>
                    <a:pt x="193" y="106"/>
                  </a:cubicBezTo>
                  <a:cubicBezTo>
                    <a:pt x="193" y="101"/>
                    <a:pt x="193" y="95"/>
                    <a:pt x="193" y="90"/>
                  </a:cubicBezTo>
                  <a:cubicBezTo>
                    <a:pt x="191" y="91"/>
                    <a:pt x="189" y="91"/>
                    <a:pt x="187" y="91"/>
                  </a:cubicBezTo>
                  <a:cubicBezTo>
                    <a:pt x="185" y="91"/>
                    <a:pt x="183" y="92"/>
                    <a:pt x="181" y="92"/>
                  </a:cubicBezTo>
                  <a:close/>
                  <a:moveTo>
                    <a:pt x="181" y="72"/>
                  </a:moveTo>
                  <a:cubicBezTo>
                    <a:pt x="181" y="77"/>
                    <a:pt x="181" y="83"/>
                    <a:pt x="181" y="88"/>
                  </a:cubicBezTo>
                  <a:cubicBezTo>
                    <a:pt x="183" y="87"/>
                    <a:pt x="185" y="87"/>
                    <a:pt x="187" y="87"/>
                  </a:cubicBezTo>
                  <a:cubicBezTo>
                    <a:pt x="189" y="86"/>
                    <a:pt x="191" y="86"/>
                    <a:pt x="193" y="86"/>
                  </a:cubicBezTo>
                  <a:cubicBezTo>
                    <a:pt x="193" y="80"/>
                    <a:pt x="193" y="75"/>
                    <a:pt x="193" y="70"/>
                  </a:cubicBezTo>
                  <a:cubicBezTo>
                    <a:pt x="191" y="71"/>
                    <a:pt x="189" y="71"/>
                    <a:pt x="187" y="71"/>
                  </a:cubicBezTo>
                  <a:cubicBezTo>
                    <a:pt x="185" y="72"/>
                    <a:pt x="183" y="72"/>
                    <a:pt x="181" y="72"/>
                  </a:cubicBezTo>
                  <a:close/>
                  <a:moveTo>
                    <a:pt x="205" y="49"/>
                  </a:moveTo>
                  <a:cubicBezTo>
                    <a:pt x="205" y="54"/>
                    <a:pt x="205" y="59"/>
                    <a:pt x="205" y="64"/>
                  </a:cubicBezTo>
                  <a:cubicBezTo>
                    <a:pt x="207" y="64"/>
                    <a:pt x="209" y="63"/>
                    <a:pt x="211" y="63"/>
                  </a:cubicBezTo>
                  <a:cubicBezTo>
                    <a:pt x="213" y="63"/>
                    <a:pt x="215" y="62"/>
                    <a:pt x="217" y="62"/>
                  </a:cubicBezTo>
                  <a:cubicBezTo>
                    <a:pt x="217" y="56"/>
                    <a:pt x="217" y="51"/>
                    <a:pt x="217" y="46"/>
                  </a:cubicBezTo>
                  <a:cubicBezTo>
                    <a:pt x="215" y="46"/>
                    <a:pt x="213" y="47"/>
                    <a:pt x="211" y="47"/>
                  </a:cubicBezTo>
                  <a:cubicBezTo>
                    <a:pt x="209" y="48"/>
                    <a:pt x="207" y="48"/>
                    <a:pt x="205" y="49"/>
                  </a:cubicBezTo>
                  <a:close/>
                  <a:moveTo>
                    <a:pt x="205" y="89"/>
                  </a:moveTo>
                  <a:cubicBezTo>
                    <a:pt x="205" y="94"/>
                    <a:pt x="205" y="99"/>
                    <a:pt x="205" y="104"/>
                  </a:cubicBezTo>
                  <a:cubicBezTo>
                    <a:pt x="207" y="104"/>
                    <a:pt x="209" y="104"/>
                    <a:pt x="211" y="104"/>
                  </a:cubicBezTo>
                  <a:cubicBezTo>
                    <a:pt x="213" y="104"/>
                    <a:pt x="215" y="103"/>
                    <a:pt x="217" y="103"/>
                  </a:cubicBezTo>
                  <a:cubicBezTo>
                    <a:pt x="217" y="98"/>
                    <a:pt x="217" y="92"/>
                    <a:pt x="217" y="87"/>
                  </a:cubicBezTo>
                  <a:cubicBezTo>
                    <a:pt x="215" y="87"/>
                    <a:pt x="213" y="88"/>
                    <a:pt x="211" y="88"/>
                  </a:cubicBezTo>
                  <a:cubicBezTo>
                    <a:pt x="209" y="88"/>
                    <a:pt x="207" y="89"/>
                    <a:pt x="205" y="89"/>
                  </a:cubicBezTo>
                  <a:close/>
                  <a:moveTo>
                    <a:pt x="205" y="69"/>
                  </a:moveTo>
                  <a:cubicBezTo>
                    <a:pt x="205" y="74"/>
                    <a:pt x="205" y="79"/>
                    <a:pt x="205" y="84"/>
                  </a:cubicBezTo>
                  <a:cubicBezTo>
                    <a:pt x="207" y="84"/>
                    <a:pt x="209" y="84"/>
                    <a:pt x="211" y="83"/>
                  </a:cubicBezTo>
                  <a:cubicBezTo>
                    <a:pt x="213" y="83"/>
                    <a:pt x="215" y="83"/>
                    <a:pt x="217" y="82"/>
                  </a:cubicBezTo>
                  <a:cubicBezTo>
                    <a:pt x="217" y="77"/>
                    <a:pt x="217" y="72"/>
                    <a:pt x="217" y="66"/>
                  </a:cubicBezTo>
                  <a:cubicBezTo>
                    <a:pt x="215" y="67"/>
                    <a:pt x="213" y="67"/>
                    <a:pt x="211" y="67"/>
                  </a:cubicBezTo>
                  <a:cubicBezTo>
                    <a:pt x="209" y="68"/>
                    <a:pt x="207" y="68"/>
                    <a:pt x="205" y="69"/>
                  </a:cubicBezTo>
                  <a:close/>
                  <a:moveTo>
                    <a:pt x="57" y="112"/>
                  </a:moveTo>
                  <a:cubicBezTo>
                    <a:pt x="57" y="117"/>
                    <a:pt x="57" y="122"/>
                    <a:pt x="57" y="127"/>
                  </a:cubicBezTo>
                  <a:cubicBezTo>
                    <a:pt x="59" y="126"/>
                    <a:pt x="61" y="126"/>
                    <a:pt x="63" y="126"/>
                  </a:cubicBezTo>
                  <a:cubicBezTo>
                    <a:pt x="65" y="125"/>
                    <a:pt x="67" y="125"/>
                    <a:pt x="69" y="124"/>
                  </a:cubicBezTo>
                  <a:cubicBezTo>
                    <a:pt x="69" y="119"/>
                    <a:pt x="69" y="114"/>
                    <a:pt x="69" y="109"/>
                  </a:cubicBezTo>
                  <a:cubicBezTo>
                    <a:pt x="67" y="109"/>
                    <a:pt x="65" y="110"/>
                    <a:pt x="63" y="110"/>
                  </a:cubicBezTo>
                  <a:cubicBezTo>
                    <a:pt x="61" y="111"/>
                    <a:pt x="59" y="111"/>
                    <a:pt x="57" y="112"/>
                  </a:cubicBezTo>
                  <a:close/>
                  <a:moveTo>
                    <a:pt x="57" y="190"/>
                  </a:moveTo>
                  <a:cubicBezTo>
                    <a:pt x="57" y="195"/>
                    <a:pt x="57" y="200"/>
                    <a:pt x="57" y="205"/>
                  </a:cubicBezTo>
                  <a:cubicBezTo>
                    <a:pt x="59" y="205"/>
                    <a:pt x="61" y="205"/>
                    <a:pt x="63" y="205"/>
                  </a:cubicBezTo>
                  <a:cubicBezTo>
                    <a:pt x="65" y="205"/>
                    <a:pt x="67" y="205"/>
                    <a:pt x="69" y="205"/>
                  </a:cubicBezTo>
                  <a:cubicBezTo>
                    <a:pt x="69" y="199"/>
                    <a:pt x="69" y="194"/>
                    <a:pt x="69" y="189"/>
                  </a:cubicBezTo>
                  <a:cubicBezTo>
                    <a:pt x="67" y="189"/>
                    <a:pt x="65" y="189"/>
                    <a:pt x="63" y="189"/>
                  </a:cubicBezTo>
                  <a:cubicBezTo>
                    <a:pt x="61" y="189"/>
                    <a:pt x="59" y="189"/>
                    <a:pt x="57" y="190"/>
                  </a:cubicBezTo>
                  <a:close/>
                  <a:moveTo>
                    <a:pt x="57" y="170"/>
                  </a:moveTo>
                  <a:cubicBezTo>
                    <a:pt x="57" y="175"/>
                    <a:pt x="57" y="180"/>
                    <a:pt x="57" y="185"/>
                  </a:cubicBezTo>
                  <a:cubicBezTo>
                    <a:pt x="59" y="185"/>
                    <a:pt x="61" y="185"/>
                    <a:pt x="63" y="185"/>
                  </a:cubicBezTo>
                  <a:cubicBezTo>
                    <a:pt x="65" y="184"/>
                    <a:pt x="67" y="184"/>
                    <a:pt x="69" y="184"/>
                  </a:cubicBezTo>
                  <a:cubicBezTo>
                    <a:pt x="69" y="179"/>
                    <a:pt x="69" y="174"/>
                    <a:pt x="69" y="169"/>
                  </a:cubicBezTo>
                  <a:cubicBezTo>
                    <a:pt x="67" y="169"/>
                    <a:pt x="65" y="169"/>
                    <a:pt x="63" y="169"/>
                  </a:cubicBezTo>
                  <a:cubicBezTo>
                    <a:pt x="61" y="169"/>
                    <a:pt x="59" y="170"/>
                    <a:pt x="57" y="170"/>
                  </a:cubicBezTo>
                  <a:close/>
                  <a:moveTo>
                    <a:pt x="57" y="150"/>
                  </a:moveTo>
                  <a:cubicBezTo>
                    <a:pt x="57" y="155"/>
                    <a:pt x="57" y="161"/>
                    <a:pt x="57" y="166"/>
                  </a:cubicBezTo>
                  <a:cubicBezTo>
                    <a:pt x="59" y="165"/>
                    <a:pt x="61" y="165"/>
                    <a:pt x="63" y="165"/>
                  </a:cubicBezTo>
                  <a:cubicBezTo>
                    <a:pt x="65" y="165"/>
                    <a:pt x="67" y="165"/>
                    <a:pt x="69" y="164"/>
                  </a:cubicBezTo>
                  <a:cubicBezTo>
                    <a:pt x="69" y="159"/>
                    <a:pt x="69" y="154"/>
                    <a:pt x="69" y="149"/>
                  </a:cubicBezTo>
                  <a:cubicBezTo>
                    <a:pt x="67" y="149"/>
                    <a:pt x="65" y="149"/>
                    <a:pt x="63" y="150"/>
                  </a:cubicBezTo>
                  <a:cubicBezTo>
                    <a:pt x="61" y="150"/>
                    <a:pt x="59" y="150"/>
                    <a:pt x="57" y="150"/>
                  </a:cubicBezTo>
                  <a:close/>
                  <a:moveTo>
                    <a:pt x="57" y="131"/>
                  </a:moveTo>
                  <a:cubicBezTo>
                    <a:pt x="57" y="136"/>
                    <a:pt x="57" y="141"/>
                    <a:pt x="57" y="146"/>
                  </a:cubicBezTo>
                  <a:cubicBezTo>
                    <a:pt x="59" y="146"/>
                    <a:pt x="61" y="145"/>
                    <a:pt x="63" y="145"/>
                  </a:cubicBezTo>
                  <a:cubicBezTo>
                    <a:pt x="65" y="145"/>
                    <a:pt x="67" y="144"/>
                    <a:pt x="69" y="144"/>
                  </a:cubicBezTo>
                  <a:cubicBezTo>
                    <a:pt x="69" y="139"/>
                    <a:pt x="69" y="134"/>
                    <a:pt x="69" y="129"/>
                  </a:cubicBezTo>
                  <a:cubicBezTo>
                    <a:pt x="67" y="129"/>
                    <a:pt x="65" y="129"/>
                    <a:pt x="63" y="130"/>
                  </a:cubicBezTo>
                  <a:cubicBezTo>
                    <a:pt x="61" y="130"/>
                    <a:pt x="59" y="131"/>
                    <a:pt x="57" y="131"/>
                  </a:cubicBezTo>
                  <a:close/>
                  <a:moveTo>
                    <a:pt x="137" y="164"/>
                  </a:moveTo>
                  <a:cubicBezTo>
                    <a:pt x="137" y="171"/>
                    <a:pt x="137" y="178"/>
                    <a:pt x="137" y="185"/>
                  </a:cubicBezTo>
                  <a:cubicBezTo>
                    <a:pt x="140" y="185"/>
                    <a:pt x="143" y="184"/>
                    <a:pt x="145" y="184"/>
                  </a:cubicBezTo>
                  <a:cubicBezTo>
                    <a:pt x="148" y="183"/>
                    <a:pt x="151" y="182"/>
                    <a:pt x="154" y="182"/>
                  </a:cubicBezTo>
                  <a:cubicBezTo>
                    <a:pt x="154" y="175"/>
                    <a:pt x="154" y="167"/>
                    <a:pt x="154" y="160"/>
                  </a:cubicBezTo>
                  <a:cubicBezTo>
                    <a:pt x="151" y="161"/>
                    <a:pt x="148" y="162"/>
                    <a:pt x="145" y="162"/>
                  </a:cubicBezTo>
                  <a:cubicBezTo>
                    <a:pt x="143" y="163"/>
                    <a:pt x="140" y="164"/>
                    <a:pt x="137" y="164"/>
                  </a:cubicBezTo>
                  <a:close/>
                  <a:moveTo>
                    <a:pt x="137" y="273"/>
                  </a:moveTo>
                  <a:cubicBezTo>
                    <a:pt x="137" y="280"/>
                    <a:pt x="137" y="287"/>
                    <a:pt x="137" y="294"/>
                  </a:cubicBezTo>
                  <a:cubicBezTo>
                    <a:pt x="140" y="294"/>
                    <a:pt x="143" y="294"/>
                    <a:pt x="145" y="294"/>
                  </a:cubicBezTo>
                  <a:cubicBezTo>
                    <a:pt x="148" y="294"/>
                    <a:pt x="151" y="294"/>
                    <a:pt x="154" y="294"/>
                  </a:cubicBezTo>
                  <a:cubicBezTo>
                    <a:pt x="154" y="287"/>
                    <a:pt x="154" y="279"/>
                    <a:pt x="154" y="272"/>
                  </a:cubicBezTo>
                  <a:cubicBezTo>
                    <a:pt x="151" y="272"/>
                    <a:pt x="148" y="272"/>
                    <a:pt x="145" y="273"/>
                  </a:cubicBezTo>
                  <a:cubicBezTo>
                    <a:pt x="143" y="273"/>
                    <a:pt x="140" y="273"/>
                    <a:pt x="137" y="273"/>
                  </a:cubicBezTo>
                  <a:close/>
                  <a:moveTo>
                    <a:pt x="137" y="245"/>
                  </a:moveTo>
                  <a:cubicBezTo>
                    <a:pt x="137" y="252"/>
                    <a:pt x="137" y="259"/>
                    <a:pt x="137" y="266"/>
                  </a:cubicBezTo>
                  <a:cubicBezTo>
                    <a:pt x="140" y="266"/>
                    <a:pt x="143" y="266"/>
                    <a:pt x="145" y="266"/>
                  </a:cubicBezTo>
                  <a:cubicBezTo>
                    <a:pt x="148" y="266"/>
                    <a:pt x="151" y="266"/>
                    <a:pt x="154" y="265"/>
                  </a:cubicBezTo>
                  <a:cubicBezTo>
                    <a:pt x="154" y="258"/>
                    <a:pt x="154" y="251"/>
                    <a:pt x="154" y="244"/>
                  </a:cubicBezTo>
                  <a:cubicBezTo>
                    <a:pt x="151" y="244"/>
                    <a:pt x="148" y="244"/>
                    <a:pt x="145" y="245"/>
                  </a:cubicBezTo>
                  <a:cubicBezTo>
                    <a:pt x="143" y="245"/>
                    <a:pt x="140" y="245"/>
                    <a:pt x="137" y="245"/>
                  </a:cubicBezTo>
                  <a:close/>
                  <a:moveTo>
                    <a:pt x="137" y="218"/>
                  </a:moveTo>
                  <a:cubicBezTo>
                    <a:pt x="137" y="225"/>
                    <a:pt x="137" y="232"/>
                    <a:pt x="137" y="239"/>
                  </a:cubicBezTo>
                  <a:cubicBezTo>
                    <a:pt x="140" y="239"/>
                    <a:pt x="143" y="239"/>
                    <a:pt x="145" y="239"/>
                  </a:cubicBezTo>
                  <a:cubicBezTo>
                    <a:pt x="148" y="238"/>
                    <a:pt x="151" y="238"/>
                    <a:pt x="154" y="238"/>
                  </a:cubicBezTo>
                  <a:cubicBezTo>
                    <a:pt x="154" y="230"/>
                    <a:pt x="154" y="223"/>
                    <a:pt x="154" y="216"/>
                  </a:cubicBezTo>
                  <a:cubicBezTo>
                    <a:pt x="151" y="216"/>
                    <a:pt x="148" y="217"/>
                    <a:pt x="145" y="217"/>
                  </a:cubicBezTo>
                  <a:cubicBezTo>
                    <a:pt x="143" y="218"/>
                    <a:pt x="140" y="218"/>
                    <a:pt x="137" y="218"/>
                  </a:cubicBezTo>
                  <a:close/>
                  <a:moveTo>
                    <a:pt x="137" y="191"/>
                  </a:moveTo>
                  <a:cubicBezTo>
                    <a:pt x="137" y="198"/>
                    <a:pt x="137" y="205"/>
                    <a:pt x="137" y="212"/>
                  </a:cubicBezTo>
                  <a:cubicBezTo>
                    <a:pt x="140" y="212"/>
                    <a:pt x="143" y="211"/>
                    <a:pt x="145" y="211"/>
                  </a:cubicBezTo>
                  <a:cubicBezTo>
                    <a:pt x="148" y="210"/>
                    <a:pt x="151" y="210"/>
                    <a:pt x="154" y="210"/>
                  </a:cubicBezTo>
                  <a:cubicBezTo>
                    <a:pt x="154" y="202"/>
                    <a:pt x="154" y="195"/>
                    <a:pt x="154" y="188"/>
                  </a:cubicBezTo>
                  <a:cubicBezTo>
                    <a:pt x="151" y="188"/>
                    <a:pt x="148" y="189"/>
                    <a:pt x="145" y="190"/>
                  </a:cubicBezTo>
                  <a:cubicBezTo>
                    <a:pt x="143" y="190"/>
                    <a:pt x="140" y="191"/>
                    <a:pt x="137" y="191"/>
                  </a:cubicBezTo>
                  <a:close/>
                  <a:moveTo>
                    <a:pt x="111" y="169"/>
                  </a:moveTo>
                  <a:cubicBezTo>
                    <a:pt x="111" y="176"/>
                    <a:pt x="111" y="183"/>
                    <a:pt x="111" y="189"/>
                  </a:cubicBezTo>
                  <a:cubicBezTo>
                    <a:pt x="113" y="189"/>
                    <a:pt x="116" y="188"/>
                    <a:pt x="119" y="188"/>
                  </a:cubicBezTo>
                  <a:cubicBezTo>
                    <a:pt x="121" y="187"/>
                    <a:pt x="124" y="187"/>
                    <a:pt x="127" y="186"/>
                  </a:cubicBezTo>
                  <a:cubicBezTo>
                    <a:pt x="127" y="179"/>
                    <a:pt x="127" y="172"/>
                    <a:pt x="127" y="165"/>
                  </a:cubicBezTo>
                  <a:cubicBezTo>
                    <a:pt x="124" y="166"/>
                    <a:pt x="121" y="166"/>
                    <a:pt x="119" y="167"/>
                  </a:cubicBezTo>
                  <a:cubicBezTo>
                    <a:pt x="116" y="168"/>
                    <a:pt x="113" y="168"/>
                    <a:pt x="111" y="169"/>
                  </a:cubicBezTo>
                  <a:close/>
                  <a:moveTo>
                    <a:pt x="111" y="274"/>
                  </a:moveTo>
                  <a:cubicBezTo>
                    <a:pt x="111" y="280"/>
                    <a:pt x="111" y="287"/>
                    <a:pt x="111" y="294"/>
                  </a:cubicBezTo>
                  <a:cubicBezTo>
                    <a:pt x="113" y="294"/>
                    <a:pt x="116" y="294"/>
                    <a:pt x="119" y="294"/>
                  </a:cubicBezTo>
                  <a:cubicBezTo>
                    <a:pt x="121" y="294"/>
                    <a:pt x="124" y="294"/>
                    <a:pt x="127" y="294"/>
                  </a:cubicBezTo>
                  <a:cubicBezTo>
                    <a:pt x="127" y="287"/>
                    <a:pt x="127" y="280"/>
                    <a:pt x="127" y="273"/>
                  </a:cubicBezTo>
                  <a:cubicBezTo>
                    <a:pt x="124" y="273"/>
                    <a:pt x="121" y="273"/>
                    <a:pt x="119" y="273"/>
                  </a:cubicBezTo>
                  <a:cubicBezTo>
                    <a:pt x="116" y="273"/>
                    <a:pt x="113" y="273"/>
                    <a:pt x="111" y="274"/>
                  </a:cubicBezTo>
                  <a:close/>
                  <a:moveTo>
                    <a:pt x="111" y="247"/>
                  </a:moveTo>
                  <a:cubicBezTo>
                    <a:pt x="111" y="254"/>
                    <a:pt x="111" y="260"/>
                    <a:pt x="111" y="267"/>
                  </a:cubicBezTo>
                  <a:cubicBezTo>
                    <a:pt x="113" y="267"/>
                    <a:pt x="116" y="267"/>
                    <a:pt x="119" y="267"/>
                  </a:cubicBezTo>
                  <a:cubicBezTo>
                    <a:pt x="121" y="267"/>
                    <a:pt x="124" y="266"/>
                    <a:pt x="127" y="266"/>
                  </a:cubicBezTo>
                  <a:cubicBezTo>
                    <a:pt x="127" y="259"/>
                    <a:pt x="127" y="252"/>
                    <a:pt x="127" y="246"/>
                  </a:cubicBezTo>
                  <a:cubicBezTo>
                    <a:pt x="124" y="246"/>
                    <a:pt x="121" y="246"/>
                    <a:pt x="119" y="246"/>
                  </a:cubicBezTo>
                  <a:cubicBezTo>
                    <a:pt x="116" y="246"/>
                    <a:pt x="113" y="247"/>
                    <a:pt x="111" y="247"/>
                  </a:cubicBezTo>
                  <a:close/>
                  <a:moveTo>
                    <a:pt x="111" y="221"/>
                  </a:moveTo>
                  <a:cubicBezTo>
                    <a:pt x="111" y="228"/>
                    <a:pt x="111" y="235"/>
                    <a:pt x="111" y="241"/>
                  </a:cubicBezTo>
                  <a:cubicBezTo>
                    <a:pt x="113" y="241"/>
                    <a:pt x="116" y="241"/>
                    <a:pt x="119" y="241"/>
                  </a:cubicBezTo>
                  <a:cubicBezTo>
                    <a:pt x="121" y="240"/>
                    <a:pt x="124" y="240"/>
                    <a:pt x="127" y="240"/>
                  </a:cubicBezTo>
                  <a:cubicBezTo>
                    <a:pt x="127" y="233"/>
                    <a:pt x="127" y="226"/>
                    <a:pt x="127" y="219"/>
                  </a:cubicBezTo>
                  <a:cubicBezTo>
                    <a:pt x="124" y="219"/>
                    <a:pt x="121" y="220"/>
                    <a:pt x="119" y="220"/>
                  </a:cubicBezTo>
                  <a:cubicBezTo>
                    <a:pt x="116" y="220"/>
                    <a:pt x="113" y="221"/>
                    <a:pt x="111" y="221"/>
                  </a:cubicBezTo>
                  <a:close/>
                  <a:moveTo>
                    <a:pt x="111" y="195"/>
                  </a:moveTo>
                  <a:cubicBezTo>
                    <a:pt x="111" y="202"/>
                    <a:pt x="111" y="208"/>
                    <a:pt x="111" y="215"/>
                  </a:cubicBezTo>
                  <a:cubicBezTo>
                    <a:pt x="113" y="215"/>
                    <a:pt x="116" y="214"/>
                    <a:pt x="119" y="214"/>
                  </a:cubicBezTo>
                  <a:cubicBezTo>
                    <a:pt x="121" y="214"/>
                    <a:pt x="124" y="213"/>
                    <a:pt x="127" y="213"/>
                  </a:cubicBezTo>
                  <a:cubicBezTo>
                    <a:pt x="127" y="206"/>
                    <a:pt x="127" y="199"/>
                    <a:pt x="127" y="192"/>
                  </a:cubicBezTo>
                  <a:cubicBezTo>
                    <a:pt x="124" y="192"/>
                    <a:pt x="121" y="193"/>
                    <a:pt x="119" y="193"/>
                  </a:cubicBezTo>
                  <a:cubicBezTo>
                    <a:pt x="116" y="194"/>
                    <a:pt x="113" y="194"/>
                    <a:pt x="111" y="195"/>
                  </a:cubicBezTo>
                  <a:close/>
                  <a:moveTo>
                    <a:pt x="122" y="63"/>
                  </a:moveTo>
                  <a:cubicBezTo>
                    <a:pt x="127" y="62"/>
                    <a:pt x="127" y="62"/>
                    <a:pt x="127" y="62"/>
                  </a:cubicBezTo>
                  <a:cubicBezTo>
                    <a:pt x="141" y="59"/>
                    <a:pt x="141" y="59"/>
                    <a:pt x="141" y="59"/>
                  </a:cubicBezTo>
                  <a:cubicBezTo>
                    <a:pt x="171" y="76"/>
                    <a:pt x="171" y="76"/>
                    <a:pt x="171" y="76"/>
                  </a:cubicBezTo>
                  <a:cubicBezTo>
                    <a:pt x="171" y="117"/>
                    <a:pt x="171" y="117"/>
                    <a:pt x="171" y="117"/>
                  </a:cubicBezTo>
                  <a:cubicBezTo>
                    <a:pt x="174" y="117"/>
                    <a:pt x="174" y="117"/>
                    <a:pt x="174" y="117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303"/>
                    <a:pt x="224" y="303"/>
                    <a:pt x="224" y="303"/>
                  </a:cubicBezTo>
                  <a:cubicBezTo>
                    <a:pt x="239" y="303"/>
                    <a:pt x="239" y="303"/>
                    <a:pt x="239" y="303"/>
                  </a:cubicBezTo>
                  <a:cubicBezTo>
                    <a:pt x="239" y="28"/>
                    <a:pt x="239" y="28"/>
                    <a:pt x="239" y="2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63"/>
                    <a:pt x="122" y="63"/>
                    <a:pt x="122" y="63"/>
                  </a:cubicBezTo>
                  <a:close/>
                  <a:moveTo>
                    <a:pt x="51" y="303"/>
                  </a:moveTo>
                  <a:cubicBezTo>
                    <a:pt x="76" y="303"/>
                    <a:pt x="76" y="303"/>
                    <a:pt x="76" y="303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118" y="129"/>
                    <a:pt x="118" y="129"/>
                    <a:pt x="118" y="129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1" y="303"/>
                    <a:pt x="51" y="303"/>
                    <a:pt x="51" y="303"/>
                  </a:cubicBezTo>
                  <a:close/>
                  <a:moveTo>
                    <a:pt x="98" y="303"/>
                  </a:moveTo>
                  <a:cubicBezTo>
                    <a:pt x="166" y="303"/>
                    <a:pt x="166" y="303"/>
                    <a:pt x="166" y="303"/>
                  </a:cubicBezTo>
                  <a:cubicBezTo>
                    <a:pt x="166" y="142"/>
                    <a:pt x="166" y="142"/>
                    <a:pt x="166" y="142"/>
                  </a:cubicBezTo>
                  <a:cubicBezTo>
                    <a:pt x="98" y="153"/>
                    <a:pt x="98" y="153"/>
                    <a:pt x="98" y="153"/>
                  </a:cubicBezTo>
                  <a:lnTo>
                    <a:pt x="98" y="303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ïṡḷidê"/>
            <p:cNvSpPr/>
            <p:nvPr/>
          </p:nvSpPr>
          <p:spPr bwMode="auto">
            <a:xfrm>
              <a:off x="6667755" y="4092450"/>
              <a:ext cx="1915730" cy="2203742"/>
            </a:xfrm>
            <a:custGeom>
              <a:avLst/>
              <a:gdLst>
                <a:gd name="T0" fmla="*/ 603 w 603"/>
                <a:gd name="T1" fmla="*/ 230 h 551"/>
                <a:gd name="T2" fmla="*/ 590 w 603"/>
                <a:gd name="T3" fmla="*/ 265 h 551"/>
                <a:gd name="T4" fmla="*/ 343 w 603"/>
                <a:gd name="T5" fmla="*/ 551 h 551"/>
                <a:gd name="T6" fmla="*/ 226 w 603"/>
                <a:gd name="T7" fmla="*/ 436 h 551"/>
                <a:gd name="T8" fmla="*/ 156 w 603"/>
                <a:gd name="T9" fmla="*/ 551 h 551"/>
                <a:gd name="T10" fmla="*/ 33 w 603"/>
                <a:gd name="T11" fmla="*/ 106 h 551"/>
                <a:gd name="T12" fmla="*/ 0 w 603"/>
                <a:gd name="T13" fmla="*/ 85 h 551"/>
                <a:gd name="T14" fmla="*/ 187 w 603"/>
                <a:gd name="T15" fmla="*/ 0 h 551"/>
                <a:gd name="T16" fmla="*/ 370 w 603"/>
                <a:gd name="T17" fmla="*/ 83 h 551"/>
                <a:gd name="T18" fmla="*/ 343 w 603"/>
                <a:gd name="T19" fmla="*/ 106 h 551"/>
                <a:gd name="T20" fmla="*/ 343 w 603"/>
                <a:gd name="T21" fmla="*/ 230 h 551"/>
                <a:gd name="T22" fmla="*/ 170 w 603"/>
                <a:gd name="T23" fmla="*/ 217 h 551"/>
                <a:gd name="T24" fmla="*/ 214 w 603"/>
                <a:gd name="T25" fmla="*/ 156 h 551"/>
                <a:gd name="T26" fmla="*/ 170 w 603"/>
                <a:gd name="T27" fmla="*/ 156 h 551"/>
                <a:gd name="T28" fmla="*/ 75 w 603"/>
                <a:gd name="T29" fmla="*/ 217 h 551"/>
                <a:gd name="T30" fmla="*/ 118 w 603"/>
                <a:gd name="T31" fmla="*/ 156 h 551"/>
                <a:gd name="T32" fmla="*/ 75 w 603"/>
                <a:gd name="T33" fmla="*/ 156 h 551"/>
                <a:gd name="T34" fmla="*/ 440 w 603"/>
                <a:gd name="T35" fmla="*/ 376 h 551"/>
                <a:gd name="T36" fmla="*/ 482 w 603"/>
                <a:gd name="T37" fmla="*/ 319 h 551"/>
                <a:gd name="T38" fmla="*/ 440 w 603"/>
                <a:gd name="T39" fmla="*/ 319 h 551"/>
                <a:gd name="T40" fmla="*/ 376 w 603"/>
                <a:gd name="T41" fmla="*/ 459 h 551"/>
                <a:gd name="T42" fmla="*/ 416 w 603"/>
                <a:gd name="T43" fmla="*/ 403 h 551"/>
                <a:gd name="T44" fmla="*/ 376 w 603"/>
                <a:gd name="T45" fmla="*/ 403 h 551"/>
                <a:gd name="T46" fmla="*/ 503 w 603"/>
                <a:gd name="T47" fmla="*/ 459 h 551"/>
                <a:gd name="T48" fmla="*/ 544 w 603"/>
                <a:gd name="T49" fmla="*/ 403 h 551"/>
                <a:gd name="T50" fmla="*/ 503 w 603"/>
                <a:gd name="T51" fmla="*/ 403 h 551"/>
                <a:gd name="T52" fmla="*/ 440 w 603"/>
                <a:gd name="T53" fmla="*/ 459 h 551"/>
                <a:gd name="T54" fmla="*/ 482 w 603"/>
                <a:gd name="T55" fmla="*/ 403 h 551"/>
                <a:gd name="T56" fmla="*/ 440 w 603"/>
                <a:gd name="T57" fmla="*/ 403 h 551"/>
                <a:gd name="T58" fmla="*/ 376 w 603"/>
                <a:gd name="T59" fmla="*/ 376 h 551"/>
                <a:gd name="T60" fmla="*/ 416 w 603"/>
                <a:gd name="T61" fmla="*/ 319 h 551"/>
                <a:gd name="T62" fmla="*/ 376 w 603"/>
                <a:gd name="T63" fmla="*/ 319 h 551"/>
                <a:gd name="T64" fmla="*/ 503 w 603"/>
                <a:gd name="T65" fmla="*/ 376 h 551"/>
                <a:gd name="T66" fmla="*/ 544 w 603"/>
                <a:gd name="T67" fmla="*/ 319 h 551"/>
                <a:gd name="T68" fmla="*/ 503 w 603"/>
                <a:gd name="T69" fmla="*/ 319 h 551"/>
                <a:gd name="T70" fmla="*/ 260 w 603"/>
                <a:gd name="T71" fmla="*/ 476 h 551"/>
                <a:gd name="T72" fmla="*/ 305 w 603"/>
                <a:gd name="T73" fmla="*/ 416 h 551"/>
                <a:gd name="T74" fmla="*/ 260 w 603"/>
                <a:gd name="T75" fmla="*/ 416 h 551"/>
                <a:gd name="T76" fmla="*/ 75 w 603"/>
                <a:gd name="T77" fmla="*/ 476 h 551"/>
                <a:gd name="T78" fmla="*/ 118 w 603"/>
                <a:gd name="T79" fmla="*/ 416 h 551"/>
                <a:gd name="T80" fmla="*/ 75 w 603"/>
                <a:gd name="T81" fmla="*/ 416 h 551"/>
                <a:gd name="T82" fmla="*/ 260 w 603"/>
                <a:gd name="T83" fmla="*/ 393 h 551"/>
                <a:gd name="T84" fmla="*/ 305 w 603"/>
                <a:gd name="T85" fmla="*/ 330 h 551"/>
                <a:gd name="T86" fmla="*/ 260 w 603"/>
                <a:gd name="T87" fmla="*/ 330 h 551"/>
                <a:gd name="T88" fmla="*/ 170 w 603"/>
                <a:gd name="T89" fmla="*/ 393 h 551"/>
                <a:gd name="T90" fmla="*/ 214 w 603"/>
                <a:gd name="T91" fmla="*/ 330 h 551"/>
                <a:gd name="T92" fmla="*/ 170 w 603"/>
                <a:gd name="T93" fmla="*/ 330 h 551"/>
                <a:gd name="T94" fmla="*/ 75 w 603"/>
                <a:gd name="T95" fmla="*/ 393 h 551"/>
                <a:gd name="T96" fmla="*/ 118 w 603"/>
                <a:gd name="T97" fmla="*/ 330 h 551"/>
                <a:gd name="T98" fmla="*/ 75 w 603"/>
                <a:gd name="T99" fmla="*/ 330 h 551"/>
                <a:gd name="T100" fmla="*/ 260 w 603"/>
                <a:gd name="T101" fmla="*/ 305 h 551"/>
                <a:gd name="T102" fmla="*/ 305 w 603"/>
                <a:gd name="T103" fmla="*/ 242 h 551"/>
                <a:gd name="T104" fmla="*/ 260 w 603"/>
                <a:gd name="T105" fmla="*/ 242 h 551"/>
                <a:gd name="T106" fmla="*/ 170 w 603"/>
                <a:gd name="T107" fmla="*/ 305 h 551"/>
                <a:gd name="T108" fmla="*/ 214 w 603"/>
                <a:gd name="T109" fmla="*/ 242 h 551"/>
                <a:gd name="T110" fmla="*/ 170 w 603"/>
                <a:gd name="T111" fmla="*/ 242 h 551"/>
                <a:gd name="T112" fmla="*/ 75 w 603"/>
                <a:gd name="T113" fmla="*/ 305 h 551"/>
                <a:gd name="T114" fmla="*/ 118 w 603"/>
                <a:gd name="T115" fmla="*/ 242 h 551"/>
                <a:gd name="T116" fmla="*/ 75 w 603"/>
                <a:gd name="T117" fmla="*/ 242 h 551"/>
                <a:gd name="T118" fmla="*/ 260 w 603"/>
                <a:gd name="T119" fmla="*/ 217 h 551"/>
                <a:gd name="T120" fmla="*/ 305 w 603"/>
                <a:gd name="T121" fmla="*/ 156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03" h="551">
                  <a:moveTo>
                    <a:pt x="343" y="230"/>
                  </a:moveTo>
                  <a:lnTo>
                    <a:pt x="603" y="230"/>
                  </a:lnTo>
                  <a:lnTo>
                    <a:pt x="603" y="265"/>
                  </a:lnTo>
                  <a:lnTo>
                    <a:pt x="590" y="265"/>
                  </a:lnTo>
                  <a:lnTo>
                    <a:pt x="590" y="551"/>
                  </a:lnTo>
                  <a:lnTo>
                    <a:pt x="343" y="551"/>
                  </a:lnTo>
                  <a:lnTo>
                    <a:pt x="226" y="551"/>
                  </a:lnTo>
                  <a:lnTo>
                    <a:pt x="226" y="436"/>
                  </a:lnTo>
                  <a:lnTo>
                    <a:pt x="156" y="436"/>
                  </a:lnTo>
                  <a:lnTo>
                    <a:pt x="156" y="551"/>
                  </a:lnTo>
                  <a:lnTo>
                    <a:pt x="33" y="551"/>
                  </a:lnTo>
                  <a:lnTo>
                    <a:pt x="33" y="106"/>
                  </a:lnTo>
                  <a:lnTo>
                    <a:pt x="0" y="106"/>
                  </a:lnTo>
                  <a:lnTo>
                    <a:pt x="0" y="85"/>
                  </a:lnTo>
                  <a:lnTo>
                    <a:pt x="71" y="54"/>
                  </a:lnTo>
                  <a:lnTo>
                    <a:pt x="187" y="0"/>
                  </a:lnTo>
                  <a:lnTo>
                    <a:pt x="303" y="54"/>
                  </a:lnTo>
                  <a:lnTo>
                    <a:pt x="370" y="83"/>
                  </a:lnTo>
                  <a:lnTo>
                    <a:pt x="370" y="106"/>
                  </a:lnTo>
                  <a:lnTo>
                    <a:pt x="343" y="106"/>
                  </a:lnTo>
                  <a:lnTo>
                    <a:pt x="343" y="230"/>
                  </a:lnTo>
                  <a:lnTo>
                    <a:pt x="343" y="230"/>
                  </a:lnTo>
                  <a:close/>
                  <a:moveTo>
                    <a:pt x="170" y="156"/>
                  </a:moveTo>
                  <a:lnTo>
                    <a:pt x="170" y="217"/>
                  </a:lnTo>
                  <a:lnTo>
                    <a:pt x="214" y="217"/>
                  </a:lnTo>
                  <a:lnTo>
                    <a:pt x="214" y="156"/>
                  </a:lnTo>
                  <a:lnTo>
                    <a:pt x="170" y="156"/>
                  </a:lnTo>
                  <a:lnTo>
                    <a:pt x="170" y="156"/>
                  </a:lnTo>
                  <a:close/>
                  <a:moveTo>
                    <a:pt x="75" y="156"/>
                  </a:moveTo>
                  <a:lnTo>
                    <a:pt x="75" y="217"/>
                  </a:lnTo>
                  <a:lnTo>
                    <a:pt x="118" y="217"/>
                  </a:lnTo>
                  <a:lnTo>
                    <a:pt x="118" y="156"/>
                  </a:lnTo>
                  <a:lnTo>
                    <a:pt x="75" y="156"/>
                  </a:lnTo>
                  <a:lnTo>
                    <a:pt x="75" y="156"/>
                  </a:lnTo>
                  <a:close/>
                  <a:moveTo>
                    <a:pt x="440" y="319"/>
                  </a:moveTo>
                  <a:lnTo>
                    <a:pt x="440" y="376"/>
                  </a:lnTo>
                  <a:lnTo>
                    <a:pt x="482" y="376"/>
                  </a:lnTo>
                  <a:lnTo>
                    <a:pt x="482" y="319"/>
                  </a:lnTo>
                  <a:lnTo>
                    <a:pt x="440" y="319"/>
                  </a:lnTo>
                  <a:lnTo>
                    <a:pt x="440" y="319"/>
                  </a:lnTo>
                  <a:close/>
                  <a:moveTo>
                    <a:pt x="376" y="403"/>
                  </a:moveTo>
                  <a:lnTo>
                    <a:pt x="376" y="459"/>
                  </a:lnTo>
                  <a:lnTo>
                    <a:pt x="416" y="459"/>
                  </a:lnTo>
                  <a:lnTo>
                    <a:pt x="416" y="403"/>
                  </a:lnTo>
                  <a:lnTo>
                    <a:pt x="376" y="403"/>
                  </a:lnTo>
                  <a:lnTo>
                    <a:pt x="376" y="403"/>
                  </a:lnTo>
                  <a:close/>
                  <a:moveTo>
                    <a:pt x="503" y="403"/>
                  </a:moveTo>
                  <a:lnTo>
                    <a:pt x="503" y="459"/>
                  </a:lnTo>
                  <a:lnTo>
                    <a:pt x="544" y="459"/>
                  </a:lnTo>
                  <a:lnTo>
                    <a:pt x="544" y="403"/>
                  </a:lnTo>
                  <a:lnTo>
                    <a:pt x="503" y="403"/>
                  </a:lnTo>
                  <a:lnTo>
                    <a:pt x="503" y="403"/>
                  </a:lnTo>
                  <a:close/>
                  <a:moveTo>
                    <a:pt x="440" y="403"/>
                  </a:moveTo>
                  <a:lnTo>
                    <a:pt x="440" y="459"/>
                  </a:lnTo>
                  <a:lnTo>
                    <a:pt x="482" y="459"/>
                  </a:lnTo>
                  <a:lnTo>
                    <a:pt x="482" y="403"/>
                  </a:lnTo>
                  <a:lnTo>
                    <a:pt x="440" y="403"/>
                  </a:lnTo>
                  <a:lnTo>
                    <a:pt x="440" y="403"/>
                  </a:lnTo>
                  <a:close/>
                  <a:moveTo>
                    <a:pt x="376" y="319"/>
                  </a:moveTo>
                  <a:lnTo>
                    <a:pt x="376" y="376"/>
                  </a:lnTo>
                  <a:lnTo>
                    <a:pt x="416" y="376"/>
                  </a:lnTo>
                  <a:lnTo>
                    <a:pt x="416" y="319"/>
                  </a:lnTo>
                  <a:lnTo>
                    <a:pt x="376" y="319"/>
                  </a:lnTo>
                  <a:lnTo>
                    <a:pt x="376" y="319"/>
                  </a:lnTo>
                  <a:close/>
                  <a:moveTo>
                    <a:pt x="503" y="319"/>
                  </a:moveTo>
                  <a:lnTo>
                    <a:pt x="503" y="376"/>
                  </a:lnTo>
                  <a:lnTo>
                    <a:pt x="544" y="376"/>
                  </a:lnTo>
                  <a:lnTo>
                    <a:pt x="544" y="319"/>
                  </a:lnTo>
                  <a:lnTo>
                    <a:pt x="503" y="319"/>
                  </a:lnTo>
                  <a:lnTo>
                    <a:pt x="503" y="319"/>
                  </a:lnTo>
                  <a:close/>
                  <a:moveTo>
                    <a:pt x="260" y="416"/>
                  </a:moveTo>
                  <a:lnTo>
                    <a:pt x="260" y="476"/>
                  </a:lnTo>
                  <a:lnTo>
                    <a:pt x="305" y="476"/>
                  </a:lnTo>
                  <a:lnTo>
                    <a:pt x="305" y="416"/>
                  </a:lnTo>
                  <a:lnTo>
                    <a:pt x="260" y="416"/>
                  </a:lnTo>
                  <a:lnTo>
                    <a:pt x="260" y="416"/>
                  </a:lnTo>
                  <a:close/>
                  <a:moveTo>
                    <a:pt x="75" y="416"/>
                  </a:moveTo>
                  <a:lnTo>
                    <a:pt x="75" y="476"/>
                  </a:lnTo>
                  <a:lnTo>
                    <a:pt x="118" y="476"/>
                  </a:lnTo>
                  <a:lnTo>
                    <a:pt x="118" y="416"/>
                  </a:lnTo>
                  <a:lnTo>
                    <a:pt x="75" y="416"/>
                  </a:lnTo>
                  <a:lnTo>
                    <a:pt x="75" y="416"/>
                  </a:lnTo>
                  <a:close/>
                  <a:moveTo>
                    <a:pt x="260" y="330"/>
                  </a:moveTo>
                  <a:lnTo>
                    <a:pt x="260" y="393"/>
                  </a:lnTo>
                  <a:lnTo>
                    <a:pt x="305" y="393"/>
                  </a:lnTo>
                  <a:lnTo>
                    <a:pt x="305" y="330"/>
                  </a:lnTo>
                  <a:lnTo>
                    <a:pt x="260" y="330"/>
                  </a:lnTo>
                  <a:lnTo>
                    <a:pt x="260" y="330"/>
                  </a:lnTo>
                  <a:close/>
                  <a:moveTo>
                    <a:pt x="170" y="330"/>
                  </a:moveTo>
                  <a:lnTo>
                    <a:pt x="170" y="393"/>
                  </a:lnTo>
                  <a:lnTo>
                    <a:pt x="214" y="393"/>
                  </a:lnTo>
                  <a:lnTo>
                    <a:pt x="214" y="330"/>
                  </a:lnTo>
                  <a:lnTo>
                    <a:pt x="170" y="330"/>
                  </a:lnTo>
                  <a:lnTo>
                    <a:pt x="170" y="330"/>
                  </a:lnTo>
                  <a:close/>
                  <a:moveTo>
                    <a:pt x="75" y="330"/>
                  </a:moveTo>
                  <a:lnTo>
                    <a:pt x="75" y="393"/>
                  </a:lnTo>
                  <a:lnTo>
                    <a:pt x="118" y="393"/>
                  </a:lnTo>
                  <a:lnTo>
                    <a:pt x="118" y="330"/>
                  </a:lnTo>
                  <a:lnTo>
                    <a:pt x="75" y="330"/>
                  </a:lnTo>
                  <a:lnTo>
                    <a:pt x="75" y="330"/>
                  </a:lnTo>
                  <a:close/>
                  <a:moveTo>
                    <a:pt x="260" y="242"/>
                  </a:moveTo>
                  <a:lnTo>
                    <a:pt x="260" y="305"/>
                  </a:lnTo>
                  <a:lnTo>
                    <a:pt x="305" y="305"/>
                  </a:lnTo>
                  <a:lnTo>
                    <a:pt x="305" y="242"/>
                  </a:lnTo>
                  <a:lnTo>
                    <a:pt x="260" y="242"/>
                  </a:lnTo>
                  <a:lnTo>
                    <a:pt x="260" y="242"/>
                  </a:lnTo>
                  <a:close/>
                  <a:moveTo>
                    <a:pt x="170" y="242"/>
                  </a:moveTo>
                  <a:lnTo>
                    <a:pt x="170" y="305"/>
                  </a:lnTo>
                  <a:lnTo>
                    <a:pt x="214" y="305"/>
                  </a:lnTo>
                  <a:lnTo>
                    <a:pt x="214" y="242"/>
                  </a:lnTo>
                  <a:lnTo>
                    <a:pt x="170" y="242"/>
                  </a:lnTo>
                  <a:lnTo>
                    <a:pt x="170" y="242"/>
                  </a:lnTo>
                  <a:close/>
                  <a:moveTo>
                    <a:pt x="75" y="242"/>
                  </a:moveTo>
                  <a:lnTo>
                    <a:pt x="75" y="305"/>
                  </a:lnTo>
                  <a:lnTo>
                    <a:pt x="118" y="305"/>
                  </a:lnTo>
                  <a:lnTo>
                    <a:pt x="118" y="242"/>
                  </a:lnTo>
                  <a:lnTo>
                    <a:pt x="75" y="242"/>
                  </a:lnTo>
                  <a:lnTo>
                    <a:pt x="75" y="242"/>
                  </a:lnTo>
                  <a:close/>
                  <a:moveTo>
                    <a:pt x="260" y="156"/>
                  </a:moveTo>
                  <a:lnTo>
                    <a:pt x="260" y="217"/>
                  </a:lnTo>
                  <a:lnTo>
                    <a:pt x="305" y="217"/>
                  </a:lnTo>
                  <a:lnTo>
                    <a:pt x="305" y="156"/>
                  </a:lnTo>
                  <a:lnTo>
                    <a:pt x="260" y="156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74752" y="6400887"/>
            <a:ext cx="1093905" cy="203200"/>
            <a:chOff x="2400300" y="-914400"/>
            <a:chExt cx="1093905" cy="203200"/>
          </a:xfrm>
        </p:grpSpPr>
        <p:sp>
          <p:nvSpPr>
            <p:cNvPr id="25" name="椭圆 24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: 圆角 19"/>
          <p:cNvSpPr/>
          <p:nvPr/>
        </p:nvSpPr>
        <p:spPr>
          <a:xfrm>
            <a:off x="460375" y="5067935"/>
            <a:ext cx="2470150" cy="381635"/>
          </a:xfrm>
          <a:prstGeom prst="roundRect">
            <a:avLst>
              <a:gd name="adj" fmla="val 50000"/>
            </a:avLst>
          </a:prstGeom>
          <a:solidFill>
            <a:schemeClr val="dk1">
              <a:lumMod val="10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汇报人：张建夫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 </a:t>
            </a:r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郑凯夫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 </a:t>
            </a:r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孙涵彬</a:t>
            </a:r>
          </a:p>
        </p:txBody>
      </p:sp>
      <p:sp>
        <p:nvSpPr>
          <p:cNvPr id="14" name="矩形: 圆角 20"/>
          <p:cNvSpPr/>
          <p:nvPr/>
        </p:nvSpPr>
        <p:spPr>
          <a:xfrm>
            <a:off x="3277235" y="5070475"/>
            <a:ext cx="1609090" cy="3816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时间：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2025/11/28</a:t>
            </a:r>
          </a:p>
        </p:txBody>
      </p:sp>
      <p:sp>
        <p:nvSpPr>
          <p:cNvPr id="29" name="PA_矩形 29"/>
          <p:cNvSpPr/>
          <p:nvPr>
            <p:custDataLst>
              <p:tags r:id="rId1"/>
            </p:custDataLst>
          </p:nvPr>
        </p:nvSpPr>
        <p:spPr>
          <a:xfrm>
            <a:off x="11345146" y="236329"/>
            <a:ext cx="615553" cy="4031564"/>
          </a:xfrm>
          <a:prstGeom prst="rect">
            <a:avLst/>
          </a:prstGeom>
          <a:ln>
            <a:noFill/>
          </a:ln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2800" spc="3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  <a:sym typeface="+mn-lt"/>
              </a:rPr>
              <a:t>求实创造 为人师表</a:t>
            </a:r>
            <a:endParaRPr lang="en-US" altLang="zh-CN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思源黑体" panose="020B05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52" y="942757"/>
            <a:ext cx="4312800" cy="115798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6555" y="3508375"/>
            <a:ext cx="48812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author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Kai Lei , Guanjie Lin , Meimei Zhang, Keke Li, Qi Li, Xiaojun Jing, and Peng Wang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2905" y="2327910"/>
            <a:ext cx="11664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Measuring the Consistency </a:t>
            </a:r>
          </a:p>
          <a:p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Between Data and Control Plane in SDN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906285" y="6437539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6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6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5" y="1390015"/>
            <a:ext cx="7004050" cy="394716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199289" y="269866"/>
            <a:ext cx="5125085" cy="627100"/>
            <a:chOff x="363500" y="173190"/>
            <a:chExt cx="5125085" cy="627100"/>
          </a:xfrm>
        </p:grpSpPr>
        <p:sp>
          <p:nvSpPr>
            <p:cNvPr id="33" name="TextBox 55"/>
            <p:cNvSpPr txBox="1"/>
            <p:nvPr/>
          </p:nvSpPr>
          <p:spPr>
            <a:xfrm>
              <a:off x="1053110" y="291300"/>
              <a:ext cx="4435475" cy="436245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A Brief Introduction to SDN</a:t>
              </a:r>
            </a:p>
          </p:txBody>
        </p:sp>
        <p:sp>
          <p:nvSpPr>
            <p:cNvPr id="35" name="椭圆 34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00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479665" y="1689100"/>
            <a:ext cx="2084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应用层面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79665" y="3060700"/>
            <a:ext cx="2084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控制层面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01255" y="4432300"/>
            <a:ext cx="2084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数据层面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7361555" y="3586480"/>
            <a:ext cx="4721225" cy="845185"/>
            <a:chOff x="11593" y="5648"/>
            <a:chExt cx="7435" cy="1331"/>
          </a:xfrm>
        </p:grpSpPr>
        <p:sp>
          <p:nvSpPr>
            <p:cNvPr id="6" name="右箭头 5"/>
            <p:cNvSpPr/>
            <p:nvPr/>
          </p:nvSpPr>
          <p:spPr>
            <a:xfrm>
              <a:off x="11593" y="5648"/>
              <a:ext cx="3469" cy="1178"/>
            </a:xfrm>
            <a:prstGeom prst="rightArrow">
              <a:avLst/>
            </a:prstGeom>
            <a:gradFill>
              <a:gsLst>
                <a:gs pos="51300">
                  <a:srgbClr val="FE5F4A"/>
                </a:gs>
                <a:gs pos="0">
                  <a:srgbClr val="DF0303"/>
                </a:gs>
                <a:gs pos="100000">
                  <a:srgbClr val="FEA06E"/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5062" y="5779"/>
              <a:ext cx="3967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rPr>
                <a:t>Inconsistency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5345" y="6497"/>
              <a:ext cx="328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（不一致性）</a:t>
              </a:r>
            </a:p>
          </p:txBody>
        </p:sp>
      </p:grpSp>
      <p:sp>
        <p:nvSpPr>
          <p:cNvPr id="13" name="TextBox 55"/>
          <p:cNvSpPr txBox="1"/>
          <p:nvPr/>
        </p:nvSpPr>
        <p:spPr>
          <a:xfrm>
            <a:off x="907415" y="926465"/>
            <a:ext cx="6845935" cy="374650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SDN:software defined network(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软件定义网络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29474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660400" y="1611612"/>
            <a:ext cx="10557418" cy="3752850"/>
            <a:chOff x="660400" y="1130282"/>
            <a:chExt cx="10557418" cy="3752850"/>
          </a:xfrm>
        </p:grpSpPr>
        <p:sp>
          <p:nvSpPr>
            <p:cNvPr id="6" name="ísḻîdê"/>
            <p:cNvSpPr/>
            <p:nvPr>
              <p:custDataLst>
                <p:tags r:id="rId3"/>
              </p:custDataLst>
            </p:nvPr>
          </p:nvSpPr>
          <p:spPr bwMode="auto">
            <a:xfrm>
              <a:off x="660400" y="1130282"/>
              <a:ext cx="993775" cy="542925"/>
            </a:xfrm>
            <a:custGeom>
              <a:avLst/>
              <a:gdLst>
                <a:gd name="T0" fmla="*/ 626 w 626"/>
                <a:gd name="T1" fmla="*/ 342 h 342"/>
                <a:gd name="T2" fmla="*/ 541 w 626"/>
                <a:gd name="T3" fmla="*/ 0 h 342"/>
                <a:gd name="T4" fmla="*/ 0 w 626"/>
                <a:gd name="T5" fmla="*/ 0 h 342"/>
                <a:gd name="T6" fmla="*/ 85 w 626"/>
                <a:gd name="T7" fmla="*/ 342 h 342"/>
                <a:gd name="T8" fmla="*/ 626 w 626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6" h="342">
                  <a:moveTo>
                    <a:pt x="626" y="342"/>
                  </a:moveTo>
                  <a:lnTo>
                    <a:pt x="541" y="0"/>
                  </a:lnTo>
                  <a:lnTo>
                    <a:pt x="0" y="0"/>
                  </a:lnTo>
                  <a:lnTo>
                    <a:pt x="85" y="342"/>
                  </a:lnTo>
                  <a:lnTo>
                    <a:pt x="626" y="342"/>
                  </a:lnTo>
                  <a:close/>
                </a:path>
              </a:pathLst>
            </a:custGeom>
            <a:solidFill>
              <a:schemeClr val="dk1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" name="íśľîdè"/>
            <p:cNvSpPr/>
            <p:nvPr>
              <p:custDataLst>
                <p:tags r:id="rId4"/>
              </p:custDataLst>
            </p:nvPr>
          </p:nvSpPr>
          <p:spPr bwMode="auto">
            <a:xfrm>
              <a:off x="1282700" y="3632182"/>
              <a:ext cx="993775" cy="542925"/>
            </a:xfrm>
            <a:custGeom>
              <a:avLst/>
              <a:gdLst>
                <a:gd name="T0" fmla="*/ 626 w 626"/>
                <a:gd name="T1" fmla="*/ 342 h 342"/>
                <a:gd name="T2" fmla="*/ 541 w 626"/>
                <a:gd name="T3" fmla="*/ 0 h 342"/>
                <a:gd name="T4" fmla="*/ 0 w 626"/>
                <a:gd name="T5" fmla="*/ 0 h 342"/>
                <a:gd name="T6" fmla="*/ 85 w 626"/>
                <a:gd name="T7" fmla="*/ 342 h 342"/>
                <a:gd name="T8" fmla="*/ 626 w 626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6" h="342">
                  <a:moveTo>
                    <a:pt x="626" y="342"/>
                  </a:moveTo>
                  <a:lnTo>
                    <a:pt x="541" y="0"/>
                  </a:lnTo>
                  <a:lnTo>
                    <a:pt x="0" y="0"/>
                  </a:lnTo>
                  <a:lnTo>
                    <a:pt x="85" y="342"/>
                  </a:lnTo>
                  <a:lnTo>
                    <a:pt x="626" y="342"/>
                  </a:lnTo>
                  <a:close/>
                </a:path>
              </a:pathLst>
            </a:custGeom>
            <a:solidFill>
              <a:schemeClr val="dk1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" name="iSľîḑè"/>
            <p:cNvSpPr/>
            <p:nvPr>
              <p:custDataLst>
                <p:tags r:id="rId5"/>
              </p:custDataLst>
            </p:nvPr>
          </p:nvSpPr>
          <p:spPr bwMode="auto">
            <a:xfrm>
              <a:off x="1144851" y="1673207"/>
              <a:ext cx="9470310" cy="708025"/>
            </a:xfrm>
            <a:custGeom>
              <a:avLst/>
              <a:gdLst>
                <a:gd name="T0" fmla="*/ 6160 w 6160"/>
                <a:gd name="T1" fmla="*/ 446 h 446"/>
                <a:gd name="T2" fmla="*/ 6049 w 6160"/>
                <a:gd name="T3" fmla="*/ 0 h 446"/>
                <a:gd name="T4" fmla="*/ 0 w 6160"/>
                <a:gd name="T5" fmla="*/ 0 h 446"/>
                <a:gd name="T6" fmla="*/ 111 w 6160"/>
                <a:gd name="T7" fmla="*/ 446 h 446"/>
                <a:gd name="T8" fmla="*/ 6160 w 6160"/>
                <a:gd name="T9" fmla="*/ 446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0" h="446">
                  <a:moveTo>
                    <a:pt x="6160" y="446"/>
                  </a:moveTo>
                  <a:lnTo>
                    <a:pt x="6049" y="0"/>
                  </a:lnTo>
                  <a:lnTo>
                    <a:pt x="0" y="0"/>
                  </a:lnTo>
                  <a:lnTo>
                    <a:pt x="111" y="446"/>
                  </a:lnTo>
                  <a:lnTo>
                    <a:pt x="6160" y="446"/>
                  </a:lnTo>
                  <a:close/>
                </a:path>
              </a:pathLst>
            </a:cu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security risks </a:t>
              </a: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：</a:t>
              </a:r>
              <a:r>
                <a:rPr lang="en-US" altLang="zh-CN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bypass firewalls </a:t>
              </a:r>
            </a:p>
          </p:txBody>
        </p:sp>
        <p:sp>
          <p:nvSpPr>
            <p:cNvPr id="10" name="ïṧlïḑe"/>
            <p:cNvSpPr/>
            <p:nvPr>
              <p:custDataLst>
                <p:tags r:id="rId6"/>
              </p:custDataLst>
            </p:nvPr>
          </p:nvSpPr>
          <p:spPr bwMode="auto">
            <a:xfrm>
              <a:off x="1446425" y="2924157"/>
              <a:ext cx="9470310" cy="708025"/>
            </a:xfrm>
            <a:custGeom>
              <a:avLst/>
              <a:gdLst>
                <a:gd name="T0" fmla="*/ 6160 w 6160"/>
                <a:gd name="T1" fmla="*/ 446 h 446"/>
                <a:gd name="T2" fmla="*/ 6049 w 6160"/>
                <a:gd name="T3" fmla="*/ 0 h 446"/>
                <a:gd name="T4" fmla="*/ 0 w 6160"/>
                <a:gd name="T5" fmla="*/ 0 h 446"/>
                <a:gd name="T6" fmla="*/ 111 w 6160"/>
                <a:gd name="T7" fmla="*/ 446 h 446"/>
                <a:gd name="T8" fmla="*/ 6160 w 6160"/>
                <a:gd name="T9" fmla="*/ 446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0" h="446">
                  <a:moveTo>
                    <a:pt x="6160" y="446"/>
                  </a:moveTo>
                  <a:lnTo>
                    <a:pt x="6049" y="0"/>
                  </a:lnTo>
                  <a:lnTo>
                    <a:pt x="0" y="0"/>
                  </a:lnTo>
                  <a:lnTo>
                    <a:pt x="111" y="446"/>
                  </a:lnTo>
                  <a:lnTo>
                    <a:pt x="6160" y="446"/>
                  </a:lnTo>
                  <a:close/>
                </a:path>
              </a:pathLst>
            </a:cu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algn="ctr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2000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performance degradation ：cause forwarding loops </a:t>
              </a:r>
              <a:endParaRPr lang="en-US" altLang="zh-CN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endParaRPr>
            </a:p>
          </p:txBody>
        </p:sp>
        <p:sp>
          <p:nvSpPr>
            <p:cNvPr id="11" name="îṡļide"/>
            <p:cNvSpPr/>
            <p:nvPr>
              <p:custDataLst>
                <p:tags r:id="rId7"/>
              </p:custDataLst>
            </p:nvPr>
          </p:nvSpPr>
          <p:spPr bwMode="auto">
            <a:xfrm>
              <a:off x="1747508" y="4175107"/>
              <a:ext cx="9470310" cy="708025"/>
            </a:xfrm>
            <a:custGeom>
              <a:avLst/>
              <a:gdLst>
                <a:gd name="T0" fmla="*/ 6160 w 6160"/>
                <a:gd name="T1" fmla="*/ 446 h 446"/>
                <a:gd name="T2" fmla="*/ 6049 w 6160"/>
                <a:gd name="T3" fmla="*/ 0 h 446"/>
                <a:gd name="T4" fmla="*/ 0 w 6160"/>
                <a:gd name="T5" fmla="*/ 0 h 446"/>
                <a:gd name="T6" fmla="*/ 111 w 6160"/>
                <a:gd name="T7" fmla="*/ 446 h 446"/>
                <a:gd name="T8" fmla="*/ 6160 w 6160"/>
                <a:gd name="T9" fmla="*/ 446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0" h="446">
                  <a:moveTo>
                    <a:pt x="6160" y="446"/>
                  </a:moveTo>
                  <a:lnTo>
                    <a:pt x="6049" y="0"/>
                  </a:lnTo>
                  <a:lnTo>
                    <a:pt x="0" y="0"/>
                  </a:lnTo>
                  <a:lnTo>
                    <a:pt x="111" y="446"/>
                  </a:lnTo>
                  <a:lnTo>
                    <a:pt x="6160" y="446"/>
                  </a:lnTo>
                  <a:close/>
                </a:path>
              </a:pathLst>
            </a:cu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algn="ctr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200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packet loss ：lead to black holes </a:t>
              </a:r>
              <a:endPara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endParaRPr>
            </a:p>
          </p:txBody>
        </p:sp>
        <p:sp>
          <p:nvSpPr>
            <p:cNvPr id="12" name="iŝlîḓê"/>
            <p:cNvSpPr/>
            <p:nvPr>
              <p:custDataLst>
                <p:tags r:id="rId8"/>
              </p:custDataLst>
            </p:nvPr>
          </p:nvSpPr>
          <p:spPr bwMode="auto">
            <a:xfrm>
              <a:off x="971804" y="2381232"/>
              <a:ext cx="962405" cy="542925"/>
            </a:xfrm>
            <a:custGeom>
              <a:avLst/>
              <a:gdLst>
                <a:gd name="T0" fmla="*/ 626 w 626"/>
                <a:gd name="T1" fmla="*/ 342 h 342"/>
                <a:gd name="T2" fmla="*/ 541 w 626"/>
                <a:gd name="T3" fmla="*/ 0 h 342"/>
                <a:gd name="T4" fmla="*/ 0 w 626"/>
                <a:gd name="T5" fmla="*/ 0 h 342"/>
                <a:gd name="T6" fmla="*/ 85 w 626"/>
                <a:gd name="T7" fmla="*/ 342 h 342"/>
                <a:gd name="T8" fmla="*/ 626 w 626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6" h="342">
                  <a:moveTo>
                    <a:pt x="626" y="342"/>
                  </a:moveTo>
                  <a:lnTo>
                    <a:pt x="541" y="0"/>
                  </a:lnTo>
                  <a:lnTo>
                    <a:pt x="0" y="0"/>
                  </a:lnTo>
                  <a:lnTo>
                    <a:pt x="85" y="342"/>
                  </a:lnTo>
                  <a:lnTo>
                    <a:pt x="626" y="3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99289" y="258436"/>
            <a:ext cx="5631815" cy="627100"/>
            <a:chOff x="363500" y="173190"/>
            <a:chExt cx="5631815" cy="627100"/>
          </a:xfrm>
        </p:grpSpPr>
        <p:sp>
          <p:nvSpPr>
            <p:cNvPr id="19" name="TextBox 55"/>
            <p:cNvSpPr txBox="1"/>
            <p:nvPr/>
          </p:nvSpPr>
          <p:spPr>
            <a:xfrm>
              <a:off x="1053110" y="279870"/>
              <a:ext cx="4942205" cy="436245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Why is Inconsistency a Problem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00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20644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669923" y="1130300"/>
            <a:ext cx="10850565" cy="5110163"/>
            <a:chOff x="669923" y="1130300"/>
            <a:chExt cx="10850565" cy="5110163"/>
          </a:xfrm>
        </p:grpSpPr>
        <p:grpSp>
          <p:nvGrpSpPr>
            <p:cNvPr id="6" name="iṡḷïḋê"/>
            <p:cNvGrpSpPr/>
            <p:nvPr/>
          </p:nvGrpSpPr>
          <p:grpSpPr>
            <a:xfrm>
              <a:off x="669923" y="1130300"/>
              <a:ext cx="8295640" cy="1400525"/>
              <a:chOff x="669923" y="1130300"/>
              <a:chExt cx="8295640" cy="1400525"/>
            </a:xfrm>
          </p:grpSpPr>
          <p:sp>
            <p:nvSpPr>
              <p:cNvPr id="19" name="íşḻidè"/>
              <p:cNvSpPr/>
              <p:nvPr>
                <p:custDataLst>
                  <p:tags r:id="rId9"/>
                </p:custDataLst>
              </p:nvPr>
            </p:nvSpPr>
            <p:spPr>
              <a:xfrm>
                <a:off x="2372993" y="1414145"/>
                <a:ext cx="6592570" cy="8324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 OpenFlow switches don't confirm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 every single rule installation.</a:t>
                </a:r>
              </a:p>
            </p:txBody>
          </p:sp>
          <p:sp>
            <p:nvSpPr>
              <p:cNvPr id="20" name="íSlíḋé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9923" y="1130300"/>
                <a:ext cx="2412641" cy="1400525"/>
              </a:xfrm>
              <a:prstGeom prst="rightArrow">
                <a:avLst/>
              </a:prstGeom>
              <a:solidFill>
                <a:schemeClr val="accent2"/>
              </a:solidFill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92500"/>
              </a:bodyPr>
              <a:lstStyle/>
              <a:p>
                <a:r>
                  <a:rPr lang="en-US" altLang="zh-CN" sz="1600" b="1" dirty="0"/>
                  <a:t>01.Lack of Acknowledgement</a:t>
                </a:r>
              </a:p>
            </p:txBody>
          </p:sp>
        </p:grpSp>
        <p:grpSp>
          <p:nvGrpSpPr>
            <p:cNvPr id="7" name="iṩ1ïďe"/>
            <p:cNvGrpSpPr/>
            <p:nvPr/>
          </p:nvGrpSpPr>
          <p:grpSpPr>
            <a:xfrm>
              <a:off x="3082290" y="2246699"/>
              <a:ext cx="8438197" cy="1400525"/>
              <a:chOff x="3082290" y="2375358"/>
              <a:chExt cx="8438197" cy="1400525"/>
            </a:xfrm>
          </p:grpSpPr>
          <p:sp>
            <p:nvSpPr>
              <p:cNvPr id="16" name="îšľiḓé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3082290" y="2659203"/>
                <a:ext cx="6574155" cy="8324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50000"/>
                  </a:lnSpc>
                  <a:buClrTx/>
                  <a:buSzTx/>
                  <a:buNone/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Software bugs or hardware faults may </a:t>
                </a:r>
              </a:p>
              <a:p>
                <a:pPr algn="ctr">
                  <a:lnSpc>
                    <a:spcPct val="150000"/>
                  </a:lnSpc>
                  <a:buClrTx/>
                  <a:buSzTx/>
                  <a:buNone/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cause a switch to ignore priority levels.</a:t>
                </a:r>
              </a:p>
            </p:txBody>
          </p:sp>
          <p:sp>
            <p:nvSpPr>
              <p:cNvPr id="17" name="íṡḷiḓê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8964890" y="2375358"/>
                <a:ext cx="2555597" cy="1400525"/>
              </a:xfrm>
              <a:prstGeom prst="rightArrow">
                <a:avLst/>
              </a:prstGeom>
              <a:solidFill>
                <a:schemeClr val="dk1">
                  <a:lumMod val="100000"/>
                </a:schemeClr>
              </a:solidFill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r"/>
                <a:r>
                  <a:rPr lang="en-US" altLang="zh-CN" sz="1600" b="1" dirty="0"/>
                  <a:t>02.Switch Failures</a:t>
                </a:r>
              </a:p>
            </p:txBody>
          </p:sp>
        </p:grpSp>
        <p:grpSp>
          <p:nvGrpSpPr>
            <p:cNvPr id="8" name="íṣļîḍé"/>
            <p:cNvGrpSpPr/>
            <p:nvPr/>
          </p:nvGrpSpPr>
          <p:grpSpPr>
            <a:xfrm>
              <a:off x="669923" y="3429000"/>
              <a:ext cx="8295640" cy="1400525"/>
              <a:chOff x="669923" y="1130300"/>
              <a:chExt cx="8295640" cy="1400525"/>
            </a:xfrm>
          </p:grpSpPr>
          <p:sp>
            <p:nvSpPr>
              <p:cNvPr id="13" name="íṧļídè"/>
              <p:cNvSpPr/>
              <p:nvPr>
                <p:custDataLst>
                  <p:tags r:id="rId5"/>
                </p:custDataLst>
              </p:nvPr>
            </p:nvSpPr>
            <p:spPr>
              <a:xfrm>
                <a:off x="2372993" y="1414145"/>
                <a:ext cx="6592570" cy="8324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indent="457200" algn="ctr">
                  <a:lnSpc>
                    <a:spcPct val="150000"/>
                  </a:lnSpc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Attackers or 3rd-party tools (like ONIE) might</a:t>
                </a:r>
              </a:p>
              <a:p>
                <a:pPr indent="457200" algn="ctr">
                  <a:lnSpc>
                    <a:spcPct val="150000"/>
                  </a:lnSpc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 tamper with rules directly.</a:t>
                </a:r>
              </a:p>
            </p:txBody>
          </p:sp>
          <p:sp>
            <p:nvSpPr>
              <p:cNvPr id="14" name="ïṧļïḋê"/>
              <p:cNvSpPr/>
              <p:nvPr>
                <p:custDataLst>
                  <p:tags r:id="rId6"/>
                </p:custDataLst>
              </p:nvPr>
            </p:nvSpPr>
            <p:spPr>
              <a:xfrm>
                <a:off x="669923" y="1130300"/>
                <a:ext cx="2412641" cy="1400525"/>
              </a:xfrm>
              <a:prstGeom prst="rightArrow">
                <a:avLst/>
              </a:prstGeom>
              <a:solidFill>
                <a:schemeClr val="dk1">
                  <a:lumMod val="100000"/>
                </a:schemeClr>
              </a:solidFill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1600" b="1" dirty="0"/>
                  <a:t>03.External Modifications</a:t>
                </a:r>
              </a:p>
            </p:txBody>
          </p:sp>
        </p:grpSp>
        <p:grpSp>
          <p:nvGrpSpPr>
            <p:cNvPr id="9" name="í$1ïḓé"/>
            <p:cNvGrpSpPr/>
            <p:nvPr/>
          </p:nvGrpSpPr>
          <p:grpSpPr>
            <a:xfrm>
              <a:off x="3082733" y="4839938"/>
              <a:ext cx="8437755" cy="1400525"/>
              <a:chOff x="3082732" y="2375358"/>
              <a:chExt cx="8437755" cy="1400525"/>
            </a:xfrm>
          </p:grpSpPr>
          <p:sp>
            <p:nvSpPr>
              <p:cNvPr id="10" name="ïślíḓé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3082732" y="2659203"/>
                <a:ext cx="6573520" cy="8324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Asynchronous updates lead to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+mn-ea"/>
                    <a:sym typeface="+mn-lt"/>
                  </a:rPr>
                  <a:t>transient inconsistencies.</a:t>
                </a:r>
              </a:p>
            </p:txBody>
          </p:sp>
          <p:sp>
            <p:nvSpPr>
              <p:cNvPr id="11" name="îṡlíḋè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8964890" y="2375358"/>
                <a:ext cx="2555597" cy="1400525"/>
              </a:xfrm>
              <a:prstGeom prst="rightArrow">
                <a:avLst/>
              </a:prstGeom>
              <a:solidFill>
                <a:schemeClr val="accent2"/>
              </a:solidFill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lang="en-US" altLang="zh-CN" sz="1600" b="1" dirty="0"/>
                  <a:t>04.Network Updates</a:t>
                </a: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99289" y="258436"/>
            <a:ext cx="6292850" cy="627100"/>
            <a:chOff x="363500" y="173190"/>
            <a:chExt cx="6292850" cy="627100"/>
          </a:xfrm>
        </p:grpSpPr>
        <p:sp>
          <p:nvSpPr>
            <p:cNvPr id="27" name="TextBox 55"/>
            <p:cNvSpPr txBox="1"/>
            <p:nvPr/>
          </p:nvSpPr>
          <p:spPr>
            <a:xfrm>
              <a:off x="1053110" y="279870"/>
              <a:ext cx="5603240" cy="436245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Main Causes for this Inconsistency</a:t>
              </a:r>
            </a:p>
          </p:txBody>
        </p:sp>
        <p:sp>
          <p:nvSpPr>
            <p:cNvPr id="28" name="椭圆 2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00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633730" y="1463040"/>
            <a:ext cx="5438140" cy="369570"/>
            <a:chOff x="1322" y="2332"/>
            <a:chExt cx="8564" cy="582"/>
          </a:xfrm>
        </p:grpSpPr>
        <p:sp>
          <p:nvSpPr>
            <p:cNvPr id="32" name="圆角矩形 15"/>
            <p:cNvSpPr/>
            <p:nvPr>
              <p:custDataLst>
                <p:tags r:id="rId8"/>
              </p:custDataLst>
            </p:nvPr>
          </p:nvSpPr>
          <p:spPr>
            <a:xfrm>
              <a:off x="1322" y="2332"/>
              <a:ext cx="8565" cy="582"/>
            </a:xfrm>
            <a:prstGeom prst="roundRect">
              <a:avLst>
                <a:gd name="adj" fmla="val 50000"/>
              </a:avLst>
            </a:prstGeom>
            <a:solidFill>
              <a:schemeClr val="dk1">
                <a:lumMod val="10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思源黑体 CN Regular" panose="020B0500000000000000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9"/>
              </p:custDataLst>
            </p:nvPr>
          </p:nvSpPr>
          <p:spPr>
            <a:xfrm>
              <a:off x="1664" y="2332"/>
              <a:ext cx="7460" cy="580"/>
            </a:xfrm>
            <a:prstGeom prst="rect">
              <a:avLst/>
            </a:prstGeom>
            <a:solidFill>
              <a:schemeClr val="dk1">
                <a:lumMod val="10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 Out-of-band (using probe packets)</a:t>
              </a: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99289" y="258436"/>
            <a:ext cx="7292975" cy="627100"/>
            <a:chOff x="363500" y="173190"/>
            <a:chExt cx="7292975" cy="627100"/>
          </a:xfrm>
        </p:grpSpPr>
        <p:sp>
          <p:nvSpPr>
            <p:cNvPr id="27" name="TextBox 55"/>
            <p:cNvSpPr txBox="1"/>
            <p:nvPr/>
          </p:nvSpPr>
          <p:spPr>
            <a:xfrm>
              <a:off x="1053110" y="279870"/>
              <a:ext cx="6603365" cy="436245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Existing Solutions and their limitations</a:t>
              </a:r>
            </a:p>
          </p:txBody>
        </p:sp>
        <p:sp>
          <p:nvSpPr>
            <p:cNvPr id="28" name="椭圆 2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00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317115" y="1926590"/>
            <a:ext cx="1688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（使用探测包）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17115" y="4050030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（在真实流量中使用标签）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0565" y="2294890"/>
            <a:ext cx="5751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Pros: No tag overhead.</a:t>
            </a:r>
          </a:p>
          <a:p>
            <a:r>
              <a:rPr lang="en-US" altLang="zh-CN"/>
              <a:t>Cons: Too Slow. Minutes to generate probes (Unsuitable for dynamic networks).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50900" y="4518660"/>
            <a:ext cx="5751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Pros: Real-time checks.</a:t>
            </a:r>
          </a:p>
          <a:p>
            <a:r>
              <a:rPr lang="en-US" altLang="zh-CN"/>
              <a:t>Cons: High Storage Overhead</a:t>
            </a:r>
          </a:p>
          <a:p>
            <a:r>
              <a:rPr lang="en-US" altLang="zh-CN"/>
              <a:t>(Stores path hop-by-hop). </a:t>
            </a:r>
          </a:p>
        </p:txBody>
      </p: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671830" y="3581400"/>
            <a:ext cx="5438775" cy="369570"/>
            <a:chOff x="1322" y="2332"/>
            <a:chExt cx="8565" cy="582"/>
          </a:xfrm>
        </p:grpSpPr>
        <p:sp>
          <p:nvSpPr>
            <p:cNvPr id="9" name="圆角矩形 15"/>
            <p:cNvSpPr/>
            <p:nvPr>
              <p:custDataLst>
                <p:tags r:id="rId6"/>
              </p:custDataLst>
            </p:nvPr>
          </p:nvSpPr>
          <p:spPr>
            <a:xfrm>
              <a:off x="1322" y="2332"/>
              <a:ext cx="8565" cy="582"/>
            </a:xfrm>
            <a:prstGeom prst="roundRect">
              <a:avLst>
                <a:gd name="adj" fmla="val 50000"/>
              </a:avLst>
            </a:prstGeom>
            <a:solidFill>
              <a:schemeClr val="dk1">
                <a:lumMod val="10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思源黑体 CN Regular" panose="020B0500000000000000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7"/>
              </p:custDataLst>
            </p:nvPr>
          </p:nvSpPr>
          <p:spPr>
            <a:xfrm>
              <a:off x="1664" y="2332"/>
              <a:ext cx="7460" cy="580"/>
            </a:xfrm>
            <a:prstGeom prst="rect">
              <a:avLst/>
            </a:prstGeom>
            <a:solidFill>
              <a:schemeClr val="dk1">
                <a:lumMod val="10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  <a:sym typeface="+mn-ea"/>
                </a:rPr>
                <a:t>In-band (using tags in real traffic)</a:t>
              </a:r>
              <a:endParaRPr lang="en-US" altLang="zh-CN" b="1" dirty="0">
                <a:solidFill>
                  <a:schemeClr val="bg1"/>
                </a:solidFill>
                <a:latin typeface="+mj-ea"/>
                <a:ea typeface="+mj-ea"/>
                <a:cs typeface="思源黑体 CN Regular" panose="020B0500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412230" y="2477135"/>
            <a:ext cx="5396230" cy="369570"/>
            <a:chOff x="9382" y="3614"/>
            <a:chExt cx="8498" cy="582"/>
          </a:xfrm>
        </p:grpSpPr>
        <p:sp>
          <p:nvSpPr>
            <p:cNvPr id="12" name="圆角矩形 15"/>
            <p:cNvSpPr/>
            <p:nvPr>
              <p:custDataLst>
                <p:tags r:id="rId4"/>
              </p:custDataLst>
            </p:nvPr>
          </p:nvSpPr>
          <p:spPr>
            <a:xfrm>
              <a:off x="9382" y="3614"/>
              <a:ext cx="8499" cy="58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思源黑体 CN Regular" panose="020B0500000000000000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9951" y="3614"/>
              <a:ext cx="7393" cy="58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2MVeri Approach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674485" y="3033395"/>
            <a:ext cx="4876800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/>
              <a:t>2MVeri aims to be In-band, low overhead, and capable of precise fault localization.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91515" y="5652770"/>
            <a:ext cx="7150100" cy="511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i="1"/>
              <a:t>Many cannot pinpoint which switch failed.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40"/>
          <p:cNvSpPr/>
          <p:nvPr/>
        </p:nvSpPr>
        <p:spPr>
          <a:xfrm>
            <a:off x="49231" y="-12700"/>
            <a:ext cx="6225650" cy="6881672"/>
          </a:xfrm>
          <a:custGeom>
            <a:avLst/>
            <a:gdLst>
              <a:gd name="connsiteX0" fmla="*/ 3429000 w 6858000"/>
              <a:gd name="connsiteY0" fmla="*/ 0 h 6881672"/>
              <a:gd name="connsiteX1" fmla="*/ 6858000 w 6858000"/>
              <a:gd name="connsiteY1" fmla="*/ 3440836 h 6881672"/>
              <a:gd name="connsiteX2" fmla="*/ 3779595 w 6858000"/>
              <a:gd name="connsiteY2" fmla="*/ 6863908 h 6881672"/>
              <a:gd name="connsiteX3" fmla="*/ 3644899 w 6858000"/>
              <a:gd name="connsiteY3" fmla="*/ 6874185 h 6881672"/>
              <a:gd name="connsiteX4" fmla="*/ 3644899 w 6858000"/>
              <a:gd name="connsiteY4" fmla="*/ 6881672 h 6881672"/>
              <a:gd name="connsiteX5" fmla="*/ 3429000 w 6858000"/>
              <a:gd name="connsiteY5" fmla="*/ 6881672 h 6881672"/>
              <a:gd name="connsiteX6" fmla="*/ 0 w 6858000"/>
              <a:gd name="connsiteY6" fmla="*/ 6881672 h 6881672"/>
              <a:gd name="connsiteX7" fmla="*/ 0 w 6858000"/>
              <a:gd name="connsiteY7" fmla="*/ 3440836 h 6881672"/>
              <a:gd name="connsiteX8" fmla="*/ 0 w 6858000"/>
              <a:gd name="connsiteY8" fmla="*/ 12700 h 6881672"/>
              <a:gd name="connsiteX9" fmla="*/ 3144780 w 6858000"/>
              <a:gd name="connsiteY9" fmla="*/ 12700 h 6881672"/>
              <a:gd name="connsiteX10" fmla="*/ 3252544 w 6858000"/>
              <a:gd name="connsiteY10" fmla="*/ 4477 h 6881672"/>
              <a:gd name="connsiteX11" fmla="*/ 3429000 w 6858000"/>
              <a:gd name="connsiteY11" fmla="*/ 0 h 688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6881672">
                <a:moveTo>
                  <a:pt x="3429000" y="0"/>
                </a:moveTo>
                <a:cubicBezTo>
                  <a:pt x="5322784" y="0"/>
                  <a:pt x="6858000" y="1540515"/>
                  <a:pt x="6858000" y="3440836"/>
                </a:cubicBezTo>
                <a:cubicBezTo>
                  <a:pt x="6858000" y="5222387"/>
                  <a:pt x="5508689" y="6687702"/>
                  <a:pt x="3779595" y="6863908"/>
                </a:cubicBezTo>
                <a:lnTo>
                  <a:pt x="3644899" y="6874185"/>
                </a:lnTo>
                <a:lnTo>
                  <a:pt x="3644899" y="6881672"/>
                </a:lnTo>
                <a:lnTo>
                  <a:pt x="3429000" y="6881672"/>
                </a:lnTo>
                <a:lnTo>
                  <a:pt x="0" y="6881672"/>
                </a:lnTo>
                <a:lnTo>
                  <a:pt x="0" y="3440836"/>
                </a:lnTo>
                <a:lnTo>
                  <a:pt x="0" y="12700"/>
                </a:lnTo>
                <a:lnTo>
                  <a:pt x="3144780" y="12700"/>
                </a:lnTo>
                <a:lnTo>
                  <a:pt x="3252544" y="4477"/>
                </a:lnTo>
                <a:cubicBezTo>
                  <a:pt x="3310989" y="1505"/>
                  <a:pt x="3369819" y="0"/>
                  <a:pt x="3429000" y="0"/>
                </a:cubicBez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任意多边形: 形状 25"/>
          <p:cNvSpPr/>
          <p:nvPr/>
        </p:nvSpPr>
        <p:spPr>
          <a:xfrm>
            <a:off x="96742" y="-1050588"/>
            <a:ext cx="8524826" cy="9014570"/>
          </a:xfrm>
          <a:custGeom>
            <a:avLst/>
            <a:gdLst>
              <a:gd name="connsiteX0" fmla="*/ 4262413 w 8524826"/>
              <a:gd name="connsiteY0" fmla="*/ 0 h 9014570"/>
              <a:gd name="connsiteX1" fmla="*/ 6294133 w 8524826"/>
              <a:gd name="connsiteY1" fmla="*/ 544005 h 9014570"/>
              <a:gd name="connsiteX2" fmla="*/ 6362552 w 8524826"/>
              <a:gd name="connsiteY2" fmla="*/ 585606 h 9014570"/>
              <a:gd name="connsiteX3" fmla="*/ 6362552 w 8524826"/>
              <a:gd name="connsiteY3" fmla="*/ 1037888 h 9014570"/>
              <a:gd name="connsiteX4" fmla="*/ 6982697 w 8524826"/>
              <a:gd name="connsiteY4" fmla="*/ 1037888 h 9014570"/>
              <a:gd name="connsiteX5" fmla="*/ 7276395 w 8524826"/>
              <a:gd name="connsiteY5" fmla="*/ 1320153 h 9014570"/>
              <a:gd name="connsiteX6" fmla="*/ 8524826 w 8524826"/>
              <a:gd name="connsiteY6" fmla="*/ 4507285 h 9014570"/>
              <a:gd name="connsiteX7" fmla="*/ 7276395 w 8524826"/>
              <a:gd name="connsiteY7" fmla="*/ 7694417 h 9014570"/>
              <a:gd name="connsiteX8" fmla="*/ 7044457 w 8524826"/>
              <a:gd name="connsiteY8" fmla="*/ 7917326 h 9014570"/>
              <a:gd name="connsiteX9" fmla="*/ 6182110 w 8524826"/>
              <a:gd name="connsiteY9" fmla="*/ 7917326 h 9014570"/>
              <a:gd name="connsiteX10" fmla="*/ 6182110 w 8524826"/>
              <a:gd name="connsiteY10" fmla="*/ 8531236 h 9014570"/>
              <a:gd name="connsiteX11" fmla="*/ 6110346 w 8524826"/>
              <a:gd name="connsiteY11" fmla="*/ 8570103 h 9014570"/>
              <a:gd name="connsiteX12" fmla="*/ 4262413 w 8524826"/>
              <a:gd name="connsiteY12" fmla="*/ 9014570 h 9014570"/>
              <a:gd name="connsiteX13" fmla="*/ 0 w 8524826"/>
              <a:gd name="connsiteY13" fmla="*/ 4507285 h 9014570"/>
              <a:gd name="connsiteX14" fmla="*/ 4262413 w 8524826"/>
              <a:gd name="connsiteY14" fmla="*/ 0 h 9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24826" h="9014570">
                <a:moveTo>
                  <a:pt x="4262413" y="0"/>
                </a:moveTo>
                <a:cubicBezTo>
                  <a:pt x="4998059" y="0"/>
                  <a:pt x="5690177" y="197069"/>
                  <a:pt x="6294133" y="544005"/>
                </a:cubicBezTo>
                <a:lnTo>
                  <a:pt x="6362552" y="585606"/>
                </a:lnTo>
                <a:lnTo>
                  <a:pt x="6362552" y="1037888"/>
                </a:lnTo>
                <a:lnTo>
                  <a:pt x="6982697" y="1037888"/>
                </a:lnTo>
                <a:lnTo>
                  <a:pt x="7276395" y="1320153"/>
                </a:lnTo>
                <a:cubicBezTo>
                  <a:pt x="8047739" y="2135811"/>
                  <a:pt x="8524826" y="3262633"/>
                  <a:pt x="8524826" y="4507285"/>
                </a:cubicBezTo>
                <a:cubicBezTo>
                  <a:pt x="8524826" y="5751938"/>
                  <a:pt x="8047739" y="6878759"/>
                  <a:pt x="7276395" y="7694417"/>
                </a:cubicBezTo>
                <a:lnTo>
                  <a:pt x="7044457" y="7917326"/>
                </a:lnTo>
                <a:lnTo>
                  <a:pt x="6182110" y="7917326"/>
                </a:lnTo>
                <a:lnTo>
                  <a:pt x="6182110" y="8531236"/>
                </a:lnTo>
                <a:lnTo>
                  <a:pt x="6110346" y="8570103"/>
                </a:lnTo>
                <a:cubicBezTo>
                  <a:pt x="5551318" y="8854945"/>
                  <a:pt x="4924494" y="9014570"/>
                  <a:pt x="4262413" y="9014570"/>
                </a:cubicBezTo>
                <a:cubicBezTo>
                  <a:pt x="1908347" y="9014570"/>
                  <a:pt x="0" y="6996590"/>
                  <a:pt x="0" y="4507285"/>
                </a:cubicBezTo>
                <a:cubicBezTo>
                  <a:pt x="0" y="2017980"/>
                  <a:pt x="1908347" y="0"/>
                  <a:pt x="4262413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79000">
                  <a:srgbClr val="FF9C00">
                    <a:alpha val="0"/>
                  </a:srgbClr>
                </a:gs>
                <a:gs pos="79000">
                  <a:schemeClr val="accent2">
                    <a:alpha val="8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23"/>
          <p:cNvSpPr/>
          <p:nvPr/>
        </p:nvSpPr>
        <p:spPr>
          <a:xfrm>
            <a:off x="-1012335" y="-1050589"/>
            <a:ext cx="8720080" cy="9014570"/>
          </a:xfrm>
          <a:custGeom>
            <a:avLst/>
            <a:gdLst>
              <a:gd name="connsiteX0" fmla="*/ 4360040 w 8720080"/>
              <a:gd name="connsiteY0" fmla="*/ 0 h 9014570"/>
              <a:gd name="connsiteX1" fmla="*/ 6438294 w 8720080"/>
              <a:gd name="connsiteY1" fmla="*/ 544005 h 9014570"/>
              <a:gd name="connsiteX2" fmla="*/ 6460635 w 8720080"/>
              <a:gd name="connsiteY2" fmla="*/ 557285 h 9014570"/>
              <a:gd name="connsiteX3" fmla="*/ 6460635 w 8720080"/>
              <a:gd name="connsiteY3" fmla="*/ 1033420 h 9014570"/>
              <a:gd name="connsiteX4" fmla="*/ 7138093 w 8720080"/>
              <a:gd name="connsiteY4" fmla="*/ 1033420 h 9014570"/>
              <a:gd name="connsiteX5" fmla="*/ 7291633 w 8720080"/>
              <a:gd name="connsiteY5" fmla="*/ 1170911 h 9014570"/>
              <a:gd name="connsiteX6" fmla="*/ 8720080 w 8720080"/>
              <a:gd name="connsiteY6" fmla="*/ 4507285 h 9014570"/>
              <a:gd name="connsiteX7" fmla="*/ 7291633 w 8720080"/>
              <a:gd name="connsiteY7" fmla="*/ 7843659 h 9014570"/>
              <a:gd name="connsiteX8" fmla="*/ 7209366 w 8720080"/>
              <a:gd name="connsiteY8" fmla="*/ 7917327 h 9014570"/>
              <a:gd name="connsiteX9" fmla="*/ 6521658 w 8720080"/>
              <a:gd name="connsiteY9" fmla="*/ 7917327 h 9014570"/>
              <a:gd name="connsiteX10" fmla="*/ 6521658 w 8720080"/>
              <a:gd name="connsiteY10" fmla="*/ 8421013 h 9014570"/>
              <a:gd name="connsiteX11" fmla="*/ 6438294 w 8720080"/>
              <a:gd name="connsiteY11" fmla="*/ 8470565 h 9014570"/>
              <a:gd name="connsiteX12" fmla="*/ 4360040 w 8720080"/>
              <a:gd name="connsiteY12" fmla="*/ 9014570 h 9014570"/>
              <a:gd name="connsiteX13" fmla="*/ 0 w 8720080"/>
              <a:gd name="connsiteY13" fmla="*/ 4507285 h 9014570"/>
              <a:gd name="connsiteX14" fmla="*/ 4360040 w 8720080"/>
              <a:gd name="connsiteY14" fmla="*/ 0 h 9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720080" h="9014570">
                <a:moveTo>
                  <a:pt x="4360040" y="0"/>
                </a:moveTo>
                <a:cubicBezTo>
                  <a:pt x="5112535" y="0"/>
                  <a:pt x="5820506" y="197069"/>
                  <a:pt x="6438294" y="544005"/>
                </a:cubicBezTo>
                <a:lnTo>
                  <a:pt x="6460635" y="557285"/>
                </a:lnTo>
                <a:lnTo>
                  <a:pt x="6460635" y="1033420"/>
                </a:lnTo>
                <a:lnTo>
                  <a:pt x="7138093" y="1033420"/>
                </a:lnTo>
                <a:lnTo>
                  <a:pt x="7291633" y="1170911"/>
                </a:lnTo>
                <a:cubicBezTo>
                  <a:pt x="8169158" y="1995419"/>
                  <a:pt x="8720080" y="3184842"/>
                  <a:pt x="8720080" y="4507285"/>
                </a:cubicBezTo>
                <a:cubicBezTo>
                  <a:pt x="8720080" y="5829729"/>
                  <a:pt x="8169158" y="7019151"/>
                  <a:pt x="7291633" y="7843659"/>
                </a:cubicBezTo>
                <a:lnTo>
                  <a:pt x="7209366" y="7917327"/>
                </a:lnTo>
                <a:lnTo>
                  <a:pt x="6521658" y="7917327"/>
                </a:lnTo>
                <a:lnTo>
                  <a:pt x="6521658" y="8421013"/>
                </a:lnTo>
                <a:lnTo>
                  <a:pt x="6438294" y="8470565"/>
                </a:lnTo>
                <a:cubicBezTo>
                  <a:pt x="5820506" y="8817502"/>
                  <a:pt x="5112535" y="9014570"/>
                  <a:pt x="4360040" y="9014570"/>
                </a:cubicBezTo>
                <a:cubicBezTo>
                  <a:pt x="1952056" y="9014570"/>
                  <a:pt x="0" y="6996590"/>
                  <a:pt x="0" y="4507285"/>
                </a:cubicBezTo>
                <a:cubicBezTo>
                  <a:pt x="0" y="2017980"/>
                  <a:pt x="1952056" y="0"/>
                  <a:pt x="4360040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79000">
                  <a:srgbClr val="FF9C00">
                    <a:alpha val="0"/>
                  </a:srgbClr>
                </a:gs>
                <a:gs pos="79000">
                  <a:schemeClr val="accent2">
                    <a:alpha val="2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-1593153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rgbClr val="FF9C00">
                    <a:alpha val="0"/>
                  </a:srgbClr>
                </a:gs>
                <a:gs pos="77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1360519" y="-823172"/>
            <a:ext cx="8484598" cy="8484598"/>
          </a:xfrm>
          <a:prstGeom prst="ellipse">
            <a:avLst/>
          </a:prstGeom>
          <a:noFill/>
          <a:ln>
            <a:gradFill flip="none" rotWithShape="1">
              <a:gsLst>
                <a:gs pos="79000">
                  <a:srgbClr val="FF9C00">
                    <a:alpha val="0"/>
                  </a:srgbClr>
                </a:gs>
                <a:gs pos="79000">
                  <a:schemeClr val="accent2">
                    <a:alpha val="4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40"/>
          <p:cNvSpPr/>
          <p:nvPr/>
        </p:nvSpPr>
        <p:spPr>
          <a:xfrm>
            <a:off x="55033" y="-23672"/>
            <a:ext cx="6225650" cy="6881672"/>
          </a:xfrm>
          <a:custGeom>
            <a:avLst/>
            <a:gdLst>
              <a:gd name="connsiteX0" fmla="*/ 3429000 w 6858000"/>
              <a:gd name="connsiteY0" fmla="*/ 0 h 6881672"/>
              <a:gd name="connsiteX1" fmla="*/ 6858000 w 6858000"/>
              <a:gd name="connsiteY1" fmla="*/ 3440836 h 6881672"/>
              <a:gd name="connsiteX2" fmla="*/ 3779595 w 6858000"/>
              <a:gd name="connsiteY2" fmla="*/ 6863908 h 6881672"/>
              <a:gd name="connsiteX3" fmla="*/ 3644899 w 6858000"/>
              <a:gd name="connsiteY3" fmla="*/ 6874185 h 6881672"/>
              <a:gd name="connsiteX4" fmla="*/ 3644899 w 6858000"/>
              <a:gd name="connsiteY4" fmla="*/ 6881672 h 6881672"/>
              <a:gd name="connsiteX5" fmla="*/ 3429000 w 6858000"/>
              <a:gd name="connsiteY5" fmla="*/ 6881672 h 6881672"/>
              <a:gd name="connsiteX6" fmla="*/ 0 w 6858000"/>
              <a:gd name="connsiteY6" fmla="*/ 6881672 h 6881672"/>
              <a:gd name="connsiteX7" fmla="*/ 0 w 6858000"/>
              <a:gd name="connsiteY7" fmla="*/ 3440836 h 6881672"/>
              <a:gd name="connsiteX8" fmla="*/ 0 w 6858000"/>
              <a:gd name="connsiteY8" fmla="*/ 12700 h 6881672"/>
              <a:gd name="connsiteX9" fmla="*/ 3144780 w 6858000"/>
              <a:gd name="connsiteY9" fmla="*/ 12700 h 6881672"/>
              <a:gd name="connsiteX10" fmla="*/ 3252544 w 6858000"/>
              <a:gd name="connsiteY10" fmla="*/ 4477 h 6881672"/>
              <a:gd name="connsiteX11" fmla="*/ 3429000 w 6858000"/>
              <a:gd name="connsiteY11" fmla="*/ 0 h 688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6881672">
                <a:moveTo>
                  <a:pt x="3429000" y="0"/>
                </a:moveTo>
                <a:cubicBezTo>
                  <a:pt x="5322784" y="0"/>
                  <a:pt x="6858000" y="1540515"/>
                  <a:pt x="6858000" y="3440836"/>
                </a:cubicBezTo>
                <a:cubicBezTo>
                  <a:pt x="6858000" y="5222387"/>
                  <a:pt x="5508689" y="6687702"/>
                  <a:pt x="3779595" y="6863908"/>
                </a:cubicBezTo>
                <a:lnTo>
                  <a:pt x="3644899" y="6874185"/>
                </a:lnTo>
                <a:lnTo>
                  <a:pt x="3644899" y="6881672"/>
                </a:lnTo>
                <a:lnTo>
                  <a:pt x="3429000" y="6881672"/>
                </a:lnTo>
                <a:lnTo>
                  <a:pt x="0" y="6881672"/>
                </a:lnTo>
                <a:lnTo>
                  <a:pt x="0" y="3440836"/>
                </a:lnTo>
                <a:lnTo>
                  <a:pt x="0" y="12700"/>
                </a:lnTo>
                <a:lnTo>
                  <a:pt x="3144780" y="12700"/>
                </a:lnTo>
                <a:lnTo>
                  <a:pt x="3252544" y="4477"/>
                </a:lnTo>
                <a:cubicBezTo>
                  <a:pt x="3310989" y="1505"/>
                  <a:pt x="3369819" y="0"/>
                  <a:pt x="34290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100000"/>
                </a:schemeClr>
              </a:gs>
              <a:gs pos="71000">
                <a:schemeClr val="dk1">
                  <a:lumMod val="10000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0" y="-16662"/>
            <a:ext cx="110067" cy="69000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-759882" y="2943680"/>
            <a:ext cx="5907636" cy="4191291"/>
            <a:chOff x="4659892" y="3664499"/>
            <a:chExt cx="3923593" cy="2783672"/>
          </a:xfrm>
          <a:solidFill>
            <a:schemeClr val="lt1">
              <a:alpha val="14000"/>
            </a:schemeClr>
          </a:solidFill>
        </p:grpSpPr>
        <p:sp>
          <p:nvSpPr>
            <p:cNvPr id="21" name="íṥḷíďe"/>
            <p:cNvSpPr/>
            <p:nvPr/>
          </p:nvSpPr>
          <p:spPr bwMode="auto">
            <a:xfrm>
              <a:off x="4659892" y="3664499"/>
              <a:ext cx="2119058" cy="2783672"/>
            </a:xfrm>
            <a:custGeom>
              <a:avLst/>
              <a:gdLst>
                <a:gd name="T0" fmla="*/ 28 w 321"/>
                <a:gd name="T1" fmla="*/ 93 h 333"/>
                <a:gd name="T2" fmla="*/ 99 w 321"/>
                <a:gd name="T3" fmla="*/ 68 h 333"/>
                <a:gd name="T4" fmla="*/ 108 w 321"/>
                <a:gd name="T5" fmla="*/ 34 h 333"/>
                <a:gd name="T6" fmla="*/ 298 w 321"/>
                <a:gd name="T7" fmla="*/ 303 h 333"/>
                <a:gd name="T8" fmla="*/ 0 w 321"/>
                <a:gd name="T9" fmla="*/ 333 h 333"/>
                <a:gd name="T10" fmla="*/ 181 w 321"/>
                <a:gd name="T11" fmla="*/ 68 h 333"/>
                <a:gd name="T12" fmla="*/ 193 w 321"/>
                <a:gd name="T13" fmla="*/ 50 h 333"/>
                <a:gd name="T14" fmla="*/ 181 w 321"/>
                <a:gd name="T15" fmla="*/ 92 h 333"/>
                <a:gd name="T16" fmla="*/ 193 w 321"/>
                <a:gd name="T17" fmla="*/ 106 h 333"/>
                <a:gd name="T18" fmla="*/ 181 w 321"/>
                <a:gd name="T19" fmla="*/ 92 h 333"/>
                <a:gd name="T20" fmla="*/ 187 w 321"/>
                <a:gd name="T21" fmla="*/ 87 h 333"/>
                <a:gd name="T22" fmla="*/ 187 w 321"/>
                <a:gd name="T23" fmla="*/ 71 h 333"/>
                <a:gd name="T24" fmla="*/ 205 w 321"/>
                <a:gd name="T25" fmla="*/ 64 h 333"/>
                <a:gd name="T26" fmla="*/ 217 w 321"/>
                <a:gd name="T27" fmla="*/ 46 h 333"/>
                <a:gd name="T28" fmla="*/ 205 w 321"/>
                <a:gd name="T29" fmla="*/ 89 h 333"/>
                <a:gd name="T30" fmla="*/ 217 w 321"/>
                <a:gd name="T31" fmla="*/ 103 h 333"/>
                <a:gd name="T32" fmla="*/ 205 w 321"/>
                <a:gd name="T33" fmla="*/ 89 h 333"/>
                <a:gd name="T34" fmla="*/ 211 w 321"/>
                <a:gd name="T35" fmla="*/ 83 h 333"/>
                <a:gd name="T36" fmla="*/ 211 w 321"/>
                <a:gd name="T37" fmla="*/ 67 h 333"/>
                <a:gd name="T38" fmla="*/ 57 w 321"/>
                <a:gd name="T39" fmla="*/ 127 h 333"/>
                <a:gd name="T40" fmla="*/ 69 w 321"/>
                <a:gd name="T41" fmla="*/ 109 h 333"/>
                <a:gd name="T42" fmla="*/ 57 w 321"/>
                <a:gd name="T43" fmla="*/ 190 h 333"/>
                <a:gd name="T44" fmla="*/ 69 w 321"/>
                <a:gd name="T45" fmla="*/ 205 h 333"/>
                <a:gd name="T46" fmla="*/ 57 w 321"/>
                <a:gd name="T47" fmla="*/ 190 h 333"/>
                <a:gd name="T48" fmla="*/ 63 w 321"/>
                <a:gd name="T49" fmla="*/ 185 h 333"/>
                <a:gd name="T50" fmla="*/ 63 w 321"/>
                <a:gd name="T51" fmla="*/ 169 h 333"/>
                <a:gd name="T52" fmla="*/ 57 w 321"/>
                <a:gd name="T53" fmla="*/ 166 h 333"/>
                <a:gd name="T54" fmla="*/ 69 w 321"/>
                <a:gd name="T55" fmla="*/ 149 h 333"/>
                <a:gd name="T56" fmla="*/ 57 w 321"/>
                <a:gd name="T57" fmla="*/ 131 h 333"/>
                <a:gd name="T58" fmla="*/ 69 w 321"/>
                <a:gd name="T59" fmla="*/ 144 h 333"/>
                <a:gd name="T60" fmla="*/ 57 w 321"/>
                <a:gd name="T61" fmla="*/ 131 h 333"/>
                <a:gd name="T62" fmla="*/ 145 w 321"/>
                <a:gd name="T63" fmla="*/ 184 h 333"/>
                <a:gd name="T64" fmla="*/ 145 w 321"/>
                <a:gd name="T65" fmla="*/ 162 h 333"/>
                <a:gd name="T66" fmla="*/ 137 w 321"/>
                <a:gd name="T67" fmla="*/ 294 h 333"/>
                <a:gd name="T68" fmla="*/ 154 w 321"/>
                <a:gd name="T69" fmla="*/ 272 h 333"/>
                <a:gd name="T70" fmla="*/ 137 w 321"/>
                <a:gd name="T71" fmla="*/ 245 h 333"/>
                <a:gd name="T72" fmla="*/ 154 w 321"/>
                <a:gd name="T73" fmla="*/ 265 h 333"/>
                <a:gd name="T74" fmla="*/ 137 w 321"/>
                <a:gd name="T75" fmla="*/ 245 h 333"/>
                <a:gd name="T76" fmla="*/ 145 w 321"/>
                <a:gd name="T77" fmla="*/ 239 h 333"/>
                <a:gd name="T78" fmla="*/ 145 w 321"/>
                <a:gd name="T79" fmla="*/ 217 h 333"/>
                <a:gd name="T80" fmla="*/ 137 w 321"/>
                <a:gd name="T81" fmla="*/ 212 h 333"/>
                <a:gd name="T82" fmla="*/ 154 w 321"/>
                <a:gd name="T83" fmla="*/ 188 h 333"/>
                <a:gd name="T84" fmla="*/ 111 w 321"/>
                <a:gd name="T85" fmla="*/ 169 h 333"/>
                <a:gd name="T86" fmla="*/ 127 w 321"/>
                <a:gd name="T87" fmla="*/ 186 h 333"/>
                <a:gd name="T88" fmla="*/ 111 w 321"/>
                <a:gd name="T89" fmla="*/ 169 h 333"/>
                <a:gd name="T90" fmla="*/ 119 w 321"/>
                <a:gd name="T91" fmla="*/ 294 h 333"/>
                <a:gd name="T92" fmla="*/ 119 w 321"/>
                <a:gd name="T93" fmla="*/ 273 h 333"/>
                <a:gd name="T94" fmla="*/ 111 w 321"/>
                <a:gd name="T95" fmla="*/ 267 h 333"/>
                <a:gd name="T96" fmla="*/ 127 w 321"/>
                <a:gd name="T97" fmla="*/ 246 h 333"/>
                <a:gd name="T98" fmla="*/ 111 w 321"/>
                <a:gd name="T99" fmla="*/ 221 h 333"/>
                <a:gd name="T100" fmla="*/ 127 w 321"/>
                <a:gd name="T101" fmla="*/ 240 h 333"/>
                <a:gd name="T102" fmla="*/ 111 w 321"/>
                <a:gd name="T103" fmla="*/ 221 h 333"/>
                <a:gd name="T104" fmla="*/ 119 w 321"/>
                <a:gd name="T105" fmla="*/ 214 h 333"/>
                <a:gd name="T106" fmla="*/ 119 w 321"/>
                <a:gd name="T107" fmla="*/ 193 h 333"/>
                <a:gd name="T108" fmla="*/ 127 w 321"/>
                <a:gd name="T109" fmla="*/ 62 h 333"/>
                <a:gd name="T110" fmla="*/ 171 w 321"/>
                <a:gd name="T111" fmla="*/ 117 h 333"/>
                <a:gd name="T112" fmla="*/ 224 w 321"/>
                <a:gd name="T113" fmla="*/ 134 h 333"/>
                <a:gd name="T114" fmla="*/ 239 w 321"/>
                <a:gd name="T115" fmla="*/ 28 h 333"/>
                <a:gd name="T116" fmla="*/ 51 w 321"/>
                <a:gd name="T117" fmla="*/ 303 h 333"/>
                <a:gd name="T118" fmla="*/ 118 w 321"/>
                <a:gd name="T119" fmla="*/ 129 h 333"/>
                <a:gd name="T120" fmla="*/ 51 w 321"/>
                <a:gd name="T121" fmla="*/ 303 h 333"/>
                <a:gd name="T122" fmla="*/ 166 w 321"/>
                <a:gd name="T123" fmla="*/ 142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1" h="333">
                  <a:moveTo>
                    <a:pt x="0" y="303"/>
                  </a:moveTo>
                  <a:cubicBezTo>
                    <a:pt x="28" y="303"/>
                    <a:pt x="28" y="303"/>
                    <a:pt x="28" y="303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03"/>
                    <a:pt x="298" y="303"/>
                    <a:pt x="298" y="303"/>
                  </a:cubicBezTo>
                  <a:cubicBezTo>
                    <a:pt x="321" y="303"/>
                    <a:pt x="321" y="303"/>
                    <a:pt x="321" y="303"/>
                  </a:cubicBezTo>
                  <a:cubicBezTo>
                    <a:pt x="321" y="333"/>
                    <a:pt x="321" y="333"/>
                    <a:pt x="321" y="333"/>
                  </a:cubicBezTo>
                  <a:cubicBezTo>
                    <a:pt x="0" y="333"/>
                    <a:pt x="0" y="333"/>
                    <a:pt x="0" y="333"/>
                  </a:cubicBezTo>
                  <a:cubicBezTo>
                    <a:pt x="0" y="303"/>
                    <a:pt x="0" y="303"/>
                    <a:pt x="0" y="303"/>
                  </a:cubicBezTo>
                  <a:close/>
                  <a:moveTo>
                    <a:pt x="181" y="53"/>
                  </a:moveTo>
                  <a:cubicBezTo>
                    <a:pt x="181" y="58"/>
                    <a:pt x="181" y="63"/>
                    <a:pt x="181" y="68"/>
                  </a:cubicBezTo>
                  <a:cubicBezTo>
                    <a:pt x="183" y="68"/>
                    <a:pt x="185" y="67"/>
                    <a:pt x="187" y="67"/>
                  </a:cubicBezTo>
                  <a:cubicBezTo>
                    <a:pt x="189" y="67"/>
                    <a:pt x="191" y="66"/>
                    <a:pt x="193" y="66"/>
                  </a:cubicBezTo>
                  <a:cubicBezTo>
                    <a:pt x="193" y="61"/>
                    <a:pt x="193" y="55"/>
                    <a:pt x="193" y="50"/>
                  </a:cubicBezTo>
                  <a:cubicBezTo>
                    <a:pt x="191" y="51"/>
                    <a:pt x="189" y="51"/>
                    <a:pt x="187" y="52"/>
                  </a:cubicBezTo>
                  <a:cubicBezTo>
                    <a:pt x="185" y="52"/>
                    <a:pt x="183" y="53"/>
                    <a:pt x="181" y="53"/>
                  </a:cubicBezTo>
                  <a:close/>
                  <a:moveTo>
                    <a:pt x="181" y="92"/>
                  </a:moveTo>
                  <a:cubicBezTo>
                    <a:pt x="181" y="97"/>
                    <a:pt x="181" y="102"/>
                    <a:pt x="181" y="107"/>
                  </a:cubicBezTo>
                  <a:cubicBezTo>
                    <a:pt x="183" y="107"/>
                    <a:pt x="185" y="107"/>
                    <a:pt x="187" y="106"/>
                  </a:cubicBezTo>
                  <a:cubicBezTo>
                    <a:pt x="189" y="106"/>
                    <a:pt x="191" y="106"/>
                    <a:pt x="193" y="106"/>
                  </a:cubicBezTo>
                  <a:cubicBezTo>
                    <a:pt x="193" y="101"/>
                    <a:pt x="193" y="95"/>
                    <a:pt x="193" y="90"/>
                  </a:cubicBezTo>
                  <a:cubicBezTo>
                    <a:pt x="191" y="91"/>
                    <a:pt x="189" y="91"/>
                    <a:pt x="187" y="91"/>
                  </a:cubicBezTo>
                  <a:cubicBezTo>
                    <a:pt x="185" y="91"/>
                    <a:pt x="183" y="92"/>
                    <a:pt x="181" y="92"/>
                  </a:cubicBezTo>
                  <a:close/>
                  <a:moveTo>
                    <a:pt x="181" y="72"/>
                  </a:moveTo>
                  <a:cubicBezTo>
                    <a:pt x="181" y="77"/>
                    <a:pt x="181" y="83"/>
                    <a:pt x="181" y="88"/>
                  </a:cubicBezTo>
                  <a:cubicBezTo>
                    <a:pt x="183" y="87"/>
                    <a:pt x="185" y="87"/>
                    <a:pt x="187" y="87"/>
                  </a:cubicBezTo>
                  <a:cubicBezTo>
                    <a:pt x="189" y="86"/>
                    <a:pt x="191" y="86"/>
                    <a:pt x="193" y="86"/>
                  </a:cubicBezTo>
                  <a:cubicBezTo>
                    <a:pt x="193" y="80"/>
                    <a:pt x="193" y="75"/>
                    <a:pt x="193" y="70"/>
                  </a:cubicBezTo>
                  <a:cubicBezTo>
                    <a:pt x="191" y="71"/>
                    <a:pt x="189" y="71"/>
                    <a:pt x="187" y="71"/>
                  </a:cubicBezTo>
                  <a:cubicBezTo>
                    <a:pt x="185" y="72"/>
                    <a:pt x="183" y="72"/>
                    <a:pt x="181" y="72"/>
                  </a:cubicBezTo>
                  <a:close/>
                  <a:moveTo>
                    <a:pt x="205" y="49"/>
                  </a:moveTo>
                  <a:cubicBezTo>
                    <a:pt x="205" y="54"/>
                    <a:pt x="205" y="59"/>
                    <a:pt x="205" y="64"/>
                  </a:cubicBezTo>
                  <a:cubicBezTo>
                    <a:pt x="207" y="64"/>
                    <a:pt x="209" y="63"/>
                    <a:pt x="211" y="63"/>
                  </a:cubicBezTo>
                  <a:cubicBezTo>
                    <a:pt x="213" y="63"/>
                    <a:pt x="215" y="62"/>
                    <a:pt x="217" y="62"/>
                  </a:cubicBezTo>
                  <a:cubicBezTo>
                    <a:pt x="217" y="56"/>
                    <a:pt x="217" y="51"/>
                    <a:pt x="217" y="46"/>
                  </a:cubicBezTo>
                  <a:cubicBezTo>
                    <a:pt x="215" y="46"/>
                    <a:pt x="213" y="47"/>
                    <a:pt x="211" y="47"/>
                  </a:cubicBezTo>
                  <a:cubicBezTo>
                    <a:pt x="209" y="48"/>
                    <a:pt x="207" y="48"/>
                    <a:pt x="205" y="49"/>
                  </a:cubicBezTo>
                  <a:close/>
                  <a:moveTo>
                    <a:pt x="205" y="89"/>
                  </a:moveTo>
                  <a:cubicBezTo>
                    <a:pt x="205" y="94"/>
                    <a:pt x="205" y="99"/>
                    <a:pt x="205" y="104"/>
                  </a:cubicBezTo>
                  <a:cubicBezTo>
                    <a:pt x="207" y="104"/>
                    <a:pt x="209" y="104"/>
                    <a:pt x="211" y="104"/>
                  </a:cubicBezTo>
                  <a:cubicBezTo>
                    <a:pt x="213" y="104"/>
                    <a:pt x="215" y="103"/>
                    <a:pt x="217" y="103"/>
                  </a:cubicBezTo>
                  <a:cubicBezTo>
                    <a:pt x="217" y="98"/>
                    <a:pt x="217" y="92"/>
                    <a:pt x="217" y="87"/>
                  </a:cubicBezTo>
                  <a:cubicBezTo>
                    <a:pt x="215" y="87"/>
                    <a:pt x="213" y="88"/>
                    <a:pt x="211" y="88"/>
                  </a:cubicBezTo>
                  <a:cubicBezTo>
                    <a:pt x="209" y="88"/>
                    <a:pt x="207" y="89"/>
                    <a:pt x="205" y="89"/>
                  </a:cubicBezTo>
                  <a:close/>
                  <a:moveTo>
                    <a:pt x="205" y="69"/>
                  </a:moveTo>
                  <a:cubicBezTo>
                    <a:pt x="205" y="74"/>
                    <a:pt x="205" y="79"/>
                    <a:pt x="205" y="84"/>
                  </a:cubicBezTo>
                  <a:cubicBezTo>
                    <a:pt x="207" y="84"/>
                    <a:pt x="209" y="84"/>
                    <a:pt x="211" y="83"/>
                  </a:cubicBezTo>
                  <a:cubicBezTo>
                    <a:pt x="213" y="83"/>
                    <a:pt x="215" y="83"/>
                    <a:pt x="217" y="82"/>
                  </a:cubicBezTo>
                  <a:cubicBezTo>
                    <a:pt x="217" y="77"/>
                    <a:pt x="217" y="72"/>
                    <a:pt x="217" y="66"/>
                  </a:cubicBezTo>
                  <a:cubicBezTo>
                    <a:pt x="215" y="67"/>
                    <a:pt x="213" y="67"/>
                    <a:pt x="211" y="67"/>
                  </a:cubicBezTo>
                  <a:cubicBezTo>
                    <a:pt x="209" y="68"/>
                    <a:pt x="207" y="68"/>
                    <a:pt x="205" y="69"/>
                  </a:cubicBezTo>
                  <a:close/>
                  <a:moveTo>
                    <a:pt x="57" y="112"/>
                  </a:moveTo>
                  <a:cubicBezTo>
                    <a:pt x="57" y="117"/>
                    <a:pt x="57" y="122"/>
                    <a:pt x="57" y="127"/>
                  </a:cubicBezTo>
                  <a:cubicBezTo>
                    <a:pt x="59" y="126"/>
                    <a:pt x="61" y="126"/>
                    <a:pt x="63" y="126"/>
                  </a:cubicBezTo>
                  <a:cubicBezTo>
                    <a:pt x="65" y="125"/>
                    <a:pt x="67" y="125"/>
                    <a:pt x="69" y="124"/>
                  </a:cubicBezTo>
                  <a:cubicBezTo>
                    <a:pt x="69" y="119"/>
                    <a:pt x="69" y="114"/>
                    <a:pt x="69" y="109"/>
                  </a:cubicBezTo>
                  <a:cubicBezTo>
                    <a:pt x="67" y="109"/>
                    <a:pt x="65" y="110"/>
                    <a:pt x="63" y="110"/>
                  </a:cubicBezTo>
                  <a:cubicBezTo>
                    <a:pt x="61" y="111"/>
                    <a:pt x="59" y="111"/>
                    <a:pt x="57" y="112"/>
                  </a:cubicBezTo>
                  <a:close/>
                  <a:moveTo>
                    <a:pt x="57" y="190"/>
                  </a:moveTo>
                  <a:cubicBezTo>
                    <a:pt x="57" y="195"/>
                    <a:pt x="57" y="200"/>
                    <a:pt x="57" y="205"/>
                  </a:cubicBezTo>
                  <a:cubicBezTo>
                    <a:pt x="59" y="205"/>
                    <a:pt x="61" y="205"/>
                    <a:pt x="63" y="205"/>
                  </a:cubicBezTo>
                  <a:cubicBezTo>
                    <a:pt x="65" y="205"/>
                    <a:pt x="67" y="205"/>
                    <a:pt x="69" y="205"/>
                  </a:cubicBezTo>
                  <a:cubicBezTo>
                    <a:pt x="69" y="199"/>
                    <a:pt x="69" y="194"/>
                    <a:pt x="69" y="189"/>
                  </a:cubicBezTo>
                  <a:cubicBezTo>
                    <a:pt x="67" y="189"/>
                    <a:pt x="65" y="189"/>
                    <a:pt x="63" y="189"/>
                  </a:cubicBezTo>
                  <a:cubicBezTo>
                    <a:pt x="61" y="189"/>
                    <a:pt x="59" y="189"/>
                    <a:pt x="57" y="190"/>
                  </a:cubicBezTo>
                  <a:close/>
                  <a:moveTo>
                    <a:pt x="57" y="170"/>
                  </a:moveTo>
                  <a:cubicBezTo>
                    <a:pt x="57" y="175"/>
                    <a:pt x="57" y="180"/>
                    <a:pt x="57" y="185"/>
                  </a:cubicBezTo>
                  <a:cubicBezTo>
                    <a:pt x="59" y="185"/>
                    <a:pt x="61" y="185"/>
                    <a:pt x="63" y="185"/>
                  </a:cubicBezTo>
                  <a:cubicBezTo>
                    <a:pt x="65" y="184"/>
                    <a:pt x="67" y="184"/>
                    <a:pt x="69" y="184"/>
                  </a:cubicBezTo>
                  <a:cubicBezTo>
                    <a:pt x="69" y="179"/>
                    <a:pt x="69" y="174"/>
                    <a:pt x="69" y="169"/>
                  </a:cubicBezTo>
                  <a:cubicBezTo>
                    <a:pt x="67" y="169"/>
                    <a:pt x="65" y="169"/>
                    <a:pt x="63" y="169"/>
                  </a:cubicBezTo>
                  <a:cubicBezTo>
                    <a:pt x="61" y="169"/>
                    <a:pt x="59" y="170"/>
                    <a:pt x="57" y="170"/>
                  </a:cubicBezTo>
                  <a:close/>
                  <a:moveTo>
                    <a:pt x="57" y="150"/>
                  </a:moveTo>
                  <a:cubicBezTo>
                    <a:pt x="57" y="155"/>
                    <a:pt x="57" y="161"/>
                    <a:pt x="57" y="166"/>
                  </a:cubicBezTo>
                  <a:cubicBezTo>
                    <a:pt x="59" y="165"/>
                    <a:pt x="61" y="165"/>
                    <a:pt x="63" y="165"/>
                  </a:cubicBezTo>
                  <a:cubicBezTo>
                    <a:pt x="65" y="165"/>
                    <a:pt x="67" y="165"/>
                    <a:pt x="69" y="164"/>
                  </a:cubicBezTo>
                  <a:cubicBezTo>
                    <a:pt x="69" y="159"/>
                    <a:pt x="69" y="154"/>
                    <a:pt x="69" y="149"/>
                  </a:cubicBezTo>
                  <a:cubicBezTo>
                    <a:pt x="67" y="149"/>
                    <a:pt x="65" y="149"/>
                    <a:pt x="63" y="150"/>
                  </a:cubicBezTo>
                  <a:cubicBezTo>
                    <a:pt x="61" y="150"/>
                    <a:pt x="59" y="150"/>
                    <a:pt x="57" y="150"/>
                  </a:cubicBezTo>
                  <a:close/>
                  <a:moveTo>
                    <a:pt x="57" y="131"/>
                  </a:moveTo>
                  <a:cubicBezTo>
                    <a:pt x="57" y="136"/>
                    <a:pt x="57" y="141"/>
                    <a:pt x="57" y="146"/>
                  </a:cubicBezTo>
                  <a:cubicBezTo>
                    <a:pt x="59" y="146"/>
                    <a:pt x="61" y="145"/>
                    <a:pt x="63" y="145"/>
                  </a:cubicBezTo>
                  <a:cubicBezTo>
                    <a:pt x="65" y="145"/>
                    <a:pt x="67" y="144"/>
                    <a:pt x="69" y="144"/>
                  </a:cubicBezTo>
                  <a:cubicBezTo>
                    <a:pt x="69" y="139"/>
                    <a:pt x="69" y="134"/>
                    <a:pt x="69" y="129"/>
                  </a:cubicBezTo>
                  <a:cubicBezTo>
                    <a:pt x="67" y="129"/>
                    <a:pt x="65" y="129"/>
                    <a:pt x="63" y="130"/>
                  </a:cubicBezTo>
                  <a:cubicBezTo>
                    <a:pt x="61" y="130"/>
                    <a:pt x="59" y="131"/>
                    <a:pt x="57" y="131"/>
                  </a:cubicBezTo>
                  <a:close/>
                  <a:moveTo>
                    <a:pt x="137" y="164"/>
                  </a:moveTo>
                  <a:cubicBezTo>
                    <a:pt x="137" y="171"/>
                    <a:pt x="137" y="178"/>
                    <a:pt x="137" y="185"/>
                  </a:cubicBezTo>
                  <a:cubicBezTo>
                    <a:pt x="140" y="185"/>
                    <a:pt x="143" y="184"/>
                    <a:pt x="145" y="184"/>
                  </a:cubicBezTo>
                  <a:cubicBezTo>
                    <a:pt x="148" y="183"/>
                    <a:pt x="151" y="182"/>
                    <a:pt x="154" y="182"/>
                  </a:cubicBezTo>
                  <a:cubicBezTo>
                    <a:pt x="154" y="175"/>
                    <a:pt x="154" y="167"/>
                    <a:pt x="154" y="160"/>
                  </a:cubicBezTo>
                  <a:cubicBezTo>
                    <a:pt x="151" y="161"/>
                    <a:pt x="148" y="162"/>
                    <a:pt x="145" y="162"/>
                  </a:cubicBezTo>
                  <a:cubicBezTo>
                    <a:pt x="143" y="163"/>
                    <a:pt x="140" y="164"/>
                    <a:pt x="137" y="164"/>
                  </a:cubicBezTo>
                  <a:close/>
                  <a:moveTo>
                    <a:pt x="137" y="273"/>
                  </a:moveTo>
                  <a:cubicBezTo>
                    <a:pt x="137" y="280"/>
                    <a:pt x="137" y="287"/>
                    <a:pt x="137" y="294"/>
                  </a:cubicBezTo>
                  <a:cubicBezTo>
                    <a:pt x="140" y="294"/>
                    <a:pt x="143" y="294"/>
                    <a:pt x="145" y="294"/>
                  </a:cubicBezTo>
                  <a:cubicBezTo>
                    <a:pt x="148" y="294"/>
                    <a:pt x="151" y="294"/>
                    <a:pt x="154" y="294"/>
                  </a:cubicBezTo>
                  <a:cubicBezTo>
                    <a:pt x="154" y="287"/>
                    <a:pt x="154" y="279"/>
                    <a:pt x="154" y="272"/>
                  </a:cubicBezTo>
                  <a:cubicBezTo>
                    <a:pt x="151" y="272"/>
                    <a:pt x="148" y="272"/>
                    <a:pt x="145" y="273"/>
                  </a:cubicBezTo>
                  <a:cubicBezTo>
                    <a:pt x="143" y="273"/>
                    <a:pt x="140" y="273"/>
                    <a:pt x="137" y="273"/>
                  </a:cubicBezTo>
                  <a:close/>
                  <a:moveTo>
                    <a:pt x="137" y="245"/>
                  </a:moveTo>
                  <a:cubicBezTo>
                    <a:pt x="137" y="252"/>
                    <a:pt x="137" y="259"/>
                    <a:pt x="137" y="266"/>
                  </a:cubicBezTo>
                  <a:cubicBezTo>
                    <a:pt x="140" y="266"/>
                    <a:pt x="143" y="266"/>
                    <a:pt x="145" y="266"/>
                  </a:cubicBezTo>
                  <a:cubicBezTo>
                    <a:pt x="148" y="266"/>
                    <a:pt x="151" y="266"/>
                    <a:pt x="154" y="265"/>
                  </a:cubicBezTo>
                  <a:cubicBezTo>
                    <a:pt x="154" y="258"/>
                    <a:pt x="154" y="251"/>
                    <a:pt x="154" y="244"/>
                  </a:cubicBezTo>
                  <a:cubicBezTo>
                    <a:pt x="151" y="244"/>
                    <a:pt x="148" y="244"/>
                    <a:pt x="145" y="245"/>
                  </a:cubicBezTo>
                  <a:cubicBezTo>
                    <a:pt x="143" y="245"/>
                    <a:pt x="140" y="245"/>
                    <a:pt x="137" y="245"/>
                  </a:cubicBezTo>
                  <a:close/>
                  <a:moveTo>
                    <a:pt x="137" y="218"/>
                  </a:moveTo>
                  <a:cubicBezTo>
                    <a:pt x="137" y="225"/>
                    <a:pt x="137" y="232"/>
                    <a:pt x="137" y="239"/>
                  </a:cubicBezTo>
                  <a:cubicBezTo>
                    <a:pt x="140" y="239"/>
                    <a:pt x="143" y="239"/>
                    <a:pt x="145" y="239"/>
                  </a:cubicBezTo>
                  <a:cubicBezTo>
                    <a:pt x="148" y="238"/>
                    <a:pt x="151" y="238"/>
                    <a:pt x="154" y="238"/>
                  </a:cubicBezTo>
                  <a:cubicBezTo>
                    <a:pt x="154" y="230"/>
                    <a:pt x="154" y="223"/>
                    <a:pt x="154" y="216"/>
                  </a:cubicBezTo>
                  <a:cubicBezTo>
                    <a:pt x="151" y="216"/>
                    <a:pt x="148" y="217"/>
                    <a:pt x="145" y="217"/>
                  </a:cubicBezTo>
                  <a:cubicBezTo>
                    <a:pt x="143" y="218"/>
                    <a:pt x="140" y="218"/>
                    <a:pt x="137" y="218"/>
                  </a:cubicBezTo>
                  <a:close/>
                  <a:moveTo>
                    <a:pt x="137" y="191"/>
                  </a:moveTo>
                  <a:cubicBezTo>
                    <a:pt x="137" y="198"/>
                    <a:pt x="137" y="205"/>
                    <a:pt x="137" y="212"/>
                  </a:cubicBezTo>
                  <a:cubicBezTo>
                    <a:pt x="140" y="212"/>
                    <a:pt x="143" y="211"/>
                    <a:pt x="145" y="211"/>
                  </a:cubicBezTo>
                  <a:cubicBezTo>
                    <a:pt x="148" y="210"/>
                    <a:pt x="151" y="210"/>
                    <a:pt x="154" y="210"/>
                  </a:cubicBezTo>
                  <a:cubicBezTo>
                    <a:pt x="154" y="202"/>
                    <a:pt x="154" y="195"/>
                    <a:pt x="154" y="188"/>
                  </a:cubicBezTo>
                  <a:cubicBezTo>
                    <a:pt x="151" y="188"/>
                    <a:pt x="148" y="189"/>
                    <a:pt x="145" y="190"/>
                  </a:cubicBezTo>
                  <a:cubicBezTo>
                    <a:pt x="143" y="190"/>
                    <a:pt x="140" y="191"/>
                    <a:pt x="137" y="191"/>
                  </a:cubicBezTo>
                  <a:close/>
                  <a:moveTo>
                    <a:pt x="111" y="169"/>
                  </a:moveTo>
                  <a:cubicBezTo>
                    <a:pt x="111" y="176"/>
                    <a:pt x="111" y="183"/>
                    <a:pt x="111" y="189"/>
                  </a:cubicBezTo>
                  <a:cubicBezTo>
                    <a:pt x="113" y="189"/>
                    <a:pt x="116" y="188"/>
                    <a:pt x="119" y="188"/>
                  </a:cubicBezTo>
                  <a:cubicBezTo>
                    <a:pt x="121" y="187"/>
                    <a:pt x="124" y="187"/>
                    <a:pt x="127" y="186"/>
                  </a:cubicBezTo>
                  <a:cubicBezTo>
                    <a:pt x="127" y="179"/>
                    <a:pt x="127" y="172"/>
                    <a:pt x="127" y="165"/>
                  </a:cubicBezTo>
                  <a:cubicBezTo>
                    <a:pt x="124" y="166"/>
                    <a:pt x="121" y="166"/>
                    <a:pt x="119" y="167"/>
                  </a:cubicBezTo>
                  <a:cubicBezTo>
                    <a:pt x="116" y="168"/>
                    <a:pt x="113" y="168"/>
                    <a:pt x="111" y="169"/>
                  </a:cubicBezTo>
                  <a:close/>
                  <a:moveTo>
                    <a:pt x="111" y="274"/>
                  </a:moveTo>
                  <a:cubicBezTo>
                    <a:pt x="111" y="280"/>
                    <a:pt x="111" y="287"/>
                    <a:pt x="111" y="294"/>
                  </a:cubicBezTo>
                  <a:cubicBezTo>
                    <a:pt x="113" y="294"/>
                    <a:pt x="116" y="294"/>
                    <a:pt x="119" y="294"/>
                  </a:cubicBezTo>
                  <a:cubicBezTo>
                    <a:pt x="121" y="294"/>
                    <a:pt x="124" y="294"/>
                    <a:pt x="127" y="294"/>
                  </a:cubicBezTo>
                  <a:cubicBezTo>
                    <a:pt x="127" y="287"/>
                    <a:pt x="127" y="280"/>
                    <a:pt x="127" y="273"/>
                  </a:cubicBezTo>
                  <a:cubicBezTo>
                    <a:pt x="124" y="273"/>
                    <a:pt x="121" y="273"/>
                    <a:pt x="119" y="273"/>
                  </a:cubicBezTo>
                  <a:cubicBezTo>
                    <a:pt x="116" y="273"/>
                    <a:pt x="113" y="273"/>
                    <a:pt x="111" y="274"/>
                  </a:cubicBezTo>
                  <a:close/>
                  <a:moveTo>
                    <a:pt x="111" y="247"/>
                  </a:moveTo>
                  <a:cubicBezTo>
                    <a:pt x="111" y="254"/>
                    <a:pt x="111" y="260"/>
                    <a:pt x="111" y="267"/>
                  </a:cubicBezTo>
                  <a:cubicBezTo>
                    <a:pt x="113" y="267"/>
                    <a:pt x="116" y="267"/>
                    <a:pt x="119" y="267"/>
                  </a:cubicBezTo>
                  <a:cubicBezTo>
                    <a:pt x="121" y="267"/>
                    <a:pt x="124" y="266"/>
                    <a:pt x="127" y="266"/>
                  </a:cubicBezTo>
                  <a:cubicBezTo>
                    <a:pt x="127" y="259"/>
                    <a:pt x="127" y="252"/>
                    <a:pt x="127" y="246"/>
                  </a:cubicBezTo>
                  <a:cubicBezTo>
                    <a:pt x="124" y="246"/>
                    <a:pt x="121" y="246"/>
                    <a:pt x="119" y="246"/>
                  </a:cubicBezTo>
                  <a:cubicBezTo>
                    <a:pt x="116" y="246"/>
                    <a:pt x="113" y="247"/>
                    <a:pt x="111" y="247"/>
                  </a:cubicBezTo>
                  <a:close/>
                  <a:moveTo>
                    <a:pt x="111" y="221"/>
                  </a:moveTo>
                  <a:cubicBezTo>
                    <a:pt x="111" y="228"/>
                    <a:pt x="111" y="235"/>
                    <a:pt x="111" y="241"/>
                  </a:cubicBezTo>
                  <a:cubicBezTo>
                    <a:pt x="113" y="241"/>
                    <a:pt x="116" y="241"/>
                    <a:pt x="119" y="241"/>
                  </a:cubicBezTo>
                  <a:cubicBezTo>
                    <a:pt x="121" y="240"/>
                    <a:pt x="124" y="240"/>
                    <a:pt x="127" y="240"/>
                  </a:cubicBezTo>
                  <a:cubicBezTo>
                    <a:pt x="127" y="233"/>
                    <a:pt x="127" y="226"/>
                    <a:pt x="127" y="219"/>
                  </a:cubicBezTo>
                  <a:cubicBezTo>
                    <a:pt x="124" y="219"/>
                    <a:pt x="121" y="220"/>
                    <a:pt x="119" y="220"/>
                  </a:cubicBezTo>
                  <a:cubicBezTo>
                    <a:pt x="116" y="220"/>
                    <a:pt x="113" y="221"/>
                    <a:pt x="111" y="221"/>
                  </a:cubicBezTo>
                  <a:close/>
                  <a:moveTo>
                    <a:pt x="111" y="195"/>
                  </a:moveTo>
                  <a:cubicBezTo>
                    <a:pt x="111" y="202"/>
                    <a:pt x="111" y="208"/>
                    <a:pt x="111" y="215"/>
                  </a:cubicBezTo>
                  <a:cubicBezTo>
                    <a:pt x="113" y="215"/>
                    <a:pt x="116" y="214"/>
                    <a:pt x="119" y="214"/>
                  </a:cubicBezTo>
                  <a:cubicBezTo>
                    <a:pt x="121" y="214"/>
                    <a:pt x="124" y="213"/>
                    <a:pt x="127" y="213"/>
                  </a:cubicBezTo>
                  <a:cubicBezTo>
                    <a:pt x="127" y="206"/>
                    <a:pt x="127" y="199"/>
                    <a:pt x="127" y="192"/>
                  </a:cubicBezTo>
                  <a:cubicBezTo>
                    <a:pt x="124" y="192"/>
                    <a:pt x="121" y="193"/>
                    <a:pt x="119" y="193"/>
                  </a:cubicBezTo>
                  <a:cubicBezTo>
                    <a:pt x="116" y="194"/>
                    <a:pt x="113" y="194"/>
                    <a:pt x="111" y="195"/>
                  </a:cubicBezTo>
                  <a:close/>
                  <a:moveTo>
                    <a:pt x="122" y="63"/>
                  </a:moveTo>
                  <a:cubicBezTo>
                    <a:pt x="127" y="62"/>
                    <a:pt x="127" y="62"/>
                    <a:pt x="127" y="62"/>
                  </a:cubicBezTo>
                  <a:cubicBezTo>
                    <a:pt x="141" y="59"/>
                    <a:pt x="141" y="59"/>
                    <a:pt x="141" y="59"/>
                  </a:cubicBezTo>
                  <a:cubicBezTo>
                    <a:pt x="171" y="76"/>
                    <a:pt x="171" y="76"/>
                    <a:pt x="171" y="76"/>
                  </a:cubicBezTo>
                  <a:cubicBezTo>
                    <a:pt x="171" y="117"/>
                    <a:pt x="171" y="117"/>
                    <a:pt x="171" y="117"/>
                  </a:cubicBezTo>
                  <a:cubicBezTo>
                    <a:pt x="174" y="117"/>
                    <a:pt x="174" y="117"/>
                    <a:pt x="174" y="117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303"/>
                    <a:pt x="224" y="303"/>
                    <a:pt x="224" y="303"/>
                  </a:cubicBezTo>
                  <a:cubicBezTo>
                    <a:pt x="239" y="303"/>
                    <a:pt x="239" y="303"/>
                    <a:pt x="239" y="303"/>
                  </a:cubicBezTo>
                  <a:cubicBezTo>
                    <a:pt x="239" y="28"/>
                    <a:pt x="239" y="28"/>
                    <a:pt x="239" y="2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63"/>
                    <a:pt x="122" y="63"/>
                    <a:pt x="122" y="63"/>
                  </a:cubicBezTo>
                  <a:close/>
                  <a:moveTo>
                    <a:pt x="51" y="303"/>
                  </a:moveTo>
                  <a:cubicBezTo>
                    <a:pt x="76" y="303"/>
                    <a:pt x="76" y="303"/>
                    <a:pt x="76" y="303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118" y="129"/>
                    <a:pt x="118" y="129"/>
                    <a:pt x="118" y="129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1" y="303"/>
                    <a:pt x="51" y="303"/>
                    <a:pt x="51" y="303"/>
                  </a:cubicBezTo>
                  <a:close/>
                  <a:moveTo>
                    <a:pt x="98" y="303"/>
                  </a:moveTo>
                  <a:cubicBezTo>
                    <a:pt x="166" y="303"/>
                    <a:pt x="166" y="303"/>
                    <a:pt x="166" y="303"/>
                  </a:cubicBezTo>
                  <a:cubicBezTo>
                    <a:pt x="166" y="142"/>
                    <a:pt x="166" y="142"/>
                    <a:pt x="166" y="142"/>
                  </a:cubicBezTo>
                  <a:cubicBezTo>
                    <a:pt x="98" y="153"/>
                    <a:pt x="98" y="153"/>
                    <a:pt x="98" y="153"/>
                  </a:cubicBezTo>
                  <a:lnTo>
                    <a:pt x="98" y="303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ïṡḷidê"/>
            <p:cNvSpPr/>
            <p:nvPr/>
          </p:nvSpPr>
          <p:spPr bwMode="auto">
            <a:xfrm>
              <a:off x="6667755" y="4092450"/>
              <a:ext cx="1915730" cy="2203742"/>
            </a:xfrm>
            <a:custGeom>
              <a:avLst/>
              <a:gdLst>
                <a:gd name="T0" fmla="*/ 603 w 603"/>
                <a:gd name="T1" fmla="*/ 230 h 551"/>
                <a:gd name="T2" fmla="*/ 590 w 603"/>
                <a:gd name="T3" fmla="*/ 265 h 551"/>
                <a:gd name="T4" fmla="*/ 343 w 603"/>
                <a:gd name="T5" fmla="*/ 551 h 551"/>
                <a:gd name="T6" fmla="*/ 226 w 603"/>
                <a:gd name="T7" fmla="*/ 436 h 551"/>
                <a:gd name="T8" fmla="*/ 156 w 603"/>
                <a:gd name="T9" fmla="*/ 551 h 551"/>
                <a:gd name="T10" fmla="*/ 33 w 603"/>
                <a:gd name="T11" fmla="*/ 106 h 551"/>
                <a:gd name="T12" fmla="*/ 0 w 603"/>
                <a:gd name="T13" fmla="*/ 85 h 551"/>
                <a:gd name="T14" fmla="*/ 187 w 603"/>
                <a:gd name="T15" fmla="*/ 0 h 551"/>
                <a:gd name="T16" fmla="*/ 370 w 603"/>
                <a:gd name="T17" fmla="*/ 83 h 551"/>
                <a:gd name="T18" fmla="*/ 343 w 603"/>
                <a:gd name="T19" fmla="*/ 106 h 551"/>
                <a:gd name="T20" fmla="*/ 343 w 603"/>
                <a:gd name="T21" fmla="*/ 230 h 551"/>
                <a:gd name="T22" fmla="*/ 170 w 603"/>
                <a:gd name="T23" fmla="*/ 217 h 551"/>
                <a:gd name="T24" fmla="*/ 214 w 603"/>
                <a:gd name="T25" fmla="*/ 156 h 551"/>
                <a:gd name="T26" fmla="*/ 170 w 603"/>
                <a:gd name="T27" fmla="*/ 156 h 551"/>
                <a:gd name="T28" fmla="*/ 75 w 603"/>
                <a:gd name="T29" fmla="*/ 217 h 551"/>
                <a:gd name="T30" fmla="*/ 118 w 603"/>
                <a:gd name="T31" fmla="*/ 156 h 551"/>
                <a:gd name="T32" fmla="*/ 75 w 603"/>
                <a:gd name="T33" fmla="*/ 156 h 551"/>
                <a:gd name="T34" fmla="*/ 440 w 603"/>
                <a:gd name="T35" fmla="*/ 376 h 551"/>
                <a:gd name="T36" fmla="*/ 482 w 603"/>
                <a:gd name="T37" fmla="*/ 319 h 551"/>
                <a:gd name="T38" fmla="*/ 440 w 603"/>
                <a:gd name="T39" fmla="*/ 319 h 551"/>
                <a:gd name="T40" fmla="*/ 376 w 603"/>
                <a:gd name="T41" fmla="*/ 459 h 551"/>
                <a:gd name="T42" fmla="*/ 416 w 603"/>
                <a:gd name="T43" fmla="*/ 403 h 551"/>
                <a:gd name="T44" fmla="*/ 376 w 603"/>
                <a:gd name="T45" fmla="*/ 403 h 551"/>
                <a:gd name="T46" fmla="*/ 503 w 603"/>
                <a:gd name="T47" fmla="*/ 459 h 551"/>
                <a:gd name="T48" fmla="*/ 544 w 603"/>
                <a:gd name="T49" fmla="*/ 403 h 551"/>
                <a:gd name="T50" fmla="*/ 503 w 603"/>
                <a:gd name="T51" fmla="*/ 403 h 551"/>
                <a:gd name="T52" fmla="*/ 440 w 603"/>
                <a:gd name="T53" fmla="*/ 459 h 551"/>
                <a:gd name="T54" fmla="*/ 482 w 603"/>
                <a:gd name="T55" fmla="*/ 403 h 551"/>
                <a:gd name="T56" fmla="*/ 440 w 603"/>
                <a:gd name="T57" fmla="*/ 403 h 551"/>
                <a:gd name="T58" fmla="*/ 376 w 603"/>
                <a:gd name="T59" fmla="*/ 376 h 551"/>
                <a:gd name="T60" fmla="*/ 416 w 603"/>
                <a:gd name="T61" fmla="*/ 319 h 551"/>
                <a:gd name="T62" fmla="*/ 376 w 603"/>
                <a:gd name="T63" fmla="*/ 319 h 551"/>
                <a:gd name="T64" fmla="*/ 503 w 603"/>
                <a:gd name="T65" fmla="*/ 376 h 551"/>
                <a:gd name="T66" fmla="*/ 544 w 603"/>
                <a:gd name="T67" fmla="*/ 319 h 551"/>
                <a:gd name="T68" fmla="*/ 503 w 603"/>
                <a:gd name="T69" fmla="*/ 319 h 551"/>
                <a:gd name="T70" fmla="*/ 260 w 603"/>
                <a:gd name="T71" fmla="*/ 476 h 551"/>
                <a:gd name="T72" fmla="*/ 305 w 603"/>
                <a:gd name="T73" fmla="*/ 416 h 551"/>
                <a:gd name="T74" fmla="*/ 260 w 603"/>
                <a:gd name="T75" fmla="*/ 416 h 551"/>
                <a:gd name="T76" fmla="*/ 75 w 603"/>
                <a:gd name="T77" fmla="*/ 476 h 551"/>
                <a:gd name="T78" fmla="*/ 118 w 603"/>
                <a:gd name="T79" fmla="*/ 416 h 551"/>
                <a:gd name="T80" fmla="*/ 75 w 603"/>
                <a:gd name="T81" fmla="*/ 416 h 551"/>
                <a:gd name="T82" fmla="*/ 260 w 603"/>
                <a:gd name="T83" fmla="*/ 393 h 551"/>
                <a:gd name="T84" fmla="*/ 305 w 603"/>
                <a:gd name="T85" fmla="*/ 330 h 551"/>
                <a:gd name="T86" fmla="*/ 260 w 603"/>
                <a:gd name="T87" fmla="*/ 330 h 551"/>
                <a:gd name="T88" fmla="*/ 170 w 603"/>
                <a:gd name="T89" fmla="*/ 393 h 551"/>
                <a:gd name="T90" fmla="*/ 214 w 603"/>
                <a:gd name="T91" fmla="*/ 330 h 551"/>
                <a:gd name="T92" fmla="*/ 170 w 603"/>
                <a:gd name="T93" fmla="*/ 330 h 551"/>
                <a:gd name="T94" fmla="*/ 75 w 603"/>
                <a:gd name="T95" fmla="*/ 393 h 551"/>
                <a:gd name="T96" fmla="*/ 118 w 603"/>
                <a:gd name="T97" fmla="*/ 330 h 551"/>
                <a:gd name="T98" fmla="*/ 75 w 603"/>
                <a:gd name="T99" fmla="*/ 330 h 551"/>
                <a:gd name="T100" fmla="*/ 260 w 603"/>
                <a:gd name="T101" fmla="*/ 305 h 551"/>
                <a:gd name="T102" fmla="*/ 305 w 603"/>
                <a:gd name="T103" fmla="*/ 242 h 551"/>
                <a:gd name="T104" fmla="*/ 260 w 603"/>
                <a:gd name="T105" fmla="*/ 242 h 551"/>
                <a:gd name="T106" fmla="*/ 170 w 603"/>
                <a:gd name="T107" fmla="*/ 305 h 551"/>
                <a:gd name="T108" fmla="*/ 214 w 603"/>
                <a:gd name="T109" fmla="*/ 242 h 551"/>
                <a:gd name="T110" fmla="*/ 170 w 603"/>
                <a:gd name="T111" fmla="*/ 242 h 551"/>
                <a:gd name="T112" fmla="*/ 75 w 603"/>
                <a:gd name="T113" fmla="*/ 305 h 551"/>
                <a:gd name="T114" fmla="*/ 118 w 603"/>
                <a:gd name="T115" fmla="*/ 242 h 551"/>
                <a:gd name="T116" fmla="*/ 75 w 603"/>
                <a:gd name="T117" fmla="*/ 242 h 551"/>
                <a:gd name="T118" fmla="*/ 260 w 603"/>
                <a:gd name="T119" fmla="*/ 217 h 551"/>
                <a:gd name="T120" fmla="*/ 305 w 603"/>
                <a:gd name="T121" fmla="*/ 156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03" h="551">
                  <a:moveTo>
                    <a:pt x="343" y="230"/>
                  </a:moveTo>
                  <a:lnTo>
                    <a:pt x="603" y="230"/>
                  </a:lnTo>
                  <a:lnTo>
                    <a:pt x="603" y="265"/>
                  </a:lnTo>
                  <a:lnTo>
                    <a:pt x="590" y="265"/>
                  </a:lnTo>
                  <a:lnTo>
                    <a:pt x="590" y="551"/>
                  </a:lnTo>
                  <a:lnTo>
                    <a:pt x="343" y="551"/>
                  </a:lnTo>
                  <a:lnTo>
                    <a:pt x="226" y="551"/>
                  </a:lnTo>
                  <a:lnTo>
                    <a:pt x="226" y="436"/>
                  </a:lnTo>
                  <a:lnTo>
                    <a:pt x="156" y="436"/>
                  </a:lnTo>
                  <a:lnTo>
                    <a:pt x="156" y="551"/>
                  </a:lnTo>
                  <a:lnTo>
                    <a:pt x="33" y="551"/>
                  </a:lnTo>
                  <a:lnTo>
                    <a:pt x="33" y="106"/>
                  </a:lnTo>
                  <a:lnTo>
                    <a:pt x="0" y="106"/>
                  </a:lnTo>
                  <a:lnTo>
                    <a:pt x="0" y="85"/>
                  </a:lnTo>
                  <a:lnTo>
                    <a:pt x="71" y="54"/>
                  </a:lnTo>
                  <a:lnTo>
                    <a:pt x="187" y="0"/>
                  </a:lnTo>
                  <a:lnTo>
                    <a:pt x="303" y="54"/>
                  </a:lnTo>
                  <a:lnTo>
                    <a:pt x="370" y="83"/>
                  </a:lnTo>
                  <a:lnTo>
                    <a:pt x="370" y="106"/>
                  </a:lnTo>
                  <a:lnTo>
                    <a:pt x="343" y="106"/>
                  </a:lnTo>
                  <a:lnTo>
                    <a:pt x="343" y="230"/>
                  </a:lnTo>
                  <a:lnTo>
                    <a:pt x="343" y="230"/>
                  </a:lnTo>
                  <a:close/>
                  <a:moveTo>
                    <a:pt x="170" y="156"/>
                  </a:moveTo>
                  <a:lnTo>
                    <a:pt x="170" y="217"/>
                  </a:lnTo>
                  <a:lnTo>
                    <a:pt x="214" y="217"/>
                  </a:lnTo>
                  <a:lnTo>
                    <a:pt x="214" y="156"/>
                  </a:lnTo>
                  <a:lnTo>
                    <a:pt x="170" y="156"/>
                  </a:lnTo>
                  <a:lnTo>
                    <a:pt x="170" y="156"/>
                  </a:lnTo>
                  <a:close/>
                  <a:moveTo>
                    <a:pt x="75" y="156"/>
                  </a:moveTo>
                  <a:lnTo>
                    <a:pt x="75" y="217"/>
                  </a:lnTo>
                  <a:lnTo>
                    <a:pt x="118" y="217"/>
                  </a:lnTo>
                  <a:lnTo>
                    <a:pt x="118" y="156"/>
                  </a:lnTo>
                  <a:lnTo>
                    <a:pt x="75" y="156"/>
                  </a:lnTo>
                  <a:lnTo>
                    <a:pt x="75" y="156"/>
                  </a:lnTo>
                  <a:close/>
                  <a:moveTo>
                    <a:pt x="440" y="319"/>
                  </a:moveTo>
                  <a:lnTo>
                    <a:pt x="440" y="376"/>
                  </a:lnTo>
                  <a:lnTo>
                    <a:pt x="482" y="376"/>
                  </a:lnTo>
                  <a:lnTo>
                    <a:pt x="482" y="319"/>
                  </a:lnTo>
                  <a:lnTo>
                    <a:pt x="440" y="319"/>
                  </a:lnTo>
                  <a:lnTo>
                    <a:pt x="440" y="319"/>
                  </a:lnTo>
                  <a:close/>
                  <a:moveTo>
                    <a:pt x="376" y="403"/>
                  </a:moveTo>
                  <a:lnTo>
                    <a:pt x="376" y="459"/>
                  </a:lnTo>
                  <a:lnTo>
                    <a:pt x="416" y="459"/>
                  </a:lnTo>
                  <a:lnTo>
                    <a:pt x="416" y="403"/>
                  </a:lnTo>
                  <a:lnTo>
                    <a:pt x="376" y="403"/>
                  </a:lnTo>
                  <a:lnTo>
                    <a:pt x="376" y="403"/>
                  </a:lnTo>
                  <a:close/>
                  <a:moveTo>
                    <a:pt x="503" y="403"/>
                  </a:moveTo>
                  <a:lnTo>
                    <a:pt x="503" y="459"/>
                  </a:lnTo>
                  <a:lnTo>
                    <a:pt x="544" y="459"/>
                  </a:lnTo>
                  <a:lnTo>
                    <a:pt x="544" y="403"/>
                  </a:lnTo>
                  <a:lnTo>
                    <a:pt x="503" y="403"/>
                  </a:lnTo>
                  <a:lnTo>
                    <a:pt x="503" y="403"/>
                  </a:lnTo>
                  <a:close/>
                  <a:moveTo>
                    <a:pt x="440" y="403"/>
                  </a:moveTo>
                  <a:lnTo>
                    <a:pt x="440" y="459"/>
                  </a:lnTo>
                  <a:lnTo>
                    <a:pt x="482" y="459"/>
                  </a:lnTo>
                  <a:lnTo>
                    <a:pt x="482" y="403"/>
                  </a:lnTo>
                  <a:lnTo>
                    <a:pt x="440" y="403"/>
                  </a:lnTo>
                  <a:lnTo>
                    <a:pt x="440" y="403"/>
                  </a:lnTo>
                  <a:close/>
                  <a:moveTo>
                    <a:pt x="376" y="319"/>
                  </a:moveTo>
                  <a:lnTo>
                    <a:pt x="376" y="376"/>
                  </a:lnTo>
                  <a:lnTo>
                    <a:pt x="416" y="376"/>
                  </a:lnTo>
                  <a:lnTo>
                    <a:pt x="416" y="319"/>
                  </a:lnTo>
                  <a:lnTo>
                    <a:pt x="376" y="319"/>
                  </a:lnTo>
                  <a:lnTo>
                    <a:pt x="376" y="319"/>
                  </a:lnTo>
                  <a:close/>
                  <a:moveTo>
                    <a:pt x="503" y="319"/>
                  </a:moveTo>
                  <a:lnTo>
                    <a:pt x="503" y="376"/>
                  </a:lnTo>
                  <a:lnTo>
                    <a:pt x="544" y="376"/>
                  </a:lnTo>
                  <a:lnTo>
                    <a:pt x="544" y="319"/>
                  </a:lnTo>
                  <a:lnTo>
                    <a:pt x="503" y="319"/>
                  </a:lnTo>
                  <a:lnTo>
                    <a:pt x="503" y="319"/>
                  </a:lnTo>
                  <a:close/>
                  <a:moveTo>
                    <a:pt x="260" y="416"/>
                  </a:moveTo>
                  <a:lnTo>
                    <a:pt x="260" y="476"/>
                  </a:lnTo>
                  <a:lnTo>
                    <a:pt x="305" y="476"/>
                  </a:lnTo>
                  <a:lnTo>
                    <a:pt x="305" y="416"/>
                  </a:lnTo>
                  <a:lnTo>
                    <a:pt x="260" y="416"/>
                  </a:lnTo>
                  <a:lnTo>
                    <a:pt x="260" y="416"/>
                  </a:lnTo>
                  <a:close/>
                  <a:moveTo>
                    <a:pt x="75" y="416"/>
                  </a:moveTo>
                  <a:lnTo>
                    <a:pt x="75" y="476"/>
                  </a:lnTo>
                  <a:lnTo>
                    <a:pt x="118" y="476"/>
                  </a:lnTo>
                  <a:lnTo>
                    <a:pt x="118" y="416"/>
                  </a:lnTo>
                  <a:lnTo>
                    <a:pt x="75" y="416"/>
                  </a:lnTo>
                  <a:lnTo>
                    <a:pt x="75" y="416"/>
                  </a:lnTo>
                  <a:close/>
                  <a:moveTo>
                    <a:pt x="260" y="330"/>
                  </a:moveTo>
                  <a:lnTo>
                    <a:pt x="260" y="393"/>
                  </a:lnTo>
                  <a:lnTo>
                    <a:pt x="305" y="393"/>
                  </a:lnTo>
                  <a:lnTo>
                    <a:pt x="305" y="330"/>
                  </a:lnTo>
                  <a:lnTo>
                    <a:pt x="260" y="330"/>
                  </a:lnTo>
                  <a:lnTo>
                    <a:pt x="260" y="330"/>
                  </a:lnTo>
                  <a:close/>
                  <a:moveTo>
                    <a:pt x="170" y="330"/>
                  </a:moveTo>
                  <a:lnTo>
                    <a:pt x="170" y="393"/>
                  </a:lnTo>
                  <a:lnTo>
                    <a:pt x="214" y="393"/>
                  </a:lnTo>
                  <a:lnTo>
                    <a:pt x="214" y="330"/>
                  </a:lnTo>
                  <a:lnTo>
                    <a:pt x="170" y="330"/>
                  </a:lnTo>
                  <a:lnTo>
                    <a:pt x="170" y="330"/>
                  </a:lnTo>
                  <a:close/>
                  <a:moveTo>
                    <a:pt x="75" y="330"/>
                  </a:moveTo>
                  <a:lnTo>
                    <a:pt x="75" y="393"/>
                  </a:lnTo>
                  <a:lnTo>
                    <a:pt x="118" y="393"/>
                  </a:lnTo>
                  <a:lnTo>
                    <a:pt x="118" y="330"/>
                  </a:lnTo>
                  <a:lnTo>
                    <a:pt x="75" y="330"/>
                  </a:lnTo>
                  <a:lnTo>
                    <a:pt x="75" y="330"/>
                  </a:lnTo>
                  <a:close/>
                  <a:moveTo>
                    <a:pt x="260" y="242"/>
                  </a:moveTo>
                  <a:lnTo>
                    <a:pt x="260" y="305"/>
                  </a:lnTo>
                  <a:lnTo>
                    <a:pt x="305" y="305"/>
                  </a:lnTo>
                  <a:lnTo>
                    <a:pt x="305" y="242"/>
                  </a:lnTo>
                  <a:lnTo>
                    <a:pt x="260" y="242"/>
                  </a:lnTo>
                  <a:lnTo>
                    <a:pt x="260" y="242"/>
                  </a:lnTo>
                  <a:close/>
                  <a:moveTo>
                    <a:pt x="170" y="242"/>
                  </a:moveTo>
                  <a:lnTo>
                    <a:pt x="170" y="305"/>
                  </a:lnTo>
                  <a:lnTo>
                    <a:pt x="214" y="305"/>
                  </a:lnTo>
                  <a:lnTo>
                    <a:pt x="214" y="242"/>
                  </a:lnTo>
                  <a:lnTo>
                    <a:pt x="170" y="242"/>
                  </a:lnTo>
                  <a:lnTo>
                    <a:pt x="170" y="242"/>
                  </a:lnTo>
                  <a:close/>
                  <a:moveTo>
                    <a:pt x="75" y="242"/>
                  </a:moveTo>
                  <a:lnTo>
                    <a:pt x="75" y="305"/>
                  </a:lnTo>
                  <a:lnTo>
                    <a:pt x="118" y="305"/>
                  </a:lnTo>
                  <a:lnTo>
                    <a:pt x="118" y="242"/>
                  </a:lnTo>
                  <a:lnTo>
                    <a:pt x="75" y="242"/>
                  </a:lnTo>
                  <a:lnTo>
                    <a:pt x="75" y="242"/>
                  </a:lnTo>
                  <a:close/>
                  <a:moveTo>
                    <a:pt x="260" y="156"/>
                  </a:moveTo>
                  <a:lnTo>
                    <a:pt x="260" y="217"/>
                  </a:lnTo>
                  <a:lnTo>
                    <a:pt x="305" y="217"/>
                  </a:lnTo>
                  <a:lnTo>
                    <a:pt x="305" y="156"/>
                  </a:lnTo>
                  <a:lnTo>
                    <a:pt x="260" y="156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>
            <p:custDataLst>
              <p:tags r:id="rId1"/>
            </p:custDataLst>
          </p:nvPr>
        </p:nvGrpSpPr>
        <p:grpSpPr>
          <a:xfrm>
            <a:off x="6825238" y="1225069"/>
            <a:ext cx="4546600" cy="944880"/>
            <a:chOff x="1365605" y="2880361"/>
            <a:chExt cx="4546600" cy="944880"/>
          </a:xfrm>
        </p:grpSpPr>
        <p:sp>
          <p:nvSpPr>
            <p:cNvPr id="27" name="椭圆 26"/>
            <p:cNvSpPr/>
            <p:nvPr>
              <p:custDataLst>
                <p:tags r:id="rId10"/>
              </p:custDataLst>
            </p:nvPr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1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11"/>
              </p:custDataLst>
            </p:nvPr>
          </p:nvSpPr>
          <p:spPr>
            <a:xfrm>
              <a:off x="2221179" y="2928304"/>
              <a:ext cx="323786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Packet Processing</a:t>
              </a:r>
            </a:p>
          </p:txBody>
        </p:sp>
        <p:sp>
          <p:nvSpPr>
            <p:cNvPr id="29" name="文本框 28"/>
            <p:cNvSpPr txBox="1"/>
            <p:nvPr>
              <p:custDataLst>
                <p:tags r:id="rId12"/>
              </p:custDataLst>
            </p:nvPr>
          </p:nvSpPr>
          <p:spPr>
            <a:xfrm>
              <a:off x="2272385" y="3411221"/>
              <a:ext cx="3639820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Carried out on switches to update tags.</a:t>
              </a:r>
            </a:p>
          </p:txBody>
        </p:sp>
      </p:grpSp>
      <p:grpSp>
        <p:nvGrpSpPr>
          <p:cNvPr id="30" name="组合 29"/>
          <p:cNvGrpSpPr/>
          <p:nvPr>
            <p:custDataLst>
              <p:tags r:id="rId2"/>
            </p:custDataLst>
          </p:nvPr>
        </p:nvGrpSpPr>
        <p:grpSpPr>
          <a:xfrm>
            <a:off x="6932562" y="4709822"/>
            <a:ext cx="4439920" cy="1268095"/>
            <a:chOff x="1365605" y="2880361"/>
            <a:chExt cx="4439920" cy="1268095"/>
          </a:xfrm>
        </p:grpSpPr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3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8"/>
              </p:custDataLst>
            </p:nvPr>
          </p:nvSpPr>
          <p:spPr>
            <a:xfrm>
              <a:off x="2221179" y="2928304"/>
              <a:ext cx="233934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Localization</a:t>
              </a:r>
            </a:p>
          </p:txBody>
        </p:sp>
        <p:sp>
          <p:nvSpPr>
            <p:cNvPr id="33" name="文本框 32"/>
            <p:cNvSpPr txBox="1"/>
            <p:nvPr>
              <p:custDataLst>
                <p:tags r:id="rId9"/>
              </p:custDataLst>
            </p:nvPr>
          </p:nvSpPr>
          <p:spPr>
            <a:xfrm>
              <a:off x="2272385" y="3411221"/>
              <a:ext cx="3533140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Triggered only when verification fails.</a:t>
              </a:r>
            </a:p>
          </p:txBody>
        </p:sp>
      </p:grpSp>
      <p:grpSp>
        <p:nvGrpSpPr>
          <p:cNvPr id="34" name="组合 33"/>
          <p:cNvGrpSpPr/>
          <p:nvPr>
            <p:custDataLst>
              <p:tags r:id="rId3"/>
            </p:custDataLst>
          </p:nvPr>
        </p:nvGrpSpPr>
        <p:grpSpPr>
          <a:xfrm>
            <a:off x="7347852" y="2943633"/>
            <a:ext cx="4265930" cy="1268095"/>
            <a:chOff x="1365605" y="2880361"/>
            <a:chExt cx="4265930" cy="1268095"/>
          </a:xfrm>
        </p:grpSpPr>
        <p:sp>
          <p:nvSpPr>
            <p:cNvPr id="35" name="椭圆 34"/>
            <p:cNvSpPr/>
            <p:nvPr>
              <p:custDataLst>
                <p:tags r:id="rId4"/>
              </p:custDataLst>
            </p:nvPr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2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5"/>
              </p:custDataLst>
            </p:nvPr>
          </p:nvSpPr>
          <p:spPr>
            <a:xfrm>
              <a:off x="2221179" y="2928304"/>
              <a:ext cx="233934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Verification</a:t>
              </a:r>
            </a:p>
          </p:txBody>
        </p:sp>
        <p:sp>
          <p:nvSpPr>
            <p:cNvPr id="37" name="文本框 36"/>
            <p:cNvSpPr txBox="1"/>
            <p:nvPr>
              <p:custDataLst>
                <p:tags r:id="rId6"/>
              </p:custDataLst>
            </p:nvPr>
          </p:nvSpPr>
          <p:spPr>
            <a:xfrm>
              <a:off x="2272385" y="3411221"/>
              <a:ext cx="3359150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Carried out on the controller to check consistency.</a:t>
              </a:r>
            </a:p>
          </p:txBody>
        </p:sp>
      </p:grpSp>
      <p:sp>
        <p:nvSpPr>
          <p:cNvPr id="45" name="iconfont-11208-5297042"/>
          <p:cNvSpPr/>
          <p:nvPr/>
        </p:nvSpPr>
        <p:spPr>
          <a:xfrm>
            <a:off x="267970" y="25463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0722716" y="6421225"/>
            <a:ext cx="1093905" cy="203200"/>
            <a:chOff x="2400300" y="-914400"/>
            <a:chExt cx="1093905" cy="203200"/>
          </a:xfrm>
        </p:grpSpPr>
        <p:sp>
          <p:nvSpPr>
            <p:cNvPr id="48" name="椭圆 47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24865" y="2046605"/>
            <a:ext cx="4906645" cy="1301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3200">
                <a:ln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Three Subsystems </a:t>
            </a:r>
          </a:p>
          <a:p>
            <a:pPr algn="r"/>
            <a:r>
              <a:rPr lang="en-US" altLang="zh-CN" sz="3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  <a:sym typeface="+mn-ea"/>
              </a:rPr>
              <a:t>of 2MVeri</a:t>
            </a:r>
            <a:endParaRPr lang="en-US" altLang="zh-CN" sz="3200">
              <a:ln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679950" y="1417955"/>
            <a:ext cx="3394075" cy="2988310"/>
            <a:chOff x="2183" y="2247"/>
            <a:chExt cx="5345" cy="4706"/>
          </a:xfrm>
        </p:grpSpPr>
        <p:sp>
          <p:nvSpPr>
            <p:cNvPr id="44" name="文本框 43"/>
            <p:cNvSpPr txBox="1"/>
            <p:nvPr/>
          </p:nvSpPr>
          <p:spPr>
            <a:xfrm>
              <a:off x="2183" y="2247"/>
              <a:ext cx="5345" cy="1308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l" defTabSz="457200" hangingPunct="0">
                <a:lnSpc>
                  <a:spcPct val="150000"/>
                </a:lnSpc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zh-CN" altLang="en-US" sz="1800" b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A </a:t>
              </a:r>
              <a:r>
                <a:rPr lang="zh-CN" altLang="en-US" sz="2000" b="1" i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16-bit Bloom Filter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(BF)</a:t>
              </a:r>
              <a:endParaRPr lang="zh-CN" altLang="en-US" sz="20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  <a:p>
              <a:pPr marL="0" indent="0" algn="l" defTabSz="457200" hangingPunct="0">
                <a:lnSpc>
                  <a:spcPct val="150000"/>
                </a:lnSpc>
                <a:spcAft>
                  <a:spcPts val="0"/>
                </a:spcAft>
                <a:buNone/>
                <a:defRPr/>
              </a:pPr>
              <a:r>
                <a:rPr lang="en-US" altLang="zh-CN" sz="16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Records switch IDs.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183" y="3873"/>
              <a:ext cx="5345" cy="1308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Bold" panose="020B0800000000000000" pitchFamily="34" charset="-122"/>
                </a:rPr>
                <a:t>A 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Bold" panose="020B0800000000000000" pitchFamily="34" charset="-122"/>
                </a:rPr>
                <a:t>2D Vector </a:t>
              </a:r>
              <a:r>
                <a:rPr lang="en-US" altLang="zh-CN" sz="2000" b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Bold" panose="020B0800000000000000" pitchFamily="34" charset="-122"/>
                </a:rPr>
                <a:t>((v1,v2))</a:t>
              </a:r>
              <a:endParaRPr lang="zh-CN" altLang="en-US" sz="2000" i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Bold" panose="020B0800000000000000" pitchFamily="34" charset="-122"/>
              </a:endParaRPr>
            </a:p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zh-CN" sz="16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Captures path state.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183" y="5499"/>
              <a:ext cx="5345" cy="1454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defTabSz="457200" hangingPunct="0">
                <a:lnSpc>
                  <a:spcPct val="150000"/>
                </a:lnSpc>
                <a:spcAft>
                  <a:spcPts val="0"/>
                </a:spcAft>
                <a:buNone/>
                <a:defRPr/>
              </a:pPr>
              <a:r>
                <a:rPr lang="en-US" altLang="zh-CN" sz="1800" b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Bold" panose="020B0800000000000000" pitchFamily="34" charset="-122"/>
                </a:rPr>
                <a:t>A</a:t>
              </a:r>
              <a:r>
                <a:rPr lang="" altLang="en-US" sz="2400" b="1" i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Bold" panose="020B0800000000000000" pitchFamily="34" charset="-122"/>
                </a:rPr>
                <a:t> 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Bold" panose="020B0800000000000000" pitchFamily="34" charset="-122"/>
                </a:rPr>
                <a:t>Modulus </a:t>
              </a:r>
              <a:r>
                <a:rPr lang="en-US" altLang="zh-CN" sz="2000" b="1" dirty="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Bold" panose="020B0800000000000000" pitchFamily="34" charset="-122"/>
                </a:rPr>
                <a:t>(p)</a:t>
              </a:r>
              <a:endParaRPr lang="en-US" altLang="zh-CN" sz="2400" b="1" i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Bold" panose="020B0800000000000000" pitchFamily="34" charset="-122"/>
              </a:endParaRPr>
            </a:p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zh-CN" sz="16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Prevents overflow.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99289" y="258436"/>
            <a:ext cx="3901656" cy="627100"/>
            <a:chOff x="363500" y="173190"/>
            <a:chExt cx="3901656" cy="627100"/>
          </a:xfrm>
        </p:grpSpPr>
        <p:sp>
          <p:nvSpPr>
            <p:cNvPr id="62" name="TextBox 55"/>
            <p:cNvSpPr txBox="1"/>
            <p:nvPr/>
          </p:nvSpPr>
          <p:spPr>
            <a:xfrm>
              <a:off x="1053110" y="270652"/>
              <a:ext cx="3212046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Packet Processing</a:t>
              </a:r>
            </a:p>
          </p:txBody>
        </p:sp>
        <p:sp>
          <p:nvSpPr>
            <p:cNvPr id="66" name="椭圆 6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01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5" y="1830070"/>
            <a:ext cx="3376930" cy="2903855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4679950" y="4799330"/>
            <a:ext cx="5320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Each switch holds a unique</a:t>
            </a:r>
            <a:r>
              <a:rPr lang="" altLang="en-US"/>
              <a:t> </a:t>
            </a:r>
            <a:r>
              <a:rPr lang="en-US" altLang="zh-CN"/>
              <a:t>2x2 Characteristic Matrix</a:t>
            </a:r>
            <a:r>
              <a:rPr lang="" altLang="en-US"/>
              <a:t> </a:t>
            </a:r>
            <a:r>
              <a:rPr lang="en-US" altLang="zh-CN"/>
              <a:t>assigned by the controller.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6750" y="4391660"/>
            <a:ext cx="10858500" cy="1917700"/>
            <a:chOff x="1050" y="6396"/>
            <a:chExt cx="17100" cy="3020"/>
          </a:xfrm>
        </p:grpSpPr>
        <p:grpSp>
          <p:nvGrpSpPr>
            <p:cNvPr id="18" name="iśḷïdê"/>
            <p:cNvGrpSpPr/>
            <p:nvPr/>
          </p:nvGrpSpPr>
          <p:grpSpPr>
            <a:xfrm>
              <a:off x="1050" y="6396"/>
              <a:ext cx="4875" cy="2790"/>
              <a:chOff x="8750270" y="4724425"/>
              <a:chExt cx="3095318" cy="1771618"/>
            </a:xfrm>
          </p:grpSpPr>
          <p:sp>
            <p:nvSpPr>
              <p:cNvPr id="28" name="îşļídè"/>
              <p:cNvSpPr txBox="1"/>
              <p:nvPr/>
            </p:nvSpPr>
            <p:spPr>
              <a:xfrm>
                <a:off x="8750270" y="4724425"/>
                <a:ext cx="3095318" cy="49527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lIns="91440" tIns="45720" rIns="91440" bIns="45720" rtlCol="0" anchor="ctr" anchorCtr="0">
                <a:norm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2000" b="1" dirty="0">
                    <a:ln/>
                    <a:solidFill>
                      <a:schemeClr val="accent4"/>
                    </a:solidFill>
                    <a:effectLst/>
                    <a:cs typeface="+mn-ea"/>
                    <a:sym typeface="+mn-lt"/>
                  </a:rPr>
                  <a:t>Initialization</a:t>
                </a:r>
              </a:p>
            </p:txBody>
          </p:sp>
          <p:sp>
            <p:nvSpPr>
              <p:cNvPr id="29" name="ïŝļíḋè"/>
              <p:cNvSpPr/>
              <p:nvPr/>
            </p:nvSpPr>
            <p:spPr bwMode="auto">
              <a:xfrm>
                <a:off x="8750270" y="5219716"/>
                <a:ext cx="3095318" cy="1276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At the</a:t>
                </a:r>
                <a:r>
                  <a:rPr lang="" altLang="en-US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 </a:t>
                </a:r>
                <a:r>
                  <a:rPr lang="en-US" altLang="zh-CN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Entry Switch, we sample a flow. We initialize the vector</a:t>
                </a:r>
                <a:r>
                  <a:rPr lang="" altLang="en-US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 </a:t>
                </a:r>
              </a:p>
              <a:p>
                <a:pPr algn="l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(v</a:t>
                </a:r>
                <a:r>
                  <a:rPr lang="en-US" sz="1400" baseline="-250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1</a:t>
                </a:r>
                <a:r>
                  <a:rPr lang="en-US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,v</a:t>
                </a:r>
                <a:r>
                  <a:rPr lang="en-US" sz="1400" baseline="-250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2</a:t>
                </a:r>
                <a:r>
                  <a:rPr lang="en-US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)</a:t>
                </a:r>
                <a:r>
                  <a:rPr lang="" altLang="en-US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 </a:t>
                </a:r>
                <a:r>
                  <a:rPr lang="en-US" altLang="zh-CN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and the modulus</a:t>
                </a:r>
                <a:r>
                  <a:rPr lang="" altLang="en-US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 </a:t>
                </a:r>
                <a:r>
                  <a:rPr lang="en-US" altLang="zh-CN" sz="1400" dirty="0">
                    <a:ln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p.</a:t>
                </a:r>
              </a:p>
            </p:txBody>
          </p:sp>
        </p:grpSp>
        <p:grpSp>
          <p:nvGrpSpPr>
            <p:cNvPr id="19" name="íSļiḑé"/>
            <p:cNvGrpSpPr/>
            <p:nvPr/>
          </p:nvGrpSpPr>
          <p:grpSpPr>
            <a:xfrm>
              <a:off x="13275" y="6396"/>
              <a:ext cx="4875" cy="2220"/>
              <a:chOff x="8750270" y="4724425"/>
              <a:chExt cx="3095318" cy="1409675"/>
            </a:xfrm>
          </p:grpSpPr>
          <p:sp>
            <p:nvSpPr>
              <p:cNvPr id="26" name="iṡ1îḓè"/>
              <p:cNvSpPr txBox="1"/>
              <p:nvPr/>
            </p:nvSpPr>
            <p:spPr>
              <a:xfrm>
                <a:off x="8750270" y="4724425"/>
                <a:ext cx="3095318" cy="49527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lIns="91440" tIns="45720" rIns="91440" bIns="45720" rtlCol="0" anchor="ctr" anchorCtr="0">
                <a:norm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2000" dirty="0">
                    <a:ln/>
                    <a:solidFill>
                      <a:schemeClr val="accent4"/>
                    </a:solidFill>
                    <a:effectLst/>
                    <a:cs typeface="+mn-ea"/>
                    <a:sym typeface="+mn-lt"/>
                  </a:rPr>
                  <a:t>Reporting</a:t>
                </a:r>
                <a:endParaRPr lang="en-US" altLang="zh-CN" sz="2000" b="1" dirty="0">
                  <a:ln/>
                  <a:solidFill>
                    <a:schemeClr val="accent4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7" name="ïṩḻïḋé"/>
              <p:cNvSpPr/>
              <p:nvPr/>
            </p:nvSpPr>
            <p:spPr bwMode="auto">
              <a:xfrm>
                <a:off x="8750270" y="5219700"/>
                <a:ext cx="3095318" cy="914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fontScale="9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At the Exit Switch, the tag is stripped and sent to the controller.</a:t>
                </a:r>
              </a:p>
            </p:txBody>
          </p:sp>
        </p:grpSp>
        <p:grpSp>
          <p:nvGrpSpPr>
            <p:cNvPr id="20" name="iṣļiḍe"/>
            <p:cNvGrpSpPr/>
            <p:nvPr/>
          </p:nvGrpSpPr>
          <p:grpSpPr>
            <a:xfrm>
              <a:off x="6953" y="6396"/>
              <a:ext cx="5385" cy="3020"/>
              <a:chOff x="8616933" y="4724425"/>
              <a:chExt cx="3419136" cy="1917666"/>
            </a:xfrm>
          </p:grpSpPr>
          <p:sp>
            <p:nvSpPr>
              <p:cNvPr id="24" name="ïšḻiḋé"/>
              <p:cNvSpPr txBox="1"/>
              <p:nvPr/>
            </p:nvSpPr>
            <p:spPr>
              <a:xfrm>
                <a:off x="8750270" y="4724425"/>
                <a:ext cx="3095318" cy="49527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lIns="91440" tIns="45720" rIns="91440" bIns="45720" rtlCol="0" anchor="ctr" anchorCtr="0">
                <a:norm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2000" dirty="0">
                    <a:ln/>
                    <a:solidFill>
                      <a:schemeClr val="accent4"/>
                    </a:solidFill>
                    <a:effectLst/>
                    <a:cs typeface="+mn-ea"/>
                    <a:sym typeface="+mn-lt"/>
                  </a:rPr>
                  <a:t>Update</a:t>
                </a:r>
                <a:endParaRPr lang="en-US" altLang="zh-CN" sz="2000" b="1" dirty="0">
                  <a:ln/>
                  <a:solidFill>
                    <a:schemeClr val="accent4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5" name="ïsľïḓê"/>
              <p:cNvSpPr/>
              <p:nvPr/>
            </p:nvSpPr>
            <p:spPr bwMode="auto">
              <a:xfrm>
                <a:off x="8616933" y="5219716"/>
                <a:ext cx="3419136" cy="1422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 </a:t>
                </a:r>
                <a:r>
                  <a:rPr lang="en-US" altLang="zh-CN" sz="14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This is the critical part. At each Internal Switch Si, the tag is updated using this formula: </a:t>
                </a:r>
              </a:p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v</a:t>
                </a:r>
                <a:r>
                  <a:rPr lang="en-US" altLang="zh-CN" sz="1400" baseline="-250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new</a:t>
                </a:r>
                <a:r>
                  <a:rPr lang="en-US" altLang="zh-CN" sz="14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=(v</a:t>
                </a:r>
                <a:r>
                  <a:rPr lang="en-US" altLang="zh-CN" sz="1400" baseline="-250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old</a:t>
                </a:r>
                <a:r>
                  <a:rPr lang="en-US" altLang="zh-CN" sz="14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×M</a:t>
                </a:r>
                <a:r>
                  <a:rPr lang="en-US" altLang="zh-CN" sz="1400" baseline="-250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i</a:t>
                </a:r>
                <a:r>
                  <a:rPr lang="en-US" altLang="zh-CN" sz="14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+mn-ea"/>
                    <a:sym typeface="+mn-lt"/>
                  </a:rPr>
                  <a:t>)%p. </a:t>
                </a:r>
              </a:p>
            </p:txBody>
          </p:sp>
        </p:grpSp>
        <p:cxnSp>
          <p:nvCxnSpPr>
            <p:cNvPr id="21" name="直接连接符 20"/>
            <p:cNvCxnSpPr/>
            <p:nvPr/>
          </p:nvCxnSpPr>
          <p:spPr>
            <a:xfrm>
              <a:off x="6544" y="6786"/>
              <a:ext cx="0" cy="183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2656" y="6786"/>
              <a:ext cx="0" cy="183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199289" y="258436"/>
            <a:ext cx="4677511" cy="627100"/>
            <a:chOff x="363500" y="173190"/>
            <a:chExt cx="4677511" cy="627100"/>
          </a:xfrm>
        </p:grpSpPr>
        <p:sp>
          <p:nvSpPr>
            <p:cNvPr id="35" name="TextBox 55"/>
            <p:cNvSpPr txBox="1"/>
            <p:nvPr/>
          </p:nvSpPr>
          <p:spPr>
            <a:xfrm>
              <a:off x="1053110" y="223027"/>
              <a:ext cx="398790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Packet Processing</a:t>
              </a:r>
            </a:p>
          </p:txBody>
        </p:sp>
        <p:sp>
          <p:nvSpPr>
            <p:cNvPr id="37" name="椭圆 36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01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3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445" y="921385"/>
            <a:ext cx="9389110" cy="35032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204170" descr="7b0a2020202022776f7264617274223a2022220a7d0a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-149225" y="1055902"/>
            <a:ext cx="11822668" cy="5471568"/>
            <a:chOff x="669925" y="1100352"/>
            <a:chExt cx="11822668" cy="5471568"/>
          </a:xfrm>
        </p:grpSpPr>
        <p:sp>
          <p:nvSpPr>
            <p:cNvPr id="6" name="íSľïḋè"/>
            <p:cNvSpPr/>
            <p:nvPr>
              <p:custDataLst>
                <p:tags r:id="rId3"/>
              </p:custDataLst>
            </p:nvPr>
          </p:nvSpPr>
          <p:spPr>
            <a:xfrm>
              <a:off x="7046765" y="3496026"/>
              <a:ext cx="119995" cy="321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04" h="21600" extrusionOk="0">
                  <a:moveTo>
                    <a:pt x="196" y="0"/>
                  </a:moveTo>
                  <a:cubicBezTo>
                    <a:pt x="-994" y="2421"/>
                    <a:pt x="3376" y="4705"/>
                    <a:pt x="9380" y="4799"/>
                  </a:cubicBezTo>
                  <a:cubicBezTo>
                    <a:pt x="15701" y="4897"/>
                    <a:pt x="20606" y="2555"/>
                    <a:pt x="19428" y="0"/>
                  </a:cubicBezTo>
                  <a:lnTo>
                    <a:pt x="19428" y="21600"/>
                  </a:lnTo>
                  <a:cubicBezTo>
                    <a:pt x="20156" y="19289"/>
                    <a:pt x="15900" y="17219"/>
                    <a:pt x="10235" y="17130"/>
                  </a:cubicBezTo>
                  <a:cubicBezTo>
                    <a:pt x="4260" y="17036"/>
                    <a:pt x="-507" y="19159"/>
                    <a:pt x="196" y="21600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chemeClr val="dk1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t">
              <a:normAutofit fontScale="55000" lnSpcReduction="20000"/>
              <a:scene3d>
                <a:camera prst="obliqueBottomRight"/>
                <a:lightRig rig="glow" dir="t">
                  <a:rot lat="0" lon="0" rev="0"/>
                </a:lightRig>
              </a:scene3d>
              <a:sp3d extrusionH="39189" contourW="1306">
                <a:extrusionClr>
                  <a:srgbClr val="D72323"/>
                </a:extrusionClr>
              </a:sp3d>
            </a:bodyPr>
            <a:lstStyle/>
            <a:p>
              <a:pPr algn="ctr">
                <a:defRPr sz="3200" cap="none">
                  <a:solidFill>
                    <a:srgbClr val="FFFFFF"/>
                  </a:solidFill>
                </a:defRPr>
              </a:pPr>
              <a:endParaRPr b="1">
                <a:ln w="2613"/>
                <a:gradFill>
                  <a:gsLst>
                    <a:gs pos="100000">
                      <a:srgbClr val="F5E3A6"/>
                    </a:gs>
                    <a:gs pos="0">
                      <a:srgbClr val="F66200"/>
                    </a:gs>
                  </a:gsLst>
                  <a:lin ang="16140000" scaled="0"/>
                </a:gradFill>
                <a:effectLst>
                  <a:outerShdw blurRad="2613" dist="50800" dir="2700000" algn="tl" rotWithShape="0">
                    <a:srgbClr val="E46E57">
                      <a:alpha val="79000"/>
                    </a:srgbClr>
                  </a:outerShdw>
                </a:effectLst>
                <a:latin typeface="汉仪铸字美心体简" panose="00020600040101010101" charset="-122"/>
                <a:ea typeface="汉仪铸字美心体简" panose="00020600040101010101" charset="-122"/>
              </a:endParaRPr>
            </a:p>
          </p:txBody>
        </p:sp>
        <p:sp>
          <p:nvSpPr>
            <p:cNvPr id="26" name="i$ḷîḋe"/>
            <p:cNvSpPr/>
            <p:nvPr>
              <p:custDataLst>
                <p:tags r:id="rId4"/>
              </p:custDataLst>
            </p:nvPr>
          </p:nvSpPr>
          <p:spPr>
            <a:xfrm>
              <a:off x="5800513" y="2951222"/>
              <a:ext cx="1248504" cy="1411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9959" y="21394"/>
                  </a:moveTo>
                  <a:lnTo>
                    <a:pt x="894" y="16867"/>
                  </a:lnTo>
                  <a:cubicBezTo>
                    <a:pt x="639" y="16746"/>
                    <a:pt x="423" y="16570"/>
                    <a:pt x="267" y="16355"/>
                  </a:cubicBezTo>
                  <a:cubicBezTo>
                    <a:pt x="112" y="16144"/>
                    <a:pt x="21" y="15901"/>
                    <a:pt x="0" y="15650"/>
                  </a:cubicBezTo>
                  <a:lnTo>
                    <a:pt x="0" y="15204"/>
                  </a:lnTo>
                  <a:lnTo>
                    <a:pt x="27" y="6397"/>
                  </a:lnTo>
                  <a:lnTo>
                    <a:pt x="27" y="5923"/>
                  </a:lnTo>
                  <a:cubicBezTo>
                    <a:pt x="85" y="5665"/>
                    <a:pt x="211" y="5422"/>
                    <a:pt x="397" y="5217"/>
                  </a:cubicBezTo>
                  <a:cubicBezTo>
                    <a:pt x="575" y="5018"/>
                    <a:pt x="804" y="4859"/>
                    <a:pt x="1063" y="4752"/>
                  </a:cubicBezTo>
                  <a:lnTo>
                    <a:pt x="10162" y="171"/>
                  </a:lnTo>
                  <a:cubicBezTo>
                    <a:pt x="10359" y="70"/>
                    <a:pt x="10581" y="12"/>
                    <a:pt x="10809" y="2"/>
                  </a:cubicBezTo>
                  <a:cubicBezTo>
                    <a:pt x="11087" y="-11"/>
                    <a:pt x="11364" y="48"/>
                    <a:pt x="11606" y="171"/>
                  </a:cubicBezTo>
                  <a:lnTo>
                    <a:pt x="20633" y="4823"/>
                  </a:lnTo>
                  <a:cubicBezTo>
                    <a:pt x="20937" y="4962"/>
                    <a:pt x="21189" y="5176"/>
                    <a:pt x="21361" y="5438"/>
                  </a:cubicBezTo>
                  <a:cubicBezTo>
                    <a:pt x="21505" y="5658"/>
                    <a:pt x="21587" y="5906"/>
                    <a:pt x="21600" y="6161"/>
                  </a:cubicBezTo>
                  <a:lnTo>
                    <a:pt x="21600" y="15566"/>
                  </a:lnTo>
                  <a:cubicBezTo>
                    <a:pt x="21586" y="15801"/>
                    <a:pt x="21504" y="16029"/>
                    <a:pt x="21364" y="16228"/>
                  </a:cubicBezTo>
                  <a:cubicBezTo>
                    <a:pt x="21201" y="16460"/>
                    <a:pt x="20966" y="16645"/>
                    <a:pt x="20686" y="16760"/>
                  </a:cubicBezTo>
                  <a:lnTo>
                    <a:pt x="11713" y="21383"/>
                  </a:lnTo>
                  <a:cubicBezTo>
                    <a:pt x="11433" y="21519"/>
                    <a:pt x="11119" y="21589"/>
                    <a:pt x="10800" y="21585"/>
                  </a:cubicBezTo>
                  <a:cubicBezTo>
                    <a:pt x="10506" y="21582"/>
                    <a:pt x="10218" y="21516"/>
                    <a:pt x="9959" y="21394"/>
                  </a:cubicBezTo>
                  <a:close/>
                </a:path>
              </a:pathLst>
            </a:custGeom>
            <a:solidFill>
              <a:schemeClr val="dk1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/>
            <a:p>
              <a:pPr algn="ctr">
                <a:defRPr sz="3200" cap="none">
                  <a:solidFill>
                    <a:srgbClr val="000000"/>
                  </a:solidFill>
                </a:defRPr>
              </a:pPr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iṩliḓê"/>
            <p:cNvSpPr/>
            <p:nvPr>
              <p:custDataLst>
                <p:tags r:id="rId5"/>
              </p:custDataLst>
            </p:nvPr>
          </p:nvSpPr>
          <p:spPr>
            <a:xfrm>
              <a:off x="7163510" y="2951222"/>
              <a:ext cx="1248504" cy="1411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9959" y="21394"/>
                  </a:moveTo>
                  <a:lnTo>
                    <a:pt x="894" y="16867"/>
                  </a:lnTo>
                  <a:cubicBezTo>
                    <a:pt x="639" y="16746"/>
                    <a:pt x="423" y="16570"/>
                    <a:pt x="267" y="16355"/>
                  </a:cubicBezTo>
                  <a:cubicBezTo>
                    <a:pt x="112" y="16144"/>
                    <a:pt x="21" y="15901"/>
                    <a:pt x="0" y="15650"/>
                  </a:cubicBezTo>
                  <a:lnTo>
                    <a:pt x="0" y="15204"/>
                  </a:lnTo>
                  <a:lnTo>
                    <a:pt x="27" y="6397"/>
                  </a:lnTo>
                  <a:lnTo>
                    <a:pt x="27" y="5923"/>
                  </a:lnTo>
                  <a:cubicBezTo>
                    <a:pt x="85" y="5665"/>
                    <a:pt x="211" y="5422"/>
                    <a:pt x="397" y="5217"/>
                  </a:cubicBezTo>
                  <a:cubicBezTo>
                    <a:pt x="575" y="5018"/>
                    <a:pt x="804" y="4859"/>
                    <a:pt x="1063" y="4752"/>
                  </a:cubicBezTo>
                  <a:lnTo>
                    <a:pt x="10162" y="171"/>
                  </a:lnTo>
                  <a:cubicBezTo>
                    <a:pt x="10359" y="70"/>
                    <a:pt x="10581" y="12"/>
                    <a:pt x="10809" y="2"/>
                  </a:cubicBezTo>
                  <a:cubicBezTo>
                    <a:pt x="11087" y="-11"/>
                    <a:pt x="11364" y="48"/>
                    <a:pt x="11606" y="171"/>
                  </a:cubicBezTo>
                  <a:lnTo>
                    <a:pt x="20633" y="4823"/>
                  </a:lnTo>
                  <a:cubicBezTo>
                    <a:pt x="20937" y="4962"/>
                    <a:pt x="21189" y="5176"/>
                    <a:pt x="21361" y="5438"/>
                  </a:cubicBezTo>
                  <a:cubicBezTo>
                    <a:pt x="21505" y="5658"/>
                    <a:pt x="21587" y="5906"/>
                    <a:pt x="21600" y="6161"/>
                  </a:cubicBezTo>
                  <a:lnTo>
                    <a:pt x="21600" y="15566"/>
                  </a:lnTo>
                  <a:cubicBezTo>
                    <a:pt x="21586" y="15801"/>
                    <a:pt x="21504" y="16029"/>
                    <a:pt x="21364" y="16228"/>
                  </a:cubicBezTo>
                  <a:cubicBezTo>
                    <a:pt x="21201" y="16460"/>
                    <a:pt x="20966" y="16645"/>
                    <a:pt x="20686" y="16760"/>
                  </a:cubicBezTo>
                  <a:lnTo>
                    <a:pt x="11713" y="21383"/>
                  </a:lnTo>
                  <a:cubicBezTo>
                    <a:pt x="11433" y="21519"/>
                    <a:pt x="11119" y="21589"/>
                    <a:pt x="10800" y="21585"/>
                  </a:cubicBezTo>
                  <a:cubicBezTo>
                    <a:pt x="10506" y="21582"/>
                    <a:pt x="10218" y="21516"/>
                    <a:pt x="9959" y="21394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sym typeface="+mn-ea"/>
                </a:rPr>
                <a:t>Bloom Filter</a:t>
              </a:r>
            </a:p>
          </p:txBody>
        </p:sp>
        <p:sp>
          <p:nvSpPr>
            <p:cNvPr id="9" name="îṡlíḑè"/>
            <p:cNvSpPr/>
            <p:nvPr>
              <p:custDataLst>
                <p:tags r:id="rId6"/>
              </p:custDataLst>
            </p:nvPr>
          </p:nvSpPr>
          <p:spPr>
            <a:xfrm>
              <a:off x="5026237" y="4622291"/>
              <a:ext cx="119995" cy="321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04" h="21600" extrusionOk="0">
                  <a:moveTo>
                    <a:pt x="196" y="0"/>
                  </a:moveTo>
                  <a:cubicBezTo>
                    <a:pt x="-994" y="2421"/>
                    <a:pt x="3376" y="4705"/>
                    <a:pt x="9380" y="4799"/>
                  </a:cubicBezTo>
                  <a:cubicBezTo>
                    <a:pt x="15701" y="4897"/>
                    <a:pt x="20606" y="2555"/>
                    <a:pt x="19428" y="0"/>
                  </a:cubicBezTo>
                  <a:lnTo>
                    <a:pt x="19428" y="21600"/>
                  </a:lnTo>
                  <a:cubicBezTo>
                    <a:pt x="20156" y="19289"/>
                    <a:pt x="15900" y="17219"/>
                    <a:pt x="10235" y="17130"/>
                  </a:cubicBezTo>
                  <a:cubicBezTo>
                    <a:pt x="4260" y="17036"/>
                    <a:pt x="-507" y="19159"/>
                    <a:pt x="196" y="21600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55000" lnSpcReduction="20000"/>
            </a:bodyPr>
            <a:lstStyle/>
            <a:p>
              <a:pPr algn="ctr">
                <a:defRPr sz="3200" cap="none">
                  <a:solidFill>
                    <a:srgbClr val="FFFFFF"/>
                  </a:solidFill>
                </a:defRPr>
              </a:pPr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íṣľîḑè"/>
            <p:cNvSpPr/>
            <p:nvPr>
              <p:custDataLst>
                <p:tags r:id="rId7"/>
              </p:custDataLst>
            </p:nvPr>
          </p:nvSpPr>
          <p:spPr>
            <a:xfrm>
              <a:off x="5142982" y="4077486"/>
              <a:ext cx="1248504" cy="1411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9959" y="21394"/>
                  </a:moveTo>
                  <a:lnTo>
                    <a:pt x="894" y="16867"/>
                  </a:lnTo>
                  <a:cubicBezTo>
                    <a:pt x="639" y="16746"/>
                    <a:pt x="423" y="16570"/>
                    <a:pt x="267" y="16355"/>
                  </a:cubicBezTo>
                  <a:cubicBezTo>
                    <a:pt x="112" y="16144"/>
                    <a:pt x="21" y="15901"/>
                    <a:pt x="0" y="15650"/>
                  </a:cubicBezTo>
                  <a:lnTo>
                    <a:pt x="0" y="15204"/>
                  </a:lnTo>
                  <a:lnTo>
                    <a:pt x="27" y="6397"/>
                  </a:lnTo>
                  <a:lnTo>
                    <a:pt x="27" y="5923"/>
                  </a:lnTo>
                  <a:cubicBezTo>
                    <a:pt x="85" y="5665"/>
                    <a:pt x="211" y="5422"/>
                    <a:pt x="397" y="5217"/>
                  </a:cubicBezTo>
                  <a:cubicBezTo>
                    <a:pt x="575" y="5018"/>
                    <a:pt x="804" y="4859"/>
                    <a:pt x="1063" y="4752"/>
                  </a:cubicBezTo>
                  <a:lnTo>
                    <a:pt x="10162" y="171"/>
                  </a:lnTo>
                  <a:cubicBezTo>
                    <a:pt x="10359" y="70"/>
                    <a:pt x="10581" y="12"/>
                    <a:pt x="10809" y="2"/>
                  </a:cubicBezTo>
                  <a:cubicBezTo>
                    <a:pt x="11087" y="-11"/>
                    <a:pt x="11364" y="48"/>
                    <a:pt x="11606" y="171"/>
                  </a:cubicBezTo>
                  <a:lnTo>
                    <a:pt x="20633" y="4823"/>
                  </a:lnTo>
                  <a:cubicBezTo>
                    <a:pt x="20937" y="4962"/>
                    <a:pt x="21189" y="5176"/>
                    <a:pt x="21361" y="5438"/>
                  </a:cubicBezTo>
                  <a:cubicBezTo>
                    <a:pt x="21505" y="5658"/>
                    <a:pt x="21587" y="5906"/>
                    <a:pt x="21600" y="6161"/>
                  </a:cubicBezTo>
                  <a:lnTo>
                    <a:pt x="21600" y="15566"/>
                  </a:lnTo>
                  <a:cubicBezTo>
                    <a:pt x="21586" y="15801"/>
                    <a:pt x="21504" y="16029"/>
                    <a:pt x="21364" y="16228"/>
                  </a:cubicBezTo>
                  <a:cubicBezTo>
                    <a:pt x="21201" y="16460"/>
                    <a:pt x="20966" y="16645"/>
                    <a:pt x="20686" y="16760"/>
                  </a:cubicBezTo>
                  <a:lnTo>
                    <a:pt x="11713" y="21383"/>
                  </a:lnTo>
                  <a:cubicBezTo>
                    <a:pt x="11433" y="21519"/>
                    <a:pt x="11119" y="21589"/>
                    <a:pt x="10800" y="21585"/>
                  </a:cubicBezTo>
                  <a:cubicBezTo>
                    <a:pt x="10506" y="21582"/>
                    <a:pt x="10218" y="21516"/>
                    <a:pt x="9959" y="21394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/>
            <a:p>
              <a:pPr algn="ctr">
                <a:defRPr sz="3200" cap="none">
                  <a:solidFill>
                    <a:srgbClr val="000000"/>
                  </a:solidFill>
                </a:defRPr>
              </a:pPr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î$ľïḓê"/>
            <p:cNvSpPr/>
            <p:nvPr>
              <p:custDataLst>
                <p:tags r:id="rId8"/>
              </p:custDataLst>
            </p:nvPr>
          </p:nvSpPr>
          <p:spPr>
            <a:xfrm>
              <a:off x="3779986" y="4077486"/>
              <a:ext cx="1248504" cy="1411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9959" y="21394"/>
                  </a:moveTo>
                  <a:lnTo>
                    <a:pt x="894" y="16867"/>
                  </a:lnTo>
                  <a:cubicBezTo>
                    <a:pt x="639" y="16746"/>
                    <a:pt x="423" y="16570"/>
                    <a:pt x="267" y="16355"/>
                  </a:cubicBezTo>
                  <a:cubicBezTo>
                    <a:pt x="112" y="16144"/>
                    <a:pt x="21" y="15901"/>
                    <a:pt x="0" y="15650"/>
                  </a:cubicBezTo>
                  <a:lnTo>
                    <a:pt x="0" y="15204"/>
                  </a:lnTo>
                  <a:lnTo>
                    <a:pt x="27" y="6397"/>
                  </a:lnTo>
                  <a:lnTo>
                    <a:pt x="27" y="5923"/>
                  </a:lnTo>
                  <a:cubicBezTo>
                    <a:pt x="85" y="5665"/>
                    <a:pt x="211" y="5422"/>
                    <a:pt x="397" y="5217"/>
                  </a:cubicBezTo>
                  <a:cubicBezTo>
                    <a:pt x="575" y="5018"/>
                    <a:pt x="804" y="4859"/>
                    <a:pt x="1063" y="4752"/>
                  </a:cubicBezTo>
                  <a:lnTo>
                    <a:pt x="10162" y="171"/>
                  </a:lnTo>
                  <a:cubicBezTo>
                    <a:pt x="10359" y="70"/>
                    <a:pt x="10581" y="12"/>
                    <a:pt x="10809" y="2"/>
                  </a:cubicBezTo>
                  <a:cubicBezTo>
                    <a:pt x="11087" y="-11"/>
                    <a:pt x="11364" y="48"/>
                    <a:pt x="11606" y="171"/>
                  </a:cubicBezTo>
                  <a:lnTo>
                    <a:pt x="20633" y="4823"/>
                  </a:lnTo>
                  <a:cubicBezTo>
                    <a:pt x="20937" y="4962"/>
                    <a:pt x="21189" y="5176"/>
                    <a:pt x="21361" y="5438"/>
                  </a:cubicBezTo>
                  <a:cubicBezTo>
                    <a:pt x="21505" y="5658"/>
                    <a:pt x="21587" y="5906"/>
                    <a:pt x="21600" y="6161"/>
                  </a:cubicBezTo>
                  <a:lnTo>
                    <a:pt x="21600" y="15566"/>
                  </a:lnTo>
                  <a:cubicBezTo>
                    <a:pt x="21586" y="15801"/>
                    <a:pt x="21504" y="16029"/>
                    <a:pt x="21364" y="16228"/>
                  </a:cubicBezTo>
                  <a:cubicBezTo>
                    <a:pt x="21201" y="16460"/>
                    <a:pt x="20966" y="16645"/>
                    <a:pt x="20686" y="16760"/>
                  </a:cubicBezTo>
                  <a:lnTo>
                    <a:pt x="11713" y="21383"/>
                  </a:lnTo>
                  <a:cubicBezTo>
                    <a:pt x="11433" y="21519"/>
                    <a:pt x="11119" y="21589"/>
                    <a:pt x="10800" y="21585"/>
                  </a:cubicBezTo>
                  <a:cubicBezTo>
                    <a:pt x="10506" y="21582"/>
                    <a:pt x="10218" y="21516"/>
                    <a:pt x="9959" y="21394"/>
                  </a:cubicBezTo>
                  <a:close/>
                </a:path>
              </a:pathLst>
            </a:custGeom>
            <a:solidFill>
              <a:schemeClr val="dk1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sym typeface="+mn-ea"/>
                </a:rPr>
                <a:t>Vector Update</a:t>
              </a:r>
            </a:p>
          </p:txBody>
        </p:sp>
        <p:sp>
          <p:nvSpPr>
            <p:cNvPr id="13" name="ïṥlîdè"/>
            <p:cNvSpPr/>
            <p:nvPr>
              <p:custDataLst>
                <p:tags r:id="rId9"/>
              </p:custDataLst>
            </p:nvPr>
          </p:nvSpPr>
          <p:spPr>
            <a:xfrm>
              <a:off x="5026239" y="2369763"/>
              <a:ext cx="119995" cy="321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04" h="21600" extrusionOk="0">
                  <a:moveTo>
                    <a:pt x="196" y="0"/>
                  </a:moveTo>
                  <a:cubicBezTo>
                    <a:pt x="-994" y="2421"/>
                    <a:pt x="3376" y="4705"/>
                    <a:pt x="9380" y="4799"/>
                  </a:cubicBezTo>
                  <a:cubicBezTo>
                    <a:pt x="15701" y="4897"/>
                    <a:pt x="20606" y="2555"/>
                    <a:pt x="19428" y="0"/>
                  </a:cubicBezTo>
                  <a:lnTo>
                    <a:pt x="19428" y="21600"/>
                  </a:lnTo>
                  <a:cubicBezTo>
                    <a:pt x="20156" y="19289"/>
                    <a:pt x="15900" y="17219"/>
                    <a:pt x="10235" y="17130"/>
                  </a:cubicBezTo>
                  <a:cubicBezTo>
                    <a:pt x="4260" y="17036"/>
                    <a:pt x="-507" y="19159"/>
                    <a:pt x="196" y="21600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 fontScale="55000" lnSpcReduction="20000"/>
            </a:bodyPr>
            <a:lstStyle/>
            <a:p>
              <a:pPr algn="ctr">
                <a:defRPr sz="3200" cap="none">
                  <a:solidFill>
                    <a:srgbClr val="FFFFFF"/>
                  </a:solidFill>
                </a:defRPr>
              </a:pPr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i$líḋê"/>
            <p:cNvSpPr/>
            <p:nvPr>
              <p:custDataLst>
                <p:tags r:id="rId10"/>
              </p:custDataLst>
            </p:nvPr>
          </p:nvSpPr>
          <p:spPr>
            <a:xfrm>
              <a:off x="3711569" y="1824958"/>
              <a:ext cx="1314281" cy="1411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9959" y="21394"/>
                  </a:moveTo>
                  <a:lnTo>
                    <a:pt x="894" y="16867"/>
                  </a:lnTo>
                  <a:cubicBezTo>
                    <a:pt x="639" y="16746"/>
                    <a:pt x="423" y="16570"/>
                    <a:pt x="267" y="16355"/>
                  </a:cubicBezTo>
                  <a:cubicBezTo>
                    <a:pt x="112" y="16144"/>
                    <a:pt x="21" y="15901"/>
                    <a:pt x="0" y="15650"/>
                  </a:cubicBezTo>
                  <a:lnTo>
                    <a:pt x="0" y="15204"/>
                  </a:lnTo>
                  <a:lnTo>
                    <a:pt x="27" y="6397"/>
                  </a:lnTo>
                  <a:lnTo>
                    <a:pt x="27" y="5923"/>
                  </a:lnTo>
                  <a:cubicBezTo>
                    <a:pt x="85" y="5665"/>
                    <a:pt x="211" y="5422"/>
                    <a:pt x="397" y="5217"/>
                  </a:cubicBezTo>
                  <a:cubicBezTo>
                    <a:pt x="575" y="5018"/>
                    <a:pt x="804" y="4859"/>
                    <a:pt x="1063" y="4752"/>
                  </a:cubicBezTo>
                  <a:lnTo>
                    <a:pt x="10162" y="171"/>
                  </a:lnTo>
                  <a:cubicBezTo>
                    <a:pt x="10359" y="70"/>
                    <a:pt x="10581" y="12"/>
                    <a:pt x="10809" y="2"/>
                  </a:cubicBezTo>
                  <a:cubicBezTo>
                    <a:pt x="11087" y="-11"/>
                    <a:pt x="11364" y="48"/>
                    <a:pt x="11606" y="171"/>
                  </a:cubicBezTo>
                  <a:lnTo>
                    <a:pt x="20633" y="4823"/>
                  </a:lnTo>
                  <a:cubicBezTo>
                    <a:pt x="20937" y="4962"/>
                    <a:pt x="21189" y="5176"/>
                    <a:pt x="21361" y="5438"/>
                  </a:cubicBezTo>
                  <a:cubicBezTo>
                    <a:pt x="21505" y="5658"/>
                    <a:pt x="21587" y="5906"/>
                    <a:pt x="21600" y="6161"/>
                  </a:cubicBezTo>
                  <a:lnTo>
                    <a:pt x="21600" y="15566"/>
                  </a:lnTo>
                  <a:cubicBezTo>
                    <a:pt x="21586" y="15801"/>
                    <a:pt x="21504" y="16029"/>
                    <a:pt x="21364" y="16228"/>
                  </a:cubicBezTo>
                  <a:cubicBezTo>
                    <a:pt x="21201" y="16460"/>
                    <a:pt x="20966" y="16645"/>
                    <a:pt x="20686" y="16760"/>
                  </a:cubicBezTo>
                  <a:lnTo>
                    <a:pt x="11713" y="21383"/>
                  </a:lnTo>
                  <a:cubicBezTo>
                    <a:pt x="11433" y="21519"/>
                    <a:pt x="11119" y="21589"/>
                    <a:pt x="10800" y="21585"/>
                  </a:cubicBezTo>
                  <a:cubicBezTo>
                    <a:pt x="10506" y="21582"/>
                    <a:pt x="10218" y="21516"/>
                    <a:pt x="9959" y="21394"/>
                  </a:cubicBezTo>
                  <a:close/>
                </a:path>
              </a:pathLst>
            </a:custGeom>
            <a:solidFill>
              <a:schemeClr val="dk1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sym typeface="+mn-ea"/>
                </a:rPr>
                <a:t>Modulus Update</a:t>
              </a:r>
            </a:p>
          </p:txBody>
        </p:sp>
        <p:sp>
          <p:nvSpPr>
            <p:cNvPr id="15" name="iŝļíḋé"/>
            <p:cNvSpPr/>
            <p:nvPr>
              <p:custDataLst>
                <p:tags r:id="rId11"/>
              </p:custDataLst>
            </p:nvPr>
          </p:nvSpPr>
          <p:spPr>
            <a:xfrm>
              <a:off x="5142983" y="1824958"/>
              <a:ext cx="1248505" cy="1411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9959" y="21394"/>
                  </a:moveTo>
                  <a:lnTo>
                    <a:pt x="894" y="16867"/>
                  </a:lnTo>
                  <a:cubicBezTo>
                    <a:pt x="639" y="16746"/>
                    <a:pt x="423" y="16570"/>
                    <a:pt x="267" y="16355"/>
                  </a:cubicBezTo>
                  <a:cubicBezTo>
                    <a:pt x="112" y="16144"/>
                    <a:pt x="21" y="15901"/>
                    <a:pt x="0" y="15650"/>
                  </a:cubicBezTo>
                  <a:lnTo>
                    <a:pt x="0" y="15204"/>
                  </a:lnTo>
                  <a:lnTo>
                    <a:pt x="27" y="6397"/>
                  </a:lnTo>
                  <a:lnTo>
                    <a:pt x="27" y="5923"/>
                  </a:lnTo>
                  <a:cubicBezTo>
                    <a:pt x="85" y="5665"/>
                    <a:pt x="211" y="5422"/>
                    <a:pt x="397" y="5217"/>
                  </a:cubicBezTo>
                  <a:cubicBezTo>
                    <a:pt x="575" y="5018"/>
                    <a:pt x="804" y="4859"/>
                    <a:pt x="1063" y="4752"/>
                  </a:cubicBezTo>
                  <a:lnTo>
                    <a:pt x="10162" y="171"/>
                  </a:lnTo>
                  <a:cubicBezTo>
                    <a:pt x="10359" y="70"/>
                    <a:pt x="10581" y="12"/>
                    <a:pt x="10809" y="2"/>
                  </a:cubicBezTo>
                  <a:cubicBezTo>
                    <a:pt x="11087" y="-11"/>
                    <a:pt x="11364" y="48"/>
                    <a:pt x="11606" y="171"/>
                  </a:cubicBezTo>
                  <a:lnTo>
                    <a:pt x="20633" y="4823"/>
                  </a:lnTo>
                  <a:cubicBezTo>
                    <a:pt x="20937" y="4962"/>
                    <a:pt x="21189" y="5176"/>
                    <a:pt x="21361" y="5438"/>
                  </a:cubicBezTo>
                  <a:cubicBezTo>
                    <a:pt x="21505" y="5658"/>
                    <a:pt x="21587" y="5906"/>
                    <a:pt x="21600" y="6161"/>
                  </a:cubicBezTo>
                  <a:lnTo>
                    <a:pt x="21600" y="15566"/>
                  </a:lnTo>
                  <a:cubicBezTo>
                    <a:pt x="21586" y="15801"/>
                    <a:pt x="21504" y="16029"/>
                    <a:pt x="21364" y="16228"/>
                  </a:cubicBezTo>
                  <a:cubicBezTo>
                    <a:pt x="21201" y="16460"/>
                    <a:pt x="20966" y="16645"/>
                    <a:pt x="20686" y="16760"/>
                  </a:cubicBezTo>
                  <a:lnTo>
                    <a:pt x="11713" y="21383"/>
                  </a:lnTo>
                  <a:cubicBezTo>
                    <a:pt x="11433" y="21519"/>
                    <a:pt x="11119" y="21589"/>
                    <a:pt x="10800" y="21585"/>
                  </a:cubicBezTo>
                  <a:cubicBezTo>
                    <a:pt x="10506" y="21582"/>
                    <a:pt x="10218" y="21516"/>
                    <a:pt x="9959" y="21394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/>
            <a:p>
              <a:pPr algn="ctr">
                <a:defRPr sz="3200" cap="none">
                  <a:solidFill>
                    <a:srgbClr val="000000"/>
                  </a:solidFill>
                </a:defRPr>
              </a:pPr>
              <a:endParaRPr lang="en-US" altLang="zh-C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îS1ïḓé"/>
            <p:cNvSpPr/>
            <p:nvPr>
              <p:custDataLst>
                <p:tags r:id="rId12"/>
              </p:custDataLst>
            </p:nvPr>
          </p:nvSpPr>
          <p:spPr bwMode="auto">
            <a:xfrm>
              <a:off x="6283326" y="1100352"/>
              <a:ext cx="6209267" cy="51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The switch multiplies the current modulus</a:t>
              </a:r>
              <a:r>
                <a:rPr lang="" altLang="en-US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 </a:t>
              </a:r>
              <a:r>
                <a:rPr lang="en-US" altLang="zh-CN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p</a:t>
              </a:r>
              <a:r>
                <a:rPr lang="" altLang="en-US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 </a:t>
              </a:r>
              <a:r>
                <a:rPr lang="en-US" altLang="zh-CN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by its own matrix determinant.</a:t>
              </a:r>
              <a:r>
                <a:rPr lang="" altLang="en-US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 </a:t>
              </a:r>
              <a:r>
                <a:rPr lang="en-US" altLang="zh-CN" sz="1400" dirty="0" err="1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pnew</a:t>
              </a:r>
              <a:r>
                <a:rPr lang="en-US" altLang="zh-CN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=p*det(M). This causes the modulus to grow hop-by-hop.</a:t>
              </a:r>
            </a:p>
            <a:p>
              <a:pPr algn="just">
                <a:lnSpc>
                  <a:spcPct val="150000"/>
                </a:lnSpc>
              </a:pPr>
              <a:endParaRPr lang="en-US" altLang="zh-CN" sz="1400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22" name="iṧļiḑè"/>
            <p:cNvSpPr/>
            <p:nvPr>
              <p:custDataLst>
                <p:tags r:id="rId13"/>
              </p:custDataLst>
            </p:nvPr>
          </p:nvSpPr>
          <p:spPr bwMode="auto">
            <a:xfrm>
              <a:off x="6391273" y="5489764"/>
              <a:ext cx="5606515" cy="1082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7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buClrTx/>
                <a:buSzTx/>
                <a:buFontTx/>
              </a:pPr>
              <a:r>
                <a:rPr lang="en-US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</a:t>
              </a:r>
              <a:r>
                <a:rPr lang="en-US" altLang="zh-CN" sz="16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sym typeface="+mn-lt"/>
                </a:rPr>
                <a:t>The vector is multiplied by the switch Matrix M, and then modulo is applied using the newly updated modulus</a:t>
              </a:r>
              <a:r>
                <a:rPr lang="en-US" altLang="zh-CN" sz="140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.</a:t>
              </a:r>
            </a:p>
          </p:txBody>
        </p:sp>
        <p:grpSp>
          <p:nvGrpSpPr>
            <p:cNvPr id="19" name="is1íďé"/>
            <p:cNvGrpSpPr/>
            <p:nvPr/>
          </p:nvGrpSpPr>
          <p:grpSpPr>
            <a:xfrm>
              <a:off x="669925" y="3097586"/>
              <a:ext cx="3832194" cy="921389"/>
              <a:chOff x="669925" y="3164398"/>
              <a:chExt cx="3832194" cy="921389"/>
            </a:xfrm>
          </p:grpSpPr>
          <p:sp>
            <p:nvSpPr>
              <p:cNvPr id="20" name="ïsḻïḋè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1273175" y="3361496"/>
                <a:ext cx="3228944" cy="724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buClrTx/>
                  <a:buSzTx/>
                  <a:buNone/>
                </a:pPr>
                <a:r>
                  <a:rPr lang="en-US" altLang="zh-CN" sz="1400" dirty="0">
                    <a:gradFill>
                      <a:gsLst>
                        <a:gs pos="50410">
                          <a:srgbClr val="1F1F1F"/>
                        </a:gs>
                        <a:gs pos="0">
                          <a:srgbClr val="020202"/>
                        </a:gs>
                        <a:gs pos="100000">
                          <a:srgbClr val="424242"/>
                        </a:gs>
                      </a:gsLst>
                      <a:lin ang="5400000" scaled="1"/>
                    </a:gradFill>
                    <a:sym typeface="+mn-lt"/>
                  </a:rPr>
                  <a:t>The switch ORs its ID into the filter to record its presence.</a:t>
                </a:r>
              </a:p>
            </p:txBody>
          </p:sp>
          <p:sp>
            <p:nvSpPr>
              <p:cNvPr id="21" name="íṩľïde"/>
              <p:cNvSpPr txBox="1"/>
              <p:nvPr>
                <p:custDataLst>
                  <p:tags r:id="rId15"/>
                </p:custDataLst>
              </p:nvPr>
            </p:nvSpPr>
            <p:spPr bwMode="auto">
              <a:xfrm>
                <a:off x="669925" y="3164398"/>
                <a:ext cx="3228944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99289" y="258436"/>
            <a:ext cx="4355770" cy="627100"/>
            <a:chOff x="363500" y="173190"/>
            <a:chExt cx="4355770" cy="627100"/>
          </a:xfrm>
        </p:grpSpPr>
        <p:sp>
          <p:nvSpPr>
            <p:cNvPr id="30" name="TextBox 55"/>
            <p:cNvSpPr txBox="1"/>
            <p:nvPr/>
          </p:nvSpPr>
          <p:spPr>
            <a:xfrm>
              <a:off x="1053110" y="223027"/>
              <a:ext cx="3666160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Packet Processing</a:t>
              </a:r>
            </a:p>
          </p:txBody>
        </p:sp>
        <p:sp>
          <p:nvSpPr>
            <p:cNvPr id="32" name="椭圆 31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04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40675" y="2452370"/>
            <a:ext cx="3823970" cy="23209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62" name="TextBox 55"/>
            <p:cNvSpPr txBox="1"/>
            <p:nvPr/>
          </p:nvSpPr>
          <p:spPr>
            <a:xfrm>
              <a:off x="1053110" y="270652"/>
              <a:ext cx="2524861" cy="436245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Verification</a:t>
              </a:r>
            </a:p>
          </p:txBody>
        </p:sp>
        <p:sp>
          <p:nvSpPr>
            <p:cNvPr id="66" name="椭圆 6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01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10" y="860425"/>
            <a:ext cx="5809615" cy="4953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1300" y="1539875"/>
            <a:ext cx="6298565" cy="3339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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Controller:</a:t>
            </a:r>
            <a:r>
              <a:rPr lang="" altLang="en-US" dirty="0">
                <a:solidFill>
                  <a:schemeClr val="tx1">
                    <a:lumMod val="75000"/>
                  </a:schemeClr>
                </a:solidFill>
              </a:rPr>
              <a:t> </a:t>
            </a:r>
            <a:endParaRPr lang="" altLang="en-US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Contains global topology &amp; path expectations.</a:t>
            </a:r>
          </a:p>
          <a:p>
            <a:endParaRPr lang="en-US" altLang="zh-CN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endParaRPr lang="en-US" altLang="zh-CN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endParaRPr lang="en-US" altLang="zh-CN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r>
              <a:rPr lang="en-US" altLang="en-US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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Process:</a:t>
            </a:r>
            <a:endParaRPr lang="en-US" altLang="zh-CN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1.Look up Expected Path for Flow</a:t>
            </a:r>
            <a:r>
              <a:rPr lang="" altLang="en-US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 </a:t>
            </a:r>
            <a:r>
              <a:rPr lang="en-US" altLang="zh-CN" i="1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F</a:t>
            </a:r>
            <a:endParaRPr lang="en-US" altLang="zh-CN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</a:endParaRPr>
          </a:p>
          <a:p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2.Compute</a:t>
            </a:r>
            <a:r>
              <a:rPr lang="" altLang="en-US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 </a:t>
            </a:r>
            <a:r>
              <a:rPr lang="en-US" altLang="zh-CN" i="1" dirty="0" err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Tag</a:t>
            </a:r>
            <a:r>
              <a:rPr lang="en-US" altLang="zh-CN" i="1" baseline="-25000" dirty="0" err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correct</a:t>
            </a:r>
            <a:r>
              <a:rPr lang="" altLang="en-US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 </a:t>
            </a:r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using matrices of expected switches.</a:t>
            </a:r>
          </a:p>
          <a:p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3.Receive</a:t>
            </a:r>
            <a:r>
              <a:rPr lang="" altLang="en-US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 </a:t>
            </a:r>
            <a:r>
              <a:rPr lang="en-US" altLang="zh-CN" i="1" dirty="0" err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Tag</a:t>
            </a:r>
            <a:r>
              <a:rPr lang="en-US" altLang="zh-CN" i="1" baseline="-25000" dirty="0" err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reported</a:t>
            </a:r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 from Exit Switch.</a:t>
            </a:r>
          </a:p>
          <a:p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4.Compare:</a:t>
            </a:r>
            <a:r>
              <a:rPr lang="" altLang="en-US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 </a:t>
            </a:r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if </a:t>
            </a:r>
            <a:r>
              <a:rPr lang="en-US" altLang="zh-CN" i="1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(</a:t>
            </a:r>
            <a:r>
              <a:rPr lang="en-US" altLang="zh-CN" i="1" dirty="0" err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Tag_rep</a:t>
            </a:r>
            <a:r>
              <a:rPr lang="en-US" altLang="zh-CN" i="1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 == </a:t>
            </a:r>
            <a:r>
              <a:rPr lang="en-US" altLang="zh-CN" i="1" dirty="0" err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Tag_corr</a:t>
            </a:r>
            <a:r>
              <a:rPr lang="en-US" altLang="zh-CN" i="1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)</a:t>
            </a:r>
            <a:r>
              <a:rPr lang="en-US" altLang="zh-CN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</a:rPr>
              <a:t> return Consistent;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62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Localization</a:t>
              </a:r>
            </a:p>
          </p:txBody>
        </p:sp>
        <p:sp>
          <p:nvSpPr>
            <p:cNvPr id="66" name="椭圆 6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03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10" y="860425"/>
            <a:ext cx="5809615" cy="495300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733409" y="1533207"/>
            <a:ext cx="4741338" cy="3789045"/>
            <a:chOff x="1780" y="2126"/>
            <a:chExt cx="5805" cy="5967"/>
          </a:xfrm>
        </p:grpSpPr>
        <p:sp>
          <p:nvSpPr>
            <p:cNvPr id="44" name="文本框 43"/>
            <p:cNvSpPr txBox="1"/>
            <p:nvPr/>
          </p:nvSpPr>
          <p:spPr>
            <a:xfrm>
              <a:off x="1780" y="2126"/>
              <a:ext cx="5345" cy="1111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Visual</a:t>
              </a:r>
            </a:p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zh-CN" sz="1400" kern="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latin typeface="思源黑体"/>
                  <a:ea typeface="思源黑体 CN Normal" panose="020B0400000000000000" pitchFamily="34" charset="-122"/>
                </a:rPr>
                <a:t>A tree structure rooted at the Exit Switch.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780" y="5370"/>
              <a:ext cx="5805" cy="110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l" defTabSz="914400">
                <a:lnSpc>
                  <a:spcPct val="150000"/>
                </a:lnSpc>
                <a:spcAft>
                  <a:spcPts val="0"/>
                </a:spcAft>
                <a:buClrTx/>
                <a:buSzTx/>
                <a:buNone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sym typeface="思源黑体 CN Bold" panose="020B0800000000000000" pitchFamily="34" charset="-122"/>
                </a:rPr>
                <a:t>Core Idea</a:t>
              </a:r>
            </a:p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zh-CN" sz="1400" kern="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latin typeface="+mn-lt"/>
                  <a:ea typeface="思源黑体" panose="020B0500000000000000"/>
                </a:rPr>
                <a:t>Use Inverse Matrix (M−1) to "undo" the multiplication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80" y="6990"/>
              <a:ext cx="5345" cy="110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l" defTabSz="914400">
                <a:lnSpc>
                  <a:spcPct val="150000"/>
                </a:lnSpc>
                <a:spcAft>
                  <a:spcPts val="0"/>
                </a:spcAft>
                <a:buClrTx/>
                <a:buSzTx/>
                <a:buNone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Stop Condition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思源黑体 CN Bold" panose="020B0800000000000000" pitchFamily="34" charset="-122"/>
              </a:endParaRPr>
            </a:p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zh-CN" sz="1400" kern="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latin typeface="+mn-lt"/>
                  <a:ea typeface="思源黑体" panose="020B0500000000000000"/>
                </a:rPr>
                <a:t>Path Length == TTL Difference</a:t>
              </a:r>
              <a:r>
                <a:rPr lang="en-US" altLang="zh-CN" sz="1200" kern="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.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780" y="3747"/>
              <a:ext cx="5345" cy="1111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l" defTabSz="914400">
                <a:lnSpc>
                  <a:spcPct val="15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sym typeface="思源黑体 CN Bold" panose="020B0800000000000000" pitchFamily="34" charset="-122"/>
                </a:rPr>
                <a:t>Goal</a:t>
              </a:r>
            </a:p>
            <a:p>
              <a:pPr marL="0" indent="0" algn="l" defTabSz="914400">
                <a:lnSpc>
                  <a:spcPct val="150000"/>
                </a:lnSpc>
                <a:spcAft>
                  <a:spcPts val="0"/>
                </a:spcAft>
                <a:buFont typeface="Wingdings" panose="05000000000000000000" pitchFamily="2" charset="2"/>
                <a:buNone/>
              </a:pPr>
              <a:r>
                <a:rPr lang="en-US" altLang="zh-CN" sz="1400" kern="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latin typeface="+mn-lt"/>
                  <a:ea typeface="思源黑体" panose="020B0500000000000000"/>
                </a:rPr>
                <a:t>Find path back to Entry Switch</a:t>
              </a:r>
              <a:r>
                <a:rPr lang="en-US" altLang="zh-CN" sz="1400" kern="0" dirty="0">
                  <a:gradFill>
                    <a:gsLst>
                      <a:gs pos="50410">
                        <a:srgbClr val="1F1F1F"/>
                      </a:gs>
                      <a:gs pos="0">
                        <a:srgbClr val="020202"/>
                      </a:gs>
                      <a:gs pos="100000">
                        <a:srgbClr val="424242"/>
                      </a:gs>
                    </a:gsLst>
                    <a:lin ang="5400000" scaled="1"/>
                  </a:gradFill>
                  <a:ea typeface="思源黑体 CN Normal" panose="020B0400000000000000" pitchFamily="34" charset="-122"/>
                </a:rPr>
                <a:t>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62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Localization</a:t>
              </a:r>
            </a:p>
          </p:txBody>
        </p:sp>
        <p:sp>
          <p:nvSpPr>
            <p:cNvPr id="66" name="椭圆 6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03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  <p:pic>
        <p:nvPicPr>
          <p:cNvPr id="530152575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6790" y="1045845"/>
            <a:ext cx="3458210" cy="549338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159987" y="2069465"/>
            <a:ext cx="5287645" cy="3023707"/>
            <a:chOff x="10601" y="3259"/>
            <a:chExt cx="8327" cy="4762"/>
          </a:xfrm>
        </p:grpSpPr>
        <p:grpSp>
          <p:nvGrpSpPr>
            <p:cNvPr id="26" name="组合 25"/>
            <p:cNvGrpSpPr/>
            <p:nvPr>
              <p:custDataLst>
                <p:tags r:id="rId1"/>
              </p:custDataLst>
            </p:nvPr>
          </p:nvGrpSpPr>
          <p:grpSpPr>
            <a:xfrm>
              <a:off x="10601" y="6099"/>
              <a:ext cx="7929" cy="1922"/>
              <a:chOff x="2221179" y="2928304"/>
              <a:chExt cx="5034915" cy="1220470"/>
            </a:xfrm>
          </p:grpSpPr>
          <p:sp>
            <p:nvSpPr>
              <p:cNvPr id="28" name="文本框 2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221179" y="2928304"/>
                <a:ext cx="503491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rPr>
                  <a:t>Check2:The Integer Property</a:t>
                </a:r>
              </a:p>
            </p:txBody>
          </p:sp>
          <p:sp>
            <p:nvSpPr>
              <p:cNvPr id="29" name="文本框 2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271979" y="3411539"/>
                <a:ext cx="4045585" cy="737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 b="1" dirty="0">
                    <a:solidFill>
                      <a:schemeClr val="bg1">
                        <a:lumMod val="50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This is the mathematical guarantee. </a:t>
                </a:r>
              </a:p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 b="1" dirty="0">
                    <a:solidFill>
                      <a:schemeClr val="bg1">
                        <a:lumMod val="50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We calculate </a:t>
                </a:r>
                <a:r>
                  <a:rPr lang="en-US" altLang="zh-CN" sz="1400" b="1" i="1" dirty="0">
                    <a:solidFill>
                      <a:schemeClr val="bg1">
                        <a:lumMod val="50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V×M</a:t>
                </a:r>
                <a:r>
                  <a:rPr lang="en-US" altLang="zh-CN" sz="1400" b="1" i="1" baseline="30000" dirty="0">
                    <a:solidFill>
                      <a:schemeClr val="bg1">
                        <a:lumMod val="50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−1</a:t>
                </a:r>
                <a:r>
                  <a:rPr lang="en-US" altLang="zh-CN" sz="1400" b="1" dirty="0">
                    <a:solidFill>
                      <a:schemeClr val="bg1">
                        <a:lumMod val="50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.</a:t>
                </a:r>
              </a:p>
            </p:txBody>
          </p:sp>
        </p:grpSp>
        <p:grpSp>
          <p:nvGrpSpPr>
            <p:cNvPr id="4" name="组合 3"/>
            <p:cNvGrpSpPr/>
            <p:nvPr>
              <p:custDataLst>
                <p:tags r:id="rId2"/>
              </p:custDataLst>
            </p:nvPr>
          </p:nvGrpSpPr>
          <p:grpSpPr>
            <a:xfrm>
              <a:off x="10601" y="3259"/>
              <a:ext cx="8327" cy="1921"/>
              <a:chOff x="2221179" y="2928304"/>
              <a:chExt cx="4316095" cy="1220303"/>
            </a:xfrm>
          </p:grpSpPr>
          <p:sp>
            <p:nvSpPr>
              <p:cNvPr id="6" name="文本框 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221179" y="2928304"/>
                <a:ext cx="4316095" cy="522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rPr>
                  <a:t>Check1:The Bloom Filter</a:t>
                </a:r>
              </a:p>
            </p:txBody>
          </p:sp>
          <p:sp>
            <p:nvSpPr>
              <p:cNvPr id="7" name="文本框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272385" y="3411221"/>
                <a:ext cx="3725545" cy="737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b="1" dirty="0">
                    <a:solidFill>
                      <a:schemeClr val="bg1">
                        <a:lumMod val="50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Is the neighbor's ID present in the reported Bloom Filter? This is a fast filter.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6" b="7963"/>
          <a:stretch>
            <a:fillRect/>
          </a:stretch>
        </p:blipFill>
        <p:spPr>
          <a:xfrm flipH="1">
            <a:off x="943" y="856036"/>
            <a:ext cx="12190111" cy="522240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4" y="856036"/>
            <a:ext cx="12191998" cy="5222402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93000"/>
                </a:schemeClr>
              </a:gs>
              <a:gs pos="75000">
                <a:schemeClr val="dk1">
                  <a:lumMod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43997" y="2789044"/>
            <a:ext cx="6842248" cy="82994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Theoretical Rationale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62482" y="2067417"/>
            <a:ext cx="160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PART-04</a:t>
            </a:r>
            <a:endParaRPr lang="zh-CN" altLang="en-US" sz="3200" dirty="0">
              <a:solidFill>
                <a:schemeClr val="accent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722716" y="6421225"/>
            <a:ext cx="1093905" cy="203200"/>
            <a:chOff x="2400300" y="-914400"/>
            <a:chExt cx="1093905" cy="203200"/>
          </a:xfrm>
        </p:grpSpPr>
        <p:sp>
          <p:nvSpPr>
            <p:cNvPr id="19" name="椭圆 18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33048" y="1798770"/>
            <a:ext cx="3336933" cy="3336933"/>
          </a:xfrm>
          <a:prstGeom prst="rect">
            <a:avLst/>
          </a:prstGeom>
        </p:spPr>
      </p:pic>
      <p:sp>
        <p:nvSpPr>
          <p:cNvPr id="16" name="iconfont-11208-5297042"/>
          <p:cNvSpPr/>
          <p:nvPr/>
        </p:nvSpPr>
        <p:spPr>
          <a:xfrm>
            <a:off x="240665" y="32829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dk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99289" y="258436"/>
            <a:ext cx="7292975" cy="627100"/>
            <a:chOff x="363500" y="173190"/>
            <a:chExt cx="7292975" cy="627100"/>
          </a:xfrm>
        </p:grpSpPr>
        <p:sp>
          <p:nvSpPr>
            <p:cNvPr id="27" name="TextBox 55"/>
            <p:cNvSpPr txBox="1"/>
            <p:nvPr/>
          </p:nvSpPr>
          <p:spPr>
            <a:xfrm>
              <a:off x="1053110" y="279870"/>
              <a:ext cx="6603365" cy="436245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/>
                <a:t>Modulus</a:t>
              </a:r>
              <a:endPara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00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804545" y="1261217"/>
            <a:ext cx="4876800" cy="858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/>
              <a:t>Now, we must address a theoretical challenge. How to choose Modulus?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221730" y="1125855"/>
            <a:ext cx="5476240" cy="4910455"/>
            <a:chOff x="998" y="2304"/>
            <a:chExt cx="8624" cy="7733"/>
          </a:xfrm>
        </p:grpSpPr>
        <p:grpSp>
          <p:nvGrpSpPr>
            <p:cNvPr id="2" name="组合 1"/>
            <p:cNvGrpSpPr/>
            <p:nvPr>
              <p:custDataLst>
                <p:tags r:id="rId3"/>
              </p:custDataLst>
            </p:nvPr>
          </p:nvGrpSpPr>
          <p:grpSpPr>
            <a:xfrm>
              <a:off x="998" y="2304"/>
              <a:ext cx="8565" cy="582"/>
              <a:chOff x="1322" y="2332"/>
              <a:chExt cx="8565" cy="582"/>
            </a:xfrm>
          </p:grpSpPr>
          <p:sp>
            <p:nvSpPr>
              <p:cNvPr id="32" name="圆角矩形 15"/>
              <p:cNvSpPr/>
              <p:nvPr>
                <p:custDataLst>
                  <p:tags r:id="rId7"/>
                </p:custDataLst>
              </p:nvPr>
            </p:nvSpPr>
            <p:spPr>
              <a:xfrm>
                <a:off x="1322" y="2332"/>
                <a:ext cx="8565" cy="58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lumMod val="10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思源黑体 CN Regular" panose="020B0500000000000000" charset="-122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664" y="2332"/>
                <a:ext cx="7460" cy="580"/>
              </a:xfrm>
              <a:prstGeom prst="rect">
                <a:avLst/>
              </a:prstGeom>
              <a:solidFill>
                <a:schemeClr val="dk1">
                  <a:lumMod val="10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Lemma 1</a:t>
                </a:r>
              </a:p>
            </p:txBody>
          </p:sp>
        </p:grpSp>
        <p:pic>
          <p:nvPicPr>
            <p:cNvPr id="1789744338" name="图片 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28" y="2957"/>
              <a:ext cx="8306" cy="3087"/>
            </a:xfrm>
            <a:prstGeom prst="rect">
              <a:avLst/>
            </a:prstGeom>
          </p:spPr>
        </p:pic>
        <p:pic>
          <p:nvPicPr>
            <p:cNvPr id="641645425" name="图片 1" descr="文本, 信件&#10;&#10;AI 生成的内容可能不正确。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57" y="6323"/>
              <a:ext cx="8306" cy="3715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>
              <p:custDataLst>
                <p:tags r:id="rId4"/>
              </p:custDataLst>
            </p:nvPr>
          </p:nvGrpSpPr>
          <p:grpSpPr>
            <a:xfrm>
              <a:off x="1058" y="5640"/>
              <a:ext cx="8565" cy="582"/>
              <a:chOff x="1322" y="2332"/>
              <a:chExt cx="8565" cy="582"/>
            </a:xfrm>
          </p:grpSpPr>
          <p:sp>
            <p:nvSpPr>
              <p:cNvPr id="9" name="圆角矩形 15"/>
              <p:cNvSpPr/>
              <p:nvPr>
                <p:custDataLst>
                  <p:tags r:id="rId5"/>
                </p:custDataLst>
              </p:nvPr>
            </p:nvSpPr>
            <p:spPr>
              <a:xfrm>
                <a:off x="1322" y="2332"/>
                <a:ext cx="8565" cy="58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lumMod val="10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思源黑体 CN Regular" panose="020B0500000000000000" charset="-122"/>
                </a:endParaRP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664" y="2332"/>
                <a:ext cx="7460" cy="580"/>
              </a:xfrm>
              <a:prstGeom prst="rect">
                <a:avLst/>
              </a:prstGeom>
              <a:solidFill>
                <a:schemeClr val="dk1">
                  <a:lumMod val="10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Problem 1</a:t>
                </a:r>
              </a:p>
            </p:txBody>
          </p:sp>
        </p:grpSp>
      </p:grp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804545" y="2411243"/>
            <a:ext cx="5179695" cy="3337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We solved this with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Lemma 1.</a:t>
            </a:r>
          </a:p>
          <a:p>
            <a:pPr>
              <a:lnSpc>
                <a:spcPct val="150000"/>
              </a:lnSpc>
            </a:pPr>
            <a:b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</a:b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The Idea: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we set the Modulus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p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to be a multiple of the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determinants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of the matrices along the path.</a:t>
            </a:r>
          </a:p>
          <a:p>
            <a:pPr>
              <a:lnSpc>
                <a:spcPct val="150000"/>
              </a:lnSpc>
            </a:pPr>
            <a:b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</a:b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The Proof: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We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 proved that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 err="1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Dnew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 = </a:t>
            </a:r>
            <a:r>
              <a:rPr lang="en-US" altLang="zh-CN" sz="1400" dirty="0" err="1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Dold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 ∗A−1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ea typeface="思源黑体" panose="020B0500000000000000" pitchFamily="34" charset="-122"/>
              </a:rPr>
              <a:t>will always result in integers if the modulus encompasses the determinant.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90880" y="3428365"/>
            <a:ext cx="10889615" cy="730885"/>
            <a:chOff x="1736" y="6403"/>
            <a:chExt cx="15960" cy="1151"/>
          </a:xfrm>
        </p:grpSpPr>
        <p:sp>
          <p:nvSpPr>
            <p:cNvPr id="29" name="圆角矩形 15"/>
            <p:cNvSpPr/>
            <p:nvPr>
              <p:custDataLst>
                <p:tags r:id="rId4"/>
              </p:custDataLst>
            </p:nvPr>
          </p:nvSpPr>
          <p:spPr>
            <a:xfrm>
              <a:off x="1736" y="6403"/>
              <a:ext cx="15960" cy="1151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思源黑体 CN Regular" panose="020B0500000000000000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5"/>
              </p:custDataLst>
            </p:nvPr>
          </p:nvSpPr>
          <p:spPr>
            <a:xfrm>
              <a:off x="2766" y="6403"/>
              <a:ext cx="13828" cy="1016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2.Determinants should be small integers (like 3 or 4) to keep the modulus from growing too fast, yet strictly</a:t>
              </a:r>
              <a:r>
                <a:rPr lang="" altLang="en-US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 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&gt;2</a:t>
              </a:r>
              <a:r>
                <a:rPr lang="" altLang="en-US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 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to avoid high false negatives.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90245" y="1859280"/>
            <a:ext cx="10889615" cy="457200"/>
            <a:chOff x="1676" y="3646"/>
            <a:chExt cx="17149" cy="582"/>
          </a:xfrm>
        </p:grpSpPr>
        <p:sp>
          <p:nvSpPr>
            <p:cNvPr id="32" name="圆角矩形 15"/>
            <p:cNvSpPr/>
            <p:nvPr>
              <p:custDataLst>
                <p:tags r:id="rId2"/>
              </p:custDataLst>
            </p:nvPr>
          </p:nvSpPr>
          <p:spPr>
            <a:xfrm>
              <a:off x="1676" y="3646"/>
              <a:ext cx="17149" cy="582"/>
            </a:xfrm>
            <a:prstGeom prst="roundRect">
              <a:avLst>
                <a:gd name="adj" fmla="val 50000"/>
              </a:avLst>
            </a:prstGeom>
            <a:solidFill>
              <a:schemeClr val="dk1">
                <a:lumMod val="10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思源黑体 CN Regular" panose="020B0500000000000000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3"/>
              </p:custDataLst>
            </p:nvPr>
          </p:nvSpPr>
          <p:spPr>
            <a:xfrm>
              <a:off x="1989" y="3646"/>
              <a:ext cx="16302" cy="469"/>
            </a:xfrm>
            <a:prstGeom prst="rect">
              <a:avLst/>
            </a:prstGeom>
            <a:solidFill>
              <a:schemeClr val="dk1">
                <a:lumMod val="10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1.Column vectors cannot be multiples of each other (to ensure invertibility).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16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Other Rationale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01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6" b="7963"/>
          <a:stretch>
            <a:fillRect/>
          </a:stretch>
        </p:blipFill>
        <p:spPr>
          <a:xfrm flipH="1">
            <a:off x="943" y="856036"/>
            <a:ext cx="12190111" cy="522240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4" y="856036"/>
            <a:ext cx="12191998" cy="5222402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93000"/>
                </a:schemeClr>
              </a:gs>
              <a:gs pos="75000">
                <a:schemeClr val="dk1">
                  <a:lumMod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43997" y="2789044"/>
            <a:ext cx="6842248" cy="82994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Evaluation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62482" y="2067417"/>
            <a:ext cx="160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PART-05</a:t>
            </a:r>
            <a:endParaRPr lang="zh-CN" altLang="en-US" sz="3200" dirty="0">
              <a:solidFill>
                <a:schemeClr val="accent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722716" y="6421225"/>
            <a:ext cx="1093905" cy="203200"/>
            <a:chOff x="2400300" y="-914400"/>
            <a:chExt cx="1093905" cy="203200"/>
          </a:xfrm>
        </p:grpSpPr>
        <p:sp>
          <p:nvSpPr>
            <p:cNvPr id="19" name="椭圆 18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33048" y="1798770"/>
            <a:ext cx="3336933" cy="3336933"/>
          </a:xfrm>
          <a:prstGeom prst="rect">
            <a:avLst/>
          </a:prstGeom>
        </p:spPr>
      </p:pic>
      <p:sp>
        <p:nvSpPr>
          <p:cNvPr id="16" name="iconfont-11208-5297042"/>
          <p:cNvSpPr/>
          <p:nvPr/>
        </p:nvSpPr>
        <p:spPr>
          <a:xfrm>
            <a:off x="240665" y="32829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dk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99289" y="258436"/>
            <a:ext cx="7292975" cy="627100"/>
            <a:chOff x="363500" y="173190"/>
            <a:chExt cx="7292975" cy="627100"/>
          </a:xfrm>
        </p:grpSpPr>
        <p:sp>
          <p:nvSpPr>
            <p:cNvPr id="27" name="TextBox 55"/>
            <p:cNvSpPr txBox="1"/>
            <p:nvPr/>
          </p:nvSpPr>
          <p:spPr>
            <a:xfrm>
              <a:off x="1053110" y="279870"/>
              <a:ext cx="6603365" cy="436245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/>
                <a:t>Experiment Setup</a:t>
              </a:r>
              <a:endPara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00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582537881" name="图片 1" descr="图示&#10;&#10;AI 生成的内容可能不正确。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2680" y="1924050"/>
            <a:ext cx="7153275" cy="380174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19430" y="1125855"/>
            <a:ext cx="5438140" cy="3003550"/>
            <a:chOff x="818" y="1773"/>
            <a:chExt cx="8564" cy="4730"/>
          </a:xfrm>
        </p:grpSpPr>
        <p:grpSp>
          <p:nvGrpSpPr>
            <p:cNvPr id="2" name="组合 1"/>
            <p:cNvGrpSpPr/>
            <p:nvPr>
              <p:custDataLst>
                <p:tags r:id="rId2"/>
              </p:custDataLst>
            </p:nvPr>
          </p:nvGrpSpPr>
          <p:grpSpPr>
            <a:xfrm>
              <a:off x="818" y="1773"/>
              <a:ext cx="8565" cy="582"/>
              <a:chOff x="1322" y="2332"/>
              <a:chExt cx="8565" cy="582"/>
            </a:xfrm>
          </p:grpSpPr>
          <p:sp>
            <p:nvSpPr>
              <p:cNvPr id="32" name="圆角矩形 15"/>
              <p:cNvSpPr/>
              <p:nvPr>
                <p:custDataLst>
                  <p:tags r:id="rId6"/>
                </p:custDataLst>
              </p:nvPr>
            </p:nvSpPr>
            <p:spPr>
              <a:xfrm>
                <a:off x="1322" y="2332"/>
                <a:ext cx="8565" cy="58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lumMod val="10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思源黑体 CN Regular" panose="020B0500000000000000" charset="-122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664" y="2332"/>
                <a:ext cx="7460" cy="580"/>
              </a:xfrm>
              <a:prstGeom prst="rect">
                <a:avLst/>
              </a:prstGeom>
              <a:solidFill>
                <a:schemeClr val="dk1">
                  <a:lumMod val="10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1</a:t>
                </a:r>
                <a:r>
                  <a:rPr lang="zh-CN" altLang="en-US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、</a:t>
                </a:r>
                <a:r>
                  <a:rPr lang="en-US" altLang="zh-CN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Fat Tree topologies </a:t>
                </a:r>
                <a:r>
                  <a:rPr lang="zh-CN" altLang="en-US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（</a:t>
                </a:r>
                <a:r>
                  <a:rPr lang="en-US" altLang="zh-CN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k=4 and k=6</a:t>
                </a:r>
                <a:r>
                  <a:rPr lang="zh-CN" altLang="en-US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）</a:t>
                </a: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3"/>
              </p:custDataLst>
            </p:nvPr>
          </p:nvGrpSpPr>
          <p:grpSpPr>
            <a:xfrm>
              <a:off x="818" y="4103"/>
              <a:ext cx="8565" cy="582"/>
              <a:chOff x="1322" y="2332"/>
              <a:chExt cx="8565" cy="582"/>
            </a:xfrm>
          </p:grpSpPr>
          <p:sp>
            <p:nvSpPr>
              <p:cNvPr id="9" name="圆角矩形 15"/>
              <p:cNvSpPr/>
              <p:nvPr>
                <p:custDataLst>
                  <p:tags r:id="rId4"/>
                </p:custDataLst>
              </p:nvPr>
            </p:nvSpPr>
            <p:spPr>
              <a:xfrm>
                <a:off x="1322" y="2332"/>
                <a:ext cx="8565" cy="58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lumMod val="10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思源黑体 CN Regular" panose="020B0500000000000000" charset="-122"/>
                </a:endParaRP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664" y="2332"/>
                <a:ext cx="7460" cy="580"/>
              </a:xfrm>
              <a:prstGeom prst="rect">
                <a:avLst/>
              </a:prstGeom>
              <a:solidFill>
                <a:schemeClr val="dk1">
                  <a:lumMod val="10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2</a:t>
                </a:r>
                <a:r>
                  <a:rPr lang="zh-CN" altLang="en-US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、</a:t>
                </a:r>
                <a:r>
                  <a:rPr lang="en-US" altLang="zh-CN" b="1" i="1" dirty="0">
                    <a:solidFill>
                      <a:schemeClr val="bg1"/>
                    </a:solidFill>
                    <a:latin typeface="+mj-ea"/>
                    <a:ea typeface="+mj-ea"/>
                    <a:cs typeface="思源黑体 CN Regular" panose="020B0500000000000000" charset="-122"/>
                  </a:rPr>
                  <a:t>Stanford Backbone</a:t>
                </a: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818" y="2721"/>
              <a:ext cx="822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Representing standard data center architectures.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18" y="5051"/>
              <a:ext cx="8220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 real-world wide area network topology to ensure our solution works in complex, non-regular environments.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537881" name="图片 1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2186940"/>
            <a:ext cx="5868670" cy="311975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856615" y="1440531"/>
            <a:ext cx="5544820" cy="10699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思源黑体 CN Bold" panose="020B0800000000000000"/>
                <a:sym typeface="+mn-ea"/>
              </a:rPr>
              <a:t>Scenario 1: Black Hole.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We modified a switch rule to drop packets. 2MVeri detected the missing tags immediately.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56615" y="2677478"/>
            <a:ext cx="5544820" cy="175387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Scenario 2: Path Deviation.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We forced a switch to forward packets to a wrong port. The verification failed because the matrix multiplication result didn't match the expected value. 2MVeri successfully recovered the actual path and located the deviating switch.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856615" y="4575844"/>
            <a:ext cx="5544820" cy="10699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Scenario 3: Forwarding Loop. 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We created a loop between two switches. The reported tag became inconsistent due to repeated multiplications.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62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/>
                <a:t>Function Test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03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99289" y="258436"/>
            <a:ext cx="7717594" cy="627100"/>
            <a:chOff x="363500" y="173190"/>
            <a:chExt cx="7717594" cy="627100"/>
          </a:xfrm>
        </p:grpSpPr>
        <p:sp>
          <p:nvSpPr>
            <p:cNvPr id="16" name="TextBox 55"/>
            <p:cNvSpPr txBox="1"/>
            <p:nvPr/>
          </p:nvSpPr>
          <p:spPr>
            <a:xfrm>
              <a:off x="1053110" y="223027"/>
              <a:ext cx="7027984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/>
                <a:t>Verification Accuracy &amp; Localization Accuracy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01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946785" y="1189355"/>
            <a:ext cx="9230360" cy="4887595"/>
            <a:chOff x="911" y="1873"/>
            <a:chExt cx="14536" cy="7697"/>
          </a:xfrm>
        </p:grpSpPr>
        <p:pic>
          <p:nvPicPr>
            <p:cNvPr id="2115708040" name="图片 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4" y="3034"/>
              <a:ext cx="12236" cy="5095"/>
            </a:xfrm>
            <a:prstGeom prst="rect">
              <a:avLst/>
            </a:prstGeom>
          </p:spPr>
        </p:pic>
        <p:grpSp>
          <p:nvGrpSpPr>
            <p:cNvPr id="5" name="组合 4"/>
            <p:cNvGrpSpPr/>
            <p:nvPr/>
          </p:nvGrpSpPr>
          <p:grpSpPr>
            <a:xfrm>
              <a:off x="911" y="1873"/>
              <a:ext cx="14536" cy="7697"/>
              <a:chOff x="911" y="1873"/>
              <a:chExt cx="14536" cy="7697"/>
            </a:xfrm>
          </p:grpSpPr>
          <p:sp>
            <p:nvSpPr>
              <p:cNvPr id="2" name="矩形 1"/>
              <p:cNvSpPr/>
              <p:nvPr>
                <p:custDataLst>
                  <p:tags r:id="rId2"/>
                </p:custDataLst>
              </p:nvPr>
            </p:nvSpPr>
            <p:spPr>
              <a:xfrm>
                <a:off x="1071" y="8321"/>
                <a:ext cx="14376" cy="1249"/>
              </a:xfrm>
              <a:prstGeom prst="rect">
                <a:avLst/>
              </a:prstGeom>
            </p:spPr>
            <p:txBody>
              <a:bodyPr wrap="square" lIns="72000" rIns="252000">
                <a:spAutoFit/>
              </a:bodyPr>
              <a:lstStyle/>
              <a:p>
                <a:pPr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600" b="1" dirty="0">
                    <a:gradFill>
                      <a:gsLst>
                        <a:gs pos="50410">
                          <a:srgbClr val="1F1F1F"/>
                        </a:gs>
                        <a:gs pos="0">
                          <a:srgbClr val="020202"/>
                        </a:gs>
                        <a:gs pos="100000">
                          <a:srgbClr val="424242"/>
                        </a:gs>
                      </a:gsLst>
                      <a:lin ang="5400000" scaled="1"/>
                    </a:gradFill>
                    <a:latin typeface="黑体" panose="02010609060101010101" charset="-122"/>
                    <a:ea typeface="黑体" panose="02010609060101010101" charset="-122"/>
                    <a:cs typeface="思源黑体 CN Regular" panose="020B0500000000000000" charset="-122"/>
                  </a:rPr>
                  <a:t> </a:t>
                </a: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With a determinant ≥3 , 2MVeri achieves </a:t>
                </a:r>
                <a:r>
                  <a:rPr lang="en-US" altLang="zh-CN" b="1" dirty="0">
                    <a:solidFill>
                      <a:srgbClr val="FF0000"/>
                    </a:solidFill>
                    <a:ea typeface="思源黑体" panose="020B0500000000000000" pitchFamily="34" charset="-122"/>
                  </a:rPr>
                  <a:t>100%</a:t>
                </a: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 Verification Accuracy and </a:t>
                </a:r>
                <a:r>
                  <a:rPr lang="en-US" altLang="zh-CN" b="1" dirty="0">
                    <a:solidFill>
                      <a:srgbClr val="FF0000"/>
                    </a:solidFill>
                    <a:ea typeface="思源黑体" panose="020B0500000000000000" pitchFamily="34" charset="-122"/>
                  </a:rPr>
                  <a:t>99.8%</a:t>
                </a: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 Localization Accuracy. This empirically proves our theoretical choice of using cumulative determinants (</a:t>
                </a:r>
                <a:r>
                  <a:rPr lang="zh-CN" altLang="en-US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行列式累乘）</a:t>
                </a: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.</a:t>
                </a:r>
              </a:p>
            </p:txBody>
          </p:sp>
          <p:sp>
            <p:nvSpPr>
              <p:cNvPr id="3" name="矩形 2"/>
              <p:cNvSpPr/>
              <p:nvPr>
                <p:custDataLst>
                  <p:tags r:id="rId3"/>
                </p:custDataLst>
              </p:nvPr>
            </p:nvSpPr>
            <p:spPr>
              <a:xfrm>
                <a:off x="911" y="1873"/>
                <a:ext cx="13719" cy="1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Now, let's look at the quantitative data. This is crucial. We analyzed how the</a:t>
                </a:r>
                <a:r>
                  <a:rPr lang="en-US" altLang="en-US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 </a:t>
                </a: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Matrix Determinant</a:t>
                </a:r>
                <a:r>
                  <a:rPr lang="en-US" altLang="en-US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  </a:t>
                </a: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思源黑体" panose="020B0500000000000000" pitchFamily="34" charset="-122"/>
                  </a:rPr>
                  <a:t>affects accuracy.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55232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245" y="1001395"/>
            <a:ext cx="4886960" cy="474345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16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Overhead</a:t>
              </a:r>
            </a:p>
          </p:txBody>
        </p:sp>
        <p:sp>
          <p:nvSpPr>
            <p:cNvPr id="18" name="椭圆 1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01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6080" y="3634740"/>
            <a:ext cx="3673475" cy="2120265"/>
          </a:xfrm>
          <a:prstGeom prst="rect">
            <a:avLst/>
          </a:prstGeom>
        </p:spPr>
      </p:pic>
      <p:pic>
        <p:nvPicPr>
          <p:cNvPr id="1097474478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4570" y="753110"/>
            <a:ext cx="4721225" cy="276352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36245" y="5860415"/>
            <a:ext cx="4413250" cy="457200"/>
            <a:chOff x="1676" y="3646"/>
            <a:chExt cx="17149" cy="582"/>
          </a:xfrm>
        </p:grpSpPr>
        <p:sp>
          <p:nvSpPr>
            <p:cNvPr id="8" name="圆角矩形 15"/>
            <p:cNvSpPr/>
            <p:nvPr>
              <p:custDataLst>
                <p:tags r:id="rId4"/>
              </p:custDataLst>
            </p:nvPr>
          </p:nvSpPr>
          <p:spPr>
            <a:xfrm>
              <a:off x="1676" y="3646"/>
              <a:ext cx="17149" cy="582"/>
            </a:xfrm>
            <a:prstGeom prst="roundRect">
              <a:avLst>
                <a:gd name="adj" fmla="val 50000"/>
              </a:avLst>
            </a:prstGeom>
            <a:solidFill>
              <a:schemeClr val="dk1">
                <a:lumMod val="10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思源黑体 CN Regular" panose="020B0500000000000000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5"/>
              </p:custDataLst>
            </p:nvPr>
          </p:nvSpPr>
          <p:spPr>
            <a:xfrm>
              <a:off x="2390" y="3679"/>
              <a:ext cx="15735" cy="509"/>
            </a:xfrm>
            <a:prstGeom prst="rect">
              <a:avLst/>
            </a:prstGeom>
            <a:solidFill>
              <a:schemeClr val="dk1">
                <a:lumMod val="10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Storage Overhead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68110" y="5829300"/>
            <a:ext cx="4483735" cy="457200"/>
            <a:chOff x="1676" y="3646"/>
            <a:chExt cx="17149" cy="582"/>
          </a:xfrm>
        </p:grpSpPr>
        <p:sp>
          <p:nvSpPr>
            <p:cNvPr id="10" name="圆角矩形 15"/>
            <p:cNvSpPr/>
            <p:nvPr>
              <p:custDataLst>
                <p:tags r:id="rId2"/>
              </p:custDataLst>
            </p:nvPr>
          </p:nvSpPr>
          <p:spPr>
            <a:xfrm>
              <a:off x="1676" y="3646"/>
              <a:ext cx="17149" cy="582"/>
            </a:xfrm>
            <a:prstGeom prst="roundRect">
              <a:avLst>
                <a:gd name="adj" fmla="val 50000"/>
              </a:avLst>
            </a:prstGeom>
            <a:solidFill>
              <a:schemeClr val="dk1">
                <a:lumMod val="10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思源黑体 CN Regular" panose="020B0500000000000000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3"/>
              </p:custDataLst>
            </p:nvPr>
          </p:nvSpPr>
          <p:spPr>
            <a:xfrm>
              <a:off x="2133" y="3702"/>
              <a:ext cx="16302" cy="469"/>
            </a:xfrm>
            <a:prstGeom prst="rect">
              <a:avLst/>
            </a:prstGeom>
            <a:solidFill>
              <a:schemeClr val="dk1">
                <a:lumMod val="10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思源黑体 CN Regular" panose="020B0500000000000000" charset="-122"/>
                </a:rPr>
                <a:t>Computation Overhead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6" b="7963"/>
          <a:stretch>
            <a:fillRect/>
          </a:stretch>
        </p:blipFill>
        <p:spPr>
          <a:xfrm flipH="1">
            <a:off x="943" y="856036"/>
            <a:ext cx="12190111" cy="522240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4" y="856036"/>
            <a:ext cx="12191998" cy="5222402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93000"/>
                </a:schemeClr>
              </a:gs>
              <a:gs pos="75000">
                <a:schemeClr val="dk1">
                  <a:lumMod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43996" y="2789044"/>
            <a:ext cx="6972045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err="1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Futrue</a:t>
            </a:r>
            <a:r>
              <a:rPr lang="en-US" altLang="zh-CN" sz="4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Work &amp; Recap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62482" y="2067417"/>
            <a:ext cx="160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PART-06</a:t>
            </a:r>
            <a:endParaRPr lang="zh-CN" altLang="en-US" sz="3200" dirty="0">
              <a:solidFill>
                <a:schemeClr val="accent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722716" y="6421225"/>
            <a:ext cx="1093905" cy="203200"/>
            <a:chOff x="2400300" y="-914400"/>
            <a:chExt cx="1093905" cy="203200"/>
          </a:xfrm>
        </p:grpSpPr>
        <p:sp>
          <p:nvSpPr>
            <p:cNvPr id="19" name="椭圆 18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33048" y="1798770"/>
            <a:ext cx="3336933" cy="3336933"/>
          </a:xfrm>
          <a:prstGeom prst="rect">
            <a:avLst/>
          </a:prstGeom>
        </p:spPr>
      </p:pic>
      <p:sp>
        <p:nvSpPr>
          <p:cNvPr id="16" name="iconfont-11208-5297042"/>
          <p:cNvSpPr/>
          <p:nvPr/>
        </p:nvSpPr>
        <p:spPr>
          <a:xfrm>
            <a:off x="240665" y="32829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dk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856615" y="1288766"/>
            <a:ext cx="7931785" cy="10699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First, Protocol Independence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Currently, our implementation is tailored for the IPv4 scenario. We plan to extend 2MVeri to scenarios where multiple protocols coexist.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56615" y="2700655"/>
            <a:ext cx="7931785" cy="143065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Second, P4 Implementation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We are looking to migrate the framework from Open vSwitch to</a:t>
            </a:r>
            <a:r>
              <a:rPr lang="en-US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P4 programmable switches. P4 offers greater flexibility and programmability, which would allow 2MVeri to run entirely in the data plane hardware, further reducing latency.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856615" y="4396105"/>
            <a:ext cx="7931785" cy="143065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Third, Edge Cases 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Our paper notes a specific challenge: what if the actual path is the same as the expected path, but the</a:t>
            </a:r>
            <a:r>
              <a:rPr lang="en-US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rules matched</a:t>
            </a:r>
            <a:r>
              <a:rPr lang="en-US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on the switches are different? We plan to conduct further research to detect this subtle form of inconsistency.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62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思源黑体 CN Bold" panose="020B0800000000000000" pitchFamily="34" charset="-122"/>
                  <a:cs typeface="+mn-ea"/>
                </a:rPr>
                <a:t>Futrue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思源黑体 CN Bold" panose="020B0800000000000000" pitchFamily="34" charset="-122"/>
                  <a:cs typeface="+mn-ea"/>
                </a:rPr>
                <a:t> Work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03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856615" y="1108075"/>
            <a:ext cx="7576185" cy="143065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Innovative Design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It is the first framework to exploit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Matrix Multiplication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combined with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Modular Arithmetic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for in-band path verification. This theoretically solves the overflow problem while preserving path information.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56615" y="2881029"/>
            <a:ext cx="7576185" cy="10699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High Accuracy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Through rigorous math proofs and experiments, we achieved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100% verification accuracy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and</a:t>
            </a:r>
            <a:r>
              <a:rPr lang="" altLang="en-US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 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99.8% fault localization accuracy, outperforming existing solutions.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856615" y="4576161"/>
            <a:ext cx="7575550" cy="10699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>
              <a:lnSpc>
                <a:spcPct val="15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Low Overhead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+mn-lt"/>
                <a:ea typeface="思源黑体" panose="020B0500000000000000" pitchFamily="34" charset="-122"/>
              </a:rPr>
              <a:t>By reusing existing header fields and requiring only constant control plane storage, 2MVeri is highly efficient and scalable for large networks.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199289" y="258436"/>
            <a:ext cx="4355770" cy="627100"/>
            <a:chOff x="363500" y="173190"/>
            <a:chExt cx="4355770" cy="627100"/>
          </a:xfrm>
        </p:grpSpPr>
        <p:sp>
          <p:nvSpPr>
            <p:cNvPr id="62" name="TextBox 55"/>
            <p:cNvSpPr txBox="1"/>
            <p:nvPr/>
          </p:nvSpPr>
          <p:spPr>
            <a:xfrm>
              <a:off x="1053110" y="223027"/>
              <a:ext cx="3666160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Advantages Recap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03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13" y="105289"/>
            <a:ext cx="2812909" cy="755264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求实创造 为人师表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6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E5M2Q3YTk2NzExM2ViYmM0ZjRmYzRhOWQ2NWVkYzYifQ=="/>
  <p:tag name="RESOURCE_RECORD_KEY" val="{&quot;12&quot;:[2510273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,&quot;left&quot;:52,&quot;top&quot;:88.99858267716534,&quot;width&quot;:85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,&quot;left&quot;:52,&quot;top&quot;:88.99858267716534,&quot;width&quot;:85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,&quot;left&quot;:52,&quot;top&quot;:88.99858267716534,&quot;width&quot;:8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,&quot;left&quot;:52,&quot;top&quot;:88.99858267716534,&quot;width&quot;:8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,&quot;left&quot;:52,&quot;top&quot;:88.99858267716534,&quot;width&quot;:85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,&quot;left&quot;:52,&quot;top&quot;:88.99858267716534,&quot;width&quot;:8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,&quot;left&quot;:52,&quot;top&quot;:88.99858267716534,&quot;width&quot;:8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37503937007875,&quot;left&quot;:52.74984251968503,&quot;top&quot;:89,&quot;width&quot;:854.375196850393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2147;#102796;#132408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99.1007086614172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  <p:tag name="RESOURCE_RECORD_KEY" val="{&quot;12&quot;:[25102730]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0233858267717,&quot;left&quot;:52.75,&quot;top&quot;:99.92228346456693,&quot;width&quot;:854.375039370078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38.1098425196851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38.1098425196851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38.1098425196851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38.1098425196851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38.1098425196851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38.1098425196851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2147;#102796;#132408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3.9907086614174,&quot;left&quot;:531.3703149606299,&quot;top&quot;:66.16212598425196,&quot;width&quot;:338.109842519685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2147;#102796;#132408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2147;#102796;#132408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95,&quot;left&quot;:65.05,&quot;top&quot;:116.6,&quot;width&quot;:429.2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5.9,&quot;left&quot;:40.9,&quot;top&quot;:88.65,&quot;width&quot;:431.2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5.9,&quot;left&quot;:40.9,&quot;top&quot;:88.65,&quot;width&quot;:431.2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5.9,&quot;left&quot;:40.9,&quot;top&quot;:88.65,&quot;width&quot;:431.2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5.9,&quot;left&quot;:40.9,&quot;top&quot;:88.65,&quot;width&quot;:431.2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2147;#102796;#132408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9,&quot;left&quot;:49.05,&quot;top&quot;:120.75,&quot;width&quot;:492.8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9,&quot;left&quot;:49.05,&quot;top&quot;:120.75,&quot;width&quot;:826.3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2147;#102796;#132408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35,&quot;left&quot;:80.55944881889764,&quot;top&quot;:182.3,&quot;width&quot;:385.2911811023622}"/>
</p:tagLst>
</file>

<file path=ppt/theme/theme1.xml><?xml version="1.0" encoding="utf-8"?>
<a:theme xmlns:a="http://schemas.openxmlformats.org/drawingml/2006/main" name="Office 主题">
  <a:themeElements>
    <a:clrScheme name="自定义 79">
      <a:dk1>
        <a:srgbClr val="9C3535"/>
      </a:dk1>
      <a:lt1>
        <a:srgbClr val="FFFFFF"/>
      </a:lt1>
      <a:dk2>
        <a:srgbClr val="44546A"/>
      </a:dk2>
      <a:lt2>
        <a:srgbClr val="E7E6E6"/>
      </a:lt2>
      <a:accent1>
        <a:srgbClr val="011557"/>
      </a:accent1>
      <a:accent2>
        <a:srgbClr val="B48F57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dy4i51f">
      <a:majorFont>
        <a:latin typeface="思源黑体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1215</Words>
  <Application>Microsoft Office PowerPoint</Application>
  <PresentationFormat>宽屏</PresentationFormat>
  <Paragraphs>182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汉仪铸字美心体简</vt:lpstr>
      <vt:lpstr>黑体</vt:lpstr>
      <vt:lpstr>华文楷体</vt:lpstr>
      <vt:lpstr>华文行楷</vt:lpstr>
      <vt:lpstr>思源黑体</vt:lpstr>
      <vt:lpstr>思源黑体 CN Bold</vt:lpstr>
      <vt:lpstr>思源黑体 CN Medium</vt:lpstr>
      <vt:lpstr>思源黑体 CN Normal</vt:lpstr>
      <vt:lpstr>思源黑体 CN Regular</vt:lpstr>
      <vt:lpstr>思源宋体 Heavy</vt:lpstr>
      <vt:lpstr>宋体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小鬼谷子</dc:creator>
  <cp:lastModifiedBy>Administrator</cp:lastModifiedBy>
  <cp:revision>93</cp:revision>
  <dcterms:created xsi:type="dcterms:W3CDTF">2023-03-15T05:29:00Z</dcterms:created>
  <dcterms:modified xsi:type="dcterms:W3CDTF">2025-11-27T03:42:58Z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3E96F1498C27492394BB211518AF5AD3_13</vt:lpwstr>
  </property>
  <property fmtid="{D5CDD505-2E9C-101B-9397-08002B2CF9AE}" pid="3" name="KSOProductBuildVer">
    <vt:lpwstr>2052-12.1.0.23542</vt:lpwstr>
  </property>
</Properties>
</file>