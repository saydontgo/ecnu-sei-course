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3"/>
    <p:sldMasterId id="2147483671" r:id="rId4"/>
  </p:sldMasterIdLst>
  <p:notesMasterIdLst>
    <p:notesMasterId r:id="rId14"/>
  </p:notesMasterIdLst>
  <p:handoutMasterIdLst>
    <p:handoutMasterId r:id="rId15"/>
  </p:handoutMasterIdLst>
  <p:sldIdLst>
    <p:sldId id="271" r:id="rId5"/>
    <p:sldId id="314" r:id="rId6"/>
    <p:sldId id="315" r:id="rId7"/>
    <p:sldId id="280" r:id="rId8"/>
    <p:sldId id="281" r:id="rId9"/>
    <p:sldId id="311" r:id="rId10"/>
    <p:sldId id="312" r:id="rId11"/>
    <p:sldId id="313" r:id="rId12"/>
    <p:sldId id="303" r:id="rId13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CFE7"/>
    <a:srgbClr val="A41F35"/>
    <a:srgbClr val="B8282E"/>
    <a:srgbClr val="FFFFFF"/>
    <a:srgbClr val="941225"/>
    <a:srgbClr val="9B2034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7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gs" Target="tags/tag13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8_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204065" cy="7183755"/>
          </a:xfrm>
          <a:prstGeom prst="rect">
            <a:avLst/>
          </a:prstGeom>
          <a:gradFill>
            <a:gsLst>
              <a:gs pos="0">
                <a:srgbClr val="FDFDFD">
                  <a:alpha val="67000"/>
                </a:srgbClr>
              </a:gs>
              <a:gs pos="100000">
                <a:schemeClr val="bg1">
                  <a:alpha val="9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1198800" y="2468800"/>
            <a:ext cx="9799200" cy="1016000"/>
          </a:xfrm>
        </p:spPr>
        <p:txBody>
          <a:bodyPr lIns="90000" tIns="46800" rIns="90000" bIns="46800" anchor="b" anchorCtr="0">
            <a:spAutoFit/>
          </a:bodyPr>
          <a:lstStyle>
            <a:lvl1pPr algn="ctr">
              <a:defRPr sz="6000">
                <a:solidFill>
                  <a:srgbClr val="A41F35"/>
                </a:solidFill>
                <a:latin typeface="方正小标宋简体" panose="02000000000000000000" charset="-122"/>
                <a:ea typeface="方正小标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1198800" y="3560400"/>
            <a:ext cx="9799200" cy="498475"/>
          </a:xfrm>
        </p:spPr>
        <p:txBody>
          <a:bodyPr lIns="90000" tIns="46800" rIns="90000" bIns="46800">
            <a:sp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solidFill>
                  <a:srgbClr val="A41F35"/>
                </a:solidFill>
                <a:latin typeface="方正小标宋简体" panose="02000000000000000000" charset="-122"/>
                <a:ea typeface="方正小标宋简体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5_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204000" cy="6876000"/>
          </a:xfrm>
          <a:prstGeom prst="rect">
            <a:avLst/>
          </a:prstGeom>
          <a:gradFill>
            <a:gsLst>
              <a:gs pos="0">
                <a:srgbClr val="FDFDFD">
                  <a:alpha val="78000"/>
                </a:srgbClr>
              </a:gs>
              <a:gs pos="50000">
                <a:srgbClr val="FEFEFE">
                  <a:alpha val="67000"/>
                </a:srgbClr>
              </a:gs>
              <a:gs pos="100000">
                <a:schemeClr val="bg1">
                  <a:alpha val="4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A41F35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233045" y="1705610"/>
            <a:ext cx="9799320" cy="1016000"/>
          </a:xfrm>
        </p:spPr>
        <p:txBody>
          <a:bodyPr lIns="90000" tIns="46800" rIns="90000" bIns="46800" anchor="b" anchorCtr="0">
            <a:spAutoFit/>
          </a:bodyPr>
          <a:lstStyle>
            <a:lvl1pPr algn="l">
              <a:defRPr sz="6000">
                <a:solidFill>
                  <a:srgbClr val="A41F35"/>
                </a:solidFill>
                <a:latin typeface="方正小标宋简体" panose="02000000000000000000" charset="-122"/>
                <a:ea typeface="方正小标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233045" y="3046095"/>
            <a:ext cx="9799320" cy="2222500"/>
          </a:xfrm>
        </p:spPr>
        <p:txBody>
          <a:bodyPr lIns="90000" tIns="46800" rIns="90000" bIns="46800">
            <a:normAutofit/>
          </a:bodyPr>
          <a:lstStyle>
            <a:lvl1pPr marL="0" indent="0" algn="l">
              <a:lnSpc>
                <a:spcPct val="110000"/>
              </a:lnSpc>
              <a:buNone/>
              <a:defRPr sz="2400" spc="200">
                <a:solidFill>
                  <a:srgbClr val="A41F35"/>
                </a:solidFill>
                <a:latin typeface="方正小标宋简体" panose="02000000000000000000" charset="-122"/>
                <a:ea typeface="方正小标宋简体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rgbClr val="A41F35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9" descr="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33045" y="454660"/>
            <a:ext cx="3540125" cy="9264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latin typeface="方正小标宋简体" panose="02000000000000000000" charset="-122"/>
                <a:ea typeface="方正小标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latin typeface="方正小标宋简体" panose="02000000000000000000" charset="-122"/>
                <a:ea typeface="方正小标宋简体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>
                <a:latin typeface="方正小标宋简体" panose="02000000000000000000" charset="-122"/>
                <a:ea typeface="方正小标宋简体" panose="02000000000000000000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latin typeface="方正小标宋简体" panose="02000000000000000000" charset="-122"/>
                <a:ea typeface="方正小标宋简体" panose="02000000000000000000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16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5" Type="http://schemas.openxmlformats.org/officeDocument/2006/relationships/tags" Target="../tags/tag58.xml"/><Relationship Id="rId14" Type="http://schemas.microsoft.com/office/2007/relationships/hdphoto" Target="../media/image5.wdp"/><Relationship Id="rId13" Type="http://schemas.openxmlformats.org/officeDocument/2006/relationships/image" Target="../media/image4.png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8" Type="http://schemas.openxmlformats.org/officeDocument/2006/relationships/theme" Target="../theme/theme3.xml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52070" y="6575743"/>
            <a:ext cx="270002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2902585" y="6575743"/>
            <a:ext cx="638810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9441180" y="6575743"/>
            <a:ext cx="2699385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635" y="6515100"/>
            <a:ext cx="12192635" cy="351790"/>
          </a:xfrm>
          <a:prstGeom prst="rect">
            <a:avLst/>
          </a:prstGeom>
          <a:solidFill>
            <a:srgbClr val="A41F3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0"/>
            </p:custDataLst>
          </p:nvPr>
        </p:nvSpPr>
        <p:spPr>
          <a:xfrm>
            <a:off x="52070" y="6575743"/>
            <a:ext cx="270002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1"/>
            </p:custDataLst>
          </p:nvPr>
        </p:nvSpPr>
        <p:spPr>
          <a:xfrm>
            <a:off x="2902585" y="6575743"/>
            <a:ext cx="638810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2"/>
            </p:custDataLst>
          </p:nvPr>
        </p:nvSpPr>
        <p:spPr>
          <a:xfrm>
            <a:off x="9441180" y="6575743"/>
            <a:ext cx="2699385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bg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任意多边形: 形状 59"/>
          <p:cNvSpPr/>
          <p:nvPr userDrawn="1"/>
        </p:nvSpPr>
        <p:spPr>
          <a:xfrm flipH="1">
            <a:off x="0" y="0"/>
            <a:ext cx="12192635" cy="541655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A41F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13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030" y="32385"/>
            <a:ext cx="1777365" cy="465455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rgbClr val="A41F35"/>
          </a:solidFill>
          <a:uFillTx/>
          <a:latin typeface="Arial Bold" panose="020B0604020202090204" charset="0"/>
          <a:ea typeface="华文中宋" panose="0201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rgbClr val="A41F35"/>
          </a:solidFill>
          <a:uFillTx/>
          <a:latin typeface="Arial Regular" panose="020B0604020202090204" charset="0"/>
          <a:ea typeface="华文中宋" panose="0201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rgbClr val="A41F35"/>
          </a:solidFill>
          <a:uFillTx/>
          <a:latin typeface="Arial Regular" panose="020B0604020202090204" charset="0"/>
          <a:ea typeface="华文中宋" panose="0201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rgbClr val="A41F35"/>
          </a:solidFill>
          <a:uFillTx/>
          <a:latin typeface="Arial Regular" panose="020B0604020202090204" charset="0"/>
          <a:ea typeface="华文中宋" panose="0201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rgbClr val="A41F35"/>
          </a:solidFill>
          <a:uFillTx/>
          <a:latin typeface="Arial Regular" panose="020B0604020202090204" charset="0"/>
          <a:ea typeface="华文中宋" panose="0201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rgbClr val="A41F35"/>
          </a:solidFill>
          <a:uFillTx/>
          <a:latin typeface="Arial Regular" panose="020B0604020202090204" charset="0"/>
          <a:ea typeface="华文中宋" panose="0201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52070" y="6575743"/>
            <a:ext cx="270002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902585" y="6575743"/>
            <a:ext cx="6388100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9441180" y="6575743"/>
            <a:ext cx="2699385" cy="2305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/>
                </a:solidFill>
                <a:latin typeface="华文中宋" panose="02010600040101010101" charset="-122"/>
                <a:ea typeface="华文中宋" panose="0201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/>
          </a:solidFill>
          <a:uFillTx/>
          <a:latin typeface="华文中宋" panose="02010600040101010101" charset="-122"/>
          <a:ea typeface="华文中宋" panose="0201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.png"/><Relationship Id="rId1" Type="http://schemas.openxmlformats.org/officeDocument/2006/relationships/tags" Target="../tags/tag1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1" Type="http://schemas.openxmlformats.org/officeDocument/2006/relationships/tags" Target="../tags/tag1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0.png"/><Relationship Id="rId1" Type="http://schemas.openxmlformats.org/officeDocument/2006/relationships/tags" Target="../tags/tag12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2.png"/><Relationship Id="rId2" Type="http://schemas.openxmlformats.org/officeDocument/2006/relationships/tags" Target="../tags/tag126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5.png"/><Relationship Id="rId1" Type="http://schemas.openxmlformats.org/officeDocument/2006/relationships/tags" Target="../tags/tag1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副标题 4"/>
          <p:cNvSpPr/>
          <p:nvPr>
            <p:ph type="subTitle" idx="1"/>
            <p:custDataLst>
              <p:tags r:id="rId1"/>
            </p:custDataLst>
          </p:nvPr>
        </p:nvSpPr>
        <p:spPr>
          <a:xfrm>
            <a:off x="1198800" y="2522175"/>
            <a:ext cx="9799200" cy="1209675"/>
          </a:xfrm>
        </p:spPr>
        <p:txBody>
          <a:bodyPr/>
          <a:p>
            <a:r>
              <a:rPr lang="en-US" altLang="zh-CN" sz="6600" b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GPU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编程初级教程</a:t>
            </a:r>
            <a:endParaRPr lang="en-US" altLang="zh-CN" sz="6600" b="1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1567" y="4984530"/>
            <a:ext cx="9594596" cy="583565"/>
          </a:xfrm>
          <a:prstGeom prst="rect">
            <a:avLst/>
          </a:prstGeom>
          <a:noFill/>
        </p:spPr>
        <p:txBody>
          <a:bodyPr wrap="square" lIns="21600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华东师范大学 </a:t>
            </a:r>
            <a:r>
              <a:rPr lang="en-US" altLang="zh-CN" sz="3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·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 </a:t>
            </a:r>
            <a:r>
              <a:rPr lang="zh-CN" altLang="en-US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软件工程学院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 </a:t>
            </a:r>
            <a:endParaRPr lang="en-US" altLang="zh-CN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388745"/>
            <a:ext cx="3998595" cy="34702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335" y="1388745"/>
            <a:ext cx="6130925" cy="34709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8330" y="4933950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网站：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http://59.78.197.120:30001/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39335" y="4934585"/>
            <a:ext cx="40640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账户：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yxiao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密码：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yxiao@123!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39240" y="4084955"/>
            <a:ext cx="2649855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579870" y="4038600"/>
            <a:ext cx="2649855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主界面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301115"/>
            <a:ext cx="9057005" cy="48183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174625" y="2224405"/>
            <a:ext cx="2649855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选择账户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282065"/>
            <a:ext cx="10968355" cy="47815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238375" y="4728845"/>
            <a:ext cx="2649855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974580" y="4750435"/>
            <a:ext cx="669290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20520" y="6115050"/>
            <a:ext cx="8716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首字母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学号，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不要选非本人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的进行</a:t>
            </a:r>
            <a:r>
              <a:rPr lang="en-US" altLang="zh-CN" sz="200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connect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Terminal</a:t>
            </a:r>
            <a:endParaRPr lang="en-US" altLang="zh-CN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405255"/>
            <a:ext cx="10968990" cy="497459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93110" y="4998085"/>
            <a:ext cx="751205" cy="90233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9545" y="1691640"/>
            <a:ext cx="2790825" cy="30575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检查环境并上传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.cu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1691640"/>
            <a:ext cx="5019675" cy="2110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8330" y="4180205"/>
            <a:ext cx="4064000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命令：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sudo -i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nvcc -V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19545" y="4886960"/>
            <a:ext cx="2363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Arial" panose="020B0604020202020204" pitchFamily="34" charset="0"/>
                <a:cs typeface="Arial" panose="020B0604020202020204" pitchFamily="34" charset="0"/>
              </a:rPr>
              <a:t>上传</a:t>
            </a:r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.cu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文件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216265" y="2078990"/>
            <a:ext cx="457835" cy="433705"/>
          </a:xfrm>
          <a:prstGeom prst="rect">
            <a:avLst/>
          </a:prstGeom>
          <a:noFill/>
          <a:ln w="317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</a:t>
            </a:r>
            <a:r>
              <a:rPr lang="en-US" altLang="zh-CN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.cu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750060"/>
            <a:ext cx="10996295" cy="19850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3562985"/>
            <a:ext cx="3452495" cy="206629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459095" y="3567430"/>
            <a:ext cx="5798820" cy="1339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命令：</a:t>
            </a:r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cd /home/jovyan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ls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nvcc vector_add.cu -o vector_add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运行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685925"/>
            <a:ext cx="7255510" cy="32651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14260" y="168592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命令：</a:t>
            </a:r>
            <a:endParaRPr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./vector_add</a:t>
            </a:r>
            <a:endParaRPr lang="en-US" altLang="zh-CN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6260" y="2705655"/>
            <a:ext cx="9799200" cy="1446530"/>
          </a:xfrm>
        </p:spPr>
        <p:txBody>
          <a:bodyPr/>
          <a:p>
            <a:r>
              <a:rPr lang="en-US" altLang="zh-CN" sz="8800" b="1">
                <a:latin typeface="Arial" panose="020B0604020202020204" pitchFamily="34" charset="0"/>
                <a:cs typeface="Arial" panose="020B0604020202020204" pitchFamily="34" charset="0"/>
              </a:rPr>
              <a:t>THANKS!</a:t>
            </a:r>
            <a:endParaRPr lang="en-US" altLang="zh-CN" sz="8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resource_record_key" val="{&quot;10&quot;:[21600789,17426268]}"/>
</p:tagLst>
</file>

<file path=ppt/theme/theme1.xml><?xml version="1.0" encoding="utf-8"?>
<a:theme xmlns:a="http://schemas.openxmlformats.org/drawingml/2006/main" name="1_WPS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</Words>
  <Application>WPS 演示</Application>
  <PresentationFormat>宽屏</PresentationFormat>
  <Paragraphs>44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华文中宋</vt:lpstr>
      <vt:lpstr>Wingdings</vt:lpstr>
      <vt:lpstr>方正小标宋简体</vt:lpstr>
      <vt:lpstr>微软雅黑</vt:lpstr>
      <vt:lpstr>Arial Bold</vt:lpstr>
      <vt:lpstr>Arial Regular</vt:lpstr>
      <vt:lpstr>苹方-简</vt:lpstr>
      <vt:lpstr>Segoe Print</vt:lpstr>
      <vt:lpstr>Arial Unicode MS</vt:lpstr>
      <vt:lpstr>方正小标宋简体</vt:lpstr>
      <vt:lpstr>1_WPS</vt:lpstr>
      <vt:lpstr>3_WPS</vt:lpstr>
      <vt:lpstr>5_WPS</vt:lpstr>
      <vt:lpstr>PowerPoint 演示文稿</vt:lpstr>
      <vt:lpstr>登录</vt:lpstr>
      <vt:lpstr>主界面</vt:lpstr>
      <vt:lpstr>选择账户</vt:lpstr>
      <vt:lpstr>进入Terminal</vt:lpstr>
      <vt:lpstr>检查环境并上传.cu文件</vt:lpstr>
      <vt:lpstr>编译.cu文件</vt:lpstr>
      <vt:lpstr>运行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沈昊</cp:lastModifiedBy>
  <cp:revision>250</cp:revision>
  <dcterms:created xsi:type="dcterms:W3CDTF">2025-12-16T05:42:00Z</dcterms:created>
  <dcterms:modified xsi:type="dcterms:W3CDTF">2025-12-23T04:37:25Z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63B94CD4F7DE2994B1EC406940E0F267_43</vt:lpwstr>
  </property>
</Properties>
</file>