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1" r:id="rId4"/>
  </p:sldMasterIdLst>
  <p:notesMasterIdLst>
    <p:notesMasterId r:id="rId52"/>
  </p:notesMasterIdLst>
  <p:handoutMasterIdLst>
    <p:handoutMasterId r:id="rId53"/>
  </p:handoutMasterIdLst>
  <p:sldIdLst>
    <p:sldId id="267" r:id="rId5"/>
    <p:sldId id="275" r:id="rId6"/>
    <p:sldId id="400" r:id="rId7"/>
    <p:sldId id="415" r:id="rId8"/>
    <p:sldId id="416" r:id="rId9"/>
    <p:sldId id="401" r:id="rId10"/>
    <p:sldId id="402" r:id="rId11"/>
    <p:sldId id="417" r:id="rId12"/>
    <p:sldId id="403" r:id="rId13"/>
    <p:sldId id="404" r:id="rId14"/>
    <p:sldId id="405" r:id="rId15"/>
    <p:sldId id="406" r:id="rId16"/>
    <p:sldId id="407" r:id="rId17"/>
    <p:sldId id="408" r:id="rId18"/>
    <p:sldId id="419" r:id="rId19"/>
    <p:sldId id="418" r:id="rId20"/>
    <p:sldId id="409" r:id="rId21"/>
    <p:sldId id="410" r:id="rId22"/>
    <p:sldId id="411" r:id="rId23"/>
    <p:sldId id="412" r:id="rId24"/>
    <p:sldId id="420" r:id="rId25"/>
    <p:sldId id="413" r:id="rId26"/>
    <p:sldId id="414"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33" r:id="rId40"/>
    <p:sldId id="434" r:id="rId41"/>
    <p:sldId id="435" r:id="rId42"/>
    <p:sldId id="445" r:id="rId43"/>
    <p:sldId id="436" r:id="rId44"/>
    <p:sldId id="439" r:id="rId45"/>
    <p:sldId id="438" r:id="rId46"/>
    <p:sldId id="440" r:id="rId47"/>
    <p:sldId id="441" r:id="rId48"/>
    <p:sldId id="442" r:id="rId49"/>
    <p:sldId id="443" r:id="rId50"/>
    <p:sldId id="444" r:id="rId51"/>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52" autoAdjust="0"/>
  </p:normalViewPr>
  <p:slideViewPr>
    <p:cSldViewPr snapToGrid="0">
      <p:cViewPr varScale="1">
        <p:scale>
          <a:sx n="65" d="100"/>
          <a:sy n="65" d="100"/>
        </p:scale>
        <p:origin x="644" y="60"/>
      </p:cViewPr>
      <p:guideLst>
        <p:guide orient="horz" pos="2160"/>
        <p:guide pos="3840"/>
      </p:guideLst>
    </p:cSldViewPr>
  </p:slideViewPr>
  <p:notesTextViewPr>
    <p:cViewPr>
      <p:scale>
        <a:sx n="1" d="1"/>
        <a:sy n="1" d="1"/>
      </p:scale>
      <p:origin x="0" y="0"/>
    </p:cViewPr>
  </p:notesTextViewPr>
  <p:notesViewPr>
    <p:cSldViewPr snapToGrid="0">
      <p:cViewPr varScale="1">
        <p:scale>
          <a:sx n="77" d="100"/>
          <a:sy n="77"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94FFE89-DD1A-434A-B46E-FC01616819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705BBA22-1009-4062-B497-20D4D1F420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592F9BB-E9D3-4971-98B6-25B67B790E54}" type="datetime1">
              <a:rPr lang="zh-CN" altLang="en-US" smtClean="0">
                <a:latin typeface="Microsoft YaHei UI" panose="020B0503020204020204" pitchFamily="34" charset="-122"/>
                <a:ea typeface="Microsoft YaHei UI" panose="020B0503020204020204" pitchFamily="34" charset="-122"/>
              </a:rPr>
              <a:t>2025/9/25</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265305A3-EF7C-4109-870C-75957F87F8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A65183E6-2BF7-4148-8288-DCAD651FB9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CA6C9-E2E2-4922-B1A7-E6462166C8C6}"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00596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A3150C38-C506-467B-8DC0-1448EE621FE9}" type="datetime1">
              <a:rPr lang="zh-CN" altLang="en-US" smtClean="0"/>
              <a:pPr/>
              <a:t>2025/9/25</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2C70E52-1238-4A7F-867E-2F90BFCA0D60}" type="slidenum">
              <a:rPr lang="en-US" altLang="zh-CN" smtClean="0"/>
              <a:pPr/>
              <a:t>‹#›</a:t>
            </a:fld>
            <a:endParaRPr lang="zh-CN" altLang="en-US"/>
          </a:p>
        </p:txBody>
      </p:sp>
    </p:spTree>
    <p:extLst>
      <p:ext uri="{BB962C8B-B14F-4D97-AF65-F5344CB8AC3E}">
        <p14:creationId xmlns:p14="http://schemas.microsoft.com/office/powerpoint/2010/main" val="353458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62218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22C70E52-1238-4A7F-867E-2F90BFCA0D60}"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72331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CFA8DA-6A2E-452F-B2FD-C692E3F9477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124960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208F5-23F9-41F0-9BD4-963E4B09B1C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9158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7D7A5-162C-448B-9184-4DF74749515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409586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C7B8D8-DB3E-4157-B75E-F22DF685A7A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47400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AC17E3C-7BCD-4CE1-BB77-DBC4F6AAD3A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083905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0450531-738C-4056-94DC-C9695B076A7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135771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2293090-B4C5-4232-8C20-16B4CD9E856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87215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83C681-63CC-4C6E-BB2B-532CC9376B1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52391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D3E630-40F6-4B28-997D-664B0011855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1633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29236F9-F5AC-4754-AA25-365CEB18F6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61173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CD11ED9-4D7A-4F4E-812E-E8F30379C1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45592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BD3E1CC-83A2-4B9D-8E8B-60737E93608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55778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Content Placeholder 4"/>
          <p:cNvSpPr>
            <a:spLocks noGrp="1"/>
          </p:cNvSpPr>
          <p:nvPr>
            <p:ph sz="quarter" idx="3"/>
          </p:nvPr>
        </p:nvSpPr>
        <p:spPr>
          <a:xfrm>
            <a:off x="6197600" y="41148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733C97B-CB0A-4B24-848D-85035B14B2B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84621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26FDBF1-7747-46AD-BE97-E034824279B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45595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2025/9/25</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69746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2025/9/25</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491131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2025/9/25</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1181701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2025/9/25</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2025/9/25</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9693825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2025/9/25</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832959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A59AD62C-EAA7-4D5D-9E4E-F3C1DEE386C7}"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59264407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79" r:id="rId18"/>
    <p:sldLayoutId id="2147483669" r:id="rId19"/>
    <p:sldLayoutId id="2147483680" r:id="rId20"/>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305F2-4D75-4D76-BA59-F00627AB838F}"/>
              </a:ext>
            </a:extLst>
          </p:cNvPr>
          <p:cNvSpPr>
            <a:spLocks noGrp="1"/>
          </p:cNvSpPr>
          <p:nvPr>
            <p:ph type="title"/>
          </p:nvPr>
        </p:nvSpPr>
        <p:spPr/>
        <p:txBody>
          <a:bodyPr rtlCol="0"/>
          <a:lstStyle/>
          <a:p>
            <a:pPr rtl="0"/>
            <a:r>
              <a:rPr lang="zh-CN" altLang="en-US">
                <a:latin typeface="Microsoft YaHei UI" panose="020B0503020204020204" pitchFamily="34" charset="-122"/>
                <a:ea typeface="Microsoft YaHei UI" panose="020B0503020204020204" pitchFamily="34" charset="-122"/>
              </a:rPr>
              <a:t>如何使用此模板</a:t>
            </a:r>
          </a:p>
        </p:txBody>
      </p:sp>
      <p:sp>
        <p:nvSpPr>
          <p:cNvPr id="3" name="内容占位符 2">
            <a:extLst>
              <a:ext uri="{FF2B5EF4-FFF2-40B4-BE49-F238E27FC236}">
                <a16:creationId xmlns:a16="http://schemas.microsoft.com/office/drawing/2014/main" id="{88CB4E0E-ECE5-4628-8AFC-87C9EFB0840C}"/>
              </a:ext>
            </a:extLst>
          </p:cNvPr>
          <p:cNvSpPr>
            <a:spLocks noGrp="1"/>
          </p:cNvSpPr>
          <p:nvPr>
            <p:ph idx="1"/>
          </p:nvPr>
        </p:nvSpPr>
        <p:spPr/>
        <p:txBody>
          <a:bodyPr rtlCol="0"/>
          <a:lstStyle/>
          <a:p>
            <a:pPr rtl="0"/>
            <a:r>
              <a:rPr lang="zh-CN" altLang="en-US">
                <a:latin typeface="Microsoft YaHei UI" panose="020B0503020204020204" pitchFamily="34" charset="-122"/>
                <a:ea typeface="Microsoft YaHei UI" panose="020B0503020204020204" pitchFamily="34" charset="-122"/>
              </a:rPr>
              <a:t>按照每张幻灯片上的说明创建演示文稿。</a:t>
            </a:r>
          </a:p>
          <a:p>
            <a:pPr rtl="0"/>
            <a:r>
              <a:rPr lang="zh-CN" altLang="en-US">
                <a:latin typeface="Microsoft YaHei UI" panose="020B0503020204020204" pitchFamily="34" charset="-122"/>
                <a:ea typeface="Microsoft YaHei UI" panose="020B0503020204020204" pitchFamily="34" charset="-122"/>
              </a:rPr>
              <a:t>请记住 </a:t>
            </a:r>
            <a:r>
              <a:rPr lang="en-US" altLang="zh-CN">
                <a:latin typeface="Microsoft YaHei UI" panose="020B0503020204020204" pitchFamily="34" charset="-122"/>
                <a:ea typeface="Microsoft YaHei UI" panose="020B0503020204020204" pitchFamily="34" charset="-122"/>
              </a:rPr>
              <a:t>PowerPoint </a:t>
            </a:r>
            <a:r>
              <a:rPr lang="zh-CN" altLang="en-US">
                <a:latin typeface="Microsoft YaHei UI" panose="020B0503020204020204" pitchFamily="34" charset="-122"/>
                <a:ea typeface="Microsoft YaHei UI" panose="020B0503020204020204" pitchFamily="34" charset="-122"/>
              </a:rPr>
              <a:t>是演示文稿的视觉效果。每张幻灯片上的文字仅作为论点（而不是你要说的所有内容）。</a:t>
            </a:r>
          </a:p>
          <a:p>
            <a:pPr rtl="0"/>
            <a:r>
              <a:rPr lang="zh-CN" altLang="en-US">
                <a:latin typeface="Microsoft YaHei UI" panose="020B0503020204020204" pitchFamily="34" charset="-122"/>
                <a:ea typeface="Microsoft YaHei UI" panose="020B0503020204020204" pitchFamily="34" charset="-122"/>
              </a:rPr>
              <a:t>图像和图形可增加趣味；请务必在适当时将其添加到幻灯片。</a:t>
            </a:r>
          </a:p>
          <a:p>
            <a:pPr rtl="0"/>
            <a:r>
              <a:rPr lang="zh-CN" altLang="en-US">
                <a:latin typeface="Microsoft YaHei UI" panose="020B0503020204020204" pitchFamily="34" charset="-122"/>
                <a:ea typeface="Microsoft YaHei UI" panose="020B0503020204020204" pitchFamily="34" charset="-122"/>
              </a:rPr>
              <a:t>仔细选择切换和动画。（希望受众如何专注于内容，而不是效果。）</a:t>
            </a:r>
          </a:p>
        </p:txBody>
      </p:sp>
      <p:sp>
        <p:nvSpPr>
          <p:cNvPr id="5" name="文本框 4">
            <a:extLst>
              <a:ext uri="{FF2B5EF4-FFF2-40B4-BE49-F238E27FC236}">
                <a16:creationId xmlns:a16="http://schemas.microsoft.com/office/drawing/2014/main" id="{C964FC16-E9FB-469F-90C3-177A60236474}"/>
              </a:ext>
            </a:extLst>
          </p:cNvPr>
          <p:cNvSpPr txBox="1"/>
          <p:nvPr/>
        </p:nvSpPr>
        <p:spPr>
          <a:xfrm>
            <a:off x="3414573" y="685602"/>
            <a:ext cx="419100" cy="1107996"/>
          </a:xfrm>
          <a:prstGeom prst="rect">
            <a:avLst/>
          </a:prstGeom>
          <a:noFill/>
        </p:spPr>
        <p:txBody>
          <a:bodyPr wrap="square" rtlCol="0">
            <a:spAutoFit/>
          </a:bodyPr>
          <a:lstStyle/>
          <a:p>
            <a:pPr rtl="0"/>
            <a:r>
              <a:rPr lang="zh-CN" altLang="en-US" sz="6600" b="1" dirty="0">
                <a:latin typeface="Microsoft YaHei UI" panose="020B0503020204020204" pitchFamily="34" charset="-122"/>
                <a:ea typeface="Microsoft YaHei UI" panose="020B0503020204020204" pitchFamily="34" charset="-122"/>
              </a:rPr>
              <a:t>？</a:t>
            </a:r>
          </a:p>
        </p:txBody>
      </p:sp>
      <p:pic>
        <p:nvPicPr>
          <p:cNvPr id="6" name="图片 5">
            <a:extLst>
              <a:ext uri="{FF2B5EF4-FFF2-40B4-BE49-F238E27FC236}">
                <a16:creationId xmlns:a16="http://schemas.microsoft.com/office/drawing/2014/main" id="{3277024B-DB97-437B-AFB7-ADCC67686182}"/>
              </a:ext>
            </a:extLst>
          </p:cNvPr>
          <p:cNvPicPr>
            <a:picLocks noChangeAspect="1"/>
          </p:cNvPicPr>
          <p:nvPr/>
        </p:nvPicPr>
        <p:blipFill>
          <a:blip r:embed="rId3"/>
          <a:stretch>
            <a:fillRect/>
          </a:stretch>
        </p:blipFill>
        <p:spPr>
          <a:xfrm>
            <a:off x="-36335" y="-1"/>
            <a:ext cx="12228335" cy="6873069"/>
          </a:xfrm>
          <a:prstGeom prst="rect">
            <a:avLst/>
          </a:prstGeom>
        </p:spPr>
      </p:pic>
      <p:sp>
        <p:nvSpPr>
          <p:cNvPr id="7" name="文本框 6">
            <a:extLst>
              <a:ext uri="{FF2B5EF4-FFF2-40B4-BE49-F238E27FC236}">
                <a16:creationId xmlns:a16="http://schemas.microsoft.com/office/drawing/2014/main" id="{BD8A8358-EA86-4F42-A7A2-D6F9EB98ACC3}"/>
              </a:ext>
            </a:extLst>
          </p:cNvPr>
          <p:cNvSpPr txBox="1"/>
          <p:nvPr/>
        </p:nvSpPr>
        <p:spPr>
          <a:xfrm>
            <a:off x="2890792" y="2285126"/>
            <a:ext cx="6689557" cy="3416320"/>
          </a:xfrm>
          <a:prstGeom prst="rect">
            <a:avLst/>
          </a:prstGeom>
          <a:noFill/>
        </p:spPr>
        <p:txBody>
          <a:bodyPr wrap="square" rtlCol="0">
            <a:spAutoFit/>
          </a:bodyPr>
          <a:lstStyle/>
          <a:p>
            <a:r>
              <a:rPr lang="zh-CN" altLang="en-US" sz="4000" b="1" dirty="0"/>
              <a:t>西方哲学与人的教育</a:t>
            </a:r>
          </a:p>
          <a:p>
            <a:r>
              <a:rPr lang="zh-CN" altLang="en-US" sz="4000" b="1" dirty="0"/>
              <a:t>一、柏拉图</a:t>
            </a:r>
            <a:r>
              <a:rPr lang="en-US" altLang="zh-CN" sz="4000" b="1" dirty="0"/>
              <a:t>《</a:t>
            </a:r>
            <a:r>
              <a:rPr lang="zh-CN" altLang="en-US" sz="4000" b="1" dirty="0"/>
              <a:t>理 想 国</a:t>
            </a:r>
            <a:r>
              <a:rPr lang="en-US" altLang="zh-CN" sz="4000" b="1"/>
              <a:t>》</a:t>
            </a:r>
          </a:p>
          <a:p>
            <a:r>
              <a:rPr lang="zh-CN" altLang="en-US" sz="4000" b="1"/>
              <a:t>                                            </a:t>
            </a:r>
            <a:endParaRPr lang="en-US" altLang="zh-CN" sz="4000" b="1" dirty="0"/>
          </a:p>
          <a:p>
            <a:pPr algn="r"/>
            <a:endParaRPr lang="en-US" altLang="zh-CN" sz="3200" dirty="0"/>
          </a:p>
          <a:p>
            <a:pPr algn="r"/>
            <a:r>
              <a:rPr lang="zh-CN" altLang="en-US" sz="3200" dirty="0">
                <a:latin typeface="楷体" panose="02010609060101010101" pitchFamily="49" charset="-122"/>
                <a:ea typeface="楷体" panose="02010609060101010101" pitchFamily="49" charset="-122"/>
              </a:rPr>
              <a:t>华东师范大学哲学系 </a:t>
            </a:r>
            <a:endParaRPr lang="en-US" altLang="zh-CN" sz="3200" dirty="0">
              <a:latin typeface="楷体" panose="02010609060101010101" pitchFamily="49" charset="-122"/>
              <a:ea typeface="楷体" panose="02010609060101010101" pitchFamily="49" charset="-122"/>
            </a:endParaRPr>
          </a:p>
          <a:p>
            <a:pPr algn="r"/>
            <a:r>
              <a:rPr lang="zh-CN" altLang="en-US" sz="3200" dirty="0">
                <a:latin typeface="楷体" panose="02010609060101010101" pitchFamily="49" charset="-122"/>
                <a:ea typeface="楷体" panose="02010609060101010101" pitchFamily="49" charset="-122"/>
              </a:rPr>
              <a:t>张立立</a:t>
            </a:r>
          </a:p>
        </p:txBody>
      </p:sp>
    </p:spTree>
    <p:extLst>
      <p:ext uri="{BB962C8B-B14F-4D97-AF65-F5344CB8AC3E}">
        <p14:creationId xmlns:p14="http://schemas.microsoft.com/office/powerpoint/2010/main" val="86265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第二卷</a:t>
            </a:r>
          </a:p>
        </p:txBody>
      </p:sp>
      <p:sp>
        <p:nvSpPr>
          <p:cNvPr id="9" name="Content Placeholder 8"/>
          <p:cNvSpPr>
            <a:spLocks noGrp="1"/>
          </p:cNvSpPr>
          <p:nvPr>
            <p:ph type="body" idx="1"/>
          </p:nvPr>
        </p:nvSpPr>
        <p:spPr>
          <a:xfrm>
            <a:off x="529290" y="1422399"/>
            <a:ext cx="4869241" cy="2057400"/>
          </a:xfrm>
        </p:spPr>
        <p:txBody>
          <a:bodyPr/>
          <a:lstStyle/>
          <a:p>
            <a:r>
              <a:rPr lang="zh-CN" altLang="en-US" sz="2000" b="1" dirty="0"/>
              <a:t>格劳康与阿黛依曼特对第一卷的讨论不满意，于是重新整理了特拉需马科的观点。</a:t>
            </a:r>
            <a:endParaRPr lang="en-US" altLang="zh-CN" sz="2000" b="1" dirty="0"/>
          </a:p>
          <a:p>
            <a:endParaRPr lang="en-US" altLang="zh-CN" sz="2000" b="1" dirty="0"/>
          </a:p>
          <a:p>
            <a:r>
              <a:rPr lang="zh-CN" altLang="en-US" sz="2000" b="1" dirty="0"/>
              <a:t>实际柏拉图在这一卷中，开始提出自己的讨论正义问题的概念框架。</a:t>
            </a:r>
          </a:p>
          <a:p>
            <a:endParaRPr lang="zh-CN" altLang="en-US" dirty="0"/>
          </a:p>
        </p:txBody>
      </p:sp>
      <p:sp>
        <p:nvSpPr>
          <p:cNvPr id="10" name="Content Placeholder 9"/>
          <p:cNvSpPr>
            <a:spLocks noGrp="1"/>
          </p:cNvSpPr>
          <p:nvPr>
            <p:ph sz="half" idx="4294967295"/>
          </p:nvPr>
        </p:nvSpPr>
        <p:spPr>
          <a:xfrm>
            <a:off x="7151688" y="1870075"/>
            <a:ext cx="5040312" cy="3921125"/>
          </a:xfrm>
        </p:spPr>
        <p:txBody>
          <a:bodyPr/>
          <a:lstStyle/>
          <a:p>
            <a:endParaRPr lang="zh-CN" altLang="en-US" dirty="0"/>
          </a:p>
          <a:p>
            <a:endParaRPr lang="zh-CN" altLang="en-US" dirty="0"/>
          </a:p>
        </p:txBody>
      </p:sp>
      <p:pic>
        <p:nvPicPr>
          <p:cNvPr id="7" name="图片 6" descr="放大镜图标">
            <a:extLst>
              <a:ext uri="{FF2B5EF4-FFF2-40B4-BE49-F238E27FC236}">
                <a16:creationId xmlns:a16="http://schemas.microsoft.com/office/drawing/2014/main" id="{AAE36621-6FAB-4009-9D5C-CE767DF10D2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515" y="1183800"/>
            <a:ext cx="685800" cy="685800"/>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6714" y="0"/>
            <a:ext cx="6355286"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6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zh-CN" altLang="en-US" dirty="0"/>
          </a:p>
        </p:txBody>
      </p:sp>
      <p:sp>
        <p:nvSpPr>
          <p:cNvPr id="5" name="Content Placeholder 4"/>
          <p:cNvSpPr>
            <a:spLocks noGrp="1"/>
          </p:cNvSpPr>
          <p:nvPr>
            <p:ph sz="half" idx="1"/>
          </p:nvPr>
        </p:nvSpPr>
        <p:spPr/>
        <p:txBody>
          <a:bodyPr>
            <a:normAutofit/>
          </a:bodyPr>
          <a:lstStyle/>
          <a:p>
            <a:endParaRPr lang="zh-CN" altLang="en-US"/>
          </a:p>
        </p:txBody>
      </p:sp>
      <p:sp>
        <p:nvSpPr>
          <p:cNvPr id="6" name="Content Placeholder 5"/>
          <p:cNvSpPr>
            <a:spLocks noGrp="1"/>
          </p:cNvSpPr>
          <p:nvPr>
            <p:ph sz="half" idx="2"/>
          </p:nvPr>
        </p:nvSpPr>
        <p:spPr>
          <a:xfrm>
            <a:off x="6488644" y="3604809"/>
            <a:ext cx="5040000" cy="2186392"/>
          </a:xfrm>
        </p:spPr>
        <p:txBody>
          <a:bodyPr>
            <a:normAutofit/>
          </a:bodyPr>
          <a:lstStyle/>
          <a:p>
            <a:r>
              <a:rPr lang="zh-CN" altLang="en-US" sz="2000" b="1" dirty="0"/>
              <a:t>格劳康发现，若想说明我们为什么要正义，必须说明正义和善（</a:t>
            </a:r>
            <a:r>
              <a:rPr lang="en-US" altLang="zh-CN" sz="2000" b="1" dirty="0"/>
              <a:t>goodness</a:t>
            </a:r>
            <a:r>
              <a:rPr lang="zh-CN" altLang="en-US" sz="2000" b="1" dirty="0"/>
              <a:t>）的关系。他区分了三种善。</a:t>
            </a:r>
            <a:endParaRPr lang="en-US" altLang="zh-CN" sz="2000" b="1" dirty="0"/>
          </a:p>
          <a:p>
            <a:r>
              <a:rPr lang="zh-CN" altLang="en-US" sz="2000" b="1" dirty="0"/>
              <a:t>这个区分表明，对正义的研究将重新开始，将在“善”而非“利益”的框架下进行。</a:t>
            </a:r>
          </a:p>
          <a:p>
            <a:endParaRPr lang="en-US" altLang="zh-C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913"/>
            <a:ext cx="6543675" cy="629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763255" cy="1616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675" y="160913"/>
            <a:ext cx="5667375" cy="329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a:xfrm>
            <a:off x="1468582" y="3066473"/>
            <a:ext cx="4211782"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182255" y="3308925"/>
            <a:ext cx="189345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059709" y="4045527"/>
            <a:ext cx="370378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182255" y="4285673"/>
            <a:ext cx="4581236"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82255" y="4535055"/>
            <a:ext cx="1293090"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336800" y="5495636"/>
            <a:ext cx="3426691" cy="3694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182255" y="5763491"/>
            <a:ext cx="1893454"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8275782" y="369455"/>
            <a:ext cx="3066473" cy="369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7527636" y="861291"/>
            <a:ext cx="3943928" cy="531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37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4099"/>
                                        </p:tgtEl>
                                        <p:attrNameLst>
                                          <p:attrName>style.visibility</p:attrName>
                                        </p:attrNameLst>
                                      </p:cBhvr>
                                      <p:to>
                                        <p:strVal val="visible"/>
                                      </p:to>
                                    </p:set>
                                    <p:anim calcmode="lin" valueType="num">
                                      <p:cBhvr>
                                        <p:cTn id="12" dur="1000" fill="hold"/>
                                        <p:tgtEl>
                                          <p:spTgt spid="4099"/>
                                        </p:tgtEl>
                                        <p:attrNameLst>
                                          <p:attrName>ppt_w</p:attrName>
                                        </p:attrNameLst>
                                      </p:cBhvr>
                                      <p:tavLst>
                                        <p:tav tm="0">
                                          <p:val>
                                            <p:fltVal val="0"/>
                                          </p:val>
                                        </p:tav>
                                        <p:tav tm="100000">
                                          <p:val>
                                            <p:strVal val="#ppt_w"/>
                                          </p:val>
                                        </p:tav>
                                      </p:tavLst>
                                    </p:anim>
                                    <p:anim calcmode="lin" valueType="num">
                                      <p:cBhvr>
                                        <p:cTn id="13" dur="1000" fill="hold"/>
                                        <p:tgtEl>
                                          <p:spTgt spid="4099"/>
                                        </p:tgtEl>
                                        <p:attrNameLst>
                                          <p:attrName>ppt_h</p:attrName>
                                        </p:attrNameLst>
                                      </p:cBhvr>
                                      <p:tavLst>
                                        <p:tav tm="0">
                                          <p:val>
                                            <p:fltVal val="0"/>
                                          </p:val>
                                        </p:tav>
                                        <p:tav tm="100000">
                                          <p:val>
                                            <p:strVal val="#ppt_h"/>
                                          </p:val>
                                        </p:tav>
                                      </p:tavLst>
                                    </p:anim>
                                    <p:anim calcmode="lin" valueType="num">
                                      <p:cBhvr>
                                        <p:cTn id="14" dur="1000" fill="hold"/>
                                        <p:tgtEl>
                                          <p:spTgt spid="4099"/>
                                        </p:tgtEl>
                                        <p:attrNameLst>
                                          <p:attrName>style.rotation</p:attrName>
                                        </p:attrNameLst>
                                      </p:cBhvr>
                                      <p:tavLst>
                                        <p:tav tm="0">
                                          <p:val>
                                            <p:fltVal val="90"/>
                                          </p:val>
                                        </p:tav>
                                        <p:tav tm="100000">
                                          <p:val>
                                            <p:fltVal val="0"/>
                                          </p:val>
                                        </p:tav>
                                      </p:tavLst>
                                    </p:anim>
                                    <p:animEffect transition="in" filter="fade">
                                      <p:cBhvr>
                                        <p:cTn id="15" dur="1000"/>
                                        <p:tgtEl>
                                          <p:spTgt spid="4099"/>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ppt_w</p:attrName>
                                        </p:attrNameLst>
                                      </p:cBhvr>
                                      <p:tavLst>
                                        <p:tav tm="0">
                                          <p:val>
                                            <p:fltVal val="0"/>
                                          </p:val>
                                        </p:tav>
                                        <p:tav tm="100000">
                                          <p:val>
                                            <p:strVal val="#ppt_w"/>
                                          </p:val>
                                        </p:tav>
                                      </p:tavLst>
                                    </p:anim>
                                    <p:anim calcmode="lin" valueType="num">
                                      <p:cBhvr>
                                        <p:cTn id="21" dur="1000" fill="hold"/>
                                        <p:tgtEl>
                                          <p:spTgt spid="3"/>
                                        </p:tgtEl>
                                        <p:attrNameLst>
                                          <p:attrName>ppt_h</p:attrName>
                                        </p:attrNameLst>
                                      </p:cBhvr>
                                      <p:tavLst>
                                        <p:tav tm="0">
                                          <p:val>
                                            <p:fltVal val="0"/>
                                          </p:val>
                                        </p:tav>
                                        <p:tav tm="100000">
                                          <p:val>
                                            <p:strVal val="#ppt_h"/>
                                          </p:val>
                                        </p:tav>
                                      </p:tavLst>
                                    </p:anim>
                                    <p:anim calcmode="lin" valueType="num">
                                      <p:cBhvr>
                                        <p:cTn id="22" dur="1000" fill="hold"/>
                                        <p:tgtEl>
                                          <p:spTgt spid="3"/>
                                        </p:tgtEl>
                                        <p:attrNameLst>
                                          <p:attrName>style.rotation</p:attrName>
                                        </p:attrNameLst>
                                      </p:cBhvr>
                                      <p:tavLst>
                                        <p:tav tm="0">
                                          <p:val>
                                            <p:fltVal val="90"/>
                                          </p:val>
                                        </p:tav>
                                        <p:tav tm="100000">
                                          <p:val>
                                            <p:fltVal val="0"/>
                                          </p:val>
                                        </p:tav>
                                      </p:tavLst>
                                    </p:anim>
                                    <p:animEffect transition="in" filter="fade">
                                      <p:cBhvr>
                                        <p:cTn id="23" dur="10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1000" fill="hold"/>
                                        <p:tgtEl>
                                          <p:spTgt spid="10"/>
                                        </p:tgtEl>
                                        <p:attrNameLst>
                                          <p:attrName>ppt_w</p:attrName>
                                        </p:attrNameLst>
                                      </p:cBhvr>
                                      <p:tavLst>
                                        <p:tav tm="0">
                                          <p:val>
                                            <p:fltVal val="0"/>
                                          </p:val>
                                        </p:tav>
                                        <p:tav tm="100000">
                                          <p:val>
                                            <p:strVal val="#ppt_w"/>
                                          </p:val>
                                        </p:tav>
                                      </p:tavLst>
                                    </p:anim>
                                    <p:anim calcmode="lin" valueType="num">
                                      <p:cBhvr>
                                        <p:cTn id="37" dur="1000" fill="hold"/>
                                        <p:tgtEl>
                                          <p:spTgt spid="10"/>
                                        </p:tgtEl>
                                        <p:attrNameLst>
                                          <p:attrName>ppt_h</p:attrName>
                                        </p:attrNameLst>
                                      </p:cBhvr>
                                      <p:tavLst>
                                        <p:tav tm="0">
                                          <p:val>
                                            <p:fltVal val="0"/>
                                          </p:val>
                                        </p:tav>
                                        <p:tav tm="100000">
                                          <p:val>
                                            <p:strVal val="#ppt_h"/>
                                          </p:val>
                                        </p:tav>
                                      </p:tavLst>
                                    </p:anim>
                                    <p:anim calcmode="lin" valueType="num">
                                      <p:cBhvr>
                                        <p:cTn id="38" dur="1000" fill="hold"/>
                                        <p:tgtEl>
                                          <p:spTgt spid="10"/>
                                        </p:tgtEl>
                                        <p:attrNameLst>
                                          <p:attrName>style.rotation</p:attrName>
                                        </p:attrNameLst>
                                      </p:cBhvr>
                                      <p:tavLst>
                                        <p:tav tm="0">
                                          <p:val>
                                            <p:fltVal val="90"/>
                                          </p:val>
                                        </p:tav>
                                        <p:tav tm="100000">
                                          <p:val>
                                            <p:fltVal val="0"/>
                                          </p:val>
                                        </p:tav>
                                      </p:tavLst>
                                    </p:anim>
                                    <p:animEffect transition="in" filter="fade">
                                      <p:cBhvr>
                                        <p:cTn id="39" dur="10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1000" fill="hold"/>
                                        <p:tgtEl>
                                          <p:spTgt spid="12"/>
                                        </p:tgtEl>
                                        <p:attrNameLst>
                                          <p:attrName>ppt_w</p:attrName>
                                        </p:attrNameLst>
                                      </p:cBhvr>
                                      <p:tavLst>
                                        <p:tav tm="0">
                                          <p:val>
                                            <p:fltVal val="0"/>
                                          </p:val>
                                        </p:tav>
                                        <p:tav tm="100000">
                                          <p:val>
                                            <p:strVal val="#ppt_w"/>
                                          </p:val>
                                        </p:tav>
                                      </p:tavLst>
                                    </p:anim>
                                    <p:anim calcmode="lin" valueType="num">
                                      <p:cBhvr>
                                        <p:cTn id="45" dur="1000" fill="hold"/>
                                        <p:tgtEl>
                                          <p:spTgt spid="12"/>
                                        </p:tgtEl>
                                        <p:attrNameLst>
                                          <p:attrName>ppt_h</p:attrName>
                                        </p:attrNameLst>
                                      </p:cBhvr>
                                      <p:tavLst>
                                        <p:tav tm="0">
                                          <p:val>
                                            <p:fltVal val="0"/>
                                          </p:val>
                                        </p:tav>
                                        <p:tav tm="100000">
                                          <p:val>
                                            <p:strVal val="#ppt_h"/>
                                          </p:val>
                                        </p:tav>
                                      </p:tavLst>
                                    </p:anim>
                                    <p:anim calcmode="lin" valueType="num">
                                      <p:cBhvr>
                                        <p:cTn id="46" dur="1000" fill="hold"/>
                                        <p:tgtEl>
                                          <p:spTgt spid="12"/>
                                        </p:tgtEl>
                                        <p:attrNameLst>
                                          <p:attrName>style.rotation</p:attrName>
                                        </p:attrNameLst>
                                      </p:cBhvr>
                                      <p:tavLst>
                                        <p:tav tm="0">
                                          <p:val>
                                            <p:fltVal val="90"/>
                                          </p:val>
                                        </p:tav>
                                        <p:tav tm="100000">
                                          <p:val>
                                            <p:fltVal val="0"/>
                                          </p:val>
                                        </p:tav>
                                      </p:tavLst>
                                    </p:anim>
                                    <p:animEffect transition="in" filter="fade">
                                      <p:cBhvr>
                                        <p:cTn id="47" dur="1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1000" fill="hold"/>
                                        <p:tgtEl>
                                          <p:spTgt spid="14"/>
                                        </p:tgtEl>
                                        <p:attrNameLst>
                                          <p:attrName>ppt_w</p:attrName>
                                        </p:attrNameLst>
                                      </p:cBhvr>
                                      <p:tavLst>
                                        <p:tav tm="0">
                                          <p:val>
                                            <p:fltVal val="0"/>
                                          </p:val>
                                        </p:tav>
                                        <p:tav tm="100000">
                                          <p:val>
                                            <p:strVal val="#ppt_w"/>
                                          </p:val>
                                        </p:tav>
                                      </p:tavLst>
                                    </p:anim>
                                    <p:anim calcmode="lin" valueType="num">
                                      <p:cBhvr>
                                        <p:cTn id="53" dur="1000" fill="hold"/>
                                        <p:tgtEl>
                                          <p:spTgt spid="14"/>
                                        </p:tgtEl>
                                        <p:attrNameLst>
                                          <p:attrName>ppt_h</p:attrName>
                                        </p:attrNameLst>
                                      </p:cBhvr>
                                      <p:tavLst>
                                        <p:tav tm="0">
                                          <p:val>
                                            <p:fltVal val="0"/>
                                          </p:val>
                                        </p:tav>
                                        <p:tav tm="100000">
                                          <p:val>
                                            <p:strVal val="#ppt_h"/>
                                          </p:val>
                                        </p:tav>
                                      </p:tavLst>
                                    </p:anim>
                                    <p:anim calcmode="lin" valueType="num">
                                      <p:cBhvr>
                                        <p:cTn id="54" dur="1000" fill="hold"/>
                                        <p:tgtEl>
                                          <p:spTgt spid="14"/>
                                        </p:tgtEl>
                                        <p:attrNameLst>
                                          <p:attrName>style.rotation</p:attrName>
                                        </p:attrNameLst>
                                      </p:cBhvr>
                                      <p:tavLst>
                                        <p:tav tm="0">
                                          <p:val>
                                            <p:fltVal val="90"/>
                                          </p:val>
                                        </p:tav>
                                        <p:tav tm="100000">
                                          <p:val>
                                            <p:fltVal val="0"/>
                                          </p:val>
                                        </p:tav>
                                      </p:tavLst>
                                    </p:anim>
                                    <p:animEffect transition="in" filter="fade">
                                      <p:cBhvr>
                                        <p:cTn id="55" dur="10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p:cTn id="60" dur="1000" fill="hold"/>
                                        <p:tgtEl>
                                          <p:spTgt spid="17"/>
                                        </p:tgtEl>
                                        <p:attrNameLst>
                                          <p:attrName>ppt_w</p:attrName>
                                        </p:attrNameLst>
                                      </p:cBhvr>
                                      <p:tavLst>
                                        <p:tav tm="0">
                                          <p:val>
                                            <p:fltVal val="0"/>
                                          </p:val>
                                        </p:tav>
                                        <p:tav tm="100000">
                                          <p:val>
                                            <p:strVal val="#ppt_w"/>
                                          </p:val>
                                        </p:tav>
                                      </p:tavLst>
                                    </p:anim>
                                    <p:anim calcmode="lin" valueType="num">
                                      <p:cBhvr>
                                        <p:cTn id="61" dur="1000" fill="hold"/>
                                        <p:tgtEl>
                                          <p:spTgt spid="17"/>
                                        </p:tgtEl>
                                        <p:attrNameLst>
                                          <p:attrName>ppt_h</p:attrName>
                                        </p:attrNameLst>
                                      </p:cBhvr>
                                      <p:tavLst>
                                        <p:tav tm="0">
                                          <p:val>
                                            <p:fltVal val="0"/>
                                          </p:val>
                                        </p:tav>
                                        <p:tav tm="100000">
                                          <p:val>
                                            <p:strVal val="#ppt_h"/>
                                          </p:val>
                                        </p:tav>
                                      </p:tavLst>
                                    </p:anim>
                                    <p:anim calcmode="lin" valueType="num">
                                      <p:cBhvr>
                                        <p:cTn id="62" dur="1000" fill="hold"/>
                                        <p:tgtEl>
                                          <p:spTgt spid="17"/>
                                        </p:tgtEl>
                                        <p:attrNameLst>
                                          <p:attrName>style.rotation</p:attrName>
                                        </p:attrNameLst>
                                      </p:cBhvr>
                                      <p:tavLst>
                                        <p:tav tm="0">
                                          <p:val>
                                            <p:fltVal val="90"/>
                                          </p:val>
                                        </p:tav>
                                        <p:tav tm="100000">
                                          <p:val>
                                            <p:fltVal val="0"/>
                                          </p:val>
                                        </p:tav>
                                      </p:tavLst>
                                    </p:anim>
                                    <p:animEffect transition="in" filter="fade">
                                      <p:cBhvr>
                                        <p:cTn id="63" dur="10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31" presetClass="entr" presetSubtype="0" fill="hold"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p:cTn id="68" dur="1000" fill="hold"/>
                                        <p:tgtEl>
                                          <p:spTgt spid="19"/>
                                        </p:tgtEl>
                                        <p:attrNameLst>
                                          <p:attrName>ppt_w</p:attrName>
                                        </p:attrNameLst>
                                      </p:cBhvr>
                                      <p:tavLst>
                                        <p:tav tm="0">
                                          <p:val>
                                            <p:fltVal val="0"/>
                                          </p:val>
                                        </p:tav>
                                        <p:tav tm="100000">
                                          <p:val>
                                            <p:strVal val="#ppt_w"/>
                                          </p:val>
                                        </p:tav>
                                      </p:tavLst>
                                    </p:anim>
                                    <p:anim calcmode="lin" valueType="num">
                                      <p:cBhvr>
                                        <p:cTn id="69" dur="1000" fill="hold"/>
                                        <p:tgtEl>
                                          <p:spTgt spid="19"/>
                                        </p:tgtEl>
                                        <p:attrNameLst>
                                          <p:attrName>ppt_h</p:attrName>
                                        </p:attrNameLst>
                                      </p:cBhvr>
                                      <p:tavLst>
                                        <p:tav tm="0">
                                          <p:val>
                                            <p:fltVal val="0"/>
                                          </p:val>
                                        </p:tav>
                                        <p:tav tm="100000">
                                          <p:val>
                                            <p:strVal val="#ppt_h"/>
                                          </p:val>
                                        </p:tav>
                                      </p:tavLst>
                                    </p:anim>
                                    <p:anim calcmode="lin" valueType="num">
                                      <p:cBhvr>
                                        <p:cTn id="70" dur="1000" fill="hold"/>
                                        <p:tgtEl>
                                          <p:spTgt spid="19"/>
                                        </p:tgtEl>
                                        <p:attrNameLst>
                                          <p:attrName>style.rotation</p:attrName>
                                        </p:attrNameLst>
                                      </p:cBhvr>
                                      <p:tavLst>
                                        <p:tav tm="0">
                                          <p:val>
                                            <p:fltVal val="90"/>
                                          </p:val>
                                        </p:tav>
                                        <p:tav tm="100000">
                                          <p:val>
                                            <p:fltVal val="0"/>
                                          </p:val>
                                        </p:tav>
                                      </p:tavLst>
                                    </p:anim>
                                    <p:animEffect transition="in" filter="fade">
                                      <p:cBhvr>
                                        <p:cTn id="71" dur="10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nodeType="clickEffect">
                                  <p:stCondLst>
                                    <p:cond delay="0"/>
                                  </p:stCondLst>
                                  <p:childTnLst>
                                    <p:set>
                                      <p:cBhvr>
                                        <p:cTn id="75" dur="1" fill="hold">
                                          <p:stCondLst>
                                            <p:cond delay="0"/>
                                          </p:stCondLst>
                                        </p:cTn>
                                        <p:tgtEl>
                                          <p:spTgt spid="4101"/>
                                        </p:tgtEl>
                                        <p:attrNameLst>
                                          <p:attrName>style.visibility</p:attrName>
                                        </p:attrNameLst>
                                      </p:cBhvr>
                                      <p:to>
                                        <p:strVal val="visible"/>
                                      </p:to>
                                    </p:set>
                                    <p:animEffect transition="in" filter="randombar(horizontal)">
                                      <p:cBhvr>
                                        <p:cTn id="76" dur="500"/>
                                        <p:tgtEl>
                                          <p:spTgt spid="4101"/>
                                        </p:tgtEl>
                                      </p:cBhvr>
                                    </p:animEffect>
                                  </p:childTnLst>
                                </p:cTn>
                              </p:par>
                            </p:childTnLst>
                          </p:cTn>
                        </p:par>
                      </p:childTnLst>
                    </p:cTn>
                  </p:par>
                  <p:par>
                    <p:cTn id="77" fill="hold">
                      <p:stCondLst>
                        <p:cond delay="indefinite"/>
                      </p:stCondLst>
                      <p:childTnLst>
                        <p:par>
                          <p:cTn id="78" fill="hold">
                            <p:stCondLst>
                              <p:cond delay="0"/>
                            </p:stCondLst>
                            <p:childTnLst>
                              <p:par>
                                <p:cTn id="79" presetID="3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p:cTn id="81" dur="1000" fill="hold"/>
                                        <p:tgtEl>
                                          <p:spTgt spid="21"/>
                                        </p:tgtEl>
                                        <p:attrNameLst>
                                          <p:attrName>ppt_w</p:attrName>
                                        </p:attrNameLst>
                                      </p:cBhvr>
                                      <p:tavLst>
                                        <p:tav tm="0">
                                          <p:val>
                                            <p:fltVal val="0"/>
                                          </p:val>
                                        </p:tav>
                                        <p:tav tm="100000">
                                          <p:val>
                                            <p:strVal val="#ppt_w"/>
                                          </p:val>
                                        </p:tav>
                                      </p:tavLst>
                                    </p:anim>
                                    <p:anim calcmode="lin" valueType="num">
                                      <p:cBhvr>
                                        <p:cTn id="82" dur="1000" fill="hold"/>
                                        <p:tgtEl>
                                          <p:spTgt spid="21"/>
                                        </p:tgtEl>
                                        <p:attrNameLst>
                                          <p:attrName>ppt_h</p:attrName>
                                        </p:attrNameLst>
                                      </p:cBhvr>
                                      <p:tavLst>
                                        <p:tav tm="0">
                                          <p:val>
                                            <p:fltVal val="0"/>
                                          </p:val>
                                        </p:tav>
                                        <p:tav tm="100000">
                                          <p:val>
                                            <p:strVal val="#ppt_h"/>
                                          </p:val>
                                        </p:tav>
                                      </p:tavLst>
                                    </p:anim>
                                    <p:anim calcmode="lin" valueType="num">
                                      <p:cBhvr>
                                        <p:cTn id="83" dur="1000" fill="hold"/>
                                        <p:tgtEl>
                                          <p:spTgt spid="21"/>
                                        </p:tgtEl>
                                        <p:attrNameLst>
                                          <p:attrName>style.rotation</p:attrName>
                                        </p:attrNameLst>
                                      </p:cBhvr>
                                      <p:tavLst>
                                        <p:tav tm="0">
                                          <p:val>
                                            <p:fltVal val="90"/>
                                          </p:val>
                                        </p:tav>
                                        <p:tav tm="100000">
                                          <p:val>
                                            <p:fltVal val="0"/>
                                          </p:val>
                                        </p:tav>
                                      </p:tavLst>
                                    </p:anim>
                                    <p:animEffect transition="in" filter="fade">
                                      <p:cBhvr>
                                        <p:cTn id="84" dur="1000"/>
                                        <p:tgtEl>
                                          <p:spTgt spid="21"/>
                                        </p:tgtEl>
                                      </p:cBhvr>
                                    </p:animEffect>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nodeType="click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p:cTn id="89" dur="1000" fill="hold"/>
                                        <p:tgtEl>
                                          <p:spTgt spid="23"/>
                                        </p:tgtEl>
                                        <p:attrNameLst>
                                          <p:attrName>ppt_w</p:attrName>
                                        </p:attrNameLst>
                                      </p:cBhvr>
                                      <p:tavLst>
                                        <p:tav tm="0">
                                          <p:val>
                                            <p:fltVal val="0"/>
                                          </p:val>
                                        </p:tav>
                                        <p:tav tm="100000">
                                          <p:val>
                                            <p:strVal val="#ppt_w"/>
                                          </p:val>
                                        </p:tav>
                                      </p:tavLst>
                                    </p:anim>
                                    <p:anim calcmode="lin" valueType="num">
                                      <p:cBhvr>
                                        <p:cTn id="90" dur="1000" fill="hold"/>
                                        <p:tgtEl>
                                          <p:spTgt spid="23"/>
                                        </p:tgtEl>
                                        <p:attrNameLst>
                                          <p:attrName>ppt_h</p:attrName>
                                        </p:attrNameLst>
                                      </p:cBhvr>
                                      <p:tavLst>
                                        <p:tav tm="0">
                                          <p:val>
                                            <p:fltVal val="0"/>
                                          </p:val>
                                        </p:tav>
                                        <p:tav tm="100000">
                                          <p:val>
                                            <p:strVal val="#ppt_h"/>
                                          </p:val>
                                        </p:tav>
                                      </p:tavLst>
                                    </p:anim>
                                    <p:anim calcmode="lin" valueType="num">
                                      <p:cBhvr>
                                        <p:cTn id="91" dur="1000" fill="hold"/>
                                        <p:tgtEl>
                                          <p:spTgt spid="23"/>
                                        </p:tgtEl>
                                        <p:attrNameLst>
                                          <p:attrName>style.rotation</p:attrName>
                                        </p:attrNameLst>
                                      </p:cBhvr>
                                      <p:tavLst>
                                        <p:tav tm="0">
                                          <p:val>
                                            <p:fltVal val="90"/>
                                          </p:val>
                                        </p:tav>
                                        <p:tav tm="100000">
                                          <p:val>
                                            <p:fltVal val="0"/>
                                          </p:val>
                                        </p:tav>
                                      </p:tavLst>
                                    </p:anim>
                                    <p:animEffect transition="in" filter="fade">
                                      <p:cBhvr>
                                        <p:cTn id="92" dur="1000"/>
                                        <p:tgtEl>
                                          <p:spTgt spid="23"/>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nodeType="clickEffect">
                                  <p:stCondLst>
                                    <p:cond delay="0"/>
                                  </p:stCondLst>
                                  <p:childTnLst>
                                    <p:set>
                                      <p:cBhvr>
                                        <p:cTn id="96" dur="1" fill="hold">
                                          <p:stCondLst>
                                            <p:cond delay="0"/>
                                          </p:stCondLst>
                                        </p:cTn>
                                        <p:tgtEl>
                                          <p:spTgt spid="6">
                                            <p:txEl>
                                              <p:pRg st="0" end="0"/>
                                            </p:txEl>
                                          </p:spTgt>
                                        </p:tgtEl>
                                        <p:attrNameLst>
                                          <p:attrName>style.visibility</p:attrName>
                                        </p:attrNameLst>
                                      </p:cBhvr>
                                      <p:to>
                                        <p:strVal val="visible"/>
                                      </p:to>
                                    </p:set>
                                    <p:animEffect transition="in" filter="wheel(1)">
                                      <p:cBhvr>
                                        <p:cTn id="97" dur="2000"/>
                                        <p:tgtEl>
                                          <p:spTgt spid="6">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nodeType="clickEffect">
                                  <p:stCondLst>
                                    <p:cond delay="0"/>
                                  </p:stCondLst>
                                  <p:childTnLst>
                                    <p:set>
                                      <p:cBhvr>
                                        <p:cTn id="101" dur="1" fill="hold">
                                          <p:stCondLst>
                                            <p:cond delay="0"/>
                                          </p:stCondLst>
                                        </p:cTn>
                                        <p:tgtEl>
                                          <p:spTgt spid="6">
                                            <p:txEl>
                                              <p:pRg st="1" end="1"/>
                                            </p:txEl>
                                          </p:spTgt>
                                        </p:tgtEl>
                                        <p:attrNameLst>
                                          <p:attrName>style.visibility</p:attrName>
                                        </p:attrNameLst>
                                      </p:cBhvr>
                                      <p:to>
                                        <p:strVal val="visible"/>
                                      </p:to>
                                    </p:set>
                                    <p:animEffect transition="in" filter="wheel(1)">
                                      <p:cBhvr>
                                        <p:cTn id="102"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三种善的区分</a:t>
            </a:r>
          </a:p>
        </p:txBody>
      </p:sp>
      <p:sp>
        <p:nvSpPr>
          <p:cNvPr id="3" name="Content Placeholder 2"/>
          <p:cNvSpPr>
            <a:spLocks noGrp="1"/>
          </p:cNvSpPr>
          <p:nvPr>
            <p:ph sz="half" idx="1"/>
          </p:nvPr>
        </p:nvSpPr>
        <p:spPr>
          <a:xfrm>
            <a:off x="685802" y="1869600"/>
            <a:ext cx="2676234" cy="3921601"/>
          </a:xfrm>
        </p:spPr>
        <p:txBody>
          <a:bodyPr>
            <a:normAutofit/>
          </a:bodyPr>
          <a:lstStyle/>
          <a:p>
            <a:r>
              <a:rPr lang="zh-CN" altLang="en-US" sz="2000" b="1" dirty="0"/>
              <a:t>本身善</a:t>
            </a:r>
            <a:endParaRPr lang="en-US" altLang="zh-CN" sz="2000" b="1" dirty="0"/>
          </a:p>
          <a:p>
            <a:r>
              <a:rPr lang="zh-CN" altLang="en-US" dirty="0"/>
              <a:t>√</a:t>
            </a:r>
            <a:endParaRPr lang="en-US" altLang="zh-CN" dirty="0"/>
          </a:p>
          <a:p>
            <a:endParaRPr lang="en-US" altLang="zh-CN" dirty="0"/>
          </a:p>
          <a:p>
            <a:r>
              <a:rPr lang="en-US" altLang="zh-CN" dirty="0"/>
              <a:t>√</a:t>
            </a:r>
          </a:p>
          <a:p>
            <a:endParaRPr lang="en-US" altLang="zh-CN" dirty="0"/>
          </a:p>
          <a:p>
            <a:r>
              <a:rPr lang="zh-CN" altLang="en-US" dirty="0"/>
              <a:t>Ｘ</a:t>
            </a:r>
            <a:endParaRPr lang="en-US" altLang="zh-CN" dirty="0"/>
          </a:p>
          <a:p>
            <a:endParaRPr lang="en-US" altLang="zh-CN" dirty="0"/>
          </a:p>
          <a:p>
            <a:endParaRPr lang="en-US" altLang="zh-CN" dirty="0"/>
          </a:p>
          <a:p>
            <a:endParaRPr lang="en-US" altLang="zh-CN" dirty="0"/>
          </a:p>
          <a:p>
            <a:endParaRPr lang="zh-CN" altLang="en-US" dirty="0"/>
          </a:p>
        </p:txBody>
      </p:sp>
      <p:sp>
        <p:nvSpPr>
          <p:cNvPr id="4" name="Content Placeholder 3"/>
          <p:cNvSpPr>
            <a:spLocks noGrp="1"/>
          </p:cNvSpPr>
          <p:nvPr>
            <p:ph sz="half" idx="2"/>
          </p:nvPr>
        </p:nvSpPr>
        <p:spPr>
          <a:xfrm>
            <a:off x="3662316" y="1860365"/>
            <a:ext cx="2175065" cy="3921600"/>
          </a:xfrm>
        </p:spPr>
        <p:txBody>
          <a:bodyPr>
            <a:normAutofit/>
          </a:bodyPr>
          <a:lstStyle/>
          <a:p>
            <a:r>
              <a:rPr lang="zh-CN" altLang="en-US" sz="2000" b="1" dirty="0"/>
              <a:t>后果善</a:t>
            </a:r>
            <a:endParaRPr lang="en-US" altLang="zh-CN" sz="2000" b="1" dirty="0"/>
          </a:p>
          <a:p>
            <a:r>
              <a:rPr lang="zh-CN" altLang="en-US" dirty="0"/>
              <a:t>Ｘ</a:t>
            </a:r>
            <a:endParaRPr lang="en-US" altLang="zh-CN" dirty="0"/>
          </a:p>
          <a:p>
            <a:endParaRPr lang="en-US" altLang="zh-CN" dirty="0"/>
          </a:p>
          <a:p>
            <a:r>
              <a:rPr lang="en-US" altLang="zh-CN" dirty="0"/>
              <a:t>√</a:t>
            </a:r>
          </a:p>
          <a:p>
            <a:endParaRPr lang="en-US" altLang="zh-CN" dirty="0"/>
          </a:p>
          <a:p>
            <a:r>
              <a:rPr lang="en-US" altLang="zh-CN" dirty="0"/>
              <a:t>√</a:t>
            </a:r>
          </a:p>
          <a:p>
            <a:endParaRPr lang="en-US" altLang="zh-CN" dirty="0"/>
          </a:p>
          <a:p>
            <a:endParaRPr lang="zh-CN" altLang="en-US" dirty="0"/>
          </a:p>
        </p:txBody>
      </p:sp>
      <p:sp>
        <p:nvSpPr>
          <p:cNvPr id="6" name="TextBox 5"/>
          <p:cNvSpPr txBox="1"/>
          <p:nvPr/>
        </p:nvSpPr>
        <p:spPr>
          <a:xfrm>
            <a:off x="5818909" y="1911927"/>
            <a:ext cx="2983346" cy="3416320"/>
          </a:xfrm>
          <a:prstGeom prst="rect">
            <a:avLst/>
          </a:prstGeom>
          <a:noFill/>
        </p:spPr>
        <p:txBody>
          <a:bodyPr wrap="square" rtlCol="0">
            <a:spAutoFit/>
          </a:bodyPr>
          <a:lstStyle/>
          <a:p>
            <a:endParaRPr lang="en-US" altLang="zh-CN" dirty="0"/>
          </a:p>
          <a:p>
            <a:pPr marL="285750" indent="-285750">
              <a:buFont typeface="Arial" panose="020B0604020202020204" pitchFamily="34" charset="0"/>
              <a:buChar char="•"/>
            </a:pPr>
            <a:r>
              <a:rPr lang="zh-CN" altLang="en-US" sz="2000" b="1" dirty="0"/>
              <a:t>无害的愉悦</a:t>
            </a:r>
            <a:r>
              <a:rPr lang="en-US" altLang="zh-CN" sz="2000" b="1" dirty="0"/>
              <a:t>357b5</a:t>
            </a:r>
          </a:p>
          <a:p>
            <a:pPr marL="285750" indent="-285750">
              <a:buFont typeface="Arial" panose="020B0604020202020204" pitchFamily="34" charset="0"/>
              <a:buChar char="•"/>
            </a:pPr>
            <a:endParaRPr lang="en-US" altLang="zh-CN" sz="2000" b="1" dirty="0"/>
          </a:p>
          <a:p>
            <a:pPr marL="285750" indent="-285750">
              <a:buFont typeface="Arial" panose="020B0604020202020204" pitchFamily="34" charset="0"/>
              <a:buChar char="•"/>
            </a:pPr>
            <a:endParaRPr lang="en-US" altLang="zh-CN" sz="2000" b="1" dirty="0"/>
          </a:p>
          <a:p>
            <a:pPr marL="285750" indent="-285750">
              <a:buFont typeface="Arial" panose="020B0604020202020204" pitchFamily="34" charset="0"/>
              <a:buChar char="•"/>
            </a:pPr>
            <a:r>
              <a:rPr lang="zh-CN" altLang="en-US" sz="2000" b="1" dirty="0"/>
              <a:t>学习，健康</a:t>
            </a:r>
            <a:r>
              <a:rPr lang="en-US" altLang="zh-CN" sz="2000" b="1" dirty="0"/>
              <a:t>357b10-c4 </a:t>
            </a:r>
          </a:p>
          <a:p>
            <a:pPr marL="285750" indent="-285750">
              <a:buFont typeface="Arial" panose="020B0604020202020204" pitchFamily="34" charset="0"/>
              <a:buChar char="•"/>
            </a:pPr>
            <a:endParaRPr lang="en-US" altLang="zh-CN" sz="2000" b="1" dirty="0"/>
          </a:p>
          <a:p>
            <a:pPr marL="285750" indent="-285750">
              <a:buFont typeface="Arial" panose="020B0604020202020204" pitchFamily="34" charset="0"/>
              <a:buChar char="•"/>
            </a:pPr>
            <a:endParaRPr lang="en-US" altLang="zh-CN" sz="2000" b="1" dirty="0"/>
          </a:p>
          <a:p>
            <a:pPr marL="285750" indent="-285750">
              <a:buFont typeface="Arial" panose="020B0604020202020204" pitchFamily="34" charset="0"/>
              <a:buChar char="•"/>
            </a:pPr>
            <a:r>
              <a:rPr lang="zh-CN" altLang="en-US" sz="2000" b="1" dirty="0"/>
              <a:t>锻炼身体，医疗，医药本身，或者广义上的赚钱</a:t>
            </a:r>
            <a:endParaRPr lang="en-US" altLang="zh-CN" sz="2000" b="1" dirty="0"/>
          </a:p>
          <a:p>
            <a:endParaRPr lang="zh-CN" altLang="en-US" dirty="0"/>
          </a:p>
        </p:txBody>
      </p:sp>
      <p:sp>
        <p:nvSpPr>
          <p:cNvPr id="7" name="TextBox 6"/>
          <p:cNvSpPr txBox="1"/>
          <p:nvPr/>
        </p:nvSpPr>
        <p:spPr>
          <a:xfrm>
            <a:off x="9171708" y="2170545"/>
            <a:ext cx="2724728" cy="2154436"/>
          </a:xfrm>
          <a:prstGeom prst="rect">
            <a:avLst/>
          </a:prstGeom>
          <a:noFill/>
        </p:spPr>
        <p:txBody>
          <a:bodyPr wrap="square" rtlCol="0">
            <a:spAutoFit/>
          </a:bodyPr>
          <a:lstStyle/>
          <a:p>
            <a:endParaRPr lang="en-US" altLang="zh-CN" dirty="0"/>
          </a:p>
          <a:p>
            <a:endParaRPr lang="en-US" altLang="zh-CN" dirty="0"/>
          </a:p>
          <a:p>
            <a:endParaRPr lang="en-US" altLang="zh-CN" dirty="0"/>
          </a:p>
          <a:p>
            <a:r>
              <a:rPr lang="zh-CN" altLang="en-US" sz="2000" b="1" dirty="0"/>
              <a:t>正义（苏格拉底）</a:t>
            </a:r>
            <a:endParaRPr lang="en-US" altLang="zh-CN" sz="2000" b="1" dirty="0"/>
          </a:p>
          <a:p>
            <a:r>
              <a:rPr lang="zh-CN" altLang="en-US" sz="2000" b="1" dirty="0">
                <a:solidFill>
                  <a:srgbClr val="FF0000"/>
                </a:solidFill>
                <a:latin typeface="SimSun"/>
                <a:ea typeface="SimSun"/>
              </a:rPr>
              <a:t>    ？</a:t>
            </a:r>
            <a:endParaRPr lang="en-US" altLang="zh-CN" sz="2000" b="1" dirty="0">
              <a:solidFill>
                <a:srgbClr val="FF0000"/>
              </a:solidFill>
            </a:endParaRPr>
          </a:p>
          <a:p>
            <a:endParaRPr lang="en-US" altLang="zh-CN" sz="2000" b="1" dirty="0"/>
          </a:p>
          <a:p>
            <a:r>
              <a:rPr lang="zh-CN" altLang="en-US" sz="2000" b="1" dirty="0"/>
              <a:t>正义（格劳康，大众）</a:t>
            </a:r>
          </a:p>
        </p:txBody>
      </p:sp>
    </p:spTree>
    <p:extLst>
      <p:ext uri="{BB962C8B-B14F-4D97-AF65-F5344CB8AC3E}">
        <p14:creationId xmlns:p14="http://schemas.microsoft.com/office/powerpoint/2010/main" val="85932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1000"/>
                                        <p:tgtEl>
                                          <p:spTgt spid="4">
                                            <p:txEl>
                                              <p:pRg st="3" end="3"/>
                                            </p:txEl>
                                          </p:spTgt>
                                        </p:tgtEl>
                                      </p:cBhvr>
                                    </p:animEffect>
                                    <p:anim calcmode="lin" valueType="num">
                                      <p:cBhvr>
                                        <p:cTn id="3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
                                            <p:txEl>
                                              <p:pRg st="4" end="4"/>
                                            </p:txEl>
                                          </p:spTgt>
                                        </p:tgtEl>
                                        <p:attrNameLst>
                                          <p:attrName>style.visibility</p:attrName>
                                        </p:attrNameLst>
                                      </p:cBhvr>
                                      <p:to>
                                        <p:strVal val="visible"/>
                                      </p:to>
                                    </p:set>
                                    <p:animEffect transition="in" filter="fade">
                                      <p:cBhvr>
                                        <p:cTn id="42" dur="1000"/>
                                        <p:tgtEl>
                                          <p:spTgt spid="6">
                                            <p:txEl>
                                              <p:pRg st="4" end="4"/>
                                            </p:txEl>
                                          </p:spTgt>
                                        </p:tgtEl>
                                      </p:cBhvr>
                                    </p:animEffect>
                                    <p:anim calcmode="lin" valueType="num">
                                      <p:cBhvr>
                                        <p:cTn id="4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5" end="5"/>
                                            </p:txEl>
                                          </p:spTgt>
                                        </p:tgtEl>
                                        <p:attrNameLst>
                                          <p:attrName>style.visibility</p:attrName>
                                        </p:attrNameLst>
                                      </p:cBhvr>
                                      <p:to>
                                        <p:strVal val="visible"/>
                                      </p:to>
                                    </p:set>
                                    <p:animEffect transition="in" filter="fade">
                                      <p:cBhvr>
                                        <p:cTn id="56" dur="1000"/>
                                        <p:tgtEl>
                                          <p:spTgt spid="4">
                                            <p:txEl>
                                              <p:pRg st="5" end="5"/>
                                            </p:txEl>
                                          </p:spTgt>
                                        </p:tgtEl>
                                      </p:cBhvr>
                                    </p:animEffect>
                                    <p:anim calcmode="lin" valueType="num">
                                      <p:cBhvr>
                                        <p:cTn id="5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6">
                                            <p:txEl>
                                              <p:pRg st="7" end="7"/>
                                            </p:txEl>
                                          </p:spTgt>
                                        </p:tgtEl>
                                        <p:attrNameLst>
                                          <p:attrName>style.visibility</p:attrName>
                                        </p:attrNameLst>
                                      </p:cBhvr>
                                      <p:to>
                                        <p:strVal val="visible"/>
                                      </p:to>
                                    </p:set>
                                    <p:animEffect transition="in" filter="fade">
                                      <p:cBhvr>
                                        <p:cTn id="63" dur="1000"/>
                                        <p:tgtEl>
                                          <p:spTgt spid="6">
                                            <p:txEl>
                                              <p:pRg st="7" end="7"/>
                                            </p:txEl>
                                          </p:spTgt>
                                        </p:tgtEl>
                                      </p:cBhvr>
                                    </p:animEffect>
                                    <p:anim calcmode="lin" valueType="num">
                                      <p:cBhvr>
                                        <p:cTn id="64"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7">
                                            <p:txEl>
                                              <p:pRg st="6" end="6"/>
                                            </p:txEl>
                                          </p:spTgt>
                                        </p:tgtEl>
                                        <p:attrNameLst>
                                          <p:attrName>style.visibility</p:attrName>
                                        </p:attrNameLst>
                                      </p:cBhvr>
                                      <p:to>
                                        <p:strVal val="visible"/>
                                      </p:to>
                                    </p:set>
                                    <p:animEffect transition="in" filter="fade">
                                      <p:cBhvr>
                                        <p:cTn id="70" dur="1000"/>
                                        <p:tgtEl>
                                          <p:spTgt spid="7">
                                            <p:txEl>
                                              <p:pRg st="6" end="6"/>
                                            </p:txEl>
                                          </p:spTgt>
                                        </p:tgtEl>
                                      </p:cBhvr>
                                    </p:animEffect>
                                    <p:anim calcmode="lin" valueType="num">
                                      <p:cBhvr>
                                        <p:cTn id="71"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7">
                                            <p:txEl>
                                              <p:pRg st="3" end="3"/>
                                            </p:txEl>
                                          </p:spTgt>
                                        </p:tgtEl>
                                        <p:attrNameLst>
                                          <p:attrName>style.visibility</p:attrName>
                                        </p:attrNameLst>
                                      </p:cBhvr>
                                      <p:to>
                                        <p:strVal val="visible"/>
                                      </p:to>
                                    </p:set>
                                    <p:animEffect transition="in" filter="fade">
                                      <p:cBhvr>
                                        <p:cTn id="77" dur="1000"/>
                                        <p:tgtEl>
                                          <p:spTgt spid="7">
                                            <p:txEl>
                                              <p:pRg st="3" end="3"/>
                                            </p:txEl>
                                          </p:spTgt>
                                        </p:tgtEl>
                                      </p:cBhvr>
                                    </p:animEffect>
                                    <p:anim calcmode="lin" valueType="num">
                                      <p:cBhvr>
                                        <p:cTn id="7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1" presetClass="entr" presetSubtype="0" fill="hold" nodeType="clickEffect">
                                  <p:stCondLst>
                                    <p:cond delay="0"/>
                                  </p:stCondLst>
                                  <p:childTnLst>
                                    <p:set>
                                      <p:cBhvr>
                                        <p:cTn id="83" dur="1" fill="hold">
                                          <p:stCondLst>
                                            <p:cond delay="0"/>
                                          </p:stCondLst>
                                        </p:cTn>
                                        <p:tgtEl>
                                          <p:spTgt spid="7">
                                            <p:txEl>
                                              <p:pRg st="4" end="4"/>
                                            </p:txEl>
                                          </p:spTgt>
                                        </p:tgtEl>
                                        <p:attrNameLst>
                                          <p:attrName>style.visibility</p:attrName>
                                        </p:attrNameLst>
                                      </p:cBhvr>
                                      <p:to>
                                        <p:strVal val="visible"/>
                                      </p:to>
                                    </p:set>
                                    <p:anim calcmode="lin" valueType="num">
                                      <p:cBhvr>
                                        <p:cTn id="84" dur="1000" fill="hold"/>
                                        <p:tgtEl>
                                          <p:spTgt spid="7">
                                            <p:txEl>
                                              <p:pRg st="4" end="4"/>
                                            </p:txEl>
                                          </p:spTgt>
                                        </p:tgtEl>
                                        <p:attrNameLst>
                                          <p:attrName>ppt_w</p:attrName>
                                        </p:attrNameLst>
                                      </p:cBhvr>
                                      <p:tavLst>
                                        <p:tav tm="0">
                                          <p:val>
                                            <p:fltVal val="0"/>
                                          </p:val>
                                        </p:tav>
                                        <p:tav tm="100000">
                                          <p:val>
                                            <p:strVal val="#ppt_w"/>
                                          </p:val>
                                        </p:tav>
                                      </p:tavLst>
                                    </p:anim>
                                    <p:anim calcmode="lin" valueType="num">
                                      <p:cBhvr>
                                        <p:cTn id="85" dur="1000" fill="hold"/>
                                        <p:tgtEl>
                                          <p:spTgt spid="7">
                                            <p:txEl>
                                              <p:pRg st="4" end="4"/>
                                            </p:txEl>
                                          </p:spTgt>
                                        </p:tgtEl>
                                        <p:attrNameLst>
                                          <p:attrName>ppt_h</p:attrName>
                                        </p:attrNameLst>
                                      </p:cBhvr>
                                      <p:tavLst>
                                        <p:tav tm="0">
                                          <p:val>
                                            <p:fltVal val="0"/>
                                          </p:val>
                                        </p:tav>
                                        <p:tav tm="100000">
                                          <p:val>
                                            <p:strVal val="#ppt_h"/>
                                          </p:val>
                                        </p:tav>
                                      </p:tavLst>
                                    </p:anim>
                                    <p:anim calcmode="lin" valueType="num">
                                      <p:cBhvr>
                                        <p:cTn id="86" dur="1000" fill="hold"/>
                                        <p:tgtEl>
                                          <p:spTgt spid="7">
                                            <p:txEl>
                                              <p:pRg st="4" end="4"/>
                                            </p:txEl>
                                          </p:spTgt>
                                        </p:tgtEl>
                                        <p:attrNameLst>
                                          <p:attrName>style.rotation</p:attrName>
                                        </p:attrNameLst>
                                      </p:cBhvr>
                                      <p:tavLst>
                                        <p:tav tm="0">
                                          <p:val>
                                            <p:fltVal val="90"/>
                                          </p:val>
                                        </p:tav>
                                        <p:tav tm="100000">
                                          <p:val>
                                            <p:fltVal val="0"/>
                                          </p:val>
                                        </p:tav>
                                      </p:tavLst>
                                    </p:anim>
                                    <p:animEffect transition="in" filter="fade">
                                      <p:cBhvr>
                                        <p:cTn id="87" dur="1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zh-CN" dirty="0"/>
            </a:br>
            <a:r>
              <a:rPr lang="zh-CN" altLang="en-US" dirty="0"/>
              <a:t>为什么要在“善”的框架下重新讨论正义？</a:t>
            </a:r>
            <a:br>
              <a:rPr lang="en-US" altLang="zh-CN" dirty="0"/>
            </a:br>
            <a:endParaRPr lang="zh-CN" altLang="en-US" dirty="0"/>
          </a:p>
        </p:txBody>
      </p:sp>
      <p:sp>
        <p:nvSpPr>
          <p:cNvPr id="3" name="Content Placeholder 2"/>
          <p:cNvSpPr>
            <a:spLocks noGrp="1"/>
          </p:cNvSpPr>
          <p:nvPr>
            <p:ph sz="half" idx="1"/>
          </p:nvPr>
        </p:nvSpPr>
        <p:spPr/>
        <p:txBody>
          <a:bodyPr>
            <a:normAutofit/>
          </a:bodyPr>
          <a:lstStyle/>
          <a:p>
            <a:r>
              <a:rPr lang="zh-CN" altLang="en-US" sz="2000" b="1" dirty="0"/>
              <a:t>因为，苏格拉底必须解决第一卷中由特拉需马科提出的困难问题：</a:t>
            </a:r>
            <a:endParaRPr lang="en-US" altLang="zh-CN" sz="2000" b="1" dirty="0"/>
          </a:p>
          <a:p>
            <a:r>
              <a:rPr lang="zh-CN" altLang="en-US" sz="2000" b="1" dirty="0"/>
              <a:t>如果正义是他人的好处（利益），我为什么要正义？</a:t>
            </a:r>
            <a:endParaRPr lang="en-US" altLang="zh-CN" sz="2000" b="1" dirty="0"/>
          </a:p>
          <a:p>
            <a:r>
              <a:rPr lang="zh-CN" altLang="en-US" sz="2000" b="1" dirty="0"/>
              <a:t>如果人人都只是怕受不正义的害而谴责不正义，而不是怕自己不正义加害别人，那么是不是人都有向恶的倾向？</a:t>
            </a:r>
          </a:p>
        </p:txBody>
      </p:sp>
      <p:sp>
        <p:nvSpPr>
          <p:cNvPr id="4" name="Content Placeholder 3"/>
          <p:cNvSpPr>
            <a:spLocks noGrp="1"/>
          </p:cNvSpPr>
          <p:nvPr>
            <p:ph sz="half" idx="2"/>
          </p:nvPr>
        </p:nvSpPr>
        <p:spPr/>
        <p:txBody>
          <a:bodyPr/>
          <a:lstStyle/>
          <a:p>
            <a:endParaRPr lang="zh-CN" altLang="en-US"/>
          </a:p>
        </p:txBody>
      </p:sp>
    </p:spTree>
    <p:extLst>
      <p:ext uri="{BB962C8B-B14F-4D97-AF65-F5344CB8AC3E}">
        <p14:creationId xmlns:p14="http://schemas.microsoft.com/office/powerpoint/2010/main" val="1329493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4" name="Content Placeholder 3"/>
          <p:cNvSpPr>
            <a:spLocks noGrp="1"/>
          </p:cNvSpPr>
          <p:nvPr>
            <p:ph sz="half" idx="1"/>
          </p:nvPr>
        </p:nvSpPr>
        <p:spPr>
          <a:xfrm>
            <a:off x="5592278" y="5087565"/>
            <a:ext cx="5936366" cy="703635"/>
          </a:xfrm>
        </p:spPr>
        <p:txBody>
          <a:bodyPr>
            <a:noAutofit/>
          </a:bodyPr>
          <a:lstStyle/>
          <a:p>
            <a:r>
              <a:rPr lang="zh-CN" altLang="en-US" sz="2000" b="1" dirty="0"/>
              <a:t>格劳康宣称要重构特拉需马科的命题，然而，他真的是在重构特拉需马科的命题吗？</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58511"/>
            <a:ext cx="5676900" cy="230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6900" y="549563"/>
            <a:ext cx="5829300" cy="442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3297677" y="1780162"/>
            <a:ext cx="97276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809345" y="2324911"/>
            <a:ext cx="3151761"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40468" y="2538919"/>
            <a:ext cx="4513634"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86966" y="2794778"/>
            <a:ext cx="46206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40860" y="3093396"/>
            <a:ext cx="4153710" cy="923330"/>
          </a:xfrm>
          <a:prstGeom prst="rect">
            <a:avLst/>
          </a:prstGeom>
          <a:noFill/>
        </p:spPr>
        <p:txBody>
          <a:bodyPr wrap="square" rtlCol="0">
            <a:spAutoFit/>
          </a:bodyPr>
          <a:lstStyle/>
          <a:p>
            <a:r>
              <a:rPr lang="zh-CN" altLang="en-US" dirty="0"/>
              <a:t>本身善                                后果善</a:t>
            </a:r>
            <a:endParaRPr lang="en-US" altLang="zh-CN" dirty="0"/>
          </a:p>
          <a:p>
            <a:endParaRPr lang="en-US" altLang="zh-CN" dirty="0"/>
          </a:p>
          <a:p>
            <a:r>
              <a:rPr lang="zh-CN" altLang="en-US" dirty="0"/>
              <a:t>灵魂                                       利益</a:t>
            </a:r>
          </a:p>
        </p:txBody>
      </p:sp>
      <p:sp>
        <p:nvSpPr>
          <p:cNvPr id="15" name="TextBox 14"/>
          <p:cNvSpPr txBox="1"/>
          <p:nvPr/>
        </p:nvSpPr>
        <p:spPr>
          <a:xfrm>
            <a:off x="277238" y="3647394"/>
            <a:ext cx="753894" cy="369332"/>
          </a:xfrm>
          <a:prstGeom prst="rect">
            <a:avLst/>
          </a:prstGeom>
          <a:noFill/>
        </p:spPr>
        <p:txBody>
          <a:bodyPr wrap="square" rtlCol="0">
            <a:spAutoFit/>
          </a:bodyPr>
          <a:lstStyle/>
          <a:p>
            <a:r>
              <a:rPr lang="zh-CN" altLang="en-US" dirty="0"/>
              <a:t>正义</a:t>
            </a:r>
          </a:p>
        </p:txBody>
      </p:sp>
      <p:cxnSp>
        <p:nvCxnSpPr>
          <p:cNvPr id="17" name="Straight Connector 16"/>
          <p:cNvCxnSpPr/>
          <p:nvPr/>
        </p:nvCxnSpPr>
        <p:spPr>
          <a:xfrm flipV="1">
            <a:off x="3560324" y="3130685"/>
            <a:ext cx="710119" cy="77821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1254902" y="1011677"/>
            <a:ext cx="0" cy="119650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779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randombar(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xEl>
                                              <p:pRg st="0" end="0"/>
                                            </p:txEl>
                                          </p:spTgt>
                                        </p:tgtEl>
                                        <p:attrNameLst>
                                          <p:attrName>style.visibility</p:attrName>
                                        </p:attrNameLst>
                                      </p:cBhvr>
                                      <p:to>
                                        <p:strVal val="visible"/>
                                      </p:to>
                                    </p:set>
                                    <p:anim calcmode="lin" valueType="num">
                                      <p:cBhvr>
                                        <p:cTn id="44" dur="10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5" dur="1000" fill="hold"/>
                                        <p:tgtEl>
                                          <p:spTgt spid="14">
                                            <p:txEl>
                                              <p:pRg st="0" end="0"/>
                                            </p:txEl>
                                          </p:spTgt>
                                        </p:tgtEl>
                                        <p:attrNameLst>
                                          <p:attrName>ppt_h</p:attrName>
                                        </p:attrNameLst>
                                      </p:cBhvr>
                                      <p:tavLst>
                                        <p:tav tm="0">
                                          <p:val>
                                            <p:fltVal val="0"/>
                                          </p:val>
                                        </p:tav>
                                        <p:tav tm="100000">
                                          <p:val>
                                            <p:strVal val="#ppt_h"/>
                                          </p:val>
                                        </p:tav>
                                      </p:tavLst>
                                    </p:anim>
                                    <p:anim calcmode="lin" valueType="num">
                                      <p:cBhvr>
                                        <p:cTn id="46" dur="1000" fill="hold"/>
                                        <p:tgtEl>
                                          <p:spTgt spid="14">
                                            <p:txEl>
                                              <p:pRg st="0" end="0"/>
                                            </p:txEl>
                                          </p:spTgt>
                                        </p:tgtEl>
                                        <p:attrNameLst>
                                          <p:attrName>style.rotation</p:attrName>
                                        </p:attrNameLst>
                                      </p:cBhvr>
                                      <p:tavLst>
                                        <p:tav tm="0">
                                          <p:val>
                                            <p:fltVal val="90"/>
                                          </p:val>
                                        </p:tav>
                                        <p:tav tm="100000">
                                          <p:val>
                                            <p:fltVal val="0"/>
                                          </p:val>
                                        </p:tav>
                                      </p:tavLst>
                                    </p:anim>
                                    <p:animEffect transition="in" filter="fade">
                                      <p:cBhvr>
                                        <p:cTn id="47" dur="1000"/>
                                        <p:tgtEl>
                                          <p:spTgt spid="1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4">
                                            <p:txEl>
                                              <p:pRg st="2" end="2"/>
                                            </p:txEl>
                                          </p:spTgt>
                                        </p:tgtEl>
                                        <p:attrNameLst>
                                          <p:attrName>style.visibility</p:attrName>
                                        </p:attrNameLst>
                                      </p:cBhvr>
                                      <p:to>
                                        <p:strVal val="visible"/>
                                      </p:to>
                                    </p:set>
                                    <p:anim calcmode="lin" valueType="num">
                                      <p:cBhvr>
                                        <p:cTn id="52" dur="1000" fill="hold"/>
                                        <p:tgtEl>
                                          <p:spTgt spid="14">
                                            <p:txEl>
                                              <p:pRg st="2" end="2"/>
                                            </p:txEl>
                                          </p:spTgt>
                                        </p:tgtEl>
                                        <p:attrNameLst>
                                          <p:attrName>ppt_w</p:attrName>
                                        </p:attrNameLst>
                                      </p:cBhvr>
                                      <p:tavLst>
                                        <p:tav tm="0">
                                          <p:val>
                                            <p:fltVal val="0"/>
                                          </p:val>
                                        </p:tav>
                                        <p:tav tm="100000">
                                          <p:val>
                                            <p:strVal val="#ppt_w"/>
                                          </p:val>
                                        </p:tav>
                                      </p:tavLst>
                                    </p:anim>
                                    <p:anim calcmode="lin" valueType="num">
                                      <p:cBhvr>
                                        <p:cTn id="53" dur="1000" fill="hold"/>
                                        <p:tgtEl>
                                          <p:spTgt spid="14">
                                            <p:txEl>
                                              <p:pRg st="2" end="2"/>
                                            </p:txEl>
                                          </p:spTgt>
                                        </p:tgtEl>
                                        <p:attrNameLst>
                                          <p:attrName>ppt_h</p:attrName>
                                        </p:attrNameLst>
                                      </p:cBhvr>
                                      <p:tavLst>
                                        <p:tav tm="0">
                                          <p:val>
                                            <p:fltVal val="0"/>
                                          </p:val>
                                        </p:tav>
                                        <p:tav tm="100000">
                                          <p:val>
                                            <p:strVal val="#ppt_h"/>
                                          </p:val>
                                        </p:tav>
                                      </p:tavLst>
                                    </p:anim>
                                    <p:anim calcmode="lin" valueType="num">
                                      <p:cBhvr>
                                        <p:cTn id="54" dur="1000" fill="hold"/>
                                        <p:tgtEl>
                                          <p:spTgt spid="14">
                                            <p:txEl>
                                              <p:pRg st="2" end="2"/>
                                            </p:txEl>
                                          </p:spTgt>
                                        </p:tgtEl>
                                        <p:attrNameLst>
                                          <p:attrName>style.rotation</p:attrName>
                                        </p:attrNameLst>
                                      </p:cBhvr>
                                      <p:tavLst>
                                        <p:tav tm="0">
                                          <p:val>
                                            <p:fltVal val="90"/>
                                          </p:val>
                                        </p:tav>
                                        <p:tav tm="100000">
                                          <p:val>
                                            <p:fltVal val="0"/>
                                          </p:val>
                                        </p:tav>
                                      </p:tavLst>
                                    </p:anim>
                                    <p:animEffect transition="in" filter="fade">
                                      <p:cBhvr>
                                        <p:cTn id="55" dur="1000"/>
                                        <p:tgtEl>
                                          <p:spTgt spid="14">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heel(1)">
                                      <p:cBhvr>
                                        <p:cTn id="60" dur="20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p:cTn id="65" dur="1000" fill="hold"/>
                                        <p:tgtEl>
                                          <p:spTgt spid="17"/>
                                        </p:tgtEl>
                                        <p:attrNameLst>
                                          <p:attrName>ppt_w</p:attrName>
                                        </p:attrNameLst>
                                      </p:cBhvr>
                                      <p:tavLst>
                                        <p:tav tm="0">
                                          <p:val>
                                            <p:fltVal val="0"/>
                                          </p:val>
                                        </p:tav>
                                        <p:tav tm="100000">
                                          <p:val>
                                            <p:strVal val="#ppt_w"/>
                                          </p:val>
                                        </p:tav>
                                      </p:tavLst>
                                    </p:anim>
                                    <p:anim calcmode="lin" valueType="num">
                                      <p:cBhvr>
                                        <p:cTn id="66" dur="1000" fill="hold"/>
                                        <p:tgtEl>
                                          <p:spTgt spid="17"/>
                                        </p:tgtEl>
                                        <p:attrNameLst>
                                          <p:attrName>ppt_h</p:attrName>
                                        </p:attrNameLst>
                                      </p:cBhvr>
                                      <p:tavLst>
                                        <p:tav tm="0">
                                          <p:val>
                                            <p:fltVal val="0"/>
                                          </p:val>
                                        </p:tav>
                                        <p:tav tm="100000">
                                          <p:val>
                                            <p:strVal val="#ppt_h"/>
                                          </p:val>
                                        </p:tav>
                                      </p:tavLst>
                                    </p:anim>
                                    <p:anim calcmode="lin" valueType="num">
                                      <p:cBhvr>
                                        <p:cTn id="67" dur="1000" fill="hold"/>
                                        <p:tgtEl>
                                          <p:spTgt spid="17"/>
                                        </p:tgtEl>
                                        <p:attrNameLst>
                                          <p:attrName>style.rotation</p:attrName>
                                        </p:attrNameLst>
                                      </p:cBhvr>
                                      <p:tavLst>
                                        <p:tav tm="0">
                                          <p:val>
                                            <p:fltVal val="90"/>
                                          </p:val>
                                        </p:tav>
                                        <p:tav tm="100000">
                                          <p:val>
                                            <p:fltVal val="0"/>
                                          </p:val>
                                        </p:tav>
                                      </p:tavLst>
                                    </p:anim>
                                    <p:animEffect transition="in" filter="fade">
                                      <p:cBhvr>
                                        <p:cTn id="68" dur="10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21" presetClass="entr" presetSubtype="1" fill="hold" nodeType="clickEffect">
                                  <p:stCondLst>
                                    <p:cond delay="0"/>
                                  </p:stCondLst>
                                  <p:childTnLst>
                                    <p:set>
                                      <p:cBhvr>
                                        <p:cTn id="72" dur="1" fill="hold">
                                          <p:stCondLst>
                                            <p:cond delay="0"/>
                                          </p:stCondLst>
                                        </p:cTn>
                                        <p:tgtEl>
                                          <p:spTgt spid="5123"/>
                                        </p:tgtEl>
                                        <p:attrNameLst>
                                          <p:attrName>style.visibility</p:attrName>
                                        </p:attrNameLst>
                                      </p:cBhvr>
                                      <p:to>
                                        <p:strVal val="visible"/>
                                      </p:to>
                                    </p:set>
                                    <p:animEffect transition="in" filter="wheel(1)">
                                      <p:cBhvr>
                                        <p:cTn id="73" dur="2000"/>
                                        <p:tgtEl>
                                          <p:spTgt spid="5123"/>
                                        </p:tgtEl>
                                      </p:cBhvr>
                                    </p:animEffect>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nodeType="click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p:cTn id="78" dur="1000" fill="hold"/>
                                        <p:tgtEl>
                                          <p:spTgt spid="19"/>
                                        </p:tgtEl>
                                        <p:attrNameLst>
                                          <p:attrName>ppt_w</p:attrName>
                                        </p:attrNameLst>
                                      </p:cBhvr>
                                      <p:tavLst>
                                        <p:tav tm="0">
                                          <p:val>
                                            <p:fltVal val="0"/>
                                          </p:val>
                                        </p:tav>
                                        <p:tav tm="100000">
                                          <p:val>
                                            <p:strVal val="#ppt_w"/>
                                          </p:val>
                                        </p:tav>
                                      </p:tavLst>
                                    </p:anim>
                                    <p:anim calcmode="lin" valueType="num">
                                      <p:cBhvr>
                                        <p:cTn id="79" dur="1000" fill="hold"/>
                                        <p:tgtEl>
                                          <p:spTgt spid="19"/>
                                        </p:tgtEl>
                                        <p:attrNameLst>
                                          <p:attrName>ppt_h</p:attrName>
                                        </p:attrNameLst>
                                      </p:cBhvr>
                                      <p:tavLst>
                                        <p:tav tm="0">
                                          <p:val>
                                            <p:fltVal val="0"/>
                                          </p:val>
                                        </p:tav>
                                        <p:tav tm="100000">
                                          <p:val>
                                            <p:strVal val="#ppt_h"/>
                                          </p:val>
                                        </p:tav>
                                      </p:tavLst>
                                    </p:anim>
                                    <p:anim calcmode="lin" valueType="num">
                                      <p:cBhvr>
                                        <p:cTn id="80" dur="1000" fill="hold"/>
                                        <p:tgtEl>
                                          <p:spTgt spid="19"/>
                                        </p:tgtEl>
                                        <p:attrNameLst>
                                          <p:attrName>style.rotation</p:attrName>
                                        </p:attrNameLst>
                                      </p:cBhvr>
                                      <p:tavLst>
                                        <p:tav tm="0">
                                          <p:val>
                                            <p:fltVal val="90"/>
                                          </p:val>
                                        </p:tav>
                                        <p:tav tm="100000">
                                          <p:val>
                                            <p:fltVal val="0"/>
                                          </p:val>
                                        </p:tav>
                                      </p:tavLst>
                                    </p:anim>
                                    <p:animEffect transition="in" filter="fade">
                                      <p:cBhvr>
                                        <p:cTn id="81" dur="100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nodeType="clickEffect">
                                  <p:stCondLst>
                                    <p:cond delay="0"/>
                                  </p:stCondLst>
                                  <p:childTnLst>
                                    <p:set>
                                      <p:cBhvr>
                                        <p:cTn id="85" dur="1" fill="hold">
                                          <p:stCondLst>
                                            <p:cond delay="0"/>
                                          </p:stCondLst>
                                        </p:cTn>
                                        <p:tgtEl>
                                          <p:spTgt spid="4">
                                            <p:txEl>
                                              <p:pRg st="0" end="0"/>
                                            </p:txEl>
                                          </p:spTgt>
                                        </p:tgtEl>
                                        <p:attrNameLst>
                                          <p:attrName>style.visibility</p:attrName>
                                        </p:attrNameLst>
                                      </p:cBhvr>
                                      <p:to>
                                        <p:strVal val="visible"/>
                                      </p:to>
                                    </p:set>
                                    <p:animEffect transition="in" filter="randombar(horizontal)">
                                      <p:cBhvr>
                                        <p:cTn id="86"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9273" y="609600"/>
            <a:ext cx="5107442" cy="1260000"/>
          </a:xfrm>
        </p:spPr>
        <p:txBody>
          <a:bodyPr/>
          <a:lstStyle/>
          <a:p>
            <a:r>
              <a:rPr lang="en-US" altLang="zh-CN" dirty="0"/>
              <a:t>1</a:t>
            </a:r>
            <a:r>
              <a:rPr lang="zh-CN" altLang="en-US" dirty="0"/>
              <a:t>，人们认为正义是什么</a:t>
            </a:r>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a:xfrm>
            <a:off x="6488644" y="1869601"/>
            <a:ext cx="5533310" cy="3921600"/>
          </a:xfrm>
        </p:spPr>
        <p:txBody>
          <a:bodyPr>
            <a:normAutofit/>
          </a:bodyPr>
          <a:lstStyle/>
          <a:p>
            <a:r>
              <a:rPr lang="zh-CN" altLang="en-US" sz="2000" b="1" dirty="0"/>
              <a:t>柏拉图提出了西方历史上第一个社会契约论。</a:t>
            </a:r>
            <a:endParaRPr lang="en-US" altLang="zh-CN" sz="2000" b="1" dirty="0"/>
          </a:p>
          <a:p>
            <a:r>
              <a:rPr lang="zh-CN" altLang="en-US" sz="2000" b="1" dirty="0"/>
              <a:t>正义来自于契约订立与立法（即法律正义）。</a:t>
            </a:r>
            <a:endParaRPr lang="en-US" altLang="zh-CN" sz="2000" b="1" dirty="0"/>
          </a:p>
          <a:p>
            <a:r>
              <a:rPr lang="zh-CN" altLang="en-US" sz="2000" b="1" dirty="0"/>
              <a:t>问题：格劳康宣称重构特拉需马科命题，但他的正义命题，真的与特拉需马科的正义命题一样吗？</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92" y="720216"/>
            <a:ext cx="575310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811" y="3264637"/>
            <a:ext cx="5715000"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1634247" y="1215957"/>
            <a:ext cx="1896893" cy="97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01949" y="1459149"/>
            <a:ext cx="453308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75489" y="1692613"/>
            <a:ext cx="4503907" cy="972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75489" y="1974715"/>
            <a:ext cx="4659549"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75489" y="2188723"/>
            <a:ext cx="4659549" cy="194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875489" y="2431915"/>
            <a:ext cx="4659549"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330311" y="2957209"/>
            <a:ext cx="2204727"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875489" y="3492230"/>
            <a:ext cx="4426085" cy="6809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875489" y="4007797"/>
            <a:ext cx="4659549" cy="2918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1488332" y="3784060"/>
            <a:ext cx="4046706"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916349" y="4521937"/>
            <a:ext cx="300584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743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randombar(horizont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1000" fill="hold"/>
                                        <p:tgtEl>
                                          <p:spTgt spid="14"/>
                                        </p:tgtEl>
                                        <p:attrNameLst>
                                          <p:attrName>ppt_w</p:attrName>
                                        </p:attrNameLst>
                                      </p:cBhvr>
                                      <p:tavLst>
                                        <p:tav tm="0">
                                          <p:val>
                                            <p:fltVal val="0"/>
                                          </p:val>
                                        </p:tav>
                                        <p:tav tm="100000">
                                          <p:val>
                                            <p:strVal val="#ppt_w"/>
                                          </p:val>
                                        </p:tav>
                                      </p:tavLst>
                                    </p:anim>
                                    <p:anim calcmode="lin" valueType="num">
                                      <p:cBhvr>
                                        <p:cTn id="45" dur="1000" fill="hold"/>
                                        <p:tgtEl>
                                          <p:spTgt spid="14"/>
                                        </p:tgtEl>
                                        <p:attrNameLst>
                                          <p:attrName>ppt_h</p:attrName>
                                        </p:attrNameLst>
                                      </p:cBhvr>
                                      <p:tavLst>
                                        <p:tav tm="0">
                                          <p:val>
                                            <p:fltVal val="0"/>
                                          </p:val>
                                        </p:tav>
                                        <p:tav tm="100000">
                                          <p:val>
                                            <p:strVal val="#ppt_h"/>
                                          </p:val>
                                        </p:tav>
                                      </p:tavLst>
                                    </p:anim>
                                    <p:anim calcmode="lin" valueType="num">
                                      <p:cBhvr>
                                        <p:cTn id="46" dur="1000" fill="hold"/>
                                        <p:tgtEl>
                                          <p:spTgt spid="14"/>
                                        </p:tgtEl>
                                        <p:attrNameLst>
                                          <p:attrName>style.rotation</p:attrName>
                                        </p:attrNameLst>
                                      </p:cBhvr>
                                      <p:tavLst>
                                        <p:tav tm="0">
                                          <p:val>
                                            <p:fltVal val="90"/>
                                          </p:val>
                                        </p:tav>
                                        <p:tav tm="100000">
                                          <p:val>
                                            <p:fltVal val="0"/>
                                          </p:val>
                                        </p:tav>
                                      </p:tavLst>
                                    </p:anim>
                                    <p:animEffect transition="in" filter="fade">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1000" fill="hold"/>
                                        <p:tgtEl>
                                          <p:spTgt spid="16"/>
                                        </p:tgtEl>
                                        <p:attrNameLst>
                                          <p:attrName>ppt_w</p:attrName>
                                        </p:attrNameLst>
                                      </p:cBhvr>
                                      <p:tavLst>
                                        <p:tav tm="0">
                                          <p:val>
                                            <p:fltVal val="0"/>
                                          </p:val>
                                        </p:tav>
                                        <p:tav tm="100000">
                                          <p:val>
                                            <p:strVal val="#ppt_w"/>
                                          </p:val>
                                        </p:tav>
                                      </p:tavLst>
                                    </p:anim>
                                    <p:anim calcmode="lin" valueType="num">
                                      <p:cBhvr>
                                        <p:cTn id="53" dur="1000" fill="hold"/>
                                        <p:tgtEl>
                                          <p:spTgt spid="16"/>
                                        </p:tgtEl>
                                        <p:attrNameLst>
                                          <p:attrName>ppt_h</p:attrName>
                                        </p:attrNameLst>
                                      </p:cBhvr>
                                      <p:tavLst>
                                        <p:tav tm="0">
                                          <p:val>
                                            <p:fltVal val="0"/>
                                          </p:val>
                                        </p:tav>
                                        <p:tav tm="100000">
                                          <p:val>
                                            <p:strVal val="#ppt_h"/>
                                          </p:val>
                                        </p:tav>
                                      </p:tavLst>
                                    </p:anim>
                                    <p:anim calcmode="lin" valueType="num">
                                      <p:cBhvr>
                                        <p:cTn id="54" dur="1000" fill="hold"/>
                                        <p:tgtEl>
                                          <p:spTgt spid="16"/>
                                        </p:tgtEl>
                                        <p:attrNameLst>
                                          <p:attrName>style.rotation</p:attrName>
                                        </p:attrNameLst>
                                      </p:cBhvr>
                                      <p:tavLst>
                                        <p:tav tm="0">
                                          <p:val>
                                            <p:fltVal val="90"/>
                                          </p:val>
                                        </p:tav>
                                        <p:tav tm="100000">
                                          <p:val>
                                            <p:fltVal val="0"/>
                                          </p:val>
                                        </p:tav>
                                      </p:tavLst>
                                    </p:anim>
                                    <p:animEffect transition="in" filter="fade">
                                      <p:cBhvr>
                                        <p:cTn id="55" dur="10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1000" fill="hold"/>
                                        <p:tgtEl>
                                          <p:spTgt spid="18"/>
                                        </p:tgtEl>
                                        <p:attrNameLst>
                                          <p:attrName>ppt_w</p:attrName>
                                        </p:attrNameLst>
                                      </p:cBhvr>
                                      <p:tavLst>
                                        <p:tav tm="0">
                                          <p:val>
                                            <p:fltVal val="0"/>
                                          </p:val>
                                        </p:tav>
                                        <p:tav tm="100000">
                                          <p:val>
                                            <p:strVal val="#ppt_w"/>
                                          </p:val>
                                        </p:tav>
                                      </p:tavLst>
                                    </p:anim>
                                    <p:anim calcmode="lin" valueType="num">
                                      <p:cBhvr>
                                        <p:cTn id="61" dur="1000" fill="hold"/>
                                        <p:tgtEl>
                                          <p:spTgt spid="18"/>
                                        </p:tgtEl>
                                        <p:attrNameLst>
                                          <p:attrName>ppt_h</p:attrName>
                                        </p:attrNameLst>
                                      </p:cBhvr>
                                      <p:tavLst>
                                        <p:tav tm="0">
                                          <p:val>
                                            <p:fltVal val="0"/>
                                          </p:val>
                                        </p:tav>
                                        <p:tav tm="100000">
                                          <p:val>
                                            <p:strVal val="#ppt_h"/>
                                          </p:val>
                                        </p:tav>
                                      </p:tavLst>
                                    </p:anim>
                                    <p:anim calcmode="lin" valueType="num">
                                      <p:cBhvr>
                                        <p:cTn id="62" dur="1000" fill="hold"/>
                                        <p:tgtEl>
                                          <p:spTgt spid="18"/>
                                        </p:tgtEl>
                                        <p:attrNameLst>
                                          <p:attrName>style.rotation</p:attrName>
                                        </p:attrNameLst>
                                      </p:cBhvr>
                                      <p:tavLst>
                                        <p:tav tm="0">
                                          <p:val>
                                            <p:fltVal val="90"/>
                                          </p:val>
                                        </p:tav>
                                        <p:tav tm="100000">
                                          <p:val>
                                            <p:fltVal val="0"/>
                                          </p:val>
                                        </p:tav>
                                      </p:tavLst>
                                    </p:anim>
                                    <p:animEffect transition="in" filter="fade">
                                      <p:cBhvr>
                                        <p:cTn id="63" dur="10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nodeType="clickEffect">
                                  <p:stCondLst>
                                    <p:cond delay="0"/>
                                  </p:stCondLst>
                                  <p:childTnLst>
                                    <p:set>
                                      <p:cBhvr>
                                        <p:cTn id="67" dur="1" fill="hold">
                                          <p:stCondLst>
                                            <p:cond delay="0"/>
                                          </p:stCondLst>
                                        </p:cTn>
                                        <p:tgtEl>
                                          <p:spTgt spid="6147"/>
                                        </p:tgtEl>
                                        <p:attrNameLst>
                                          <p:attrName>style.visibility</p:attrName>
                                        </p:attrNameLst>
                                      </p:cBhvr>
                                      <p:to>
                                        <p:strVal val="visible"/>
                                      </p:to>
                                    </p:set>
                                    <p:animEffect transition="in" filter="randombar(horizontal)">
                                      <p:cBhvr>
                                        <p:cTn id="68" dur="500"/>
                                        <p:tgtEl>
                                          <p:spTgt spid="6147"/>
                                        </p:tgtEl>
                                      </p:cBhvr>
                                    </p:animEffect>
                                  </p:childTnLst>
                                </p:cTn>
                              </p:par>
                            </p:childTnLst>
                          </p:cTn>
                        </p:par>
                      </p:childTnLst>
                    </p:cTn>
                  </p:par>
                  <p:par>
                    <p:cTn id="69" fill="hold">
                      <p:stCondLst>
                        <p:cond delay="indefinite"/>
                      </p:stCondLst>
                      <p:childTnLst>
                        <p:par>
                          <p:cTn id="70" fill="hold">
                            <p:stCondLst>
                              <p:cond delay="0"/>
                            </p:stCondLst>
                            <p:childTnLst>
                              <p:par>
                                <p:cTn id="71" presetID="31" presetClass="entr" presetSubtype="0" fill="hold" nodeType="click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p:cTn id="73" dur="1000" fill="hold"/>
                                        <p:tgtEl>
                                          <p:spTgt spid="20"/>
                                        </p:tgtEl>
                                        <p:attrNameLst>
                                          <p:attrName>ppt_w</p:attrName>
                                        </p:attrNameLst>
                                      </p:cBhvr>
                                      <p:tavLst>
                                        <p:tav tm="0">
                                          <p:val>
                                            <p:fltVal val="0"/>
                                          </p:val>
                                        </p:tav>
                                        <p:tav tm="100000">
                                          <p:val>
                                            <p:strVal val="#ppt_w"/>
                                          </p:val>
                                        </p:tav>
                                      </p:tavLst>
                                    </p:anim>
                                    <p:anim calcmode="lin" valueType="num">
                                      <p:cBhvr>
                                        <p:cTn id="74" dur="1000" fill="hold"/>
                                        <p:tgtEl>
                                          <p:spTgt spid="20"/>
                                        </p:tgtEl>
                                        <p:attrNameLst>
                                          <p:attrName>ppt_h</p:attrName>
                                        </p:attrNameLst>
                                      </p:cBhvr>
                                      <p:tavLst>
                                        <p:tav tm="0">
                                          <p:val>
                                            <p:fltVal val="0"/>
                                          </p:val>
                                        </p:tav>
                                        <p:tav tm="100000">
                                          <p:val>
                                            <p:strVal val="#ppt_h"/>
                                          </p:val>
                                        </p:tav>
                                      </p:tavLst>
                                    </p:anim>
                                    <p:anim calcmode="lin" valueType="num">
                                      <p:cBhvr>
                                        <p:cTn id="75" dur="1000" fill="hold"/>
                                        <p:tgtEl>
                                          <p:spTgt spid="20"/>
                                        </p:tgtEl>
                                        <p:attrNameLst>
                                          <p:attrName>style.rotation</p:attrName>
                                        </p:attrNameLst>
                                      </p:cBhvr>
                                      <p:tavLst>
                                        <p:tav tm="0">
                                          <p:val>
                                            <p:fltVal val="90"/>
                                          </p:val>
                                        </p:tav>
                                        <p:tav tm="100000">
                                          <p:val>
                                            <p:fltVal val="0"/>
                                          </p:val>
                                        </p:tav>
                                      </p:tavLst>
                                    </p:anim>
                                    <p:animEffect transition="in" filter="fade">
                                      <p:cBhvr>
                                        <p:cTn id="76" dur="10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31"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anim calcmode="lin" valueType="num">
                                      <p:cBhvr>
                                        <p:cTn id="81" dur="1000" fill="hold"/>
                                        <p:tgtEl>
                                          <p:spTgt spid="24"/>
                                        </p:tgtEl>
                                        <p:attrNameLst>
                                          <p:attrName>ppt_w</p:attrName>
                                        </p:attrNameLst>
                                      </p:cBhvr>
                                      <p:tavLst>
                                        <p:tav tm="0">
                                          <p:val>
                                            <p:fltVal val="0"/>
                                          </p:val>
                                        </p:tav>
                                        <p:tav tm="100000">
                                          <p:val>
                                            <p:strVal val="#ppt_w"/>
                                          </p:val>
                                        </p:tav>
                                      </p:tavLst>
                                    </p:anim>
                                    <p:anim calcmode="lin" valueType="num">
                                      <p:cBhvr>
                                        <p:cTn id="82" dur="1000" fill="hold"/>
                                        <p:tgtEl>
                                          <p:spTgt spid="24"/>
                                        </p:tgtEl>
                                        <p:attrNameLst>
                                          <p:attrName>ppt_h</p:attrName>
                                        </p:attrNameLst>
                                      </p:cBhvr>
                                      <p:tavLst>
                                        <p:tav tm="0">
                                          <p:val>
                                            <p:fltVal val="0"/>
                                          </p:val>
                                        </p:tav>
                                        <p:tav tm="100000">
                                          <p:val>
                                            <p:strVal val="#ppt_h"/>
                                          </p:val>
                                        </p:tav>
                                      </p:tavLst>
                                    </p:anim>
                                    <p:anim calcmode="lin" valueType="num">
                                      <p:cBhvr>
                                        <p:cTn id="83" dur="1000" fill="hold"/>
                                        <p:tgtEl>
                                          <p:spTgt spid="24"/>
                                        </p:tgtEl>
                                        <p:attrNameLst>
                                          <p:attrName>style.rotation</p:attrName>
                                        </p:attrNameLst>
                                      </p:cBhvr>
                                      <p:tavLst>
                                        <p:tav tm="0">
                                          <p:val>
                                            <p:fltVal val="90"/>
                                          </p:val>
                                        </p:tav>
                                        <p:tav tm="100000">
                                          <p:val>
                                            <p:fltVal val="0"/>
                                          </p:val>
                                        </p:tav>
                                      </p:tavLst>
                                    </p:anim>
                                    <p:animEffect transition="in" filter="fade">
                                      <p:cBhvr>
                                        <p:cTn id="84" dur="1000"/>
                                        <p:tgtEl>
                                          <p:spTgt spid="24"/>
                                        </p:tgtEl>
                                      </p:cBhvr>
                                    </p:animEffect>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nodeType="click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1000" fill="hold"/>
                                        <p:tgtEl>
                                          <p:spTgt spid="22"/>
                                        </p:tgtEl>
                                        <p:attrNameLst>
                                          <p:attrName>ppt_w</p:attrName>
                                        </p:attrNameLst>
                                      </p:cBhvr>
                                      <p:tavLst>
                                        <p:tav tm="0">
                                          <p:val>
                                            <p:fltVal val="0"/>
                                          </p:val>
                                        </p:tav>
                                        <p:tav tm="100000">
                                          <p:val>
                                            <p:strVal val="#ppt_w"/>
                                          </p:val>
                                        </p:tav>
                                      </p:tavLst>
                                    </p:anim>
                                    <p:anim calcmode="lin" valueType="num">
                                      <p:cBhvr>
                                        <p:cTn id="90" dur="1000" fill="hold"/>
                                        <p:tgtEl>
                                          <p:spTgt spid="22"/>
                                        </p:tgtEl>
                                        <p:attrNameLst>
                                          <p:attrName>ppt_h</p:attrName>
                                        </p:attrNameLst>
                                      </p:cBhvr>
                                      <p:tavLst>
                                        <p:tav tm="0">
                                          <p:val>
                                            <p:fltVal val="0"/>
                                          </p:val>
                                        </p:tav>
                                        <p:tav tm="100000">
                                          <p:val>
                                            <p:strVal val="#ppt_h"/>
                                          </p:val>
                                        </p:tav>
                                      </p:tavLst>
                                    </p:anim>
                                    <p:anim calcmode="lin" valueType="num">
                                      <p:cBhvr>
                                        <p:cTn id="91" dur="1000" fill="hold"/>
                                        <p:tgtEl>
                                          <p:spTgt spid="22"/>
                                        </p:tgtEl>
                                        <p:attrNameLst>
                                          <p:attrName>style.rotation</p:attrName>
                                        </p:attrNameLst>
                                      </p:cBhvr>
                                      <p:tavLst>
                                        <p:tav tm="0">
                                          <p:val>
                                            <p:fltVal val="90"/>
                                          </p:val>
                                        </p:tav>
                                        <p:tav tm="100000">
                                          <p:val>
                                            <p:fltVal val="0"/>
                                          </p:val>
                                        </p:tav>
                                      </p:tavLst>
                                    </p:anim>
                                    <p:animEffect transition="in" filter="fade">
                                      <p:cBhvr>
                                        <p:cTn id="92" dur="10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31" presetClass="entr" presetSubtype="0" fill="hold" nodeType="click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p:cTn id="97" dur="1000" fill="hold"/>
                                        <p:tgtEl>
                                          <p:spTgt spid="27"/>
                                        </p:tgtEl>
                                        <p:attrNameLst>
                                          <p:attrName>ppt_w</p:attrName>
                                        </p:attrNameLst>
                                      </p:cBhvr>
                                      <p:tavLst>
                                        <p:tav tm="0">
                                          <p:val>
                                            <p:fltVal val="0"/>
                                          </p:val>
                                        </p:tav>
                                        <p:tav tm="100000">
                                          <p:val>
                                            <p:strVal val="#ppt_w"/>
                                          </p:val>
                                        </p:tav>
                                      </p:tavLst>
                                    </p:anim>
                                    <p:anim calcmode="lin" valueType="num">
                                      <p:cBhvr>
                                        <p:cTn id="98" dur="1000" fill="hold"/>
                                        <p:tgtEl>
                                          <p:spTgt spid="27"/>
                                        </p:tgtEl>
                                        <p:attrNameLst>
                                          <p:attrName>ppt_h</p:attrName>
                                        </p:attrNameLst>
                                      </p:cBhvr>
                                      <p:tavLst>
                                        <p:tav tm="0">
                                          <p:val>
                                            <p:fltVal val="0"/>
                                          </p:val>
                                        </p:tav>
                                        <p:tav tm="100000">
                                          <p:val>
                                            <p:strVal val="#ppt_h"/>
                                          </p:val>
                                        </p:tav>
                                      </p:tavLst>
                                    </p:anim>
                                    <p:anim calcmode="lin" valueType="num">
                                      <p:cBhvr>
                                        <p:cTn id="99" dur="1000" fill="hold"/>
                                        <p:tgtEl>
                                          <p:spTgt spid="27"/>
                                        </p:tgtEl>
                                        <p:attrNameLst>
                                          <p:attrName>style.rotation</p:attrName>
                                        </p:attrNameLst>
                                      </p:cBhvr>
                                      <p:tavLst>
                                        <p:tav tm="0">
                                          <p:val>
                                            <p:fltVal val="90"/>
                                          </p:val>
                                        </p:tav>
                                        <p:tav tm="100000">
                                          <p:val>
                                            <p:fltVal val="0"/>
                                          </p:val>
                                        </p:tav>
                                      </p:tavLst>
                                    </p:anim>
                                    <p:animEffect transition="in" filter="fade">
                                      <p:cBhvr>
                                        <p:cTn id="100" dur="1000"/>
                                        <p:tgtEl>
                                          <p:spTgt spid="27"/>
                                        </p:tgtEl>
                                      </p:cBhvr>
                                    </p:animEffect>
                                  </p:childTnLst>
                                </p:cTn>
                              </p:par>
                            </p:childTnLst>
                          </p:cTn>
                        </p:par>
                      </p:childTnLst>
                    </p:cTn>
                  </p:par>
                  <p:par>
                    <p:cTn id="101" fill="hold">
                      <p:stCondLst>
                        <p:cond delay="indefinite"/>
                      </p:stCondLst>
                      <p:childTnLst>
                        <p:par>
                          <p:cTn id="102" fill="hold">
                            <p:stCondLst>
                              <p:cond delay="0"/>
                            </p:stCondLst>
                            <p:childTnLst>
                              <p:par>
                                <p:cTn id="103" presetID="14" presetClass="entr" presetSubtype="10" fill="hold" nodeType="clickEffect">
                                  <p:stCondLst>
                                    <p:cond delay="0"/>
                                  </p:stCondLst>
                                  <p:childTnLst>
                                    <p:set>
                                      <p:cBhvr>
                                        <p:cTn id="104"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05" dur="500"/>
                                        <p:tgtEl>
                                          <p:spTgt spid="4">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nodeType="clickEffect">
                                  <p:stCondLst>
                                    <p:cond delay="0"/>
                                  </p:stCondLst>
                                  <p:childTnLst>
                                    <p:set>
                                      <p:cBhvr>
                                        <p:cTn id="10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10" dur="500"/>
                                        <p:tgtEl>
                                          <p:spTgt spid="4">
                                            <p:txEl>
                                              <p:pRg st="1" end="1"/>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r>
              <a:rPr lang="zh-CN" altLang="en-US" sz="2000" b="1" dirty="0"/>
              <a:t>特：正义是强者的利益</a:t>
            </a:r>
            <a:endParaRPr lang="en-US" altLang="zh-CN" sz="2000" b="1" dirty="0"/>
          </a:p>
          <a:p>
            <a:r>
              <a:rPr lang="zh-CN" altLang="en-US" sz="2000" b="1" dirty="0"/>
              <a:t>正义是强者为自己利益制定的法律</a:t>
            </a:r>
            <a:endParaRPr lang="en-US" altLang="zh-CN" sz="2000" b="1" dirty="0"/>
          </a:p>
          <a:p>
            <a:r>
              <a:rPr lang="zh-CN" altLang="en-US" sz="2000" b="1" dirty="0"/>
              <a:t>正义是利益</a:t>
            </a:r>
            <a:endParaRPr lang="en-US" altLang="zh-CN" sz="2000" b="1" dirty="0"/>
          </a:p>
          <a:p>
            <a:endParaRPr lang="en-US" altLang="zh-CN" sz="2000" b="1" dirty="0"/>
          </a:p>
          <a:p>
            <a:r>
              <a:rPr lang="zh-CN" altLang="en-US" sz="2000" b="1" dirty="0"/>
              <a:t>正义是他律的</a:t>
            </a:r>
          </a:p>
        </p:txBody>
      </p:sp>
      <p:sp>
        <p:nvSpPr>
          <p:cNvPr id="4" name="Content Placeholder 3"/>
          <p:cNvSpPr>
            <a:spLocks noGrp="1"/>
          </p:cNvSpPr>
          <p:nvPr>
            <p:ph sz="half" idx="2"/>
          </p:nvPr>
        </p:nvSpPr>
        <p:spPr/>
        <p:txBody>
          <a:bodyPr/>
          <a:lstStyle/>
          <a:p>
            <a:r>
              <a:rPr lang="zh-CN" altLang="en-US" sz="2000" b="1" dirty="0"/>
              <a:t>格：正义是弱者的契约</a:t>
            </a:r>
            <a:endParaRPr lang="en-US" altLang="zh-CN" sz="2000" b="1" dirty="0"/>
          </a:p>
          <a:p>
            <a:r>
              <a:rPr lang="zh-CN" altLang="en-US" sz="2000" b="1" dirty="0"/>
              <a:t>正义是弱者相互约定互不加害的法律</a:t>
            </a:r>
            <a:endParaRPr lang="en-US" altLang="zh-CN" sz="2000" b="1" dirty="0"/>
          </a:p>
          <a:p>
            <a:r>
              <a:rPr lang="zh-CN" altLang="en-US" sz="2000" b="1" dirty="0"/>
              <a:t>正义是最好和最坏的折中</a:t>
            </a:r>
            <a:endParaRPr lang="en-US" altLang="zh-CN" sz="2000" b="1" dirty="0"/>
          </a:p>
          <a:p>
            <a:endParaRPr lang="en-US" altLang="zh-CN" sz="2000" b="1" dirty="0"/>
          </a:p>
          <a:p>
            <a:r>
              <a:rPr lang="zh-CN" altLang="en-US" sz="2000" b="1" dirty="0"/>
              <a:t>正义是他律的</a:t>
            </a:r>
            <a:endParaRPr lang="en-US" altLang="zh-CN" sz="2000" b="1" dirty="0"/>
          </a:p>
          <a:p>
            <a:endParaRPr lang="zh-CN" altLang="en-US" dirty="0"/>
          </a:p>
        </p:txBody>
      </p:sp>
    </p:spTree>
    <p:extLst>
      <p:ext uri="{BB962C8B-B14F-4D97-AF65-F5344CB8AC3E}">
        <p14:creationId xmlns:p14="http://schemas.microsoft.com/office/powerpoint/2010/main" val="113862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4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9" y="609600"/>
            <a:ext cx="5430715" cy="1260000"/>
          </a:xfrm>
        </p:spPr>
        <p:txBody>
          <a:bodyPr/>
          <a:lstStyle/>
          <a:p>
            <a:r>
              <a:rPr lang="en-US" altLang="zh-CN" dirty="0"/>
              <a:t>2</a:t>
            </a:r>
            <a:r>
              <a:rPr lang="zh-CN" altLang="en-US" dirty="0"/>
              <a:t>，人们不是自愿要正义的</a:t>
            </a:r>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r>
              <a:rPr lang="zh-CN" altLang="en-US" sz="2000" b="1" dirty="0"/>
              <a:t>如果人人都只是怕受不正义的害而谴责不正义，而不是怕自己不正义加害别人，那么人们就只能缔结他律的法规来约定互不加害。</a:t>
            </a:r>
            <a:endParaRPr lang="en-US" altLang="zh-CN" sz="2000" b="1" dirty="0"/>
          </a:p>
          <a:p>
            <a:r>
              <a:rPr lang="zh-CN" altLang="en-US" sz="2000" b="1" dirty="0"/>
              <a:t>但这样的人在法律约束下是正义的，一旦得到可以为所欲为的力量，就会做出不正义的行为。</a:t>
            </a:r>
            <a:endParaRPr lang="en-US" altLang="zh-CN" sz="2000" b="1" dirty="0"/>
          </a:p>
          <a:p>
            <a:r>
              <a:rPr lang="zh-CN" altLang="en-US" sz="2000" b="1" dirty="0"/>
              <a:t>而为所欲为的力量</a:t>
            </a:r>
            <a:r>
              <a:rPr lang="en-US" altLang="zh-CN" sz="2000" b="1" dirty="0"/>
              <a:t>——</a:t>
            </a:r>
            <a:r>
              <a:rPr lang="zh-CN" altLang="en-US" sz="2000" b="1" dirty="0"/>
              <a:t>巨哥戒指的本质是什么呢？其实就是不被人看见</a:t>
            </a:r>
            <a:r>
              <a:rPr lang="en-US" altLang="zh-CN" sz="2000" b="1" dirty="0"/>
              <a:t>——</a:t>
            </a:r>
            <a:r>
              <a:rPr lang="zh-CN" altLang="en-US" sz="2000" b="1" dirty="0"/>
              <a:t>不被法律抓住，不被社会观察到。</a:t>
            </a:r>
          </a:p>
          <a:p>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13145"/>
            <a:ext cx="5495925"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16" y="1941945"/>
            <a:ext cx="5676900"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1887166" y="836579"/>
            <a:ext cx="3326860" cy="972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93387" y="1027545"/>
            <a:ext cx="454281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93387" y="1370445"/>
            <a:ext cx="11770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089498" y="1595336"/>
            <a:ext cx="185776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96291" y="1838036"/>
            <a:ext cx="363991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66618" y="2198255"/>
            <a:ext cx="4369586" cy="369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18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randombar(horizontal)">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1000" fill="hold"/>
                                        <p:tgtEl>
                                          <p:spTgt spid="11"/>
                                        </p:tgtEl>
                                        <p:attrNameLst>
                                          <p:attrName>ppt_w</p:attrName>
                                        </p:attrNameLst>
                                      </p:cBhvr>
                                      <p:tavLst>
                                        <p:tav tm="0">
                                          <p:val>
                                            <p:fltVal val="0"/>
                                          </p:val>
                                        </p:tav>
                                        <p:tav tm="100000">
                                          <p:val>
                                            <p:strVal val="#ppt_w"/>
                                          </p:val>
                                        </p:tav>
                                      </p:tavLst>
                                    </p:anim>
                                    <p:anim calcmode="lin" valueType="num">
                                      <p:cBhvr>
                                        <p:cTn id="29" dur="1000" fill="hold"/>
                                        <p:tgtEl>
                                          <p:spTgt spid="11"/>
                                        </p:tgtEl>
                                        <p:attrNameLst>
                                          <p:attrName>ppt_h</p:attrName>
                                        </p:attrNameLst>
                                      </p:cBhvr>
                                      <p:tavLst>
                                        <p:tav tm="0">
                                          <p:val>
                                            <p:fltVal val="0"/>
                                          </p:val>
                                        </p:tav>
                                        <p:tav tm="100000">
                                          <p:val>
                                            <p:strVal val="#ppt_h"/>
                                          </p:val>
                                        </p:tav>
                                      </p:tavLst>
                                    </p:anim>
                                    <p:anim calcmode="lin" valueType="num">
                                      <p:cBhvr>
                                        <p:cTn id="30" dur="1000" fill="hold"/>
                                        <p:tgtEl>
                                          <p:spTgt spid="11"/>
                                        </p:tgtEl>
                                        <p:attrNameLst>
                                          <p:attrName>style.rotation</p:attrName>
                                        </p:attrNameLst>
                                      </p:cBhvr>
                                      <p:tavLst>
                                        <p:tav tm="0">
                                          <p:val>
                                            <p:fltVal val="90"/>
                                          </p:val>
                                        </p:tav>
                                        <p:tav tm="100000">
                                          <p:val>
                                            <p:fltVal val="0"/>
                                          </p:val>
                                        </p:tav>
                                      </p:tavLst>
                                    </p:anim>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1000" fill="hold"/>
                                        <p:tgtEl>
                                          <p:spTgt spid="13"/>
                                        </p:tgtEl>
                                        <p:attrNameLst>
                                          <p:attrName>ppt_w</p:attrName>
                                        </p:attrNameLst>
                                      </p:cBhvr>
                                      <p:tavLst>
                                        <p:tav tm="0">
                                          <p:val>
                                            <p:fltVal val="0"/>
                                          </p:val>
                                        </p:tav>
                                        <p:tav tm="100000">
                                          <p:val>
                                            <p:strVal val="#ppt_w"/>
                                          </p:val>
                                        </p:tav>
                                      </p:tavLst>
                                    </p:anim>
                                    <p:anim calcmode="lin" valueType="num">
                                      <p:cBhvr>
                                        <p:cTn id="37" dur="1000" fill="hold"/>
                                        <p:tgtEl>
                                          <p:spTgt spid="13"/>
                                        </p:tgtEl>
                                        <p:attrNameLst>
                                          <p:attrName>ppt_h</p:attrName>
                                        </p:attrNameLst>
                                      </p:cBhvr>
                                      <p:tavLst>
                                        <p:tav tm="0">
                                          <p:val>
                                            <p:fltVal val="0"/>
                                          </p:val>
                                        </p:tav>
                                        <p:tav tm="100000">
                                          <p:val>
                                            <p:strVal val="#ppt_h"/>
                                          </p:val>
                                        </p:tav>
                                      </p:tavLst>
                                    </p:anim>
                                    <p:anim calcmode="lin" valueType="num">
                                      <p:cBhvr>
                                        <p:cTn id="38" dur="1000" fill="hold"/>
                                        <p:tgtEl>
                                          <p:spTgt spid="13"/>
                                        </p:tgtEl>
                                        <p:attrNameLst>
                                          <p:attrName>style.rotation</p:attrName>
                                        </p:attrNameLst>
                                      </p:cBhvr>
                                      <p:tavLst>
                                        <p:tav tm="0">
                                          <p:val>
                                            <p:fltVal val="90"/>
                                          </p:val>
                                        </p:tav>
                                        <p:tav tm="100000">
                                          <p:val>
                                            <p:fltVal val="0"/>
                                          </p:val>
                                        </p:tav>
                                      </p:tavLst>
                                    </p:anim>
                                    <p:animEffect transition="in" filter="fade">
                                      <p:cBhvr>
                                        <p:cTn id="39" dur="10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1000" fill="hold"/>
                                        <p:tgtEl>
                                          <p:spTgt spid="7"/>
                                        </p:tgtEl>
                                        <p:attrNameLst>
                                          <p:attrName>ppt_w</p:attrName>
                                        </p:attrNameLst>
                                      </p:cBhvr>
                                      <p:tavLst>
                                        <p:tav tm="0">
                                          <p:val>
                                            <p:fltVal val="0"/>
                                          </p:val>
                                        </p:tav>
                                        <p:tav tm="100000">
                                          <p:val>
                                            <p:strVal val="#ppt_w"/>
                                          </p:val>
                                        </p:tav>
                                      </p:tavLst>
                                    </p:anim>
                                    <p:anim calcmode="lin" valueType="num">
                                      <p:cBhvr>
                                        <p:cTn id="45" dur="1000" fill="hold"/>
                                        <p:tgtEl>
                                          <p:spTgt spid="7"/>
                                        </p:tgtEl>
                                        <p:attrNameLst>
                                          <p:attrName>ppt_h</p:attrName>
                                        </p:attrNameLst>
                                      </p:cBhvr>
                                      <p:tavLst>
                                        <p:tav tm="0">
                                          <p:val>
                                            <p:fltVal val="0"/>
                                          </p:val>
                                        </p:tav>
                                        <p:tav tm="100000">
                                          <p:val>
                                            <p:strVal val="#ppt_h"/>
                                          </p:val>
                                        </p:tav>
                                      </p:tavLst>
                                    </p:anim>
                                    <p:anim calcmode="lin" valueType="num">
                                      <p:cBhvr>
                                        <p:cTn id="46" dur="1000" fill="hold"/>
                                        <p:tgtEl>
                                          <p:spTgt spid="7"/>
                                        </p:tgtEl>
                                        <p:attrNameLst>
                                          <p:attrName>style.rotation</p:attrName>
                                        </p:attrNameLst>
                                      </p:cBhvr>
                                      <p:tavLst>
                                        <p:tav tm="0">
                                          <p:val>
                                            <p:fltVal val="90"/>
                                          </p:val>
                                        </p:tav>
                                        <p:tav tm="100000">
                                          <p:val>
                                            <p:fltVal val="0"/>
                                          </p:val>
                                        </p:tav>
                                      </p:tavLst>
                                    </p:anim>
                                    <p:animEffect transition="in" filter="fade">
                                      <p:cBhvr>
                                        <p:cTn id="47" dur="10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7173"/>
                                        </p:tgtEl>
                                        <p:attrNameLst>
                                          <p:attrName>style.visibility</p:attrName>
                                        </p:attrNameLst>
                                      </p:cBhvr>
                                      <p:to>
                                        <p:strVal val="visible"/>
                                      </p:to>
                                    </p:set>
                                    <p:animEffect transition="in" filter="randombar(horizontal)">
                                      <p:cBhvr>
                                        <p:cTn id="52" dur="500"/>
                                        <p:tgtEl>
                                          <p:spTgt spid="7173"/>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1000" fill="hold"/>
                                        <p:tgtEl>
                                          <p:spTgt spid="12"/>
                                        </p:tgtEl>
                                        <p:attrNameLst>
                                          <p:attrName>ppt_w</p:attrName>
                                        </p:attrNameLst>
                                      </p:cBhvr>
                                      <p:tavLst>
                                        <p:tav tm="0">
                                          <p:val>
                                            <p:fltVal val="0"/>
                                          </p:val>
                                        </p:tav>
                                        <p:tav tm="100000">
                                          <p:val>
                                            <p:strVal val="#ppt_w"/>
                                          </p:val>
                                        </p:tav>
                                      </p:tavLst>
                                    </p:anim>
                                    <p:anim calcmode="lin" valueType="num">
                                      <p:cBhvr>
                                        <p:cTn id="58" dur="1000" fill="hold"/>
                                        <p:tgtEl>
                                          <p:spTgt spid="12"/>
                                        </p:tgtEl>
                                        <p:attrNameLst>
                                          <p:attrName>ppt_h</p:attrName>
                                        </p:attrNameLst>
                                      </p:cBhvr>
                                      <p:tavLst>
                                        <p:tav tm="0">
                                          <p:val>
                                            <p:fltVal val="0"/>
                                          </p:val>
                                        </p:tav>
                                        <p:tav tm="100000">
                                          <p:val>
                                            <p:strVal val="#ppt_h"/>
                                          </p:val>
                                        </p:tav>
                                      </p:tavLst>
                                    </p:anim>
                                    <p:anim calcmode="lin" valueType="num">
                                      <p:cBhvr>
                                        <p:cTn id="59" dur="1000" fill="hold"/>
                                        <p:tgtEl>
                                          <p:spTgt spid="12"/>
                                        </p:tgtEl>
                                        <p:attrNameLst>
                                          <p:attrName>style.rotation</p:attrName>
                                        </p:attrNameLst>
                                      </p:cBhvr>
                                      <p:tavLst>
                                        <p:tav tm="0">
                                          <p:val>
                                            <p:fltVal val="90"/>
                                          </p:val>
                                        </p:tav>
                                        <p:tav tm="100000">
                                          <p:val>
                                            <p:fltVal val="0"/>
                                          </p:val>
                                        </p:tav>
                                      </p:tavLst>
                                    </p:anim>
                                    <p:animEffect transition="in" filter="fade">
                                      <p:cBhvr>
                                        <p:cTn id="60" dur="10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4">
                                            <p:txEl>
                                              <p:pRg st="0" end="0"/>
                                            </p:txEl>
                                          </p:spTgt>
                                        </p:tgtEl>
                                        <p:attrNameLst>
                                          <p:attrName>style.visibility</p:attrName>
                                        </p:attrNameLst>
                                      </p:cBhvr>
                                      <p:to>
                                        <p:strVal val="visible"/>
                                      </p:to>
                                    </p:set>
                                    <p:animEffect transition="in" filter="randombar(horizontal)">
                                      <p:cBhvr>
                                        <p:cTn id="65" dur="500"/>
                                        <p:tgtEl>
                                          <p:spTgt spid="4">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0" dur="500"/>
                                        <p:tgtEl>
                                          <p:spTgt spid="4">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nodeType="clickEffect">
                                  <p:stCondLst>
                                    <p:cond delay="0"/>
                                  </p:stCondLst>
                                  <p:childTnLst>
                                    <p:set>
                                      <p:cBhvr>
                                        <p:cTn id="7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1027" name="Picture 3"/>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914400" y="3089860"/>
            <a:ext cx="5080000" cy="1897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sz="half" idx="2"/>
          </p:nvPr>
        </p:nvSpPr>
        <p:spPr/>
        <p:txBody>
          <a:bodyPr/>
          <a:lstStyle/>
          <a:p>
            <a:endParaRPr lang="zh-CN" altLang="en-US"/>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340" y="357053"/>
            <a:ext cx="2714625"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464" y="582900"/>
            <a:ext cx="5267325"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7813964" y="1099127"/>
            <a:ext cx="194887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523345" y="1302327"/>
            <a:ext cx="1320800" cy="923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810971" y="3089860"/>
            <a:ext cx="45258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53524" y="3322409"/>
            <a:ext cx="31218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109556" y="3829376"/>
            <a:ext cx="1884218" cy="184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99763" y="4864602"/>
            <a:ext cx="3829415" cy="707886"/>
          </a:xfrm>
          <a:prstGeom prst="rect">
            <a:avLst/>
          </a:prstGeom>
          <a:noFill/>
        </p:spPr>
        <p:txBody>
          <a:bodyPr wrap="square" rtlCol="0">
            <a:spAutoFit/>
          </a:bodyPr>
          <a:lstStyle/>
          <a:p>
            <a:r>
              <a:rPr lang="zh-CN" altLang="en-US" sz="2000" b="1"/>
              <a:t>巨哥戒指的故事说明，他律的法律，是不可能让人真正正义的。</a:t>
            </a:r>
            <a:endParaRPr lang="zh-CN" altLang="en-US" sz="2000" b="1" dirty="0"/>
          </a:p>
        </p:txBody>
      </p:sp>
    </p:spTree>
    <p:extLst>
      <p:ext uri="{BB962C8B-B14F-4D97-AF65-F5344CB8AC3E}">
        <p14:creationId xmlns:p14="http://schemas.microsoft.com/office/powerpoint/2010/main" val="55468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500" fill="hold"/>
                                        <p:tgtEl>
                                          <p:spTgt spid="8194"/>
                                        </p:tgtEl>
                                        <p:attrNameLst>
                                          <p:attrName>ppt_w</p:attrName>
                                        </p:attrNameLst>
                                      </p:cBhvr>
                                      <p:tavLst>
                                        <p:tav tm="0">
                                          <p:val>
                                            <p:fltVal val="0"/>
                                          </p:val>
                                        </p:tav>
                                        <p:tav tm="100000">
                                          <p:val>
                                            <p:strVal val="#ppt_w"/>
                                          </p:val>
                                        </p:tav>
                                      </p:tavLst>
                                    </p:anim>
                                    <p:anim calcmode="lin" valueType="num">
                                      <p:cBhvr>
                                        <p:cTn id="8" dur="500" fill="hold"/>
                                        <p:tgtEl>
                                          <p:spTgt spid="8194"/>
                                        </p:tgtEl>
                                        <p:attrNameLst>
                                          <p:attrName>ppt_h</p:attrName>
                                        </p:attrNameLst>
                                      </p:cBhvr>
                                      <p:tavLst>
                                        <p:tav tm="0">
                                          <p:val>
                                            <p:fltVal val="0"/>
                                          </p:val>
                                        </p:tav>
                                        <p:tav tm="100000">
                                          <p:val>
                                            <p:strVal val="#ppt_h"/>
                                          </p:val>
                                        </p:tav>
                                      </p:tavLst>
                                    </p:anim>
                                    <p:animEffect transition="in" filter="fade">
                                      <p:cBhvr>
                                        <p:cTn id="9" dur="500"/>
                                        <p:tgtEl>
                                          <p:spTgt spid="8194"/>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randombar(horizontal)">
                                      <p:cBhvr>
                                        <p:cTn id="14" dur="500"/>
                                        <p:tgtEl>
                                          <p:spTgt spid="1026"/>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anim calcmode="lin" valueType="num">
                                      <p:cBhvr>
                                        <p:cTn id="21" dur="1000" fill="hold"/>
                                        <p:tgtEl>
                                          <p:spTgt spid="6"/>
                                        </p:tgtEl>
                                        <p:attrNameLst>
                                          <p:attrName>style.rotation</p:attrName>
                                        </p:attrNameLst>
                                      </p:cBhvr>
                                      <p:tavLst>
                                        <p:tav tm="0">
                                          <p:val>
                                            <p:fltVal val="90"/>
                                          </p:val>
                                        </p:tav>
                                        <p:tav tm="100000">
                                          <p:val>
                                            <p:fltVal val="0"/>
                                          </p:val>
                                        </p:tav>
                                      </p:tavLst>
                                    </p:anim>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 calcmode="lin" valueType="num">
                                      <p:cBhvr>
                                        <p:cTn id="29" dur="1000" fill="hold"/>
                                        <p:tgtEl>
                                          <p:spTgt spid="8"/>
                                        </p:tgtEl>
                                        <p:attrNameLst>
                                          <p:attrName>style.rotation</p:attrName>
                                        </p:attrNameLst>
                                      </p:cBhvr>
                                      <p:tavLst>
                                        <p:tav tm="0">
                                          <p:val>
                                            <p:fltVal val="90"/>
                                          </p:val>
                                        </p:tav>
                                        <p:tav tm="100000">
                                          <p:val>
                                            <p:fltVal val="0"/>
                                          </p:val>
                                        </p:tav>
                                      </p:tavLst>
                                    </p:anim>
                                    <p:animEffect transition="in" filter="fade">
                                      <p:cBhvr>
                                        <p:cTn id="30" dur="1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027"/>
                                        </p:tgtEl>
                                        <p:attrNameLst>
                                          <p:attrName>style.visibility</p:attrName>
                                        </p:attrNameLst>
                                      </p:cBhvr>
                                      <p:to>
                                        <p:strVal val="visible"/>
                                      </p:to>
                                    </p:set>
                                    <p:animEffect transition="in" filter="randombar(horizontal)">
                                      <p:cBhvr>
                                        <p:cTn id="35" dur="500"/>
                                        <p:tgtEl>
                                          <p:spTgt spid="1027"/>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1000" fill="hold"/>
                                        <p:tgtEl>
                                          <p:spTgt spid="12"/>
                                        </p:tgtEl>
                                        <p:attrNameLst>
                                          <p:attrName>ppt_w</p:attrName>
                                        </p:attrNameLst>
                                      </p:cBhvr>
                                      <p:tavLst>
                                        <p:tav tm="0">
                                          <p:val>
                                            <p:fltVal val="0"/>
                                          </p:val>
                                        </p:tav>
                                        <p:tav tm="100000">
                                          <p:val>
                                            <p:strVal val="#ppt_w"/>
                                          </p:val>
                                        </p:tav>
                                      </p:tavLst>
                                    </p:anim>
                                    <p:anim calcmode="lin" valueType="num">
                                      <p:cBhvr>
                                        <p:cTn id="41" dur="1000" fill="hold"/>
                                        <p:tgtEl>
                                          <p:spTgt spid="12"/>
                                        </p:tgtEl>
                                        <p:attrNameLst>
                                          <p:attrName>ppt_h</p:attrName>
                                        </p:attrNameLst>
                                      </p:cBhvr>
                                      <p:tavLst>
                                        <p:tav tm="0">
                                          <p:val>
                                            <p:fltVal val="0"/>
                                          </p:val>
                                        </p:tav>
                                        <p:tav tm="100000">
                                          <p:val>
                                            <p:strVal val="#ppt_h"/>
                                          </p:val>
                                        </p:tav>
                                      </p:tavLst>
                                    </p:anim>
                                    <p:anim calcmode="lin" valueType="num">
                                      <p:cBhvr>
                                        <p:cTn id="42" dur="1000" fill="hold"/>
                                        <p:tgtEl>
                                          <p:spTgt spid="12"/>
                                        </p:tgtEl>
                                        <p:attrNameLst>
                                          <p:attrName>style.rotation</p:attrName>
                                        </p:attrNameLst>
                                      </p:cBhvr>
                                      <p:tavLst>
                                        <p:tav tm="0">
                                          <p:val>
                                            <p:fltVal val="90"/>
                                          </p:val>
                                        </p:tav>
                                        <p:tav tm="100000">
                                          <p:val>
                                            <p:fltVal val="0"/>
                                          </p:val>
                                        </p:tav>
                                      </p:tavLst>
                                    </p:anim>
                                    <p:animEffect transition="in" filter="fade">
                                      <p:cBhvr>
                                        <p:cTn id="43" dur="10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1000" fill="hold"/>
                                        <p:tgtEl>
                                          <p:spTgt spid="10"/>
                                        </p:tgtEl>
                                        <p:attrNameLst>
                                          <p:attrName>ppt_w</p:attrName>
                                        </p:attrNameLst>
                                      </p:cBhvr>
                                      <p:tavLst>
                                        <p:tav tm="0">
                                          <p:val>
                                            <p:fltVal val="0"/>
                                          </p:val>
                                        </p:tav>
                                        <p:tav tm="100000">
                                          <p:val>
                                            <p:strVal val="#ppt_w"/>
                                          </p:val>
                                        </p:tav>
                                      </p:tavLst>
                                    </p:anim>
                                    <p:anim calcmode="lin" valueType="num">
                                      <p:cBhvr>
                                        <p:cTn id="49" dur="1000" fill="hold"/>
                                        <p:tgtEl>
                                          <p:spTgt spid="10"/>
                                        </p:tgtEl>
                                        <p:attrNameLst>
                                          <p:attrName>ppt_h</p:attrName>
                                        </p:attrNameLst>
                                      </p:cBhvr>
                                      <p:tavLst>
                                        <p:tav tm="0">
                                          <p:val>
                                            <p:fltVal val="0"/>
                                          </p:val>
                                        </p:tav>
                                        <p:tav tm="100000">
                                          <p:val>
                                            <p:strVal val="#ppt_h"/>
                                          </p:val>
                                        </p:tav>
                                      </p:tavLst>
                                    </p:anim>
                                    <p:anim calcmode="lin" valueType="num">
                                      <p:cBhvr>
                                        <p:cTn id="50" dur="1000" fill="hold"/>
                                        <p:tgtEl>
                                          <p:spTgt spid="10"/>
                                        </p:tgtEl>
                                        <p:attrNameLst>
                                          <p:attrName>style.rotation</p:attrName>
                                        </p:attrNameLst>
                                      </p:cBhvr>
                                      <p:tavLst>
                                        <p:tav tm="0">
                                          <p:val>
                                            <p:fltVal val="90"/>
                                          </p:val>
                                        </p:tav>
                                        <p:tav tm="100000">
                                          <p:val>
                                            <p:fltVal val="0"/>
                                          </p:val>
                                        </p:tav>
                                      </p:tavLst>
                                    </p:anim>
                                    <p:animEffect transition="in" filter="fade">
                                      <p:cBhvr>
                                        <p:cTn id="51" dur="10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1000" fill="hold"/>
                                        <p:tgtEl>
                                          <p:spTgt spid="15"/>
                                        </p:tgtEl>
                                        <p:attrNameLst>
                                          <p:attrName>ppt_w</p:attrName>
                                        </p:attrNameLst>
                                      </p:cBhvr>
                                      <p:tavLst>
                                        <p:tav tm="0">
                                          <p:val>
                                            <p:fltVal val="0"/>
                                          </p:val>
                                        </p:tav>
                                        <p:tav tm="100000">
                                          <p:val>
                                            <p:strVal val="#ppt_w"/>
                                          </p:val>
                                        </p:tav>
                                      </p:tavLst>
                                    </p:anim>
                                    <p:anim calcmode="lin" valueType="num">
                                      <p:cBhvr>
                                        <p:cTn id="57" dur="1000" fill="hold"/>
                                        <p:tgtEl>
                                          <p:spTgt spid="15"/>
                                        </p:tgtEl>
                                        <p:attrNameLst>
                                          <p:attrName>ppt_h</p:attrName>
                                        </p:attrNameLst>
                                      </p:cBhvr>
                                      <p:tavLst>
                                        <p:tav tm="0">
                                          <p:val>
                                            <p:fltVal val="0"/>
                                          </p:val>
                                        </p:tav>
                                        <p:tav tm="100000">
                                          <p:val>
                                            <p:strVal val="#ppt_h"/>
                                          </p:val>
                                        </p:tav>
                                      </p:tavLst>
                                    </p:anim>
                                    <p:anim calcmode="lin" valueType="num">
                                      <p:cBhvr>
                                        <p:cTn id="58" dur="1000" fill="hold"/>
                                        <p:tgtEl>
                                          <p:spTgt spid="15"/>
                                        </p:tgtEl>
                                        <p:attrNameLst>
                                          <p:attrName>style.rotation</p:attrName>
                                        </p:attrNameLst>
                                      </p:cBhvr>
                                      <p:tavLst>
                                        <p:tav tm="0">
                                          <p:val>
                                            <p:fltVal val="90"/>
                                          </p:val>
                                        </p:tav>
                                        <p:tav tm="100000">
                                          <p:val>
                                            <p:fltVal val="0"/>
                                          </p:val>
                                        </p:tav>
                                      </p:tavLst>
                                    </p:anim>
                                    <p:animEffect transition="in" filter="fade">
                                      <p:cBhvr>
                                        <p:cTn id="59" dur="10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6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a:t>
            </a:r>
            <a:r>
              <a:rPr lang="zh-CN" altLang="en-US" dirty="0"/>
              <a:t>，不正义的人的生活得比正义的人更好</a:t>
            </a:r>
            <a:br>
              <a:rPr lang="zh-CN" altLang="en-US" dirty="0"/>
            </a:br>
            <a:endParaRPr lang="zh-CN" altLang="en-US" dirty="0"/>
          </a:p>
        </p:txBody>
      </p:sp>
      <p:sp>
        <p:nvSpPr>
          <p:cNvPr id="3" name="Content Placeholder 2"/>
          <p:cNvSpPr>
            <a:spLocks noGrp="1"/>
          </p:cNvSpPr>
          <p:nvPr>
            <p:ph sz="half" idx="1"/>
          </p:nvPr>
        </p:nvSpPr>
        <p:spPr>
          <a:xfrm>
            <a:off x="311438" y="4867564"/>
            <a:ext cx="5932344" cy="923637"/>
          </a:xfrm>
        </p:spPr>
        <p:txBody>
          <a:bodyPr>
            <a:normAutofit/>
          </a:bodyPr>
          <a:lstStyle/>
          <a:p>
            <a:endParaRPr lang="zh-CN" altLang="en-US" sz="2400" dirty="0"/>
          </a:p>
        </p:txBody>
      </p:sp>
      <p:sp>
        <p:nvSpPr>
          <p:cNvPr id="4" name="Content Placeholder 3"/>
          <p:cNvSpPr>
            <a:spLocks noGrp="1"/>
          </p:cNvSpPr>
          <p:nvPr>
            <p:ph sz="half" idx="2"/>
          </p:nvPr>
        </p:nvSpPr>
        <p:spPr/>
        <p:txBody>
          <a:bodyPr/>
          <a:lstStyle/>
          <a:p>
            <a:endParaRPr lang="zh-CN"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0" y="1955943"/>
            <a:ext cx="5657850" cy="445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198" y="1865744"/>
            <a:ext cx="5467350" cy="381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2032000" y="3454400"/>
            <a:ext cx="33343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382982" y="5163127"/>
            <a:ext cx="3057236" cy="184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20436" y="5412509"/>
            <a:ext cx="166254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0270836" y="2918691"/>
            <a:ext cx="11914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936509" y="3149600"/>
            <a:ext cx="2863273"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6936509" y="4120138"/>
            <a:ext cx="2170546" cy="3766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7906327" y="4331855"/>
            <a:ext cx="3657600" cy="5541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7656945" y="5043055"/>
            <a:ext cx="3112655" cy="369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9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randombar(horizontal)">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9219"/>
                                        </p:tgtEl>
                                        <p:attrNameLst>
                                          <p:attrName>style.visibility</p:attrName>
                                        </p:attrNameLst>
                                      </p:cBhvr>
                                      <p:to>
                                        <p:strVal val="visible"/>
                                      </p:to>
                                    </p:set>
                                    <p:animEffect transition="in" filter="randombar(horizontal)">
                                      <p:cBhvr>
                                        <p:cTn id="36" dur="500"/>
                                        <p:tgtEl>
                                          <p:spTgt spid="9219"/>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1000" fill="hold"/>
                                        <p:tgtEl>
                                          <p:spTgt spid="12"/>
                                        </p:tgtEl>
                                        <p:attrNameLst>
                                          <p:attrName>ppt_w</p:attrName>
                                        </p:attrNameLst>
                                      </p:cBhvr>
                                      <p:tavLst>
                                        <p:tav tm="0">
                                          <p:val>
                                            <p:fltVal val="0"/>
                                          </p:val>
                                        </p:tav>
                                        <p:tav tm="100000">
                                          <p:val>
                                            <p:strVal val="#ppt_w"/>
                                          </p:val>
                                        </p:tav>
                                      </p:tavLst>
                                    </p:anim>
                                    <p:anim calcmode="lin" valueType="num">
                                      <p:cBhvr>
                                        <p:cTn id="42" dur="1000" fill="hold"/>
                                        <p:tgtEl>
                                          <p:spTgt spid="12"/>
                                        </p:tgtEl>
                                        <p:attrNameLst>
                                          <p:attrName>ppt_h</p:attrName>
                                        </p:attrNameLst>
                                      </p:cBhvr>
                                      <p:tavLst>
                                        <p:tav tm="0">
                                          <p:val>
                                            <p:fltVal val="0"/>
                                          </p:val>
                                        </p:tav>
                                        <p:tav tm="100000">
                                          <p:val>
                                            <p:strVal val="#ppt_h"/>
                                          </p:val>
                                        </p:tav>
                                      </p:tavLst>
                                    </p:anim>
                                    <p:anim calcmode="lin" valueType="num">
                                      <p:cBhvr>
                                        <p:cTn id="43" dur="1000" fill="hold"/>
                                        <p:tgtEl>
                                          <p:spTgt spid="12"/>
                                        </p:tgtEl>
                                        <p:attrNameLst>
                                          <p:attrName>style.rotation</p:attrName>
                                        </p:attrNameLst>
                                      </p:cBhvr>
                                      <p:tavLst>
                                        <p:tav tm="0">
                                          <p:val>
                                            <p:fltVal val="90"/>
                                          </p:val>
                                        </p:tav>
                                        <p:tav tm="100000">
                                          <p:val>
                                            <p:fltVal val="0"/>
                                          </p:val>
                                        </p:tav>
                                      </p:tavLst>
                                    </p:anim>
                                    <p:animEffect transition="in" filter="fade">
                                      <p:cBhvr>
                                        <p:cTn id="44" dur="10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1000" fill="hold"/>
                                        <p:tgtEl>
                                          <p:spTgt spid="14"/>
                                        </p:tgtEl>
                                        <p:attrNameLst>
                                          <p:attrName>ppt_w</p:attrName>
                                        </p:attrNameLst>
                                      </p:cBhvr>
                                      <p:tavLst>
                                        <p:tav tm="0">
                                          <p:val>
                                            <p:fltVal val="0"/>
                                          </p:val>
                                        </p:tav>
                                        <p:tav tm="100000">
                                          <p:val>
                                            <p:strVal val="#ppt_w"/>
                                          </p:val>
                                        </p:tav>
                                      </p:tavLst>
                                    </p:anim>
                                    <p:anim calcmode="lin" valueType="num">
                                      <p:cBhvr>
                                        <p:cTn id="50" dur="1000" fill="hold"/>
                                        <p:tgtEl>
                                          <p:spTgt spid="14"/>
                                        </p:tgtEl>
                                        <p:attrNameLst>
                                          <p:attrName>ppt_h</p:attrName>
                                        </p:attrNameLst>
                                      </p:cBhvr>
                                      <p:tavLst>
                                        <p:tav tm="0">
                                          <p:val>
                                            <p:fltVal val="0"/>
                                          </p:val>
                                        </p:tav>
                                        <p:tav tm="100000">
                                          <p:val>
                                            <p:strVal val="#ppt_h"/>
                                          </p:val>
                                        </p:tav>
                                      </p:tavLst>
                                    </p:anim>
                                    <p:anim calcmode="lin" valueType="num">
                                      <p:cBhvr>
                                        <p:cTn id="51" dur="1000" fill="hold"/>
                                        <p:tgtEl>
                                          <p:spTgt spid="14"/>
                                        </p:tgtEl>
                                        <p:attrNameLst>
                                          <p:attrName>style.rotation</p:attrName>
                                        </p:attrNameLst>
                                      </p:cBhvr>
                                      <p:tavLst>
                                        <p:tav tm="0">
                                          <p:val>
                                            <p:fltVal val="90"/>
                                          </p:val>
                                        </p:tav>
                                        <p:tav tm="100000">
                                          <p:val>
                                            <p:fltVal val="0"/>
                                          </p:val>
                                        </p:tav>
                                      </p:tavLst>
                                    </p:anim>
                                    <p:animEffect transition="in" filter="fade">
                                      <p:cBhvr>
                                        <p:cTn id="52" dur="10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1000" fill="hold"/>
                                        <p:tgtEl>
                                          <p:spTgt spid="16"/>
                                        </p:tgtEl>
                                        <p:attrNameLst>
                                          <p:attrName>ppt_w</p:attrName>
                                        </p:attrNameLst>
                                      </p:cBhvr>
                                      <p:tavLst>
                                        <p:tav tm="0">
                                          <p:val>
                                            <p:fltVal val="0"/>
                                          </p:val>
                                        </p:tav>
                                        <p:tav tm="100000">
                                          <p:val>
                                            <p:strVal val="#ppt_w"/>
                                          </p:val>
                                        </p:tav>
                                      </p:tavLst>
                                    </p:anim>
                                    <p:anim calcmode="lin" valueType="num">
                                      <p:cBhvr>
                                        <p:cTn id="58" dur="1000" fill="hold"/>
                                        <p:tgtEl>
                                          <p:spTgt spid="16"/>
                                        </p:tgtEl>
                                        <p:attrNameLst>
                                          <p:attrName>ppt_h</p:attrName>
                                        </p:attrNameLst>
                                      </p:cBhvr>
                                      <p:tavLst>
                                        <p:tav tm="0">
                                          <p:val>
                                            <p:fltVal val="0"/>
                                          </p:val>
                                        </p:tav>
                                        <p:tav tm="100000">
                                          <p:val>
                                            <p:strVal val="#ppt_h"/>
                                          </p:val>
                                        </p:tav>
                                      </p:tavLst>
                                    </p:anim>
                                    <p:anim calcmode="lin" valueType="num">
                                      <p:cBhvr>
                                        <p:cTn id="59" dur="1000" fill="hold"/>
                                        <p:tgtEl>
                                          <p:spTgt spid="16"/>
                                        </p:tgtEl>
                                        <p:attrNameLst>
                                          <p:attrName>style.rotation</p:attrName>
                                        </p:attrNameLst>
                                      </p:cBhvr>
                                      <p:tavLst>
                                        <p:tav tm="0">
                                          <p:val>
                                            <p:fltVal val="90"/>
                                          </p:val>
                                        </p:tav>
                                        <p:tav tm="100000">
                                          <p:val>
                                            <p:fltVal val="0"/>
                                          </p:val>
                                        </p:tav>
                                      </p:tavLst>
                                    </p:anim>
                                    <p:animEffect transition="in" filter="fade">
                                      <p:cBhvr>
                                        <p:cTn id="60" dur="100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p:cTn id="65" dur="1000" fill="hold"/>
                                        <p:tgtEl>
                                          <p:spTgt spid="20"/>
                                        </p:tgtEl>
                                        <p:attrNameLst>
                                          <p:attrName>ppt_w</p:attrName>
                                        </p:attrNameLst>
                                      </p:cBhvr>
                                      <p:tavLst>
                                        <p:tav tm="0">
                                          <p:val>
                                            <p:fltVal val="0"/>
                                          </p:val>
                                        </p:tav>
                                        <p:tav tm="100000">
                                          <p:val>
                                            <p:strVal val="#ppt_w"/>
                                          </p:val>
                                        </p:tav>
                                      </p:tavLst>
                                    </p:anim>
                                    <p:anim calcmode="lin" valueType="num">
                                      <p:cBhvr>
                                        <p:cTn id="66" dur="1000" fill="hold"/>
                                        <p:tgtEl>
                                          <p:spTgt spid="20"/>
                                        </p:tgtEl>
                                        <p:attrNameLst>
                                          <p:attrName>ppt_h</p:attrName>
                                        </p:attrNameLst>
                                      </p:cBhvr>
                                      <p:tavLst>
                                        <p:tav tm="0">
                                          <p:val>
                                            <p:fltVal val="0"/>
                                          </p:val>
                                        </p:tav>
                                        <p:tav tm="100000">
                                          <p:val>
                                            <p:strVal val="#ppt_h"/>
                                          </p:val>
                                        </p:tav>
                                      </p:tavLst>
                                    </p:anim>
                                    <p:anim calcmode="lin" valueType="num">
                                      <p:cBhvr>
                                        <p:cTn id="67" dur="1000" fill="hold"/>
                                        <p:tgtEl>
                                          <p:spTgt spid="20"/>
                                        </p:tgtEl>
                                        <p:attrNameLst>
                                          <p:attrName>style.rotation</p:attrName>
                                        </p:attrNameLst>
                                      </p:cBhvr>
                                      <p:tavLst>
                                        <p:tav tm="0">
                                          <p:val>
                                            <p:fltVal val="90"/>
                                          </p:val>
                                        </p:tav>
                                        <p:tav tm="100000">
                                          <p:val>
                                            <p:fltVal val="0"/>
                                          </p:val>
                                        </p:tav>
                                      </p:tavLst>
                                    </p:anim>
                                    <p:animEffect transition="in" filter="fade">
                                      <p:cBhvr>
                                        <p:cTn id="68" dur="10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31"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p:cTn id="73" dur="1000" fill="hold"/>
                                        <p:tgtEl>
                                          <p:spTgt spid="22"/>
                                        </p:tgtEl>
                                        <p:attrNameLst>
                                          <p:attrName>ppt_w</p:attrName>
                                        </p:attrNameLst>
                                      </p:cBhvr>
                                      <p:tavLst>
                                        <p:tav tm="0">
                                          <p:val>
                                            <p:fltVal val="0"/>
                                          </p:val>
                                        </p:tav>
                                        <p:tav tm="100000">
                                          <p:val>
                                            <p:strVal val="#ppt_w"/>
                                          </p:val>
                                        </p:tav>
                                      </p:tavLst>
                                    </p:anim>
                                    <p:anim calcmode="lin" valueType="num">
                                      <p:cBhvr>
                                        <p:cTn id="74" dur="1000" fill="hold"/>
                                        <p:tgtEl>
                                          <p:spTgt spid="22"/>
                                        </p:tgtEl>
                                        <p:attrNameLst>
                                          <p:attrName>ppt_h</p:attrName>
                                        </p:attrNameLst>
                                      </p:cBhvr>
                                      <p:tavLst>
                                        <p:tav tm="0">
                                          <p:val>
                                            <p:fltVal val="0"/>
                                          </p:val>
                                        </p:tav>
                                        <p:tav tm="100000">
                                          <p:val>
                                            <p:strVal val="#ppt_h"/>
                                          </p:val>
                                        </p:tav>
                                      </p:tavLst>
                                    </p:anim>
                                    <p:anim calcmode="lin" valueType="num">
                                      <p:cBhvr>
                                        <p:cTn id="75" dur="1000" fill="hold"/>
                                        <p:tgtEl>
                                          <p:spTgt spid="22"/>
                                        </p:tgtEl>
                                        <p:attrNameLst>
                                          <p:attrName>style.rotation</p:attrName>
                                        </p:attrNameLst>
                                      </p:cBhvr>
                                      <p:tavLst>
                                        <p:tav tm="0">
                                          <p:val>
                                            <p:fltVal val="90"/>
                                          </p:val>
                                        </p:tav>
                                        <p:tav tm="100000">
                                          <p:val>
                                            <p:fltVal val="0"/>
                                          </p:val>
                                        </p:tav>
                                      </p:tavLst>
                                    </p:anim>
                                    <p:animEffect transition="in" filter="fade">
                                      <p:cBhvr>
                                        <p:cTn id="76"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488644" y="1869601"/>
            <a:ext cx="5040000" cy="1658690"/>
          </a:xfrm>
        </p:spPr>
        <p:txBody>
          <a:bodyPr>
            <a:normAutofit/>
          </a:bodyPr>
          <a:lstStyle/>
          <a:p>
            <a:r>
              <a:rPr lang="zh-CN" altLang="en-US" sz="2000" b="1" dirty="0"/>
              <a:t>不正义人的极致，是事实上不正义，但看起来正义。</a:t>
            </a:r>
            <a:endParaRPr lang="en-US" altLang="zh-CN" sz="2000" b="1" dirty="0"/>
          </a:p>
          <a:p>
            <a:r>
              <a:rPr lang="zh-CN" altLang="en-US" sz="2000" b="1" dirty="0"/>
              <a:t>正义的人的极致，是事实上正义，但看起来不正义。</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032" y="223261"/>
            <a:ext cx="5448300" cy="401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9" y="4424940"/>
            <a:ext cx="5495925"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705600" y="3842327"/>
            <a:ext cx="2115127" cy="400110"/>
          </a:xfrm>
          <a:prstGeom prst="rect">
            <a:avLst/>
          </a:prstGeom>
          <a:noFill/>
        </p:spPr>
        <p:txBody>
          <a:bodyPr wrap="square" rtlCol="0">
            <a:spAutoFit/>
          </a:bodyPr>
          <a:lstStyle/>
          <a:p>
            <a:r>
              <a:rPr lang="zh-CN" altLang="en-US" sz="2000" b="1" dirty="0"/>
              <a:t>本身善</a:t>
            </a:r>
          </a:p>
        </p:txBody>
      </p:sp>
      <p:sp>
        <p:nvSpPr>
          <p:cNvPr id="6" name="TextBox 5"/>
          <p:cNvSpPr txBox="1"/>
          <p:nvPr/>
        </p:nvSpPr>
        <p:spPr>
          <a:xfrm>
            <a:off x="9282545" y="3842327"/>
            <a:ext cx="1681019" cy="400110"/>
          </a:xfrm>
          <a:prstGeom prst="rect">
            <a:avLst/>
          </a:prstGeom>
          <a:noFill/>
        </p:spPr>
        <p:txBody>
          <a:bodyPr wrap="square" rtlCol="0">
            <a:spAutoFit/>
          </a:bodyPr>
          <a:lstStyle/>
          <a:p>
            <a:r>
              <a:rPr lang="zh-CN" altLang="en-US" sz="2000" b="1" dirty="0"/>
              <a:t>后果善</a:t>
            </a:r>
          </a:p>
        </p:txBody>
      </p:sp>
      <p:sp>
        <p:nvSpPr>
          <p:cNvPr id="7" name="TextBox 6"/>
          <p:cNvSpPr txBox="1"/>
          <p:nvPr/>
        </p:nvSpPr>
        <p:spPr>
          <a:xfrm>
            <a:off x="6705600" y="4516583"/>
            <a:ext cx="1293091" cy="400110"/>
          </a:xfrm>
          <a:prstGeom prst="rect">
            <a:avLst/>
          </a:prstGeom>
          <a:noFill/>
        </p:spPr>
        <p:txBody>
          <a:bodyPr wrap="square" rtlCol="0">
            <a:spAutoFit/>
          </a:bodyPr>
          <a:lstStyle/>
          <a:p>
            <a:r>
              <a:rPr lang="zh-CN" altLang="en-US" sz="2000" b="1" dirty="0"/>
              <a:t>正义的人</a:t>
            </a:r>
          </a:p>
        </p:txBody>
      </p:sp>
      <p:sp>
        <p:nvSpPr>
          <p:cNvPr id="8" name="TextBox 7"/>
          <p:cNvSpPr txBox="1"/>
          <p:nvPr/>
        </p:nvSpPr>
        <p:spPr>
          <a:xfrm>
            <a:off x="9282545" y="4516583"/>
            <a:ext cx="1514764" cy="400110"/>
          </a:xfrm>
          <a:prstGeom prst="rect">
            <a:avLst/>
          </a:prstGeom>
          <a:noFill/>
        </p:spPr>
        <p:txBody>
          <a:bodyPr wrap="square" rtlCol="0">
            <a:spAutoFit/>
          </a:bodyPr>
          <a:lstStyle/>
          <a:p>
            <a:r>
              <a:rPr lang="zh-CN" altLang="en-US" sz="2000" b="1" dirty="0"/>
              <a:t>不正义的人</a:t>
            </a:r>
          </a:p>
        </p:txBody>
      </p:sp>
    </p:spTree>
    <p:extLst>
      <p:ext uri="{BB962C8B-B14F-4D97-AF65-F5344CB8AC3E}">
        <p14:creationId xmlns:p14="http://schemas.microsoft.com/office/powerpoint/2010/main" val="329338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randombar(horizontal)">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randombar(horizontal)">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randombar(horizontal)">
                                      <p:cBhvr>
                                        <p:cTn id="4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063240" y="1869601"/>
            <a:ext cx="5465404" cy="3921600"/>
          </a:xfrm>
        </p:spPr>
        <p:txBody>
          <a:bodyPr/>
          <a:lstStyle/>
          <a:p>
            <a:endParaRPr lang="zh-CN" altLang="en-US" dirty="0"/>
          </a:p>
          <a:p>
            <a:endParaRPr lang="zh-CN" alt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404" y="616384"/>
            <a:ext cx="5514975" cy="549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2826327" y="3519055"/>
            <a:ext cx="2743200" cy="4618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88291" y="3786909"/>
            <a:ext cx="458123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756727" y="5200073"/>
            <a:ext cx="8128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988291" y="5477164"/>
            <a:ext cx="1413164"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888" y="360723"/>
            <a:ext cx="5407025" cy="631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115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randombar(horizontal)">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1000" fill="hold"/>
                                        <p:tgtEl>
                                          <p:spTgt spid="11"/>
                                        </p:tgtEl>
                                        <p:attrNameLst>
                                          <p:attrName>ppt_w</p:attrName>
                                        </p:attrNameLst>
                                      </p:cBhvr>
                                      <p:tavLst>
                                        <p:tav tm="0">
                                          <p:val>
                                            <p:fltVal val="0"/>
                                          </p:val>
                                        </p:tav>
                                        <p:tav tm="100000">
                                          <p:val>
                                            <p:strVal val="#ppt_w"/>
                                          </p:val>
                                        </p:tav>
                                      </p:tavLst>
                                    </p:anim>
                                    <p:anim calcmode="lin" valueType="num">
                                      <p:cBhvr>
                                        <p:cTn id="29" dur="1000" fill="hold"/>
                                        <p:tgtEl>
                                          <p:spTgt spid="11"/>
                                        </p:tgtEl>
                                        <p:attrNameLst>
                                          <p:attrName>ppt_h</p:attrName>
                                        </p:attrNameLst>
                                      </p:cBhvr>
                                      <p:tavLst>
                                        <p:tav tm="0">
                                          <p:val>
                                            <p:fltVal val="0"/>
                                          </p:val>
                                        </p:tav>
                                        <p:tav tm="100000">
                                          <p:val>
                                            <p:strVal val="#ppt_h"/>
                                          </p:val>
                                        </p:tav>
                                      </p:tavLst>
                                    </p:anim>
                                    <p:anim calcmode="lin" valueType="num">
                                      <p:cBhvr>
                                        <p:cTn id="30" dur="1000" fill="hold"/>
                                        <p:tgtEl>
                                          <p:spTgt spid="11"/>
                                        </p:tgtEl>
                                        <p:attrNameLst>
                                          <p:attrName>style.rotation</p:attrName>
                                        </p:attrNameLst>
                                      </p:cBhvr>
                                      <p:tavLst>
                                        <p:tav tm="0">
                                          <p:val>
                                            <p:fltVal val="90"/>
                                          </p:val>
                                        </p:tav>
                                        <p:tav tm="100000">
                                          <p:val>
                                            <p:fltVal val="0"/>
                                          </p:val>
                                        </p:tav>
                                      </p:tavLst>
                                    </p:anim>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1000" fill="hold"/>
                                        <p:tgtEl>
                                          <p:spTgt spid="13"/>
                                        </p:tgtEl>
                                        <p:attrNameLst>
                                          <p:attrName>ppt_w</p:attrName>
                                        </p:attrNameLst>
                                      </p:cBhvr>
                                      <p:tavLst>
                                        <p:tav tm="0">
                                          <p:val>
                                            <p:fltVal val="0"/>
                                          </p:val>
                                        </p:tav>
                                        <p:tav tm="100000">
                                          <p:val>
                                            <p:strVal val="#ppt_w"/>
                                          </p:val>
                                        </p:tav>
                                      </p:tavLst>
                                    </p:anim>
                                    <p:anim calcmode="lin" valueType="num">
                                      <p:cBhvr>
                                        <p:cTn id="37" dur="1000" fill="hold"/>
                                        <p:tgtEl>
                                          <p:spTgt spid="13"/>
                                        </p:tgtEl>
                                        <p:attrNameLst>
                                          <p:attrName>ppt_h</p:attrName>
                                        </p:attrNameLst>
                                      </p:cBhvr>
                                      <p:tavLst>
                                        <p:tav tm="0">
                                          <p:val>
                                            <p:fltVal val="0"/>
                                          </p:val>
                                        </p:tav>
                                        <p:tav tm="100000">
                                          <p:val>
                                            <p:strVal val="#ppt_h"/>
                                          </p:val>
                                        </p:tav>
                                      </p:tavLst>
                                    </p:anim>
                                    <p:anim calcmode="lin" valueType="num">
                                      <p:cBhvr>
                                        <p:cTn id="38" dur="1000" fill="hold"/>
                                        <p:tgtEl>
                                          <p:spTgt spid="13"/>
                                        </p:tgtEl>
                                        <p:attrNameLst>
                                          <p:attrName>style.rotation</p:attrName>
                                        </p:attrNameLst>
                                      </p:cBhvr>
                                      <p:tavLst>
                                        <p:tav tm="0">
                                          <p:val>
                                            <p:fltVal val="90"/>
                                          </p:val>
                                        </p:tav>
                                        <p:tav tm="100000">
                                          <p:val>
                                            <p:fltVal val="0"/>
                                          </p:val>
                                        </p:tav>
                                      </p:tavLst>
                                    </p:anim>
                                    <p:animEffect transition="in" filter="fade">
                                      <p:cBhvr>
                                        <p:cTn id="39" dur="10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3075"/>
                                        </p:tgtEl>
                                        <p:attrNameLst>
                                          <p:attrName>style.visibility</p:attrName>
                                        </p:attrNameLst>
                                      </p:cBhvr>
                                      <p:to>
                                        <p:strVal val="visible"/>
                                      </p:to>
                                    </p:set>
                                    <p:animEffect transition="in" filter="randombar(horizontal)">
                                      <p:cBhvr>
                                        <p:cTn id="44"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000" b="1" dirty="0"/>
              <a:t>阿黛伊曼特要说的，是传统伦理教育的问题。传统教育只赞美正义的后果，却不要求人真正做到正义。</a:t>
            </a:r>
          </a:p>
          <a:p>
            <a:r>
              <a:rPr lang="zh-CN" altLang="en-US" sz="2000" b="1" dirty="0"/>
              <a:t>传统伦理观念的维护者包括父辈、诗人赫西奥德、荷马等。</a:t>
            </a:r>
          </a:p>
          <a:p>
            <a:endParaRPr lang="zh-CN" altLang="en-US" dirty="0"/>
          </a:p>
        </p:txBody>
      </p:sp>
      <p:sp>
        <p:nvSpPr>
          <p:cNvPr id="4" name="Content Placeholder 3"/>
          <p:cNvSpPr>
            <a:spLocks noGrp="1"/>
          </p:cNvSpPr>
          <p:nvPr>
            <p:ph sz="half" idx="2"/>
          </p:nvPr>
        </p:nvSpPr>
        <p:spPr/>
        <p:txBody>
          <a:bodyPr>
            <a:normAutofit/>
          </a:bodyPr>
          <a:lstStyle/>
          <a:p>
            <a:r>
              <a:rPr lang="en-US" altLang="zh-CN" sz="2000" b="1" dirty="0"/>
              <a:t>1</a:t>
            </a:r>
            <a:r>
              <a:rPr lang="zh-CN" altLang="en-US" sz="2000" b="1" dirty="0"/>
              <a:t>，关于正义和不正义的报偿</a:t>
            </a:r>
          </a:p>
          <a:p>
            <a:r>
              <a:rPr lang="zh-CN" altLang="en-US" sz="2000" b="1" dirty="0"/>
              <a:t>赫西奥德、荷马和谬萨奥及其子等古希腊诗人对正义之人从神那里获得的报偿总是和盛宴联系在一起，阿德曼托斯讥讽说，似乎他们认为永久地酩酊大醉就是美德最好的酬劳。虔诚的人从神那里得到的酬劳是子孙后代繁荣昌盛。不正义的人得到的惩罚就是在世时的坏名声，以及死后在冥国受罚。</a:t>
            </a:r>
          </a:p>
        </p:txBody>
      </p:sp>
    </p:spTree>
    <p:extLst>
      <p:ext uri="{BB962C8B-B14F-4D97-AF65-F5344CB8AC3E}">
        <p14:creationId xmlns:p14="http://schemas.microsoft.com/office/powerpoint/2010/main" val="151519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en-US" altLang="zh-CN" sz="2000" dirty="0"/>
              <a:t>2</a:t>
            </a:r>
            <a:r>
              <a:rPr lang="zh-CN" altLang="en-US" sz="2000" dirty="0"/>
              <a:t>，</a:t>
            </a:r>
            <a:r>
              <a:rPr lang="zh-CN" altLang="en-US" sz="2000" b="1" dirty="0"/>
              <a:t>关于正义和不正义的选择</a:t>
            </a:r>
            <a:endParaRPr lang="en-US" altLang="zh-CN" sz="2000" b="1" dirty="0"/>
          </a:p>
          <a:p>
            <a:r>
              <a:rPr lang="zh-CN" altLang="en-US" sz="2000" b="1" dirty="0"/>
              <a:t>正义和节制是好东西，但是困难又艰巨，同时不节制与不正义是甜蜜的，容易获得的，只不过名声不好听，也被习俗认为是耻辱的。但不正义的行为大部分时候，比正义的行为获利更多 。</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40" y="273050"/>
            <a:ext cx="5718175" cy="570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2632364" y="1071418"/>
            <a:ext cx="2955636" cy="184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117600" y="1311564"/>
            <a:ext cx="4470400" cy="7389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828800" y="1847273"/>
            <a:ext cx="2521527" cy="184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52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4">
                                            <p:txEl>
                                              <p:pRg st="0" end="0"/>
                                            </p:txEl>
                                          </p:spTgt>
                                        </p:tgtEl>
                                        <p:attrNameLst>
                                          <p:attrName>style.visibility</p:attrName>
                                        </p:attrNameLst>
                                      </p:cBhvr>
                                      <p:to>
                                        <p:strVal val="visible"/>
                                      </p:to>
                                    </p:set>
                                    <p:anim calcmode="lin" valueType="num">
                                      <p:cBhvr>
                                        <p:cTn id="36"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37"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38"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39" dur="1000"/>
                                        <p:tgtEl>
                                          <p:spTgt spid="4">
                                            <p:txEl>
                                              <p:pRg st="0" end="0"/>
                                            </p:txEl>
                                          </p:spTgt>
                                        </p:tgtEl>
                                      </p:cBhvr>
                                    </p:animEffect>
                                  </p:childTnLst>
                                </p:cTn>
                              </p:par>
                              <p:par>
                                <p:cTn id="40" presetID="31" presetClass="entr" presetSubtype="0" fill="hold" nodeType="with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 calcmode="lin" valueType="num">
                                      <p:cBhvr>
                                        <p:cTn id="42"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43"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44"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45"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dirty="0"/>
              <a:t>。</a:t>
            </a:r>
          </a:p>
          <a:p>
            <a:endParaRPr lang="zh-CN" altLang="en-US" dirty="0"/>
          </a:p>
        </p:txBody>
      </p:sp>
      <p:sp>
        <p:nvSpPr>
          <p:cNvPr id="4" name="Content Placeholder 3"/>
          <p:cNvSpPr>
            <a:spLocks noGrp="1"/>
          </p:cNvSpPr>
          <p:nvPr>
            <p:ph sz="half" idx="2"/>
          </p:nvPr>
        </p:nvSpPr>
        <p:spPr/>
        <p:txBody>
          <a:bodyPr/>
          <a:lstStyle/>
          <a:p>
            <a:r>
              <a:rPr lang="en-US" altLang="zh-CN" sz="2000" dirty="0"/>
              <a:t>3</a:t>
            </a:r>
            <a:r>
              <a:rPr lang="zh-CN" altLang="en-US" sz="2000" dirty="0"/>
              <a:t>，</a:t>
            </a:r>
            <a:r>
              <a:rPr lang="zh-CN" altLang="en-US" sz="2000" b="1" dirty="0"/>
              <a:t>关于如何避免不正义带来的惩罚</a:t>
            </a:r>
          </a:p>
          <a:p>
            <a:r>
              <a:rPr lang="zh-CN" altLang="en-US" sz="2000" b="1" dirty="0"/>
              <a:t>要钱的祭师与预言师说服富人们，只要献祭，神就能站在他们那边。即使自己或祖先曾行过不正义的事，也能靠祭礼解决。 </a:t>
            </a:r>
          </a:p>
          <a:p>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80" y="76777"/>
            <a:ext cx="5541963" cy="646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100945" y="350982"/>
            <a:ext cx="102523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209964" y="2715491"/>
            <a:ext cx="4027054" cy="369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6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randombar(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000" b="1" dirty="0"/>
              <a:t>上述伦理教育对年轻人产生了坏的影响。他们开始认为，做正义的人没什么好处，如果不是被同时认为正义的话，而麻烦和惩罚倒是就在眼前的；但是不正义的人，却为自己保住了正义的名声，活得像神一样。 </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0949" y="356322"/>
            <a:ext cx="5514975" cy="498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7915564" y="2105891"/>
            <a:ext cx="3417454"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696364" y="2364509"/>
            <a:ext cx="4719781"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779491" y="2595418"/>
            <a:ext cx="4553527" cy="923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622473" y="2847109"/>
            <a:ext cx="886691"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25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randombar(horizontal)">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3315"/>
                                        </p:tgtEl>
                                        <p:attrNameLst>
                                          <p:attrName>style.visibility</p:attrName>
                                        </p:attrNameLst>
                                      </p:cBhvr>
                                      <p:to>
                                        <p:strVal val="visible"/>
                                      </p:to>
                                    </p:set>
                                    <p:animEffect transition="in" filter="randombar(horizontal)">
                                      <p:cBhvr>
                                        <p:cTn id="17" dur="500"/>
                                        <p:tgtEl>
                                          <p:spTgt spid="13315"/>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fltVal val="0"/>
                                          </p:val>
                                        </p:tav>
                                        <p:tav tm="100000">
                                          <p:val>
                                            <p:strVal val="#ppt_w"/>
                                          </p:val>
                                        </p:tav>
                                      </p:tavLst>
                                    </p:anim>
                                    <p:anim calcmode="lin" valueType="num">
                                      <p:cBhvr>
                                        <p:cTn id="39" dur="1000" fill="hold"/>
                                        <p:tgtEl>
                                          <p:spTgt spid="10"/>
                                        </p:tgtEl>
                                        <p:attrNameLst>
                                          <p:attrName>ppt_h</p:attrName>
                                        </p:attrNameLst>
                                      </p:cBhvr>
                                      <p:tavLst>
                                        <p:tav tm="0">
                                          <p:val>
                                            <p:fltVal val="0"/>
                                          </p:val>
                                        </p:tav>
                                        <p:tav tm="100000">
                                          <p:val>
                                            <p:strVal val="#ppt_h"/>
                                          </p:val>
                                        </p:tav>
                                      </p:tavLst>
                                    </p:anim>
                                    <p:anim calcmode="lin" valueType="num">
                                      <p:cBhvr>
                                        <p:cTn id="40" dur="1000" fill="hold"/>
                                        <p:tgtEl>
                                          <p:spTgt spid="10"/>
                                        </p:tgtEl>
                                        <p:attrNameLst>
                                          <p:attrName>style.rotation</p:attrName>
                                        </p:attrNameLst>
                                      </p:cBhvr>
                                      <p:tavLst>
                                        <p:tav tm="0">
                                          <p:val>
                                            <p:fltVal val="90"/>
                                          </p:val>
                                        </p:tav>
                                        <p:tav tm="100000">
                                          <p:val>
                                            <p:fltVal val="0"/>
                                          </p:val>
                                        </p:tav>
                                      </p:tavLst>
                                    </p:anim>
                                    <p:animEffect transition="in" filter="fade">
                                      <p:cBhvr>
                                        <p:cTn id="41" dur="10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style.rotation</p:attrName>
                                        </p:attrNameLst>
                                      </p:cBhvr>
                                      <p:tavLst>
                                        <p:tav tm="0">
                                          <p:val>
                                            <p:fltVal val="90"/>
                                          </p:val>
                                        </p:tav>
                                        <p:tav tm="100000">
                                          <p:val>
                                            <p:fltVal val="0"/>
                                          </p:val>
                                        </p:tav>
                                      </p:tavLst>
                                    </p:anim>
                                    <p:animEffect transition="in" filter="fade">
                                      <p:cBhvr>
                                        <p:cTn id="4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r>
              <a:rPr lang="zh-CN" altLang="en-US" sz="2000" b="1" dirty="0"/>
              <a:t>如果不相信神存在，自然不能指望神操心人间的正义。</a:t>
            </a:r>
            <a:endParaRPr lang="en-US" altLang="zh-CN" sz="2000" b="1" dirty="0"/>
          </a:p>
          <a:p>
            <a:r>
              <a:rPr lang="zh-CN" altLang="en-US" sz="2000" b="1" dirty="0"/>
              <a:t>如果相信神存在，诗人和祭司们说神灵是可以贿赂的，那也是没什么可担心的。</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644" y="369310"/>
            <a:ext cx="5553075"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637309" y="914400"/>
            <a:ext cx="4461164"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26473" y="1182255"/>
            <a:ext cx="457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595418" y="1644073"/>
            <a:ext cx="2697018"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526473" y="1893455"/>
            <a:ext cx="4572000"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55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randombar(horizontal)">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338"/>
                                        </p:tgtEl>
                                        <p:attrNameLst>
                                          <p:attrName>style.visibility</p:attrName>
                                        </p:attrNameLst>
                                      </p:cBhvr>
                                      <p:to>
                                        <p:strVal val="visible"/>
                                      </p:to>
                                    </p:set>
                                    <p:animEffect transition="in" filter="randombar(horizontal)">
                                      <p:cBhvr>
                                        <p:cTn id="12" dur="500"/>
                                        <p:tgtEl>
                                          <p:spTgt spid="14338"/>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1000" fill="hold"/>
                                        <p:tgtEl>
                                          <p:spTgt spid="13"/>
                                        </p:tgtEl>
                                        <p:attrNameLst>
                                          <p:attrName>ppt_w</p:attrName>
                                        </p:attrNameLst>
                                      </p:cBhvr>
                                      <p:tavLst>
                                        <p:tav tm="0">
                                          <p:val>
                                            <p:fltVal val="0"/>
                                          </p:val>
                                        </p:tav>
                                        <p:tav tm="100000">
                                          <p:val>
                                            <p:strVal val="#ppt_w"/>
                                          </p:val>
                                        </p:tav>
                                      </p:tavLst>
                                    </p:anim>
                                    <p:anim calcmode="lin" valueType="num">
                                      <p:cBhvr>
                                        <p:cTn id="42" dur="1000" fill="hold"/>
                                        <p:tgtEl>
                                          <p:spTgt spid="13"/>
                                        </p:tgtEl>
                                        <p:attrNameLst>
                                          <p:attrName>ppt_h</p:attrName>
                                        </p:attrNameLst>
                                      </p:cBhvr>
                                      <p:tavLst>
                                        <p:tav tm="0">
                                          <p:val>
                                            <p:fltVal val="0"/>
                                          </p:val>
                                        </p:tav>
                                        <p:tav tm="100000">
                                          <p:val>
                                            <p:strVal val="#ppt_h"/>
                                          </p:val>
                                        </p:tav>
                                      </p:tavLst>
                                    </p:anim>
                                    <p:anim calcmode="lin" valueType="num">
                                      <p:cBhvr>
                                        <p:cTn id="43" dur="1000" fill="hold"/>
                                        <p:tgtEl>
                                          <p:spTgt spid="13"/>
                                        </p:tgtEl>
                                        <p:attrNameLst>
                                          <p:attrName>style.rotation</p:attrName>
                                        </p:attrNameLst>
                                      </p:cBhvr>
                                      <p:tavLst>
                                        <p:tav tm="0">
                                          <p:val>
                                            <p:fltVal val="90"/>
                                          </p:val>
                                        </p:tav>
                                        <p:tav tm="100000">
                                          <p:val>
                                            <p:fltVal val="0"/>
                                          </p:val>
                                        </p:tav>
                                      </p:tavLst>
                                    </p:anim>
                                    <p:animEffect transition="in" filter="fade">
                                      <p:cBhvr>
                                        <p:cTn id="44" dur="10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9" dur="500"/>
                                        <p:tgtEl>
                                          <p:spTgt spid="4">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4">
                                            <p:txEl>
                                              <p:pRg st="1" end="1"/>
                                            </p:txEl>
                                          </p:spTgt>
                                        </p:tgtEl>
                                        <p:attrNameLst>
                                          <p:attrName>style.visibility</p:attrName>
                                        </p:attrNameLst>
                                      </p:cBhvr>
                                      <p:to>
                                        <p:strVal val="visible"/>
                                      </p:to>
                                    </p:set>
                                    <p:animEffect transition="in" filter="randombar(horizontal)">
                                      <p:cBhvr>
                                        <p:cTn id="54"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normAutofit/>
          </a:bodyPr>
          <a:lstStyle/>
          <a:p>
            <a:r>
              <a:rPr lang="zh-CN" altLang="en-US" sz="2000" b="1" dirty="0"/>
              <a:t>结果：无人愿意行正义</a:t>
            </a:r>
          </a:p>
          <a:p>
            <a:r>
              <a:rPr lang="zh-CN" altLang="en-US" sz="2000" b="1" dirty="0"/>
              <a:t>     如果有人有正确的知识（</a:t>
            </a:r>
            <a:r>
              <a:rPr lang="en-US" altLang="zh-CN" sz="2000" b="1" dirty="0"/>
              <a:t>adequate knowledge</a:t>
            </a:r>
            <a:r>
              <a:rPr lang="zh-CN" altLang="en-US" sz="2000" b="1" dirty="0"/>
              <a:t>）知道正义是最好的，他所知的也会被遗忘掉。因为，除了有神一样的品格的人，厌恶行不正义的事，或有的获得了知识并为此避免不正义的人，没有人会自愿正义。</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022" y="0"/>
            <a:ext cx="5581650"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22" y="1314450"/>
            <a:ext cx="5648325" cy="554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2013527" y="249382"/>
            <a:ext cx="3232728" cy="184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8000" y="526473"/>
            <a:ext cx="175490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228436" y="2817091"/>
            <a:ext cx="4211782"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66618" y="3103418"/>
            <a:ext cx="4673600"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66618" y="3371273"/>
            <a:ext cx="83127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766618" y="6352163"/>
            <a:ext cx="3552463" cy="291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721796" y="6089516"/>
            <a:ext cx="3524459" cy="194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93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randombar(horizontal)">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randombar(horizontal)">
                                      <p:cBhvr>
                                        <p:cTn id="12" dur="500"/>
                                        <p:tgtEl>
                                          <p:spTgt spid="1536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fltVal val="0"/>
                                          </p:val>
                                        </p:tav>
                                        <p:tav tm="100000">
                                          <p:val>
                                            <p:strVal val="#ppt_w"/>
                                          </p:val>
                                        </p:tav>
                                      </p:tavLst>
                                    </p:anim>
                                    <p:anim calcmode="lin" valueType="num">
                                      <p:cBhvr>
                                        <p:cTn id="39" dur="1000" fill="hold"/>
                                        <p:tgtEl>
                                          <p:spTgt spid="10"/>
                                        </p:tgtEl>
                                        <p:attrNameLst>
                                          <p:attrName>ppt_h</p:attrName>
                                        </p:attrNameLst>
                                      </p:cBhvr>
                                      <p:tavLst>
                                        <p:tav tm="0">
                                          <p:val>
                                            <p:fltVal val="0"/>
                                          </p:val>
                                        </p:tav>
                                        <p:tav tm="100000">
                                          <p:val>
                                            <p:strVal val="#ppt_h"/>
                                          </p:val>
                                        </p:tav>
                                      </p:tavLst>
                                    </p:anim>
                                    <p:anim calcmode="lin" valueType="num">
                                      <p:cBhvr>
                                        <p:cTn id="40" dur="1000" fill="hold"/>
                                        <p:tgtEl>
                                          <p:spTgt spid="10"/>
                                        </p:tgtEl>
                                        <p:attrNameLst>
                                          <p:attrName>style.rotation</p:attrName>
                                        </p:attrNameLst>
                                      </p:cBhvr>
                                      <p:tavLst>
                                        <p:tav tm="0">
                                          <p:val>
                                            <p:fltVal val="90"/>
                                          </p:val>
                                        </p:tav>
                                        <p:tav tm="100000">
                                          <p:val>
                                            <p:fltVal val="0"/>
                                          </p:val>
                                        </p:tav>
                                      </p:tavLst>
                                    </p:anim>
                                    <p:animEffect transition="in" filter="fade">
                                      <p:cBhvr>
                                        <p:cTn id="41" dur="10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style.rotation</p:attrName>
                                        </p:attrNameLst>
                                      </p:cBhvr>
                                      <p:tavLst>
                                        <p:tav tm="0">
                                          <p:val>
                                            <p:fltVal val="90"/>
                                          </p:val>
                                        </p:tav>
                                        <p:tav tm="100000">
                                          <p:val>
                                            <p:fltVal val="0"/>
                                          </p:val>
                                        </p:tav>
                                      </p:tavLst>
                                    </p:anim>
                                    <p:animEffect transition="in" filter="fade">
                                      <p:cBhvr>
                                        <p:cTn id="49" dur="10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1000" fill="hold"/>
                                        <p:tgtEl>
                                          <p:spTgt spid="14"/>
                                        </p:tgtEl>
                                        <p:attrNameLst>
                                          <p:attrName>ppt_w</p:attrName>
                                        </p:attrNameLst>
                                      </p:cBhvr>
                                      <p:tavLst>
                                        <p:tav tm="0">
                                          <p:val>
                                            <p:fltVal val="0"/>
                                          </p:val>
                                        </p:tav>
                                        <p:tav tm="100000">
                                          <p:val>
                                            <p:strVal val="#ppt_w"/>
                                          </p:val>
                                        </p:tav>
                                      </p:tavLst>
                                    </p:anim>
                                    <p:anim calcmode="lin" valueType="num">
                                      <p:cBhvr>
                                        <p:cTn id="55" dur="1000" fill="hold"/>
                                        <p:tgtEl>
                                          <p:spTgt spid="14"/>
                                        </p:tgtEl>
                                        <p:attrNameLst>
                                          <p:attrName>ppt_h</p:attrName>
                                        </p:attrNameLst>
                                      </p:cBhvr>
                                      <p:tavLst>
                                        <p:tav tm="0">
                                          <p:val>
                                            <p:fltVal val="0"/>
                                          </p:val>
                                        </p:tav>
                                        <p:tav tm="100000">
                                          <p:val>
                                            <p:strVal val="#ppt_h"/>
                                          </p:val>
                                        </p:tav>
                                      </p:tavLst>
                                    </p:anim>
                                    <p:anim calcmode="lin" valueType="num">
                                      <p:cBhvr>
                                        <p:cTn id="56" dur="1000" fill="hold"/>
                                        <p:tgtEl>
                                          <p:spTgt spid="14"/>
                                        </p:tgtEl>
                                        <p:attrNameLst>
                                          <p:attrName>style.rotation</p:attrName>
                                        </p:attrNameLst>
                                      </p:cBhvr>
                                      <p:tavLst>
                                        <p:tav tm="0">
                                          <p:val>
                                            <p:fltVal val="90"/>
                                          </p:val>
                                        </p:tav>
                                        <p:tav tm="100000">
                                          <p:val>
                                            <p:fltVal val="0"/>
                                          </p:val>
                                        </p:tav>
                                      </p:tavLst>
                                    </p:anim>
                                    <p:animEffect transition="in" filter="fade">
                                      <p:cBhvr>
                                        <p:cTn id="57" dur="10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31" presetClass="entr" presetSubtype="0" fill="hold" nodeType="clickEffect">
                                  <p:stCondLst>
                                    <p:cond delay="0"/>
                                  </p:stCondLst>
                                  <p:childTnLst>
                                    <p:set>
                                      <p:cBhvr>
                                        <p:cTn id="61" dur="1" fill="hold">
                                          <p:stCondLst>
                                            <p:cond delay="0"/>
                                          </p:stCondLst>
                                        </p:cTn>
                                        <p:tgtEl>
                                          <p:spTgt spid="4">
                                            <p:txEl>
                                              <p:pRg st="1" end="1"/>
                                            </p:txEl>
                                          </p:spTgt>
                                        </p:tgtEl>
                                        <p:attrNameLst>
                                          <p:attrName>style.visibility</p:attrName>
                                        </p:attrNameLst>
                                      </p:cBhvr>
                                      <p:to>
                                        <p:strVal val="visible"/>
                                      </p:to>
                                    </p:set>
                                    <p:anim calcmode="lin" valueType="num">
                                      <p:cBhvr>
                                        <p:cTn id="62"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63"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64"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65" dur="1000"/>
                                        <p:tgtEl>
                                          <p:spTgt spid="4">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1" presetClass="entr" presetSubtype="0"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1000" fill="hold"/>
                                        <p:tgtEl>
                                          <p:spTgt spid="18"/>
                                        </p:tgtEl>
                                        <p:attrNameLst>
                                          <p:attrName>ppt_w</p:attrName>
                                        </p:attrNameLst>
                                      </p:cBhvr>
                                      <p:tavLst>
                                        <p:tav tm="0">
                                          <p:val>
                                            <p:fltVal val="0"/>
                                          </p:val>
                                        </p:tav>
                                        <p:tav tm="100000">
                                          <p:val>
                                            <p:strVal val="#ppt_w"/>
                                          </p:val>
                                        </p:tav>
                                      </p:tavLst>
                                    </p:anim>
                                    <p:anim calcmode="lin" valueType="num">
                                      <p:cBhvr>
                                        <p:cTn id="71" dur="1000" fill="hold"/>
                                        <p:tgtEl>
                                          <p:spTgt spid="18"/>
                                        </p:tgtEl>
                                        <p:attrNameLst>
                                          <p:attrName>ppt_h</p:attrName>
                                        </p:attrNameLst>
                                      </p:cBhvr>
                                      <p:tavLst>
                                        <p:tav tm="0">
                                          <p:val>
                                            <p:fltVal val="0"/>
                                          </p:val>
                                        </p:tav>
                                        <p:tav tm="100000">
                                          <p:val>
                                            <p:strVal val="#ppt_h"/>
                                          </p:val>
                                        </p:tav>
                                      </p:tavLst>
                                    </p:anim>
                                    <p:anim calcmode="lin" valueType="num">
                                      <p:cBhvr>
                                        <p:cTn id="72" dur="1000" fill="hold"/>
                                        <p:tgtEl>
                                          <p:spTgt spid="18"/>
                                        </p:tgtEl>
                                        <p:attrNameLst>
                                          <p:attrName>style.rotation</p:attrName>
                                        </p:attrNameLst>
                                      </p:cBhvr>
                                      <p:tavLst>
                                        <p:tav tm="0">
                                          <p:val>
                                            <p:fltVal val="90"/>
                                          </p:val>
                                        </p:tav>
                                        <p:tav tm="100000">
                                          <p:val>
                                            <p:fltVal val="0"/>
                                          </p:val>
                                        </p:tav>
                                      </p:tavLst>
                                    </p:anim>
                                    <p:animEffect transition="in" filter="fade">
                                      <p:cBhvr>
                                        <p:cTn id="73" dur="1000"/>
                                        <p:tgtEl>
                                          <p:spTgt spid="18"/>
                                        </p:tgtEl>
                                      </p:cBhvr>
                                    </p:animEffect>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nodeType="clickEffect">
                                  <p:stCondLst>
                                    <p:cond delay="0"/>
                                  </p:stCondLst>
                                  <p:childTnLst>
                                    <p:set>
                                      <p:cBhvr>
                                        <p:cTn id="77" dur="1" fill="hold">
                                          <p:stCondLst>
                                            <p:cond delay="0"/>
                                          </p:stCondLst>
                                        </p:cTn>
                                        <p:tgtEl>
                                          <p:spTgt spid="16"/>
                                        </p:tgtEl>
                                        <p:attrNameLst>
                                          <p:attrName>style.visibility</p:attrName>
                                        </p:attrNameLst>
                                      </p:cBhvr>
                                      <p:to>
                                        <p:strVal val="visible"/>
                                      </p:to>
                                    </p:set>
                                    <p:anim calcmode="lin" valueType="num">
                                      <p:cBhvr>
                                        <p:cTn id="78" dur="1000" fill="hold"/>
                                        <p:tgtEl>
                                          <p:spTgt spid="16"/>
                                        </p:tgtEl>
                                        <p:attrNameLst>
                                          <p:attrName>ppt_w</p:attrName>
                                        </p:attrNameLst>
                                      </p:cBhvr>
                                      <p:tavLst>
                                        <p:tav tm="0">
                                          <p:val>
                                            <p:fltVal val="0"/>
                                          </p:val>
                                        </p:tav>
                                        <p:tav tm="100000">
                                          <p:val>
                                            <p:strVal val="#ppt_w"/>
                                          </p:val>
                                        </p:tav>
                                      </p:tavLst>
                                    </p:anim>
                                    <p:anim calcmode="lin" valueType="num">
                                      <p:cBhvr>
                                        <p:cTn id="79" dur="1000" fill="hold"/>
                                        <p:tgtEl>
                                          <p:spTgt spid="16"/>
                                        </p:tgtEl>
                                        <p:attrNameLst>
                                          <p:attrName>ppt_h</p:attrName>
                                        </p:attrNameLst>
                                      </p:cBhvr>
                                      <p:tavLst>
                                        <p:tav tm="0">
                                          <p:val>
                                            <p:fltVal val="0"/>
                                          </p:val>
                                        </p:tav>
                                        <p:tav tm="100000">
                                          <p:val>
                                            <p:strVal val="#ppt_h"/>
                                          </p:val>
                                        </p:tav>
                                      </p:tavLst>
                                    </p:anim>
                                    <p:anim calcmode="lin" valueType="num">
                                      <p:cBhvr>
                                        <p:cTn id="80" dur="1000" fill="hold"/>
                                        <p:tgtEl>
                                          <p:spTgt spid="16"/>
                                        </p:tgtEl>
                                        <p:attrNameLst>
                                          <p:attrName>style.rotation</p:attrName>
                                        </p:attrNameLst>
                                      </p:cBhvr>
                                      <p:tavLst>
                                        <p:tav tm="0">
                                          <p:val>
                                            <p:fltVal val="90"/>
                                          </p:val>
                                        </p:tav>
                                        <p:tav tm="100000">
                                          <p:val>
                                            <p:fltVal val="0"/>
                                          </p:val>
                                        </p:tav>
                                      </p:tavLst>
                                    </p:anim>
                                    <p:animEffect transition="in" filter="fade">
                                      <p:cBhvr>
                                        <p:cTn id="8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16" y="224704"/>
            <a:ext cx="5457825" cy="574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7041" y="296285"/>
            <a:ext cx="563880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875489" y="3443591"/>
            <a:ext cx="3161490" cy="3891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3638145" y="3784060"/>
            <a:ext cx="1459149"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278238" y="1527243"/>
            <a:ext cx="3005847"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653719" y="1770434"/>
            <a:ext cx="3005847"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45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randombar(horizontal)">
                                      <p:cBhvr>
                                        <p:cTn id="7" dur="5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6146"/>
                                        </p:tgtEl>
                                        <p:attrNameLst>
                                          <p:attrName>style.visibility</p:attrName>
                                        </p:attrNameLst>
                                      </p:cBhvr>
                                      <p:to>
                                        <p:strVal val="visible"/>
                                      </p:to>
                                    </p:set>
                                    <p:animEffect transition="in" filter="randombar(horizontal)">
                                      <p:cBhvr>
                                        <p:cTn id="28" dur="500"/>
                                        <p:tgtEl>
                                          <p:spTgt spid="6146"/>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1000" fill="hold"/>
                                        <p:tgtEl>
                                          <p:spTgt spid="10"/>
                                        </p:tgtEl>
                                        <p:attrNameLst>
                                          <p:attrName>ppt_w</p:attrName>
                                        </p:attrNameLst>
                                      </p:cBhvr>
                                      <p:tavLst>
                                        <p:tav tm="0">
                                          <p:val>
                                            <p:fltVal val="0"/>
                                          </p:val>
                                        </p:tav>
                                        <p:tav tm="100000">
                                          <p:val>
                                            <p:strVal val="#ppt_w"/>
                                          </p:val>
                                        </p:tav>
                                      </p:tavLst>
                                    </p:anim>
                                    <p:anim calcmode="lin" valueType="num">
                                      <p:cBhvr>
                                        <p:cTn id="34" dur="1000" fill="hold"/>
                                        <p:tgtEl>
                                          <p:spTgt spid="10"/>
                                        </p:tgtEl>
                                        <p:attrNameLst>
                                          <p:attrName>ppt_h</p:attrName>
                                        </p:attrNameLst>
                                      </p:cBhvr>
                                      <p:tavLst>
                                        <p:tav tm="0">
                                          <p:val>
                                            <p:fltVal val="0"/>
                                          </p:val>
                                        </p:tav>
                                        <p:tav tm="100000">
                                          <p:val>
                                            <p:strVal val="#ppt_h"/>
                                          </p:val>
                                        </p:tav>
                                      </p:tavLst>
                                    </p:anim>
                                    <p:anim calcmode="lin" valueType="num">
                                      <p:cBhvr>
                                        <p:cTn id="35" dur="1000" fill="hold"/>
                                        <p:tgtEl>
                                          <p:spTgt spid="10"/>
                                        </p:tgtEl>
                                        <p:attrNameLst>
                                          <p:attrName>style.rotation</p:attrName>
                                        </p:attrNameLst>
                                      </p:cBhvr>
                                      <p:tavLst>
                                        <p:tav tm="0">
                                          <p:val>
                                            <p:fltVal val="90"/>
                                          </p:val>
                                        </p:tav>
                                        <p:tav tm="100000">
                                          <p:val>
                                            <p:fltVal val="0"/>
                                          </p:val>
                                        </p:tav>
                                      </p:tavLst>
                                    </p:anim>
                                    <p:animEffect transition="in" filter="fade">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1000" fill="hold"/>
                                        <p:tgtEl>
                                          <p:spTgt spid="12"/>
                                        </p:tgtEl>
                                        <p:attrNameLst>
                                          <p:attrName>ppt_w</p:attrName>
                                        </p:attrNameLst>
                                      </p:cBhvr>
                                      <p:tavLst>
                                        <p:tav tm="0">
                                          <p:val>
                                            <p:fltVal val="0"/>
                                          </p:val>
                                        </p:tav>
                                        <p:tav tm="100000">
                                          <p:val>
                                            <p:strVal val="#ppt_w"/>
                                          </p:val>
                                        </p:tav>
                                      </p:tavLst>
                                    </p:anim>
                                    <p:anim calcmode="lin" valueType="num">
                                      <p:cBhvr>
                                        <p:cTn id="42" dur="1000" fill="hold"/>
                                        <p:tgtEl>
                                          <p:spTgt spid="12"/>
                                        </p:tgtEl>
                                        <p:attrNameLst>
                                          <p:attrName>ppt_h</p:attrName>
                                        </p:attrNameLst>
                                      </p:cBhvr>
                                      <p:tavLst>
                                        <p:tav tm="0">
                                          <p:val>
                                            <p:fltVal val="0"/>
                                          </p:val>
                                        </p:tav>
                                        <p:tav tm="100000">
                                          <p:val>
                                            <p:strVal val="#ppt_h"/>
                                          </p:val>
                                        </p:tav>
                                      </p:tavLst>
                                    </p:anim>
                                    <p:anim calcmode="lin" valueType="num">
                                      <p:cBhvr>
                                        <p:cTn id="43" dur="1000" fill="hold"/>
                                        <p:tgtEl>
                                          <p:spTgt spid="12"/>
                                        </p:tgtEl>
                                        <p:attrNameLst>
                                          <p:attrName>style.rotation</p:attrName>
                                        </p:attrNameLst>
                                      </p:cBhvr>
                                      <p:tavLst>
                                        <p:tav tm="0">
                                          <p:val>
                                            <p:fltVal val="90"/>
                                          </p:val>
                                        </p:tav>
                                        <p:tav tm="100000">
                                          <p:val>
                                            <p:fltVal val="0"/>
                                          </p:val>
                                        </p:tav>
                                      </p:tavLst>
                                    </p:anim>
                                    <p:animEffect transition="in" filter="fade">
                                      <p:cBhvr>
                                        <p:cTn id="4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r>
              <a:rPr lang="zh-CN" altLang="en-US" sz="2200" b="1" dirty="0"/>
              <a:t>迄今为止的所有人都是从正义的后果，即名声、荣誉以及报酬来赞扬正义，批判不正义，而没有人从正义本身的力量，它们对灵魂的影响来赞扬正义，批判不正义。 </a:t>
            </a:r>
          </a:p>
          <a:p>
            <a:r>
              <a:rPr lang="zh-CN" altLang="en-US" sz="2200" b="1" dirty="0"/>
              <a:t>要说清楚正义与不正义本身的作用，对于拥有他们的人，那使一个人成为坏人，另一个人成为好人的东西。不要将名声利益这些后果算进来。 </a:t>
            </a:r>
          </a:p>
          <a:p>
            <a:endParaRPr lang="zh-CN" altLang="en-US" dirty="0"/>
          </a:p>
        </p:txBody>
      </p:sp>
      <p:sp>
        <p:nvSpPr>
          <p:cNvPr id="4" name="Content Placeholder 3"/>
          <p:cNvSpPr>
            <a:spLocks noGrp="1"/>
          </p:cNvSpPr>
          <p:nvPr>
            <p:ph sz="half" idx="2"/>
          </p:nvPr>
        </p:nvSpPr>
        <p:spPr/>
        <p:txBody>
          <a:bodyPr/>
          <a:lstStyle/>
          <a:p>
            <a:endParaRPr lang="zh-CN" altLang="en-US"/>
          </a:p>
        </p:txBody>
      </p:sp>
    </p:spTree>
    <p:extLst>
      <p:ext uri="{BB962C8B-B14F-4D97-AF65-F5344CB8AC3E}">
        <p14:creationId xmlns:p14="http://schemas.microsoft.com/office/powerpoint/2010/main" val="249380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zh-CN" sz="3600" dirty="0"/>
              <a:t>2</a:t>
            </a:r>
            <a:r>
              <a:rPr lang="zh-CN" altLang="en-US" sz="3600" dirty="0"/>
              <a:t>，苏格拉底开始正义辩护</a:t>
            </a:r>
          </a:p>
        </p:txBody>
      </p:sp>
      <p:sp>
        <p:nvSpPr>
          <p:cNvPr id="3" name="Content Placeholder 2"/>
          <p:cNvSpPr>
            <a:spLocks noGrp="1"/>
          </p:cNvSpPr>
          <p:nvPr>
            <p:ph sz="half" idx="1"/>
          </p:nvPr>
        </p:nvSpPr>
        <p:spPr/>
        <p:txBody>
          <a:bodyPr>
            <a:normAutofit/>
          </a:bodyPr>
          <a:lstStyle/>
          <a:p>
            <a:r>
              <a:rPr lang="zh-CN" altLang="en-US" sz="2200" b="1" dirty="0"/>
              <a:t>苏格拉底强调格劳康兄弟的“神性”，因为他们虽然在道德败坏的社会环境中长大，但却没有受到影响，反而真心追求正义。</a:t>
            </a:r>
          </a:p>
        </p:txBody>
      </p:sp>
      <p:sp>
        <p:nvSpPr>
          <p:cNvPr id="4" name="Content Placeholder 3"/>
          <p:cNvSpPr>
            <a:spLocks noGrp="1"/>
          </p:cNvSpPr>
          <p:nvPr>
            <p:ph sz="half" idx="2"/>
          </p:nvPr>
        </p:nvSpPr>
        <p:spPr/>
        <p:txBody>
          <a:bodyPr/>
          <a:lstStyle/>
          <a:p>
            <a:endParaRPr lang="zh-CN" altLang="en-US"/>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5171" y="195263"/>
            <a:ext cx="5553075" cy="646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73" y="4475433"/>
            <a:ext cx="6179126" cy="1484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6539345" y="1302328"/>
            <a:ext cx="203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286836" y="4802909"/>
            <a:ext cx="0" cy="107141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14026" y="5874327"/>
            <a:ext cx="75875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628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ircle(in)">
                                      <p:cBhvr>
                                        <p:cTn id="7" dur="2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fltVal val="0"/>
                                          </p:val>
                                        </p:tav>
                                        <p:tav tm="100000">
                                          <p:val>
                                            <p:strVal val="#ppt_w"/>
                                          </p:val>
                                        </p:tav>
                                      </p:tavLst>
                                    </p:anim>
                                    <p:anim calcmode="lin" valueType="num">
                                      <p:cBhvr>
                                        <p:cTn id="13" dur="1000" fill="hold"/>
                                        <p:tgtEl>
                                          <p:spTgt spid="12"/>
                                        </p:tgtEl>
                                        <p:attrNameLst>
                                          <p:attrName>ppt_h</p:attrName>
                                        </p:attrNameLst>
                                      </p:cBhvr>
                                      <p:tavLst>
                                        <p:tav tm="0">
                                          <p:val>
                                            <p:fltVal val="0"/>
                                          </p:val>
                                        </p:tav>
                                        <p:tav tm="100000">
                                          <p:val>
                                            <p:strVal val="#ppt_h"/>
                                          </p:val>
                                        </p:tav>
                                      </p:tavLst>
                                    </p:anim>
                                    <p:anim calcmode="lin" valueType="num">
                                      <p:cBhvr>
                                        <p:cTn id="14" dur="1000" fill="hold"/>
                                        <p:tgtEl>
                                          <p:spTgt spid="12"/>
                                        </p:tgtEl>
                                        <p:attrNameLst>
                                          <p:attrName>style.rotation</p:attrName>
                                        </p:attrNameLst>
                                      </p:cBhvr>
                                      <p:tavLst>
                                        <p:tav tm="0">
                                          <p:val>
                                            <p:fltVal val="90"/>
                                          </p:val>
                                        </p:tav>
                                        <p:tav tm="100000">
                                          <p:val>
                                            <p:fltVal val="0"/>
                                          </p:val>
                                        </p:tav>
                                      </p:tavLst>
                                    </p:anim>
                                    <p:animEffect transition="in" filter="fade">
                                      <p:cBhvr>
                                        <p:cTn id="15" dur="10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17411"/>
                                        </p:tgtEl>
                                        <p:attrNameLst>
                                          <p:attrName>style.visibility</p:attrName>
                                        </p:attrNameLst>
                                      </p:cBhvr>
                                      <p:to>
                                        <p:strVal val="visible"/>
                                      </p:to>
                                    </p:set>
                                    <p:animEffect transition="in" filter="wheel(1)">
                                      <p:cBhvr>
                                        <p:cTn id="20" dur="2000"/>
                                        <p:tgtEl>
                                          <p:spTgt spid="17411"/>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33" dur="500"/>
                                        <p:tgtEl>
                                          <p:spTgt spid="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fltVal val="0"/>
                                          </p:val>
                                        </p:tav>
                                        <p:tav tm="100000">
                                          <p:val>
                                            <p:strVal val="#ppt_w"/>
                                          </p:val>
                                        </p:tav>
                                      </p:tavLst>
                                    </p:anim>
                                    <p:anim calcmode="lin" valueType="num">
                                      <p:cBhvr>
                                        <p:cTn id="39" dur="1000" fill="hold"/>
                                        <p:tgtEl>
                                          <p:spTgt spid="10"/>
                                        </p:tgtEl>
                                        <p:attrNameLst>
                                          <p:attrName>ppt_h</p:attrName>
                                        </p:attrNameLst>
                                      </p:cBhvr>
                                      <p:tavLst>
                                        <p:tav tm="0">
                                          <p:val>
                                            <p:fltVal val="0"/>
                                          </p:val>
                                        </p:tav>
                                        <p:tav tm="100000">
                                          <p:val>
                                            <p:strVal val="#ppt_h"/>
                                          </p:val>
                                        </p:tav>
                                      </p:tavLst>
                                    </p:anim>
                                    <p:anim calcmode="lin" valueType="num">
                                      <p:cBhvr>
                                        <p:cTn id="40" dur="1000" fill="hold"/>
                                        <p:tgtEl>
                                          <p:spTgt spid="10"/>
                                        </p:tgtEl>
                                        <p:attrNameLst>
                                          <p:attrName>style.rotation</p:attrName>
                                        </p:attrNameLst>
                                      </p:cBhvr>
                                      <p:tavLst>
                                        <p:tav tm="0">
                                          <p:val>
                                            <p:fltVal val="90"/>
                                          </p:val>
                                        </p:tav>
                                        <p:tav tm="100000">
                                          <p:val>
                                            <p:fltVal val="0"/>
                                          </p:val>
                                        </p:tav>
                                      </p:tavLst>
                                    </p:anim>
                                    <p:animEffect transition="in" filter="fade">
                                      <p:cBhvr>
                                        <p:cTn id="4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3927" y="609600"/>
            <a:ext cx="5042788" cy="1260000"/>
          </a:xfrm>
        </p:spPr>
        <p:txBody>
          <a:bodyPr/>
          <a:lstStyle/>
          <a:p>
            <a:r>
              <a:rPr lang="zh-CN" altLang="en-US" dirty="0"/>
              <a:t>苏格拉底的论证策略</a:t>
            </a:r>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dirty="0"/>
              <a:t>以大字的正义来看小字的正义</a:t>
            </a:r>
            <a:r>
              <a:rPr lang="en-US" altLang="zh-CN" sz="2000" dirty="0"/>
              <a:t>368d1-d5</a:t>
            </a:r>
            <a:r>
              <a:rPr lang="zh-CN" altLang="en-US" sz="2000" dirty="0"/>
              <a:t>。</a:t>
            </a:r>
          </a:p>
          <a:p>
            <a:r>
              <a:rPr lang="zh-CN" altLang="en-US" sz="2000" dirty="0"/>
              <a:t>因为存在着个人的正义与城邦的正义</a:t>
            </a:r>
            <a:r>
              <a:rPr lang="en-US" altLang="zh-CN" sz="2000" dirty="0"/>
              <a:t>368e2-3</a:t>
            </a:r>
            <a:r>
              <a:rPr lang="zh-CN" altLang="en-US" sz="2000" dirty="0"/>
              <a:t>。而城邦比个人更大些。或许在城邦里有更多的正义，但是，可以先找到城邦的正义，再找到个人身上的正义，然后再看看大的实体是否在形式上与小的实体相似。 </a:t>
            </a:r>
          </a:p>
          <a:p>
            <a:r>
              <a:rPr lang="zh-CN" altLang="en-US" sz="2000" dirty="0"/>
              <a:t>具体方法是通过观察一个城邦怎样形成来寻找正义。 </a:t>
            </a:r>
          </a:p>
          <a:p>
            <a:endParaRPr lang="zh-CN"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465" y="125700"/>
            <a:ext cx="5273940" cy="6732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Connector 8"/>
          <p:cNvCxnSpPr/>
          <p:nvPr/>
        </p:nvCxnSpPr>
        <p:spPr>
          <a:xfrm flipH="1">
            <a:off x="877455" y="544945"/>
            <a:ext cx="27709" cy="186574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2548647" y="3210128"/>
            <a:ext cx="2937753"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99226" y="3491849"/>
            <a:ext cx="43871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99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randombar(horizontal)">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fltVal val="0"/>
                                          </p:val>
                                        </p:tav>
                                        <p:tav tm="100000">
                                          <p:val>
                                            <p:strVal val="#ppt_w"/>
                                          </p:val>
                                        </p:tav>
                                      </p:tavLst>
                                    </p:anim>
                                    <p:anim calcmode="lin" valueType="num">
                                      <p:cBhvr>
                                        <p:cTn id="18" dur="1000" fill="hold"/>
                                        <p:tgtEl>
                                          <p:spTgt spid="9"/>
                                        </p:tgtEl>
                                        <p:attrNameLst>
                                          <p:attrName>ppt_h</p:attrName>
                                        </p:attrNameLst>
                                      </p:cBhvr>
                                      <p:tavLst>
                                        <p:tav tm="0">
                                          <p:val>
                                            <p:fltVal val="0"/>
                                          </p:val>
                                        </p:tav>
                                        <p:tav tm="100000">
                                          <p:val>
                                            <p:strVal val="#ppt_h"/>
                                          </p:val>
                                        </p:tav>
                                      </p:tavLst>
                                    </p:anim>
                                    <p:anim calcmode="lin" valueType="num">
                                      <p:cBhvr>
                                        <p:cTn id="19" dur="1000" fill="hold"/>
                                        <p:tgtEl>
                                          <p:spTgt spid="9"/>
                                        </p:tgtEl>
                                        <p:attrNameLst>
                                          <p:attrName>style.rotation</p:attrName>
                                        </p:attrNameLst>
                                      </p:cBhvr>
                                      <p:tavLst>
                                        <p:tav tm="0">
                                          <p:val>
                                            <p:fltVal val="90"/>
                                          </p:val>
                                        </p:tav>
                                        <p:tav tm="100000">
                                          <p:val>
                                            <p:fltVal val="0"/>
                                          </p:val>
                                        </p:tav>
                                      </p:tavLst>
                                    </p:anim>
                                    <p:animEffect transition="in" filter="fade">
                                      <p:cBhvr>
                                        <p:cTn id="20" dur="1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5" dur="500"/>
                                        <p:tgtEl>
                                          <p:spTgt spid="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wheel(1)">
                                      <p:cBhvr>
                                        <p:cTn id="30" dur="2000"/>
                                        <p:tgtEl>
                                          <p:spTgt spid="4">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1000" fill="hold"/>
                                        <p:tgtEl>
                                          <p:spTgt spid="8"/>
                                        </p:tgtEl>
                                        <p:attrNameLst>
                                          <p:attrName>ppt_w</p:attrName>
                                        </p:attrNameLst>
                                      </p:cBhvr>
                                      <p:tavLst>
                                        <p:tav tm="0">
                                          <p:val>
                                            <p:fltVal val="0"/>
                                          </p:val>
                                        </p:tav>
                                        <p:tav tm="100000">
                                          <p:val>
                                            <p:strVal val="#ppt_w"/>
                                          </p:val>
                                        </p:tav>
                                      </p:tavLst>
                                    </p:anim>
                                    <p:anim calcmode="lin" valueType="num">
                                      <p:cBhvr>
                                        <p:cTn id="44" dur="1000" fill="hold"/>
                                        <p:tgtEl>
                                          <p:spTgt spid="8"/>
                                        </p:tgtEl>
                                        <p:attrNameLst>
                                          <p:attrName>ppt_h</p:attrName>
                                        </p:attrNameLst>
                                      </p:cBhvr>
                                      <p:tavLst>
                                        <p:tav tm="0">
                                          <p:val>
                                            <p:fltVal val="0"/>
                                          </p:val>
                                        </p:tav>
                                        <p:tav tm="100000">
                                          <p:val>
                                            <p:strVal val="#ppt_h"/>
                                          </p:val>
                                        </p:tav>
                                      </p:tavLst>
                                    </p:anim>
                                    <p:anim calcmode="lin" valueType="num">
                                      <p:cBhvr>
                                        <p:cTn id="45" dur="1000" fill="hold"/>
                                        <p:tgtEl>
                                          <p:spTgt spid="8"/>
                                        </p:tgtEl>
                                        <p:attrNameLst>
                                          <p:attrName>style.rotation</p:attrName>
                                        </p:attrNameLst>
                                      </p:cBhvr>
                                      <p:tavLst>
                                        <p:tav tm="0">
                                          <p:val>
                                            <p:fltVal val="90"/>
                                          </p:val>
                                        </p:tav>
                                        <p:tav tm="100000">
                                          <p:val>
                                            <p:fltVal val="0"/>
                                          </p:val>
                                        </p:tav>
                                      </p:tavLst>
                                    </p:anim>
                                    <p:animEffect transition="in" filter="fade">
                                      <p:cBhvr>
                                        <p:cTn id="4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5527" y="609600"/>
            <a:ext cx="4941188" cy="1260000"/>
          </a:xfrm>
        </p:spPr>
        <p:txBody>
          <a:bodyPr/>
          <a:lstStyle/>
          <a:p>
            <a:endParaRPr lang="zh-CN" altLang="en-US" dirty="0"/>
          </a:p>
        </p:txBody>
      </p:sp>
      <p:sp>
        <p:nvSpPr>
          <p:cNvPr id="3" name="Content Placeholder 2"/>
          <p:cNvSpPr>
            <a:spLocks noGrp="1"/>
          </p:cNvSpPr>
          <p:nvPr>
            <p:ph sz="half" idx="1"/>
          </p:nvPr>
        </p:nvSpPr>
        <p:spPr>
          <a:xfrm>
            <a:off x="685802" y="2033081"/>
            <a:ext cx="5040000" cy="3758120"/>
          </a:xfrm>
        </p:spPr>
        <p:txBody>
          <a:bodyPr/>
          <a:lstStyle/>
          <a:p>
            <a:r>
              <a:rPr lang="zh-CN" altLang="en-US" sz="2400" b="1" dirty="0"/>
              <a:t>一个城邦之所以形成，因为我们没有一个人是自足的，而人们之所以愿意在城邦里彼此分享物资，因为人人都相信这对他们是更好的（即比一个人生活更好），因为他们可以互通有无。</a:t>
            </a:r>
          </a:p>
          <a:p>
            <a:r>
              <a:rPr lang="zh-CN" altLang="en-US" sz="2400" b="1" dirty="0"/>
              <a:t>这个城邦首先要为城邦中的人提供食物，其次要提供庇护所，第三则是服装等别的事物。</a:t>
            </a:r>
          </a:p>
        </p:txBody>
      </p:sp>
      <p:sp>
        <p:nvSpPr>
          <p:cNvPr id="4" name="Content Placeholder 3"/>
          <p:cNvSpPr>
            <a:spLocks noGrp="1"/>
          </p:cNvSpPr>
          <p:nvPr>
            <p:ph sz="half" idx="2"/>
          </p:nvPr>
        </p:nvSpPr>
        <p:spPr/>
        <p:txBody>
          <a:bodyPr/>
          <a:lstStyle/>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1504" y="351992"/>
            <a:ext cx="5376863" cy="572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956" y="351992"/>
            <a:ext cx="5572125"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a:off x="4091709" y="609600"/>
            <a:ext cx="1542473" cy="27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62182" y="886691"/>
            <a:ext cx="457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770909" y="1156854"/>
            <a:ext cx="9882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741268" y="1961717"/>
            <a:ext cx="414398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9805481" y="972766"/>
            <a:ext cx="9533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6245157" y="1200997"/>
            <a:ext cx="3463047" cy="4414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6245157" y="2159540"/>
            <a:ext cx="1867711"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42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randombar(horizontal)">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randombar(horizont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1000" fill="hold"/>
                                        <p:tgtEl>
                                          <p:spTgt spid="10"/>
                                        </p:tgtEl>
                                        <p:attrNameLst>
                                          <p:attrName>ppt_w</p:attrName>
                                        </p:attrNameLst>
                                      </p:cBhvr>
                                      <p:tavLst>
                                        <p:tav tm="0">
                                          <p:val>
                                            <p:fltVal val="0"/>
                                          </p:val>
                                        </p:tav>
                                        <p:tav tm="100000">
                                          <p:val>
                                            <p:strVal val="#ppt_w"/>
                                          </p:val>
                                        </p:tav>
                                      </p:tavLst>
                                    </p:anim>
                                    <p:anim calcmode="lin" valueType="num">
                                      <p:cBhvr>
                                        <p:cTn id="34" dur="1000" fill="hold"/>
                                        <p:tgtEl>
                                          <p:spTgt spid="10"/>
                                        </p:tgtEl>
                                        <p:attrNameLst>
                                          <p:attrName>ppt_h</p:attrName>
                                        </p:attrNameLst>
                                      </p:cBhvr>
                                      <p:tavLst>
                                        <p:tav tm="0">
                                          <p:val>
                                            <p:fltVal val="0"/>
                                          </p:val>
                                        </p:tav>
                                        <p:tav tm="100000">
                                          <p:val>
                                            <p:strVal val="#ppt_h"/>
                                          </p:val>
                                        </p:tav>
                                      </p:tavLst>
                                    </p:anim>
                                    <p:anim calcmode="lin" valueType="num">
                                      <p:cBhvr>
                                        <p:cTn id="35" dur="1000" fill="hold"/>
                                        <p:tgtEl>
                                          <p:spTgt spid="10"/>
                                        </p:tgtEl>
                                        <p:attrNameLst>
                                          <p:attrName>style.rotation</p:attrName>
                                        </p:attrNameLst>
                                      </p:cBhvr>
                                      <p:tavLst>
                                        <p:tav tm="0">
                                          <p:val>
                                            <p:fltVal val="90"/>
                                          </p:val>
                                        </p:tav>
                                        <p:tav tm="100000">
                                          <p:val>
                                            <p:fltVal val="0"/>
                                          </p:val>
                                        </p:tav>
                                      </p:tavLst>
                                    </p:anim>
                                    <p:animEffect transition="in" filter="fade">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p:cTn id="41" dur="1000" fill="hold"/>
                                        <p:tgtEl>
                                          <p:spTgt spid="14"/>
                                        </p:tgtEl>
                                        <p:attrNameLst>
                                          <p:attrName>ppt_w</p:attrName>
                                        </p:attrNameLst>
                                      </p:cBhvr>
                                      <p:tavLst>
                                        <p:tav tm="0">
                                          <p:val>
                                            <p:fltVal val="0"/>
                                          </p:val>
                                        </p:tav>
                                        <p:tav tm="100000">
                                          <p:val>
                                            <p:strVal val="#ppt_w"/>
                                          </p:val>
                                        </p:tav>
                                      </p:tavLst>
                                    </p:anim>
                                    <p:anim calcmode="lin" valueType="num">
                                      <p:cBhvr>
                                        <p:cTn id="42" dur="1000" fill="hold"/>
                                        <p:tgtEl>
                                          <p:spTgt spid="14"/>
                                        </p:tgtEl>
                                        <p:attrNameLst>
                                          <p:attrName>ppt_h</p:attrName>
                                        </p:attrNameLst>
                                      </p:cBhvr>
                                      <p:tavLst>
                                        <p:tav tm="0">
                                          <p:val>
                                            <p:fltVal val="0"/>
                                          </p:val>
                                        </p:tav>
                                        <p:tav tm="100000">
                                          <p:val>
                                            <p:strVal val="#ppt_h"/>
                                          </p:val>
                                        </p:tav>
                                      </p:tavLst>
                                    </p:anim>
                                    <p:anim calcmode="lin" valueType="num">
                                      <p:cBhvr>
                                        <p:cTn id="43" dur="1000" fill="hold"/>
                                        <p:tgtEl>
                                          <p:spTgt spid="14"/>
                                        </p:tgtEl>
                                        <p:attrNameLst>
                                          <p:attrName>style.rotation</p:attrName>
                                        </p:attrNameLst>
                                      </p:cBhvr>
                                      <p:tavLst>
                                        <p:tav tm="0">
                                          <p:val>
                                            <p:fltVal val="90"/>
                                          </p:val>
                                        </p:tav>
                                        <p:tav tm="100000">
                                          <p:val>
                                            <p:fltVal val="0"/>
                                          </p:val>
                                        </p:tav>
                                      </p:tavLst>
                                    </p:anim>
                                    <p:animEffect transition="in" filter="fade">
                                      <p:cBhvr>
                                        <p:cTn id="44" dur="10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1000" fill="hold"/>
                                        <p:tgtEl>
                                          <p:spTgt spid="17"/>
                                        </p:tgtEl>
                                        <p:attrNameLst>
                                          <p:attrName>ppt_w</p:attrName>
                                        </p:attrNameLst>
                                      </p:cBhvr>
                                      <p:tavLst>
                                        <p:tav tm="0">
                                          <p:val>
                                            <p:fltVal val="0"/>
                                          </p:val>
                                        </p:tav>
                                        <p:tav tm="100000">
                                          <p:val>
                                            <p:strVal val="#ppt_w"/>
                                          </p:val>
                                        </p:tav>
                                      </p:tavLst>
                                    </p:anim>
                                    <p:anim calcmode="lin" valueType="num">
                                      <p:cBhvr>
                                        <p:cTn id="50" dur="1000" fill="hold"/>
                                        <p:tgtEl>
                                          <p:spTgt spid="17"/>
                                        </p:tgtEl>
                                        <p:attrNameLst>
                                          <p:attrName>ppt_h</p:attrName>
                                        </p:attrNameLst>
                                      </p:cBhvr>
                                      <p:tavLst>
                                        <p:tav tm="0">
                                          <p:val>
                                            <p:fltVal val="0"/>
                                          </p:val>
                                        </p:tav>
                                        <p:tav tm="100000">
                                          <p:val>
                                            <p:strVal val="#ppt_h"/>
                                          </p:val>
                                        </p:tav>
                                      </p:tavLst>
                                    </p:anim>
                                    <p:anim calcmode="lin" valueType="num">
                                      <p:cBhvr>
                                        <p:cTn id="51" dur="1000" fill="hold"/>
                                        <p:tgtEl>
                                          <p:spTgt spid="17"/>
                                        </p:tgtEl>
                                        <p:attrNameLst>
                                          <p:attrName>style.rotation</p:attrName>
                                        </p:attrNameLst>
                                      </p:cBhvr>
                                      <p:tavLst>
                                        <p:tav tm="0">
                                          <p:val>
                                            <p:fltVal val="90"/>
                                          </p:val>
                                        </p:tav>
                                        <p:tav tm="100000">
                                          <p:val>
                                            <p:fltVal val="0"/>
                                          </p:val>
                                        </p:tav>
                                      </p:tavLst>
                                    </p:anim>
                                    <p:animEffect transition="in" filter="fade">
                                      <p:cBhvr>
                                        <p:cTn id="52" dur="10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1000" fill="hold"/>
                                        <p:tgtEl>
                                          <p:spTgt spid="12"/>
                                        </p:tgtEl>
                                        <p:attrNameLst>
                                          <p:attrName>ppt_w</p:attrName>
                                        </p:attrNameLst>
                                      </p:cBhvr>
                                      <p:tavLst>
                                        <p:tav tm="0">
                                          <p:val>
                                            <p:fltVal val="0"/>
                                          </p:val>
                                        </p:tav>
                                        <p:tav tm="100000">
                                          <p:val>
                                            <p:strVal val="#ppt_w"/>
                                          </p:val>
                                        </p:tav>
                                      </p:tavLst>
                                    </p:anim>
                                    <p:anim calcmode="lin" valueType="num">
                                      <p:cBhvr>
                                        <p:cTn id="58" dur="1000" fill="hold"/>
                                        <p:tgtEl>
                                          <p:spTgt spid="12"/>
                                        </p:tgtEl>
                                        <p:attrNameLst>
                                          <p:attrName>ppt_h</p:attrName>
                                        </p:attrNameLst>
                                      </p:cBhvr>
                                      <p:tavLst>
                                        <p:tav tm="0">
                                          <p:val>
                                            <p:fltVal val="0"/>
                                          </p:val>
                                        </p:tav>
                                        <p:tav tm="100000">
                                          <p:val>
                                            <p:strVal val="#ppt_h"/>
                                          </p:val>
                                        </p:tav>
                                      </p:tavLst>
                                    </p:anim>
                                    <p:anim calcmode="lin" valueType="num">
                                      <p:cBhvr>
                                        <p:cTn id="59" dur="1000" fill="hold"/>
                                        <p:tgtEl>
                                          <p:spTgt spid="12"/>
                                        </p:tgtEl>
                                        <p:attrNameLst>
                                          <p:attrName>style.rotation</p:attrName>
                                        </p:attrNameLst>
                                      </p:cBhvr>
                                      <p:tavLst>
                                        <p:tav tm="0">
                                          <p:val>
                                            <p:fltVal val="90"/>
                                          </p:val>
                                        </p:tav>
                                        <p:tav tm="100000">
                                          <p:val>
                                            <p:fltVal val="0"/>
                                          </p:val>
                                        </p:tav>
                                      </p:tavLst>
                                    </p:anim>
                                    <p:animEffect transition="in" filter="fade">
                                      <p:cBhvr>
                                        <p:cTn id="60" dur="10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p:cTn id="65" dur="1000" fill="hold"/>
                                        <p:tgtEl>
                                          <p:spTgt spid="22"/>
                                        </p:tgtEl>
                                        <p:attrNameLst>
                                          <p:attrName>ppt_w</p:attrName>
                                        </p:attrNameLst>
                                      </p:cBhvr>
                                      <p:tavLst>
                                        <p:tav tm="0">
                                          <p:val>
                                            <p:fltVal val="0"/>
                                          </p:val>
                                        </p:tav>
                                        <p:tav tm="100000">
                                          <p:val>
                                            <p:strVal val="#ppt_w"/>
                                          </p:val>
                                        </p:tav>
                                      </p:tavLst>
                                    </p:anim>
                                    <p:anim calcmode="lin" valueType="num">
                                      <p:cBhvr>
                                        <p:cTn id="66" dur="1000" fill="hold"/>
                                        <p:tgtEl>
                                          <p:spTgt spid="22"/>
                                        </p:tgtEl>
                                        <p:attrNameLst>
                                          <p:attrName>ppt_h</p:attrName>
                                        </p:attrNameLst>
                                      </p:cBhvr>
                                      <p:tavLst>
                                        <p:tav tm="0">
                                          <p:val>
                                            <p:fltVal val="0"/>
                                          </p:val>
                                        </p:tav>
                                        <p:tav tm="100000">
                                          <p:val>
                                            <p:strVal val="#ppt_h"/>
                                          </p:val>
                                        </p:tav>
                                      </p:tavLst>
                                    </p:anim>
                                    <p:anim calcmode="lin" valueType="num">
                                      <p:cBhvr>
                                        <p:cTn id="67" dur="1000" fill="hold"/>
                                        <p:tgtEl>
                                          <p:spTgt spid="22"/>
                                        </p:tgtEl>
                                        <p:attrNameLst>
                                          <p:attrName>style.rotation</p:attrName>
                                        </p:attrNameLst>
                                      </p:cBhvr>
                                      <p:tavLst>
                                        <p:tav tm="0">
                                          <p:val>
                                            <p:fltVal val="90"/>
                                          </p:val>
                                        </p:tav>
                                        <p:tav tm="100000">
                                          <p:val>
                                            <p:fltVal val="0"/>
                                          </p:val>
                                        </p:tav>
                                      </p:tavLst>
                                    </p:anim>
                                    <p:animEffect transition="in" filter="fade">
                                      <p:cBhvr>
                                        <p:cTn id="68" dur="10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3" dur="500"/>
                                        <p:tgtEl>
                                          <p:spTgt spid="3">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nodeType="clickEffect">
                                  <p:stCondLst>
                                    <p:cond delay="0"/>
                                  </p:stCondLst>
                                  <p:childTnLst>
                                    <p:set>
                                      <p:cBhvr>
                                        <p:cTn id="7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a:p>
            <a:endParaRPr lang="zh-CN" altLang="en-US" dirty="0"/>
          </a:p>
        </p:txBody>
      </p:sp>
      <p:sp>
        <p:nvSpPr>
          <p:cNvPr id="4" name="Content Placeholder 3"/>
          <p:cNvSpPr>
            <a:spLocks noGrp="1"/>
          </p:cNvSpPr>
          <p:nvPr>
            <p:ph sz="half" idx="2"/>
          </p:nvPr>
        </p:nvSpPr>
        <p:spPr/>
        <p:txBody>
          <a:bodyPr/>
          <a:lstStyle/>
          <a:p>
            <a:r>
              <a:rPr lang="zh-CN" altLang="en-US" sz="2000" b="1" dirty="0"/>
              <a:t>城邦提供这一切，必须建立在分工原则基础上</a:t>
            </a:r>
            <a:r>
              <a:rPr lang="en-US" altLang="zh-CN" sz="2000" b="1" dirty="0"/>
              <a:t>369d1-10</a:t>
            </a:r>
            <a:r>
              <a:rPr lang="zh-CN" altLang="en-US" sz="2000" b="1" dirty="0"/>
              <a:t>。分工原则的基础在于，每个人生来就不一样，只适合一种工作</a:t>
            </a:r>
            <a:r>
              <a:rPr lang="en-US" altLang="zh-CN" sz="2000" b="1" dirty="0"/>
              <a:t>370b10-c1</a:t>
            </a:r>
            <a:r>
              <a:rPr lang="zh-CN" altLang="en-US" sz="2000" b="1" dirty="0"/>
              <a:t>。 </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97" y="68119"/>
            <a:ext cx="5619750" cy="645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1108953" y="3667328"/>
            <a:ext cx="3433864"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196502" y="4893013"/>
            <a:ext cx="1050587"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27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512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458185" y="654194"/>
            <a:ext cx="6032810" cy="4481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endParaRPr lang="zh-CN" altLang="en-US"/>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25" y="0"/>
            <a:ext cx="5059363" cy="655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07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randombar(horizontal)">
                                      <p:cBhvr>
                                        <p:cTn id="7" dur="500"/>
                                        <p:tgtEl>
                                          <p:spTgt spid="512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randombar(horizontal)">
                                      <p:cBhvr>
                                        <p:cTn id="12"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614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45281" y="329478"/>
            <a:ext cx="5980210" cy="3180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endParaRPr lang="zh-CN" altLang="en-US"/>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7909" y="0"/>
            <a:ext cx="5200518" cy="6616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48144" y="3657600"/>
            <a:ext cx="5541819" cy="2554545"/>
          </a:xfrm>
          <a:prstGeom prst="rect">
            <a:avLst/>
          </a:prstGeom>
          <a:noFill/>
        </p:spPr>
        <p:txBody>
          <a:bodyPr wrap="square" rtlCol="0">
            <a:spAutoFit/>
          </a:bodyPr>
          <a:lstStyle/>
          <a:p>
            <a:r>
              <a:rPr lang="zh-CN" altLang="en-US" sz="2000" dirty="0"/>
              <a:t>城邦需要的生产者包括农民、木匠、鞋匠、纺织工、铁匠、牧羊人及其他牧人，建筑工等等，由于一个城邦不可能没有进口，于是需要进口的商人。此外，出口需要生产者提供其他城邦可能需要的东西。如果贸易要出海进行，还需要懂得许多知晓海洋事务的人。做买卖需要市场以及货币，还有买办</a:t>
            </a:r>
            <a:r>
              <a:rPr lang="en-US" altLang="zh-CN" sz="2000" dirty="0"/>
              <a:t>——</a:t>
            </a:r>
            <a:r>
              <a:rPr lang="zh-CN" altLang="en-US" sz="2000" dirty="0"/>
              <a:t>负责把货物折换成货币的人，这就是零售商。此外还有出卖劳力的零时工。 </a:t>
            </a:r>
          </a:p>
        </p:txBody>
      </p:sp>
      <p:cxnSp>
        <p:nvCxnSpPr>
          <p:cNvPr id="6" name="Straight Connector 5"/>
          <p:cNvCxnSpPr/>
          <p:nvPr/>
        </p:nvCxnSpPr>
        <p:spPr>
          <a:xfrm>
            <a:off x="8083685" y="4348264"/>
            <a:ext cx="3219855"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7597302" y="5077838"/>
            <a:ext cx="2096310"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30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randombar(horizont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randombar(horizontal)">
                                      <p:cBhvr>
                                        <p:cTn id="12" dur="500"/>
                                        <p:tgtEl>
                                          <p:spTgt spid="614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randombar(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b="1" dirty="0"/>
              <a:t>格劳康认为苏格拉底描述的城邦是一个猪的城邦，似乎喂养他们就是正义</a:t>
            </a:r>
            <a:r>
              <a:rPr lang="en-US" altLang="zh-CN" sz="2000" b="1" dirty="0"/>
              <a:t>372d4</a:t>
            </a:r>
            <a:r>
              <a:rPr lang="zh-CN" altLang="en-US" sz="2000" b="1" dirty="0"/>
              <a:t>。</a:t>
            </a:r>
          </a:p>
          <a:p>
            <a:endParaRPr lang="zh-CN" altLang="en-US" sz="2000" b="1" dirty="0"/>
          </a:p>
          <a:p>
            <a:r>
              <a:rPr lang="zh-CN" altLang="en-US" sz="2000" b="1" dirty="0"/>
              <a:t>第一个城邦是以满足公民基本自然需要建立起来的自给自足的城邦。</a:t>
            </a:r>
          </a:p>
          <a:p>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711" y="190500"/>
            <a:ext cx="59626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4124528" y="4241260"/>
            <a:ext cx="1595336"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169268" y="5914417"/>
            <a:ext cx="19552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7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randombar(horizontal)">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5" dur="50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488644" y="1869601"/>
            <a:ext cx="5017554" cy="3921600"/>
          </a:xfrm>
        </p:spPr>
        <p:txBody>
          <a:bodyPr/>
          <a:lstStyle/>
          <a:p>
            <a:r>
              <a:rPr lang="zh-CN" altLang="en-US" sz="2000" b="1" dirty="0"/>
              <a:t>于是苏格拉底开始设想一个奢侈的城邦，引进了猎人，还有所有的摹仿者。画师、乐师、诗人及其助手、吟诵者、演员、合唱舞蹈者、舞台工。还需要为女人的事务服务的人</a:t>
            </a:r>
            <a:r>
              <a:rPr lang="en-US" altLang="zh-CN" sz="2000" b="1" dirty="0"/>
              <a:t>……</a:t>
            </a:r>
            <a:r>
              <a:rPr lang="zh-CN" altLang="en-US" sz="2000" b="1" dirty="0"/>
              <a:t>最后如果人们奢侈的生活，还需要更多的医生。</a:t>
            </a:r>
          </a:p>
          <a:p>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91" y="326448"/>
            <a:ext cx="5486400" cy="603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4688732" y="846306"/>
            <a:ext cx="622570"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42026" y="1089498"/>
            <a:ext cx="1001948"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828800" y="593387"/>
            <a:ext cx="3482502" cy="972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42026" y="856034"/>
            <a:ext cx="6614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14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heel(1)">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randombar(horizontal)">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ppt_w</p:attrName>
                                        </p:attrNameLst>
                                      </p:cBhvr>
                                      <p:tavLst>
                                        <p:tav tm="0">
                                          <p:val>
                                            <p:fltVal val="0"/>
                                          </p:val>
                                        </p:tav>
                                        <p:tav tm="100000">
                                          <p:val>
                                            <p:strVal val="#ppt_w"/>
                                          </p:val>
                                        </p:tav>
                                      </p:tavLst>
                                    </p:anim>
                                    <p:anim calcmode="lin" valueType="num">
                                      <p:cBhvr>
                                        <p:cTn id="18" dur="1000" fill="hold"/>
                                        <p:tgtEl>
                                          <p:spTgt spid="10"/>
                                        </p:tgtEl>
                                        <p:attrNameLst>
                                          <p:attrName>ppt_h</p:attrName>
                                        </p:attrNameLst>
                                      </p:cBhvr>
                                      <p:tavLst>
                                        <p:tav tm="0">
                                          <p:val>
                                            <p:fltVal val="0"/>
                                          </p:val>
                                        </p:tav>
                                        <p:tav tm="100000">
                                          <p:val>
                                            <p:strVal val="#ppt_h"/>
                                          </p:val>
                                        </p:tav>
                                      </p:tavLst>
                                    </p:anim>
                                    <p:anim calcmode="lin" valueType="num">
                                      <p:cBhvr>
                                        <p:cTn id="19" dur="1000" fill="hold"/>
                                        <p:tgtEl>
                                          <p:spTgt spid="10"/>
                                        </p:tgtEl>
                                        <p:attrNameLst>
                                          <p:attrName>style.rotation</p:attrName>
                                        </p:attrNameLst>
                                      </p:cBhvr>
                                      <p:tavLst>
                                        <p:tav tm="0">
                                          <p:val>
                                            <p:fltVal val="90"/>
                                          </p:val>
                                        </p:tav>
                                        <p:tav tm="100000">
                                          <p:val>
                                            <p:fltVal val="0"/>
                                          </p:val>
                                        </p:tav>
                                      </p:tavLst>
                                    </p:anim>
                                    <p:animEffect transition="in" filter="fade">
                                      <p:cBhvr>
                                        <p:cTn id="20" dur="10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1000" fill="hold"/>
                                        <p:tgtEl>
                                          <p:spTgt spid="12"/>
                                        </p:tgtEl>
                                        <p:attrNameLst>
                                          <p:attrName>ppt_w</p:attrName>
                                        </p:attrNameLst>
                                      </p:cBhvr>
                                      <p:tavLst>
                                        <p:tav tm="0">
                                          <p:val>
                                            <p:fltVal val="0"/>
                                          </p:val>
                                        </p:tav>
                                        <p:tav tm="100000">
                                          <p:val>
                                            <p:strVal val="#ppt_w"/>
                                          </p:val>
                                        </p:tav>
                                      </p:tavLst>
                                    </p:anim>
                                    <p:anim calcmode="lin" valueType="num">
                                      <p:cBhvr>
                                        <p:cTn id="26" dur="1000" fill="hold"/>
                                        <p:tgtEl>
                                          <p:spTgt spid="12"/>
                                        </p:tgtEl>
                                        <p:attrNameLst>
                                          <p:attrName>ppt_h</p:attrName>
                                        </p:attrNameLst>
                                      </p:cBhvr>
                                      <p:tavLst>
                                        <p:tav tm="0">
                                          <p:val>
                                            <p:fltVal val="0"/>
                                          </p:val>
                                        </p:tav>
                                        <p:tav tm="100000">
                                          <p:val>
                                            <p:strVal val="#ppt_h"/>
                                          </p:val>
                                        </p:tav>
                                      </p:tavLst>
                                    </p:anim>
                                    <p:anim calcmode="lin" valueType="num">
                                      <p:cBhvr>
                                        <p:cTn id="27" dur="1000" fill="hold"/>
                                        <p:tgtEl>
                                          <p:spTgt spid="12"/>
                                        </p:tgtEl>
                                        <p:attrNameLst>
                                          <p:attrName>style.rotation</p:attrName>
                                        </p:attrNameLst>
                                      </p:cBhvr>
                                      <p:tavLst>
                                        <p:tav tm="0">
                                          <p:val>
                                            <p:fltVal val="90"/>
                                          </p:val>
                                        </p:tav>
                                        <p:tav tm="100000">
                                          <p:val>
                                            <p:fltVal val="0"/>
                                          </p:val>
                                        </p:tav>
                                      </p:tavLst>
                                    </p:anim>
                                    <p:animEffect transition="in" filter="fade">
                                      <p:cBhvr>
                                        <p:cTn id="28" dur="1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1000" fill="hold"/>
                                        <p:tgtEl>
                                          <p:spTgt spid="6"/>
                                        </p:tgtEl>
                                        <p:attrNameLst>
                                          <p:attrName>ppt_w</p:attrName>
                                        </p:attrNameLst>
                                      </p:cBhvr>
                                      <p:tavLst>
                                        <p:tav tm="0">
                                          <p:val>
                                            <p:fltVal val="0"/>
                                          </p:val>
                                        </p:tav>
                                        <p:tav tm="100000">
                                          <p:val>
                                            <p:strVal val="#ppt_w"/>
                                          </p:val>
                                        </p:tav>
                                      </p:tavLst>
                                    </p:anim>
                                    <p:anim calcmode="lin" valueType="num">
                                      <p:cBhvr>
                                        <p:cTn id="34" dur="1000" fill="hold"/>
                                        <p:tgtEl>
                                          <p:spTgt spid="6"/>
                                        </p:tgtEl>
                                        <p:attrNameLst>
                                          <p:attrName>ppt_h</p:attrName>
                                        </p:attrNameLst>
                                      </p:cBhvr>
                                      <p:tavLst>
                                        <p:tav tm="0">
                                          <p:val>
                                            <p:fltVal val="0"/>
                                          </p:val>
                                        </p:tav>
                                        <p:tav tm="100000">
                                          <p:val>
                                            <p:strVal val="#ppt_h"/>
                                          </p:val>
                                        </p:tav>
                                      </p:tavLst>
                                    </p:anim>
                                    <p:anim calcmode="lin" valueType="num">
                                      <p:cBhvr>
                                        <p:cTn id="35" dur="1000" fill="hold"/>
                                        <p:tgtEl>
                                          <p:spTgt spid="6"/>
                                        </p:tgtEl>
                                        <p:attrNameLst>
                                          <p:attrName>style.rotation</p:attrName>
                                        </p:attrNameLst>
                                      </p:cBhvr>
                                      <p:tavLst>
                                        <p:tav tm="0">
                                          <p:val>
                                            <p:fltVal val="90"/>
                                          </p:val>
                                        </p:tav>
                                        <p:tav tm="100000">
                                          <p:val>
                                            <p:fltVal val="0"/>
                                          </p:val>
                                        </p:tav>
                                      </p:tavLst>
                                    </p:anim>
                                    <p:animEffect transition="in" filter="fade">
                                      <p:cBhvr>
                                        <p:cTn id="36" dur="10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1000" fill="hold"/>
                                        <p:tgtEl>
                                          <p:spTgt spid="8"/>
                                        </p:tgtEl>
                                        <p:attrNameLst>
                                          <p:attrName>ppt_w</p:attrName>
                                        </p:attrNameLst>
                                      </p:cBhvr>
                                      <p:tavLst>
                                        <p:tav tm="0">
                                          <p:val>
                                            <p:fltVal val="0"/>
                                          </p:val>
                                        </p:tav>
                                        <p:tav tm="100000">
                                          <p:val>
                                            <p:strVal val="#ppt_w"/>
                                          </p:val>
                                        </p:tav>
                                      </p:tavLst>
                                    </p:anim>
                                    <p:anim calcmode="lin" valueType="num">
                                      <p:cBhvr>
                                        <p:cTn id="42" dur="1000" fill="hold"/>
                                        <p:tgtEl>
                                          <p:spTgt spid="8"/>
                                        </p:tgtEl>
                                        <p:attrNameLst>
                                          <p:attrName>ppt_h</p:attrName>
                                        </p:attrNameLst>
                                      </p:cBhvr>
                                      <p:tavLst>
                                        <p:tav tm="0">
                                          <p:val>
                                            <p:fltVal val="0"/>
                                          </p:val>
                                        </p:tav>
                                        <p:tav tm="100000">
                                          <p:val>
                                            <p:strVal val="#ppt_h"/>
                                          </p:val>
                                        </p:tav>
                                      </p:tavLst>
                                    </p:anim>
                                    <p:anim calcmode="lin" valueType="num">
                                      <p:cBhvr>
                                        <p:cTn id="43" dur="1000" fill="hold"/>
                                        <p:tgtEl>
                                          <p:spTgt spid="8"/>
                                        </p:tgtEl>
                                        <p:attrNameLst>
                                          <p:attrName>style.rotation</p:attrName>
                                        </p:attrNameLst>
                                      </p:cBhvr>
                                      <p:tavLst>
                                        <p:tav tm="0">
                                          <p:val>
                                            <p:fltVal val="90"/>
                                          </p:val>
                                        </p:tav>
                                        <p:tav tm="100000">
                                          <p:val>
                                            <p:fltVal val="0"/>
                                          </p:val>
                                        </p:tav>
                                      </p:tavLst>
                                    </p:anim>
                                    <p:animEffect transition="in" filter="fade">
                                      <p:cBhvr>
                                        <p:cTn id="4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b="1" dirty="0"/>
              <a:t>城邦的扩张导致土地的不足，那么需要夺取邻近城邦的土地，而邻近的城邦，如果为无止境地追求金钱，越过了他们的生存必需欲望的界限，也会想要掠夺其他城邦的土地。于是城邦必须扩大到能装下一只军队。这样城邦就需要护卫者。</a:t>
            </a:r>
            <a:endParaRPr lang="en-US" altLang="zh-CN" sz="2000" b="1" dirty="0"/>
          </a:p>
          <a:p>
            <a:endParaRPr lang="en-US" altLang="zh-CN" sz="2000" b="1" dirty="0"/>
          </a:p>
          <a:p>
            <a:r>
              <a:rPr lang="zh-CN" altLang="en-US" sz="2000" b="1" dirty="0"/>
              <a:t>（柏拉图描述了现实历史中古希腊城邦的生活方式：生于不义）</a:t>
            </a:r>
          </a:p>
          <a:p>
            <a:endParaRPr lang="zh-CN"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8" y="93229"/>
            <a:ext cx="5188527" cy="6672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H="1">
            <a:off x="1060315" y="1974715"/>
            <a:ext cx="29183" cy="80739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57983" y="5321030"/>
            <a:ext cx="1566153"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9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randombar(horizontal)">
                                      <p:cBhvr>
                                        <p:cTn id="17" dur="500"/>
                                        <p:tgtEl>
                                          <p:spTgt spid="9218"/>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pic>
        <p:nvPicPr>
          <p:cNvPr id="1024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07048" y="1020185"/>
            <a:ext cx="5750153" cy="5352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r>
              <a:rPr lang="zh-CN" altLang="en-US" sz="2000" b="1" dirty="0"/>
              <a:t>由于城邦组织运行的原则，是社会分工原则，所以护卫者不能是业余的，而是也应当成为一个独立的阶层。</a:t>
            </a:r>
            <a:endParaRPr lang="en-US" altLang="zh-CN" sz="2000" b="1" dirty="0"/>
          </a:p>
          <a:p>
            <a:endParaRPr lang="en-US" altLang="zh-CN" sz="2000" b="1" dirty="0"/>
          </a:p>
          <a:p>
            <a:r>
              <a:rPr lang="zh-CN" altLang="en-US" sz="2000" b="1" dirty="0"/>
              <a:t>护卫者产生的意义：</a:t>
            </a:r>
          </a:p>
          <a:p>
            <a:r>
              <a:rPr lang="en-US" altLang="zh-CN" sz="2000" b="1" dirty="0"/>
              <a:t>1</a:t>
            </a:r>
            <a:r>
              <a:rPr lang="zh-CN" altLang="en-US" sz="2000" b="1" dirty="0"/>
              <a:t>，不是为了维护人们的自然基本需要，而是为了维护人们奢侈生活方式的需要；</a:t>
            </a:r>
          </a:p>
          <a:p>
            <a:r>
              <a:rPr lang="en-US" altLang="zh-CN" sz="2000" b="1" dirty="0"/>
              <a:t>2</a:t>
            </a:r>
            <a:r>
              <a:rPr lang="zh-CN" altLang="en-US" sz="2000" b="1" dirty="0"/>
              <a:t>，护卫者的产生意味着（人为的）政治的产生，以及正义问题的产生。</a:t>
            </a:r>
          </a:p>
          <a:p>
            <a:endParaRPr lang="zh-CN" altLang="en-US" dirty="0"/>
          </a:p>
        </p:txBody>
      </p:sp>
    </p:spTree>
    <p:extLst>
      <p:ext uri="{BB962C8B-B14F-4D97-AF65-F5344CB8AC3E}">
        <p14:creationId xmlns:p14="http://schemas.microsoft.com/office/powerpoint/2010/main" val="3917630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randombar(horizontal)">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0" dur="500"/>
                                        <p:tgtEl>
                                          <p:spTgt spid="4">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3"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两个城邦的比较</a:t>
            </a:r>
          </a:p>
        </p:txBody>
      </p:sp>
      <p:sp>
        <p:nvSpPr>
          <p:cNvPr id="3" name="Content Placeholder 2"/>
          <p:cNvSpPr>
            <a:spLocks noGrp="1"/>
          </p:cNvSpPr>
          <p:nvPr>
            <p:ph sz="half" idx="1"/>
          </p:nvPr>
        </p:nvSpPr>
        <p:spPr/>
        <p:txBody>
          <a:bodyPr/>
          <a:lstStyle/>
          <a:p>
            <a:r>
              <a:rPr lang="zh-CN" altLang="en-US" sz="2000" b="1" i="1" dirty="0"/>
              <a:t>城邦</a:t>
            </a:r>
            <a:r>
              <a:rPr lang="en-US" altLang="zh-CN" sz="2000" b="1" i="1" dirty="0"/>
              <a:t>1</a:t>
            </a:r>
          </a:p>
          <a:p>
            <a:r>
              <a:rPr lang="zh-CN" altLang="en-US" sz="2000" b="1" i="1" dirty="0"/>
              <a:t>为了满足基本的自然需要</a:t>
            </a:r>
            <a:endParaRPr lang="en-US" altLang="zh-CN" sz="2000" b="1" i="1" dirty="0"/>
          </a:p>
          <a:p>
            <a:r>
              <a:rPr lang="zh-CN" altLang="en-US" sz="2000" b="1" i="1" dirty="0"/>
              <a:t>健康</a:t>
            </a:r>
            <a:endParaRPr lang="en-US" altLang="zh-CN" sz="2000" b="1" i="1" dirty="0"/>
          </a:p>
          <a:p>
            <a:r>
              <a:rPr lang="zh-CN" altLang="en-US" sz="2000" b="1" i="1" dirty="0"/>
              <a:t>公民彼此需要，彼此平等</a:t>
            </a:r>
            <a:endParaRPr lang="en-US" altLang="zh-CN" sz="2000" b="1" i="1" dirty="0"/>
          </a:p>
          <a:p>
            <a:endParaRPr lang="en-US" altLang="zh-CN" sz="2000" b="1" i="1" dirty="0"/>
          </a:p>
          <a:p>
            <a:endParaRPr lang="en-US" altLang="zh-CN" sz="2000" b="1" i="1" dirty="0"/>
          </a:p>
          <a:p>
            <a:r>
              <a:rPr lang="zh-CN" altLang="en-US" sz="2000" b="1" i="1" dirty="0"/>
              <a:t>没有政治生活</a:t>
            </a:r>
            <a:endParaRPr lang="en-US" altLang="zh-CN" sz="2000" b="1" i="1" dirty="0"/>
          </a:p>
          <a:p>
            <a:r>
              <a:rPr lang="zh-CN" altLang="en-US" sz="2000" b="1" i="1" dirty="0"/>
              <a:t>以满足基本需要为正义</a:t>
            </a:r>
          </a:p>
        </p:txBody>
      </p:sp>
      <p:sp>
        <p:nvSpPr>
          <p:cNvPr id="4" name="Content Placeholder 3"/>
          <p:cNvSpPr>
            <a:spLocks noGrp="1"/>
          </p:cNvSpPr>
          <p:nvPr>
            <p:ph sz="half" idx="2"/>
          </p:nvPr>
        </p:nvSpPr>
        <p:spPr>
          <a:xfrm>
            <a:off x="6486716" y="1869601"/>
            <a:ext cx="5040000" cy="3921600"/>
          </a:xfrm>
        </p:spPr>
        <p:txBody>
          <a:bodyPr/>
          <a:lstStyle/>
          <a:p>
            <a:r>
              <a:rPr lang="zh-CN" altLang="en-US" sz="2000" b="1" dirty="0"/>
              <a:t>城邦</a:t>
            </a:r>
            <a:r>
              <a:rPr lang="en-US" altLang="zh-CN" sz="2000" b="1" dirty="0"/>
              <a:t>2</a:t>
            </a:r>
          </a:p>
          <a:p>
            <a:r>
              <a:rPr lang="zh-CN" altLang="en-US" sz="2000" b="1" dirty="0"/>
              <a:t>为了满足过多的，奢侈的需要（欲望）</a:t>
            </a:r>
            <a:endParaRPr lang="en-US" altLang="zh-CN" sz="2000" b="1" dirty="0"/>
          </a:p>
          <a:p>
            <a:r>
              <a:rPr lang="zh-CN" altLang="en-US" sz="2000" b="1" dirty="0"/>
              <a:t>发炎，肿胀</a:t>
            </a:r>
            <a:endParaRPr lang="en-US" altLang="zh-CN" sz="2000" b="1" dirty="0"/>
          </a:p>
          <a:p>
            <a:r>
              <a:rPr lang="zh-CN" altLang="en-US" sz="2000" b="1" dirty="0"/>
              <a:t>生产者阶层需要护卫者阶层保卫自己，侵略他人，反过来未必</a:t>
            </a:r>
            <a:endParaRPr lang="en-US" altLang="zh-CN" sz="2000" b="1" dirty="0"/>
          </a:p>
          <a:p>
            <a:endParaRPr lang="en-US" altLang="zh-CN" sz="2000" b="1" dirty="0"/>
          </a:p>
          <a:p>
            <a:r>
              <a:rPr lang="zh-CN" altLang="en-US" sz="2000" b="1" dirty="0"/>
              <a:t>政治生活产生了</a:t>
            </a:r>
            <a:endParaRPr lang="en-US" altLang="zh-CN" sz="2000" b="1" dirty="0"/>
          </a:p>
          <a:p>
            <a:r>
              <a:rPr lang="zh-CN" altLang="en-US" sz="2000" b="1" dirty="0"/>
              <a:t>？</a:t>
            </a:r>
            <a:endParaRPr lang="en-US" altLang="zh-CN" sz="2000" b="1" dirty="0"/>
          </a:p>
          <a:p>
            <a:endParaRPr lang="en-US" altLang="zh-CN" dirty="0"/>
          </a:p>
          <a:p>
            <a:endParaRPr lang="zh-CN" altLang="en-US" dirty="0"/>
          </a:p>
        </p:txBody>
      </p:sp>
    </p:spTree>
    <p:extLst>
      <p:ext uri="{BB962C8B-B14F-4D97-AF65-F5344CB8AC3E}">
        <p14:creationId xmlns:p14="http://schemas.microsoft.com/office/powerpoint/2010/main" val="304834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randombar(horizontal)">
                                      <p:cBhvr>
                                        <p:cTn id="42" dur="500"/>
                                        <p:tgtEl>
                                          <p:spTgt spid="4">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4">
                                            <p:txEl>
                                              <p:pRg st="5" end="5"/>
                                            </p:txEl>
                                          </p:spTgt>
                                        </p:tgtEl>
                                        <p:attrNameLst>
                                          <p:attrName>style.visibility</p:attrName>
                                        </p:attrNameLst>
                                      </p:cBhvr>
                                      <p:to>
                                        <p:strVal val="visible"/>
                                      </p:to>
                                    </p:set>
                                    <p:animEffect transition="in" filter="randombar(horizontal)">
                                      <p:cBhvr>
                                        <p:cTn id="52" dur="500"/>
                                        <p:tgtEl>
                                          <p:spTgt spid="4">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57" dur="500"/>
                                        <p:tgtEl>
                                          <p:spTgt spid="3">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6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8893" y="609600"/>
            <a:ext cx="5057821" cy="1260000"/>
          </a:xfrm>
        </p:spPr>
        <p:txBody>
          <a:bodyPr/>
          <a:lstStyle/>
          <a:p>
            <a:r>
              <a:rPr lang="zh-CN" altLang="en-US" dirty="0"/>
              <a:t>护卫者的天性和教育</a:t>
            </a:r>
          </a:p>
        </p:txBody>
      </p:sp>
      <p:pic>
        <p:nvPicPr>
          <p:cNvPr id="11266"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22187" y="152111"/>
            <a:ext cx="5750811" cy="6377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normAutofit/>
          </a:bodyPr>
          <a:lstStyle/>
          <a:p>
            <a:r>
              <a:rPr lang="zh-CN" altLang="en-US" sz="2000" b="1" dirty="0"/>
              <a:t>护卫者是一种特殊而重要的职业，所以需要特殊的资质。</a:t>
            </a:r>
            <a:endParaRPr lang="en-US" altLang="zh-CN" sz="2000" b="1" dirty="0"/>
          </a:p>
          <a:p>
            <a:r>
              <a:rPr lang="zh-CN" altLang="en-US" sz="2000" b="1" dirty="0"/>
              <a:t>于是苏格拉底考察了护卫者需要具备什么样的天性。</a:t>
            </a:r>
          </a:p>
        </p:txBody>
      </p:sp>
    </p:spTree>
    <p:extLst>
      <p:ext uri="{BB962C8B-B14F-4D97-AF65-F5344CB8AC3E}">
        <p14:creationId xmlns:p14="http://schemas.microsoft.com/office/powerpoint/2010/main" val="51659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randombar(horizontal)">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92500" lnSpcReduction="10000"/>
          </a:bodyPr>
          <a:lstStyle/>
          <a:p>
            <a:endParaRPr lang="zh-CN" altLang="en-US" dirty="0"/>
          </a:p>
        </p:txBody>
      </p:sp>
      <p:sp>
        <p:nvSpPr>
          <p:cNvPr id="4" name="Content Placeholder 3"/>
          <p:cNvSpPr>
            <a:spLocks noGrp="1"/>
          </p:cNvSpPr>
          <p:nvPr>
            <p:ph sz="half" idx="2"/>
          </p:nvPr>
        </p:nvSpPr>
        <p:spPr>
          <a:xfrm>
            <a:off x="6031149" y="4863831"/>
            <a:ext cx="5497495" cy="1635292"/>
          </a:xfrm>
        </p:spPr>
        <p:txBody>
          <a:bodyPr>
            <a:normAutofit fontScale="92500" lnSpcReduction="10000"/>
          </a:bodyPr>
          <a:lstStyle/>
          <a:p>
            <a:r>
              <a:rPr lang="zh-CN" altLang="en-US" sz="2400" b="1" dirty="0"/>
              <a:t>护卫者是危险的，他们必须对自己城邦的人温和，对敌人凶狠。那么具有这两种相反的本性的人到哪去找呢？苏格拉底说，猎狗就有这样的本性，对熟人温和，对敌人凶狠。</a:t>
            </a:r>
          </a:p>
          <a:p>
            <a:endParaRPr lang="zh-CN"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6371" y="108528"/>
            <a:ext cx="5857875"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26" y="108528"/>
            <a:ext cx="5334000" cy="620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1488332" y="4231532"/>
            <a:ext cx="2597285"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760724" y="3121366"/>
            <a:ext cx="4572000" cy="7782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692629" y="3385226"/>
            <a:ext cx="1400783"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77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randombar(horizontal)">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randombar(horizontal)">
                                      <p:cBhvr>
                                        <p:cTn id="12" dur="500"/>
                                        <p:tgtEl>
                                          <p:spTgt spid="12290"/>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1000" fill="hold"/>
                                        <p:tgtEl>
                                          <p:spTgt spid="10"/>
                                        </p:tgtEl>
                                        <p:attrNameLst>
                                          <p:attrName>ppt_w</p:attrName>
                                        </p:attrNameLst>
                                      </p:cBhvr>
                                      <p:tavLst>
                                        <p:tav tm="0">
                                          <p:val>
                                            <p:fltVal val="0"/>
                                          </p:val>
                                        </p:tav>
                                        <p:tav tm="100000">
                                          <p:val>
                                            <p:strVal val="#ppt_w"/>
                                          </p:val>
                                        </p:tav>
                                      </p:tavLst>
                                    </p:anim>
                                    <p:anim calcmode="lin" valueType="num">
                                      <p:cBhvr>
                                        <p:cTn id="34" dur="1000" fill="hold"/>
                                        <p:tgtEl>
                                          <p:spTgt spid="10"/>
                                        </p:tgtEl>
                                        <p:attrNameLst>
                                          <p:attrName>ppt_h</p:attrName>
                                        </p:attrNameLst>
                                      </p:cBhvr>
                                      <p:tavLst>
                                        <p:tav tm="0">
                                          <p:val>
                                            <p:fltVal val="0"/>
                                          </p:val>
                                        </p:tav>
                                        <p:tav tm="100000">
                                          <p:val>
                                            <p:strVal val="#ppt_h"/>
                                          </p:val>
                                        </p:tav>
                                      </p:tavLst>
                                    </p:anim>
                                    <p:anim calcmode="lin" valueType="num">
                                      <p:cBhvr>
                                        <p:cTn id="35" dur="1000" fill="hold"/>
                                        <p:tgtEl>
                                          <p:spTgt spid="10"/>
                                        </p:tgtEl>
                                        <p:attrNameLst>
                                          <p:attrName>style.rotation</p:attrName>
                                        </p:attrNameLst>
                                      </p:cBhvr>
                                      <p:tavLst>
                                        <p:tav tm="0">
                                          <p:val>
                                            <p:fltVal val="90"/>
                                          </p:val>
                                        </p:tav>
                                        <p:tav tm="100000">
                                          <p:val>
                                            <p:fltVal val="0"/>
                                          </p:val>
                                        </p:tav>
                                      </p:tavLst>
                                    </p:anim>
                                    <p:animEffect transition="in" filter="fade">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1"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000" b="1" dirty="0"/>
              <a:t>而它们必定是爱智慧的，因为他们看到认识的人就友好，猎狗有辨别好坏的能力，依据它们是否有所知来分辨敌友。</a:t>
            </a:r>
            <a:endParaRPr lang="en-US" altLang="zh-CN" sz="2000" b="1" dirty="0"/>
          </a:p>
          <a:p>
            <a:r>
              <a:rPr lang="zh-CN" altLang="en-US" sz="2000" b="1" dirty="0"/>
              <a:t>苏格拉底说猎狗的天性中有热爱智慧和明哲的成分，这是反讽，因为，这里所谓“爱智慧”和“明哲”仅仅是通过有所理解和无所理解来作为判分亲近与疏远的标准。</a:t>
            </a:r>
            <a:endParaRPr lang="en-US" altLang="zh-CN" sz="2000" b="1" dirty="0"/>
          </a:p>
          <a:p>
            <a:r>
              <a:rPr lang="zh-CN" altLang="en-US" sz="2000" b="1" dirty="0"/>
              <a:t>后文对于哲学家的本性的描述是完全不同的，哲学家的爱智慧是爱一切知识，能看到事物真正的所是。</a:t>
            </a:r>
          </a:p>
          <a:p>
            <a:endParaRPr lang="zh-CN" altLang="en-US" dirty="0"/>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8203" y="0"/>
            <a:ext cx="5391622"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8803532" y="2081719"/>
            <a:ext cx="2217906"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309370" y="2811294"/>
            <a:ext cx="1838528"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789906" y="3025302"/>
            <a:ext cx="4231532"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789906" y="3258766"/>
            <a:ext cx="1663430"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789906" y="3465478"/>
            <a:ext cx="2830749" cy="3647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64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randombar(horizontal)">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1000" fill="hold"/>
                                        <p:tgtEl>
                                          <p:spTgt spid="14"/>
                                        </p:tgtEl>
                                        <p:attrNameLst>
                                          <p:attrName>ppt_w</p:attrName>
                                        </p:attrNameLst>
                                      </p:cBhvr>
                                      <p:tavLst>
                                        <p:tav tm="0">
                                          <p:val>
                                            <p:fltVal val="0"/>
                                          </p:val>
                                        </p:tav>
                                        <p:tav tm="100000">
                                          <p:val>
                                            <p:strVal val="#ppt_w"/>
                                          </p:val>
                                        </p:tav>
                                      </p:tavLst>
                                    </p:anim>
                                    <p:anim calcmode="lin" valueType="num">
                                      <p:cBhvr>
                                        <p:cTn id="45" dur="1000" fill="hold"/>
                                        <p:tgtEl>
                                          <p:spTgt spid="14"/>
                                        </p:tgtEl>
                                        <p:attrNameLst>
                                          <p:attrName>ppt_h</p:attrName>
                                        </p:attrNameLst>
                                      </p:cBhvr>
                                      <p:tavLst>
                                        <p:tav tm="0">
                                          <p:val>
                                            <p:fltVal val="0"/>
                                          </p:val>
                                        </p:tav>
                                        <p:tav tm="100000">
                                          <p:val>
                                            <p:strVal val="#ppt_h"/>
                                          </p:val>
                                        </p:tav>
                                      </p:tavLst>
                                    </p:anim>
                                    <p:anim calcmode="lin" valueType="num">
                                      <p:cBhvr>
                                        <p:cTn id="46" dur="1000" fill="hold"/>
                                        <p:tgtEl>
                                          <p:spTgt spid="14"/>
                                        </p:tgtEl>
                                        <p:attrNameLst>
                                          <p:attrName>style.rotation</p:attrName>
                                        </p:attrNameLst>
                                      </p:cBhvr>
                                      <p:tavLst>
                                        <p:tav tm="0">
                                          <p:val>
                                            <p:fltVal val="90"/>
                                          </p:val>
                                        </p:tav>
                                        <p:tav tm="100000">
                                          <p:val>
                                            <p:fltVal val="0"/>
                                          </p:val>
                                        </p:tav>
                                      </p:tavLst>
                                    </p:anim>
                                    <p:animEffect transition="in" filter="fade">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2" dur="500"/>
                                        <p:tgtEl>
                                          <p:spTgt spid="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57" dur="500"/>
                                        <p:tgtEl>
                                          <p:spTgt spid="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6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6217" y="609600"/>
            <a:ext cx="5070497" cy="1260000"/>
          </a:xfrm>
        </p:spPr>
        <p:txBody>
          <a:bodyPr/>
          <a:lstStyle/>
          <a:p>
            <a:r>
              <a:rPr lang="zh-CN" altLang="en-US" dirty="0"/>
              <a:t>如何养育和教育护卫者</a:t>
            </a:r>
          </a:p>
        </p:txBody>
      </p:sp>
      <p:pic>
        <p:nvPicPr>
          <p:cNvPr id="14338"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79025" y="147637"/>
            <a:ext cx="6211495" cy="61506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p:txBody>
          <a:bodyPr/>
          <a:lstStyle/>
          <a:p>
            <a:r>
              <a:rPr lang="en-US" altLang="zh-CN" sz="2000" dirty="0"/>
              <a:t>1</a:t>
            </a:r>
            <a:r>
              <a:rPr lang="zh-CN" altLang="en-US" sz="2000" dirty="0"/>
              <a:t>，身体训练</a:t>
            </a:r>
          </a:p>
          <a:p>
            <a:r>
              <a:rPr lang="en-US" altLang="zh-CN" sz="2000" dirty="0"/>
              <a:t>2</a:t>
            </a:r>
            <a:r>
              <a:rPr lang="zh-CN" altLang="en-US" sz="2000" dirty="0"/>
              <a:t>，音乐训练</a:t>
            </a:r>
          </a:p>
          <a:p>
            <a:endParaRPr lang="zh-CN" altLang="en-US" dirty="0"/>
          </a:p>
        </p:txBody>
      </p:sp>
    </p:spTree>
    <p:extLst>
      <p:ext uri="{BB962C8B-B14F-4D97-AF65-F5344CB8AC3E}">
        <p14:creationId xmlns:p14="http://schemas.microsoft.com/office/powerpoint/2010/main" val="84959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randombar(horizontal)">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en-US" altLang="zh-CN" dirty="0"/>
          </a:p>
          <a:p>
            <a:r>
              <a:rPr lang="zh-CN" altLang="en-US" sz="2000" b="1" dirty="0"/>
              <a:t>音乐训练包括了故事，而故事有真的，有假的。人们先讲给孩子假的故事，因此首先要检查说故事者。</a:t>
            </a:r>
            <a:endParaRPr lang="en-US" altLang="zh-CN" sz="2000" b="1" dirty="0"/>
          </a:p>
          <a:p>
            <a:r>
              <a:rPr lang="zh-CN" altLang="en-US" sz="2000" b="1" dirty="0"/>
              <a:t>这是西方历史上第一次文艺审查。</a:t>
            </a:r>
          </a:p>
          <a:p>
            <a:endParaRPr lang="zh-CN" altLang="en-US" sz="2000" b="1" dirty="0"/>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605" y="182815"/>
            <a:ext cx="5432425" cy="656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6819089" y="680936"/>
            <a:ext cx="4192622"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8784077" y="3589506"/>
            <a:ext cx="2120629" cy="2918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859949" y="6021421"/>
            <a:ext cx="3151762"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45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randombar(horizont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
                                            <p:txEl>
                                              <p:pRg st="1" end="1"/>
                                            </p:txEl>
                                          </p:spTgt>
                                        </p:tgtEl>
                                        <p:attrNameLst>
                                          <p:attrName>style.visibility</p:attrName>
                                        </p:attrNameLst>
                                      </p:cBhvr>
                                      <p:to>
                                        <p:strVal val="visible"/>
                                      </p:to>
                                    </p:set>
                                    <p:animEffect transition="in" filter="randombar(horizontal)">
                                      <p:cBhvr>
                                        <p:cTn id="36" dur="500"/>
                                        <p:tgtEl>
                                          <p:spTgt spid="3">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878" y="68094"/>
            <a:ext cx="5686425" cy="616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7079" y="0"/>
            <a:ext cx="5381625" cy="681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1955260" y="5029200"/>
            <a:ext cx="505838"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9931940" y="5826868"/>
            <a:ext cx="1342417"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653719" y="6099243"/>
            <a:ext cx="1245141"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401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randombar(horizontal)">
                                      <p:cBhvr>
                                        <p:cTn id="7" dur="5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6387"/>
                                        </p:tgtEl>
                                        <p:attrNameLst>
                                          <p:attrName>style.visibility</p:attrName>
                                        </p:attrNameLst>
                                      </p:cBhvr>
                                      <p:to>
                                        <p:strVal val="visible"/>
                                      </p:to>
                                    </p:set>
                                    <p:animEffect transition="in" filter="randombar(horizontal)">
                                      <p:cBhvr>
                                        <p:cTn id="20" dur="500"/>
                                        <p:tgtEl>
                                          <p:spTgt spid="16387"/>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fltVal val="0"/>
                                          </p:val>
                                        </p:tav>
                                        <p:tav tm="100000">
                                          <p:val>
                                            <p:strVal val="#ppt_w"/>
                                          </p:val>
                                        </p:tav>
                                      </p:tavLst>
                                    </p:anim>
                                    <p:anim calcmode="lin" valueType="num">
                                      <p:cBhvr>
                                        <p:cTn id="26" dur="1000" fill="hold"/>
                                        <p:tgtEl>
                                          <p:spTgt spid="9"/>
                                        </p:tgtEl>
                                        <p:attrNameLst>
                                          <p:attrName>ppt_h</p:attrName>
                                        </p:attrNameLst>
                                      </p:cBhvr>
                                      <p:tavLst>
                                        <p:tav tm="0">
                                          <p:val>
                                            <p:fltVal val="0"/>
                                          </p:val>
                                        </p:tav>
                                        <p:tav tm="100000">
                                          <p:val>
                                            <p:strVal val="#ppt_h"/>
                                          </p:val>
                                        </p:tav>
                                      </p:tavLst>
                                    </p:anim>
                                    <p:anim calcmode="lin" valueType="num">
                                      <p:cBhvr>
                                        <p:cTn id="27" dur="1000" fill="hold"/>
                                        <p:tgtEl>
                                          <p:spTgt spid="9"/>
                                        </p:tgtEl>
                                        <p:attrNameLst>
                                          <p:attrName>style.rotation</p:attrName>
                                        </p:attrNameLst>
                                      </p:cBhvr>
                                      <p:tavLst>
                                        <p:tav tm="0">
                                          <p:val>
                                            <p:fltVal val="90"/>
                                          </p:val>
                                        </p:tav>
                                        <p:tav tm="100000">
                                          <p:val>
                                            <p:fltVal val="0"/>
                                          </p:val>
                                        </p:tav>
                                      </p:tavLst>
                                    </p:anim>
                                    <p:animEffect transition="in" filter="fade">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400" b="1" dirty="0"/>
              <a:t>诗人们刻画了神和英雄们的恶劣的形象，这些神话，即便是真的，必须讲述，也应该让尽量少的人听到。这些故事不能在理想城邦中讲给青年听，以免他们对自己的不正义的父亲犯下罪行</a:t>
            </a:r>
            <a:r>
              <a:rPr lang="en-US" altLang="zh-CN" sz="2400" b="1" dirty="0"/>
              <a:t>378b1-5</a:t>
            </a:r>
            <a:r>
              <a:rPr lang="zh-CN" altLang="en-US" sz="2400" b="1" dirty="0"/>
              <a:t>。相反，应该说服理想城邦的人们，公民们从不曾相互憎恨。</a:t>
            </a:r>
            <a:endParaRPr lang="en-US" altLang="zh-CN" sz="2400" b="1" dirty="0"/>
          </a:p>
          <a:p>
            <a:r>
              <a:rPr lang="zh-CN" altLang="en-US" sz="2400" b="1" dirty="0"/>
              <a:t>柏拉图反对的，是古希腊的神人同形同性论。</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514" y="244812"/>
            <a:ext cx="54991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049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randombar(horizontal)">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504561" y="4751962"/>
            <a:ext cx="5258874" cy="1806154"/>
          </a:xfrm>
        </p:spPr>
        <p:txBody>
          <a:bodyPr>
            <a:normAutofit/>
          </a:bodyPr>
          <a:lstStyle/>
          <a:p>
            <a:r>
              <a:rPr lang="zh-CN" altLang="en-US" sz="2200" b="1" dirty="0"/>
              <a:t>神应该被描述为他们所是的样子，即永远是善的</a:t>
            </a:r>
            <a:r>
              <a:rPr lang="en-US" altLang="zh-CN" sz="2200" b="1" dirty="0"/>
              <a:t>379a8-b1</a:t>
            </a:r>
            <a:r>
              <a:rPr lang="zh-CN" altLang="en-US" sz="2200" b="1" dirty="0"/>
              <a:t>。神只是好的事物的原因，而非坏的事物的原因。这被确立为理想城邦的第一条法律。</a:t>
            </a:r>
          </a:p>
          <a:p>
            <a:endParaRPr lang="zh-CN" altLang="en-US" dirty="0"/>
          </a:p>
        </p:txBody>
      </p:sp>
      <p:sp>
        <p:nvSpPr>
          <p:cNvPr id="4" name="Content Placeholder 3"/>
          <p:cNvSpPr>
            <a:spLocks noGrp="1"/>
          </p:cNvSpPr>
          <p:nvPr>
            <p:ph sz="half" idx="2"/>
          </p:nvPr>
        </p:nvSpPr>
        <p:spPr>
          <a:xfrm>
            <a:off x="6488644" y="4612531"/>
            <a:ext cx="5040000" cy="1178669"/>
          </a:xfrm>
        </p:spPr>
        <p:txBody>
          <a:bodyPr>
            <a:normAutofit/>
          </a:bodyPr>
          <a:lstStyle/>
          <a:p>
            <a:endParaRPr lang="zh-CN" altLang="en-US" dirty="0"/>
          </a:p>
          <a:p>
            <a:endParaRPr lang="zh-CN" alt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510" y="119975"/>
            <a:ext cx="5114925"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1984" y="119975"/>
            <a:ext cx="5462588"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8278238" y="632298"/>
            <a:ext cx="3249039"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896911" y="924128"/>
            <a:ext cx="1527242" cy="3891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2441643" y="4163438"/>
            <a:ext cx="2898842"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37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randombar(horizontal)">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fltVal val="0"/>
                                          </p:val>
                                        </p:tav>
                                        <p:tav tm="100000">
                                          <p:val>
                                            <p:strVal val="#ppt_w"/>
                                          </p:val>
                                        </p:tav>
                                      </p:tavLst>
                                    </p:anim>
                                    <p:anim calcmode="lin" valueType="num">
                                      <p:cBhvr>
                                        <p:cTn id="13" dur="1000" fill="hold"/>
                                        <p:tgtEl>
                                          <p:spTgt spid="10"/>
                                        </p:tgtEl>
                                        <p:attrNameLst>
                                          <p:attrName>ppt_h</p:attrName>
                                        </p:attrNameLst>
                                      </p:cBhvr>
                                      <p:tavLst>
                                        <p:tav tm="0">
                                          <p:val>
                                            <p:fltVal val="0"/>
                                          </p:val>
                                        </p:tav>
                                        <p:tav tm="100000">
                                          <p:val>
                                            <p:strVal val="#ppt_h"/>
                                          </p:val>
                                        </p:tav>
                                      </p:tavLst>
                                    </p:anim>
                                    <p:anim calcmode="lin" valueType="num">
                                      <p:cBhvr>
                                        <p:cTn id="14" dur="1000" fill="hold"/>
                                        <p:tgtEl>
                                          <p:spTgt spid="10"/>
                                        </p:tgtEl>
                                        <p:attrNameLst>
                                          <p:attrName>style.rotation</p:attrName>
                                        </p:attrNameLst>
                                      </p:cBhvr>
                                      <p:tavLst>
                                        <p:tav tm="0">
                                          <p:val>
                                            <p:fltVal val="90"/>
                                          </p:val>
                                        </p:tav>
                                        <p:tav tm="100000">
                                          <p:val>
                                            <p:fltVal val="0"/>
                                          </p:val>
                                        </p:tav>
                                      </p:tavLst>
                                    </p:anim>
                                    <p:animEffect transition="in" filter="fade">
                                      <p:cBhvr>
                                        <p:cTn id="15" dur="1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randombar(horizontal)">
                                      <p:cBhvr>
                                        <p:cTn id="20" dur="500"/>
                                        <p:tgtEl>
                                          <p:spTgt spid="2050"/>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1000" fill="hold"/>
                                        <p:tgtEl>
                                          <p:spTgt spid="8"/>
                                        </p:tgtEl>
                                        <p:attrNameLst>
                                          <p:attrName>ppt_w</p:attrName>
                                        </p:attrNameLst>
                                      </p:cBhvr>
                                      <p:tavLst>
                                        <p:tav tm="0">
                                          <p:val>
                                            <p:fltVal val="0"/>
                                          </p:val>
                                        </p:tav>
                                        <p:tav tm="100000">
                                          <p:val>
                                            <p:strVal val="#ppt_w"/>
                                          </p:val>
                                        </p:tav>
                                      </p:tavLst>
                                    </p:anim>
                                    <p:anim calcmode="lin" valueType="num">
                                      <p:cBhvr>
                                        <p:cTn id="34" dur="1000" fill="hold"/>
                                        <p:tgtEl>
                                          <p:spTgt spid="8"/>
                                        </p:tgtEl>
                                        <p:attrNameLst>
                                          <p:attrName>ppt_h</p:attrName>
                                        </p:attrNameLst>
                                      </p:cBhvr>
                                      <p:tavLst>
                                        <p:tav tm="0">
                                          <p:val>
                                            <p:fltVal val="0"/>
                                          </p:val>
                                        </p:tav>
                                        <p:tav tm="100000">
                                          <p:val>
                                            <p:strVal val="#ppt_h"/>
                                          </p:val>
                                        </p:tav>
                                      </p:tavLst>
                                    </p:anim>
                                    <p:anim calcmode="lin" valueType="num">
                                      <p:cBhvr>
                                        <p:cTn id="35" dur="1000" fill="hold"/>
                                        <p:tgtEl>
                                          <p:spTgt spid="8"/>
                                        </p:tgtEl>
                                        <p:attrNameLst>
                                          <p:attrName>style.rotation</p:attrName>
                                        </p:attrNameLst>
                                      </p:cBhvr>
                                      <p:tavLst>
                                        <p:tav tm="0">
                                          <p:val>
                                            <p:fltVal val="90"/>
                                          </p:val>
                                        </p:tav>
                                        <p:tav tm="100000">
                                          <p:val>
                                            <p:fltVal val="0"/>
                                          </p:val>
                                        </p:tav>
                                      </p:tavLst>
                                    </p:anim>
                                    <p:animEffect transition="in" filter="fade">
                                      <p:cBhvr>
                                        <p:cTn id="36" dur="10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4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334" y="239713"/>
            <a:ext cx="5343525" cy="475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713" y="239713"/>
            <a:ext cx="5676900" cy="5876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8784077" y="1750979"/>
            <a:ext cx="2363821" cy="4863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289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randombar(horizontal)">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randombar(horizontal)">
                                      <p:cBhvr>
                                        <p:cTn id="12" dur="500"/>
                                        <p:tgtEl>
                                          <p:spTgt spid="19459"/>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210" y="220519"/>
            <a:ext cx="4824517" cy="6263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933" y="93878"/>
            <a:ext cx="5614988" cy="651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1799617" y="6293796"/>
            <a:ext cx="2986392"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63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randombar(horizontal)">
                                      <p:cBhvr>
                                        <p:cTn id="7" dur="500"/>
                                        <p:tgtEl>
                                          <p:spTgt spid="2048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randombar(horizont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r>
              <a:rPr lang="zh-CN" altLang="en-US" sz="2000" b="1" dirty="0"/>
              <a:t>理想城邦的第二条法律：由于神是最好的，所以他们不会改变自身的样子</a:t>
            </a:r>
            <a:r>
              <a:rPr lang="en-US" altLang="zh-CN" sz="2000" b="1" dirty="0"/>
              <a:t>(form)</a:t>
            </a:r>
            <a:r>
              <a:rPr lang="zh-CN" altLang="en-US" sz="2000" b="1" dirty="0"/>
              <a:t>来欺骗我们，也不会用谎言来误导我们</a:t>
            </a:r>
            <a:r>
              <a:rPr lang="en-US" altLang="zh-CN" sz="2000" b="1" dirty="0"/>
              <a:t>383a3-5</a:t>
            </a:r>
            <a:r>
              <a:rPr lang="zh-CN" altLang="en-US" sz="2000" b="1" dirty="0"/>
              <a:t>。这样人们就不会为陌生人感到恐惧，或者用陌生人来恐吓孩子。</a:t>
            </a:r>
          </a:p>
          <a:p>
            <a:endParaRPr lang="zh-CN" altLang="en-US" dirty="0"/>
          </a:p>
        </p:txBody>
      </p:sp>
      <p:sp>
        <p:nvSpPr>
          <p:cNvPr id="4" name="Content Placeholder 3"/>
          <p:cNvSpPr>
            <a:spLocks noGrp="1"/>
          </p:cNvSpPr>
          <p:nvPr>
            <p:ph sz="half" idx="2"/>
          </p:nvPr>
        </p:nvSpPr>
        <p:spPr>
          <a:xfrm>
            <a:off x="6488644" y="4978281"/>
            <a:ext cx="5040000" cy="812920"/>
          </a:xfrm>
        </p:spPr>
        <p:txBody>
          <a:bodyPr>
            <a:normAutofit/>
          </a:bodyPr>
          <a:lstStyle/>
          <a:p>
            <a:endParaRPr lang="zh-CN" altLang="en-US" dirty="0"/>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2568" y="387231"/>
            <a:ext cx="5457825" cy="459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6342434" y="2966936"/>
            <a:ext cx="4581728" cy="291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6342434" y="3171217"/>
            <a:ext cx="4581728" cy="5836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342434" y="3463047"/>
            <a:ext cx="4581728"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278238" y="4416357"/>
            <a:ext cx="1186775"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871625" y="4669277"/>
            <a:ext cx="2052537" cy="97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199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1507"/>
                                        </p:tgtEl>
                                        <p:attrNameLst>
                                          <p:attrName>style.visibility</p:attrName>
                                        </p:attrNameLst>
                                      </p:cBhvr>
                                      <p:to>
                                        <p:strVal val="visible"/>
                                      </p:to>
                                    </p:set>
                                    <p:animEffect transition="in" filter="randombar(horizontal)">
                                      <p:cBhvr>
                                        <p:cTn id="12" dur="500"/>
                                        <p:tgtEl>
                                          <p:spTgt spid="21507"/>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fltVal val="0"/>
                                          </p:val>
                                        </p:tav>
                                        <p:tav tm="100000">
                                          <p:val>
                                            <p:strVal val="#ppt_w"/>
                                          </p:val>
                                        </p:tav>
                                      </p:tavLst>
                                    </p:anim>
                                    <p:anim calcmode="lin" valueType="num">
                                      <p:cBhvr>
                                        <p:cTn id="26" dur="1000" fill="hold"/>
                                        <p:tgtEl>
                                          <p:spTgt spid="9"/>
                                        </p:tgtEl>
                                        <p:attrNameLst>
                                          <p:attrName>ppt_h</p:attrName>
                                        </p:attrNameLst>
                                      </p:cBhvr>
                                      <p:tavLst>
                                        <p:tav tm="0">
                                          <p:val>
                                            <p:fltVal val="0"/>
                                          </p:val>
                                        </p:tav>
                                        <p:tav tm="100000">
                                          <p:val>
                                            <p:strVal val="#ppt_h"/>
                                          </p:val>
                                        </p:tav>
                                      </p:tavLst>
                                    </p:anim>
                                    <p:anim calcmode="lin" valueType="num">
                                      <p:cBhvr>
                                        <p:cTn id="27" dur="1000" fill="hold"/>
                                        <p:tgtEl>
                                          <p:spTgt spid="9"/>
                                        </p:tgtEl>
                                        <p:attrNameLst>
                                          <p:attrName>style.rotation</p:attrName>
                                        </p:attrNameLst>
                                      </p:cBhvr>
                                      <p:tavLst>
                                        <p:tav tm="0">
                                          <p:val>
                                            <p:fltVal val="90"/>
                                          </p:val>
                                        </p:tav>
                                        <p:tav tm="100000">
                                          <p:val>
                                            <p:fltVal val="0"/>
                                          </p:val>
                                        </p:tav>
                                      </p:tavLst>
                                    </p:anim>
                                    <p:animEffect transition="in" filter="fade">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1000" fill="hold"/>
                                        <p:tgtEl>
                                          <p:spTgt spid="13"/>
                                        </p:tgtEl>
                                        <p:attrNameLst>
                                          <p:attrName>ppt_w</p:attrName>
                                        </p:attrNameLst>
                                      </p:cBhvr>
                                      <p:tavLst>
                                        <p:tav tm="0">
                                          <p:val>
                                            <p:fltVal val="0"/>
                                          </p:val>
                                        </p:tav>
                                        <p:tav tm="100000">
                                          <p:val>
                                            <p:strVal val="#ppt_w"/>
                                          </p:val>
                                        </p:tav>
                                      </p:tavLst>
                                    </p:anim>
                                    <p:anim calcmode="lin" valueType="num">
                                      <p:cBhvr>
                                        <p:cTn id="42" dur="1000" fill="hold"/>
                                        <p:tgtEl>
                                          <p:spTgt spid="13"/>
                                        </p:tgtEl>
                                        <p:attrNameLst>
                                          <p:attrName>ppt_h</p:attrName>
                                        </p:attrNameLst>
                                      </p:cBhvr>
                                      <p:tavLst>
                                        <p:tav tm="0">
                                          <p:val>
                                            <p:fltVal val="0"/>
                                          </p:val>
                                        </p:tav>
                                        <p:tav tm="100000">
                                          <p:val>
                                            <p:strVal val="#ppt_h"/>
                                          </p:val>
                                        </p:tav>
                                      </p:tavLst>
                                    </p:anim>
                                    <p:anim calcmode="lin" valueType="num">
                                      <p:cBhvr>
                                        <p:cTn id="43" dur="1000" fill="hold"/>
                                        <p:tgtEl>
                                          <p:spTgt spid="13"/>
                                        </p:tgtEl>
                                        <p:attrNameLst>
                                          <p:attrName>style.rotation</p:attrName>
                                        </p:attrNameLst>
                                      </p:cBhvr>
                                      <p:tavLst>
                                        <p:tav tm="0">
                                          <p:val>
                                            <p:fltVal val="90"/>
                                          </p:val>
                                        </p:tav>
                                        <p:tav tm="100000">
                                          <p:val>
                                            <p:fltVal val="0"/>
                                          </p:val>
                                        </p:tav>
                                      </p:tavLst>
                                    </p:anim>
                                    <p:animEffect transition="in" filter="fade">
                                      <p:cBhvr>
                                        <p:cTn id="44" dur="10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1000" fill="hold"/>
                                        <p:tgtEl>
                                          <p:spTgt spid="15"/>
                                        </p:tgtEl>
                                        <p:attrNameLst>
                                          <p:attrName>ppt_w</p:attrName>
                                        </p:attrNameLst>
                                      </p:cBhvr>
                                      <p:tavLst>
                                        <p:tav tm="0">
                                          <p:val>
                                            <p:fltVal val="0"/>
                                          </p:val>
                                        </p:tav>
                                        <p:tav tm="100000">
                                          <p:val>
                                            <p:strVal val="#ppt_w"/>
                                          </p:val>
                                        </p:tav>
                                      </p:tavLst>
                                    </p:anim>
                                    <p:anim calcmode="lin" valueType="num">
                                      <p:cBhvr>
                                        <p:cTn id="50" dur="1000" fill="hold"/>
                                        <p:tgtEl>
                                          <p:spTgt spid="15"/>
                                        </p:tgtEl>
                                        <p:attrNameLst>
                                          <p:attrName>ppt_h</p:attrName>
                                        </p:attrNameLst>
                                      </p:cBhvr>
                                      <p:tavLst>
                                        <p:tav tm="0">
                                          <p:val>
                                            <p:fltVal val="0"/>
                                          </p:val>
                                        </p:tav>
                                        <p:tav tm="100000">
                                          <p:val>
                                            <p:strVal val="#ppt_h"/>
                                          </p:val>
                                        </p:tav>
                                      </p:tavLst>
                                    </p:anim>
                                    <p:anim calcmode="lin" valueType="num">
                                      <p:cBhvr>
                                        <p:cTn id="51" dur="1000" fill="hold"/>
                                        <p:tgtEl>
                                          <p:spTgt spid="15"/>
                                        </p:tgtEl>
                                        <p:attrNameLst>
                                          <p:attrName>style.rotation</p:attrName>
                                        </p:attrNameLst>
                                      </p:cBhvr>
                                      <p:tavLst>
                                        <p:tav tm="0">
                                          <p:val>
                                            <p:fltVal val="90"/>
                                          </p:val>
                                        </p:tav>
                                        <p:tav tm="100000">
                                          <p:val>
                                            <p:fltVal val="0"/>
                                          </p:val>
                                        </p:tav>
                                      </p:tavLst>
                                    </p:anim>
                                    <p:animEffect transition="in" filter="fade">
                                      <p:cBhvr>
                                        <p:cTn id="5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488644" y="1869601"/>
            <a:ext cx="1857688" cy="3921600"/>
          </a:xfrm>
        </p:spPr>
        <p:txBody>
          <a:bodyPr>
            <a:normAutofit/>
          </a:bodyPr>
          <a:lstStyle/>
          <a:p>
            <a:r>
              <a:rPr lang="zh-CN" altLang="en-US" sz="2000" b="1" dirty="0"/>
              <a:t>真正的欺妄</a:t>
            </a:r>
            <a:endParaRPr lang="en-US" altLang="zh-CN" sz="2000" b="1" dirty="0"/>
          </a:p>
          <a:p>
            <a:r>
              <a:rPr lang="zh-CN" altLang="en-US" sz="2000" b="1" dirty="0"/>
              <a:t>灵魂的无知</a:t>
            </a:r>
            <a:endParaRPr lang="en-US" altLang="zh-CN" sz="2000" b="1" dirty="0"/>
          </a:p>
          <a:p>
            <a:r>
              <a:rPr lang="zh-CN" altLang="en-US" sz="2000" b="1" dirty="0"/>
              <a:t>人神共愤</a:t>
            </a:r>
            <a:endParaRPr lang="en-US" altLang="zh-CN" sz="2000" b="1"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859" y="140999"/>
            <a:ext cx="5819775" cy="639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a:xfrm flipV="1">
            <a:off x="1079770" y="525294"/>
            <a:ext cx="1750979" cy="1945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324911" y="2227634"/>
            <a:ext cx="3463046" cy="194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196502" y="2490281"/>
            <a:ext cx="3404681" cy="9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937523" y="1877757"/>
            <a:ext cx="2395201" cy="1272143"/>
          </a:xfrm>
          <a:prstGeom prst="rect">
            <a:avLst/>
          </a:prstGeom>
          <a:noFill/>
        </p:spPr>
        <p:txBody>
          <a:bodyPr wrap="square" rtlCol="0">
            <a:spAutoFit/>
          </a:bodyPr>
          <a:lstStyle/>
          <a:p>
            <a:pPr marL="285750" indent="-285750">
              <a:spcAft>
                <a:spcPts val="1000"/>
              </a:spcAft>
              <a:buClr>
                <a:schemeClr val="tx1"/>
              </a:buClr>
              <a:buSzPct val="100000"/>
              <a:buFont typeface="Arial"/>
              <a:buChar char="•"/>
            </a:pPr>
            <a:r>
              <a:rPr lang="zh-CN" altLang="en-US" sz="2000" b="1" dirty="0"/>
              <a:t>语言的欺妄</a:t>
            </a:r>
            <a:endParaRPr lang="en-US" altLang="zh-CN" sz="2000" b="1" dirty="0"/>
          </a:p>
          <a:p>
            <a:pPr marL="285750" indent="-285750">
              <a:spcAft>
                <a:spcPts val="1000"/>
              </a:spcAft>
              <a:buClr>
                <a:schemeClr val="tx1"/>
              </a:buClr>
              <a:buSzPct val="100000"/>
              <a:buFont typeface="Arial"/>
              <a:buChar char="•"/>
            </a:pPr>
            <a:r>
              <a:rPr lang="zh-CN" altLang="en-US" sz="2000" b="1" dirty="0"/>
              <a:t>模拟灵魂的病态</a:t>
            </a:r>
            <a:endParaRPr lang="en-US" altLang="zh-CN" sz="2000" b="1" dirty="0"/>
          </a:p>
          <a:p>
            <a:pPr marL="285750" indent="-285750">
              <a:spcAft>
                <a:spcPts val="1000"/>
              </a:spcAft>
              <a:buClr>
                <a:schemeClr val="tx1"/>
              </a:buClr>
              <a:buSzPct val="100000"/>
              <a:buFont typeface="Arial"/>
              <a:buChar char="•"/>
            </a:pPr>
            <a:r>
              <a:rPr lang="zh-CN" altLang="en-US" sz="2000" b="1" dirty="0"/>
              <a:t>有用</a:t>
            </a:r>
          </a:p>
        </p:txBody>
      </p:sp>
      <p:cxnSp>
        <p:nvCxnSpPr>
          <p:cNvPr id="13" name="Straight Connector 12"/>
          <p:cNvCxnSpPr/>
          <p:nvPr/>
        </p:nvCxnSpPr>
        <p:spPr>
          <a:xfrm>
            <a:off x="1517515" y="2723745"/>
            <a:ext cx="395915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96502" y="2976664"/>
            <a:ext cx="4114800"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18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randombar(horizontal)">
                                      <p:cBhvr>
                                        <p:cTn id="7" dur="500"/>
                                        <p:tgtEl>
                                          <p:spTgt spid="2253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1000" fill="hold"/>
                                        <p:tgtEl>
                                          <p:spTgt spid="13"/>
                                        </p:tgtEl>
                                        <p:attrNameLst>
                                          <p:attrName>ppt_w</p:attrName>
                                        </p:attrNameLst>
                                      </p:cBhvr>
                                      <p:tavLst>
                                        <p:tav tm="0">
                                          <p:val>
                                            <p:fltVal val="0"/>
                                          </p:val>
                                        </p:tav>
                                        <p:tav tm="100000">
                                          <p:val>
                                            <p:strVal val="#ppt_w"/>
                                          </p:val>
                                        </p:tav>
                                      </p:tavLst>
                                    </p:anim>
                                    <p:anim calcmode="lin" valueType="num">
                                      <p:cBhvr>
                                        <p:cTn id="37" dur="1000" fill="hold"/>
                                        <p:tgtEl>
                                          <p:spTgt spid="13"/>
                                        </p:tgtEl>
                                        <p:attrNameLst>
                                          <p:attrName>ppt_h</p:attrName>
                                        </p:attrNameLst>
                                      </p:cBhvr>
                                      <p:tavLst>
                                        <p:tav tm="0">
                                          <p:val>
                                            <p:fltVal val="0"/>
                                          </p:val>
                                        </p:tav>
                                        <p:tav tm="100000">
                                          <p:val>
                                            <p:strVal val="#ppt_h"/>
                                          </p:val>
                                        </p:tav>
                                      </p:tavLst>
                                    </p:anim>
                                    <p:anim calcmode="lin" valueType="num">
                                      <p:cBhvr>
                                        <p:cTn id="38" dur="1000" fill="hold"/>
                                        <p:tgtEl>
                                          <p:spTgt spid="13"/>
                                        </p:tgtEl>
                                        <p:attrNameLst>
                                          <p:attrName>style.rotation</p:attrName>
                                        </p:attrNameLst>
                                      </p:cBhvr>
                                      <p:tavLst>
                                        <p:tav tm="0">
                                          <p:val>
                                            <p:fltVal val="90"/>
                                          </p:val>
                                        </p:tav>
                                        <p:tav tm="100000">
                                          <p:val>
                                            <p:fltVal val="0"/>
                                          </p:val>
                                        </p:tav>
                                      </p:tavLst>
                                    </p:anim>
                                    <p:animEffect transition="in" filter="fade">
                                      <p:cBhvr>
                                        <p:cTn id="39" dur="10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1000" fill="hold"/>
                                        <p:tgtEl>
                                          <p:spTgt spid="15"/>
                                        </p:tgtEl>
                                        <p:attrNameLst>
                                          <p:attrName>ppt_w</p:attrName>
                                        </p:attrNameLst>
                                      </p:cBhvr>
                                      <p:tavLst>
                                        <p:tav tm="0">
                                          <p:val>
                                            <p:fltVal val="0"/>
                                          </p:val>
                                        </p:tav>
                                        <p:tav tm="100000">
                                          <p:val>
                                            <p:strVal val="#ppt_w"/>
                                          </p:val>
                                        </p:tav>
                                      </p:tavLst>
                                    </p:anim>
                                    <p:anim calcmode="lin" valueType="num">
                                      <p:cBhvr>
                                        <p:cTn id="45" dur="1000" fill="hold"/>
                                        <p:tgtEl>
                                          <p:spTgt spid="15"/>
                                        </p:tgtEl>
                                        <p:attrNameLst>
                                          <p:attrName>ppt_h</p:attrName>
                                        </p:attrNameLst>
                                      </p:cBhvr>
                                      <p:tavLst>
                                        <p:tav tm="0">
                                          <p:val>
                                            <p:fltVal val="0"/>
                                          </p:val>
                                        </p:tav>
                                        <p:tav tm="100000">
                                          <p:val>
                                            <p:strVal val="#ppt_h"/>
                                          </p:val>
                                        </p:tav>
                                      </p:tavLst>
                                    </p:anim>
                                    <p:anim calcmode="lin" valueType="num">
                                      <p:cBhvr>
                                        <p:cTn id="46" dur="1000" fill="hold"/>
                                        <p:tgtEl>
                                          <p:spTgt spid="15"/>
                                        </p:tgtEl>
                                        <p:attrNameLst>
                                          <p:attrName>style.rotation</p:attrName>
                                        </p:attrNameLst>
                                      </p:cBhvr>
                                      <p:tavLst>
                                        <p:tav tm="0">
                                          <p:val>
                                            <p:fltVal val="90"/>
                                          </p:val>
                                        </p:tav>
                                        <p:tav tm="100000">
                                          <p:val>
                                            <p:fltVal val="0"/>
                                          </p:val>
                                        </p:tav>
                                      </p:tavLst>
                                    </p:anim>
                                    <p:animEffect transition="in" filter="fade">
                                      <p:cBhvr>
                                        <p:cTn id="47" dur="10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circle(in)">
                                      <p:cBhvr>
                                        <p:cTn id="52" dur="2000"/>
                                        <p:tgtEl>
                                          <p:spTgt spid="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11">
                                            <p:txEl>
                                              <p:pRg st="0" end="0"/>
                                            </p:txEl>
                                          </p:spTgt>
                                        </p:tgtEl>
                                        <p:attrNameLst>
                                          <p:attrName>style.visibility</p:attrName>
                                        </p:attrNameLst>
                                      </p:cBhvr>
                                      <p:to>
                                        <p:strVal val="visible"/>
                                      </p:to>
                                    </p:set>
                                    <p:animEffect transition="in" filter="circle(in)">
                                      <p:cBhvr>
                                        <p:cTn id="57" dur="2000"/>
                                        <p:tgtEl>
                                          <p:spTgt spid="1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62" dur="500"/>
                                        <p:tgtEl>
                                          <p:spTgt spid="4">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67" dur="500"/>
                                        <p:tgtEl>
                                          <p:spTgt spid="11">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2" dur="500"/>
                                        <p:tgtEl>
                                          <p:spTgt spid="4">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nodeType="clickEffect">
                                  <p:stCondLst>
                                    <p:cond delay="0"/>
                                  </p:stCondLst>
                                  <p:childTnLst>
                                    <p:set>
                                      <p:cBhvr>
                                        <p:cTn id="76"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7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2355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265760" y="125953"/>
            <a:ext cx="5446342" cy="26380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2"/>
          </p:nvPr>
        </p:nvSpPr>
        <p:spPr>
          <a:xfrm>
            <a:off x="6822941" y="3035658"/>
            <a:ext cx="5040000" cy="2814536"/>
          </a:xfrm>
        </p:spPr>
        <p:txBody>
          <a:bodyPr/>
          <a:lstStyle/>
          <a:p>
            <a:r>
              <a:rPr lang="zh-CN" altLang="en-US" sz="2000" b="1" dirty="0"/>
              <a:t>在柏拉图之前，已经有诗人塞诺芬尼 </a:t>
            </a:r>
            <a:r>
              <a:rPr lang="en-US" altLang="zh-CN" sz="2000" b="1" dirty="0"/>
              <a:t>(Xenophanes c.570-475 </a:t>
            </a:r>
            <a:r>
              <a:rPr lang="en-US" altLang="zh-CN" sz="2000" b="1" dirty="0" err="1"/>
              <a:t>bc</a:t>
            </a:r>
            <a:r>
              <a:rPr lang="en-US" altLang="zh-CN" sz="2000" b="1" dirty="0"/>
              <a:t>)</a:t>
            </a:r>
            <a:r>
              <a:rPr lang="zh-CN" altLang="en-US" sz="2000" b="1" dirty="0"/>
              <a:t>反对传统的诗歌中与人同形同性的神，认为神是唯一的，与人完全不相类的。</a:t>
            </a:r>
          </a:p>
          <a:p>
            <a:r>
              <a:rPr lang="zh-CN" altLang="en-US" sz="2000" b="1" dirty="0"/>
              <a:t>塞诺芬尼开创了西方的理神论（</a:t>
            </a:r>
            <a:r>
              <a:rPr lang="en-US" altLang="zh-CN" sz="2000" b="1" dirty="0"/>
              <a:t>Deism</a:t>
            </a:r>
            <a:r>
              <a:rPr lang="zh-CN" altLang="en-US" sz="2000" b="1" dirty="0"/>
              <a:t>）传统。</a:t>
            </a:r>
          </a:p>
          <a:p>
            <a:endParaRPr lang="zh-CN"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04" y="125953"/>
            <a:ext cx="5383212" cy="635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a:xfrm>
            <a:off x="2363821" y="1410511"/>
            <a:ext cx="1634247" cy="291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64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randombar(horizontal)">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3554"/>
                                        </p:tgtEl>
                                        <p:attrNameLst>
                                          <p:attrName>style.visibility</p:attrName>
                                        </p:attrNameLst>
                                      </p:cBhvr>
                                      <p:to>
                                        <p:strVal val="visible"/>
                                      </p:to>
                                    </p:set>
                                    <p:animEffect transition="in" filter="randombar(horizontal)">
                                      <p:cBhvr>
                                        <p:cTn id="20" dur="500"/>
                                        <p:tgtEl>
                                          <p:spTgt spid="2355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5" dur="500"/>
                                        <p:tgtEl>
                                          <p:spTgt spid="4">
                                            <p:txEl>
                                              <p:pRg st="0" end="0"/>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8"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a:xfrm>
            <a:off x="685802" y="1869600"/>
            <a:ext cx="5040000" cy="4452542"/>
          </a:xfrm>
        </p:spPr>
        <p:txBody>
          <a:bodyPr/>
          <a:lstStyle/>
          <a:p>
            <a:r>
              <a:rPr lang="en-US" altLang="zh-CN" sz="2000" b="1" dirty="0"/>
              <a:t>《</a:t>
            </a:r>
            <a:r>
              <a:rPr lang="zh-CN" altLang="en-US" sz="2000" b="1" dirty="0"/>
              <a:t>名哲言行录</a:t>
            </a:r>
            <a:r>
              <a:rPr lang="en-US" altLang="zh-CN" sz="2000" b="1" dirty="0"/>
              <a:t>》</a:t>
            </a:r>
            <a:r>
              <a:rPr lang="zh-CN" altLang="en-US" sz="2000" b="1" dirty="0"/>
              <a:t>：“塞诺芬尼写了一些叙事诗，哀歌和讽刺诗来反对赫西俄德和荷马，斥责人们对于神灵的全部看法。”</a:t>
            </a:r>
          </a:p>
          <a:p>
            <a:r>
              <a:rPr lang="zh-CN" altLang="en-US" sz="2000" b="1" dirty="0"/>
              <a:t>“荷马和赫西奥德将人间的无耻丑行都加在诸神身上：偷盗、奸淫、彼此欺诈。”</a:t>
            </a:r>
          </a:p>
          <a:p>
            <a:r>
              <a:rPr lang="zh-CN" altLang="en-US" sz="2000" b="1" dirty="0"/>
              <a:t>“凡人们以为诸神是诞生出来的，穿着衣服，并且有同他们一样的容貌和声音。”</a:t>
            </a:r>
          </a:p>
          <a:p>
            <a:r>
              <a:rPr lang="zh-CN" altLang="en-US" sz="2000" b="1" dirty="0"/>
              <a:t>“认为诸神中有一个统治者，那是渎神。无论在哪一方面，诸神都不欠缺任何东西。”</a:t>
            </a:r>
          </a:p>
          <a:p>
            <a:endParaRPr lang="zh-CN" altLang="en-US" dirty="0"/>
          </a:p>
        </p:txBody>
      </p:sp>
      <p:sp>
        <p:nvSpPr>
          <p:cNvPr id="4" name="Content Placeholder 3"/>
          <p:cNvSpPr>
            <a:spLocks noGrp="1"/>
          </p:cNvSpPr>
          <p:nvPr>
            <p:ph sz="half" idx="2"/>
          </p:nvPr>
        </p:nvSpPr>
        <p:spPr/>
        <p:txBody>
          <a:bodyPr/>
          <a:lstStyle/>
          <a:p>
            <a:r>
              <a:rPr lang="zh-CN" altLang="en-US" sz="2000" b="1" dirty="0"/>
              <a:t>“塞诺芬尼说，太阳发出的热是天上一切事物产生的主要原因。海洋产生湿气</a:t>
            </a:r>
            <a:r>
              <a:rPr lang="en-US" altLang="zh-CN" sz="2000" b="1" dirty="0"/>
              <a:t>……</a:t>
            </a:r>
            <a:r>
              <a:rPr lang="zh-CN" altLang="en-US" sz="2000" b="1" dirty="0"/>
              <a:t>凝聚成雾，继而成云，云积厚了便下起雨来。”</a:t>
            </a:r>
          </a:p>
          <a:p>
            <a:r>
              <a:rPr lang="zh-CN" altLang="en-US" sz="2000" b="1" dirty="0"/>
              <a:t>“塞诺芬尼认为，世界不是产生出来的，而是永恒的，不可毁灭的。”</a:t>
            </a:r>
          </a:p>
          <a:p>
            <a:endParaRPr lang="zh-CN" altLang="en-US" dirty="0"/>
          </a:p>
        </p:txBody>
      </p:sp>
    </p:spTree>
    <p:extLst>
      <p:ext uri="{BB962C8B-B14F-4D97-AF65-F5344CB8AC3E}">
        <p14:creationId xmlns:p14="http://schemas.microsoft.com/office/powerpoint/2010/main" val="151356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3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a:xfrm>
            <a:off x="685802" y="1869600"/>
            <a:ext cx="5040000" cy="4845832"/>
          </a:xfrm>
        </p:spPr>
        <p:txBody>
          <a:bodyPr>
            <a:normAutofit/>
          </a:bodyPr>
          <a:lstStyle/>
          <a:p>
            <a:pPr>
              <a:lnSpc>
                <a:spcPct val="120000"/>
              </a:lnSpc>
            </a:pPr>
            <a:r>
              <a:rPr lang="zh-CN" altLang="en-US" sz="2200" b="1" dirty="0"/>
              <a:t>“有一个神，它是神和人中间最伟大的；它无论在形体上或心灵上都不象凡人。”</a:t>
            </a:r>
          </a:p>
          <a:p>
            <a:pPr>
              <a:lnSpc>
                <a:spcPct val="120000"/>
              </a:lnSpc>
            </a:pPr>
            <a:r>
              <a:rPr lang="zh-CN" altLang="en-US" sz="2200" b="1" dirty="0"/>
              <a:t>“神是作为一个整体在看，在知，在听。”</a:t>
            </a:r>
          </a:p>
          <a:p>
            <a:pPr>
              <a:lnSpc>
                <a:spcPct val="120000"/>
              </a:lnSpc>
            </a:pPr>
            <a:r>
              <a:rPr lang="zh-CN" altLang="en-US" sz="2200" b="1" dirty="0"/>
              <a:t>“神永远在同一个地方，根本不动。”</a:t>
            </a:r>
          </a:p>
          <a:p>
            <a:pPr>
              <a:lnSpc>
                <a:spcPct val="120000"/>
              </a:lnSpc>
            </a:pPr>
            <a:r>
              <a:rPr lang="zh-CN" altLang="en-US" sz="2200" b="1" dirty="0"/>
              <a:t>“神用不着化力气，而是以他的心灵的思想使万物活动。”</a:t>
            </a:r>
          </a:p>
          <a:p>
            <a:endParaRPr lang="zh-CN" altLang="en-US" dirty="0"/>
          </a:p>
        </p:txBody>
      </p:sp>
      <p:sp>
        <p:nvSpPr>
          <p:cNvPr id="4" name="Content Placeholder 3"/>
          <p:cNvSpPr>
            <a:spLocks noGrp="1"/>
          </p:cNvSpPr>
          <p:nvPr>
            <p:ph sz="half" idx="2"/>
          </p:nvPr>
        </p:nvSpPr>
        <p:spPr>
          <a:xfrm>
            <a:off x="6466200" y="1842561"/>
            <a:ext cx="5040000" cy="5015439"/>
          </a:xfrm>
        </p:spPr>
        <p:txBody>
          <a:bodyPr>
            <a:normAutofit/>
          </a:bodyPr>
          <a:lstStyle/>
          <a:p>
            <a:r>
              <a:rPr lang="zh-CN" altLang="en-US" sz="2000" b="1" dirty="0"/>
              <a:t>神是不动的；</a:t>
            </a:r>
          </a:p>
          <a:p>
            <a:r>
              <a:rPr lang="zh-CN" altLang="en-US" sz="2000" b="1" dirty="0"/>
              <a:t>神没有生灭；</a:t>
            </a:r>
          </a:p>
          <a:p>
            <a:r>
              <a:rPr lang="zh-CN" altLang="en-US" sz="2000" b="1" dirty="0"/>
              <a:t>神没有和人一样的形体和器官；</a:t>
            </a:r>
          </a:p>
          <a:p>
            <a:r>
              <a:rPr lang="zh-CN" altLang="en-US" sz="2000" b="1" dirty="0"/>
              <a:t>神是一个单一的整体、全体；</a:t>
            </a:r>
          </a:p>
          <a:p>
            <a:r>
              <a:rPr lang="zh-CN" altLang="en-US" sz="2000" b="1" dirty="0"/>
              <a:t>神有心灵和思想，但不象人那样需要认识器官才能认识；</a:t>
            </a:r>
          </a:p>
          <a:p>
            <a:r>
              <a:rPr lang="zh-CN" altLang="en-US" sz="2000" b="1" dirty="0"/>
              <a:t>神不动，但他知道世界上的事，能靠心灵左右事情的进程。</a:t>
            </a:r>
          </a:p>
          <a:p>
            <a:r>
              <a:rPr lang="zh-CN" altLang="en-US" sz="2000" b="1" dirty="0"/>
              <a:t>塞诺芬尼以古希腊的哲学成果，对神的问题进行探讨，他的哲学是关于神的哲学，是最早的理性神学。</a:t>
            </a:r>
          </a:p>
          <a:p>
            <a:r>
              <a:rPr lang="zh-CN" altLang="en-US" sz="2000" b="1" dirty="0"/>
              <a:t>他所说的“一神”是以整个宇宙为对象去思索出来的产物。</a:t>
            </a:r>
          </a:p>
        </p:txBody>
      </p:sp>
    </p:spTree>
    <p:extLst>
      <p:ext uri="{BB962C8B-B14F-4D97-AF65-F5344CB8AC3E}">
        <p14:creationId xmlns:p14="http://schemas.microsoft.com/office/powerpoint/2010/main" val="110193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1" dur="500"/>
                                        <p:tgtEl>
                                          <p:spTgt spid="4">
                                            <p:txEl>
                                              <p:pRg st="0" end="0"/>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4" dur="500"/>
                                        <p:tgtEl>
                                          <p:spTgt spid="4">
                                            <p:txEl>
                                              <p:pRg st="1" end="1"/>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7" dur="500"/>
                                        <p:tgtEl>
                                          <p:spTgt spid="4">
                                            <p:txEl>
                                              <p:pRg st="2" end="2"/>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randombar(horizontal)">
                                      <p:cBhvr>
                                        <p:cTn id="30" dur="500"/>
                                        <p:tgtEl>
                                          <p:spTgt spid="4">
                                            <p:txEl>
                                              <p:pRg st="3" end="3"/>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3" dur="500"/>
                                        <p:tgtEl>
                                          <p:spTgt spid="4">
                                            <p:txEl>
                                              <p:pRg st="4" end="4"/>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6" dur="500"/>
                                        <p:tgtEl>
                                          <p:spTgt spid="4">
                                            <p:txEl>
                                              <p:pRg st="5" end="5"/>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randombar(horizontal)">
                                      <p:cBhvr>
                                        <p:cTn id="39" dur="500"/>
                                        <p:tgtEl>
                                          <p:spTgt spid="4">
                                            <p:txEl>
                                              <p:pRg st="6" end="6"/>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randombar(horizontal)">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3E21D3-7788-4819-8437-C5C4B0C5D46D}">
  <ds:schemaRefs>
    <ds:schemaRef ds:uri="fb0879af-3eba-417a-a55a-ffe6dcd6ca77"/>
    <ds:schemaRef ds:uri="http://purl.org/dc/dcmitype/"/>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6dc4bcd6-49db-4c07-9060-8acfc67cef9f"/>
    <ds:schemaRef ds:uri="http://purl.org/dc/terms/"/>
    <ds:schemaRef ds:uri="http://schemas.microsoft.com/office/infopath/2007/PartnerControls"/>
    <ds:schemaRef ds:uri="http://schemas.microsoft.com/sharepoint/v3"/>
    <ds:schemaRef ds:uri="http://www.w3.org/XML/1998/namespace"/>
  </ds:schemaRefs>
</ds:datastoreItem>
</file>

<file path=customXml/itemProps2.xml><?xml version="1.0" encoding="utf-8"?>
<ds:datastoreItem xmlns:ds="http://schemas.openxmlformats.org/officeDocument/2006/customXml" ds:itemID="{063CD11F-9FDB-4628-B708-63BFB2D681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BF972C-B81A-46A3-BFB2-A01F0B5DBC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2654</Words>
  <Application>Microsoft Office PowerPoint</Application>
  <PresentationFormat>宽屏</PresentationFormat>
  <Paragraphs>182</Paragraphs>
  <Slides>47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47</vt:i4>
      </vt:variant>
    </vt:vector>
  </HeadingPairs>
  <TitlesOfParts>
    <vt:vector size="53" baseType="lpstr">
      <vt:lpstr>Microsoft YaHei UI</vt:lpstr>
      <vt:lpstr>楷体</vt:lpstr>
      <vt:lpstr>SimSun</vt:lpstr>
      <vt:lpstr>Arial</vt:lpstr>
      <vt:lpstr>Times New Roman</vt:lpstr>
      <vt:lpstr>Default Design</vt:lpstr>
      <vt:lpstr>如何使用此模板</vt:lpstr>
      <vt:lpstr>第二卷</vt:lpstr>
      <vt:lpstr>PowerPoint 演示文稿</vt:lpstr>
      <vt:lpstr>三种善的区分</vt:lpstr>
      <vt:lpstr> 为什么要在“善”的框架下重新讨论正义？ </vt:lpstr>
      <vt:lpstr>PowerPoint 演示文稿</vt:lpstr>
      <vt:lpstr>1，人们认为正义是什么</vt:lpstr>
      <vt:lpstr>PowerPoint 演示文稿</vt:lpstr>
      <vt:lpstr>2，人们不是自愿要正义的</vt:lpstr>
      <vt:lpstr>PowerPoint 演示文稿</vt:lpstr>
      <vt:lpstr>3，不正义的人的生活得比正义的人更好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2，苏格拉底开始正义辩护</vt:lpstr>
      <vt:lpstr>苏格拉底的论证策略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两个城邦的比较</vt:lpstr>
      <vt:lpstr>护卫者的天性和教育</vt:lpstr>
      <vt:lpstr>PowerPoint 演示文稿</vt:lpstr>
      <vt:lpstr>PowerPoint 演示文稿</vt:lpstr>
      <vt:lpstr>如何养育和教育护卫者</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2020-02-08T12:01:34Z</dcterms:created>
  <dcterms:modified xsi:type="dcterms:W3CDTF">2025-09-25T12:29:10Z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