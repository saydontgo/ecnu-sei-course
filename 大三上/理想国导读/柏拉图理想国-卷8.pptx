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1" r:id="rId4"/>
  </p:sldMasterIdLst>
  <p:notesMasterIdLst>
    <p:notesMasterId r:id="rId35"/>
  </p:notesMasterIdLst>
  <p:handoutMasterIdLst>
    <p:handoutMasterId r:id="rId36"/>
  </p:handoutMasterIdLst>
  <p:sldIdLst>
    <p:sldId id="267" r:id="rId5"/>
    <p:sldId id="276" r:id="rId6"/>
    <p:sldId id="298" r:id="rId7"/>
    <p:sldId id="277" r:id="rId8"/>
    <p:sldId id="278" r:id="rId9"/>
    <p:sldId id="283" r:id="rId10"/>
    <p:sldId id="284" r:id="rId11"/>
    <p:sldId id="282" r:id="rId12"/>
    <p:sldId id="299" r:id="rId13"/>
    <p:sldId id="281" r:id="rId14"/>
    <p:sldId id="280" r:id="rId15"/>
    <p:sldId id="285" r:id="rId16"/>
    <p:sldId id="300" r:id="rId17"/>
    <p:sldId id="279" r:id="rId18"/>
    <p:sldId id="286" r:id="rId19"/>
    <p:sldId id="287" r:id="rId20"/>
    <p:sldId id="301" r:id="rId21"/>
    <p:sldId id="290" r:id="rId22"/>
    <p:sldId id="289" r:id="rId23"/>
    <p:sldId id="288" r:id="rId24"/>
    <p:sldId id="302" r:id="rId25"/>
    <p:sldId id="292" r:id="rId26"/>
    <p:sldId id="291" r:id="rId27"/>
    <p:sldId id="303" r:id="rId28"/>
    <p:sldId id="293" r:id="rId29"/>
    <p:sldId id="294" r:id="rId30"/>
    <p:sldId id="295" r:id="rId31"/>
    <p:sldId id="296" r:id="rId32"/>
    <p:sldId id="297" r:id="rId33"/>
    <p:sldId id="304" r:id="rId34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E98C57-C2E1-47B3-A356-514667ACF428}">
          <p14:sldIdLst>
            <p14:sldId id="267"/>
            <p14:sldId id="276"/>
            <p14:sldId id="298"/>
            <p14:sldId id="277"/>
            <p14:sldId id="278"/>
            <p14:sldId id="283"/>
            <p14:sldId id="284"/>
            <p14:sldId id="282"/>
            <p14:sldId id="299"/>
            <p14:sldId id="281"/>
            <p14:sldId id="280"/>
            <p14:sldId id="285"/>
            <p14:sldId id="300"/>
            <p14:sldId id="279"/>
            <p14:sldId id="286"/>
            <p14:sldId id="287"/>
            <p14:sldId id="301"/>
            <p14:sldId id="290"/>
            <p14:sldId id="289"/>
            <p14:sldId id="288"/>
            <p14:sldId id="302"/>
            <p14:sldId id="292"/>
            <p14:sldId id="291"/>
            <p14:sldId id="303"/>
            <p14:sldId id="293"/>
            <p14:sldId id="294"/>
            <p14:sldId id="295"/>
            <p14:sldId id="296"/>
            <p14:sldId id="297"/>
            <p14:sldId id="304"/>
          </p14:sldIdLst>
        </p14:section>
        <p14:section name="Untitled Section" id="{753F2989-73AA-4060-82EF-197568FF679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6" autoAdjust="0"/>
    <p:restoredTop sz="94087" autoAdjust="0"/>
  </p:normalViewPr>
  <p:slideViewPr>
    <p:cSldViewPr snapToGrid="0">
      <p:cViewPr varScale="1">
        <p:scale>
          <a:sx n="61" d="100"/>
          <a:sy n="61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164"/>
    </p:cViewPr>
  </p:sorterViewPr>
  <p:notesViewPr>
    <p:cSldViewPr snapToGrid="0">
      <p:cViewPr varScale="1">
        <p:scale>
          <a:sx n="77" d="100"/>
          <a:sy n="77" d="100"/>
        </p:scale>
        <p:origin x="399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94FFE89-DD1A-434A-B46E-FC01616819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5BBA22-1009-4062-B497-20D4D1F420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592F9BB-E9D3-4971-98B6-25B67B790E54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2025/10/23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5305A3-EF7C-4109-870C-75957F87F8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5183E6-2BF7-4148-8288-DCAD651FB9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FCA6C9-E2E2-4922-B1A7-E6462166C8C6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0596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3150C38-C506-467B-8DC0-1448EE621FE9}" type="datetime1">
              <a:rPr lang="zh-CN" altLang="en-US" smtClean="0"/>
              <a:pPr/>
              <a:t>2025/10/23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2C70E52-1238-4A7F-867E-2F90BFCA0D60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58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C70E52-1238-4A7F-867E-2F90BFCA0D60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221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FA8DA-6A2E-452F-B2FD-C692E3F9477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654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208F5-23F9-41F0-9BD4-963E4B09B1C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416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07D7A5-162C-448B-9184-4DF74749515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08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7B8D8-DB3E-4157-B75E-F22DF685A7AD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3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C17E3C-7BCD-4CE1-BB77-DBC4F6AAD3A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03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50531-738C-4056-94DC-C9695B076A7E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99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93090-B4C5-4232-8C20-16B4CD9E8563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36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3C681-63CC-4C6E-BB2B-532CC9376B13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22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3E630-40F6-4B28-997D-664B0011855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33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236F9-F5AC-4754-AA25-365CEB18F64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24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11ED9-4D7A-4F4E-812E-E8F30379C14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624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3E1CC-83A2-4B9D-8E8B-60737E93608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3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3C97B-CB0A-4B24-848D-85035B14B2B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35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FDBF1-7747-46AD-BE97-E034824279BE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78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641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400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4536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348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855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364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>
                <a:solidFill>
                  <a:prstClr val="white"/>
                </a:solidFill>
              </a:rPr>
              <a:pPr/>
              <a:t>2025/10/23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>
                <a:solidFill>
                  <a:prstClr val="white"/>
                </a:solidFill>
              </a:rPr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>
                <a:solidFill>
                  <a:prstClr val="white"/>
                </a:solidFill>
              </a:rPr>
              <a:pPr/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770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>
                <a:solidFill>
                  <a:prstClr val="white"/>
                </a:solidFill>
              </a:rPr>
              <a:pPr/>
              <a:t>2025/10/23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>
                <a:solidFill>
                  <a:prstClr val="white"/>
                </a:solidFill>
              </a:rPr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>
                <a:solidFill>
                  <a:prstClr val="white"/>
                </a:solidFill>
              </a:rPr>
              <a:pPr/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9833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>
                <a:solidFill>
                  <a:prstClr val="white"/>
                </a:solidFill>
              </a:rPr>
              <a:pPr/>
              <a:t>2025/10/23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>
                <a:solidFill>
                  <a:prstClr val="white"/>
                </a:solidFill>
              </a:rPr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>
                <a:solidFill>
                  <a:prstClr val="white"/>
                </a:solidFill>
              </a:rPr>
              <a:pPr/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083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9AD62C-EAA7-4D5D-9E4E-F3C1DEE386C7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533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679" r:id="rId24"/>
    <p:sldLayoutId id="2147483669" r:id="rId25"/>
    <p:sldLayoutId id="2147483680" r:id="rId2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305F2-4D75-4D76-BA59-F00627AB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如何使用此模板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B4E0E-ECE5-4628-8AFC-87C9EFB0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按照每张幻灯片上的说明创建演示文稿。</a:t>
            </a: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请记住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PowerPoint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是演示文稿的视觉效果。每张幻灯片上的文字仅作为论点（而不是你要说的所有内容）。</a:t>
            </a: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图像和图形可增加趣味；请务必在适当时将其添加到幻灯片。</a:t>
            </a: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仔细选择切换和动画。（希望受众如何专注于内容，而不是效果。）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64FC16-E9FB-469F-90C3-177A60236474}"/>
              </a:ext>
            </a:extLst>
          </p:cNvPr>
          <p:cNvSpPr txBox="1"/>
          <p:nvPr/>
        </p:nvSpPr>
        <p:spPr>
          <a:xfrm>
            <a:off x="3414573" y="685602"/>
            <a:ext cx="419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66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77024B-DB97-437B-AFB7-ADCC67686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335" y="-1"/>
            <a:ext cx="12228335" cy="68730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D8A8358-EA86-4F42-A7A2-D6F9EB98ACC3}"/>
              </a:ext>
            </a:extLst>
          </p:cNvPr>
          <p:cNvSpPr txBox="1"/>
          <p:nvPr/>
        </p:nvSpPr>
        <p:spPr>
          <a:xfrm>
            <a:off x="2890793" y="2285126"/>
            <a:ext cx="566954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理 想 国</a:t>
            </a:r>
            <a:endParaRPr lang="en-US" altLang="zh-CN" sz="4000" b="1" dirty="0"/>
          </a:p>
          <a:p>
            <a:pPr algn="r"/>
            <a:endParaRPr lang="en-US" altLang="zh-CN" sz="3200" dirty="0"/>
          </a:p>
          <a:p>
            <a:pPr algn="r"/>
            <a:r>
              <a:rPr lang="zh-CN" altLang="en-US" sz="3200" dirty="0"/>
              <a:t>第八卷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862656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21" y="610275"/>
            <a:ext cx="486410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610" y="0"/>
            <a:ext cx="5467350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517532" y="2023353"/>
            <a:ext cx="4717915" cy="710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517532" y="6624536"/>
            <a:ext cx="2879387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20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4829781" cy="3921601"/>
          </a:xfrm>
        </p:spPr>
        <p:txBody>
          <a:bodyPr/>
          <a:lstStyle/>
          <a:p>
            <a:r>
              <a:rPr lang="zh-CN" altLang="en-US" sz="2000" b="1" dirty="0"/>
              <a:t>回到第五卷开头提出的问题，有哪几种政体和哪几种灵魂对应，因为政体是从城邦居民的习性中产生出来的。</a:t>
            </a:r>
          </a:p>
          <a:p>
            <a:r>
              <a:rPr lang="zh-CN" altLang="en-US" sz="2000" b="1" dirty="0"/>
              <a:t>共有五种城邦的形式，对应个人的五种灵魂的秩序。</a:t>
            </a:r>
          </a:p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sz="2000" b="1" dirty="0"/>
              <a:t>贵族政体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贤人政治 </a:t>
            </a:r>
            <a:r>
              <a:rPr lang="en-US" altLang="zh-CN" sz="2000" b="1" dirty="0"/>
              <a:t>- </a:t>
            </a:r>
            <a:r>
              <a:rPr lang="zh-CN" altLang="en-US" sz="2000" b="1" dirty="0"/>
              <a:t>善的和正义的人</a:t>
            </a:r>
          </a:p>
          <a:p>
            <a:r>
              <a:rPr lang="zh-CN" altLang="en-US" sz="2000" b="1" dirty="0"/>
              <a:t>斯巴达式政体 </a:t>
            </a:r>
            <a:r>
              <a:rPr lang="en-US" altLang="zh-CN" sz="2000" b="1" dirty="0"/>
              <a:t>- </a:t>
            </a:r>
            <a:r>
              <a:rPr lang="zh-CN" altLang="en-US" sz="2000" b="1" dirty="0"/>
              <a:t>恃强好胜、酷爱荣誉的人</a:t>
            </a:r>
          </a:p>
          <a:p>
            <a:r>
              <a:rPr lang="zh-CN" altLang="en-US" sz="2000" b="1" dirty="0"/>
              <a:t>寡头政体</a:t>
            </a:r>
          </a:p>
          <a:p>
            <a:r>
              <a:rPr lang="zh-CN" altLang="en-US" sz="2000" b="1" dirty="0"/>
              <a:t>民主政体</a:t>
            </a:r>
          </a:p>
          <a:p>
            <a:r>
              <a:rPr lang="zh-CN" altLang="en-US" sz="2000" b="1" dirty="0"/>
              <a:t>僭主政体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16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10157"/>
            <a:ext cx="4906794" cy="6305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898" y="400411"/>
            <a:ext cx="5438775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8485" y="400411"/>
            <a:ext cx="4357992" cy="942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768485" y="2636196"/>
            <a:ext cx="4357992" cy="1108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050587" y="4124528"/>
            <a:ext cx="4075890" cy="58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68485" y="4338536"/>
            <a:ext cx="982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8485" y="4630366"/>
            <a:ext cx="4357992" cy="447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768485" y="5291847"/>
            <a:ext cx="4357992" cy="1033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6507804" y="632298"/>
            <a:ext cx="4904869" cy="5544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/>
          <p:cNvSpPr/>
          <p:nvPr/>
        </p:nvSpPr>
        <p:spPr>
          <a:xfrm>
            <a:off x="6507804" y="1906621"/>
            <a:ext cx="4776281" cy="525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6507804" y="2636196"/>
            <a:ext cx="4904869" cy="15175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6"/>
          <p:cNvSpPr/>
          <p:nvPr/>
        </p:nvSpPr>
        <p:spPr>
          <a:xfrm>
            <a:off x="6410528" y="5369668"/>
            <a:ext cx="4873557" cy="7879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12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3" y="3165744"/>
            <a:ext cx="5169957" cy="3074245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苏格拉底接着论证政体的演变。荣誉政体是怎样从贵族或贤人政体中产生出来的？苏格拉底认为，一切政体的变化都是出于那个掌握着政权的集团本身，在它之中产生了分歧和内讧。</a:t>
            </a:r>
            <a:r>
              <a:rPr lang="en-US" altLang="zh-CN" sz="2000" b="1" dirty="0"/>
              <a:t>545d</a:t>
            </a:r>
          </a:p>
          <a:p>
            <a:r>
              <a:rPr lang="zh-CN" altLang="en-US" sz="2000" b="1" dirty="0"/>
              <a:t>柏拉图以一种悲剧式的笔调，借文艺之神（缪斯）的口来讲述政体变化的原因。文艺之神说，因为一切生成的东西都是有毁灭的，即便一个完美的政体，也不能在时间里永存。</a:t>
            </a:r>
          </a:p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10" y="267815"/>
            <a:ext cx="5391150" cy="597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2476"/>
            <a:ext cx="55626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71209" y="3346315"/>
            <a:ext cx="4795736" cy="768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70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13" y="77955"/>
            <a:ext cx="4917738" cy="648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035" y="77956"/>
            <a:ext cx="5146608" cy="665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64204" y="2655651"/>
            <a:ext cx="4396902" cy="1060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64204" y="4426085"/>
            <a:ext cx="4396902" cy="1994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906638" y="4280170"/>
            <a:ext cx="4523362" cy="671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37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14" y="215156"/>
            <a:ext cx="4631650" cy="6327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973" y="171450"/>
            <a:ext cx="544830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770434" y="2188723"/>
            <a:ext cx="29085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31014" y="2441643"/>
            <a:ext cx="4047990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935804" y="3268494"/>
            <a:ext cx="2431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7159557" y="3035030"/>
            <a:ext cx="3735422" cy="38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027268" y="1079770"/>
            <a:ext cx="2431915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57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2947481"/>
            <a:ext cx="5040000" cy="2843719"/>
          </a:xfrm>
        </p:spPr>
        <p:txBody>
          <a:bodyPr/>
          <a:lstStyle/>
          <a:p>
            <a:r>
              <a:rPr lang="zh-CN" altLang="en-US" sz="2000" b="1" dirty="0"/>
              <a:t>斯巴达式政体偏爱头脑简单，意气昂扬的人，他们生性更适宜于战争而非和平。爱好财富，而忽略哲学。</a:t>
            </a:r>
          </a:p>
          <a:p>
            <a:r>
              <a:rPr lang="zh-CN" altLang="en-US" sz="2000" b="1" dirty="0"/>
              <a:t>和这一政体相应的个人，是更加具有自满自得的骄横气息的人。他的灵魂不和谐，一种培养美德的力量与一种培养欲望和意气的部分的力量，相互牵引，使他成为一个傲慢、追求荣誉的人。</a:t>
            </a:r>
          </a:p>
          <a:p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6" y="38100"/>
            <a:ext cx="5410200" cy="678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750" y="115921"/>
            <a:ext cx="49815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7472" y="5321030"/>
            <a:ext cx="4756826" cy="982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003915" y="1605064"/>
            <a:ext cx="4134255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41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3531140"/>
            <a:ext cx="5040000" cy="2260061"/>
          </a:xfrm>
        </p:spPr>
        <p:txBody>
          <a:bodyPr/>
          <a:lstStyle/>
          <a:p>
            <a:r>
              <a:rPr lang="zh-CN" altLang="en-US" sz="2000" b="1" dirty="0"/>
              <a:t>荣誉政体如何转化为寡头政体？</a:t>
            </a:r>
            <a:endParaRPr lang="en-US" altLang="zh-CN" sz="2000" b="1" dirty="0"/>
          </a:p>
          <a:p>
            <a:r>
              <a:rPr lang="zh-CN" altLang="en-US" sz="2000" b="1" dirty="0"/>
              <a:t>私有制使人们相互攀比，愈发趋于发财致富，把金钱看得越来越重，而品德越来越轻。于是他们制定了财产数值不达限度的人禁止参与权力与官职，权力被集中在少数人手中，于是形成寡头政治。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88" y="285750"/>
            <a:ext cx="52863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061" y="108827"/>
            <a:ext cx="5062943" cy="631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17123" y="1332689"/>
            <a:ext cx="4863830" cy="1284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721813" y="2879387"/>
            <a:ext cx="4328808" cy="700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721813" y="5330757"/>
            <a:ext cx="4328808" cy="66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38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863535" cy="392160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寡头政体的本质是：它不是一个统一的城邦，而是两个：一个是穷人的，一个是富人的，他们生活在同一块土地上，永远相互敌视。于是产生内战</a:t>
            </a:r>
            <a:r>
              <a:rPr lang="en-US" altLang="zh-CN" sz="2000" dirty="0"/>
              <a:t>551d</a:t>
            </a:r>
            <a:endParaRPr lang="zh-CN" altLang="en-US" sz="20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27" y="141726"/>
            <a:ext cx="4734467" cy="6450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90664" y="564204"/>
            <a:ext cx="4328808" cy="8949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4443" y="2859932"/>
            <a:ext cx="2879387" cy="19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10511" y="4970834"/>
            <a:ext cx="2324910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8485" y="5817140"/>
            <a:ext cx="4250987" cy="671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42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04" y="0"/>
            <a:ext cx="546735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705" y="100383"/>
            <a:ext cx="4984210" cy="6488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719847" y="3774332"/>
            <a:ext cx="9727" cy="2519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93021" y="1614791"/>
            <a:ext cx="3706239" cy="58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130374" y="1926077"/>
            <a:ext cx="4338537" cy="894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7130374" y="5194570"/>
            <a:ext cx="4338537" cy="758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0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714016"/>
            <a:ext cx="5040000" cy="4143983"/>
          </a:xfrm>
        </p:spPr>
        <p:txBody>
          <a:bodyPr>
            <a:normAutofit/>
          </a:bodyPr>
          <a:lstStyle/>
          <a:p>
            <a:r>
              <a:rPr lang="zh-CN" altLang="en-US" sz="1900" b="1" dirty="0"/>
              <a:t>典型的寡头政体中的人就像雄蜂，是整个蜂巢的瘟疫和祸害</a:t>
            </a:r>
            <a:r>
              <a:rPr lang="en-US" altLang="zh-CN" sz="1900" b="1" dirty="0"/>
              <a:t>552c</a:t>
            </a:r>
            <a:r>
              <a:rPr lang="zh-CN" altLang="en-US" sz="1900" b="1" dirty="0"/>
              <a:t>。产生这种人的原因是由于缺乏教育和无知，由于错误的训练和教养，以及由于政体的建构安排</a:t>
            </a:r>
            <a:r>
              <a:rPr lang="en-US" altLang="zh-CN" sz="1900" b="1" dirty="0"/>
              <a:t>552e</a:t>
            </a:r>
          </a:p>
          <a:p>
            <a:r>
              <a:rPr lang="zh-CN" altLang="en-US" sz="1900" b="1" dirty="0"/>
              <a:t>荣誉政体的人怎样转化为寡头式政体的人？</a:t>
            </a:r>
            <a:endParaRPr lang="en-US" altLang="zh-CN" sz="1900" b="1" dirty="0"/>
          </a:p>
          <a:p>
            <a:r>
              <a:rPr lang="zh-CN" altLang="en-US" sz="1900" b="1" dirty="0"/>
              <a:t>他起先效法父亲追求荣誉，受到打击之后，恐惧将他灵魂中意气昂扬的部分打倒，由于贫穷变得猥琐，他转而投向生财谋利，于是将灵魂中欲望的部分奉为君王，把理性思维的部分和意气昂扬的部分放到欲望之下</a:t>
            </a:r>
            <a:r>
              <a:rPr lang="en-US" altLang="zh-CN" sz="1900" b="1" dirty="0"/>
              <a:t>553c-d</a:t>
            </a:r>
            <a:r>
              <a:rPr lang="zh-CN" altLang="en-US" sz="1900" b="1" dirty="0"/>
              <a:t>。</a:t>
            </a:r>
          </a:p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4513633"/>
            <a:ext cx="5040000" cy="1277567"/>
          </a:xfrm>
        </p:spPr>
        <p:txBody>
          <a:bodyPr>
            <a:normAutofit/>
          </a:bodyPr>
          <a:lstStyle/>
          <a:p>
            <a:r>
              <a:rPr lang="zh-CN" altLang="en-US" sz="2200" b="1" dirty="0"/>
              <a:t>这样的人是一个自身不和谐的人，灵魂中双重欲望争斗的人</a:t>
            </a:r>
            <a:r>
              <a:rPr lang="en-US" altLang="zh-CN" sz="2200" b="1" dirty="0"/>
              <a:t>554e</a:t>
            </a:r>
            <a:r>
              <a:rPr lang="zh-CN" altLang="en-US" sz="2200" b="1" dirty="0"/>
              <a:t>。</a:t>
            </a:r>
          </a:p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878" y="325572"/>
            <a:ext cx="5157242" cy="2330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944" y="325572"/>
            <a:ext cx="471487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6634264" y="1031132"/>
            <a:ext cx="4202349" cy="1285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634264" y="2655651"/>
            <a:ext cx="4134255" cy="1108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1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89" y="165067"/>
            <a:ext cx="5065712" cy="637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89498" y="710119"/>
            <a:ext cx="4396902" cy="671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477" y="276225"/>
            <a:ext cx="4621212" cy="630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6302477" y="710119"/>
            <a:ext cx="4183940" cy="408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59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4" y="234207"/>
            <a:ext cx="4622124" cy="6299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167" y="334455"/>
            <a:ext cx="4718185" cy="6194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5714" y="1614791"/>
            <a:ext cx="4330295" cy="632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916366" y="515566"/>
            <a:ext cx="4250986" cy="486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916366" y="4737370"/>
            <a:ext cx="4163438" cy="622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46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55" y="216305"/>
            <a:ext cx="4964755" cy="635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108" y="216305"/>
            <a:ext cx="4754529" cy="6378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0936" y="4893013"/>
            <a:ext cx="4221804" cy="9435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33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770" y="4017523"/>
            <a:ext cx="5679230" cy="284047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200" b="1" dirty="0"/>
              <a:t>民主政体的产生</a:t>
            </a:r>
            <a:endParaRPr lang="en-US" altLang="zh-CN" sz="2200" b="1" dirty="0"/>
          </a:p>
          <a:p>
            <a:pPr>
              <a:lnSpc>
                <a:spcPct val="120000"/>
              </a:lnSpc>
            </a:pPr>
            <a:r>
              <a:rPr lang="zh-CN" altLang="en-US" sz="2200" b="1" dirty="0"/>
              <a:t>崇拜财富使城邦居民不可能保持必要的克制和身心平衡。在寡头政体的城邦中，由于人们的忽视和对于浪荡不羁的生活方式的自由放任，使门第高贵的人变成了穷人。穷人们取得了胜利，就成立了民主政体，把一些人杀死另一些放逐，在剩下的公民之中用抽签的方式决定官职。</a:t>
            </a:r>
          </a:p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20" y="0"/>
            <a:ext cx="4408150" cy="3858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288" y="257706"/>
            <a:ext cx="4970477" cy="309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875489" y="2286000"/>
            <a:ext cx="3968885" cy="826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453288" y="1313234"/>
            <a:ext cx="4626516" cy="11381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55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912173" cy="39216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这种政体看起来美丽，因为人们似乎享有充分的自由。但它完全不管城邦管理者的品质，只要他说他拥护群众就予以他荣耀。这样一种政体，对于不论是相等的还是不相等的事物，都给予一种一律的平等。</a:t>
            </a:r>
            <a:r>
              <a:rPr lang="en-US" altLang="zh-CN" sz="2000" b="1" dirty="0"/>
              <a:t>557d-558c</a:t>
            </a:r>
          </a:p>
          <a:p>
            <a:endParaRPr lang="zh-CN" altLang="en-US" sz="20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09" y="228937"/>
            <a:ext cx="487045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972766" y="379379"/>
            <a:ext cx="4348264" cy="1079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972766" y="3628417"/>
            <a:ext cx="4348264" cy="1235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72766" y="5223753"/>
            <a:ext cx="0" cy="817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43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9966"/>
            <a:ext cx="4693596" cy="628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861" y="0"/>
            <a:ext cx="5324475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87940" y="2821021"/>
            <a:ext cx="4221805" cy="680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400800" y="350196"/>
            <a:ext cx="4717915" cy="836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1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92" y="164762"/>
            <a:ext cx="5324475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229" y="0"/>
            <a:ext cx="538162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35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891" y="5321030"/>
            <a:ext cx="5040000" cy="81064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8" y="176213"/>
            <a:ext cx="5372100" cy="546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011" y="176213"/>
            <a:ext cx="5410200" cy="650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254885" y="963038"/>
            <a:ext cx="4776281" cy="2159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47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2000" b="1" dirty="0"/>
              <a:t>寡头政体的人本来有一定克制力，在必要的欲望与不必要的欲望间作出区分（</a:t>
            </a:r>
            <a:r>
              <a:rPr lang="en-US" altLang="zh-CN" sz="2000" b="1" dirty="0"/>
              <a:t>558e-559a</a:t>
            </a:r>
            <a:r>
              <a:rPr lang="zh-CN" altLang="en-US" sz="2000" b="1" dirty="0"/>
              <a:t>）。但他一旦尝到了欲望放纵的快乐，欲望最终就占据了他的灵魂。他失掉了克制和羞耻感，彻底堕落。</a:t>
            </a:r>
          </a:p>
          <a:p>
            <a:endParaRPr lang="zh-CN" alt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b="1" dirty="0"/>
              <a:t>僭主式政体产生的原因</a:t>
            </a:r>
          </a:p>
        </p:txBody>
      </p:sp>
    </p:spTree>
    <p:extLst>
      <p:ext uri="{BB962C8B-B14F-4D97-AF65-F5344CB8AC3E}">
        <p14:creationId xmlns:p14="http://schemas.microsoft.com/office/powerpoint/2010/main" val="106485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74265"/>
            <a:ext cx="5148566" cy="6437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33" y="176988"/>
            <a:ext cx="4895612" cy="622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52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89" y="274706"/>
            <a:ext cx="5495925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891" y="187325"/>
            <a:ext cx="4745207" cy="625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40860" y="4095345"/>
            <a:ext cx="4727642" cy="1099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935821" y="3035030"/>
            <a:ext cx="4250988" cy="6128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935821" y="2363821"/>
            <a:ext cx="4173166" cy="486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79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4297736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过度的自由，总不是转化为别的，而是要转化为过度的奴役。从最极端的自由中产生出最粗暴的奴役。</a:t>
            </a:r>
            <a:endParaRPr lang="en-US" altLang="zh-CN" sz="2000" b="1" dirty="0"/>
          </a:p>
          <a:p>
            <a:r>
              <a:rPr lang="zh-CN" altLang="en-US" sz="2000" b="1" dirty="0"/>
              <a:t>民主政体中的人民和富人相互争斗，人民需要一个保护者来帮助获取利益，而这个保护者一旦在政治争斗中进行不公正的指控毁谤，尝到亲属同类（城邦公民的血），就变成了狼。</a:t>
            </a:r>
          </a:p>
          <a:p>
            <a:r>
              <a:rPr lang="zh-CN" altLang="en-US" sz="2000" b="1" dirty="0"/>
              <a:t>保护者要求有一只私人卫队，而最后他就借助他的卫队谋取到最高权力，开始暴力统治。</a:t>
            </a:r>
            <a:r>
              <a:rPr lang="en-US" altLang="zh-CN" sz="2000" b="1" dirty="0"/>
              <a:t>565c-568a)</a:t>
            </a:r>
            <a:r>
              <a:rPr lang="zh-CN" altLang="en-US" sz="2000" b="1" dirty="0"/>
              <a:t>。在</a:t>
            </a:r>
            <a:r>
              <a:rPr lang="en-US" altLang="zh-CN" sz="2000" b="1" dirty="0"/>
              <a:t>569c</a:t>
            </a:r>
            <a:r>
              <a:rPr lang="zh-CN" altLang="en-US" sz="2000" b="1" dirty="0"/>
              <a:t>，僭主被比喻为人民的弑父者，而人民则成了奴隶。</a:t>
            </a:r>
          </a:p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70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59" y="280615"/>
            <a:ext cx="5310559" cy="6531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0615"/>
            <a:ext cx="53816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50587" y="2091447"/>
            <a:ext cx="4572000" cy="710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245157" y="2889115"/>
            <a:ext cx="4844375" cy="1050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19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204889"/>
            <a:ext cx="56292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369" y="98829"/>
            <a:ext cx="4692988" cy="6416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581369" y="1079770"/>
            <a:ext cx="4284427" cy="1498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050587" y="3064213"/>
            <a:ext cx="4961107" cy="525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9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86" y="268726"/>
            <a:ext cx="5362575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9650"/>
            <a:ext cx="5305425" cy="673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894945" y="2344366"/>
            <a:ext cx="1760706" cy="19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96000" y="3416738"/>
            <a:ext cx="4750340" cy="8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177064" y="4474723"/>
            <a:ext cx="4747098" cy="9630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32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9" y="223837"/>
            <a:ext cx="4883353" cy="6310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3837"/>
            <a:ext cx="5295900" cy="641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8044774" y="2529191"/>
            <a:ext cx="16634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8628434" y="3035030"/>
            <a:ext cx="1848255" cy="9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3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20" y="266497"/>
            <a:ext cx="5438775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327" y="266497"/>
            <a:ext cx="5400675" cy="433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372327" y="1721796"/>
            <a:ext cx="4863120" cy="1429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001949" y="2130357"/>
            <a:ext cx="4854102" cy="496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80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政体秩序对应的灵魂状态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932" y="2412460"/>
            <a:ext cx="171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贤人政体秩序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038" y="3151762"/>
            <a:ext cx="95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理性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932" y="4085617"/>
            <a:ext cx="719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意气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6426" y="4085617"/>
            <a:ext cx="826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欲望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1" y="2334638"/>
            <a:ext cx="171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荣誉政体秩序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3282" y="3151762"/>
            <a:ext cx="84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意气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0438" y="4085617"/>
            <a:ext cx="79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理性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9936" y="4085617"/>
            <a:ext cx="899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欲望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2586" y="2324911"/>
            <a:ext cx="171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寡头政体秩序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999" y="3151762"/>
            <a:ext cx="1527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必要的欲望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2586" y="4085617"/>
            <a:ext cx="758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理性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9944" y="4085617"/>
            <a:ext cx="81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意气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8041" y="2344366"/>
            <a:ext cx="178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民主政体秩序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3954" y="3161808"/>
            <a:ext cx="1342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无限欲望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8041" y="4120257"/>
            <a:ext cx="84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理性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5513" y="4085617"/>
            <a:ext cx="739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意气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62681" y="2344366"/>
            <a:ext cx="171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僭主政体秩序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3966" y="3151762"/>
            <a:ext cx="1400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不法欲望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6195" y="4085617"/>
            <a:ext cx="758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理性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2178" y="4085617"/>
            <a:ext cx="839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意气</a:t>
            </a:r>
          </a:p>
        </p:txBody>
      </p:sp>
    </p:spTree>
    <p:extLst>
      <p:ext uri="{BB962C8B-B14F-4D97-AF65-F5344CB8AC3E}">
        <p14:creationId xmlns:p14="http://schemas.microsoft.com/office/powerpoint/2010/main" val="190922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3E21D3-7788-4819-8437-C5C4B0C5D46D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purl.org/dc/terms/"/>
    <ds:schemaRef ds:uri="fb0879af-3eba-417a-a55a-ffe6dcd6ca77"/>
    <ds:schemaRef ds:uri="6dc4bcd6-49db-4c07-9060-8acfc67cef9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EBF972C-B81A-46A3-BFB2-A01F0B5DBC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3CD11F-9FDB-4628-B708-63BFB2D681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969</Words>
  <Application>Microsoft Office PowerPoint</Application>
  <PresentationFormat>宽屏</PresentationFormat>
  <Paragraphs>57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3" baseType="lpstr">
      <vt:lpstr>Microsoft YaHei UI</vt:lpstr>
      <vt:lpstr>Times New Roman</vt:lpstr>
      <vt:lpstr>Default Design</vt:lpstr>
      <vt:lpstr>如何使用此模板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政体秩序对应的灵魂状态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2020-02-08T12:01:34Z</dcterms:created>
  <dcterms:modified xsi:type="dcterms:W3CDTF">2025-10-23T13:11:56Z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