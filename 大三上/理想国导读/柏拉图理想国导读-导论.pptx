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42" r:id="rId4"/>
    <p:sldMasterId id="2147483754" r:id="rId5"/>
    <p:sldMasterId id="2147483769" r:id="rId6"/>
    <p:sldMasterId id="2147483781" r:id="rId7"/>
  </p:sldMasterIdLst>
  <p:notesMasterIdLst>
    <p:notesMasterId r:id="rId38"/>
  </p:notesMasterIdLst>
  <p:handoutMasterIdLst>
    <p:handoutMasterId r:id="rId39"/>
  </p:handoutMasterIdLst>
  <p:sldIdLst>
    <p:sldId id="267" r:id="rId8"/>
    <p:sldId id="275" r:id="rId9"/>
    <p:sldId id="268" r:id="rId10"/>
    <p:sldId id="299" r:id="rId11"/>
    <p:sldId id="400" r:id="rId12"/>
    <p:sldId id="432" r:id="rId13"/>
    <p:sldId id="410" r:id="rId14"/>
    <p:sldId id="412" r:id="rId15"/>
    <p:sldId id="411" r:id="rId16"/>
    <p:sldId id="413" r:id="rId17"/>
    <p:sldId id="415" r:id="rId18"/>
    <p:sldId id="417" r:id="rId19"/>
    <p:sldId id="403" r:id="rId20"/>
    <p:sldId id="404" r:id="rId21"/>
    <p:sldId id="426" r:id="rId22"/>
    <p:sldId id="401" r:id="rId23"/>
    <p:sldId id="408" r:id="rId24"/>
    <p:sldId id="433" r:id="rId25"/>
    <p:sldId id="434" r:id="rId26"/>
    <p:sldId id="435" r:id="rId27"/>
    <p:sldId id="436" r:id="rId28"/>
    <p:sldId id="437" r:id="rId29"/>
    <p:sldId id="443" r:id="rId30"/>
    <p:sldId id="422" r:id="rId31"/>
    <p:sldId id="442" r:id="rId32"/>
    <p:sldId id="440" r:id="rId33"/>
    <p:sldId id="429" r:id="rId34"/>
    <p:sldId id="441" r:id="rId35"/>
    <p:sldId id="439" r:id="rId36"/>
    <p:sldId id="423"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22" autoAdjust="0"/>
    <p:restoredTop sz="94652" autoAdjust="0"/>
  </p:normalViewPr>
  <p:slideViewPr>
    <p:cSldViewPr snapToGrid="0">
      <p:cViewPr varScale="1">
        <p:scale>
          <a:sx n="65" d="100"/>
          <a:sy n="65" d="100"/>
        </p:scale>
        <p:origin x="692" y="6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7" d="100"/>
          <a:sy n="77"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94FFE89-DD1A-434A-B46E-FC01616819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705BBA22-1009-4062-B497-20D4D1F420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592F9BB-E9D3-4971-98B6-25B67B790E54}" type="datetime1">
              <a:rPr lang="zh-CN" altLang="en-US" smtClean="0">
                <a:latin typeface="Microsoft YaHei UI" panose="020B0503020204020204" pitchFamily="34" charset="-122"/>
                <a:ea typeface="Microsoft YaHei UI" panose="020B0503020204020204" pitchFamily="34" charset="-122"/>
              </a:rPr>
              <a:t>2025/9/16</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265305A3-EF7C-4109-870C-75957F87F8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A65183E6-2BF7-4148-8288-DCAD651FB9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CA6C9-E2E2-4922-B1A7-E6462166C8C6}"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00596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A3150C38-C506-467B-8DC0-1448EE621FE9}" type="datetime1">
              <a:rPr lang="zh-CN" altLang="en-US" smtClean="0"/>
              <a:pPr/>
              <a:t>2025/9/16</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22C70E52-1238-4A7F-867E-2F90BFCA0D60}" type="slidenum">
              <a:rPr lang="en-US" altLang="zh-CN" smtClean="0"/>
              <a:pPr/>
              <a:t>‹#›</a:t>
            </a:fld>
            <a:endParaRPr lang="zh-CN" altLang="en-US"/>
          </a:p>
        </p:txBody>
      </p:sp>
    </p:spTree>
    <p:extLst>
      <p:ext uri="{BB962C8B-B14F-4D97-AF65-F5344CB8AC3E}">
        <p14:creationId xmlns:p14="http://schemas.microsoft.com/office/powerpoint/2010/main" val="3534581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22C70E52-1238-4A7F-867E-2F90BFCA0D60}" type="slidenum">
              <a:rPr lang="en-US" altLang="zh-CN"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62218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22C70E52-1238-4A7F-867E-2F90BFCA0D60}" type="slidenum">
              <a:rPr lang="en-US" altLang="zh-CN"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172331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22C70E52-1238-4A7F-867E-2F90BFCA0D60}" type="slidenum">
              <a:rPr lang="en-US" altLang="zh-CN"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8415594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7D7C5-670A-42FF-BA14-723C79BFE129}"/>
              </a:ext>
            </a:extLst>
          </p:cNvPr>
          <p:cNvSpPr>
            <a:spLocks noGrp="1"/>
          </p:cNvSpPr>
          <p:nvPr>
            <p:ph type="ctrTitle"/>
          </p:nvPr>
        </p:nvSpPr>
        <p:spPr>
          <a:xfrm>
            <a:off x="2343150" y="1712913"/>
            <a:ext cx="9144000" cy="2387600"/>
          </a:xfrm>
        </p:spPr>
        <p:txBody>
          <a:bodyPr anchor="b"/>
          <a:lstStyle>
            <a:lvl1pPr algn="ctr">
              <a:defRPr sz="6000"/>
            </a:lvl1pPr>
          </a:lstStyle>
          <a:p>
            <a:r>
              <a:rPr lang="zh-CN" altLang="en-US"/>
              <a:t>单击此处编辑母版标题样式</a:t>
            </a:r>
            <a:endParaRPr lang="zh-CN" altLang="en-US" dirty="0"/>
          </a:p>
        </p:txBody>
      </p:sp>
      <p:sp>
        <p:nvSpPr>
          <p:cNvPr id="3" name="副标题 2">
            <a:extLst>
              <a:ext uri="{FF2B5EF4-FFF2-40B4-BE49-F238E27FC236}">
                <a16:creationId xmlns:a16="http://schemas.microsoft.com/office/drawing/2014/main" id="{05F38038-D055-4684-842F-7ED30A46FA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B5FB617-B4F8-4986-B468-5F6C77A3D92B}"/>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0A8C1A28-11B1-4B0A-9744-B8720D327639}"/>
              </a:ext>
            </a:extLst>
          </p:cNvPr>
          <p:cNvSpPr>
            <a:spLocks noGrp="1"/>
          </p:cNvSpPr>
          <p:nvPr>
            <p:ph type="ftr" sz="quarter" idx="11"/>
          </p:nvPr>
        </p:nvSpPr>
        <p:spPr/>
        <p:txBody>
          <a:bodyPr/>
          <a:lstStyle/>
          <a:p>
            <a:r>
              <a:rPr lang="zh-CN" altLang="en-US" noProof="0"/>
              <a:t>添加页脚</a:t>
            </a:r>
          </a:p>
        </p:txBody>
      </p:sp>
      <p:sp>
        <p:nvSpPr>
          <p:cNvPr id="6" name="灯片编号占位符 5">
            <a:extLst>
              <a:ext uri="{FF2B5EF4-FFF2-40B4-BE49-F238E27FC236}">
                <a16:creationId xmlns:a16="http://schemas.microsoft.com/office/drawing/2014/main" id="{7AFB8695-81DD-470E-A945-F2BC2F5E7CC5}"/>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
        <p:nvSpPr>
          <p:cNvPr id="8" name="图片占位符 7">
            <a:extLst>
              <a:ext uri="{FF2B5EF4-FFF2-40B4-BE49-F238E27FC236}">
                <a16:creationId xmlns:a16="http://schemas.microsoft.com/office/drawing/2014/main" id="{836D05C7-F4E2-4011-83E0-51E439BDDB41}"/>
              </a:ext>
            </a:extLst>
          </p:cNvPr>
          <p:cNvSpPr>
            <a:spLocks noGrp="1"/>
          </p:cNvSpPr>
          <p:nvPr>
            <p:ph type="pic" sz="quarter" idx="13"/>
          </p:nvPr>
        </p:nvSpPr>
        <p:spPr>
          <a:xfrm>
            <a:off x="357187" y="476250"/>
            <a:ext cx="962025" cy="914400"/>
          </a:xfrm>
        </p:spPr>
        <p:txBody>
          <a:bodyPr/>
          <a:lstStyle/>
          <a:p>
            <a:r>
              <a:rPr lang="zh-CN" altLang="en-US"/>
              <a:t>单击图标添加图片</a:t>
            </a:r>
            <a:endParaRPr lang="zh-CN" altLang="en-US" dirty="0"/>
          </a:p>
        </p:txBody>
      </p:sp>
      <p:pic>
        <p:nvPicPr>
          <p:cNvPr id="10" name="图片 9">
            <a:extLst>
              <a:ext uri="{FF2B5EF4-FFF2-40B4-BE49-F238E27FC236}">
                <a16:creationId xmlns:a16="http://schemas.microsoft.com/office/drawing/2014/main" id="{C83EB01B-2374-45B5-BC2B-D65A89C64E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7" y="384762"/>
            <a:ext cx="939383" cy="1005888"/>
          </a:xfrm>
          <a:prstGeom prst="rect">
            <a:avLst/>
          </a:prstGeom>
        </p:spPr>
      </p:pic>
      <p:sp>
        <p:nvSpPr>
          <p:cNvPr id="11" name="文本框 10">
            <a:extLst>
              <a:ext uri="{FF2B5EF4-FFF2-40B4-BE49-F238E27FC236}">
                <a16:creationId xmlns:a16="http://schemas.microsoft.com/office/drawing/2014/main" id="{D4A17BD4-E670-42F2-82AA-1AFFDA6F2CA2}"/>
              </a:ext>
            </a:extLst>
          </p:cNvPr>
          <p:cNvSpPr txBox="1"/>
          <p:nvPr/>
        </p:nvSpPr>
        <p:spPr>
          <a:xfrm>
            <a:off x="1495425" y="978972"/>
            <a:ext cx="3105150" cy="369332"/>
          </a:xfrm>
          <a:prstGeom prst="rect">
            <a:avLst/>
          </a:prstGeom>
          <a:noFill/>
        </p:spPr>
        <p:txBody>
          <a:bodyPr wrap="square" rtlCol="0">
            <a:spAutoFit/>
          </a:bodyPr>
          <a:lstStyle/>
          <a:p>
            <a:r>
              <a:rPr lang="zh-CN" altLang="en-US" dirty="0"/>
              <a:t>华东师范大学</a:t>
            </a:r>
          </a:p>
        </p:txBody>
      </p:sp>
    </p:spTree>
    <p:extLst>
      <p:ext uri="{BB962C8B-B14F-4D97-AF65-F5344CB8AC3E}">
        <p14:creationId xmlns:p14="http://schemas.microsoft.com/office/powerpoint/2010/main" val="326527292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A64FE3-61F1-4018-B4E6-6584EB666F1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6A51995-2E9E-4825-B41F-EF06D1517E1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7B277F-81AE-40D7-8999-7D50EA667450}"/>
              </a:ext>
            </a:extLst>
          </p:cNvPr>
          <p:cNvSpPr>
            <a:spLocks noGrp="1"/>
          </p:cNvSpPr>
          <p:nvPr>
            <p:ph type="dt" sz="half" idx="10"/>
          </p:nvPr>
        </p:nvSpPr>
        <p:spPr/>
        <p:txBody>
          <a:bodyPr/>
          <a:lstStyle/>
          <a:p>
            <a:fld id="{1AAFB855-1BD2-4AAF-A6C9-223529E13849}" type="datetime1">
              <a:rPr lang="zh-CN" altLang="en-US" smtClean="0"/>
              <a:t>2025/9/16</a:t>
            </a:fld>
            <a:endParaRPr lang="zh-CN" altLang="en-US"/>
          </a:p>
        </p:txBody>
      </p:sp>
      <p:sp>
        <p:nvSpPr>
          <p:cNvPr id="5" name="页脚占位符 4">
            <a:extLst>
              <a:ext uri="{FF2B5EF4-FFF2-40B4-BE49-F238E27FC236}">
                <a16:creationId xmlns:a16="http://schemas.microsoft.com/office/drawing/2014/main" id="{0D67AFE6-BDA5-44D8-8883-8322274C7343}"/>
              </a:ext>
            </a:extLst>
          </p:cNvPr>
          <p:cNvSpPr>
            <a:spLocks noGrp="1"/>
          </p:cNvSpPr>
          <p:nvPr>
            <p:ph type="ftr" sz="quarter" idx="11"/>
          </p:nvPr>
        </p:nvSpPr>
        <p:spPr/>
        <p:txBody>
          <a:bodyPr/>
          <a:lstStyle/>
          <a:p>
            <a:r>
              <a:rPr lang="zh-CN" altLang="en-US"/>
              <a:t>添加页脚</a:t>
            </a:r>
          </a:p>
        </p:txBody>
      </p:sp>
      <p:sp>
        <p:nvSpPr>
          <p:cNvPr id="6" name="灯片编号占位符 5">
            <a:extLst>
              <a:ext uri="{FF2B5EF4-FFF2-40B4-BE49-F238E27FC236}">
                <a16:creationId xmlns:a16="http://schemas.microsoft.com/office/drawing/2014/main" id="{A8D87DDF-9895-4CE2-8246-069F9EC5FB18}"/>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pic>
        <p:nvPicPr>
          <p:cNvPr id="8" name="图片 7">
            <a:extLst>
              <a:ext uri="{FF2B5EF4-FFF2-40B4-BE49-F238E27FC236}">
                <a16:creationId xmlns:a16="http://schemas.microsoft.com/office/drawing/2014/main" id="{893FAB43-8BBB-483A-95CC-6400CFD3C0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4462" y="58738"/>
            <a:ext cx="1358900" cy="254000"/>
          </a:xfrm>
          <a:prstGeom prst="rect">
            <a:avLst/>
          </a:prstGeom>
        </p:spPr>
      </p:pic>
      <p:pic>
        <p:nvPicPr>
          <p:cNvPr id="10" name="图片 9">
            <a:extLst>
              <a:ext uri="{FF2B5EF4-FFF2-40B4-BE49-F238E27FC236}">
                <a16:creationId xmlns:a16="http://schemas.microsoft.com/office/drawing/2014/main" id="{0EE77CAA-AAC0-4433-8B44-16AF5DB5DB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63"/>
            <a:ext cx="2579741" cy="340825"/>
          </a:xfrm>
          <a:prstGeom prst="rect">
            <a:avLst/>
          </a:prstGeom>
        </p:spPr>
      </p:pic>
      <p:pic>
        <p:nvPicPr>
          <p:cNvPr id="12" name="图片 11">
            <a:extLst>
              <a:ext uri="{FF2B5EF4-FFF2-40B4-BE49-F238E27FC236}">
                <a16:creationId xmlns:a16="http://schemas.microsoft.com/office/drawing/2014/main" id="{C5CE1D6B-0E86-4E47-BCC4-01568943EC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8084" y="7534"/>
            <a:ext cx="7863916" cy="338054"/>
          </a:xfrm>
          <a:prstGeom prst="rect">
            <a:avLst/>
          </a:prstGeom>
        </p:spPr>
      </p:pic>
      <p:cxnSp>
        <p:nvCxnSpPr>
          <p:cNvPr id="11" name="直接连接符​​ 7">
            <a:extLst>
              <a:ext uri="{FF2B5EF4-FFF2-40B4-BE49-F238E27FC236}">
                <a16:creationId xmlns:a16="http://schemas.microsoft.com/office/drawing/2014/main" id="{8E614CD7-61A6-483E-9100-831EF4F12140}"/>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65916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0D68EA-D673-4427-BBFA-C227F04811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DEF2E64-2345-48ED-8AA4-B9411F7488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50314E0-7B16-4969-83A3-05CE2CC55A63}"/>
              </a:ext>
            </a:extLst>
          </p:cNvPr>
          <p:cNvSpPr>
            <a:spLocks noGrp="1"/>
          </p:cNvSpPr>
          <p:nvPr>
            <p:ph type="dt" sz="half" idx="10"/>
          </p:nvPr>
        </p:nvSpPr>
        <p:spPr/>
        <p:txBody>
          <a:bodyPr/>
          <a:lstStyle/>
          <a:p>
            <a:fld id="{CF45E857-266B-4130-8BFF-1612F79A276A}" type="datetime1">
              <a:rPr lang="zh-CN" altLang="en-US" smtClean="0"/>
              <a:t>2025/9/16</a:t>
            </a:fld>
            <a:endParaRPr lang="zh-CN" altLang="en-US"/>
          </a:p>
        </p:txBody>
      </p:sp>
      <p:sp>
        <p:nvSpPr>
          <p:cNvPr id="5" name="页脚占位符 4">
            <a:extLst>
              <a:ext uri="{FF2B5EF4-FFF2-40B4-BE49-F238E27FC236}">
                <a16:creationId xmlns:a16="http://schemas.microsoft.com/office/drawing/2014/main" id="{3E928E32-9F89-458F-9B92-25F49B008F67}"/>
              </a:ext>
            </a:extLst>
          </p:cNvPr>
          <p:cNvSpPr>
            <a:spLocks noGrp="1"/>
          </p:cNvSpPr>
          <p:nvPr>
            <p:ph type="ftr" sz="quarter" idx="11"/>
          </p:nvPr>
        </p:nvSpPr>
        <p:spPr/>
        <p:txBody>
          <a:bodyPr/>
          <a:lstStyle/>
          <a:p>
            <a:r>
              <a:rPr lang="zh-CN" altLang="en-US"/>
              <a:t>添加页脚</a:t>
            </a:r>
          </a:p>
        </p:txBody>
      </p:sp>
      <p:sp>
        <p:nvSpPr>
          <p:cNvPr id="6" name="灯片编号占位符 5">
            <a:extLst>
              <a:ext uri="{FF2B5EF4-FFF2-40B4-BE49-F238E27FC236}">
                <a16:creationId xmlns:a16="http://schemas.microsoft.com/office/drawing/2014/main" id="{2E6DC2E3-0FCE-43B0-A849-63A91FADC33D}"/>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1893291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76C28A-1A29-4E82-8B48-1197AFAB57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BF2A17-9D5F-47AD-9241-2034FFD0D7E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6B15A90-F67D-4F87-AFA4-7405A0FD3F1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C28FB57-4B1C-4214-A17F-25A3156B9E03}"/>
              </a:ext>
            </a:extLst>
          </p:cNvPr>
          <p:cNvSpPr>
            <a:spLocks noGrp="1"/>
          </p:cNvSpPr>
          <p:nvPr>
            <p:ph type="dt" sz="half" idx="10"/>
          </p:nvPr>
        </p:nvSpPr>
        <p:spPr/>
        <p:txBody>
          <a:bodyPr/>
          <a:lstStyle/>
          <a:p>
            <a:fld id="{0EA05AFB-8D75-443D-BEE4-E53843684B6D}" type="datetime1">
              <a:rPr lang="zh-CN" altLang="en-US" smtClean="0"/>
              <a:t>2025/9/16</a:t>
            </a:fld>
            <a:endParaRPr lang="zh-CN" altLang="en-US"/>
          </a:p>
        </p:txBody>
      </p:sp>
      <p:sp>
        <p:nvSpPr>
          <p:cNvPr id="6" name="页脚占位符 5">
            <a:extLst>
              <a:ext uri="{FF2B5EF4-FFF2-40B4-BE49-F238E27FC236}">
                <a16:creationId xmlns:a16="http://schemas.microsoft.com/office/drawing/2014/main" id="{428E2951-020A-497F-A03B-F1BCA6AB4D02}"/>
              </a:ext>
            </a:extLst>
          </p:cNvPr>
          <p:cNvSpPr>
            <a:spLocks noGrp="1"/>
          </p:cNvSpPr>
          <p:nvPr>
            <p:ph type="ftr" sz="quarter" idx="11"/>
          </p:nvPr>
        </p:nvSpPr>
        <p:spPr/>
        <p:txBody>
          <a:bodyPr/>
          <a:lstStyle/>
          <a:p>
            <a:r>
              <a:rPr lang="zh-CN" altLang="en-US"/>
              <a:t>添加页脚</a:t>
            </a:r>
          </a:p>
        </p:txBody>
      </p:sp>
      <p:sp>
        <p:nvSpPr>
          <p:cNvPr id="7" name="灯片编号占位符 6">
            <a:extLst>
              <a:ext uri="{FF2B5EF4-FFF2-40B4-BE49-F238E27FC236}">
                <a16:creationId xmlns:a16="http://schemas.microsoft.com/office/drawing/2014/main" id="{46A58C95-BD5B-4B31-8565-6910C28CAE64}"/>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
        <p:nvSpPr>
          <p:cNvPr id="8" name="矩形​：圆角 8">
            <a:extLst>
              <a:ext uri="{FF2B5EF4-FFF2-40B4-BE49-F238E27FC236}">
                <a16:creationId xmlns:a16="http://schemas.microsoft.com/office/drawing/2014/main" id="{BBDC92F7-6EEF-4704-B12D-CA909EBD747A}"/>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cxnSp>
        <p:nvCxnSpPr>
          <p:cNvPr id="9" name="直接连接符 8">
            <a:extLst>
              <a:ext uri="{FF2B5EF4-FFF2-40B4-BE49-F238E27FC236}">
                <a16:creationId xmlns:a16="http://schemas.microsoft.com/office/drawing/2014/main" id="{39BAB5B9-5C8D-4750-BE43-B6A392AE220C}"/>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6673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49F6DF-9AEA-4242-A530-026DC44F364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E1221F-DEA5-4A8F-A885-D184367007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F8FBA4F-B4A0-4B8D-A595-A7C898514FA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8FDF54-98C1-4309-926C-CA7B9F29C7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568C90F-6681-4136-A395-7F20EC18467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7DC12AC-A0D1-49BD-B74B-F8D5CB1D7CFB}"/>
              </a:ext>
            </a:extLst>
          </p:cNvPr>
          <p:cNvSpPr>
            <a:spLocks noGrp="1"/>
          </p:cNvSpPr>
          <p:nvPr>
            <p:ph type="dt" sz="half" idx="10"/>
          </p:nvPr>
        </p:nvSpPr>
        <p:spPr/>
        <p:txBody>
          <a:bodyPr/>
          <a:lstStyle/>
          <a:p>
            <a:fld id="{3B3F3B3F-722F-4F32-A496-4A9BBFC3FEFE}" type="datetime1">
              <a:rPr lang="zh-CN" altLang="en-US" smtClean="0"/>
              <a:t>2025/9/16</a:t>
            </a:fld>
            <a:endParaRPr lang="zh-CN" altLang="en-US"/>
          </a:p>
        </p:txBody>
      </p:sp>
      <p:sp>
        <p:nvSpPr>
          <p:cNvPr id="8" name="页脚占位符 7">
            <a:extLst>
              <a:ext uri="{FF2B5EF4-FFF2-40B4-BE49-F238E27FC236}">
                <a16:creationId xmlns:a16="http://schemas.microsoft.com/office/drawing/2014/main" id="{CD8502D7-7226-4F1B-80E9-44FEDD695235}"/>
              </a:ext>
            </a:extLst>
          </p:cNvPr>
          <p:cNvSpPr>
            <a:spLocks noGrp="1"/>
          </p:cNvSpPr>
          <p:nvPr>
            <p:ph type="ftr" sz="quarter" idx="11"/>
          </p:nvPr>
        </p:nvSpPr>
        <p:spPr/>
        <p:txBody>
          <a:bodyPr/>
          <a:lstStyle/>
          <a:p>
            <a:r>
              <a:rPr lang="zh-CN" altLang="en-US"/>
              <a:t>添加页脚</a:t>
            </a:r>
          </a:p>
        </p:txBody>
      </p:sp>
      <p:sp>
        <p:nvSpPr>
          <p:cNvPr id="9" name="灯片编号占位符 8">
            <a:extLst>
              <a:ext uri="{FF2B5EF4-FFF2-40B4-BE49-F238E27FC236}">
                <a16:creationId xmlns:a16="http://schemas.microsoft.com/office/drawing/2014/main" id="{F1587B4A-C415-4228-9F3F-F489FE6926B0}"/>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pic>
        <p:nvPicPr>
          <p:cNvPr id="10" name="图片 9" descr="Celestia-R1---OverlayContentHD.png">
            <a:extLst>
              <a:ext uri="{FF2B5EF4-FFF2-40B4-BE49-F238E27FC236}">
                <a16:creationId xmlns:a16="http://schemas.microsoft.com/office/drawing/2014/main" id="{1A66CF76-2D8C-415E-82E5-E31554FA91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11" name="直接连接符 10">
            <a:extLst>
              <a:ext uri="{FF2B5EF4-FFF2-40B4-BE49-F238E27FC236}">
                <a16:creationId xmlns:a16="http://schemas.microsoft.com/office/drawing/2014/main" id="{C4C84A84-8593-473B-B862-B4CA7B739B77}"/>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1156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D0EE0-7EC5-4846-8F0C-5A590F6508C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24CD411-69A9-4B03-B65B-931623866766}"/>
              </a:ext>
            </a:extLst>
          </p:cNvPr>
          <p:cNvSpPr>
            <a:spLocks noGrp="1"/>
          </p:cNvSpPr>
          <p:nvPr>
            <p:ph type="dt" sz="half" idx="10"/>
          </p:nvPr>
        </p:nvSpPr>
        <p:spPr/>
        <p:txBody>
          <a:bodyPr/>
          <a:lstStyle/>
          <a:p>
            <a:fld id="{11431602-FF2B-48D1-9784-3A652BE8662C}" type="datetime1">
              <a:rPr lang="zh-CN" altLang="en-US" smtClean="0"/>
              <a:t>2025/9/16</a:t>
            </a:fld>
            <a:endParaRPr lang="zh-CN" altLang="en-US"/>
          </a:p>
        </p:txBody>
      </p:sp>
      <p:sp>
        <p:nvSpPr>
          <p:cNvPr id="4" name="页脚占位符 3">
            <a:extLst>
              <a:ext uri="{FF2B5EF4-FFF2-40B4-BE49-F238E27FC236}">
                <a16:creationId xmlns:a16="http://schemas.microsoft.com/office/drawing/2014/main" id="{2FEFD939-A7D7-4764-B181-5B7E89049BFB}"/>
              </a:ext>
            </a:extLst>
          </p:cNvPr>
          <p:cNvSpPr>
            <a:spLocks noGrp="1"/>
          </p:cNvSpPr>
          <p:nvPr>
            <p:ph type="ftr" sz="quarter" idx="11"/>
          </p:nvPr>
        </p:nvSpPr>
        <p:spPr/>
        <p:txBody>
          <a:bodyPr/>
          <a:lstStyle/>
          <a:p>
            <a:r>
              <a:rPr lang="zh-CN" altLang="en-US"/>
              <a:t>添加页脚</a:t>
            </a:r>
          </a:p>
        </p:txBody>
      </p:sp>
      <p:sp>
        <p:nvSpPr>
          <p:cNvPr id="5" name="灯片编号占位符 4">
            <a:extLst>
              <a:ext uri="{FF2B5EF4-FFF2-40B4-BE49-F238E27FC236}">
                <a16:creationId xmlns:a16="http://schemas.microsoft.com/office/drawing/2014/main" id="{504B1848-EF97-4B50-B89C-A72C98D031A5}"/>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856315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BEB59D7-CD5E-44D3-A8CB-E7644EAFBF96}"/>
              </a:ext>
            </a:extLst>
          </p:cNvPr>
          <p:cNvSpPr>
            <a:spLocks noGrp="1"/>
          </p:cNvSpPr>
          <p:nvPr>
            <p:ph type="dt" sz="half" idx="10"/>
          </p:nvPr>
        </p:nvSpPr>
        <p:spPr/>
        <p:txBody>
          <a:bodyPr/>
          <a:lstStyle/>
          <a:p>
            <a:fld id="{7148FC16-D7EF-4636-AD38-553A6D7D86F0}" type="datetime1">
              <a:rPr lang="zh-CN" altLang="en-US" smtClean="0"/>
              <a:t>2025/9/16</a:t>
            </a:fld>
            <a:endParaRPr lang="zh-CN" altLang="en-US"/>
          </a:p>
        </p:txBody>
      </p:sp>
      <p:sp>
        <p:nvSpPr>
          <p:cNvPr id="3" name="页脚占位符 2">
            <a:extLst>
              <a:ext uri="{FF2B5EF4-FFF2-40B4-BE49-F238E27FC236}">
                <a16:creationId xmlns:a16="http://schemas.microsoft.com/office/drawing/2014/main" id="{1DF2F1C2-D2BF-43A8-9651-15A62F312137}"/>
              </a:ext>
            </a:extLst>
          </p:cNvPr>
          <p:cNvSpPr>
            <a:spLocks noGrp="1"/>
          </p:cNvSpPr>
          <p:nvPr>
            <p:ph type="ftr" sz="quarter" idx="11"/>
          </p:nvPr>
        </p:nvSpPr>
        <p:spPr/>
        <p:txBody>
          <a:bodyPr/>
          <a:lstStyle/>
          <a:p>
            <a:r>
              <a:rPr lang="zh-CN" altLang="en-US"/>
              <a:t>添加页脚</a:t>
            </a:r>
          </a:p>
        </p:txBody>
      </p:sp>
      <p:sp>
        <p:nvSpPr>
          <p:cNvPr id="4" name="灯片编号占位符 3">
            <a:extLst>
              <a:ext uri="{FF2B5EF4-FFF2-40B4-BE49-F238E27FC236}">
                <a16:creationId xmlns:a16="http://schemas.microsoft.com/office/drawing/2014/main" id="{DEA18D71-CFC7-4AF1-89B1-924C1BA74B1B}"/>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97121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38968-82B4-4EDE-9B40-B1B83535D40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ADACA64-E970-41C9-9BF7-207DFDEA8D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1DF6D4F-6A42-4B1F-96DE-C423C1CC8F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21F20A4-D8C5-422C-8CBA-8125A579E024}"/>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6" name="页脚占位符 5">
            <a:extLst>
              <a:ext uri="{FF2B5EF4-FFF2-40B4-BE49-F238E27FC236}">
                <a16:creationId xmlns:a16="http://schemas.microsoft.com/office/drawing/2014/main" id="{B55102C3-8E32-4F9F-A0A3-37BD42D2B94B}"/>
              </a:ext>
            </a:extLst>
          </p:cNvPr>
          <p:cNvSpPr>
            <a:spLocks noGrp="1"/>
          </p:cNvSpPr>
          <p:nvPr>
            <p:ph type="ftr" sz="quarter" idx="11"/>
          </p:nvPr>
        </p:nvSpPr>
        <p:spPr/>
        <p:txBody>
          <a:bodyPr/>
          <a:lstStyle/>
          <a:p>
            <a:r>
              <a:rPr lang="zh-CN" altLang="en-US" noProof="0"/>
              <a:t>添加页脚</a:t>
            </a:r>
          </a:p>
        </p:txBody>
      </p:sp>
      <p:sp>
        <p:nvSpPr>
          <p:cNvPr id="7" name="灯片编号占位符 6">
            <a:extLst>
              <a:ext uri="{FF2B5EF4-FFF2-40B4-BE49-F238E27FC236}">
                <a16:creationId xmlns:a16="http://schemas.microsoft.com/office/drawing/2014/main" id="{B6ECC4F0-6BF4-4D59-8141-A48F4C0EA6E1}"/>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16238059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151F3-EA43-487E-AA0C-E7431FF496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23D088B-8730-40EE-9320-2C84FBFC63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3540662-5D32-49A8-834A-C7E738479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FC23BA-54C0-4C82-B3A5-DA8D0240513D}"/>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6" name="页脚占位符 5">
            <a:extLst>
              <a:ext uri="{FF2B5EF4-FFF2-40B4-BE49-F238E27FC236}">
                <a16:creationId xmlns:a16="http://schemas.microsoft.com/office/drawing/2014/main" id="{949A77C0-CE7B-4F53-A352-5B2C28959A5A}"/>
              </a:ext>
            </a:extLst>
          </p:cNvPr>
          <p:cNvSpPr>
            <a:spLocks noGrp="1"/>
          </p:cNvSpPr>
          <p:nvPr>
            <p:ph type="ftr" sz="quarter" idx="11"/>
          </p:nvPr>
        </p:nvSpPr>
        <p:spPr/>
        <p:txBody>
          <a:bodyPr/>
          <a:lstStyle/>
          <a:p>
            <a:r>
              <a:rPr lang="zh-CN" altLang="en-US" noProof="0"/>
              <a:t>添加页脚</a:t>
            </a:r>
          </a:p>
        </p:txBody>
      </p:sp>
      <p:sp>
        <p:nvSpPr>
          <p:cNvPr id="7" name="灯片编号占位符 6">
            <a:extLst>
              <a:ext uri="{FF2B5EF4-FFF2-40B4-BE49-F238E27FC236}">
                <a16:creationId xmlns:a16="http://schemas.microsoft.com/office/drawing/2014/main" id="{A82D11F6-2168-4FE2-88AC-926E27BE6127}"/>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35052291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C1EA69-D812-451D-BDD1-12AFAD0F7B0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0FDF95A-F5E6-4E8F-8659-DBF2ADDB0A6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34E6C8B-7771-4514-B2E1-E252DDC56095}"/>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BF8D9784-69BA-4C39-89D9-267CA513C09B}"/>
              </a:ext>
            </a:extLst>
          </p:cNvPr>
          <p:cNvSpPr>
            <a:spLocks noGrp="1"/>
          </p:cNvSpPr>
          <p:nvPr>
            <p:ph type="ftr" sz="quarter" idx="11"/>
          </p:nvPr>
        </p:nvSpPr>
        <p:spPr/>
        <p:txBody>
          <a:bodyPr/>
          <a:lstStyle/>
          <a:p>
            <a:r>
              <a:rPr lang="zh-CN" altLang="en-US" noProof="0"/>
              <a:t>添加页脚</a:t>
            </a:r>
          </a:p>
        </p:txBody>
      </p:sp>
      <p:sp>
        <p:nvSpPr>
          <p:cNvPr id="6" name="灯片编号占位符 5">
            <a:extLst>
              <a:ext uri="{FF2B5EF4-FFF2-40B4-BE49-F238E27FC236}">
                <a16:creationId xmlns:a16="http://schemas.microsoft.com/office/drawing/2014/main" id="{BB9B3D84-901F-4857-9703-238A4FACBD92}"/>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7545362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5B6EF4-340C-4C34-8013-614F08D7DB7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DCD452B-9D90-4EE1-80ED-9B5D7032D3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BAB8CE-F9D0-4662-9D23-C59099518054}"/>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6B5E34CE-E762-4D76-B585-0D96089E0F63}"/>
              </a:ext>
            </a:extLst>
          </p:cNvPr>
          <p:cNvSpPr>
            <a:spLocks noGrp="1"/>
          </p:cNvSpPr>
          <p:nvPr>
            <p:ph type="ftr" sz="quarter" idx="11"/>
          </p:nvPr>
        </p:nvSpPr>
        <p:spPr/>
        <p:txBody>
          <a:bodyPr/>
          <a:lstStyle/>
          <a:p>
            <a:r>
              <a:rPr lang="zh-CN" altLang="en-US" noProof="0"/>
              <a:t>添加页脚</a:t>
            </a:r>
          </a:p>
        </p:txBody>
      </p:sp>
      <p:sp>
        <p:nvSpPr>
          <p:cNvPr id="6" name="灯片编号占位符 5">
            <a:extLst>
              <a:ext uri="{FF2B5EF4-FFF2-40B4-BE49-F238E27FC236}">
                <a16:creationId xmlns:a16="http://schemas.microsoft.com/office/drawing/2014/main" id="{45394101-B83C-40AD-8CDE-86527C391B3C}"/>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62704232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_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t>2025/9/16</a:t>
            </a:fld>
            <a:endParaRPr lang="zh-CN" altLang="en-US"/>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7_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t>2025/9/16</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969382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7_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t>2025/9/16</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832959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9CFA8DA-6A2E-452F-B2FD-C692E3F9477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861200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F208F5-23F9-41F0-9BD4-963E4B09B1C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8565056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7D7A5-162C-448B-9184-4DF74749515C}"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44901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C7B8D8-DB3E-4157-B75E-F22DF685A7AD}"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795224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DAC17E3C-7BCD-4CE1-BB77-DBC4F6AAD3A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945364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0450531-738C-4056-94DC-C9695B076A7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117241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02293090-B4C5-4232-8C20-16B4CD9E856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991765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D83C681-63CC-4C6E-BB2B-532CC9376B1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957804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D3E630-40F6-4B28-997D-664B0011855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9859940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29236F9-F5AC-4754-AA25-365CEB18F6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474129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CD11ED9-4D7A-4F4E-812E-E8F30379C1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2412857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BD3E1CC-83A2-4B9D-8E8B-60737E93608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585214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quarter" idx="2"/>
          </p:nvPr>
        </p:nvSpPr>
        <p:spPr>
          <a:xfrm>
            <a:off x="6197600" y="19812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Content Placeholder 4"/>
          <p:cNvSpPr>
            <a:spLocks noGrp="1"/>
          </p:cNvSpPr>
          <p:nvPr>
            <p:ph sz="quarter" idx="3"/>
          </p:nvPr>
        </p:nvSpPr>
        <p:spPr>
          <a:xfrm>
            <a:off x="6197600" y="41148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3733C97B-CB0A-4B24-848D-85035B14B2B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4442332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26FDBF1-7747-46AD-BE97-E034824279B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6232270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7D7C5-670A-42FF-BA14-723C79BFE129}"/>
              </a:ext>
            </a:extLst>
          </p:cNvPr>
          <p:cNvSpPr>
            <a:spLocks noGrp="1"/>
          </p:cNvSpPr>
          <p:nvPr>
            <p:ph type="ctrTitle"/>
          </p:nvPr>
        </p:nvSpPr>
        <p:spPr>
          <a:xfrm>
            <a:off x="2343150" y="1712913"/>
            <a:ext cx="9144000" cy="2387600"/>
          </a:xfrm>
        </p:spPr>
        <p:txBody>
          <a:bodyPr anchor="b"/>
          <a:lstStyle>
            <a:lvl1pPr algn="ctr">
              <a:defRPr sz="6000"/>
            </a:lvl1pPr>
          </a:lstStyle>
          <a:p>
            <a:r>
              <a:rPr lang="zh-CN" altLang="en-US"/>
              <a:t>单击此处编辑母版标题样式</a:t>
            </a:r>
            <a:endParaRPr lang="zh-CN" altLang="en-US" dirty="0"/>
          </a:p>
        </p:txBody>
      </p:sp>
      <p:sp>
        <p:nvSpPr>
          <p:cNvPr id="3" name="副标题 2">
            <a:extLst>
              <a:ext uri="{FF2B5EF4-FFF2-40B4-BE49-F238E27FC236}">
                <a16:creationId xmlns:a16="http://schemas.microsoft.com/office/drawing/2014/main" id="{05F38038-D055-4684-842F-7ED30A46FA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B5FB617-B4F8-4986-B468-5F6C77A3D92B}"/>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0A8C1A28-11B1-4B0A-9744-B8720D327639}"/>
              </a:ext>
            </a:extLst>
          </p:cNvPr>
          <p:cNvSpPr>
            <a:spLocks noGrp="1"/>
          </p:cNvSpPr>
          <p:nvPr>
            <p:ph type="ftr" sz="quarter" idx="11"/>
          </p:nvPr>
        </p:nvSpPr>
        <p:spPr/>
        <p:txBody>
          <a:bodyPr/>
          <a:lstStyle/>
          <a:p>
            <a:r>
              <a:rPr lang="zh-CN" altLang="en-US" noProof="0"/>
              <a:t>添加页脚</a:t>
            </a:r>
          </a:p>
        </p:txBody>
      </p:sp>
      <p:sp>
        <p:nvSpPr>
          <p:cNvPr id="6" name="灯片编号占位符 5">
            <a:extLst>
              <a:ext uri="{FF2B5EF4-FFF2-40B4-BE49-F238E27FC236}">
                <a16:creationId xmlns:a16="http://schemas.microsoft.com/office/drawing/2014/main" id="{7AFB8695-81DD-470E-A945-F2BC2F5E7CC5}"/>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
        <p:nvSpPr>
          <p:cNvPr id="8" name="图片占位符 7">
            <a:extLst>
              <a:ext uri="{FF2B5EF4-FFF2-40B4-BE49-F238E27FC236}">
                <a16:creationId xmlns:a16="http://schemas.microsoft.com/office/drawing/2014/main" id="{836D05C7-F4E2-4011-83E0-51E439BDDB41}"/>
              </a:ext>
            </a:extLst>
          </p:cNvPr>
          <p:cNvSpPr>
            <a:spLocks noGrp="1"/>
          </p:cNvSpPr>
          <p:nvPr>
            <p:ph type="pic" sz="quarter" idx="13"/>
          </p:nvPr>
        </p:nvSpPr>
        <p:spPr>
          <a:xfrm>
            <a:off x="357187" y="476250"/>
            <a:ext cx="962025" cy="914400"/>
          </a:xfrm>
        </p:spPr>
        <p:txBody>
          <a:bodyPr/>
          <a:lstStyle/>
          <a:p>
            <a:r>
              <a:rPr lang="zh-CN" altLang="en-US"/>
              <a:t>单击图标添加图片</a:t>
            </a:r>
            <a:endParaRPr lang="zh-CN" altLang="en-US" dirty="0"/>
          </a:p>
        </p:txBody>
      </p:sp>
      <p:pic>
        <p:nvPicPr>
          <p:cNvPr id="10" name="图片 9">
            <a:extLst>
              <a:ext uri="{FF2B5EF4-FFF2-40B4-BE49-F238E27FC236}">
                <a16:creationId xmlns:a16="http://schemas.microsoft.com/office/drawing/2014/main" id="{C83EB01B-2374-45B5-BC2B-D65A89C64E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7" y="384762"/>
            <a:ext cx="939383" cy="1005888"/>
          </a:xfrm>
          <a:prstGeom prst="rect">
            <a:avLst/>
          </a:prstGeom>
        </p:spPr>
      </p:pic>
      <p:sp>
        <p:nvSpPr>
          <p:cNvPr id="11" name="文本框 10">
            <a:extLst>
              <a:ext uri="{FF2B5EF4-FFF2-40B4-BE49-F238E27FC236}">
                <a16:creationId xmlns:a16="http://schemas.microsoft.com/office/drawing/2014/main" id="{D4A17BD4-E670-42F2-82AA-1AFFDA6F2CA2}"/>
              </a:ext>
            </a:extLst>
          </p:cNvPr>
          <p:cNvSpPr txBox="1"/>
          <p:nvPr/>
        </p:nvSpPr>
        <p:spPr>
          <a:xfrm>
            <a:off x="1495425" y="978972"/>
            <a:ext cx="3105150" cy="369332"/>
          </a:xfrm>
          <a:prstGeom prst="rect">
            <a:avLst/>
          </a:prstGeom>
          <a:noFill/>
        </p:spPr>
        <p:txBody>
          <a:bodyPr wrap="square" rtlCol="0">
            <a:spAutoFit/>
          </a:bodyPr>
          <a:lstStyle/>
          <a:p>
            <a:r>
              <a:rPr lang="zh-CN" altLang="en-US" dirty="0"/>
              <a:t>华东师范大学</a:t>
            </a:r>
          </a:p>
        </p:txBody>
      </p:sp>
    </p:spTree>
    <p:extLst>
      <p:ext uri="{BB962C8B-B14F-4D97-AF65-F5344CB8AC3E}">
        <p14:creationId xmlns:p14="http://schemas.microsoft.com/office/powerpoint/2010/main" val="3586237914"/>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A64FE3-61F1-4018-B4E6-6584EB666F1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6A51995-2E9E-4825-B41F-EF06D1517E1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7B277F-81AE-40D7-8999-7D50EA667450}"/>
              </a:ext>
            </a:extLst>
          </p:cNvPr>
          <p:cNvSpPr>
            <a:spLocks noGrp="1"/>
          </p:cNvSpPr>
          <p:nvPr>
            <p:ph type="dt" sz="half" idx="10"/>
          </p:nvPr>
        </p:nvSpPr>
        <p:spPr/>
        <p:txBody>
          <a:bodyPr/>
          <a:lstStyle/>
          <a:p>
            <a:fld id="{1AAFB855-1BD2-4AAF-A6C9-223529E13849}" type="datetime1">
              <a:rPr lang="zh-CN" altLang="en-US" smtClean="0"/>
              <a:t>2025/9/16</a:t>
            </a:fld>
            <a:endParaRPr lang="zh-CN" altLang="en-US"/>
          </a:p>
        </p:txBody>
      </p:sp>
      <p:sp>
        <p:nvSpPr>
          <p:cNvPr id="5" name="页脚占位符 4">
            <a:extLst>
              <a:ext uri="{FF2B5EF4-FFF2-40B4-BE49-F238E27FC236}">
                <a16:creationId xmlns:a16="http://schemas.microsoft.com/office/drawing/2014/main" id="{0D67AFE6-BDA5-44D8-8883-8322274C7343}"/>
              </a:ext>
            </a:extLst>
          </p:cNvPr>
          <p:cNvSpPr>
            <a:spLocks noGrp="1"/>
          </p:cNvSpPr>
          <p:nvPr>
            <p:ph type="ftr" sz="quarter" idx="11"/>
          </p:nvPr>
        </p:nvSpPr>
        <p:spPr/>
        <p:txBody>
          <a:bodyPr/>
          <a:lstStyle/>
          <a:p>
            <a:r>
              <a:rPr lang="zh-CN" altLang="en-US"/>
              <a:t>添加页脚</a:t>
            </a:r>
          </a:p>
        </p:txBody>
      </p:sp>
      <p:sp>
        <p:nvSpPr>
          <p:cNvPr id="6" name="灯片编号占位符 5">
            <a:extLst>
              <a:ext uri="{FF2B5EF4-FFF2-40B4-BE49-F238E27FC236}">
                <a16:creationId xmlns:a16="http://schemas.microsoft.com/office/drawing/2014/main" id="{A8D87DDF-9895-4CE2-8246-069F9EC5FB18}"/>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pic>
        <p:nvPicPr>
          <p:cNvPr id="8" name="图片 7">
            <a:extLst>
              <a:ext uri="{FF2B5EF4-FFF2-40B4-BE49-F238E27FC236}">
                <a16:creationId xmlns:a16="http://schemas.microsoft.com/office/drawing/2014/main" id="{893FAB43-8BBB-483A-95CC-6400CFD3C0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4462" y="58738"/>
            <a:ext cx="1358900" cy="254000"/>
          </a:xfrm>
          <a:prstGeom prst="rect">
            <a:avLst/>
          </a:prstGeom>
        </p:spPr>
      </p:pic>
      <p:pic>
        <p:nvPicPr>
          <p:cNvPr id="10" name="图片 9">
            <a:extLst>
              <a:ext uri="{FF2B5EF4-FFF2-40B4-BE49-F238E27FC236}">
                <a16:creationId xmlns:a16="http://schemas.microsoft.com/office/drawing/2014/main" id="{0EE77CAA-AAC0-4433-8B44-16AF5DB5DB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63"/>
            <a:ext cx="2579741" cy="340825"/>
          </a:xfrm>
          <a:prstGeom prst="rect">
            <a:avLst/>
          </a:prstGeom>
        </p:spPr>
      </p:pic>
      <p:pic>
        <p:nvPicPr>
          <p:cNvPr id="12" name="图片 11">
            <a:extLst>
              <a:ext uri="{FF2B5EF4-FFF2-40B4-BE49-F238E27FC236}">
                <a16:creationId xmlns:a16="http://schemas.microsoft.com/office/drawing/2014/main" id="{C5CE1D6B-0E86-4E47-BCC4-01568943EC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8084" y="7534"/>
            <a:ext cx="7863916" cy="338054"/>
          </a:xfrm>
          <a:prstGeom prst="rect">
            <a:avLst/>
          </a:prstGeom>
        </p:spPr>
      </p:pic>
      <p:cxnSp>
        <p:nvCxnSpPr>
          <p:cNvPr id="11" name="直接连接符​​ 7">
            <a:extLst>
              <a:ext uri="{FF2B5EF4-FFF2-40B4-BE49-F238E27FC236}">
                <a16:creationId xmlns:a16="http://schemas.microsoft.com/office/drawing/2014/main" id="{9760A6BE-138A-4B83-85D4-ACE4048D40CF}"/>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137127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0D68EA-D673-4427-BBFA-C227F04811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DEF2E64-2345-48ED-8AA4-B9411F7488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50314E0-7B16-4969-83A3-05CE2CC55A63}"/>
              </a:ext>
            </a:extLst>
          </p:cNvPr>
          <p:cNvSpPr>
            <a:spLocks noGrp="1"/>
          </p:cNvSpPr>
          <p:nvPr>
            <p:ph type="dt" sz="half" idx="10"/>
          </p:nvPr>
        </p:nvSpPr>
        <p:spPr/>
        <p:txBody>
          <a:bodyPr/>
          <a:lstStyle/>
          <a:p>
            <a:fld id="{CF45E857-266B-4130-8BFF-1612F79A276A}" type="datetime1">
              <a:rPr lang="zh-CN" altLang="en-US" smtClean="0"/>
              <a:t>2025/9/16</a:t>
            </a:fld>
            <a:endParaRPr lang="zh-CN" altLang="en-US"/>
          </a:p>
        </p:txBody>
      </p:sp>
      <p:sp>
        <p:nvSpPr>
          <p:cNvPr id="5" name="页脚占位符 4">
            <a:extLst>
              <a:ext uri="{FF2B5EF4-FFF2-40B4-BE49-F238E27FC236}">
                <a16:creationId xmlns:a16="http://schemas.microsoft.com/office/drawing/2014/main" id="{3E928E32-9F89-458F-9B92-25F49B008F67}"/>
              </a:ext>
            </a:extLst>
          </p:cNvPr>
          <p:cNvSpPr>
            <a:spLocks noGrp="1"/>
          </p:cNvSpPr>
          <p:nvPr>
            <p:ph type="ftr" sz="quarter" idx="11"/>
          </p:nvPr>
        </p:nvSpPr>
        <p:spPr/>
        <p:txBody>
          <a:bodyPr/>
          <a:lstStyle/>
          <a:p>
            <a:r>
              <a:rPr lang="zh-CN" altLang="en-US"/>
              <a:t>添加页脚</a:t>
            </a:r>
          </a:p>
        </p:txBody>
      </p:sp>
      <p:sp>
        <p:nvSpPr>
          <p:cNvPr id="6" name="灯片编号占位符 5">
            <a:extLst>
              <a:ext uri="{FF2B5EF4-FFF2-40B4-BE49-F238E27FC236}">
                <a16:creationId xmlns:a16="http://schemas.microsoft.com/office/drawing/2014/main" id="{2E6DC2E3-0FCE-43B0-A849-63A91FADC33D}"/>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26401533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76C28A-1A29-4E82-8B48-1197AFAB57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BF2A17-9D5F-47AD-9241-2034FFD0D7E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6B15A90-F67D-4F87-AFA4-7405A0FD3F1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C28FB57-4B1C-4214-A17F-25A3156B9E03}"/>
              </a:ext>
            </a:extLst>
          </p:cNvPr>
          <p:cNvSpPr>
            <a:spLocks noGrp="1"/>
          </p:cNvSpPr>
          <p:nvPr>
            <p:ph type="dt" sz="half" idx="10"/>
          </p:nvPr>
        </p:nvSpPr>
        <p:spPr/>
        <p:txBody>
          <a:bodyPr/>
          <a:lstStyle/>
          <a:p>
            <a:fld id="{0EA05AFB-8D75-443D-BEE4-E53843684B6D}" type="datetime1">
              <a:rPr lang="zh-CN" altLang="en-US" smtClean="0"/>
              <a:t>2025/9/16</a:t>
            </a:fld>
            <a:endParaRPr lang="zh-CN" altLang="en-US"/>
          </a:p>
        </p:txBody>
      </p:sp>
      <p:sp>
        <p:nvSpPr>
          <p:cNvPr id="6" name="页脚占位符 5">
            <a:extLst>
              <a:ext uri="{FF2B5EF4-FFF2-40B4-BE49-F238E27FC236}">
                <a16:creationId xmlns:a16="http://schemas.microsoft.com/office/drawing/2014/main" id="{428E2951-020A-497F-A03B-F1BCA6AB4D02}"/>
              </a:ext>
            </a:extLst>
          </p:cNvPr>
          <p:cNvSpPr>
            <a:spLocks noGrp="1"/>
          </p:cNvSpPr>
          <p:nvPr>
            <p:ph type="ftr" sz="quarter" idx="11"/>
          </p:nvPr>
        </p:nvSpPr>
        <p:spPr/>
        <p:txBody>
          <a:bodyPr/>
          <a:lstStyle/>
          <a:p>
            <a:r>
              <a:rPr lang="zh-CN" altLang="en-US"/>
              <a:t>添加页脚</a:t>
            </a:r>
          </a:p>
        </p:txBody>
      </p:sp>
      <p:sp>
        <p:nvSpPr>
          <p:cNvPr id="7" name="灯片编号占位符 6">
            <a:extLst>
              <a:ext uri="{FF2B5EF4-FFF2-40B4-BE49-F238E27FC236}">
                <a16:creationId xmlns:a16="http://schemas.microsoft.com/office/drawing/2014/main" id="{46A58C95-BD5B-4B31-8565-6910C28CAE64}"/>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
        <p:nvSpPr>
          <p:cNvPr id="8" name="矩形​：圆角 8">
            <a:extLst>
              <a:ext uri="{FF2B5EF4-FFF2-40B4-BE49-F238E27FC236}">
                <a16:creationId xmlns:a16="http://schemas.microsoft.com/office/drawing/2014/main" id="{104D30FD-C518-49D7-A66E-E1436F672DBA}"/>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cxnSp>
        <p:nvCxnSpPr>
          <p:cNvPr id="9" name="直接连接符 8">
            <a:extLst>
              <a:ext uri="{FF2B5EF4-FFF2-40B4-BE49-F238E27FC236}">
                <a16:creationId xmlns:a16="http://schemas.microsoft.com/office/drawing/2014/main" id="{976084ED-A4A4-4E3D-9EBF-3E2D0623B3EE}"/>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257257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49F6DF-9AEA-4242-A530-026DC44F364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E1221F-DEA5-4A8F-A885-D184367007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F8FBA4F-B4A0-4B8D-A595-A7C898514FA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8FDF54-98C1-4309-926C-CA7B9F29C7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568C90F-6681-4136-A395-7F20EC18467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7DC12AC-A0D1-49BD-B74B-F8D5CB1D7CFB}"/>
              </a:ext>
            </a:extLst>
          </p:cNvPr>
          <p:cNvSpPr>
            <a:spLocks noGrp="1"/>
          </p:cNvSpPr>
          <p:nvPr>
            <p:ph type="dt" sz="half" idx="10"/>
          </p:nvPr>
        </p:nvSpPr>
        <p:spPr/>
        <p:txBody>
          <a:bodyPr/>
          <a:lstStyle/>
          <a:p>
            <a:fld id="{3B3F3B3F-722F-4F32-A496-4A9BBFC3FEFE}" type="datetime1">
              <a:rPr lang="zh-CN" altLang="en-US" smtClean="0"/>
              <a:t>2025/9/16</a:t>
            </a:fld>
            <a:endParaRPr lang="zh-CN" altLang="en-US"/>
          </a:p>
        </p:txBody>
      </p:sp>
      <p:sp>
        <p:nvSpPr>
          <p:cNvPr id="8" name="页脚占位符 7">
            <a:extLst>
              <a:ext uri="{FF2B5EF4-FFF2-40B4-BE49-F238E27FC236}">
                <a16:creationId xmlns:a16="http://schemas.microsoft.com/office/drawing/2014/main" id="{CD8502D7-7226-4F1B-80E9-44FEDD695235}"/>
              </a:ext>
            </a:extLst>
          </p:cNvPr>
          <p:cNvSpPr>
            <a:spLocks noGrp="1"/>
          </p:cNvSpPr>
          <p:nvPr>
            <p:ph type="ftr" sz="quarter" idx="11"/>
          </p:nvPr>
        </p:nvSpPr>
        <p:spPr/>
        <p:txBody>
          <a:bodyPr/>
          <a:lstStyle/>
          <a:p>
            <a:r>
              <a:rPr lang="zh-CN" altLang="en-US"/>
              <a:t>添加页脚</a:t>
            </a:r>
          </a:p>
        </p:txBody>
      </p:sp>
      <p:sp>
        <p:nvSpPr>
          <p:cNvPr id="9" name="灯片编号占位符 8">
            <a:extLst>
              <a:ext uri="{FF2B5EF4-FFF2-40B4-BE49-F238E27FC236}">
                <a16:creationId xmlns:a16="http://schemas.microsoft.com/office/drawing/2014/main" id="{F1587B4A-C415-4228-9F3F-F489FE6926B0}"/>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pic>
        <p:nvPicPr>
          <p:cNvPr id="10" name="图片 9" descr="Celestia-R1---OverlayContentHD.png">
            <a:extLst>
              <a:ext uri="{FF2B5EF4-FFF2-40B4-BE49-F238E27FC236}">
                <a16:creationId xmlns:a16="http://schemas.microsoft.com/office/drawing/2014/main" id="{9606647A-3CC6-48F6-8AA6-B5DA662B63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11" name="直接连接符 10">
            <a:extLst>
              <a:ext uri="{FF2B5EF4-FFF2-40B4-BE49-F238E27FC236}">
                <a16:creationId xmlns:a16="http://schemas.microsoft.com/office/drawing/2014/main" id="{FDA1579C-ADD0-4EBA-BF1F-77F8B2BEEB74}"/>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2508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D0EE0-7EC5-4846-8F0C-5A590F6508C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24CD411-69A9-4B03-B65B-931623866766}"/>
              </a:ext>
            </a:extLst>
          </p:cNvPr>
          <p:cNvSpPr>
            <a:spLocks noGrp="1"/>
          </p:cNvSpPr>
          <p:nvPr>
            <p:ph type="dt" sz="half" idx="10"/>
          </p:nvPr>
        </p:nvSpPr>
        <p:spPr/>
        <p:txBody>
          <a:bodyPr/>
          <a:lstStyle/>
          <a:p>
            <a:fld id="{11431602-FF2B-48D1-9784-3A652BE8662C}" type="datetime1">
              <a:rPr lang="zh-CN" altLang="en-US" smtClean="0"/>
              <a:t>2025/9/16</a:t>
            </a:fld>
            <a:endParaRPr lang="zh-CN" altLang="en-US"/>
          </a:p>
        </p:txBody>
      </p:sp>
      <p:sp>
        <p:nvSpPr>
          <p:cNvPr id="4" name="页脚占位符 3">
            <a:extLst>
              <a:ext uri="{FF2B5EF4-FFF2-40B4-BE49-F238E27FC236}">
                <a16:creationId xmlns:a16="http://schemas.microsoft.com/office/drawing/2014/main" id="{2FEFD939-A7D7-4764-B181-5B7E89049BFB}"/>
              </a:ext>
            </a:extLst>
          </p:cNvPr>
          <p:cNvSpPr>
            <a:spLocks noGrp="1"/>
          </p:cNvSpPr>
          <p:nvPr>
            <p:ph type="ftr" sz="quarter" idx="11"/>
          </p:nvPr>
        </p:nvSpPr>
        <p:spPr/>
        <p:txBody>
          <a:bodyPr/>
          <a:lstStyle/>
          <a:p>
            <a:r>
              <a:rPr lang="zh-CN" altLang="en-US"/>
              <a:t>添加页脚</a:t>
            </a:r>
          </a:p>
        </p:txBody>
      </p:sp>
      <p:sp>
        <p:nvSpPr>
          <p:cNvPr id="5" name="灯片编号占位符 4">
            <a:extLst>
              <a:ext uri="{FF2B5EF4-FFF2-40B4-BE49-F238E27FC236}">
                <a16:creationId xmlns:a16="http://schemas.microsoft.com/office/drawing/2014/main" id="{504B1848-EF97-4B50-B89C-A72C98D031A5}"/>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26937388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BEB59D7-CD5E-44D3-A8CB-E7644EAFBF96}"/>
              </a:ext>
            </a:extLst>
          </p:cNvPr>
          <p:cNvSpPr>
            <a:spLocks noGrp="1"/>
          </p:cNvSpPr>
          <p:nvPr>
            <p:ph type="dt" sz="half" idx="10"/>
          </p:nvPr>
        </p:nvSpPr>
        <p:spPr/>
        <p:txBody>
          <a:bodyPr/>
          <a:lstStyle/>
          <a:p>
            <a:fld id="{7148FC16-D7EF-4636-AD38-553A6D7D86F0}" type="datetime1">
              <a:rPr lang="zh-CN" altLang="en-US" smtClean="0"/>
              <a:t>2025/9/16</a:t>
            </a:fld>
            <a:endParaRPr lang="zh-CN" altLang="en-US"/>
          </a:p>
        </p:txBody>
      </p:sp>
      <p:sp>
        <p:nvSpPr>
          <p:cNvPr id="3" name="页脚占位符 2">
            <a:extLst>
              <a:ext uri="{FF2B5EF4-FFF2-40B4-BE49-F238E27FC236}">
                <a16:creationId xmlns:a16="http://schemas.microsoft.com/office/drawing/2014/main" id="{1DF2F1C2-D2BF-43A8-9651-15A62F312137}"/>
              </a:ext>
            </a:extLst>
          </p:cNvPr>
          <p:cNvSpPr>
            <a:spLocks noGrp="1"/>
          </p:cNvSpPr>
          <p:nvPr>
            <p:ph type="ftr" sz="quarter" idx="11"/>
          </p:nvPr>
        </p:nvSpPr>
        <p:spPr/>
        <p:txBody>
          <a:bodyPr/>
          <a:lstStyle/>
          <a:p>
            <a:r>
              <a:rPr lang="zh-CN" altLang="en-US"/>
              <a:t>添加页脚</a:t>
            </a:r>
          </a:p>
        </p:txBody>
      </p:sp>
      <p:sp>
        <p:nvSpPr>
          <p:cNvPr id="4" name="灯片编号占位符 3">
            <a:extLst>
              <a:ext uri="{FF2B5EF4-FFF2-40B4-BE49-F238E27FC236}">
                <a16:creationId xmlns:a16="http://schemas.microsoft.com/office/drawing/2014/main" id="{DEA18D71-CFC7-4AF1-89B1-924C1BA74B1B}"/>
              </a:ext>
            </a:extLst>
          </p:cNvPr>
          <p:cNvSpPr>
            <a:spLocks noGrp="1"/>
          </p:cNvSpPr>
          <p:nvPr>
            <p:ph type="sldNum" sz="quarter" idx="12"/>
          </p:nvPr>
        </p:nvSpPr>
        <p:spPr/>
        <p:txBody>
          <a:body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13973217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38968-82B4-4EDE-9B40-B1B83535D40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ADACA64-E970-41C9-9BF7-207DFDEA8D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1DF6D4F-6A42-4B1F-96DE-C423C1CC8F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21F20A4-D8C5-422C-8CBA-8125A579E024}"/>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6" name="页脚占位符 5">
            <a:extLst>
              <a:ext uri="{FF2B5EF4-FFF2-40B4-BE49-F238E27FC236}">
                <a16:creationId xmlns:a16="http://schemas.microsoft.com/office/drawing/2014/main" id="{B55102C3-8E32-4F9F-A0A3-37BD42D2B94B}"/>
              </a:ext>
            </a:extLst>
          </p:cNvPr>
          <p:cNvSpPr>
            <a:spLocks noGrp="1"/>
          </p:cNvSpPr>
          <p:nvPr>
            <p:ph type="ftr" sz="quarter" idx="11"/>
          </p:nvPr>
        </p:nvSpPr>
        <p:spPr/>
        <p:txBody>
          <a:bodyPr/>
          <a:lstStyle/>
          <a:p>
            <a:r>
              <a:rPr lang="zh-CN" altLang="en-US" noProof="0"/>
              <a:t>添加页脚</a:t>
            </a:r>
          </a:p>
        </p:txBody>
      </p:sp>
      <p:sp>
        <p:nvSpPr>
          <p:cNvPr id="7" name="灯片编号占位符 6">
            <a:extLst>
              <a:ext uri="{FF2B5EF4-FFF2-40B4-BE49-F238E27FC236}">
                <a16:creationId xmlns:a16="http://schemas.microsoft.com/office/drawing/2014/main" id="{B6ECC4F0-6BF4-4D59-8141-A48F4C0EA6E1}"/>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395881965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151F3-EA43-487E-AA0C-E7431FF496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23D088B-8730-40EE-9320-2C84FBFC63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3540662-5D32-49A8-834A-C7E738479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FC23BA-54C0-4C82-B3A5-DA8D0240513D}"/>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6" name="页脚占位符 5">
            <a:extLst>
              <a:ext uri="{FF2B5EF4-FFF2-40B4-BE49-F238E27FC236}">
                <a16:creationId xmlns:a16="http://schemas.microsoft.com/office/drawing/2014/main" id="{949A77C0-CE7B-4F53-A352-5B2C28959A5A}"/>
              </a:ext>
            </a:extLst>
          </p:cNvPr>
          <p:cNvSpPr>
            <a:spLocks noGrp="1"/>
          </p:cNvSpPr>
          <p:nvPr>
            <p:ph type="ftr" sz="quarter" idx="11"/>
          </p:nvPr>
        </p:nvSpPr>
        <p:spPr/>
        <p:txBody>
          <a:bodyPr/>
          <a:lstStyle/>
          <a:p>
            <a:r>
              <a:rPr lang="zh-CN" altLang="en-US" noProof="0"/>
              <a:t>添加页脚</a:t>
            </a:r>
          </a:p>
        </p:txBody>
      </p:sp>
      <p:sp>
        <p:nvSpPr>
          <p:cNvPr id="7" name="灯片编号占位符 6">
            <a:extLst>
              <a:ext uri="{FF2B5EF4-FFF2-40B4-BE49-F238E27FC236}">
                <a16:creationId xmlns:a16="http://schemas.microsoft.com/office/drawing/2014/main" id="{A82D11F6-2168-4FE2-88AC-926E27BE6127}"/>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3622123671"/>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C1EA69-D812-451D-BDD1-12AFAD0F7B0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0FDF95A-F5E6-4E8F-8659-DBF2ADDB0A6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34E6C8B-7771-4514-B2E1-E252DDC56095}"/>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BF8D9784-69BA-4C39-89D9-267CA513C09B}"/>
              </a:ext>
            </a:extLst>
          </p:cNvPr>
          <p:cNvSpPr>
            <a:spLocks noGrp="1"/>
          </p:cNvSpPr>
          <p:nvPr>
            <p:ph type="ftr" sz="quarter" idx="11"/>
          </p:nvPr>
        </p:nvSpPr>
        <p:spPr/>
        <p:txBody>
          <a:bodyPr/>
          <a:lstStyle/>
          <a:p>
            <a:r>
              <a:rPr lang="zh-CN" altLang="en-US" noProof="0"/>
              <a:t>添加页脚</a:t>
            </a:r>
          </a:p>
        </p:txBody>
      </p:sp>
      <p:sp>
        <p:nvSpPr>
          <p:cNvPr id="6" name="灯片编号占位符 5">
            <a:extLst>
              <a:ext uri="{FF2B5EF4-FFF2-40B4-BE49-F238E27FC236}">
                <a16:creationId xmlns:a16="http://schemas.microsoft.com/office/drawing/2014/main" id="{BB9B3D84-901F-4857-9703-238A4FACBD92}"/>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1959120437"/>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5B6EF4-340C-4C34-8013-614F08D7DB7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DCD452B-9D90-4EE1-80ED-9B5D7032D3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BAB8CE-F9D0-4662-9D23-C59099518054}"/>
              </a:ext>
            </a:extLst>
          </p:cNvPr>
          <p:cNvSpPr>
            <a:spLocks noGrp="1"/>
          </p:cNvSpPr>
          <p:nvPr>
            <p:ph type="dt" sz="half" idx="10"/>
          </p:nvPr>
        </p:nvSpPr>
        <p:spPr/>
        <p:txBody>
          <a:body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6B5E34CE-E762-4D76-B585-0D96089E0F63}"/>
              </a:ext>
            </a:extLst>
          </p:cNvPr>
          <p:cNvSpPr>
            <a:spLocks noGrp="1"/>
          </p:cNvSpPr>
          <p:nvPr>
            <p:ph type="ftr" sz="quarter" idx="11"/>
          </p:nvPr>
        </p:nvSpPr>
        <p:spPr/>
        <p:txBody>
          <a:bodyPr/>
          <a:lstStyle/>
          <a:p>
            <a:r>
              <a:rPr lang="zh-CN" altLang="en-US" noProof="0"/>
              <a:t>添加页脚</a:t>
            </a:r>
          </a:p>
        </p:txBody>
      </p:sp>
      <p:sp>
        <p:nvSpPr>
          <p:cNvPr id="6" name="灯片编号占位符 5">
            <a:extLst>
              <a:ext uri="{FF2B5EF4-FFF2-40B4-BE49-F238E27FC236}">
                <a16:creationId xmlns:a16="http://schemas.microsoft.com/office/drawing/2014/main" id="{45394101-B83C-40AD-8CDE-86527C391B3C}"/>
              </a:ext>
            </a:extLst>
          </p:cNvPr>
          <p:cNvSpPr>
            <a:spLocks noGrp="1"/>
          </p:cNvSpPr>
          <p:nvPr>
            <p:ph type="sldNum" sz="quarter" idx="12"/>
          </p:nvPr>
        </p:nvSpPr>
        <p:spPr/>
        <p:txBody>
          <a:body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3220528184"/>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9CFA8DA-6A2E-452F-B2FD-C692E3F9477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06440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F208F5-23F9-41F0-9BD4-963E4B09B1C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389772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7D7A5-162C-448B-9184-4DF74749515C}"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6065225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C7B8D8-DB3E-4157-B75E-F22DF685A7AD}"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5097150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DAC17E3C-7BCD-4CE1-BB77-DBC4F6AAD3A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6451287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0450531-738C-4056-94DC-C9695B076A7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8905667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02293090-B4C5-4232-8C20-16B4CD9E856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473332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D83C681-63CC-4C6E-BB2B-532CC9376B1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468045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D3E630-40F6-4B28-997D-664B0011855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410847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29236F9-F5AC-4754-AA25-365CEB18F6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5846951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CD11ED9-4D7A-4F4E-812E-E8F30379C1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779637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BD3E1CC-83A2-4B9D-8E8B-60737E93608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5463727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quarter" idx="2"/>
          </p:nvPr>
        </p:nvSpPr>
        <p:spPr>
          <a:xfrm>
            <a:off x="6197600" y="19812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Content Placeholder 4"/>
          <p:cNvSpPr>
            <a:spLocks noGrp="1"/>
          </p:cNvSpPr>
          <p:nvPr>
            <p:ph sz="quarter" idx="3"/>
          </p:nvPr>
        </p:nvSpPr>
        <p:spPr>
          <a:xfrm>
            <a:off x="6197600" y="41148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3733C97B-CB0A-4B24-848D-85035B14B2B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5210283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26FDBF1-7747-46AD-BE97-E034824279B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49686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theme" Target="../theme/theme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87ACF56-29B1-4B14-BF5D-BA0CD8B933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F6C10EF-4A2C-4B95-A562-D31E9322D4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7B5EB05-6F7F-4A96-9EC5-9B25D84D9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E859B92A-B5B9-4383-BD48-09C9123A6D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noProof="0"/>
              <a:t>添加页脚</a:t>
            </a:r>
          </a:p>
        </p:txBody>
      </p:sp>
      <p:sp>
        <p:nvSpPr>
          <p:cNvPr id="6" name="灯片编号占位符 5">
            <a:extLst>
              <a:ext uri="{FF2B5EF4-FFF2-40B4-BE49-F238E27FC236}">
                <a16:creationId xmlns:a16="http://schemas.microsoft.com/office/drawing/2014/main" id="{94B56D9D-6FA2-4108-87A6-03E528DBB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1379749370"/>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679" r:id="rId12"/>
    <p:sldLayoutId id="2147483669" r:id="rId13"/>
    <p:sldLayoutId id="2147483680"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A59AD62C-EAA7-4D5D-9E4E-F3C1DEE386C7}" type="slidenum">
              <a:rPr lang="zh-CN" altLang="en-US">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426631370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ea typeface="宋体" pitchFamily="2" charset="-122"/>
        </a:defRPr>
      </a:lvl2pPr>
      <a:lvl3pPr algn="ctr" rtl="0" eaLnBrk="1" fontAlgn="base" hangingPunct="1">
        <a:spcBef>
          <a:spcPct val="0"/>
        </a:spcBef>
        <a:spcAft>
          <a:spcPct val="0"/>
        </a:spcAft>
        <a:defRPr sz="4400">
          <a:solidFill>
            <a:schemeClr val="tx2"/>
          </a:solidFill>
          <a:latin typeface="Times New Roman" pitchFamily="18" charset="0"/>
          <a:ea typeface="宋体" pitchFamily="2" charset="-122"/>
        </a:defRPr>
      </a:lvl3pPr>
      <a:lvl4pPr algn="ctr" rtl="0" eaLnBrk="1" fontAlgn="base" hangingPunct="1">
        <a:spcBef>
          <a:spcPct val="0"/>
        </a:spcBef>
        <a:spcAft>
          <a:spcPct val="0"/>
        </a:spcAft>
        <a:defRPr sz="4400">
          <a:solidFill>
            <a:schemeClr val="tx2"/>
          </a:solidFill>
          <a:latin typeface="Times New Roman" pitchFamily="18" charset="0"/>
          <a:ea typeface="宋体" pitchFamily="2" charset="-122"/>
        </a:defRPr>
      </a:lvl4pPr>
      <a:lvl5pPr algn="ctr" rtl="0" eaLnBrk="1" fontAlgn="base" hangingPunct="1">
        <a:spcBef>
          <a:spcPct val="0"/>
        </a:spcBef>
        <a:spcAft>
          <a:spcPct val="0"/>
        </a:spcAft>
        <a:defRPr sz="4400">
          <a:solidFill>
            <a:schemeClr val="tx2"/>
          </a:solidFill>
          <a:latin typeface="Times New Roman" pitchFamily="18" charset="0"/>
          <a:ea typeface="宋体" pitchFamily="2" charset="-122"/>
        </a:defRPr>
      </a:lvl5pPr>
      <a:lvl6pPr marL="457200" algn="ctr" rtl="0" eaLnBrk="1" fontAlgn="base" hangingPunct="1">
        <a:spcBef>
          <a:spcPct val="0"/>
        </a:spcBef>
        <a:spcAft>
          <a:spcPct val="0"/>
        </a:spcAft>
        <a:defRPr sz="4400">
          <a:solidFill>
            <a:schemeClr val="tx2"/>
          </a:solidFill>
          <a:latin typeface="Times New Roman" pitchFamily="18" charset="0"/>
          <a:ea typeface="宋体" pitchFamily="2" charset="-122"/>
        </a:defRPr>
      </a:lvl6pPr>
      <a:lvl7pPr marL="914400" algn="ctr" rtl="0" eaLnBrk="1" fontAlgn="base" hangingPunct="1">
        <a:spcBef>
          <a:spcPct val="0"/>
        </a:spcBef>
        <a:spcAft>
          <a:spcPct val="0"/>
        </a:spcAft>
        <a:defRPr sz="4400">
          <a:solidFill>
            <a:schemeClr val="tx2"/>
          </a:solidFill>
          <a:latin typeface="Times New Roman" pitchFamily="18" charset="0"/>
          <a:ea typeface="宋体" pitchFamily="2" charset="-122"/>
        </a:defRPr>
      </a:lvl7pPr>
      <a:lvl8pPr marL="1371600" algn="ctr" rtl="0" eaLnBrk="1" fontAlgn="base" hangingPunct="1">
        <a:spcBef>
          <a:spcPct val="0"/>
        </a:spcBef>
        <a:spcAft>
          <a:spcPct val="0"/>
        </a:spcAft>
        <a:defRPr sz="4400">
          <a:solidFill>
            <a:schemeClr val="tx2"/>
          </a:solidFill>
          <a:latin typeface="Times New Roman" pitchFamily="18" charset="0"/>
          <a:ea typeface="宋体" pitchFamily="2" charset="-122"/>
        </a:defRPr>
      </a:lvl8pPr>
      <a:lvl9pPr marL="1828800" algn="ctr" rtl="0" eaLnBrk="1" fontAlgn="base" hangingPunct="1">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87ACF56-29B1-4B14-BF5D-BA0CD8B933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F6C10EF-4A2C-4B95-A562-D31E9322D4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7B5EB05-6F7F-4A96-9EC5-9B25D84D9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7FE15E-EF49-4A97-BD0C-DF1E141E0123}" type="datetime1">
              <a:rPr lang="zh-CN" altLang="en-US" noProof="0" smtClean="0"/>
              <a:t>2025/9/16</a:t>
            </a:fld>
            <a:endParaRPr lang="zh-CN" altLang="en-US" noProof="0"/>
          </a:p>
        </p:txBody>
      </p:sp>
      <p:sp>
        <p:nvSpPr>
          <p:cNvPr id="5" name="页脚占位符 4">
            <a:extLst>
              <a:ext uri="{FF2B5EF4-FFF2-40B4-BE49-F238E27FC236}">
                <a16:creationId xmlns:a16="http://schemas.microsoft.com/office/drawing/2014/main" id="{E859B92A-B5B9-4383-BD48-09C9123A6D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noProof="0"/>
              <a:t>添加页脚</a:t>
            </a:r>
          </a:p>
        </p:txBody>
      </p:sp>
      <p:sp>
        <p:nvSpPr>
          <p:cNvPr id="6" name="灯片编号占位符 5">
            <a:extLst>
              <a:ext uri="{FF2B5EF4-FFF2-40B4-BE49-F238E27FC236}">
                <a16:creationId xmlns:a16="http://schemas.microsoft.com/office/drawing/2014/main" id="{94B56D9D-6FA2-4108-87A6-03E528DBB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99DD2A-B520-4620-9B43-64B657BA2D42}" type="slidenum">
              <a:rPr lang="en-US" altLang="zh-CN" noProof="0" smtClean="0"/>
              <a:pPr/>
              <a:t>‹#›</a:t>
            </a:fld>
            <a:endParaRPr lang="zh-CN" altLang="en-US" noProof="0"/>
          </a:p>
        </p:txBody>
      </p:sp>
    </p:spTree>
    <p:extLst>
      <p:ext uri="{BB962C8B-B14F-4D97-AF65-F5344CB8AC3E}">
        <p14:creationId xmlns:p14="http://schemas.microsoft.com/office/powerpoint/2010/main" val="1817692709"/>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A59AD62C-EAA7-4D5D-9E4E-F3C1DEE386C7}" type="slidenum">
              <a:rPr lang="zh-CN" altLang="en-US">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2824188116"/>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ea typeface="宋体" pitchFamily="2" charset="-122"/>
        </a:defRPr>
      </a:lvl2pPr>
      <a:lvl3pPr algn="ctr" rtl="0" eaLnBrk="1" fontAlgn="base" hangingPunct="1">
        <a:spcBef>
          <a:spcPct val="0"/>
        </a:spcBef>
        <a:spcAft>
          <a:spcPct val="0"/>
        </a:spcAft>
        <a:defRPr sz="4400">
          <a:solidFill>
            <a:schemeClr val="tx2"/>
          </a:solidFill>
          <a:latin typeface="Times New Roman" pitchFamily="18" charset="0"/>
          <a:ea typeface="宋体" pitchFamily="2" charset="-122"/>
        </a:defRPr>
      </a:lvl3pPr>
      <a:lvl4pPr algn="ctr" rtl="0" eaLnBrk="1" fontAlgn="base" hangingPunct="1">
        <a:spcBef>
          <a:spcPct val="0"/>
        </a:spcBef>
        <a:spcAft>
          <a:spcPct val="0"/>
        </a:spcAft>
        <a:defRPr sz="4400">
          <a:solidFill>
            <a:schemeClr val="tx2"/>
          </a:solidFill>
          <a:latin typeface="Times New Roman" pitchFamily="18" charset="0"/>
          <a:ea typeface="宋体" pitchFamily="2" charset="-122"/>
        </a:defRPr>
      </a:lvl4pPr>
      <a:lvl5pPr algn="ctr" rtl="0" eaLnBrk="1" fontAlgn="base" hangingPunct="1">
        <a:spcBef>
          <a:spcPct val="0"/>
        </a:spcBef>
        <a:spcAft>
          <a:spcPct val="0"/>
        </a:spcAft>
        <a:defRPr sz="4400">
          <a:solidFill>
            <a:schemeClr val="tx2"/>
          </a:solidFill>
          <a:latin typeface="Times New Roman" pitchFamily="18" charset="0"/>
          <a:ea typeface="宋体" pitchFamily="2" charset="-122"/>
        </a:defRPr>
      </a:lvl5pPr>
      <a:lvl6pPr marL="457200" algn="ctr" rtl="0" eaLnBrk="1" fontAlgn="base" hangingPunct="1">
        <a:spcBef>
          <a:spcPct val="0"/>
        </a:spcBef>
        <a:spcAft>
          <a:spcPct val="0"/>
        </a:spcAft>
        <a:defRPr sz="4400">
          <a:solidFill>
            <a:schemeClr val="tx2"/>
          </a:solidFill>
          <a:latin typeface="Times New Roman" pitchFamily="18" charset="0"/>
          <a:ea typeface="宋体" pitchFamily="2" charset="-122"/>
        </a:defRPr>
      </a:lvl6pPr>
      <a:lvl7pPr marL="914400" algn="ctr" rtl="0" eaLnBrk="1" fontAlgn="base" hangingPunct="1">
        <a:spcBef>
          <a:spcPct val="0"/>
        </a:spcBef>
        <a:spcAft>
          <a:spcPct val="0"/>
        </a:spcAft>
        <a:defRPr sz="4400">
          <a:solidFill>
            <a:schemeClr val="tx2"/>
          </a:solidFill>
          <a:latin typeface="Times New Roman" pitchFamily="18" charset="0"/>
          <a:ea typeface="宋体" pitchFamily="2" charset="-122"/>
        </a:defRPr>
      </a:lvl7pPr>
      <a:lvl8pPr marL="1371600" algn="ctr" rtl="0" eaLnBrk="1" fontAlgn="base" hangingPunct="1">
        <a:spcBef>
          <a:spcPct val="0"/>
        </a:spcBef>
        <a:spcAft>
          <a:spcPct val="0"/>
        </a:spcAft>
        <a:defRPr sz="4400">
          <a:solidFill>
            <a:schemeClr val="tx2"/>
          </a:solidFill>
          <a:latin typeface="Times New Roman" pitchFamily="18" charset="0"/>
          <a:ea typeface="宋体" pitchFamily="2" charset="-122"/>
        </a:defRPr>
      </a:lvl8pPr>
      <a:lvl9pPr marL="1828800" algn="ctr" rtl="0" eaLnBrk="1" fontAlgn="base" hangingPunct="1">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43.xm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4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4.png"/><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gif"/><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3.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4.xml"/><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4.xml"/><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3.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3.xml"/><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305F2-4D75-4D76-BA59-F00627AB838F}"/>
              </a:ext>
            </a:extLst>
          </p:cNvPr>
          <p:cNvSpPr>
            <a:spLocks noGrp="1"/>
          </p:cNvSpPr>
          <p:nvPr>
            <p:ph type="title"/>
          </p:nvPr>
        </p:nvSpPr>
        <p:spPr/>
        <p:txBody>
          <a:bodyPr rtlCol="0"/>
          <a:lstStyle/>
          <a:p>
            <a:pPr rtl="0"/>
            <a:r>
              <a:rPr lang="zh-CN" altLang="en-US">
                <a:latin typeface="Microsoft YaHei UI" panose="020B0503020204020204" pitchFamily="34" charset="-122"/>
                <a:ea typeface="Microsoft YaHei UI" panose="020B0503020204020204" pitchFamily="34" charset="-122"/>
              </a:rPr>
              <a:t>如何使用此模板</a:t>
            </a:r>
          </a:p>
        </p:txBody>
      </p:sp>
      <p:sp>
        <p:nvSpPr>
          <p:cNvPr id="3" name="内容占位符 2">
            <a:extLst>
              <a:ext uri="{FF2B5EF4-FFF2-40B4-BE49-F238E27FC236}">
                <a16:creationId xmlns:a16="http://schemas.microsoft.com/office/drawing/2014/main" id="{88CB4E0E-ECE5-4628-8AFC-87C9EFB0840C}"/>
              </a:ext>
            </a:extLst>
          </p:cNvPr>
          <p:cNvSpPr>
            <a:spLocks noGrp="1"/>
          </p:cNvSpPr>
          <p:nvPr>
            <p:ph idx="1"/>
          </p:nvPr>
        </p:nvSpPr>
        <p:spPr/>
        <p:txBody>
          <a:bodyPr rtlCol="0"/>
          <a:lstStyle/>
          <a:p>
            <a:pPr rtl="0"/>
            <a:r>
              <a:rPr lang="zh-CN" altLang="en-US">
                <a:latin typeface="Microsoft YaHei UI" panose="020B0503020204020204" pitchFamily="34" charset="-122"/>
                <a:ea typeface="Microsoft YaHei UI" panose="020B0503020204020204" pitchFamily="34" charset="-122"/>
              </a:rPr>
              <a:t>按照每张幻灯片上的说明创建演示文稿。</a:t>
            </a:r>
          </a:p>
          <a:p>
            <a:pPr rtl="0"/>
            <a:r>
              <a:rPr lang="zh-CN" altLang="en-US">
                <a:latin typeface="Microsoft YaHei UI" panose="020B0503020204020204" pitchFamily="34" charset="-122"/>
                <a:ea typeface="Microsoft YaHei UI" panose="020B0503020204020204" pitchFamily="34" charset="-122"/>
              </a:rPr>
              <a:t>请记住 </a:t>
            </a:r>
            <a:r>
              <a:rPr lang="en-US" altLang="zh-CN">
                <a:latin typeface="Microsoft YaHei UI" panose="020B0503020204020204" pitchFamily="34" charset="-122"/>
                <a:ea typeface="Microsoft YaHei UI" panose="020B0503020204020204" pitchFamily="34" charset="-122"/>
              </a:rPr>
              <a:t>PowerPoint </a:t>
            </a:r>
            <a:r>
              <a:rPr lang="zh-CN" altLang="en-US">
                <a:latin typeface="Microsoft YaHei UI" panose="020B0503020204020204" pitchFamily="34" charset="-122"/>
                <a:ea typeface="Microsoft YaHei UI" panose="020B0503020204020204" pitchFamily="34" charset="-122"/>
              </a:rPr>
              <a:t>是演示文稿的视觉效果。每张幻灯片上的文字仅作为论点（而不是你要说的所有内容）。</a:t>
            </a:r>
          </a:p>
          <a:p>
            <a:pPr rtl="0"/>
            <a:r>
              <a:rPr lang="zh-CN" altLang="en-US">
                <a:latin typeface="Microsoft YaHei UI" panose="020B0503020204020204" pitchFamily="34" charset="-122"/>
                <a:ea typeface="Microsoft YaHei UI" panose="020B0503020204020204" pitchFamily="34" charset="-122"/>
              </a:rPr>
              <a:t>图像和图形可增加趣味；请务必在适当时将其添加到幻灯片。</a:t>
            </a:r>
          </a:p>
          <a:p>
            <a:pPr rtl="0"/>
            <a:r>
              <a:rPr lang="zh-CN" altLang="en-US">
                <a:latin typeface="Microsoft YaHei UI" panose="020B0503020204020204" pitchFamily="34" charset="-122"/>
                <a:ea typeface="Microsoft YaHei UI" panose="020B0503020204020204" pitchFamily="34" charset="-122"/>
              </a:rPr>
              <a:t>仔细选择切换和动画。（希望受众如何专注于内容，而不是效果。）</a:t>
            </a:r>
          </a:p>
        </p:txBody>
      </p:sp>
      <p:sp>
        <p:nvSpPr>
          <p:cNvPr id="5" name="文本框 4">
            <a:extLst>
              <a:ext uri="{FF2B5EF4-FFF2-40B4-BE49-F238E27FC236}">
                <a16:creationId xmlns:a16="http://schemas.microsoft.com/office/drawing/2014/main" id="{C964FC16-E9FB-469F-90C3-177A60236474}"/>
              </a:ext>
            </a:extLst>
          </p:cNvPr>
          <p:cNvSpPr txBox="1"/>
          <p:nvPr/>
        </p:nvSpPr>
        <p:spPr>
          <a:xfrm>
            <a:off x="3414573" y="685602"/>
            <a:ext cx="419100" cy="1107996"/>
          </a:xfrm>
          <a:prstGeom prst="rect">
            <a:avLst/>
          </a:prstGeom>
          <a:noFill/>
        </p:spPr>
        <p:txBody>
          <a:bodyPr wrap="square" rtlCol="0">
            <a:spAutoFit/>
          </a:bodyPr>
          <a:lstStyle/>
          <a:p>
            <a:pPr rtl="0"/>
            <a:r>
              <a:rPr lang="zh-CN" altLang="en-US" sz="6600" b="1" dirty="0">
                <a:latin typeface="Microsoft YaHei UI" panose="020B0503020204020204" pitchFamily="34" charset="-122"/>
                <a:ea typeface="Microsoft YaHei UI" panose="020B0503020204020204" pitchFamily="34" charset="-122"/>
              </a:rPr>
              <a:t>？</a:t>
            </a:r>
          </a:p>
        </p:txBody>
      </p:sp>
      <p:pic>
        <p:nvPicPr>
          <p:cNvPr id="6" name="图片 5">
            <a:extLst>
              <a:ext uri="{FF2B5EF4-FFF2-40B4-BE49-F238E27FC236}">
                <a16:creationId xmlns:a16="http://schemas.microsoft.com/office/drawing/2014/main" id="{3277024B-DB97-437B-AFB7-ADCC67686182}"/>
              </a:ext>
            </a:extLst>
          </p:cNvPr>
          <p:cNvPicPr>
            <a:picLocks noChangeAspect="1"/>
          </p:cNvPicPr>
          <p:nvPr/>
        </p:nvPicPr>
        <p:blipFill>
          <a:blip r:embed="rId3"/>
          <a:stretch>
            <a:fillRect/>
          </a:stretch>
        </p:blipFill>
        <p:spPr>
          <a:xfrm>
            <a:off x="-36335" y="-1"/>
            <a:ext cx="12228335" cy="6873069"/>
          </a:xfrm>
          <a:prstGeom prst="rect">
            <a:avLst/>
          </a:prstGeom>
        </p:spPr>
      </p:pic>
      <p:sp>
        <p:nvSpPr>
          <p:cNvPr id="7" name="文本框 6">
            <a:extLst>
              <a:ext uri="{FF2B5EF4-FFF2-40B4-BE49-F238E27FC236}">
                <a16:creationId xmlns:a16="http://schemas.microsoft.com/office/drawing/2014/main" id="{BD8A8358-EA86-4F42-A7A2-D6F9EB98ACC3}"/>
              </a:ext>
            </a:extLst>
          </p:cNvPr>
          <p:cNvSpPr txBox="1"/>
          <p:nvPr/>
        </p:nvSpPr>
        <p:spPr>
          <a:xfrm>
            <a:off x="2890792" y="2285126"/>
            <a:ext cx="6689557" cy="2185214"/>
          </a:xfrm>
          <a:prstGeom prst="rect">
            <a:avLst/>
          </a:prstGeom>
          <a:noFill/>
        </p:spPr>
        <p:txBody>
          <a:bodyPr wrap="square" rtlCol="0">
            <a:spAutoFit/>
          </a:bodyPr>
          <a:lstStyle/>
          <a:p>
            <a:r>
              <a:rPr lang="zh-CN" altLang="en-US" sz="4000" b="1" dirty="0"/>
              <a:t>柏拉图</a:t>
            </a:r>
            <a:r>
              <a:rPr lang="en-US" altLang="zh-CN" sz="4000" b="1" dirty="0"/>
              <a:t>《</a:t>
            </a:r>
            <a:r>
              <a:rPr lang="zh-CN" altLang="en-US" sz="4000" b="1" dirty="0"/>
              <a:t>理 想 国</a:t>
            </a:r>
            <a:r>
              <a:rPr lang="en-US" altLang="zh-CN" sz="4000" b="1" dirty="0"/>
              <a:t>》</a:t>
            </a:r>
            <a:r>
              <a:rPr lang="zh-CN" altLang="en-US" sz="4000" b="1" dirty="0"/>
              <a:t>导读                                                            </a:t>
            </a:r>
            <a:endParaRPr lang="en-US" altLang="zh-CN" sz="4000" b="1" dirty="0"/>
          </a:p>
          <a:p>
            <a:pPr algn="r"/>
            <a:endParaRPr lang="en-US" altLang="zh-CN" sz="3200" dirty="0"/>
          </a:p>
          <a:p>
            <a:pPr algn="r"/>
            <a:r>
              <a:rPr lang="zh-CN" altLang="en-US" sz="3200" dirty="0">
                <a:latin typeface="楷体" panose="02010609060101010101" pitchFamily="49" charset="-122"/>
                <a:ea typeface="楷体" panose="02010609060101010101" pitchFamily="49" charset="-122"/>
              </a:rPr>
              <a:t>华东师范大学哲学系 </a:t>
            </a:r>
            <a:endParaRPr lang="en-US" altLang="zh-CN" sz="3200" dirty="0">
              <a:latin typeface="楷体" panose="02010609060101010101" pitchFamily="49" charset="-122"/>
              <a:ea typeface="楷体" panose="02010609060101010101" pitchFamily="49" charset="-122"/>
            </a:endParaRPr>
          </a:p>
          <a:p>
            <a:pPr algn="r"/>
            <a:r>
              <a:rPr lang="zh-CN" altLang="en-US" sz="3200" dirty="0">
                <a:latin typeface="楷体" panose="02010609060101010101" pitchFamily="49" charset="-122"/>
                <a:ea typeface="楷体" panose="02010609060101010101" pitchFamily="49" charset="-122"/>
              </a:rPr>
              <a:t>张立立</a:t>
            </a:r>
          </a:p>
        </p:txBody>
      </p:sp>
    </p:spTree>
    <p:extLst>
      <p:ext uri="{BB962C8B-B14F-4D97-AF65-F5344CB8AC3E}">
        <p14:creationId xmlns:p14="http://schemas.microsoft.com/office/powerpoint/2010/main" val="86265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478200-0985-4DED-A84B-D6ADED92FAE6}"/>
              </a:ext>
            </a:extLst>
          </p:cNvPr>
          <p:cNvSpPr>
            <a:spLocks noGrp="1"/>
          </p:cNvSpPr>
          <p:nvPr>
            <p:ph type="title"/>
          </p:nvPr>
        </p:nvSpPr>
        <p:spPr/>
        <p:txBody>
          <a:bodyPr rtlCol="0"/>
          <a:lstStyle/>
          <a:p>
            <a:pPr rtl="0"/>
            <a:r>
              <a:rPr lang="zh-CN" altLang="en-US" dirty="0">
                <a:latin typeface="Microsoft YaHei UI" panose="020B0503020204020204" pitchFamily="34" charset="-122"/>
                <a:ea typeface="Microsoft YaHei UI" panose="020B0503020204020204" pitchFamily="34" charset="-122"/>
              </a:rPr>
              <a:t>考核方式</a:t>
            </a:r>
          </a:p>
        </p:txBody>
      </p:sp>
      <p:sp>
        <p:nvSpPr>
          <p:cNvPr id="9" name="Content Placeholder 8"/>
          <p:cNvSpPr>
            <a:spLocks noGrp="1"/>
          </p:cNvSpPr>
          <p:nvPr>
            <p:ph sz="half" idx="1"/>
          </p:nvPr>
        </p:nvSpPr>
        <p:spPr/>
        <p:txBody>
          <a:bodyPr/>
          <a:lstStyle/>
          <a:p>
            <a:r>
              <a:rPr lang="zh-CN" altLang="en-US" b="1" dirty="0"/>
              <a:t>平时成绩：</a:t>
            </a:r>
            <a:r>
              <a:rPr lang="en-US" altLang="zh-CN" b="1" dirty="0"/>
              <a:t>40%</a:t>
            </a:r>
          </a:p>
          <a:p>
            <a:r>
              <a:rPr lang="zh-CN" altLang="en-US" b="1" dirty="0"/>
              <a:t>作业</a:t>
            </a:r>
            <a:endParaRPr lang="en-US" altLang="zh-CN" b="1" dirty="0"/>
          </a:p>
          <a:p>
            <a:r>
              <a:rPr lang="zh-CN" altLang="en-US" b="1" dirty="0"/>
              <a:t>讨论</a:t>
            </a:r>
          </a:p>
          <a:p>
            <a:endParaRPr lang="zh-CN" altLang="en-US" dirty="0"/>
          </a:p>
        </p:txBody>
      </p:sp>
      <p:sp>
        <p:nvSpPr>
          <p:cNvPr id="10" name="Content Placeholder 9"/>
          <p:cNvSpPr>
            <a:spLocks noGrp="1"/>
          </p:cNvSpPr>
          <p:nvPr>
            <p:ph sz="half" idx="2"/>
          </p:nvPr>
        </p:nvSpPr>
        <p:spPr/>
        <p:txBody>
          <a:bodyPr/>
          <a:lstStyle/>
          <a:p>
            <a:r>
              <a:rPr lang="zh-CN" altLang="en-US" dirty="0"/>
              <a:t>考核成绩：</a:t>
            </a:r>
            <a:r>
              <a:rPr lang="en-US" altLang="zh-CN" dirty="0"/>
              <a:t>60%</a:t>
            </a:r>
          </a:p>
          <a:p>
            <a:r>
              <a:rPr lang="zh-CN" altLang="en-US" dirty="0"/>
              <a:t>期末论文（</a:t>
            </a:r>
            <a:r>
              <a:rPr lang="en-US" altLang="zh-CN" dirty="0"/>
              <a:t>2000</a:t>
            </a:r>
            <a:r>
              <a:rPr lang="zh-CN" altLang="en-US" dirty="0"/>
              <a:t>字以上）</a:t>
            </a:r>
          </a:p>
          <a:p>
            <a:endParaRPr lang="zh-CN" altLang="en-US" dirty="0"/>
          </a:p>
          <a:p>
            <a:endParaRPr lang="zh-CN" altLang="en-US" dirty="0"/>
          </a:p>
        </p:txBody>
      </p:sp>
      <p:pic>
        <p:nvPicPr>
          <p:cNvPr id="7" name="图片 6" descr="放大镜图标">
            <a:extLst>
              <a:ext uri="{FF2B5EF4-FFF2-40B4-BE49-F238E27FC236}">
                <a16:creationId xmlns:a16="http://schemas.microsoft.com/office/drawing/2014/main" id="{AAE36621-6FAB-4009-9D5C-CE767DF10D2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0515" y="1183800"/>
            <a:ext cx="685800" cy="685800"/>
          </a:xfrm>
          <a:prstGeom prst="rect">
            <a:avLst/>
          </a:prstGeom>
        </p:spPr>
      </p:pic>
    </p:spTree>
    <p:extLst>
      <p:ext uri="{BB962C8B-B14F-4D97-AF65-F5344CB8AC3E}">
        <p14:creationId xmlns:p14="http://schemas.microsoft.com/office/powerpoint/2010/main" val="27762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1000"/>
                                        <p:tgtEl>
                                          <p:spTgt spid="9">
                                            <p:txEl>
                                              <p:pRg st="2" end="2"/>
                                            </p:txEl>
                                          </p:spTgt>
                                        </p:tgtEl>
                                      </p:cBhvr>
                                    </p:animEffect>
                                    <p:anim calcmode="lin" valueType="num">
                                      <p:cBhvr>
                                        <p:cTn id="14"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nodeType="clickEffect">
                                  <p:stCondLst>
                                    <p:cond delay="0"/>
                                  </p:stCondLst>
                                  <p:childTnLst>
                                    <p:set>
                                      <p:cBhvr>
                                        <p:cTn id="19" dur="1" fill="hold">
                                          <p:stCondLst>
                                            <p:cond delay="0"/>
                                          </p:stCondLst>
                                        </p:cTn>
                                        <p:tgtEl>
                                          <p:spTgt spid="10">
                                            <p:txEl>
                                              <p:pRg st="1" end="1"/>
                                            </p:txEl>
                                          </p:spTgt>
                                        </p:tgtEl>
                                        <p:attrNameLst>
                                          <p:attrName>style.visibility</p:attrName>
                                        </p:attrNameLst>
                                      </p:cBhvr>
                                      <p:to>
                                        <p:strVal val="visible"/>
                                      </p:to>
                                    </p:set>
                                    <p:animEffect transition="in" filter="fade">
                                      <p:cBhvr>
                                        <p:cTn id="20" dur="2000"/>
                                        <p:tgtEl>
                                          <p:spTgt spid="10">
                                            <p:txEl>
                                              <p:pRg st="1" end="1"/>
                                            </p:txEl>
                                          </p:spTgt>
                                        </p:tgtEl>
                                      </p:cBhvr>
                                    </p:animEffect>
                                    <p:anim calcmode="lin" valueType="num">
                                      <p:cBhvr>
                                        <p:cTn id="21" dur="2000" fill="hold"/>
                                        <p:tgtEl>
                                          <p:spTgt spid="10">
                                            <p:txEl>
                                              <p:pRg st="1" end="1"/>
                                            </p:txEl>
                                          </p:spTgt>
                                        </p:tgtEl>
                                        <p:attrNameLst>
                                          <p:attrName>ppt_w</p:attrName>
                                        </p:attrNameLst>
                                      </p:cBhvr>
                                      <p:tavLst>
                                        <p:tav tm="0" fmla="#ppt_w*sin(2.5*pi*$)">
                                          <p:val>
                                            <p:fltVal val="0"/>
                                          </p:val>
                                        </p:tav>
                                        <p:tav tm="100000">
                                          <p:val>
                                            <p:fltVal val="1"/>
                                          </p:val>
                                        </p:tav>
                                      </p:tavLst>
                                    </p:anim>
                                    <p:anim calcmode="lin" valueType="num">
                                      <p:cBhvr>
                                        <p:cTn id="22" dur="2000" fill="hold"/>
                                        <p:tgtEl>
                                          <p:spTgt spid="10">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支柱图标">
            <a:extLst>
              <a:ext uri="{FF2B5EF4-FFF2-40B4-BE49-F238E27FC236}">
                <a16:creationId xmlns:a16="http://schemas.microsoft.com/office/drawing/2014/main" id="{FC7E2CCC-C53E-454B-9DE0-F2484BA0FF9D}"/>
              </a:ext>
              <a:ext uri="{C183D7F6-B498-43B3-948B-1728B52AA6E4}">
                <adec:decorative xmlns:adec="http://schemas.microsoft.com/office/drawing/2017/decorative" val="1"/>
              </a:ext>
            </a:extLst>
          </p:cNvPr>
          <p:cNvPicPr>
            <a:picLocks/>
          </p:cNvPicPr>
          <p:nvPr/>
        </p:nvPicPr>
        <p:blipFill>
          <a:blip r:embed="rId3"/>
          <a:stretch>
            <a:fillRect/>
          </a:stretch>
        </p:blipFill>
        <p:spPr>
          <a:xfrm>
            <a:off x="9577705" y="1524000"/>
            <a:ext cx="1905000" cy="1905000"/>
          </a:xfrm>
          <a:prstGeom prst="rect">
            <a:avLst/>
          </a:prstGeom>
          <a:ln>
            <a:noFill/>
          </a:ln>
        </p:spPr>
      </p:pic>
      <p:sp>
        <p:nvSpPr>
          <p:cNvPr id="5" name="Title 4"/>
          <p:cNvSpPr>
            <a:spLocks noGrp="1"/>
          </p:cNvSpPr>
          <p:nvPr>
            <p:ph type="title"/>
          </p:nvPr>
        </p:nvSpPr>
        <p:spPr>
          <a:xfrm>
            <a:off x="685801" y="609600"/>
            <a:ext cx="10840914" cy="831273"/>
          </a:xfrm>
        </p:spPr>
        <p:txBody>
          <a:bodyPr/>
          <a:lstStyle/>
          <a:p>
            <a:r>
              <a:rPr lang="zh-CN" altLang="en-US" dirty="0"/>
              <a:t>教学内容</a:t>
            </a:r>
          </a:p>
        </p:txBody>
      </p:sp>
      <p:sp>
        <p:nvSpPr>
          <p:cNvPr id="3" name="副标题 2">
            <a:extLst>
              <a:ext uri="{FF2B5EF4-FFF2-40B4-BE49-F238E27FC236}">
                <a16:creationId xmlns:a16="http://schemas.microsoft.com/office/drawing/2014/main" id="{852A3D91-AB3F-4EDF-B87E-FDDF6C5DC4CF}"/>
              </a:ext>
            </a:extLst>
          </p:cNvPr>
          <p:cNvSpPr>
            <a:spLocks noGrp="1"/>
          </p:cNvSpPr>
          <p:nvPr>
            <p:ph sz="half" idx="1"/>
          </p:nvPr>
        </p:nvSpPr>
        <p:spPr>
          <a:xfrm>
            <a:off x="685802" y="1524000"/>
            <a:ext cx="5040000" cy="4267201"/>
          </a:xfrm>
        </p:spPr>
        <p:txBody>
          <a:bodyPr rtlCol="0">
            <a:normAutofit fontScale="70000" lnSpcReduction="20000"/>
          </a:bodyPr>
          <a:lstStyle/>
          <a:p>
            <a:pPr marL="0" indent="0">
              <a:buNone/>
            </a:pPr>
            <a:r>
              <a:rPr lang="zh-CN" altLang="en-US" dirty="0"/>
              <a:t>一、导论 </a:t>
            </a:r>
            <a:endParaRPr lang="en-US" altLang="zh-CN" dirty="0"/>
          </a:p>
          <a:p>
            <a:pPr marL="0" indent="0">
              <a:buNone/>
            </a:pPr>
            <a:r>
              <a:rPr lang="en-US" altLang="zh-CN" dirty="0"/>
              <a:t>1</a:t>
            </a:r>
            <a:r>
              <a:rPr lang="zh-CN" altLang="en-US" dirty="0"/>
              <a:t>，</a:t>
            </a:r>
            <a:r>
              <a:rPr lang="en-US" altLang="zh-CN" dirty="0"/>
              <a:t>《</a:t>
            </a:r>
            <a:r>
              <a:rPr lang="zh-CN" altLang="en-US" dirty="0"/>
              <a:t>理想国</a:t>
            </a:r>
            <a:r>
              <a:rPr lang="en-US" altLang="zh-CN" dirty="0"/>
              <a:t>》</a:t>
            </a:r>
            <a:r>
              <a:rPr lang="zh-CN" altLang="en-US" dirty="0"/>
              <a:t>作为西方文明经典  </a:t>
            </a:r>
          </a:p>
          <a:p>
            <a:pPr marL="0" indent="0">
              <a:buNone/>
            </a:pPr>
            <a:r>
              <a:rPr lang="en-US" altLang="zh-CN" dirty="0"/>
              <a:t>2</a:t>
            </a:r>
            <a:r>
              <a:rPr lang="zh-CN" altLang="en-US" dirty="0"/>
              <a:t>，</a:t>
            </a:r>
            <a:r>
              <a:rPr lang="en-US" altLang="zh-CN" dirty="0"/>
              <a:t>《</a:t>
            </a:r>
            <a:r>
              <a:rPr lang="zh-CN" altLang="en-US" dirty="0"/>
              <a:t>理想国</a:t>
            </a:r>
            <a:r>
              <a:rPr lang="en-US" altLang="zh-CN" dirty="0"/>
              <a:t>》</a:t>
            </a:r>
            <a:r>
              <a:rPr lang="zh-CN" altLang="en-US" dirty="0"/>
              <a:t>的阅读和接受</a:t>
            </a:r>
            <a:endParaRPr lang="en-US" altLang="zh-CN" dirty="0"/>
          </a:p>
          <a:p>
            <a:pPr marL="0" indent="0">
              <a:buNone/>
            </a:pPr>
            <a:r>
              <a:rPr lang="en-US" altLang="zh-CN" dirty="0"/>
              <a:t>3</a:t>
            </a:r>
            <a:r>
              <a:rPr lang="zh-CN" altLang="en-US" dirty="0"/>
              <a:t>，</a:t>
            </a:r>
            <a:r>
              <a:rPr lang="en-US" altLang="zh-CN" dirty="0"/>
              <a:t>《</a:t>
            </a:r>
            <a:r>
              <a:rPr lang="zh-CN" altLang="en-US" dirty="0"/>
              <a:t>理想国</a:t>
            </a:r>
            <a:r>
              <a:rPr lang="en-US" altLang="zh-CN" dirty="0"/>
              <a:t>》</a:t>
            </a:r>
            <a:r>
              <a:rPr lang="zh-CN" altLang="en-US" dirty="0"/>
              <a:t>篇名释义</a:t>
            </a:r>
            <a:endParaRPr lang="en-US" altLang="zh-CN" dirty="0"/>
          </a:p>
          <a:p>
            <a:pPr marL="0" indent="0">
              <a:buNone/>
            </a:pPr>
            <a:r>
              <a:rPr lang="en-US" altLang="zh-CN" dirty="0"/>
              <a:t>4</a:t>
            </a:r>
            <a:r>
              <a:rPr lang="zh-CN" altLang="en-US" dirty="0"/>
              <a:t>，柏拉图与</a:t>
            </a:r>
            <a:r>
              <a:rPr lang="en-US" altLang="zh-CN" dirty="0"/>
              <a:t>《</a:t>
            </a:r>
            <a:r>
              <a:rPr lang="zh-CN" altLang="en-US" dirty="0"/>
              <a:t>理想国</a:t>
            </a:r>
            <a:r>
              <a:rPr lang="en-US" altLang="zh-CN" dirty="0"/>
              <a:t>》</a:t>
            </a:r>
          </a:p>
          <a:p>
            <a:pPr marL="0" indent="0">
              <a:buNone/>
            </a:pPr>
            <a:r>
              <a:rPr lang="en-US" altLang="zh-CN" dirty="0"/>
              <a:t>5</a:t>
            </a:r>
            <a:r>
              <a:rPr lang="zh-CN" altLang="en-US" dirty="0"/>
              <a:t>，</a:t>
            </a:r>
            <a:r>
              <a:rPr lang="en-US" altLang="zh-CN" dirty="0"/>
              <a:t>《</a:t>
            </a:r>
            <a:r>
              <a:rPr lang="zh-CN" altLang="en-US" dirty="0"/>
              <a:t>理想国</a:t>
            </a:r>
            <a:r>
              <a:rPr lang="en-US" altLang="zh-CN" dirty="0"/>
              <a:t>》</a:t>
            </a:r>
            <a:r>
              <a:rPr lang="zh-CN" altLang="en-US" dirty="0"/>
              <a:t>的历史背景</a:t>
            </a:r>
            <a:endParaRPr lang="en-US" altLang="zh-CN" dirty="0"/>
          </a:p>
          <a:p>
            <a:pPr marL="0" indent="0">
              <a:buNone/>
            </a:pPr>
            <a:endParaRPr lang="zh-CN" altLang="en-US" dirty="0"/>
          </a:p>
          <a:p>
            <a:pPr marL="0" indent="0">
              <a:buNone/>
            </a:pPr>
            <a:endParaRPr lang="zh-CN" altLang="en-US" dirty="0"/>
          </a:p>
          <a:p>
            <a:pPr marL="0" indent="0" rtl="0">
              <a:buNone/>
            </a:pPr>
            <a:endParaRPr lang="zh-CN" altLang="en-US" dirty="0">
              <a:latin typeface="Microsoft YaHei UI" panose="020B0503020204020204" pitchFamily="34" charset="-122"/>
              <a:ea typeface="Microsoft YaHei UI" panose="020B0503020204020204" pitchFamily="34" charset="-122"/>
            </a:endParaRPr>
          </a:p>
          <a:p>
            <a:pPr rtl="0"/>
            <a:endParaRPr lang="zh-CN" altLang="en-US" dirty="0">
              <a:latin typeface="Microsoft YaHei UI" panose="020B0503020204020204" pitchFamily="34" charset="-122"/>
              <a:ea typeface="Microsoft YaHei UI" panose="020B0503020204020204" pitchFamily="34" charset="-122"/>
            </a:endParaRPr>
          </a:p>
          <a:p>
            <a:pPr rtl="0"/>
            <a:endParaRPr lang="zh-CN" altLang="en-US" dirty="0">
              <a:latin typeface="Microsoft YaHei UI" panose="020B0503020204020204" pitchFamily="34" charset="-122"/>
              <a:ea typeface="Microsoft YaHei UI" panose="020B0503020204020204" pitchFamily="34" charset="-122"/>
            </a:endParaRPr>
          </a:p>
        </p:txBody>
      </p:sp>
      <p:sp>
        <p:nvSpPr>
          <p:cNvPr id="2" name="Content Placeholder 1"/>
          <p:cNvSpPr>
            <a:spLocks noGrp="1"/>
          </p:cNvSpPr>
          <p:nvPr>
            <p:ph sz="half" idx="2"/>
          </p:nvPr>
        </p:nvSpPr>
        <p:spPr>
          <a:xfrm>
            <a:off x="5805153" y="1422400"/>
            <a:ext cx="5040000" cy="4257964"/>
          </a:xfrm>
        </p:spPr>
        <p:txBody>
          <a:bodyPr>
            <a:normAutofit fontScale="70000" lnSpcReduction="20000"/>
          </a:bodyPr>
          <a:lstStyle/>
          <a:p>
            <a:r>
              <a:rPr lang="zh-CN" altLang="en-US" dirty="0"/>
              <a:t>二、</a:t>
            </a:r>
            <a:r>
              <a:rPr lang="en-US" altLang="zh-CN" dirty="0"/>
              <a:t>《</a:t>
            </a:r>
            <a:r>
              <a:rPr lang="zh-CN" altLang="en-US" dirty="0"/>
              <a:t>理想国</a:t>
            </a:r>
            <a:r>
              <a:rPr lang="en-US" altLang="zh-CN" dirty="0"/>
              <a:t>》</a:t>
            </a:r>
            <a:r>
              <a:rPr lang="zh-CN" altLang="en-US" dirty="0"/>
              <a:t>导读</a:t>
            </a:r>
            <a:endParaRPr lang="en-US" altLang="zh-CN" dirty="0"/>
          </a:p>
          <a:p>
            <a:r>
              <a:rPr lang="zh-CN" altLang="en-US" dirty="0"/>
              <a:t>第一卷 正义问题的引入、讨论及困境</a:t>
            </a:r>
          </a:p>
          <a:p>
            <a:r>
              <a:rPr lang="zh-CN" altLang="en-US" dirty="0"/>
              <a:t>第二卷 正义问题的重构、建构言辞中的城邦</a:t>
            </a:r>
          </a:p>
          <a:p>
            <a:r>
              <a:rPr lang="zh-CN" altLang="en-US" dirty="0"/>
              <a:t>第三卷  诗歌、教育与高贵的谎言</a:t>
            </a:r>
            <a:endParaRPr lang="en-US" altLang="zh-CN" dirty="0"/>
          </a:p>
          <a:p>
            <a:r>
              <a:rPr lang="zh-CN" altLang="en-US" dirty="0"/>
              <a:t>第四卷  城邦正义、四主德与灵魂正义</a:t>
            </a:r>
            <a:endParaRPr lang="en-US" altLang="zh-CN" dirty="0"/>
          </a:p>
          <a:p>
            <a:r>
              <a:rPr lang="zh-CN" altLang="en-US" dirty="0"/>
              <a:t>第五卷  城邦礼法与哲人王构想</a:t>
            </a:r>
            <a:endParaRPr lang="en-US" altLang="zh-CN" dirty="0"/>
          </a:p>
          <a:p>
            <a:r>
              <a:rPr lang="zh-CN" altLang="en-US" dirty="0"/>
              <a:t>第六卷  哲人的天性</a:t>
            </a:r>
            <a:endParaRPr lang="en-US" altLang="zh-CN" dirty="0"/>
          </a:p>
          <a:p>
            <a:r>
              <a:rPr lang="zh-CN" altLang="en-US" dirty="0"/>
              <a:t>第七卷 哲人的教育</a:t>
            </a:r>
            <a:endParaRPr lang="en-US" altLang="zh-CN" dirty="0"/>
          </a:p>
          <a:p>
            <a:r>
              <a:rPr lang="zh-CN" altLang="en-US" dirty="0"/>
              <a:t>第八卷 城邦政体的堕落与人性的堕落</a:t>
            </a:r>
            <a:endParaRPr lang="en-US" altLang="zh-CN" dirty="0"/>
          </a:p>
          <a:p>
            <a:r>
              <a:rPr lang="zh-CN" altLang="en-US" dirty="0"/>
              <a:t>第九卷 何为僭主</a:t>
            </a:r>
            <a:endParaRPr lang="en-US" altLang="zh-CN" dirty="0"/>
          </a:p>
          <a:p>
            <a:r>
              <a:rPr lang="zh-CN" altLang="en-US" dirty="0"/>
              <a:t>第十卷 批判诗歌</a:t>
            </a:r>
          </a:p>
          <a:p>
            <a:endParaRPr lang="zh-CN" altLang="en-US" dirty="0"/>
          </a:p>
        </p:txBody>
      </p:sp>
    </p:spTree>
    <p:extLst>
      <p:ext uri="{BB962C8B-B14F-4D97-AF65-F5344CB8AC3E}">
        <p14:creationId xmlns:p14="http://schemas.microsoft.com/office/powerpoint/2010/main" val="2352749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zh-CN" altLang="en-US" dirty="0"/>
              <a:t>一、导论</a:t>
            </a:r>
          </a:p>
        </p:txBody>
      </p:sp>
      <p:sp>
        <p:nvSpPr>
          <p:cNvPr id="5" name="Content Placeholder 4"/>
          <p:cNvSpPr>
            <a:spLocks noGrp="1"/>
          </p:cNvSpPr>
          <p:nvPr>
            <p:ph sz="half" idx="1"/>
          </p:nvPr>
        </p:nvSpPr>
        <p:spPr>
          <a:xfrm>
            <a:off x="685802" y="1869600"/>
            <a:ext cx="5410198" cy="3921601"/>
          </a:xfrm>
        </p:spPr>
        <p:txBody>
          <a:bodyPr>
            <a:normAutofit fontScale="85000" lnSpcReduction="20000"/>
          </a:bodyPr>
          <a:lstStyle/>
          <a:p>
            <a:pPr marL="0" indent="0">
              <a:buNone/>
            </a:pPr>
            <a:r>
              <a:rPr lang="en-US" altLang="zh-CN" dirty="0"/>
              <a:t>1</a:t>
            </a:r>
            <a:r>
              <a:rPr lang="zh-CN" altLang="en-US" dirty="0"/>
              <a:t>，</a:t>
            </a:r>
            <a:r>
              <a:rPr lang="zh-CN" altLang="en-US" b="1" dirty="0"/>
              <a:t>理想国作为西方文明经典</a:t>
            </a:r>
            <a:endParaRPr lang="en-US" altLang="zh-CN" b="1" dirty="0"/>
          </a:p>
          <a:p>
            <a:pPr marL="0" indent="0">
              <a:buNone/>
            </a:pPr>
            <a:r>
              <a:rPr lang="en-US" altLang="zh-CN" b="1" dirty="0"/>
              <a:t>《</a:t>
            </a:r>
            <a:r>
              <a:rPr lang="zh-CN" altLang="en-US" b="1" dirty="0"/>
              <a:t>理想国</a:t>
            </a:r>
            <a:r>
              <a:rPr lang="en-US" altLang="zh-CN" b="1" dirty="0"/>
              <a:t>》</a:t>
            </a:r>
            <a:r>
              <a:rPr lang="zh-CN" altLang="en-US" b="1" dirty="0"/>
              <a:t>（</a:t>
            </a:r>
            <a:r>
              <a:rPr lang="en-US" altLang="zh-CN" b="1" dirty="0"/>
              <a:t>Plato’s Republic</a:t>
            </a:r>
            <a:r>
              <a:rPr lang="zh-CN" altLang="en-US" b="1" dirty="0"/>
              <a:t>）是古希腊哲学家柏拉图影响最大的著作。</a:t>
            </a:r>
            <a:endParaRPr lang="en-US" altLang="zh-CN" b="1" dirty="0"/>
          </a:p>
          <a:p>
            <a:r>
              <a:rPr lang="zh-CN" altLang="en-US" b="1" dirty="0"/>
              <a:t>它以对话录的方式写成，柏拉图在对话中讨论了人们应当如何生活，以及最佳政治制度</a:t>
            </a:r>
            <a:r>
              <a:rPr lang="en-US" altLang="zh-CN" b="1" dirty="0"/>
              <a:t>(</a:t>
            </a:r>
            <a:r>
              <a:rPr lang="en-US" altLang="zh-CN" b="1" dirty="0" err="1"/>
              <a:t>Kalipolis</a:t>
            </a:r>
            <a:r>
              <a:rPr lang="en-US" altLang="zh-CN" b="1" dirty="0"/>
              <a:t>)</a:t>
            </a:r>
            <a:r>
              <a:rPr lang="zh-CN" altLang="en-US" b="1" dirty="0"/>
              <a:t>应当具有的形式等重要伦理、政治哲学问题。</a:t>
            </a:r>
            <a:endParaRPr lang="en-US" altLang="zh-CN" b="1" dirty="0"/>
          </a:p>
          <a:p>
            <a:r>
              <a:rPr lang="en-US" altLang="zh-CN" b="1" dirty="0"/>
              <a:t>《</a:t>
            </a:r>
            <a:r>
              <a:rPr lang="zh-CN" altLang="en-US" b="1" dirty="0"/>
              <a:t>理想国</a:t>
            </a:r>
            <a:r>
              <a:rPr lang="en-US" altLang="zh-CN" b="1" dirty="0"/>
              <a:t>》</a:t>
            </a:r>
            <a:r>
              <a:rPr lang="zh-CN" altLang="en-US" b="1" dirty="0"/>
              <a:t>是西方文化传统的开山之作，为西方政治哲学传统的奠定了基础。</a:t>
            </a:r>
          </a:p>
          <a:p>
            <a:endParaRPr lang="zh-CN" altLang="en-US" dirty="0"/>
          </a:p>
        </p:txBody>
      </p:sp>
      <p:pic>
        <p:nvPicPr>
          <p:cNvPr id="205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84089" y="0"/>
            <a:ext cx="2225233" cy="3548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0535" y="99867"/>
            <a:ext cx="1819587" cy="3123624"/>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3808" y="3800761"/>
            <a:ext cx="2591956" cy="2733335"/>
          </a:xfrm>
          <a:prstGeom prst="rect">
            <a:avLst/>
          </a:prstGeom>
        </p:spPr>
      </p:pic>
    </p:spTree>
    <p:extLst>
      <p:ext uri="{BB962C8B-B14F-4D97-AF65-F5344CB8AC3E}">
        <p14:creationId xmlns:p14="http://schemas.microsoft.com/office/powerpoint/2010/main" val="366172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circle(in)">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wheel(1)">
                                      <p:cBhvr>
                                        <p:cTn id="17" dur="2000"/>
                                        <p:tgtEl>
                                          <p:spTgt spid="2050"/>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wheel(1)">
                                      <p:cBhvr>
                                        <p:cTn id="22" dur="20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randombar(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randombar(horizont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circle(in)">
                                      <p:cBhvr>
                                        <p:cTn id="37"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altLang="zh-CN" dirty="0"/>
            </a:br>
            <a:r>
              <a:rPr lang="en-US" altLang="zh-CN" sz="4000" dirty="0"/>
              <a:t>1.2 《</a:t>
            </a:r>
            <a:r>
              <a:rPr lang="zh-CN" altLang="en-US" sz="4000" dirty="0"/>
              <a:t>理想国</a:t>
            </a:r>
            <a:r>
              <a:rPr lang="en-US" altLang="zh-CN" sz="4000" dirty="0"/>
              <a:t>》</a:t>
            </a:r>
            <a:r>
              <a:rPr lang="zh-CN" altLang="en-US" sz="4000" dirty="0"/>
              <a:t>阅读和接受</a:t>
            </a:r>
            <a:br>
              <a:rPr lang="en-US" altLang="zh-CN" dirty="0"/>
            </a:br>
            <a:endParaRPr lang="zh-CN" altLang="en-US" dirty="0"/>
          </a:p>
        </p:txBody>
      </p:sp>
      <p:sp>
        <p:nvSpPr>
          <p:cNvPr id="3" name="Content Placeholder 2"/>
          <p:cNvSpPr>
            <a:spLocks noGrp="1"/>
          </p:cNvSpPr>
          <p:nvPr>
            <p:ph sz="half" idx="1"/>
          </p:nvPr>
        </p:nvSpPr>
        <p:spPr/>
        <p:txBody>
          <a:bodyPr>
            <a:normAutofit fontScale="70000" lnSpcReduction="20000"/>
          </a:bodyPr>
          <a:lstStyle/>
          <a:p>
            <a:r>
              <a:rPr lang="en-US" altLang="zh-CN" b="1" dirty="0"/>
              <a:t>《</a:t>
            </a:r>
            <a:r>
              <a:rPr lang="zh-CN" altLang="en-US" b="1" dirty="0"/>
              <a:t>理想国</a:t>
            </a:r>
            <a:r>
              <a:rPr lang="en-US" altLang="zh-CN" b="1" dirty="0"/>
              <a:t>》</a:t>
            </a:r>
            <a:r>
              <a:rPr lang="zh-CN" altLang="en-US" b="1" dirty="0"/>
              <a:t>在西方古代即已和柏拉图作品一起被广泛阅读。</a:t>
            </a:r>
            <a:endParaRPr lang="en-US" altLang="zh-CN" b="1" dirty="0"/>
          </a:p>
          <a:p>
            <a:r>
              <a:rPr lang="zh-CN" altLang="en-US" b="1" dirty="0"/>
              <a:t>文艺复兴时期，近代西方人带着新的问题阅读</a:t>
            </a:r>
            <a:r>
              <a:rPr lang="en-US" altLang="zh-CN" b="1" dirty="0"/>
              <a:t>《</a:t>
            </a:r>
            <a:r>
              <a:rPr lang="zh-CN" altLang="en-US" b="1" dirty="0"/>
              <a:t>理想国</a:t>
            </a:r>
            <a:r>
              <a:rPr lang="en-US" altLang="zh-CN" b="1" dirty="0"/>
              <a:t>》</a:t>
            </a:r>
            <a:r>
              <a:rPr lang="zh-CN" altLang="en-US" b="1" dirty="0"/>
              <a:t>，英国思想家托马斯</a:t>
            </a:r>
            <a:r>
              <a:rPr lang="en-US" altLang="zh-CN" b="1" dirty="0">
                <a:latin typeface="Microsoft YaHei UI"/>
                <a:ea typeface="Microsoft YaHei UI"/>
              </a:rPr>
              <a:t>. </a:t>
            </a:r>
            <a:r>
              <a:rPr lang="zh-CN" altLang="en-US" b="1" dirty="0"/>
              <a:t>莫尔</a:t>
            </a:r>
            <a:r>
              <a:rPr lang="en-US" altLang="zh-CN" b="1" dirty="0"/>
              <a:t>(Thomas Moore)</a:t>
            </a:r>
            <a:r>
              <a:rPr lang="zh-CN" altLang="en-US" b="1" dirty="0"/>
              <a:t> 创作了</a:t>
            </a:r>
            <a:r>
              <a:rPr lang="en-US" altLang="zh-CN" b="1" dirty="0"/>
              <a:t>《</a:t>
            </a:r>
            <a:r>
              <a:rPr lang="zh-CN" altLang="en-US" b="1" dirty="0"/>
              <a:t>乌托邦</a:t>
            </a:r>
            <a:r>
              <a:rPr lang="en-US" altLang="zh-CN" b="1" dirty="0"/>
              <a:t>》</a:t>
            </a:r>
            <a:r>
              <a:rPr lang="zh-CN" altLang="en-US" b="1" dirty="0"/>
              <a:t>，</a:t>
            </a:r>
            <a:r>
              <a:rPr lang="en-US" altLang="zh-CN" b="1" dirty="0"/>
              <a:t>《</a:t>
            </a:r>
            <a:r>
              <a:rPr lang="zh-CN" altLang="en-US" b="1" dirty="0"/>
              <a:t>理想国</a:t>
            </a:r>
            <a:r>
              <a:rPr lang="en-US" altLang="zh-CN" b="1" dirty="0"/>
              <a:t>》</a:t>
            </a:r>
            <a:r>
              <a:rPr lang="zh-CN" altLang="en-US" b="1" dirty="0"/>
              <a:t>被认为是人类乌托邦理想的源头。</a:t>
            </a:r>
            <a:endParaRPr lang="en-US" altLang="zh-CN" b="1" dirty="0"/>
          </a:p>
          <a:p>
            <a:r>
              <a:rPr lang="en-US" altLang="zh-CN" b="1" dirty="0"/>
              <a:t>20</a:t>
            </a:r>
            <a:r>
              <a:rPr lang="zh-CN" altLang="en-US" b="1" dirty="0"/>
              <a:t>世纪</a:t>
            </a:r>
            <a:r>
              <a:rPr lang="en-US" altLang="zh-CN" b="1" dirty="0"/>
              <a:t>30</a:t>
            </a:r>
            <a:r>
              <a:rPr lang="zh-CN" altLang="en-US" b="1" dirty="0"/>
              <a:t>年代以来，随着西方现代人文理想的破灭，反乌托邦主义的兴起，理想国被批判为极权主义。</a:t>
            </a:r>
            <a:endParaRPr lang="en-US" altLang="zh-CN" b="1" dirty="0"/>
          </a:p>
          <a:p>
            <a:r>
              <a:rPr lang="en-US" altLang="zh-CN" b="1" dirty="0"/>
              <a:t>20</a:t>
            </a:r>
            <a:r>
              <a:rPr lang="zh-CN" altLang="en-US" b="1" dirty="0"/>
              <a:t>世纪</a:t>
            </a:r>
            <a:r>
              <a:rPr lang="en-US" altLang="zh-CN" b="1" dirty="0"/>
              <a:t>60</a:t>
            </a:r>
            <a:r>
              <a:rPr lang="zh-CN" altLang="en-US" b="1" dirty="0"/>
              <a:t>年代以来，施特劳斯</a:t>
            </a:r>
            <a:r>
              <a:rPr lang="en-US" altLang="zh-CN" b="1" dirty="0"/>
              <a:t>(Leo Strauss)</a:t>
            </a:r>
            <a:r>
              <a:rPr lang="zh-CN" altLang="en-US" b="1" dirty="0"/>
              <a:t>、沃格林（</a:t>
            </a:r>
            <a:r>
              <a:rPr lang="en-US" altLang="zh-CN" b="1" dirty="0"/>
              <a:t>Eric </a:t>
            </a:r>
            <a:r>
              <a:rPr lang="en-US" altLang="zh-CN" b="1" dirty="0" err="1"/>
              <a:t>Voegelin</a:t>
            </a:r>
            <a:r>
              <a:rPr lang="zh-CN" altLang="en-US" b="1" dirty="0"/>
              <a:t>）等古典哲学家对柏拉图作品重新解读，</a:t>
            </a:r>
            <a:r>
              <a:rPr lang="en-US" altLang="zh-CN" b="1" dirty="0"/>
              <a:t>《</a:t>
            </a:r>
            <a:r>
              <a:rPr lang="zh-CN" altLang="en-US" b="1" dirty="0"/>
              <a:t>理想国</a:t>
            </a:r>
            <a:r>
              <a:rPr lang="en-US" altLang="zh-CN" b="1" dirty="0"/>
              <a:t>》</a:t>
            </a:r>
            <a:r>
              <a:rPr lang="zh-CN" altLang="en-US" b="1" dirty="0"/>
              <a:t>成为众多国内外名校人文教育的经典课程。</a:t>
            </a:r>
            <a:endParaRPr lang="en-US" altLang="zh-CN" b="1" dirty="0"/>
          </a:p>
        </p:txBody>
      </p:sp>
      <p:cxnSp>
        <p:nvCxnSpPr>
          <p:cNvPr id="6" name="Straight Connector 5"/>
          <p:cNvCxnSpPr/>
          <p:nvPr/>
        </p:nvCxnSpPr>
        <p:spPr>
          <a:xfrm>
            <a:off x="6478621" y="386470"/>
            <a:ext cx="29183" cy="551558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819089" y="997085"/>
            <a:ext cx="408562"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0304" y="252919"/>
            <a:ext cx="1498870" cy="874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7227651" y="1293779"/>
            <a:ext cx="2169267" cy="276999"/>
          </a:xfrm>
          <a:prstGeom prst="rect">
            <a:avLst/>
          </a:prstGeom>
          <a:noFill/>
        </p:spPr>
        <p:txBody>
          <a:bodyPr wrap="square" rtlCol="0">
            <a:spAutoFit/>
          </a:bodyPr>
          <a:lstStyle/>
          <a:p>
            <a:r>
              <a:rPr lang="zh-CN" altLang="en-US" sz="1200" dirty="0"/>
              <a:t>柏拉图学园（</a:t>
            </a:r>
            <a:r>
              <a:rPr lang="en-US" altLang="zh-CN" sz="1200" dirty="0"/>
              <a:t>385 b.c.-529 </a:t>
            </a:r>
            <a:r>
              <a:rPr lang="en-US" altLang="zh-CN" sz="1200" dirty="0" err="1"/>
              <a:t>a.d.</a:t>
            </a:r>
            <a:r>
              <a:rPr lang="zh-CN" altLang="en-US" sz="1200" dirty="0"/>
              <a:t>）</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0407" y="110527"/>
            <a:ext cx="700640" cy="11591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91" y="1918744"/>
            <a:ext cx="983305" cy="1225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1296" y="1933132"/>
            <a:ext cx="723379" cy="1196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0305" y="3475850"/>
            <a:ext cx="940508" cy="940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67515" y="3372528"/>
            <a:ext cx="753689" cy="11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21087" y="3355763"/>
            <a:ext cx="792344" cy="1244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01885" y="4900471"/>
            <a:ext cx="785848" cy="1189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5"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06209" y="4955161"/>
            <a:ext cx="750411" cy="11970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6" name="Picture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10407" y="4955160"/>
            <a:ext cx="828886" cy="1147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7" name="Picture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60304" y="4921728"/>
            <a:ext cx="983101" cy="1168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5" name="Straight Connector 14"/>
          <p:cNvCxnSpPr/>
          <p:nvPr/>
        </p:nvCxnSpPr>
        <p:spPr>
          <a:xfrm>
            <a:off x="6819089" y="2607013"/>
            <a:ext cx="4085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819089" y="3946104"/>
            <a:ext cx="4085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750996" y="5379396"/>
            <a:ext cx="43774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9493065" y="1293779"/>
            <a:ext cx="1168449" cy="461665"/>
          </a:xfrm>
          <a:prstGeom prst="rect">
            <a:avLst/>
          </a:prstGeom>
          <a:noFill/>
        </p:spPr>
        <p:txBody>
          <a:bodyPr wrap="square" rtlCol="0">
            <a:spAutoFit/>
          </a:bodyPr>
          <a:lstStyle/>
          <a:p>
            <a:r>
              <a:rPr lang="zh-CN" altLang="en-US" sz="1200" dirty="0"/>
              <a:t>新柏拉图主义</a:t>
            </a:r>
            <a:endParaRPr lang="en-US" altLang="zh-CN" sz="1200" dirty="0"/>
          </a:p>
          <a:p>
            <a:r>
              <a:rPr lang="en-US" altLang="zh-CN" sz="1200" dirty="0"/>
              <a:t>3-5</a:t>
            </a:r>
            <a:r>
              <a:rPr lang="zh-CN" altLang="en-US" sz="1200" dirty="0"/>
              <a:t>世纪</a:t>
            </a:r>
          </a:p>
        </p:txBody>
      </p:sp>
      <p:sp>
        <p:nvSpPr>
          <p:cNvPr id="21" name="TextBox 20"/>
          <p:cNvSpPr txBox="1"/>
          <p:nvPr/>
        </p:nvSpPr>
        <p:spPr>
          <a:xfrm>
            <a:off x="10842229" y="1269650"/>
            <a:ext cx="1530486" cy="461665"/>
          </a:xfrm>
          <a:prstGeom prst="rect">
            <a:avLst/>
          </a:prstGeom>
          <a:noFill/>
        </p:spPr>
        <p:txBody>
          <a:bodyPr wrap="square" rtlCol="0">
            <a:spAutoFit/>
          </a:bodyPr>
          <a:lstStyle/>
          <a:p>
            <a:r>
              <a:rPr lang="zh-CN" altLang="en-US" sz="1200" dirty="0"/>
              <a:t>奥古斯丁</a:t>
            </a:r>
            <a:endParaRPr lang="en-US" altLang="zh-CN" sz="1200" dirty="0"/>
          </a:p>
          <a:p>
            <a:r>
              <a:rPr lang="zh-CN" altLang="en-US" sz="1200" dirty="0"/>
              <a:t>基督教神学</a:t>
            </a:r>
          </a:p>
        </p:txBody>
      </p:sp>
      <p:pic>
        <p:nvPicPr>
          <p:cNvPr id="1040" name="Picture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42229" y="142105"/>
            <a:ext cx="985155" cy="985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93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80">
                                          <p:stCondLst>
                                            <p:cond delay="0"/>
                                          </p:stCondLst>
                                        </p:cTn>
                                        <p:tgtEl>
                                          <p:spTgt spid="6"/>
                                        </p:tgtEl>
                                      </p:cBhvr>
                                    </p:animEffect>
                                    <p:anim calcmode="lin" valueType="num">
                                      <p:cBhvr>
                                        <p:cTn id="13"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8" dur="26">
                                          <p:stCondLst>
                                            <p:cond delay="650"/>
                                          </p:stCondLst>
                                        </p:cTn>
                                        <p:tgtEl>
                                          <p:spTgt spid="6"/>
                                        </p:tgtEl>
                                      </p:cBhvr>
                                      <p:to x="100000" y="60000"/>
                                    </p:animScale>
                                    <p:animScale>
                                      <p:cBhvr>
                                        <p:cTn id="19" dur="166" decel="50000">
                                          <p:stCondLst>
                                            <p:cond delay="676"/>
                                          </p:stCondLst>
                                        </p:cTn>
                                        <p:tgtEl>
                                          <p:spTgt spid="6"/>
                                        </p:tgtEl>
                                      </p:cBhvr>
                                      <p:to x="100000" y="100000"/>
                                    </p:animScale>
                                    <p:animScale>
                                      <p:cBhvr>
                                        <p:cTn id="20" dur="26">
                                          <p:stCondLst>
                                            <p:cond delay="1312"/>
                                          </p:stCondLst>
                                        </p:cTn>
                                        <p:tgtEl>
                                          <p:spTgt spid="6"/>
                                        </p:tgtEl>
                                      </p:cBhvr>
                                      <p:to x="100000" y="80000"/>
                                    </p:animScale>
                                    <p:animScale>
                                      <p:cBhvr>
                                        <p:cTn id="21" dur="166" decel="50000">
                                          <p:stCondLst>
                                            <p:cond delay="1338"/>
                                          </p:stCondLst>
                                        </p:cTn>
                                        <p:tgtEl>
                                          <p:spTgt spid="6"/>
                                        </p:tgtEl>
                                      </p:cBhvr>
                                      <p:to x="100000" y="100000"/>
                                    </p:animScale>
                                    <p:animScale>
                                      <p:cBhvr>
                                        <p:cTn id="22" dur="26">
                                          <p:stCondLst>
                                            <p:cond delay="1642"/>
                                          </p:stCondLst>
                                        </p:cTn>
                                        <p:tgtEl>
                                          <p:spTgt spid="6"/>
                                        </p:tgtEl>
                                      </p:cBhvr>
                                      <p:to x="100000" y="90000"/>
                                    </p:animScale>
                                    <p:animScale>
                                      <p:cBhvr>
                                        <p:cTn id="23" dur="166" decel="50000">
                                          <p:stCondLst>
                                            <p:cond delay="1668"/>
                                          </p:stCondLst>
                                        </p:cTn>
                                        <p:tgtEl>
                                          <p:spTgt spid="6"/>
                                        </p:tgtEl>
                                      </p:cBhvr>
                                      <p:to x="100000" y="100000"/>
                                    </p:animScale>
                                    <p:animScale>
                                      <p:cBhvr>
                                        <p:cTn id="24" dur="26">
                                          <p:stCondLst>
                                            <p:cond delay="1808"/>
                                          </p:stCondLst>
                                        </p:cTn>
                                        <p:tgtEl>
                                          <p:spTgt spid="6"/>
                                        </p:tgtEl>
                                      </p:cBhvr>
                                      <p:to x="100000" y="95000"/>
                                    </p:animScale>
                                    <p:animScale>
                                      <p:cBhvr>
                                        <p:cTn id="25" dur="166" decel="50000">
                                          <p:stCondLst>
                                            <p:cond delay="1834"/>
                                          </p:stCondLst>
                                        </p:cTn>
                                        <p:tgtEl>
                                          <p:spTgt spid="6"/>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1000" fill="hold"/>
                                        <p:tgtEl>
                                          <p:spTgt spid="10"/>
                                        </p:tgtEl>
                                        <p:attrNameLst>
                                          <p:attrName>ppt_w</p:attrName>
                                        </p:attrNameLst>
                                      </p:cBhvr>
                                      <p:tavLst>
                                        <p:tav tm="0">
                                          <p:val>
                                            <p:fltVal val="0"/>
                                          </p:val>
                                        </p:tav>
                                        <p:tav tm="100000">
                                          <p:val>
                                            <p:strVal val="#ppt_w"/>
                                          </p:val>
                                        </p:tav>
                                      </p:tavLst>
                                    </p:anim>
                                    <p:anim calcmode="lin" valueType="num">
                                      <p:cBhvr>
                                        <p:cTn id="31" dur="1000" fill="hold"/>
                                        <p:tgtEl>
                                          <p:spTgt spid="10"/>
                                        </p:tgtEl>
                                        <p:attrNameLst>
                                          <p:attrName>ppt_h</p:attrName>
                                        </p:attrNameLst>
                                      </p:cBhvr>
                                      <p:tavLst>
                                        <p:tav tm="0">
                                          <p:val>
                                            <p:fltVal val="0"/>
                                          </p:val>
                                        </p:tav>
                                        <p:tav tm="100000">
                                          <p:val>
                                            <p:strVal val="#ppt_h"/>
                                          </p:val>
                                        </p:tav>
                                      </p:tavLst>
                                    </p:anim>
                                    <p:anim calcmode="lin" valueType="num">
                                      <p:cBhvr>
                                        <p:cTn id="32" dur="1000" fill="hold"/>
                                        <p:tgtEl>
                                          <p:spTgt spid="10"/>
                                        </p:tgtEl>
                                        <p:attrNameLst>
                                          <p:attrName>style.rotation</p:attrName>
                                        </p:attrNameLst>
                                      </p:cBhvr>
                                      <p:tavLst>
                                        <p:tav tm="0">
                                          <p:val>
                                            <p:fltVal val="90"/>
                                          </p:val>
                                        </p:tav>
                                        <p:tav tm="100000">
                                          <p:val>
                                            <p:fltVal val="0"/>
                                          </p:val>
                                        </p:tav>
                                      </p:tavLst>
                                    </p:anim>
                                    <p:animEffect transition="in" filter="fade">
                                      <p:cBhvr>
                                        <p:cTn id="33" dur="10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1026"/>
                                        </p:tgtEl>
                                        <p:attrNameLst>
                                          <p:attrName>style.visibility</p:attrName>
                                        </p:attrNameLst>
                                      </p:cBhvr>
                                      <p:to>
                                        <p:strVal val="visible"/>
                                      </p:to>
                                    </p:set>
                                    <p:animEffect transition="in" filter="randombar(horizontal)">
                                      <p:cBhvr>
                                        <p:cTn id="38" dur="500"/>
                                        <p:tgtEl>
                                          <p:spTgt spid="1026"/>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randombar(horizontal)">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nodeType="clickEffect">
                                  <p:stCondLst>
                                    <p:cond delay="0"/>
                                  </p:stCondLst>
                                  <p:childTnLst>
                                    <p:set>
                                      <p:cBhvr>
                                        <p:cTn id="47" dur="1" fill="hold">
                                          <p:stCondLst>
                                            <p:cond delay="0"/>
                                          </p:stCondLst>
                                        </p:cTn>
                                        <p:tgtEl>
                                          <p:spTgt spid="1027"/>
                                        </p:tgtEl>
                                        <p:attrNameLst>
                                          <p:attrName>style.visibility</p:attrName>
                                        </p:attrNameLst>
                                      </p:cBhvr>
                                      <p:to>
                                        <p:strVal val="visible"/>
                                      </p:to>
                                    </p:set>
                                    <p:animEffect transition="in" filter="randombar(horizontal)">
                                      <p:cBhvr>
                                        <p:cTn id="48" dur="500"/>
                                        <p:tgtEl>
                                          <p:spTgt spid="1027"/>
                                        </p:tgtEl>
                                      </p:cBhvr>
                                    </p:animEffect>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randombar(horizontal)">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1040"/>
                                        </p:tgtEl>
                                        <p:attrNameLst>
                                          <p:attrName>style.visibility</p:attrName>
                                        </p:attrNameLst>
                                      </p:cBhvr>
                                      <p:to>
                                        <p:strVal val="visible"/>
                                      </p:to>
                                    </p:set>
                                    <p:animEffect transition="in" filter="randombar(horizontal)">
                                      <p:cBhvr>
                                        <p:cTn id="58" dur="500"/>
                                        <p:tgtEl>
                                          <p:spTgt spid="1040"/>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randombar(horizontal)">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nodeType="clickEffect">
                                  <p:stCondLst>
                                    <p:cond delay="0"/>
                                  </p:stCondLst>
                                  <p:childTnLst>
                                    <p:set>
                                      <p:cBhvr>
                                        <p:cTn id="67" dur="1" fill="hold">
                                          <p:stCondLst>
                                            <p:cond delay="0"/>
                                          </p:stCondLst>
                                        </p:cTn>
                                        <p:tgtEl>
                                          <p:spTgt spid="3">
                                            <p:txEl>
                                              <p:pRg st="1" end="1"/>
                                            </p:txEl>
                                          </p:spTgt>
                                        </p:tgtEl>
                                        <p:attrNameLst>
                                          <p:attrName>style.visibility</p:attrName>
                                        </p:attrNameLst>
                                      </p:cBhvr>
                                      <p:to>
                                        <p:strVal val="visible"/>
                                      </p:to>
                                    </p:set>
                                    <p:animEffect transition="in" filter="randombar(horizontal)">
                                      <p:cBhvr>
                                        <p:cTn id="68" dur="500"/>
                                        <p:tgtEl>
                                          <p:spTgt spid="3">
                                            <p:txEl>
                                              <p:pRg st="1" end="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1" presetClass="entr" presetSubtype="0"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p:cTn id="73" dur="1000" fill="hold"/>
                                        <p:tgtEl>
                                          <p:spTgt spid="15"/>
                                        </p:tgtEl>
                                        <p:attrNameLst>
                                          <p:attrName>ppt_w</p:attrName>
                                        </p:attrNameLst>
                                      </p:cBhvr>
                                      <p:tavLst>
                                        <p:tav tm="0">
                                          <p:val>
                                            <p:fltVal val="0"/>
                                          </p:val>
                                        </p:tav>
                                        <p:tav tm="100000">
                                          <p:val>
                                            <p:strVal val="#ppt_w"/>
                                          </p:val>
                                        </p:tav>
                                      </p:tavLst>
                                    </p:anim>
                                    <p:anim calcmode="lin" valueType="num">
                                      <p:cBhvr>
                                        <p:cTn id="74" dur="1000" fill="hold"/>
                                        <p:tgtEl>
                                          <p:spTgt spid="15"/>
                                        </p:tgtEl>
                                        <p:attrNameLst>
                                          <p:attrName>ppt_h</p:attrName>
                                        </p:attrNameLst>
                                      </p:cBhvr>
                                      <p:tavLst>
                                        <p:tav tm="0">
                                          <p:val>
                                            <p:fltVal val="0"/>
                                          </p:val>
                                        </p:tav>
                                        <p:tav tm="100000">
                                          <p:val>
                                            <p:strVal val="#ppt_h"/>
                                          </p:val>
                                        </p:tav>
                                      </p:tavLst>
                                    </p:anim>
                                    <p:anim calcmode="lin" valueType="num">
                                      <p:cBhvr>
                                        <p:cTn id="75" dur="1000" fill="hold"/>
                                        <p:tgtEl>
                                          <p:spTgt spid="15"/>
                                        </p:tgtEl>
                                        <p:attrNameLst>
                                          <p:attrName>style.rotation</p:attrName>
                                        </p:attrNameLst>
                                      </p:cBhvr>
                                      <p:tavLst>
                                        <p:tav tm="0">
                                          <p:val>
                                            <p:fltVal val="90"/>
                                          </p:val>
                                        </p:tav>
                                        <p:tav tm="100000">
                                          <p:val>
                                            <p:fltVal val="0"/>
                                          </p:val>
                                        </p:tav>
                                      </p:tavLst>
                                    </p:anim>
                                    <p:animEffect transition="in" filter="fade">
                                      <p:cBhvr>
                                        <p:cTn id="76" dur="1000"/>
                                        <p:tgtEl>
                                          <p:spTgt spid="15"/>
                                        </p:tgtEl>
                                      </p:cBhvr>
                                    </p:animEffect>
                                  </p:childTnLst>
                                </p:cTn>
                              </p:par>
                            </p:childTnLst>
                          </p:cTn>
                        </p:par>
                      </p:childTnLst>
                    </p:cTn>
                  </p:par>
                  <p:par>
                    <p:cTn id="77" fill="hold">
                      <p:stCondLst>
                        <p:cond delay="indefinite"/>
                      </p:stCondLst>
                      <p:childTnLst>
                        <p:par>
                          <p:cTn id="78" fill="hold">
                            <p:stCondLst>
                              <p:cond delay="0"/>
                            </p:stCondLst>
                            <p:childTnLst>
                              <p:par>
                                <p:cTn id="79" presetID="14" presetClass="entr" presetSubtype="10" fill="hold" nodeType="clickEffect">
                                  <p:stCondLst>
                                    <p:cond delay="0"/>
                                  </p:stCondLst>
                                  <p:childTnLst>
                                    <p:set>
                                      <p:cBhvr>
                                        <p:cTn id="80" dur="1" fill="hold">
                                          <p:stCondLst>
                                            <p:cond delay="0"/>
                                          </p:stCondLst>
                                        </p:cTn>
                                        <p:tgtEl>
                                          <p:spTgt spid="1028"/>
                                        </p:tgtEl>
                                        <p:attrNameLst>
                                          <p:attrName>style.visibility</p:attrName>
                                        </p:attrNameLst>
                                      </p:cBhvr>
                                      <p:to>
                                        <p:strVal val="visible"/>
                                      </p:to>
                                    </p:set>
                                    <p:animEffect transition="in" filter="randombar(horizontal)">
                                      <p:cBhvr>
                                        <p:cTn id="81" dur="500"/>
                                        <p:tgtEl>
                                          <p:spTgt spid="1028"/>
                                        </p:tgtEl>
                                      </p:cBhvr>
                                    </p:animEffect>
                                  </p:childTnLst>
                                </p:cTn>
                              </p:par>
                            </p:childTnLst>
                          </p:cTn>
                        </p:par>
                      </p:childTnLst>
                    </p:cTn>
                  </p:par>
                  <p:par>
                    <p:cTn id="82" fill="hold">
                      <p:stCondLst>
                        <p:cond delay="indefinite"/>
                      </p:stCondLst>
                      <p:childTnLst>
                        <p:par>
                          <p:cTn id="83" fill="hold">
                            <p:stCondLst>
                              <p:cond delay="0"/>
                            </p:stCondLst>
                            <p:childTnLst>
                              <p:par>
                                <p:cTn id="84" presetID="14" presetClass="entr" presetSubtype="10" fill="hold" nodeType="clickEffect">
                                  <p:stCondLst>
                                    <p:cond delay="0"/>
                                  </p:stCondLst>
                                  <p:childTnLst>
                                    <p:set>
                                      <p:cBhvr>
                                        <p:cTn id="85" dur="1" fill="hold">
                                          <p:stCondLst>
                                            <p:cond delay="0"/>
                                          </p:stCondLst>
                                        </p:cTn>
                                        <p:tgtEl>
                                          <p:spTgt spid="1030"/>
                                        </p:tgtEl>
                                        <p:attrNameLst>
                                          <p:attrName>style.visibility</p:attrName>
                                        </p:attrNameLst>
                                      </p:cBhvr>
                                      <p:to>
                                        <p:strVal val="visible"/>
                                      </p:to>
                                    </p:set>
                                    <p:animEffect transition="in" filter="randombar(horizontal)">
                                      <p:cBhvr>
                                        <p:cTn id="86" dur="500"/>
                                        <p:tgtEl>
                                          <p:spTgt spid="1030"/>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nodeType="clickEffect">
                                  <p:stCondLst>
                                    <p:cond delay="0"/>
                                  </p:stCondLst>
                                  <p:childTnLst>
                                    <p:set>
                                      <p:cBhvr>
                                        <p:cTn id="90" dur="1" fill="hold">
                                          <p:stCondLst>
                                            <p:cond delay="0"/>
                                          </p:stCondLst>
                                        </p:cTn>
                                        <p:tgtEl>
                                          <p:spTgt spid="3">
                                            <p:txEl>
                                              <p:pRg st="2" end="2"/>
                                            </p:txEl>
                                          </p:spTgt>
                                        </p:tgtEl>
                                        <p:attrNameLst>
                                          <p:attrName>style.visibility</p:attrName>
                                        </p:attrNameLst>
                                      </p:cBhvr>
                                      <p:to>
                                        <p:strVal val="visible"/>
                                      </p:to>
                                    </p:set>
                                    <p:animEffect transition="in" filter="randombar(horizontal)">
                                      <p:cBhvr>
                                        <p:cTn id="91" dur="500"/>
                                        <p:tgtEl>
                                          <p:spTgt spid="3">
                                            <p:txEl>
                                              <p:pRg st="2" end="2"/>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1" presetClass="entr" presetSubtype="0" fill="hold" nodeType="clickEffect">
                                  <p:stCondLst>
                                    <p:cond delay="0"/>
                                  </p:stCondLst>
                                  <p:childTnLst>
                                    <p:set>
                                      <p:cBhvr>
                                        <p:cTn id="95" dur="1" fill="hold">
                                          <p:stCondLst>
                                            <p:cond delay="0"/>
                                          </p:stCondLst>
                                        </p:cTn>
                                        <p:tgtEl>
                                          <p:spTgt spid="17"/>
                                        </p:tgtEl>
                                        <p:attrNameLst>
                                          <p:attrName>style.visibility</p:attrName>
                                        </p:attrNameLst>
                                      </p:cBhvr>
                                      <p:to>
                                        <p:strVal val="visible"/>
                                      </p:to>
                                    </p:set>
                                    <p:anim calcmode="lin" valueType="num">
                                      <p:cBhvr>
                                        <p:cTn id="96" dur="1000" fill="hold"/>
                                        <p:tgtEl>
                                          <p:spTgt spid="17"/>
                                        </p:tgtEl>
                                        <p:attrNameLst>
                                          <p:attrName>ppt_w</p:attrName>
                                        </p:attrNameLst>
                                      </p:cBhvr>
                                      <p:tavLst>
                                        <p:tav tm="0">
                                          <p:val>
                                            <p:fltVal val="0"/>
                                          </p:val>
                                        </p:tav>
                                        <p:tav tm="100000">
                                          <p:val>
                                            <p:strVal val="#ppt_w"/>
                                          </p:val>
                                        </p:tav>
                                      </p:tavLst>
                                    </p:anim>
                                    <p:anim calcmode="lin" valueType="num">
                                      <p:cBhvr>
                                        <p:cTn id="97" dur="1000" fill="hold"/>
                                        <p:tgtEl>
                                          <p:spTgt spid="17"/>
                                        </p:tgtEl>
                                        <p:attrNameLst>
                                          <p:attrName>ppt_h</p:attrName>
                                        </p:attrNameLst>
                                      </p:cBhvr>
                                      <p:tavLst>
                                        <p:tav tm="0">
                                          <p:val>
                                            <p:fltVal val="0"/>
                                          </p:val>
                                        </p:tav>
                                        <p:tav tm="100000">
                                          <p:val>
                                            <p:strVal val="#ppt_h"/>
                                          </p:val>
                                        </p:tav>
                                      </p:tavLst>
                                    </p:anim>
                                    <p:anim calcmode="lin" valueType="num">
                                      <p:cBhvr>
                                        <p:cTn id="98" dur="1000" fill="hold"/>
                                        <p:tgtEl>
                                          <p:spTgt spid="17"/>
                                        </p:tgtEl>
                                        <p:attrNameLst>
                                          <p:attrName>style.rotation</p:attrName>
                                        </p:attrNameLst>
                                      </p:cBhvr>
                                      <p:tavLst>
                                        <p:tav tm="0">
                                          <p:val>
                                            <p:fltVal val="90"/>
                                          </p:val>
                                        </p:tav>
                                        <p:tav tm="100000">
                                          <p:val>
                                            <p:fltVal val="0"/>
                                          </p:val>
                                        </p:tav>
                                      </p:tavLst>
                                    </p:anim>
                                    <p:animEffect transition="in" filter="fade">
                                      <p:cBhvr>
                                        <p:cTn id="99" dur="1000"/>
                                        <p:tgtEl>
                                          <p:spTgt spid="17"/>
                                        </p:tgtEl>
                                      </p:cBhvr>
                                    </p:animEffect>
                                  </p:childTnLst>
                                </p:cTn>
                              </p:par>
                            </p:childTnLst>
                          </p:cTn>
                        </p:par>
                      </p:childTnLst>
                    </p:cTn>
                  </p:par>
                  <p:par>
                    <p:cTn id="100" fill="hold">
                      <p:stCondLst>
                        <p:cond delay="indefinite"/>
                      </p:stCondLst>
                      <p:childTnLst>
                        <p:par>
                          <p:cTn id="101" fill="hold">
                            <p:stCondLst>
                              <p:cond delay="0"/>
                            </p:stCondLst>
                            <p:childTnLst>
                              <p:par>
                                <p:cTn id="102" presetID="14" presetClass="entr" presetSubtype="10" fill="hold" nodeType="clickEffect">
                                  <p:stCondLst>
                                    <p:cond delay="0"/>
                                  </p:stCondLst>
                                  <p:childTnLst>
                                    <p:set>
                                      <p:cBhvr>
                                        <p:cTn id="103" dur="1" fill="hold">
                                          <p:stCondLst>
                                            <p:cond delay="0"/>
                                          </p:stCondLst>
                                        </p:cTn>
                                        <p:tgtEl>
                                          <p:spTgt spid="1031"/>
                                        </p:tgtEl>
                                        <p:attrNameLst>
                                          <p:attrName>style.visibility</p:attrName>
                                        </p:attrNameLst>
                                      </p:cBhvr>
                                      <p:to>
                                        <p:strVal val="visible"/>
                                      </p:to>
                                    </p:set>
                                    <p:animEffect transition="in" filter="randombar(horizontal)">
                                      <p:cBhvr>
                                        <p:cTn id="104" dur="500"/>
                                        <p:tgtEl>
                                          <p:spTgt spid="1031"/>
                                        </p:tgtEl>
                                      </p:cBhvr>
                                    </p:animEffect>
                                  </p:childTnLst>
                                </p:cTn>
                              </p:par>
                            </p:childTnLst>
                          </p:cTn>
                        </p:par>
                      </p:childTnLst>
                    </p:cTn>
                  </p:par>
                  <p:par>
                    <p:cTn id="105" fill="hold">
                      <p:stCondLst>
                        <p:cond delay="indefinite"/>
                      </p:stCondLst>
                      <p:childTnLst>
                        <p:par>
                          <p:cTn id="106" fill="hold">
                            <p:stCondLst>
                              <p:cond delay="0"/>
                            </p:stCondLst>
                            <p:childTnLst>
                              <p:par>
                                <p:cTn id="107" presetID="14" presetClass="entr" presetSubtype="10" fill="hold" nodeType="clickEffect">
                                  <p:stCondLst>
                                    <p:cond delay="0"/>
                                  </p:stCondLst>
                                  <p:childTnLst>
                                    <p:set>
                                      <p:cBhvr>
                                        <p:cTn id="108" dur="1" fill="hold">
                                          <p:stCondLst>
                                            <p:cond delay="0"/>
                                          </p:stCondLst>
                                        </p:cTn>
                                        <p:tgtEl>
                                          <p:spTgt spid="1032"/>
                                        </p:tgtEl>
                                        <p:attrNameLst>
                                          <p:attrName>style.visibility</p:attrName>
                                        </p:attrNameLst>
                                      </p:cBhvr>
                                      <p:to>
                                        <p:strVal val="visible"/>
                                      </p:to>
                                    </p:set>
                                    <p:animEffect transition="in" filter="randombar(horizontal)">
                                      <p:cBhvr>
                                        <p:cTn id="109" dur="500"/>
                                        <p:tgtEl>
                                          <p:spTgt spid="1032"/>
                                        </p:tgtEl>
                                      </p:cBhvr>
                                    </p:animEffect>
                                  </p:childTnLst>
                                </p:cTn>
                              </p:par>
                            </p:childTnLst>
                          </p:cTn>
                        </p:par>
                      </p:childTnLst>
                    </p:cTn>
                  </p:par>
                  <p:par>
                    <p:cTn id="110" fill="hold">
                      <p:stCondLst>
                        <p:cond delay="indefinite"/>
                      </p:stCondLst>
                      <p:childTnLst>
                        <p:par>
                          <p:cTn id="111" fill="hold">
                            <p:stCondLst>
                              <p:cond delay="0"/>
                            </p:stCondLst>
                            <p:childTnLst>
                              <p:par>
                                <p:cTn id="112" presetID="14" presetClass="entr" presetSubtype="10" fill="hold" nodeType="clickEffect">
                                  <p:stCondLst>
                                    <p:cond delay="0"/>
                                  </p:stCondLst>
                                  <p:childTnLst>
                                    <p:set>
                                      <p:cBhvr>
                                        <p:cTn id="113" dur="1" fill="hold">
                                          <p:stCondLst>
                                            <p:cond delay="0"/>
                                          </p:stCondLst>
                                        </p:cTn>
                                        <p:tgtEl>
                                          <p:spTgt spid="1033"/>
                                        </p:tgtEl>
                                        <p:attrNameLst>
                                          <p:attrName>style.visibility</p:attrName>
                                        </p:attrNameLst>
                                      </p:cBhvr>
                                      <p:to>
                                        <p:strVal val="visible"/>
                                      </p:to>
                                    </p:set>
                                    <p:animEffect transition="in" filter="randombar(horizontal)">
                                      <p:cBhvr>
                                        <p:cTn id="114" dur="500"/>
                                        <p:tgtEl>
                                          <p:spTgt spid="1033"/>
                                        </p:tgtEl>
                                      </p:cBhvr>
                                    </p:animEffect>
                                  </p:childTnLst>
                                </p:cTn>
                              </p:par>
                            </p:childTnLst>
                          </p:cTn>
                        </p:par>
                      </p:childTnLst>
                    </p:cTn>
                  </p:par>
                  <p:par>
                    <p:cTn id="115" fill="hold">
                      <p:stCondLst>
                        <p:cond delay="indefinite"/>
                      </p:stCondLst>
                      <p:childTnLst>
                        <p:par>
                          <p:cTn id="116" fill="hold">
                            <p:stCondLst>
                              <p:cond delay="0"/>
                            </p:stCondLst>
                            <p:childTnLst>
                              <p:par>
                                <p:cTn id="117" presetID="14" presetClass="entr" presetSubtype="10" fill="hold" nodeType="clickEffect">
                                  <p:stCondLst>
                                    <p:cond delay="0"/>
                                  </p:stCondLst>
                                  <p:childTnLst>
                                    <p:set>
                                      <p:cBhvr>
                                        <p:cTn id="118"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19" dur="500"/>
                                        <p:tgtEl>
                                          <p:spTgt spid="3">
                                            <p:txEl>
                                              <p:pRg st="3" end="3"/>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31" presetClass="entr" presetSubtype="0" fill="hold" nodeType="clickEffect">
                                  <p:stCondLst>
                                    <p:cond delay="0"/>
                                  </p:stCondLst>
                                  <p:childTnLst>
                                    <p:set>
                                      <p:cBhvr>
                                        <p:cTn id="123" dur="1" fill="hold">
                                          <p:stCondLst>
                                            <p:cond delay="0"/>
                                          </p:stCondLst>
                                        </p:cTn>
                                        <p:tgtEl>
                                          <p:spTgt spid="19"/>
                                        </p:tgtEl>
                                        <p:attrNameLst>
                                          <p:attrName>style.visibility</p:attrName>
                                        </p:attrNameLst>
                                      </p:cBhvr>
                                      <p:to>
                                        <p:strVal val="visible"/>
                                      </p:to>
                                    </p:set>
                                    <p:anim calcmode="lin" valueType="num">
                                      <p:cBhvr>
                                        <p:cTn id="124" dur="1000" fill="hold"/>
                                        <p:tgtEl>
                                          <p:spTgt spid="19"/>
                                        </p:tgtEl>
                                        <p:attrNameLst>
                                          <p:attrName>ppt_w</p:attrName>
                                        </p:attrNameLst>
                                      </p:cBhvr>
                                      <p:tavLst>
                                        <p:tav tm="0">
                                          <p:val>
                                            <p:fltVal val="0"/>
                                          </p:val>
                                        </p:tav>
                                        <p:tav tm="100000">
                                          <p:val>
                                            <p:strVal val="#ppt_w"/>
                                          </p:val>
                                        </p:tav>
                                      </p:tavLst>
                                    </p:anim>
                                    <p:anim calcmode="lin" valueType="num">
                                      <p:cBhvr>
                                        <p:cTn id="125" dur="1000" fill="hold"/>
                                        <p:tgtEl>
                                          <p:spTgt spid="19"/>
                                        </p:tgtEl>
                                        <p:attrNameLst>
                                          <p:attrName>ppt_h</p:attrName>
                                        </p:attrNameLst>
                                      </p:cBhvr>
                                      <p:tavLst>
                                        <p:tav tm="0">
                                          <p:val>
                                            <p:fltVal val="0"/>
                                          </p:val>
                                        </p:tav>
                                        <p:tav tm="100000">
                                          <p:val>
                                            <p:strVal val="#ppt_h"/>
                                          </p:val>
                                        </p:tav>
                                      </p:tavLst>
                                    </p:anim>
                                    <p:anim calcmode="lin" valueType="num">
                                      <p:cBhvr>
                                        <p:cTn id="126" dur="1000" fill="hold"/>
                                        <p:tgtEl>
                                          <p:spTgt spid="19"/>
                                        </p:tgtEl>
                                        <p:attrNameLst>
                                          <p:attrName>style.rotation</p:attrName>
                                        </p:attrNameLst>
                                      </p:cBhvr>
                                      <p:tavLst>
                                        <p:tav tm="0">
                                          <p:val>
                                            <p:fltVal val="90"/>
                                          </p:val>
                                        </p:tav>
                                        <p:tav tm="100000">
                                          <p:val>
                                            <p:fltVal val="0"/>
                                          </p:val>
                                        </p:tav>
                                      </p:tavLst>
                                    </p:anim>
                                    <p:animEffect transition="in" filter="fade">
                                      <p:cBhvr>
                                        <p:cTn id="127" dur="1000"/>
                                        <p:tgtEl>
                                          <p:spTgt spid="19"/>
                                        </p:tgtEl>
                                      </p:cBhvr>
                                    </p:animEffect>
                                  </p:childTnLst>
                                </p:cTn>
                              </p:par>
                            </p:childTnLst>
                          </p:cTn>
                        </p:par>
                      </p:childTnLst>
                    </p:cTn>
                  </p:par>
                  <p:par>
                    <p:cTn id="128" fill="hold">
                      <p:stCondLst>
                        <p:cond delay="indefinite"/>
                      </p:stCondLst>
                      <p:childTnLst>
                        <p:par>
                          <p:cTn id="129" fill="hold">
                            <p:stCondLst>
                              <p:cond delay="0"/>
                            </p:stCondLst>
                            <p:childTnLst>
                              <p:par>
                                <p:cTn id="130" presetID="14" presetClass="entr" presetSubtype="10" fill="hold" nodeType="clickEffect">
                                  <p:stCondLst>
                                    <p:cond delay="0"/>
                                  </p:stCondLst>
                                  <p:childTnLst>
                                    <p:set>
                                      <p:cBhvr>
                                        <p:cTn id="131" dur="1" fill="hold">
                                          <p:stCondLst>
                                            <p:cond delay="0"/>
                                          </p:stCondLst>
                                        </p:cTn>
                                        <p:tgtEl>
                                          <p:spTgt spid="1037"/>
                                        </p:tgtEl>
                                        <p:attrNameLst>
                                          <p:attrName>style.visibility</p:attrName>
                                        </p:attrNameLst>
                                      </p:cBhvr>
                                      <p:to>
                                        <p:strVal val="visible"/>
                                      </p:to>
                                    </p:set>
                                    <p:animEffect transition="in" filter="randombar(horizontal)">
                                      <p:cBhvr>
                                        <p:cTn id="132" dur="500"/>
                                        <p:tgtEl>
                                          <p:spTgt spid="1037"/>
                                        </p:tgtEl>
                                      </p:cBhvr>
                                    </p:animEffect>
                                  </p:childTnLst>
                                </p:cTn>
                              </p:par>
                            </p:childTnLst>
                          </p:cTn>
                        </p:par>
                      </p:childTnLst>
                    </p:cTn>
                  </p:par>
                  <p:par>
                    <p:cTn id="133" fill="hold">
                      <p:stCondLst>
                        <p:cond delay="indefinite"/>
                      </p:stCondLst>
                      <p:childTnLst>
                        <p:par>
                          <p:cTn id="134" fill="hold">
                            <p:stCondLst>
                              <p:cond delay="0"/>
                            </p:stCondLst>
                            <p:childTnLst>
                              <p:par>
                                <p:cTn id="135" presetID="14" presetClass="entr" presetSubtype="10" fill="hold" nodeType="clickEffect">
                                  <p:stCondLst>
                                    <p:cond delay="0"/>
                                  </p:stCondLst>
                                  <p:childTnLst>
                                    <p:set>
                                      <p:cBhvr>
                                        <p:cTn id="136" dur="1" fill="hold">
                                          <p:stCondLst>
                                            <p:cond delay="0"/>
                                          </p:stCondLst>
                                        </p:cTn>
                                        <p:tgtEl>
                                          <p:spTgt spid="1034"/>
                                        </p:tgtEl>
                                        <p:attrNameLst>
                                          <p:attrName>style.visibility</p:attrName>
                                        </p:attrNameLst>
                                      </p:cBhvr>
                                      <p:to>
                                        <p:strVal val="visible"/>
                                      </p:to>
                                    </p:set>
                                    <p:animEffect transition="in" filter="randombar(horizontal)">
                                      <p:cBhvr>
                                        <p:cTn id="137" dur="500"/>
                                        <p:tgtEl>
                                          <p:spTgt spid="1034"/>
                                        </p:tgtEl>
                                      </p:cBhvr>
                                    </p:animEffect>
                                  </p:childTnLst>
                                </p:cTn>
                              </p:par>
                            </p:childTnLst>
                          </p:cTn>
                        </p:par>
                      </p:childTnLst>
                    </p:cTn>
                  </p:par>
                  <p:par>
                    <p:cTn id="138" fill="hold">
                      <p:stCondLst>
                        <p:cond delay="indefinite"/>
                      </p:stCondLst>
                      <p:childTnLst>
                        <p:par>
                          <p:cTn id="139" fill="hold">
                            <p:stCondLst>
                              <p:cond delay="0"/>
                            </p:stCondLst>
                            <p:childTnLst>
                              <p:par>
                                <p:cTn id="140" presetID="14" presetClass="entr" presetSubtype="10" fill="hold" nodeType="clickEffect">
                                  <p:stCondLst>
                                    <p:cond delay="0"/>
                                  </p:stCondLst>
                                  <p:childTnLst>
                                    <p:set>
                                      <p:cBhvr>
                                        <p:cTn id="141" dur="1" fill="hold">
                                          <p:stCondLst>
                                            <p:cond delay="0"/>
                                          </p:stCondLst>
                                        </p:cTn>
                                        <p:tgtEl>
                                          <p:spTgt spid="1036"/>
                                        </p:tgtEl>
                                        <p:attrNameLst>
                                          <p:attrName>style.visibility</p:attrName>
                                        </p:attrNameLst>
                                      </p:cBhvr>
                                      <p:to>
                                        <p:strVal val="visible"/>
                                      </p:to>
                                    </p:set>
                                    <p:animEffect transition="in" filter="randombar(horizontal)">
                                      <p:cBhvr>
                                        <p:cTn id="142" dur="500"/>
                                        <p:tgtEl>
                                          <p:spTgt spid="1036"/>
                                        </p:tgtEl>
                                      </p:cBhvr>
                                    </p:animEffect>
                                  </p:childTnLst>
                                </p:cTn>
                              </p:par>
                            </p:childTnLst>
                          </p:cTn>
                        </p:par>
                      </p:childTnLst>
                    </p:cTn>
                  </p:par>
                  <p:par>
                    <p:cTn id="143" fill="hold">
                      <p:stCondLst>
                        <p:cond delay="indefinite"/>
                      </p:stCondLst>
                      <p:childTnLst>
                        <p:par>
                          <p:cTn id="144" fill="hold">
                            <p:stCondLst>
                              <p:cond delay="0"/>
                            </p:stCondLst>
                            <p:childTnLst>
                              <p:par>
                                <p:cTn id="145" presetID="14" presetClass="entr" presetSubtype="10" fill="hold" nodeType="clickEffect">
                                  <p:stCondLst>
                                    <p:cond delay="0"/>
                                  </p:stCondLst>
                                  <p:childTnLst>
                                    <p:set>
                                      <p:cBhvr>
                                        <p:cTn id="146" dur="1" fill="hold">
                                          <p:stCondLst>
                                            <p:cond delay="0"/>
                                          </p:stCondLst>
                                        </p:cTn>
                                        <p:tgtEl>
                                          <p:spTgt spid="1035"/>
                                        </p:tgtEl>
                                        <p:attrNameLst>
                                          <p:attrName>style.visibility</p:attrName>
                                        </p:attrNameLst>
                                      </p:cBhvr>
                                      <p:to>
                                        <p:strVal val="visible"/>
                                      </p:to>
                                    </p:set>
                                    <p:animEffect transition="in" filter="randombar(horizontal)">
                                      <p:cBhvr>
                                        <p:cTn id="14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809564" y="2171865"/>
            <a:ext cx="2613891" cy="1973998"/>
          </a:xfrm>
          <a:prstGeom prst="ellipse">
            <a:avLst/>
          </a:prstGeom>
          <a:solidFill>
            <a:srgbClr val="00B0F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a:ea typeface="宋体"/>
              <a:cs typeface="+mn-cs"/>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931" y="2381064"/>
            <a:ext cx="1629155" cy="1466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descr="C:\Users\lihai\Desktop\理想国\理想国封面.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762" y="1503019"/>
            <a:ext cx="1104418" cy="189591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p:cNvCxnSpPr>
            <a:cxnSpLocks/>
          </p:cNvCxnSpPr>
          <p:nvPr/>
        </p:nvCxnSpPr>
        <p:spPr>
          <a:xfrm>
            <a:off x="8718528" y="1452338"/>
            <a:ext cx="0" cy="4293944"/>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837850" y="1384402"/>
            <a:ext cx="2990355"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现代欧美意识形态：</a:t>
            </a:r>
            <a:endPar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政治</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权力争夺</a:t>
            </a:r>
            <a:endPar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因此：</a:t>
            </a:r>
            <a:endPar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柏拉图的主张是在为哲学家争夺政治权力，知识</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权力的政制是一种极权主义</a:t>
            </a:r>
          </a:p>
        </p:txBody>
      </p:sp>
      <p:sp>
        <p:nvSpPr>
          <p:cNvPr id="14" name="TextBox 13"/>
          <p:cNvSpPr txBox="1"/>
          <p:nvPr/>
        </p:nvSpPr>
        <p:spPr>
          <a:xfrm>
            <a:off x="1625980" y="1384402"/>
            <a:ext cx="349289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柏拉图认为：</a:t>
            </a:r>
            <a:endPar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政治</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人类共同生活方式</a:t>
            </a:r>
          </a:p>
        </p:txBody>
      </p:sp>
      <p:sp>
        <p:nvSpPr>
          <p:cNvPr id="15" name="TextBox 14"/>
          <p:cNvSpPr txBox="1"/>
          <p:nvPr/>
        </p:nvSpPr>
        <p:spPr>
          <a:xfrm>
            <a:off x="6417002" y="2473944"/>
            <a:ext cx="276463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Times New Roman"/>
                <a:ea typeface="宋体"/>
                <a:cs typeface="+mn-cs"/>
              </a:rPr>
              <a:t>权力</a:t>
            </a:r>
            <a:r>
              <a:rPr kumimoji="0" lang="zh-CN" altLang="en-US" sz="2400" b="1" i="0" u="none" strike="noStrike" kern="1200" cap="none" spc="0" normalizeH="0" baseline="0" noProof="0" dirty="0">
                <a:ln>
                  <a:noFill/>
                </a:ln>
                <a:solidFill>
                  <a:srgbClr val="FFFF00"/>
                </a:solidFill>
                <a:effectLst/>
                <a:uLnTx/>
                <a:uFillTx/>
                <a:latin typeface="Times New Roman"/>
                <a:ea typeface="宋体"/>
                <a:cs typeface="+mn-cs"/>
              </a:rPr>
              <a:t>          </a:t>
            </a:r>
            <a:r>
              <a:rPr kumimoji="0" lang="zh-CN" altLang="en-US" sz="2400" b="1" i="0" u="none" strike="noStrike" kern="1200" cap="none" spc="0" normalizeH="0" baseline="0" noProof="0" dirty="0">
                <a:ln>
                  <a:noFill/>
                </a:ln>
                <a:solidFill>
                  <a:srgbClr val="FF0000"/>
                </a:solidFill>
                <a:effectLst/>
                <a:uLnTx/>
                <a:uFillTx/>
                <a:latin typeface="Times New Roman"/>
                <a:ea typeface="宋体"/>
                <a:cs typeface="+mn-cs"/>
              </a:rPr>
              <a:t>知识</a:t>
            </a:r>
          </a:p>
        </p:txBody>
      </p:sp>
      <p:cxnSp>
        <p:nvCxnSpPr>
          <p:cNvPr id="22" name="Straight Arrow Connector 21"/>
          <p:cNvCxnSpPr>
            <a:cxnSpLocks/>
          </p:cNvCxnSpPr>
          <p:nvPr/>
        </p:nvCxnSpPr>
        <p:spPr>
          <a:xfrm>
            <a:off x="6070311" y="2704776"/>
            <a:ext cx="410720"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320157" y="1361450"/>
            <a:ext cx="349289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柏拉图的理想政治模式</a:t>
            </a:r>
            <a:endPar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最佳政制（</a:t>
            </a:r>
            <a:r>
              <a:rPr kumimoji="0" lang="en-US" altLang="zh-CN" sz="2400" b="1" i="0" u="none" strike="noStrike" kern="1200" cap="none" spc="0" normalizeH="0" baseline="0" noProof="0" dirty="0" err="1">
                <a:ln>
                  <a:noFill/>
                </a:ln>
                <a:solidFill>
                  <a:srgbClr val="000000"/>
                </a:solidFill>
                <a:effectLst/>
                <a:uLnTx/>
                <a:uFillTx/>
                <a:latin typeface="Times New Roman"/>
                <a:ea typeface="宋体"/>
                <a:cs typeface="+mn-cs"/>
              </a:rPr>
              <a:t>Kalipolis</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a:t>
            </a:r>
          </a:p>
        </p:txBody>
      </p:sp>
      <p:sp>
        <p:nvSpPr>
          <p:cNvPr id="2" name="Rectangle 1"/>
          <p:cNvSpPr/>
          <p:nvPr/>
        </p:nvSpPr>
        <p:spPr>
          <a:xfrm>
            <a:off x="772011" y="255710"/>
            <a:ext cx="6186309"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1000"/>
              </a:spcAft>
              <a:buClr>
                <a:prstClr val="white"/>
              </a:buClr>
              <a:buSzPct val="100000"/>
              <a:buFontTx/>
              <a:buNone/>
              <a:tabLst/>
              <a:defRPr/>
            </a:pPr>
            <a:r>
              <a:rPr kumimoji="0" lang="zh-CN" altLang="en-US" sz="3600" b="0" i="0" u="none" strike="noStrike" kern="1200" cap="none" spc="0" normalizeH="0" baseline="0" noProof="0" dirty="0">
                <a:ln>
                  <a:noFill/>
                </a:ln>
                <a:solidFill>
                  <a:srgbClr val="000000"/>
                </a:solidFill>
                <a:effectLst/>
                <a:uLnTx/>
                <a:uFillTx/>
                <a:latin typeface="Microsoft YaHei UI" panose="020B0503020204020204" pitchFamily="34" charset="-122"/>
                <a:ea typeface="Microsoft YaHei UI" panose="020B0503020204020204" pitchFamily="34" charset="-122"/>
                <a:cs typeface="+mn-cs"/>
              </a:rPr>
              <a:t>理想国是一本怎样的书？</a:t>
            </a:r>
            <a:r>
              <a:rPr kumimoji="0" lang="zh-CN" altLang="en-US" sz="18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rPr>
              <a:t>一部书？</a:t>
            </a:r>
          </a:p>
        </p:txBody>
      </p:sp>
      <p:sp>
        <p:nvSpPr>
          <p:cNvPr id="4" name="TextBox 3"/>
          <p:cNvSpPr txBox="1"/>
          <p:nvPr/>
        </p:nvSpPr>
        <p:spPr>
          <a:xfrm>
            <a:off x="5338160" y="2370387"/>
            <a:ext cx="99485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政治秩序</a:t>
            </a:r>
          </a:p>
        </p:txBody>
      </p:sp>
      <p:sp>
        <p:nvSpPr>
          <p:cNvPr id="12" name="加号 11">
            <a:extLst>
              <a:ext uri="{FF2B5EF4-FFF2-40B4-BE49-F238E27FC236}">
                <a16:creationId xmlns:a16="http://schemas.microsoft.com/office/drawing/2014/main" id="{B373286F-C34A-46C4-AFBF-9C633E22F36A}"/>
              </a:ext>
            </a:extLst>
          </p:cNvPr>
          <p:cNvSpPr/>
          <p:nvPr/>
        </p:nvSpPr>
        <p:spPr>
          <a:xfrm>
            <a:off x="7255818" y="2563146"/>
            <a:ext cx="478302" cy="323397"/>
          </a:xfrm>
          <a:prstGeom prst="mathPlus">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w="0">
                <a:solidFill>
                  <a:srgbClr val="000000"/>
                </a:solidFill>
              </a:ln>
              <a:solidFill>
                <a:srgbClr val="00CC99"/>
              </a:solidFill>
              <a:effectLst>
                <a:outerShdw blurRad="38100" dist="25400" dir="5400000" algn="ctr" rotWithShape="0">
                  <a:srgbClr val="6E747A">
                    <a:alpha val="43000"/>
                  </a:srgbClr>
                </a:outerShdw>
              </a:effectLst>
              <a:uLnTx/>
              <a:uFillTx/>
              <a:latin typeface="Times New Roman"/>
              <a:ea typeface="宋体"/>
              <a:cs typeface="+mn-cs"/>
            </a:endParaRPr>
          </a:p>
        </p:txBody>
      </p:sp>
      <p:sp>
        <p:nvSpPr>
          <p:cNvPr id="3" name="文本框 2">
            <a:extLst>
              <a:ext uri="{FF2B5EF4-FFF2-40B4-BE49-F238E27FC236}">
                <a16:creationId xmlns:a16="http://schemas.microsoft.com/office/drawing/2014/main" id="{9793746E-38CB-4009-A233-EB322745128B}"/>
              </a:ext>
            </a:extLst>
          </p:cNvPr>
          <p:cNvSpPr txBox="1"/>
          <p:nvPr/>
        </p:nvSpPr>
        <p:spPr>
          <a:xfrm>
            <a:off x="496762" y="4638286"/>
            <a:ext cx="7627147" cy="221599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理想国</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是柏拉图想要以哲学教育的方式改革雅典乃至希腊政治制度的尝试。这是其现实层面的意义。</a:t>
            </a:r>
            <a:endPar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为了论证哲学家的政治主张是正确的，柏拉图构建了一个以理念论为核心的认识论框架，作为其政治哲学的基础。这是</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理想国</a:t>
            </a:r>
            <a:r>
              <a:rPr kumimoji="0" lang="en-US" altLang="zh-CN" sz="2400" b="1" i="0" u="none" strike="noStrike" kern="1200" cap="none" spc="0" normalizeH="0" baseline="0" noProof="0" dirty="0">
                <a:ln>
                  <a:noFill/>
                </a:ln>
                <a:solidFill>
                  <a:srgbClr val="000000"/>
                </a:solidFill>
                <a:effectLst/>
                <a:uLnTx/>
                <a:uFillTx/>
                <a:latin typeface="Times New Roman"/>
                <a:ea typeface="宋体"/>
                <a:cs typeface="+mn-cs"/>
              </a:rPr>
              <a:t>》</a:t>
            </a:r>
            <a:r>
              <a:rPr kumimoji="0" lang="zh-CN" altLang="en-US" sz="2400" b="1" i="0" u="none" strike="noStrike" kern="1200" cap="none" spc="0" normalizeH="0" baseline="0" noProof="0" dirty="0">
                <a:ln>
                  <a:noFill/>
                </a:ln>
                <a:solidFill>
                  <a:srgbClr val="000000"/>
                </a:solidFill>
                <a:effectLst/>
                <a:uLnTx/>
                <a:uFillTx/>
                <a:latin typeface="Times New Roman"/>
                <a:ea typeface="宋体"/>
                <a:cs typeface="+mn-cs"/>
              </a:rPr>
              <a:t>的哲学意义。</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00356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heel(1)">
                                      <p:cBhvr>
                                        <p:cTn id="12" dur="20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circle(in)">
                                      <p:cBhvr>
                                        <p:cTn id="17" dur="20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circle(in)">
                                      <p:cBhvr>
                                        <p:cTn id="26" dur="20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circle(in)">
                                      <p:cBhvr>
                                        <p:cTn id="31" dur="2000"/>
                                        <p:tgtEl>
                                          <p:spTgt spid="14">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14">
                                            <p:txEl>
                                              <p:pRg st="1" end="1"/>
                                            </p:txEl>
                                          </p:spTgt>
                                        </p:tgtEl>
                                        <p:attrNameLst>
                                          <p:attrName>style.visibility</p:attrName>
                                        </p:attrNameLst>
                                      </p:cBhvr>
                                      <p:to>
                                        <p:strVal val="visible"/>
                                      </p:to>
                                    </p:set>
                                    <p:animEffect transition="in" filter="circle(in)">
                                      <p:cBhvr>
                                        <p:cTn id="36" dur="2000"/>
                                        <p:tgtEl>
                                          <p:spTgt spid="1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circle(in)">
                                      <p:cBhvr>
                                        <p:cTn id="41" dur="2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nodeType="clickEffect">
                                  <p:stCondLst>
                                    <p:cond delay="0"/>
                                  </p:stCondLst>
                                  <p:childTnLst>
                                    <p:set>
                                      <p:cBhvr>
                                        <p:cTn id="45" dur="1" fill="hold">
                                          <p:stCondLst>
                                            <p:cond delay="0"/>
                                          </p:stCondLst>
                                        </p:cTn>
                                        <p:tgtEl>
                                          <p:spTgt spid="1027"/>
                                        </p:tgtEl>
                                        <p:attrNameLst>
                                          <p:attrName>style.visibility</p:attrName>
                                        </p:attrNameLst>
                                      </p:cBhvr>
                                      <p:to>
                                        <p:strVal val="visible"/>
                                      </p:to>
                                    </p:set>
                                    <p:animEffect transition="in" filter="wheel(1)">
                                      <p:cBhvr>
                                        <p:cTn id="46" dur="2000"/>
                                        <p:tgtEl>
                                          <p:spTgt spid="1027"/>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nodeType="clickEffect">
                                  <p:stCondLst>
                                    <p:cond delay="0"/>
                                  </p:stCondLst>
                                  <p:childTnLst>
                                    <p:set>
                                      <p:cBhvr>
                                        <p:cTn id="50" dur="1" fill="hold">
                                          <p:stCondLst>
                                            <p:cond delay="0"/>
                                          </p:stCondLst>
                                        </p:cTn>
                                        <p:tgtEl>
                                          <p:spTgt spid="4">
                                            <p:txEl>
                                              <p:pRg st="0" end="0"/>
                                            </p:txEl>
                                          </p:spTgt>
                                        </p:tgtEl>
                                        <p:attrNameLst>
                                          <p:attrName>style.visibility</p:attrName>
                                        </p:attrNameLst>
                                      </p:cBhvr>
                                      <p:to>
                                        <p:strVal val="visible"/>
                                      </p:to>
                                    </p:set>
                                    <p:animEffect transition="in" filter="circle(in)">
                                      <p:cBhvr>
                                        <p:cTn id="51" dur="2000"/>
                                        <p:tgtEl>
                                          <p:spTgt spid="4">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15">
                                            <p:txEl>
                                              <p:pRg st="0" end="0"/>
                                            </p:txEl>
                                          </p:spTgt>
                                        </p:tgtEl>
                                        <p:attrNameLst>
                                          <p:attrName>style.visibility</p:attrName>
                                        </p:attrNameLst>
                                      </p:cBhvr>
                                      <p:to>
                                        <p:strVal val="visible"/>
                                      </p:to>
                                    </p:set>
                                    <p:animEffect transition="in" filter="circle(in)">
                                      <p:cBhvr>
                                        <p:cTn id="56" dur="2000"/>
                                        <p:tgtEl>
                                          <p:spTgt spid="15">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zh-CN" dirty="0"/>
              <a:t>1.2《</a:t>
            </a:r>
            <a:r>
              <a:rPr lang="zh-CN" altLang="en-US" dirty="0"/>
              <a:t>理想国</a:t>
            </a:r>
            <a:r>
              <a:rPr lang="en-US" altLang="zh-CN" dirty="0"/>
              <a:t>》</a:t>
            </a:r>
            <a:r>
              <a:rPr lang="zh-CN" altLang="en-US" dirty="0"/>
              <a:t>篇名释义</a:t>
            </a:r>
          </a:p>
        </p:txBody>
      </p:sp>
      <p:sp>
        <p:nvSpPr>
          <p:cNvPr id="3" name="Content Placeholder 2"/>
          <p:cNvSpPr>
            <a:spLocks noGrp="1"/>
          </p:cNvSpPr>
          <p:nvPr>
            <p:ph sz="half" idx="1"/>
          </p:nvPr>
        </p:nvSpPr>
        <p:spPr>
          <a:xfrm>
            <a:off x="521109" y="1676400"/>
            <a:ext cx="5080000" cy="4114800"/>
          </a:xfrm>
        </p:spPr>
        <p:txBody>
          <a:bodyPr/>
          <a:lstStyle/>
          <a:p>
            <a:r>
              <a:rPr lang="zh-CN" altLang="en-US" dirty="0"/>
              <a:t>汉译：</a:t>
            </a:r>
            <a:r>
              <a:rPr lang="en-US" altLang="zh-CN" dirty="0"/>
              <a:t>《</a:t>
            </a:r>
            <a:r>
              <a:rPr lang="zh-CN" altLang="en-US" dirty="0"/>
              <a:t>理想国</a:t>
            </a:r>
            <a:r>
              <a:rPr lang="en-US" altLang="zh-CN" dirty="0"/>
              <a:t>》</a:t>
            </a:r>
          </a:p>
          <a:p>
            <a:r>
              <a:rPr lang="zh-CN" altLang="en-US" dirty="0"/>
              <a:t>英译：</a:t>
            </a:r>
            <a:r>
              <a:rPr lang="en-US" altLang="zh-CN" dirty="0"/>
              <a:t>Republic, </a:t>
            </a:r>
            <a:r>
              <a:rPr lang="zh-CN" altLang="en-US" dirty="0"/>
              <a:t>来自西塞罗，</a:t>
            </a:r>
            <a:r>
              <a:rPr lang="en-US" altLang="zh-CN" dirty="0"/>
              <a:t>Res </a:t>
            </a:r>
            <a:r>
              <a:rPr lang="en-US" altLang="zh-CN" dirty="0" err="1"/>
              <a:t>Publica</a:t>
            </a:r>
            <a:r>
              <a:rPr lang="en-US" altLang="zh-CN" dirty="0"/>
              <a:t>;</a:t>
            </a:r>
          </a:p>
          <a:p>
            <a:r>
              <a:rPr lang="zh-CN" altLang="en-US" dirty="0"/>
              <a:t>希腊文：</a:t>
            </a:r>
            <a:r>
              <a:rPr lang="en-US" altLang="zh-CN" dirty="0" err="1"/>
              <a:t>Politeia</a:t>
            </a:r>
            <a:r>
              <a:rPr lang="en-US" altLang="zh-CN" dirty="0"/>
              <a:t> (π</a:t>
            </a:r>
            <a:r>
              <a:rPr lang="en-US" altLang="zh-CN" dirty="0" err="1"/>
              <a:t>ολιτεί</a:t>
            </a:r>
            <a:r>
              <a:rPr lang="en-US" altLang="zh-CN" dirty="0"/>
              <a:t>α) </a:t>
            </a:r>
            <a:r>
              <a:rPr lang="zh-CN" altLang="en-US" dirty="0"/>
              <a:t>一词来自</a:t>
            </a:r>
            <a:r>
              <a:rPr lang="en-US" altLang="zh-CN" dirty="0"/>
              <a:t>Polis (π</a:t>
            </a:r>
            <a:r>
              <a:rPr lang="en-US" altLang="zh-CN" dirty="0" err="1"/>
              <a:t>όλις</a:t>
            </a:r>
            <a:r>
              <a:rPr lang="zh-CN" altLang="en-US" dirty="0"/>
              <a:t>城邦</a:t>
            </a:r>
            <a:r>
              <a:rPr lang="en-US" altLang="zh-CN" dirty="0"/>
              <a:t>)</a:t>
            </a:r>
            <a:r>
              <a:rPr lang="zh-CN" altLang="en-US" dirty="0"/>
              <a:t>，有四个方面的含义：</a:t>
            </a:r>
            <a:endParaRPr lang="en-US" altLang="zh-CN" dirty="0"/>
          </a:p>
          <a:p>
            <a:endParaRPr lang="en-US" altLang="zh-CN" dirty="0"/>
          </a:p>
          <a:p>
            <a:endParaRPr lang="zh-CN" altLang="en-US" dirty="0"/>
          </a:p>
        </p:txBody>
      </p:sp>
      <p:sp>
        <p:nvSpPr>
          <p:cNvPr id="4" name="Content Placeholder 3"/>
          <p:cNvSpPr>
            <a:spLocks noGrp="1"/>
          </p:cNvSpPr>
          <p:nvPr>
            <p:ph sz="half" idx="2"/>
          </p:nvPr>
        </p:nvSpPr>
        <p:spPr>
          <a:xfrm>
            <a:off x="6488644" y="2937163"/>
            <a:ext cx="5040000" cy="2854037"/>
          </a:xfrm>
        </p:spPr>
        <p:txBody>
          <a:bodyPr/>
          <a:lstStyle/>
          <a:p>
            <a:pPr marL="0" indent="0">
              <a:buNone/>
            </a:pPr>
            <a:r>
              <a:rPr lang="en-US" altLang="zh-CN" dirty="0"/>
              <a:t>1</a:t>
            </a:r>
            <a:r>
              <a:rPr lang="zh-CN" altLang="en-US" dirty="0"/>
              <a:t>，公民和城邦间的关系；</a:t>
            </a:r>
          </a:p>
          <a:p>
            <a:pPr marL="0" indent="0">
              <a:buNone/>
            </a:pPr>
            <a:r>
              <a:rPr lang="en-US" altLang="zh-CN" dirty="0"/>
              <a:t>2</a:t>
            </a:r>
            <a:r>
              <a:rPr lang="zh-CN" altLang="en-US" dirty="0"/>
              <a:t>，建立在这种关系上的整个城邦的“政治生活”；</a:t>
            </a:r>
          </a:p>
          <a:p>
            <a:pPr marL="0" indent="0">
              <a:buNone/>
            </a:pPr>
            <a:r>
              <a:rPr lang="en-US" altLang="zh-CN" dirty="0"/>
              <a:t>3</a:t>
            </a:r>
            <a:r>
              <a:rPr lang="zh-CN" altLang="en-US" dirty="0"/>
              <a:t>，把这种关系和生活厘定为整个城邦的政治制度，即“宪法”；</a:t>
            </a:r>
          </a:p>
          <a:p>
            <a:pPr marL="0" indent="0">
              <a:buNone/>
            </a:pPr>
            <a:r>
              <a:rPr lang="en-US" altLang="zh-CN" dirty="0"/>
              <a:t>4</a:t>
            </a:r>
            <a:r>
              <a:rPr lang="zh-CN" altLang="en-US" dirty="0"/>
              <a:t>，可以径指该邦的“政府”。</a:t>
            </a:r>
          </a:p>
          <a:p>
            <a:endParaRPr lang="zh-CN" alt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0619" y="269809"/>
            <a:ext cx="3856049" cy="2275069"/>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6646" y="4065587"/>
            <a:ext cx="1865313" cy="279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027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circle(in)">
                                      <p:cBhvr>
                                        <p:cTn id="17" dur="20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randombar(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circle(in)">
                                      <p:cBhvr>
                                        <p:cTn id="32" dur="20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circle(in)">
                                      <p:cBhvr>
                                        <p:cTn id="37" dur="20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circle(in)">
                                      <p:cBhvr>
                                        <p:cTn id="42" dur="20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Effect transition="in" filter="circle(in)">
                                      <p:cBhvr>
                                        <p:cTn id="4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Politeia</a:t>
            </a:r>
            <a:r>
              <a:rPr lang="zh-CN" altLang="en-US" dirty="0"/>
              <a:t>的根本含义</a:t>
            </a:r>
          </a:p>
        </p:txBody>
      </p:sp>
      <p:sp>
        <p:nvSpPr>
          <p:cNvPr id="3" name="Content Placeholder 2"/>
          <p:cNvSpPr>
            <a:spLocks noGrp="1"/>
          </p:cNvSpPr>
          <p:nvPr>
            <p:ph sz="half" idx="1"/>
          </p:nvPr>
        </p:nvSpPr>
        <p:spPr/>
        <p:txBody>
          <a:bodyPr/>
          <a:lstStyle/>
          <a:p>
            <a:r>
              <a:rPr lang="en-US" altLang="zh-CN" dirty="0" err="1"/>
              <a:t>Politeia</a:t>
            </a:r>
            <a:r>
              <a:rPr lang="zh-CN" altLang="en-US" dirty="0"/>
              <a:t>一词的根本含义首先是（城邦或政治共同体的）“生活方式”，然后是这种生活方式所依附其上的一种政治制度 。</a:t>
            </a:r>
            <a:endParaRPr lang="en-US" altLang="zh-CN" dirty="0"/>
          </a:p>
          <a:p>
            <a:endParaRPr lang="zh-CN" altLang="en-US" dirty="0"/>
          </a:p>
          <a:p>
            <a:r>
              <a:rPr lang="zh-CN" altLang="en-US" dirty="0"/>
              <a:t>亚里士多德</a:t>
            </a:r>
            <a:r>
              <a:rPr lang="en-US" altLang="zh-CN" dirty="0"/>
              <a:t>《</a:t>
            </a:r>
            <a:r>
              <a:rPr lang="zh-CN" altLang="en-US" dirty="0"/>
              <a:t>政治学</a:t>
            </a:r>
            <a:r>
              <a:rPr lang="en-US" altLang="zh-CN" dirty="0"/>
              <a:t>》</a:t>
            </a:r>
            <a:r>
              <a:rPr lang="zh-CN" altLang="en-US" dirty="0"/>
              <a:t>：</a:t>
            </a:r>
            <a:endParaRPr lang="en-US" altLang="zh-CN" dirty="0"/>
          </a:p>
          <a:p>
            <a:pPr marL="0" indent="0">
              <a:buNone/>
            </a:pPr>
            <a:r>
              <a:rPr lang="zh-CN" altLang="en-US" dirty="0"/>
              <a:t>“我们在研究最佳政制之前，应该先论定人类最值得选择的生活方式”。（</a:t>
            </a:r>
            <a:r>
              <a:rPr lang="en-US" altLang="zh-CN" dirty="0"/>
              <a:t>1323a14-16</a:t>
            </a:r>
            <a:r>
              <a:rPr lang="zh-CN" altLang="en-US" dirty="0"/>
              <a:t>）</a:t>
            </a:r>
          </a:p>
          <a:p>
            <a:endParaRPr lang="zh-CN" altLang="en-US" dirty="0"/>
          </a:p>
        </p:txBody>
      </p:sp>
      <p:sp>
        <p:nvSpPr>
          <p:cNvPr id="4" name="Content Placeholder 3"/>
          <p:cNvSpPr>
            <a:spLocks noGrp="1"/>
          </p:cNvSpPr>
          <p:nvPr>
            <p:ph sz="half" idx="2"/>
          </p:nvPr>
        </p:nvSpPr>
        <p:spPr/>
        <p:txBody>
          <a:bodyPr/>
          <a:lstStyle/>
          <a:p>
            <a:r>
              <a:rPr lang="zh-CN" altLang="en-US" dirty="0"/>
              <a:t>英译：</a:t>
            </a:r>
            <a:r>
              <a:rPr lang="en-US" altLang="zh-CN" dirty="0"/>
              <a:t>regime</a:t>
            </a:r>
          </a:p>
          <a:p>
            <a:r>
              <a:rPr lang="zh-CN" altLang="en-US" dirty="0"/>
              <a:t>汉译：政制（政治制度）</a:t>
            </a:r>
          </a:p>
          <a:p>
            <a:r>
              <a:rPr lang="zh-CN" altLang="en-US" dirty="0"/>
              <a:t>          王制（最佳政治制度）	</a:t>
            </a:r>
          </a:p>
          <a:p>
            <a:endParaRPr lang="zh-CN" altLang="en-US" dirty="0"/>
          </a:p>
          <a:p>
            <a:endParaRPr lang="zh-CN" altLang="en-US" dirty="0"/>
          </a:p>
        </p:txBody>
      </p:sp>
    </p:spTree>
    <p:extLst>
      <p:ext uri="{BB962C8B-B14F-4D97-AF65-F5344CB8AC3E}">
        <p14:creationId xmlns:p14="http://schemas.microsoft.com/office/powerpoint/2010/main" val="382268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circle(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circle(in)">
                                      <p:cBhvr>
                                        <p:cTn id="20" dur="20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circle(in)">
                                      <p:cBhvr>
                                        <p:cTn id="25" dur="2000"/>
                                        <p:tgtEl>
                                          <p:spTgt spid="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circle(in)">
                                      <p:cBhvr>
                                        <p:cTn id="30"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写过</a:t>
            </a:r>
            <a:r>
              <a:rPr lang="en-US" altLang="zh-CN" dirty="0"/>
              <a:t>politeia</a:t>
            </a:r>
            <a:r>
              <a:rPr lang="zh-CN" altLang="en-US" dirty="0"/>
              <a:t>的古典作家</a:t>
            </a:r>
          </a:p>
        </p:txBody>
      </p:sp>
      <p:sp>
        <p:nvSpPr>
          <p:cNvPr id="3" name="Content Placeholder 2"/>
          <p:cNvSpPr>
            <a:spLocks noGrp="1"/>
          </p:cNvSpPr>
          <p:nvPr>
            <p:ph sz="half" idx="1"/>
          </p:nvPr>
        </p:nvSpPr>
        <p:spPr/>
        <p:txBody>
          <a:bodyPr/>
          <a:lstStyle/>
          <a:p>
            <a:r>
              <a:rPr lang="zh-CN" altLang="en-US" dirty="0"/>
              <a:t>克里底亚</a:t>
            </a:r>
            <a:r>
              <a:rPr lang="en-US" altLang="zh-CN" dirty="0"/>
              <a:t>《</a:t>
            </a:r>
            <a:r>
              <a:rPr lang="zh-CN" altLang="en-US" dirty="0"/>
              <a:t>斯巴达政制</a:t>
            </a:r>
            <a:r>
              <a:rPr lang="en-US" altLang="zh-CN" dirty="0"/>
              <a:t>》</a:t>
            </a:r>
          </a:p>
          <a:p>
            <a:endParaRPr lang="en-US" altLang="zh-CN" dirty="0"/>
          </a:p>
          <a:p>
            <a:r>
              <a:rPr lang="zh-CN" altLang="en-US" dirty="0"/>
              <a:t>色诺芬</a:t>
            </a:r>
            <a:r>
              <a:rPr lang="en-US" altLang="zh-CN" dirty="0"/>
              <a:t>《</a:t>
            </a:r>
            <a:r>
              <a:rPr lang="zh-CN" altLang="en-US" dirty="0"/>
              <a:t>斯巴达政制</a:t>
            </a:r>
            <a:r>
              <a:rPr lang="en-US" altLang="zh-CN" dirty="0"/>
              <a:t>》</a:t>
            </a:r>
          </a:p>
          <a:p>
            <a:endParaRPr lang="en-US" altLang="zh-CN" dirty="0"/>
          </a:p>
          <a:p>
            <a:r>
              <a:rPr lang="zh-CN" altLang="en-US" dirty="0"/>
              <a:t>亚里士多德</a:t>
            </a:r>
            <a:r>
              <a:rPr lang="en-US" altLang="zh-CN" dirty="0"/>
              <a:t>《</a:t>
            </a:r>
            <a:r>
              <a:rPr lang="zh-CN" altLang="en-US" dirty="0"/>
              <a:t>雅典政制</a:t>
            </a:r>
            <a:r>
              <a:rPr lang="en-US" altLang="zh-CN" dirty="0"/>
              <a:t>》</a:t>
            </a:r>
          </a:p>
          <a:p>
            <a:endParaRPr lang="en-US" altLang="zh-CN" dirty="0"/>
          </a:p>
          <a:p>
            <a:r>
              <a:rPr lang="zh-CN" altLang="en-US" dirty="0"/>
              <a:t>亚里士多德</a:t>
            </a:r>
            <a:r>
              <a:rPr lang="en-US" altLang="zh-CN" dirty="0"/>
              <a:t>《</a:t>
            </a:r>
            <a:r>
              <a:rPr lang="zh-CN" altLang="en-US" dirty="0"/>
              <a:t>政治学</a:t>
            </a:r>
            <a:r>
              <a:rPr lang="en-US" altLang="zh-CN" dirty="0"/>
              <a:t>》</a:t>
            </a:r>
            <a:r>
              <a:rPr lang="zh-CN" altLang="en-US" dirty="0"/>
              <a:t>（</a:t>
            </a:r>
            <a:r>
              <a:rPr lang="en-US" altLang="zh-CN" dirty="0" err="1"/>
              <a:t>Politeia</a:t>
            </a:r>
            <a:r>
              <a:rPr lang="zh-CN" altLang="en-US" dirty="0"/>
              <a:t>） </a:t>
            </a:r>
          </a:p>
          <a:p>
            <a:endParaRPr lang="zh-CN" altLang="en-US" dirty="0"/>
          </a:p>
        </p:txBody>
      </p:sp>
      <p:pic>
        <p:nvPicPr>
          <p:cNvPr id="717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554723" y="941405"/>
            <a:ext cx="1788088" cy="23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7074" y="3599179"/>
            <a:ext cx="1616075" cy="215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3484" y="3599180"/>
            <a:ext cx="1547036" cy="2236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66922" y="3730044"/>
            <a:ext cx="1889145" cy="1895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a:extLst>
              <a:ext uri="{FF2B5EF4-FFF2-40B4-BE49-F238E27FC236}">
                <a16:creationId xmlns:a16="http://schemas.microsoft.com/office/drawing/2014/main" id="{67C405C2-A36F-4B9F-AF72-D955CD1E5092}"/>
              </a:ext>
            </a:extLst>
          </p:cNvPr>
          <p:cNvPicPr>
            <a:picLocks noChangeAspect="1"/>
          </p:cNvPicPr>
          <p:nvPr/>
        </p:nvPicPr>
        <p:blipFill>
          <a:blip r:embed="rId6"/>
          <a:stretch>
            <a:fillRect/>
          </a:stretch>
        </p:blipFill>
        <p:spPr>
          <a:xfrm>
            <a:off x="9374817" y="829871"/>
            <a:ext cx="2381250" cy="2381250"/>
          </a:xfrm>
          <a:prstGeom prst="rect">
            <a:avLst/>
          </a:prstGeom>
        </p:spPr>
      </p:pic>
    </p:spTree>
    <p:extLst>
      <p:ext uri="{BB962C8B-B14F-4D97-AF65-F5344CB8AC3E}">
        <p14:creationId xmlns:p14="http://schemas.microsoft.com/office/powerpoint/2010/main" val="356240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7170"/>
                                        </p:tgtEl>
                                        <p:attrNameLst>
                                          <p:attrName>style.visibility</p:attrName>
                                        </p:attrNameLst>
                                      </p:cBhvr>
                                      <p:to>
                                        <p:strVal val="visible"/>
                                      </p:to>
                                    </p:set>
                                    <p:animEffect transition="in" filter="wheel(1)">
                                      <p:cBhvr>
                                        <p:cTn id="17" dur="2000"/>
                                        <p:tgtEl>
                                          <p:spTgt spid="717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7171"/>
                                        </p:tgtEl>
                                        <p:attrNameLst>
                                          <p:attrName>style.visibility</p:attrName>
                                        </p:attrNameLst>
                                      </p:cBhvr>
                                      <p:to>
                                        <p:strVal val="visible"/>
                                      </p:to>
                                    </p:set>
                                    <p:animEffect transition="in" filter="wheel(1)">
                                      <p:cBhvr>
                                        <p:cTn id="27" dur="2000"/>
                                        <p:tgtEl>
                                          <p:spTgt spid="7171"/>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098"/>
                                        </p:tgtEl>
                                        <p:attrNameLst>
                                          <p:attrName>style.visibility</p:attrName>
                                        </p:attrNameLst>
                                      </p:cBhvr>
                                      <p:to>
                                        <p:strVal val="visible"/>
                                      </p:to>
                                    </p:set>
                                    <p:animEffect transition="in" filter="randombar(horizontal)">
                                      <p:cBhvr>
                                        <p:cTn id="32" dur="500"/>
                                        <p:tgtEl>
                                          <p:spTgt spid="4098"/>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4100"/>
                                        </p:tgtEl>
                                        <p:attrNameLst>
                                          <p:attrName>style.visibility</p:attrName>
                                        </p:attrNameLst>
                                      </p:cBhvr>
                                      <p:to>
                                        <p:strVal val="visible"/>
                                      </p:to>
                                    </p:set>
                                    <p:animEffect transition="in" filter="randombar(horizontal)">
                                      <p:cBhvr>
                                        <p:cTn id="42"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zh-CN" dirty="0"/>
              <a:t>1.3</a:t>
            </a:r>
            <a:r>
              <a:rPr lang="zh-CN" altLang="en-US" dirty="0"/>
              <a:t>，柏拉图与</a:t>
            </a:r>
            <a:r>
              <a:rPr lang="en-US" altLang="zh-CN" dirty="0"/>
              <a:t>《</a:t>
            </a:r>
            <a:r>
              <a:rPr lang="zh-CN" altLang="en-US" dirty="0"/>
              <a:t>理想国</a:t>
            </a:r>
            <a:r>
              <a:rPr lang="en-US" altLang="zh-CN" dirty="0"/>
              <a:t>》</a:t>
            </a:r>
            <a:endParaRPr lang="zh-CN" altLang="en-US" dirty="0"/>
          </a:p>
        </p:txBody>
      </p:sp>
      <p:sp>
        <p:nvSpPr>
          <p:cNvPr id="3" name="Content Placeholder 2"/>
          <p:cNvSpPr>
            <a:spLocks noGrp="1"/>
          </p:cNvSpPr>
          <p:nvPr>
            <p:ph sz="half" idx="1"/>
          </p:nvPr>
        </p:nvSpPr>
        <p:spPr>
          <a:xfrm>
            <a:off x="812800" y="1873044"/>
            <a:ext cx="5384800" cy="4984955"/>
          </a:xfrm>
        </p:spPr>
        <p:txBody>
          <a:bodyPr>
            <a:normAutofit fontScale="77500" lnSpcReduction="20000"/>
          </a:bodyPr>
          <a:lstStyle/>
          <a:p>
            <a:pPr>
              <a:lnSpc>
                <a:spcPct val="120000"/>
              </a:lnSpc>
            </a:pPr>
            <a:r>
              <a:rPr lang="zh-CN" altLang="en-US" b="1" dirty="0"/>
              <a:t>柏拉图在</a:t>
            </a:r>
            <a:r>
              <a:rPr lang="en-US" altLang="zh-CN" b="1" i="1" dirty="0" err="1"/>
              <a:t>Politeia</a:t>
            </a:r>
            <a:r>
              <a:rPr lang="zh-CN" altLang="en-US" b="1" dirty="0"/>
              <a:t>中讨论了人类最好的共同生活方式，或者说人类最佳政治制度。</a:t>
            </a:r>
            <a:endParaRPr lang="en-US" altLang="zh-CN" b="1" dirty="0"/>
          </a:p>
          <a:p>
            <a:pPr>
              <a:lnSpc>
                <a:spcPct val="120000"/>
              </a:lnSpc>
            </a:pPr>
            <a:r>
              <a:rPr lang="zh-CN" altLang="en-US" b="1" dirty="0"/>
              <a:t>柏拉图于</a:t>
            </a:r>
            <a:r>
              <a:rPr lang="en-US" altLang="zh-CN" b="1" dirty="0"/>
              <a:t>428/7bc</a:t>
            </a:r>
            <a:r>
              <a:rPr lang="zh-CN" altLang="en-US" b="1" dirty="0"/>
              <a:t>生于雅典， </a:t>
            </a:r>
            <a:r>
              <a:rPr lang="en-US" altLang="zh-CN" b="1" dirty="0"/>
              <a:t>348/7 </a:t>
            </a:r>
            <a:r>
              <a:rPr lang="en-US" altLang="zh-CN" b="1" dirty="0" err="1"/>
              <a:t>bc</a:t>
            </a:r>
            <a:r>
              <a:rPr lang="zh-CN" altLang="en-US" b="1" dirty="0"/>
              <a:t>死于雅典。父亲</a:t>
            </a:r>
            <a:r>
              <a:rPr lang="en-US" altLang="zh-CN" b="1" dirty="0"/>
              <a:t>Ariston,</a:t>
            </a:r>
            <a:r>
              <a:rPr lang="zh-CN" altLang="en-US" b="1" dirty="0"/>
              <a:t>是</a:t>
            </a:r>
            <a:r>
              <a:rPr lang="en-US" altLang="zh-CN" b="1" dirty="0"/>
              <a:t>11</a:t>
            </a:r>
            <a:r>
              <a:rPr lang="zh-CN" altLang="en-US" b="1" dirty="0"/>
              <a:t>世纪雅典王</a:t>
            </a:r>
            <a:r>
              <a:rPr lang="en-US" altLang="zh-CN" b="1" dirty="0" err="1"/>
              <a:t>Codrus</a:t>
            </a:r>
            <a:r>
              <a:rPr lang="zh-CN" altLang="en-US" b="1" dirty="0"/>
              <a:t>的后代，母亲</a:t>
            </a:r>
            <a:r>
              <a:rPr lang="en-US" altLang="zh-CN" b="1" dirty="0" err="1"/>
              <a:t>Perictione</a:t>
            </a:r>
            <a:r>
              <a:rPr lang="zh-CN" altLang="en-US" b="1" dirty="0"/>
              <a:t>，梭伦的侄女。柏拉图幼年丧父，母亲改嫁</a:t>
            </a:r>
            <a:r>
              <a:rPr lang="en-US" altLang="zh-CN" b="1" dirty="0" err="1"/>
              <a:t>Pyrilampes</a:t>
            </a:r>
            <a:r>
              <a:rPr lang="zh-CN" altLang="en-US" b="1" dirty="0"/>
              <a:t>，伯里克利之友。因此柏拉图幼年即与雅典的政治相熟，并被期望进入政界。</a:t>
            </a:r>
          </a:p>
          <a:p>
            <a:pPr>
              <a:lnSpc>
                <a:spcPct val="120000"/>
              </a:lnSpc>
            </a:pPr>
            <a:r>
              <a:rPr lang="zh-CN" altLang="en-US" b="1" dirty="0"/>
              <a:t>然而在残酷的雅典政治面前，柏拉图止步了，他转向了哲学，认为只有哲学才能带给人类真正的正义，终结内战（第</a:t>
            </a:r>
            <a:r>
              <a:rPr lang="en-US" altLang="zh-CN" b="1" dirty="0"/>
              <a:t>7</a:t>
            </a:r>
            <a:r>
              <a:rPr lang="zh-CN" altLang="en-US" b="1" dirty="0"/>
              <a:t>封信，</a:t>
            </a:r>
            <a:r>
              <a:rPr lang="en-US" altLang="zh-CN" b="1" dirty="0"/>
              <a:t>324b–326b</a:t>
            </a:r>
            <a:r>
              <a:rPr lang="zh-CN" altLang="en-US" b="1" dirty="0"/>
              <a:t>）。</a:t>
            </a:r>
          </a:p>
        </p:txBody>
      </p:sp>
      <p:sp>
        <p:nvSpPr>
          <p:cNvPr id="4" name="Content Placeholder 3"/>
          <p:cNvSpPr>
            <a:spLocks noGrp="1"/>
          </p:cNvSpPr>
          <p:nvPr>
            <p:ph sz="half" idx="2"/>
          </p:nvPr>
        </p:nvSpPr>
        <p:spPr/>
        <p:txBody>
          <a:bodyPr>
            <a:normAutofit fontScale="77500" lnSpcReduction="20000"/>
          </a:bodyPr>
          <a:lstStyle/>
          <a:p>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0204" y="0"/>
            <a:ext cx="2997200" cy="657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032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5122"/>
                                        </p:tgtEl>
                                        <p:attrNameLst>
                                          <p:attrName>style.visibility</p:attrName>
                                        </p:attrNameLst>
                                      </p:cBhvr>
                                      <p:to>
                                        <p:strVal val="visible"/>
                                      </p:to>
                                    </p:set>
                                    <p:animEffect transition="in" filter="wheel(1)">
                                      <p:cBhvr>
                                        <p:cTn id="17" dur="2000"/>
                                        <p:tgtEl>
                                          <p:spTgt spid="512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a:xfrm>
            <a:off x="524746" y="1752600"/>
            <a:ext cx="5432643" cy="4759798"/>
          </a:xfrm>
        </p:spPr>
        <p:txBody>
          <a:bodyPr>
            <a:normAutofit/>
          </a:bodyPr>
          <a:lstStyle/>
          <a:p>
            <a:r>
              <a:rPr lang="zh-CN" altLang="en-US" sz="2400" b="1" dirty="0"/>
              <a:t>前</a:t>
            </a:r>
            <a:r>
              <a:rPr lang="en-US" altLang="zh-CN" sz="2400" b="1" dirty="0"/>
              <a:t>399</a:t>
            </a:r>
            <a:r>
              <a:rPr lang="zh-CN" altLang="en-US" sz="2400" b="1" dirty="0"/>
              <a:t>年，柏拉图的老师苏格拉底成为雅典政治斗争的牺牲品，被以“败坏青年”和“亵渎神”的名义处死。</a:t>
            </a:r>
          </a:p>
          <a:p>
            <a:r>
              <a:rPr lang="zh-CN" altLang="en-US" sz="2400" b="1" dirty="0"/>
              <a:t>在雅典衰落的过程中，柏拉图亲眼见证了政治与道德生活的堕落。这为他在</a:t>
            </a:r>
            <a:r>
              <a:rPr lang="en-US" altLang="zh-CN" sz="2400" b="1" dirty="0" err="1"/>
              <a:t>Politeia</a:t>
            </a:r>
            <a:r>
              <a:rPr lang="zh-CN" altLang="en-US" sz="2400" b="1" dirty="0"/>
              <a:t>中讨论各种政制形式提供了素材。苏格拉底之死对柏拉图产生了巨大的影响。苏格拉底成为他大部分对话录的主角。</a:t>
            </a:r>
          </a:p>
          <a:p>
            <a:r>
              <a:rPr lang="zh-CN" altLang="en-US" sz="2400" b="1" dirty="0"/>
              <a:t>柏拉图作品，大部分是对话录，大都已传世。理想国写作于前</a:t>
            </a:r>
            <a:r>
              <a:rPr lang="en-US" altLang="zh-CN" sz="2400" b="1" dirty="0"/>
              <a:t>380</a:t>
            </a:r>
            <a:r>
              <a:rPr lang="zh-CN" altLang="en-US" sz="2400" b="1" dirty="0"/>
              <a:t>年左右，是柏拉图思想成熟时期的巅峰之作。</a:t>
            </a:r>
          </a:p>
          <a:p>
            <a:endParaRPr lang="zh-CN" altLang="en-US" dirty="0"/>
          </a:p>
        </p:txBody>
      </p:sp>
      <p:sp>
        <p:nvSpPr>
          <p:cNvPr id="4" name="Content Placeholder 3"/>
          <p:cNvSpPr>
            <a:spLocks noGrp="1"/>
          </p:cNvSpPr>
          <p:nvPr>
            <p:ph sz="half" idx="2"/>
          </p:nvPr>
        </p:nvSpPr>
        <p:spPr/>
        <p:txBody>
          <a:bodyPr>
            <a:normAutofit/>
          </a:bodyPr>
          <a:lstStyle/>
          <a:p>
            <a:endParaRPr lang="zh-CN"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670" y="2498859"/>
            <a:ext cx="4944147" cy="2757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021" y="0"/>
            <a:ext cx="1792576" cy="2266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0086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7171"/>
                                        </p:tgtEl>
                                        <p:attrNameLst>
                                          <p:attrName>style.visibility</p:attrName>
                                        </p:attrNameLst>
                                      </p:cBhvr>
                                      <p:to>
                                        <p:strVal val="visible"/>
                                      </p:to>
                                    </p:set>
                                    <p:animEffect transition="in" filter="wheel(1)">
                                      <p:cBhvr>
                                        <p:cTn id="12" dur="2000"/>
                                        <p:tgtEl>
                                          <p:spTgt spid="717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170"/>
                                        </p:tgtEl>
                                        <p:attrNameLst>
                                          <p:attrName>style.visibility</p:attrName>
                                        </p:attrNameLst>
                                      </p:cBhvr>
                                      <p:to>
                                        <p:strVal val="visible"/>
                                      </p:to>
                                    </p:set>
                                    <p:animEffect transition="in" filter="randombar(horizontal)">
                                      <p:cBhvr>
                                        <p:cTn id="17" dur="500"/>
                                        <p:tgtEl>
                                          <p:spTgt spid="717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circle(in)">
                                      <p:cBhvr>
                                        <p:cTn id="22" dur="20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circle(in)">
                                      <p:cBhvr>
                                        <p:cTn id="2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dirty="0"/>
              <a:t>柏拉图作品排序</a:t>
            </a:r>
          </a:p>
        </p:txBody>
      </p:sp>
      <p:sp>
        <p:nvSpPr>
          <p:cNvPr id="6" name="Content Placeholder 5"/>
          <p:cNvSpPr>
            <a:spLocks noGrp="1"/>
          </p:cNvSpPr>
          <p:nvPr>
            <p:ph idx="1"/>
          </p:nvPr>
        </p:nvSpPr>
        <p:spPr/>
        <p:txBody>
          <a:bodyPr/>
          <a:lstStyle/>
          <a:p>
            <a:r>
              <a:rPr lang="zh-CN" altLang="en-US" sz="2800" dirty="0"/>
              <a:t>早期：</a:t>
            </a:r>
            <a:r>
              <a:rPr lang="en-US" altLang="zh-CN" sz="2800" dirty="0"/>
              <a:t>《</a:t>
            </a:r>
            <a:r>
              <a:rPr lang="zh-CN" altLang="en-US" sz="2800" dirty="0"/>
              <a:t>申辩篇</a:t>
            </a:r>
            <a:r>
              <a:rPr lang="en-US" altLang="zh-CN" sz="2800" dirty="0"/>
              <a:t>》</a:t>
            </a:r>
            <a:r>
              <a:rPr lang="zh-CN" altLang="en-US" sz="2800" dirty="0"/>
              <a:t>、</a:t>
            </a:r>
            <a:r>
              <a:rPr lang="en-US" altLang="zh-CN" sz="2800" dirty="0"/>
              <a:t>《</a:t>
            </a:r>
            <a:r>
              <a:rPr lang="zh-CN" altLang="en-US" sz="2800" dirty="0"/>
              <a:t>克力同篇</a:t>
            </a:r>
            <a:r>
              <a:rPr lang="en-US" altLang="zh-CN" sz="2800" dirty="0"/>
              <a:t>》《</a:t>
            </a:r>
            <a:r>
              <a:rPr lang="zh-CN" altLang="en-US" sz="2800" dirty="0"/>
              <a:t>卡尔米德篇</a:t>
            </a:r>
            <a:r>
              <a:rPr lang="en-US" altLang="zh-CN" sz="2800" dirty="0"/>
              <a:t>》</a:t>
            </a:r>
            <a:r>
              <a:rPr lang="zh-CN" altLang="en-US" sz="2800" dirty="0"/>
              <a:t>、</a:t>
            </a:r>
            <a:r>
              <a:rPr lang="en-US" altLang="zh-CN" sz="2800" dirty="0"/>
              <a:t>《</a:t>
            </a:r>
            <a:r>
              <a:rPr lang="zh-CN" altLang="en-US" sz="2800" dirty="0"/>
              <a:t>拉凯斯篇</a:t>
            </a:r>
            <a:r>
              <a:rPr lang="en-US" altLang="zh-CN" sz="2800" dirty="0"/>
              <a:t>》</a:t>
            </a:r>
            <a:r>
              <a:rPr lang="zh-CN" altLang="en-US" sz="2800" dirty="0"/>
              <a:t>、</a:t>
            </a:r>
            <a:r>
              <a:rPr lang="en-US" altLang="zh-CN" sz="2800" dirty="0"/>
              <a:t>《</a:t>
            </a:r>
            <a:r>
              <a:rPr lang="zh-CN" altLang="en-US" sz="2800" dirty="0"/>
              <a:t>吕西斯篇</a:t>
            </a:r>
            <a:r>
              <a:rPr lang="en-US" altLang="zh-CN" sz="2800" dirty="0"/>
              <a:t>》</a:t>
            </a:r>
            <a:r>
              <a:rPr lang="zh-CN" altLang="en-US" sz="2800" dirty="0"/>
              <a:t>、</a:t>
            </a:r>
            <a:r>
              <a:rPr lang="en-US" altLang="zh-CN" sz="2800" dirty="0"/>
              <a:t>《</a:t>
            </a:r>
            <a:r>
              <a:rPr lang="zh-CN" altLang="en-US" sz="2800" dirty="0"/>
              <a:t>尤西弗罗‎篇</a:t>
            </a:r>
            <a:r>
              <a:rPr lang="en-US" altLang="zh-CN" sz="2800" dirty="0"/>
              <a:t>》</a:t>
            </a:r>
            <a:r>
              <a:rPr lang="zh-CN" altLang="en-US" sz="2800" dirty="0"/>
              <a:t>、</a:t>
            </a:r>
            <a:r>
              <a:rPr lang="en-US" altLang="zh-CN" sz="2800" dirty="0"/>
              <a:t>《</a:t>
            </a:r>
            <a:r>
              <a:rPr lang="zh-CN" altLang="en-US" sz="2800" dirty="0"/>
              <a:t>美涅克塞努篇</a:t>
            </a:r>
            <a:r>
              <a:rPr lang="en-US" altLang="zh-CN" sz="2800" dirty="0"/>
              <a:t>》《</a:t>
            </a:r>
            <a:r>
              <a:rPr lang="zh-CN" altLang="en-US" sz="2800" dirty="0"/>
              <a:t>小希庇亚篇</a:t>
            </a:r>
            <a:r>
              <a:rPr lang="en-US" altLang="zh-CN" sz="2800" dirty="0"/>
              <a:t>》</a:t>
            </a:r>
            <a:r>
              <a:rPr lang="zh-CN" altLang="en-US" sz="2800" dirty="0"/>
              <a:t>、</a:t>
            </a:r>
            <a:r>
              <a:rPr lang="en-US" altLang="zh-CN" sz="2800" dirty="0"/>
              <a:t>《</a:t>
            </a:r>
            <a:r>
              <a:rPr lang="zh-CN" altLang="en-US" sz="2800" dirty="0"/>
              <a:t>伊安篇</a:t>
            </a:r>
            <a:r>
              <a:rPr lang="en-US" altLang="zh-CN" sz="2800" dirty="0"/>
              <a:t>》</a:t>
            </a:r>
          </a:p>
          <a:p>
            <a:r>
              <a:rPr lang="zh-CN" altLang="en-US" sz="2800" dirty="0"/>
              <a:t>过渡期：</a:t>
            </a:r>
            <a:r>
              <a:rPr lang="en-US" altLang="zh-CN" sz="2800" dirty="0"/>
              <a:t>《</a:t>
            </a:r>
            <a:r>
              <a:rPr lang="zh-CN" altLang="en-US" sz="2800" dirty="0"/>
              <a:t>高尔吉亚篇</a:t>
            </a:r>
            <a:r>
              <a:rPr lang="en-US" altLang="zh-CN" sz="2800" dirty="0"/>
              <a:t>》</a:t>
            </a:r>
            <a:r>
              <a:rPr lang="zh-CN" altLang="en-US" sz="2800" dirty="0"/>
              <a:t>、</a:t>
            </a:r>
            <a:r>
              <a:rPr lang="en-US" altLang="zh-CN" sz="2800" dirty="0"/>
              <a:t>《</a:t>
            </a:r>
            <a:r>
              <a:rPr lang="zh-CN" altLang="en-US" sz="2800" dirty="0"/>
              <a:t>普罗泰戈拉篇</a:t>
            </a:r>
            <a:r>
              <a:rPr lang="en-US" altLang="zh-CN" sz="2800" dirty="0"/>
              <a:t>》</a:t>
            </a:r>
            <a:r>
              <a:rPr lang="zh-CN" altLang="en-US" sz="2800" dirty="0"/>
              <a:t>、</a:t>
            </a:r>
            <a:r>
              <a:rPr lang="en-US" altLang="zh-CN" sz="2800" dirty="0"/>
              <a:t>《</a:t>
            </a:r>
            <a:r>
              <a:rPr lang="zh-CN" altLang="en-US" sz="2800" dirty="0"/>
              <a:t>美诺篇</a:t>
            </a:r>
            <a:r>
              <a:rPr lang="en-US" altLang="zh-CN" sz="2800" dirty="0"/>
              <a:t>》</a:t>
            </a:r>
          </a:p>
          <a:p>
            <a:r>
              <a:rPr lang="zh-CN" altLang="en-US" sz="2800" dirty="0"/>
              <a:t>中期：</a:t>
            </a:r>
            <a:r>
              <a:rPr lang="en-US" altLang="zh-CN" sz="2800" dirty="0"/>
              <a:t>《</a:t>
            </a:r>
            <a:r>
              <a:rPr lang="zh-CN" altLang="en-US" sz="2800" dirty="0"/>
              <a:t>欧绪德谟篇</a:t>
            </a:r>
            <a:r>
              <a:rPr lang="en-US" altLang="zh-CN" sz="2800" dirty="0"/>
              <a:t>》</a:t>
            </a:r>
            <a:r>
              <a:rPr lang="zh-CN" altLang="en-US" sz="2800" dirty="0"/>
              <a:t>、</a:t>
            </a:r>
            <a:r>
              <a:rPr lang="en-US" altLang="zh-CN" sz="2800" dirty="0"/>
              <a:t>《</a:t>
            </a:r>
            <a:r>
              <a:rPr lang="zh-CN" altLang="en-US" sz="2800" dirty="0"/>
              <a:t>克拉底鲁篇</a:t>
            </a:r>
            <a:r>
              <a:rPr lang="en-US" altLang="zh-CN" sz="2800" dirty="0"/>
              <a:t>》</a:t>
            </a:r>
            <a:r>
              <a:rPr lang="zh-CN" altLang="en-US" sz="2800" dirty="0"/>
              <a:t>、</a:t>
            </a:r>
            <a:r>
              <a:rPr lang="en-US" altLang="zh-CN" sz="2800" dirty="0"/>
              <a:t>《</a:t>
            </a:r>
            <a:r>
              <a:rPr lang="zh-CN" altLang="en-US" sz="2800" dirty="0"/>
              <a:t>斐多篇</a:t>
            </a:r>
            <a:r>
              <a:rPr lang="en-US" altLang="zh-CN" sz="2800" dirty="0"/>
              <a:t>》</a:t>
            </a:r>
            <a:r>
              <a:rPr lang="zh-CN" altLang="en-US" sz="2800" dirty="0"/>
              <a:t>、</a:t>
            </a:r>
            <a:r>
              <a:rPr lang="en-US" altLang="zh-CN" sz="2800" dirty="0"/>
              <a:t>《</a:t>
            </a:r>
            <a:r>
              <a:rPr lang="zh-CN" altLang="en-US" sz="2800" dirty="0"/>
              <a:t>斐德罗篇</a:t>
            </a:r>
            <a:r>
              <a:rPr lang="en-US" altLang="zh-CN" sz="2800" dirty="0"/>
              <a:t>》</a:t>
            </a:r>
            <a:r>
              <a:rPr lang="zh-CN" altLang="en-US" sz="2800" dirty="0"/>
              <a:t>、</a:t>
            </a:r>
            <a:r>
              <a:rPr lang="en-US" altLang="zh-CN" sz="2800" dirty="0"/>
              <a:t>《</a:t>
            </a:r>
            <a:r>
              <a:rPr lang="zh-CN" altLang="en-US" sz="2800" dirty="0"/>
              <a:t>会饮篇</a:t>
            </a:r>
            <a:r>
              <a:rPr lang="en-US" altLang="zh-CN" sz="2800" dirty="0"/>
              <a:t>》</a:t>
            </a:r>
            <a:r>
              <a:rPr lang="zh-CN" altLang="en-US" sz="2800" dirty="0"/>
              <a:t>、</a:t>
            </a:r>
            <a:r>
              <a:rPr lang="en-US" altLang="zh-CN" sz="2800" dirty="0"/>
              <a:t>《</a:t>
            </a:r>
            <a:r>
              <a:rPr lang="zh-CN" altLang="en-US" sz="2800" dirty="0"/>
              <a:t>理想国</a:t>
            </a:r>
            <a:r>
              <a:rPr lang="en-US" altLang="zh-CN" sz="2800" dirty="0"/>
              <a:t>》</a:t>
            </a:r>
            <a:r>
              <a:rPr lang="zh-CN" altLang="en-US" sz="2800" dirty="0"/>
              <a:t>、</a:t>
            </a:r>
            <a:r>
              <a:rPr lang="en-US" altLang="zh-CN" sz="2800" dirty="0"/>
              <a:t>《</a:t>
            </a:r>
            <a:r>
              <a:rPr lang="zh-CN" altLang="en-US" sz="2800" dirty="0"/>
              <a:t>泰阿泰德篇</a:t>
            </a:r>
            <a:r>
              <a:rPr lang="en-US" altLang="zh-CN" sz="2800" dirty="0"/>
              <a:t>》</a:t>
            </a:r>
            <a:r>
              <a:rPr lang="zh-CN" altLang="en-US" sz="2800" dirty="0"/>
              <a:t>、</a:t>
            </a:r>
            <a:r>
              <a:rPr lang="en-US" altLang="zh-CN" sz="2800" dirty="0"/>
              <a:t>《</a:t>
            </a:r>
            <a:r>
              <a:rPr lang="zh-CN" altLang="en-US" sz="2800" dirty="0"/>
              <a:t>巴曼尼得斯篇</a:t>
            </a:r>
            <a:r>
              <a:rPr lang="en-US" altLang="zh-CN" sz="2800" dirty="0"/>
              <a:t>》</a:t>
            </a:r>
          </a:p>
          <a:p>
            <a:r>
              <a:rPr lang="zh-CN" altLang="en-US" sz="2800" dirty="0"/>
              <a:t>晚期：</a:t>
            </a:r>
            <a:r>
              <a:rPr lang="en-US" altLang="zh-CN" sz="2800" dirty="0"/>
              <a:t>《</a:t>
            </a:r>
            <a:r>
              <a:rPr lang="zh-CN" altLang="en-US" sz="2800" dirty="0"/>
              <a:t>智者篇</a:t>
            </a:r>
            <a:r>
              <a:rPr lang="en-US" altLang="zh-CN" sz="2800" dirty="0"/>
              <a:t>》</a:t>
            </a:r>
            <a:r>
              <a:rPr lang="zh-CN" altLang="en-US" sz="2800" dirty="0"/>
              <a:t>、</a:t>
            </a:r>
            <a:r>
              <a:rPr lang="en-US" altLang="zh-CN" sz="2800" dirty="0"/>
              <a:t>《</a:t>
            </a:r>
            <a:r>
              <a:rPr lang="zh-CN" altLang="en-US" sz="2800" dirty="0"/>
              <a:t>政治家篇</a:t>
            </a:r>
            <a:r>
              <a:rPr lang="en-US" altLang="zh-CN" sz="2800" dirty="0"/>
              <a:t>》</a:t>
            </a:r>
            <a:r>
              <a:rPr lang="zh-CN" altLang="en-US" sz="2800" dirty="0"/>
              <a:t>、</a:t>
            </a:r>
            <a:r>
              <a:rPr lang="en-US" altLang="zh-CN" sz="2800" dirty="0"/>
              <a:t>《</a:t>
            </a:r>
            <a:r>
              <a:rPr lang="zh-CN" altLang="en-US" sz="2800" dirty="0"/>
              <a:t>菲力帕斯篇</a:t>
            </a:r>
            <a:r>
              <a:rPr lang="en-US" altLang="zh-CN" sz="2800" dirty="0"/>
              <a:t>》</a:t>
            </a:r>
            <a:r>
              <a:rPr lang="zh-CN" altLang="en-US" sz="2800" dirty="0"/>
              <a:t>、</a:t>
            </a:r>
            <a:r>
              <a:rPr lang="en-US" altLang="zh-CN" sz="2800" dirty="0"/>
              <a:t>《</a:t>
            </a:r>
            <a:r>
              <a:rPr lang="zh-CN" altLang="en-US" sz="2800" dirty="0"/>
              <a:t>蒂迈欧篇</a:t>
            </a:r>
            <a:r>
              <a:rPr lang="en-US" altLang="zh-CN" sz="2800" dirty="0"/>
              <a:t>》</a:t>
            </a:r>
            <a:r>
              <a:rPr lang="zh-CN" altLang="en-US" sz="2800" dirty="0"/>
              <a:t>、</a:t>
            </a:r>
            <a:r>
              <a:rPr lang="en-US" altLang="zh-CN" sz="2800" dirty="0"/>
              <a:t>《</a:t>
            </a:r>
            <a:r>
              <a:rPr lang="zh-CN" altLang="en-US" sz="2800" dirty="0"/>
              <a:t>克里底亚篇</a:t>
            </a:r>
            <a:r>
              <a:rPr lang="en-US" altLang="zh-CN" sz="2800" dirty="0"/>
              <a:t>》</a:t>
            </a:r>
            <a:r>
              <a:rPr lang="zh-CN" altLang="en-US" sz="2800" dirty="0"/>
              <a:t>、</a:t>
            </a:r>
            <a:r>
              <a:rPr lang="en-US" altLang="zh-CN" sz="2800" dirty="0"/>
              <a:t>《</a:t>
            </a:r>
            <a:r>
              <a:rPr lang="zh-CN" altLang="en-US" sz="2800" dirty="0"/>
              <a:t>法律篇</a:t>
            </a:r>
            <a:r>
              <a:rPr lang="en-US" altLang="zh-CN" sz="2800" dirty="0"/>
              <a:t>》</a:t>
            </a:r>
          </a:p>
          <a:p>
            <a:endParaRPr lang="zh-CN" altLang="en-US" dirty="0"/>
          </a:p>
        </p:txBody>
      </p:sp>
    </p:spTree>
    <p:extLst>
      <p:ext uri="{BB962C8B-B14F-4D97-AF65-F5344CB8AC3E}">
        <p14:creationId xmlns:p14="http://schemas.microsoft.com/office/powerpoint/2010/main" val="4044337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800" dirty="0"/>
              <a:t> </a:t>
            </a:r>
            <a:r>
              <a:rPr lang="zh-CN" altLang="en-US" sz="2800" dirty="0"/>
              <a:t>古典学与柏拉图研究</a:t>
            </a:r>
            <a:br>
              <a:rPr lang="en-US" altLang="zh-CN" dirty="0"/>
            </a:br>
            <a:endParaRPr lang="zh-CN" altLang="en-US" sz="2400" dirty="0"/>
          </a:p>
        </p:txBody>
      </p:sp>
      <p:sp>
        <p:nvSpPr>
          <p:cNvPr id="5" name="Content Placeholder 4"/>
          <p:cNvSpPr>
            <a:spLocks noGrp="1"/>
          </p:cNvSpPr>
          <p:nvPr>
            <p:ph sz="half" idx="1"/>
          </p:nvPr>
        </p:nvSpPr>
        <p:spPr/>
        <p:txBody>
          <a:bodyPr/>
          <a:lstStyle/>
          <a:p>
            <a:pPr marL="0" indent="0">
              <a:buNone/>
            </a:pPr>
            <a:r>
              <a:rPr lang="zh-CN" altLang="en-US" b="1" dirty="0"/>
              <a:t>解读柏拉图作品的方式</a:t>
            </a:r>
          </a:p>
          <a:p>
            <a:r>
              <a:rPr lang="en-US" altLang="zh-CN" b="1" dirty="0"/>
              <a:t>1</a:t>
            </a:r>
            <a:r>
              <a:rPr lang="zh-CN" altLang="en-US" b="1" dirty="0"/>
              <a:t>，考据式</a:t>
            </a:r>
          </a:p>
          <a:p>
            <a:r>
              <a:rPr lang="en-US" altLang="zh-CN" b="1" dirty="0"/>
              <a:t>2</a:t>
            </a:r>
            <a:r>
              <a:rPr lang="zh-CN" altLang="en-US" b="1" dirty="0"/>
              <a:t>，哲学式</a:t>
            </a:r>
          </a:p>
          <a:p>
            <a:r>
              <a:rPr lang="en-US" altLang="zh-CN" b="1" dirty="0"/>
              <a:t>3</a:t>
            </a:r>
            <a:r>
              <a:rPr lang="zh-CN" altLang="en-US" b="1" dirty="0"/>
              <a:t>，文学式</a:t>
            </a:r>
          </a:p>
          <a:p>
            <a:r>
              <a:rPr lang="en-US" altLang="zh-CN" b="1" dirty="0"/>
              <a:t>4</a:t>
            </a:r>
            <a:r>
              <a:rPr lang="zh-CN" altLang="en-US" b="1" dirty="0"/>
              <a:t>，隐微式</a:t>
            </a:r>
          </a:p>
          <a:p>
            <a:r>
              <a:rPr lang="en-US" altLang="zh-CN" b="1" dirty="0"/>
              <a:t>5</a:t>
            </a:r>
            <a:r>
              <a:rPr lang="zh-CN" altLang="en-US" b="1" dirty="0"/>
              <a:t>，图宾根学派</a:t>
            </a:r>
          </a:p>
          <a:p>
            <a:endParaRPr lang="zh-CN" altLang="en-US" dirty="0"/>
          </a:p>
        </p:txBody>
      </p:sp>
      <p:sp>
        <p:nvSpPr>
          <p:cNvPr id="4" name="Content Placeholder 3"/>
          <p:cNvSpPr>
            <a:spLocks noGrp="1"/>
          </p:cNvSpPr>
          <p:nvPr>
            <p:ph sz="half" idx="2"/>
          </p:nvPr>
        </p:nvSpPr>
        <p:spPr/>
        <p:txBody>
          <a:bodyPr/>
          <a:lstStyle/>
          <a:p>
            <a:endParaRPr lang="zh-CN" altLang="en-US" dirty="0"/>
          </a:p>
        </p:txBody>
      </p:sp>
    </p:spTree>
    <p:extLst>
      <p:ext uri="{BB962C8B-B14F-4D97-AF65-F5344CB8AC3E}">
        <p14:creationId xmlns:p14="http://schemas.microsoft.com/office/powerpoint/2010/main" val="1960214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2400" dirty="0"/>
              <a:t>柏拉图作品索引方式</a:t>
            </a:r>
          </a:p>
        </p:txBody>
      </p:sp>
      <p:sp>
        <p:nvSpPr>
          <p:cNvPr id="3" name="Content Placeholder 2"/>
          <p:cNvSpPr>
            <a:spLocks noGrp="1"/>
          </p:cNvSpPr>
          <p:nvPr>
            <p:ph sz="half" idx="1"/>
          </p:nvPr>
        </p:nvSpPr>
        <p:spPr>
          <a:xfrm>
            <a:off x="813852" y="1327355"/>
            <a:ext cx="5180548" cy="4768645"/>
          </a:xfrm>
        </p:spPr>
        <p:txBody>
          <a:bodyPr/>
          <a:lstStyle/>
          <a:p>
            <a:r>
              <a:rPr lang="zh-CN" altLang="en-US" sz="2400" dirty="0"/>
              <a:t>柏拉图作品形成了专门的索引方式，现在的索引方式源自</a:t>
            </a:r>
            <a:r>
              <a:rPr lang="en-US" altLang="zh-CN" sz="2400" dirty="0"/>
              <a:t>16</a:t>
            </a:r>
            <a:r>
              <a:rPr lang="zh-CN" altLang="en-US" sz="2400" dirty="0"/>
              <a:t>世纪</a:t>
            </a:r>
            <a:r>
              <a:rPr lang="en-US" altLang="zh-CN" sz="2400" dirty="0" err="1"/>
              <a:t>Henricus</a:t>
            </a:r>
            <a:r>
              <a:rPr lang="en-US" altLang="zh-CN" sz="2400" dirty="0"/>
              <a:t> </a:t>
            </a:r>
            <a:r>
              <a:rPr lang="en-US" altLang="zh-CN" sz="2400" dirty="0" err="1"/>
              <a:t>Stephanus</a:t>
            </a:r>
            <a:r>
              <a:rPr lang="en-US" altLang="zh-CN" sz="2400" dirty="0"/>
              <a:t> </a:t>
            </a:r>
            <a:r>
              <a:rPr lang="zh-CN" altLang="en-US" sz="2400" dirty="0"/>
              <a:t>（</a:t>
            </a:r>
            <a:r>
              <a:rPr lang="en-US" altLang="zh-CN" sz="2400" dirty="0"/>
              <a:t>16</a:t>
            </a:r>
            <a:r>
              <a:rPr lang="zh-CN" altLang="en-US" sz="2400" dirty="0"/>
              <a:t>世纪巴黎一位出版家，古典文学家）的一个柏拉图作品译本。</a:t>
            </a:r>
          </a:p>
          <a:p>
            <a:endParaRPr lang="zh-CN" altLang="en-US" dirty="0"/>
          </a:p>
        </p:txBody>
      </p:sp>
      <p:pic>
        <p:nvPicPr>
          <p:cNvPr id="3074"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720021" y="1981200"/>
            <a:ext cx="403515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852" y="3745231"/>
            <a:ext cx="2035329" cy="293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7531" y="3786166"/>
            <a:ext cx="1986453" cy="3071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10963072" y="2188723"/>
            <a:ext cx="428017" cy="97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73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1266"/>
                                        </p:tgtEl>
                                        <p:attrNameLst>
                                          <p:attrName>style.visibility</p:attrName>
                                        </p:attrNameLst>
                                      </p:cBhvr>
                                      <p:to>
                                        <p:strVal val="visible"/>
                                      </p:to>
                                    </p:set>
                                    <p:animEffect transition="in" filter="circle(in)">
                                      <p:cBhvr>
                                        <p:cTn id="12" dur="2000"/>
                                        <p:tgtEl>
                                          <p:spTgt spid="1126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1267"/>
                                        </p:tgtEl>
                                        <p:attrNameLst>
                                          <p:attrName>style.visibility</p:attrName>
                                        </p:attrNameLst>
                                      </p:cBhvr>
                                      <p:to>
                                        <p:strVal val="visible"/>
                                      </p:to>
                                    </p:set>
                                    <p:animEffect transition="in" filter="randombar(horizontal)">
                                      <p:cBhvr>
                                        <p:cTn id="17" dur="500"/>
                                        <p:tgtEl>
                                          <p:spTgt spid="11267"/>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074"/>
                                        </p:tgtEl>
                                        <p:attrNameLst>
                                          <p:attrName>style.visibility</p:attrName>
                                        </p:attrNameLst>
                                      </p:cBhvr>
                                      <p:to>
                                        <p:strVal val="visible"/>
                                      </p:to>
                                    </p:set>
                                    <p:animEffect transition="in" filter="wheel(1)">
                                      <p:cBhvr>
                                        <p:cTn id="22" dur="2000"/>
                                        <p:tgtEl>
                                          <p:spTgt spid="307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教材</a:t>
            </a:r>
          </a:p>
        </p:txBody>
      </p:sp>
      <p:sp>
        <p:nvSpPr>
          <p:cNvPr id="3" name="Text Placeholder 2"/>
          <p:cNvSpPr>
            <a:spLocks noGrp="1"/>
          </p:cNvSpPr>
          <p:nvPr>
            <p:ph type="body" idx="1"/>
          </p:nvPr>
        </p:nvSpPr>
        <p:spPr/>
        <p:txBody>
          <a:bodyPr/>
          <a:lstStyle/>
          <a:p>
            <a:pPr algn="l"/>
            <a:r>
              <a:rPr lang="en-US" altLang="zh-CN" dirty="0"/>
              <a:t>《</a:t>
            </a:r>
            <a:r>
              <a:rPr lang="zh-CN" altLang="en-US" dirty="0"/>
              <a:t>理想国</a:t>
            </a:r>
            <a:r>
              <a:rPr lang="en-US" altLang="zh-CN" dirty="0"/>
              <a:t>》</a:t>
            </a:r>
            <a:r>
              <a:rPr lang="zh-CN" altLang="en-US" dirty="0"/>
              <a:t>，顾寿观译，吴天岳校，岳麓书社</a:t>
            </a:r>
            <a:r>
              <a:rPr lang="en-US" altLang="zh-CN" dirty="0"/>
              <a:t>2010</a:t>
            </a:r>
            <a:r>
              <a:rPr lang="zh-CN" altLang="en-US" dirty="0"/>
              <a:t>年，</a:t>
            </a:r>
            <a:r>
              <a:rPr lang="en-US" altLang="zh-CN" dirty="0"/>
              <a:t>2018</a:t>
            </a:r>
            <a:r>
              <a:rPr lang="zh-CN" altLang="en-US"/>
              <a:t>年。</a:t>
            </a:r>
            <a:endParaRPr lang="zh-CN" altLang="en-US" dirty="0"/>
          </a:p>
          <a:p>
            <a:pPr algn="l"/>
            <a:endParaRPr lang="zh-CN" altLang="en-US" dirty="0"/>
          </a:p>
        </p:txBody>
      </p:sp>
      <p:sp>
        <p:nvSpPr>
          <p:cNvPr id="4" name="Content Placeholder 3"/>
          <p:cNvSpPr>
            <a:spLocks noGrp="1"/>
          </p:cNvSpPr>
          <p:nvPr>
            <p:ph sz="half" idx="2"/>
          </p:nvPr>
        </p:nvSpPr>
        <p:spPr/>
        <p:txBody>
          <a:bodyPr/>
          <a:lstStyle/>
          <a:p>
            <a:endParaRPr lang="zh-CN" altLang="en-US" dirty="0"/>
          </a:p>
          <a:p>
            <a:endParaRPr lang="zh-CN" altLang="en-US" dirty="0"/>
          </a:p>
        </p:txBody>
      </p:sp>
      <p:sp>
        <p:nvSpPr>
          <p:cNvPr id="5" name="Text Placeholder 4"/>
          <p:cNvSpPr>
            <a:spLocks noGrp="1"/>
          </p:cNvSpPr>
          <p:nvPr>
            <p:ph type="body" sz="quarter" idx="3"/>
          </p:nvPr>
        </p:nvSpPr>
        <p:spPr>
          <a:xfrm>
            <a:off x="6253018" y="1869599"/>
            <a:ext cx="5273696" cy="916228"/>
          </a:xfrm>
        </p:spPr>
        <p:txBody>
          <a:bodyPr/>
          <a:lstStyle/>
          <a:p>
            <a:r>
              <a:rPr lang="en-US" altLang="zh-CN" dirty="0" err="1"/>
              <a:t>C.D.C.Reeve</a:t>
            </a:r>
            <a:r>
              <a:rPr lang="en-US" altLang="zh-CN" dirty="0"/>
              <a:t>, trans. Plato Republic, Indianapolis/Cambridge, 2004.</a:t>
            </a:r>
          </a:p>
          <a:p>
            <a:endParaRPr lang="zh-CN" altLang="en-US" dirty="0"/>
          </a:p>
        </p:txBody>
      </p:sp>
      <p:sp>
        <p:nvSpPr>
          <p:cNvPr id="6" name="Content Placeholder 5"/>
          <p:cNvSpPr>
            <a:spLocks noGrp="1"/>
          </p:cNvSpPr>
          <p:nvPr>
            <p:ph sz="quarter" idx="4"/>
          </p:nvPr>
        </p:nvSpPr>
        <p:spPr/>
        <p:txBody>
          <a:bodyPr/>
          <a:lstStyle/>
          <a:p>
            <a:endParaRPr lang="en-US" altLang="zh-CN" dirty="0"/>
          </a:p>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5006" y="2966398"/>
            <a:ext cx="1866900" cy="279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493" y="3078675"/>
            <a:ext cx="1820052" cy="2566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2998" y="3145888"/>
            <a:ext cx="1905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a:extLst>
              <a:ext uri="{FF2B5EF4-FFF2-40B4-BE49-F238E27FC236}">
                <a16:creationId xmlns:a16="http://schemas.microsoft.com/office/drawing/2014/main" id="{978CC1F5-FFE1-4FC8-AB0E-CE3213E0FF95}"/>
              </a:ext>
            </a:extLst>
          </p:cNvPr>
          <p:cNvPicPr>
            <a:picLocks noChangeAspect="1"/>
          </p:cNvPicPr>
          <p:nvPr/>
        </p:nvPicPr>
        <p:blipFill>
          <a:blip r:embed="rId5"/>
          <a:stretch>
            <a:fillRect/>
          </a:stretch>
        </p:blipFill>
        <p:spPr>
          <a:xfrm>
            <a:off x="3461382" y="3078673"/>
            <a:ext cx="1868248" cy="2566274"/>
          </a:xfrm>
          <a:prstGeom prst="rect">
            <a:avLst/>
          </a:prstGeom>
        </p:spPr>
      </p:pic>
    </p:spTree>
    <p:extLst>
      <p:ext uri="{BB962C8B-B14F-4D97-AF65-F5344CB8AC3E}">
        <p14:creationId xmlns:p14="http://schemas.microsoft.com/office/powerpoint/2010/main" val="345145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heel(1)">
                                      <p:cBhvr>
                                        <p:cTn id="12" dur="2000"/>
                                        <p:tgtEl>
                                          <p:spTgt spid="205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heel(1)">
                                      <p:cBhvr>
                                        <p:cTn id="17" dur="20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2053"/>
                                        </p:tgtEl>
                                        <p:attrNameLst>
                                          <p:attrName>style.visibility</p:attrName>
                                        </p:attrNameLst>
                                      </p:cBhvr>
                                      <p:to>
                                        <p:strVal val="visible"/>
                                      </p:to>
                                    </p:set>
                                    <p:animEffect transition="in" filter="wheel(1)">
                                      <p:cBhvr>
                                        <p:cTn id="22" dur="2000"/>
                                        <p:tgtEl>
                                          <p:spTgt spid="2053"/>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2050"/>
                                        </p:tgtEl>
                                        <p:attrNameLst>
                                          <p:attrName>style.visibility</p:attrName>
                                        </p:attrNameLst>
                                      </p:cBhvr>
                                      <p:to>
                                        <p:strVal val="visible"/>
                                      </p:to>
                                    </p:set>
                                    <p:animEffect transition="in" filter="wheel(1)">
                                      <p:cBhvr>
                                        <p:cTn id="2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Text Placeholder 2"/>
          <p:cNvSpPr>
            <a:spLocks noGrp="1"/>
          </p:cNvSpPr>
          <p:nvPr>
            <p:ph type="body" idx="1"/>
          </p:nvPr>
        </p:nvSpPr>
        <p:spPr/>
        <p:txBody>
          <a:bodyPr/>
          <a:lstStyle/>
          <a:p>
            <a:r>
              <a:rPr lang="zh-CN" altLang="en-US" dirty="0"/>
              <a:t>推荐阅读</a:t>
            </a:r>
          </a:p>
        </p:txBody>
      </p:sp>
      <p:sp>
        <p:nvSpPr>
          <p:cNvPr id="4" name="Content Placeholder 3"/>
          <p:cNvSpPr>
            <a:spLocks noGrp="1"/>
          </p:cNvSpPr>
          <p:nvPr>
            <p:ph sz="half" idx="2"/>
          </p:nvPr>
        </p:nvSpPr>
        <p:spPr/>
        <p:txBody>
          <a:bodyPr>
            <a:normAutofit/>
          </a:bodyPr>
          <a:lstStyle/>
          <a:p>
            <a:r>
              <a:rPr lang="zh-CN" altLang="en-US" b="1" dirty="0"/>
              <a:t>里夫</a:t>
            </a:r>
            <a:r>
              <a:rPr lang="en-US" altLang="zh-CN" b="1" dirty="0"/>
              <a:t>《</a:t>
            </a:r>
            <a:r>
              <a:rPr lang="zh-CN" altLang="en-US" b="1" dirty="0"/>
              <a:t>哲人</a:t>
            </a:r>
            <a:r>
              <a:rPr lang="en-US" altLang="zh-CN" b="1" dirty="0"/>
              <a:t>-</a:t>
            </a:r>
            <a:r>
              <a:rPr lang="zh-CN" altLang="en-US" b="1" dirty="0"/>
              <a:t>王</a:t>
            </a:r>
            <a:r>
              <a:rPr lang="en-US" altLang="zh-CN" b="1" dirty="0"/>
              <a:t>》</a:t>
            </a:r>
            <a:r>
              <a:rPr lang="zh-CN" altLang="en-US" b="1" dirty="0"/>
              <a:t>，华东师范大学出版社，</a:t>
            </a:r>
            <a:r>
              <a:rPr lang="en-US" altLang="zh-CN" b="1" dirty="0"/>
              <a:t>2020</a:t>
            </a:r>
            <a:r>
              <a:rPr lang="zh-CN" altLang="en-US" b="1" dirty="0"/>
              <a:t>年。</a:t>
            </a:r>
            <a:endParaRPr lang="en-US" altLang="zh-CN" b="1" dirty="0"/>
          </a:p>
          <a:p>
            <a:r>
              <a:rPr lang="zh-CN" altLang="en-US" b="1" dirty="0"/>
              <a:t>吕克</a:t>
            </a:r>
            <a:r>
              <a:rPr lang="en-US" altLang="zh-CN" b="1" dirty="0"/>
              <a:t>.</a:t>
            </a:r>
            <a:r>
              <a:rPr lang="zh-CN" altLang="en-US" b="1" dirty="0"/>
              <a:t>布吕松，</a:t>
            </a:r>
            <a:r>
              <a:rPr lang="en-US" altLang="zh-CN" b="1" dirty="0"/>
              <a:t>《</a:t>
            </a:r>
            <a:r>
              <a:rPr lang="zh-CN" altLang="en-US" b="1" dirty="0"/>
              <a:t>柏拉图哲学导论</a:t>
            </a:r>
            <a:r>
              <a:rPr lang="en-US" altLang="zh-CN" b="1" dirty="0"/>
              <a:t>》</a:t>
            </a:r>
            <a:r>
              <a:rPr lang="zh-CN" altLang="en-US" b="1" dirty="0"/>
              <a:t>，北京大学出版社， </a:t>
            </a:r>
            <a:r>
              <a:rPr lang="en-US" altLang="zh-CN" b="1" dirty="0"/>
              <a:t>2018</a:t>
            </a:r>
            <a:r>
              <a:rPr lang="zh-CN" altLang="en-US" b="1" dirty="0"/>
              <a:t>年。</a:t>
            </a:r>
            <a:endParaRPr lang="en-US" altLang="zh-CN" b="1" dirty="0"/>
          </a:p>
          <a:p>
            <a:r>
              <a:rPr lang="zh-CN" altLang="en-US" b="1" dirty="0"/>
              <a:t>罗德之，</a:t>
            </a:r>
            <a:r>
              <a:rPr lang="en-US" altLang="zh-CN" b="1" dirty="0"/>
              <a:t>《</a:t>
            </a:r>
            <a:r>
              <a:rPr lang="zh-CN" altLang="en-US" b="1" dirty="0"/>
              <a:t>柏拉图的政治理论</a:t>
            </a:r>
            <a:r>
              <a:rPr lang="en-US" altLang="zh-CN" b="1" dirty="0"/>
              <a:t>》</a:t>
            </a:r>
            <a:r>
              <a:rPr lang="zh-CN" altLang="en-US" b="1" dirty="0"/>
              <a:t>，上海三联书店</a:t>
            </a:r>
            <a:r>
              <a:rPr lang="en-US" altLang="zh-CN" b="1" dirty="0"/>
              <a:t>2012</a:t>
            </a:r>
            <a:r>
              <a:rPr lang="zh-CN" altLang="en-US" b="1" dirty="0"/>
              <a:t>年。</a:t>
            </a:r>
            <a:endParaRPr lang="en-US" altLang="zh-CN" b="1" dirty="0"/>
          </a:p>
          <a:p>
            <a:r>
              <a:rPr lang="zh-CN" altLang="en-US" b="1" dirty="0"/>
              <a:t>余纪元，</a:t>
            </a:r>
            <a:r>
              <a:rPr lang="en-US" altLang="zh-CN" b="1" dirty="0"/>
              <a:t>《</a:t>
            </a:r>
            <a:r>
              <a:rPr lang="zh-CN" altLang="en-US" b="1" dirty="0"/>
              <a:t>理想国讲演录</a:t>
            </a:r>
            <a:r>
              <a:rPr lang="en-US" altLang="zh-CN" b="1" dirty="0"/>
              <a:t>》</a:t>
            </a:r>
            <a:r>
              <a:rPr lang="zh-CN" altLang="en-US" b="1" dirty="0"/>
              <a:t>，中国人民大学出版社，</a:t>
            </a:r>
            <a:r>
              <a:rPr lang="en-US" altLang="zh-CN" b="1" dirty="0"/>
              <a:t>2009</a:t>
            </a:r>
            <a:r>
              <a:rPr lang="zh-CN" altLang="en-US" b="1" dirty="0"/>
              <a:t>年。</a:t>
            </a:r>
            <a:endParaRPr lang="en-US" altLang="zh-CN" b="1" dirty="0"/>
          </a:p>
          <a:p>
            <a:endParaRPr lang="zh-CN" altLang="en-US" dirty="0"/>
          </a:p>
          <a:p>
            <a:endParaRPr lang="zh-CN" altLang="en-US" dirty="0"/>
          </a:p>
        </p:txBody>
      </p:sp>
      <p:sp>
        <p:nvSpPr>
          <p:cNvPr id="5" name="Text Placeholder 4"/>
          <p:cNvSpPr>
            <a:spLocks noGrp="1"/>
          </p:cNvSpPr>
          <p:nvPr>
            <p:ph type="body" sz="quarter" idx="3"/>
          </p:nvPr>
        </p:nvSpPr>
        <p:spPr/>
        <p:txBody>
          <a:bodyPr/>
          <a:lstStyle/>
          <a:p>
            <a:endParaRPr lang="zh-CN" altLang="en-US" dirty="0"/>
          </a:p>
        </p:txBody>
      </p:sp>
      <p:pic>
        <p:nvPicPr>
          <p:cNvPr id="7" name="内容占位符 6">
            <a:extLst>
              <a:ext uri="{FF2B5EF4-FFF2-40B4-BE49-F238E27FC236}">
                <a16:creationId xmlns:a16="http://schemas.microsoft.com/office/drawing/2014/main" id="{7530D62C-3584-4C33-9366-BDA4606080FB}"/>
              </a:ext>
            </a:extLst>
          </p:cNvPr>
          <p:cNvPicPr>
            <a:picLocks noGrp="1" noChangeAspect="1"/>
          </p:cNvPicPr>
          <p:nvPr>
            <p:ph sz="quarter" idx="4"/>
          </p:nvPr>
        </p:nvPicPr>
        <p:blipFill>
          <a:blip r:embed="rId2"/>
          <a:stretch>
            <a:fillRect/>
          </a:stretch>
        </p:blipFill>
        <p:spPr>
          <a:xfrm>
            <a:off x="6905205" y="822456"/>
            <a:ext cx="2021528" cy="2867576"/>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5205" y="3807507"/>
            <a:ext cx="1907216" cy="2934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3762" y="3807507"/>
            <a:ext cx="1993046" cy="2833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43687" y="741087"/>
            <a:ext cx="1933197" cy="2867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398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circle(in)">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circle(in)">
                                      <p:cBhvr>
                                        <p:cTn id="17" dur="20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030"/>
                                        </p:tgtEl>
                                        <p:attrNameLst>
                                          <p:attrName>style.visibility</p:attrName>
                                        </p:attrNameLst>
                                      </p:cBhvr>
                                      <p:to>
                                        <p:strVal val="visible"/>
                                      </p:to>
                                    </p:set>
                                    <p:animEffect transition="in" filter="randombar(horizontal)">
                                      <p:cBhvr>
                                        <p:cTn id="22" dur="500"/>
                                        <p:tgtEl>
                                          <p:spTgt spid="103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027"/>
                                        </p:tgtEl>
                                        <p:attrNameLst>
                                          <p:attrName>style.visibility</p:attrName>
                                        </p:attrNameLst>
                                      </p:cBhvr>
                                      <p:to>
                                        <p:strVal val="visible"/>
                                      </p:to>
                                    </p:set>
                                    <p:animEffect transition="in" filter="randombar(horizontal)">
                                      <p:cBhvr>
                                        <p:cTn id="27" dur="500"/>
                                        <p:tgtEl>
                                          <p:spTgt spid="1027"/>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circle(in)">
                                      <p:cBhvr>
                                        <p:cTn id="32" dur="2000"/>
                                        <p:tgtEl>
                                          <p:spTgt spid="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Effect transition="in" filter="randombar(horizontal)">
                                      <p:cBhvr>
                                        <p:cTn id="3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2676235" cy="1260000"/>
          </a:xfrm>
        </p:spPr>
        <p:txBody>
          <a:bodyPr>
            <a:normAutofit fontScale="90000"/>
          </a:bodyPr>
          <a:lstStyle/>
          <a:p>
            <a:r>
              <a:rPr lang="en-US" altLang="zh-CN" sz="3600" dirty="0"/>
              <a:t>1.5《</a:t>
            </a:r>
            <a:r>
              <a:rPr lang="zh-CN" altLang="en-US" sz="3600" dirty="0"/>
              <a:t>理想国</a:t>
            </a:r>
            <a:r>
              <a:rPr lang="en-US" altLang="zh-CN" sz="3600" dirty="0"/>
              <a:t>》</a:t>
            </a:r>
            <a:r>
              <a:rPr lang="zh-CN" altLang="en-US" sz="3600" dirty="0"/>
              <a:t>历史背景</a:t>
            </a:r>
            <a:br>
              <a:rPr lang="en-US" altLang="zh-CN" dirty="0"/>
            </a:br>
            <a:endParaRPr lang="zh-CN" altLang="en-US" dirty="0"/>
          </a:p>
        </p:txBody>
      </p:sp>
      <p:sp>
        <p:nvSpPr>
          <p:cNvPr id="5" name="Content Placeholder 4"/>
          <p:cNvSpPr>
            <a:spLocks noGrp="1"/>
          </p:cNvSpPr>
          <p:nvPr>
            <p:ph sz="half" idx="1"/>
          </p:nvPr>
        </p:nvSpPr>
        <p:spPr>
          <a:xfrm>
            <a:off x="410202" y="1822352"/>
            <a:ext cx="5778630" cy="4540825"/>
          </a:xfrm>
        </p:spPr>
        <p:txBody>
          <a:bodyPr>
            <a:normAutofit lnSpcReduction="10000"/>
          </a:bodyPr>
          <a:lstStyle/>
          <a:p>
            <a:r>
              <a:rPr lang="zh-CN" altLang="en-US" sz="2000" b="1" dirty="0"/>
              <a:t>历史学家希罗多德（</a:t>
            </a:r>
            <a:r>
              <a:rPr lang="en-US" altLang="zh-CN" sz="2000" b="1" dirty="0"/>
              <a:t>Herodotus484b.c.-425b.c.</a:t>
            </a:r>
            <a:r>
              <a:rPr lang="zh-CN" altLang="en-US" sz="2000" b="1" dirty="0"/>
              <a:t>）说：“伊奥尼亚人是雅典人</a:t>
            </a:r>
            <a:r>
              <a:rPr lang="en-US" altLang="zh-CN" sz="2000" b="1" dirty="0"/>
              <a:t>……</a:t>
            </a:r>
            <a:r>
              <a:rPr lang="zh-CN" altLang="en-US" sz="2000" b="1" dirty="0"/>
              <a:t>希腊人是流动性的，皮拉斯齐人是一个异邦民族。”</a:t>
            </a:r>
            <a:endParaRPr lang="en-US" altLang="zh-CN" sz="2000" b="1" dirty="0"/>
          </a:p>
          <a:p>
            <a:endParaRPr lang="en-US" altLang="zh-CN" sz="2000" b="1" dirty="0"/>
          </a:p>
          <a:p>
            <a:r>
              <a:rPr lang="zh-CN" altLang="en-US" sz="2000" b="1" dirty="0"/>
              <a:t>希腊一词原为“</a:t>
            </a:r>
            <a:r>
              <a:rPr lang="en-US" altLang="zh-CN" sz="2000" b="1" dirty="0"/>
              <a:t>Hellas”,</a:t>
            </a:r>
            <a:r>
              <a:rPr lang="zh-CN" altLang="en-US" sz="2000" b="1" dirty="0"/>
              <a:t>希伦人居住之地。亚里士多德认为是希腊西部的伊庇鲁斯这个地方。那里叫（</a:t>
            </a:r>
            <a:r>
              <a:rPr lang="en-US" altLang="zh-CN" sz="2000" b="1" dirty="0" err="1"/>
              <a:t>Graia</a:t>
            </a:r>
            <a:r>
              <a:rPr lang="en-US" altLang="zh-CN" sz="2000" b="1" dirty="0"/>
              <a:t> </a:t>
            </a:r>
            <a:r>
              <a:rPr lang="zh-CN" altLang="en-US" sz="2000" b="1" dirty="0"/>
              <a:t>）</a:t>
            </a:r>
            <a:r>
              <a:rPr lang="en-US" altLang="zh-CN" sz="2000" b="1" dirty="0"/>
              <a:t>,</a:t>
            </a:r>
            <a:r>
              <a:rPr lang="zh-CN" altLang="en-US" sz="2000" b="1" dirty="0"/>
              <a:t>很多人从那里去意大利，所以罗马人称希腊为</a:t>
            </a:r>
            <a:r>
              <a:rPr lang="en-US" altLang="zh-CN" sz="2000" b="1" dirty="0"/>
              <a:t>Graecia, </a:t>
            </a:r>
            <a:r>
              <a:rPr lang="zh-CN" altLang="en-US" sz="2000" b="1" dirty="0"/>
              <a:t>希腊人为</a:t>
            </a:r>
            <a:r>
              <a:rPr lang="en-US" altLang="zh-CN" sz="2000" b="1" dirty="0" err="1"/>
              <a:t>Graeci</a:t>
            </a:r>
            <a:r>
              <a:rPr lang="zh-CN" altLang="en-US" sz="2000" b="1" dirty="0"/>
              <a:t>。 </a:t>
            </a:r>
            <a:endParaRPr lang="en-US" altLang="zh-CN" sz="2000" b="1" dirty="0"/>
          </a:p>
          <a:p>
            <a:pPr marL="0" indent="0">
              <a:buNone/>
            </a:pPr>
            <a:endParaRPr lang="en-US" altLang="zh-CN" sz="2000" b="1" dirty="0"/>
          </a:p>
          <a:p>
            <a:r>
              <a:rPr lang="zh-CN" altLang="en-US" sz="2000" b="1" dirty="0"/>
              <a:t>诗人赫西俄德</a:t>
            </a:r>
            <a:r>
              <a:rPr lang="en-US" altLang="zh-CN" sz="2000" b="1" dirty="0"/>
              <a:t>《</a:t>
            </a:r>
            <a:r>
              <a:rPr lang="zh-CN" altLang="en-US" sz="2000" b="1" dirty="0"/>
              <a:t>神谱</a:t>
            </a:r>
            <a:r>
              <a:rPr lang="en-US" altLang="zh-CN" sz="2000" b="1" dirty="0"/>
              <a:t>》</a:t>
            </a:r>
            <a:r>
              <a:rPr lang="zh-CN" altLang="en-US" sz="2000" b="1" dirty="0"/>
              <a:t>说，普罗米修斯的儿子丢开厉翁的妻子皮拉逃出了洪水之难，生了儿子希伦，他就是希伦人，亦即希腊各部族的远祖。希腊人的四支，多利安人，伊奥尼亚人，爱奥尼亚人，阿开亚人，就是他的子孙。</a:t>
            </a:r>
            <a:endParaRPr lang="en-US" altLang="zh-CN" sz="2000" b="1" dirty="0"/>
          </a:p>
          <a:p>
            <a:endParaRPr lang="en-US" altLang="zh-CN" dirty="0"/>
          </a:p>
          <a:p>
            <a:endParaRPr lang="zh-CN" altLang="en-US" dirty="0"/>
          </a:p>
          <a:p>
            <a:endParaRPr lang="zh-CN" altLang="en-US" dirty="0"/>
          </a:p>
          <a:p>
            <a:endParaRPr lang="zh-CN" altLang="en-US" dirty="0"/>
          </a:p>
        </p:txBody>
      </p:sp>
      <p:sp>
        <p:nvSpPr>
          <p:cNvPr id="4" name="Content Placeholder 3"/>
          <p:cNvSpPr>
            <a:spLocks noGrp="1"/>
          </p:cNvSpPr>
          <p:nvPr>
            <p:ph sz="half" idx="2"/>
          </p:nvPr>
        </p:nvSpPr>
        <p:spPr/>
        <p:txBody>
          <a:bodyPr>
            <a:normAutofit lnSpcReduction="10000"/>
          </a:bodyPr>
          <a:lstStyle/>
          <a:p>
            <a:endParaRPr lang="zh-CN" altLang="en-US"/>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8769" y="520624"/>
            <a:ext cx="5903231" cy="4722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6135" y="225965"/>
            <a:ext cx="2809875"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Connector 8"/>
          <p:cNvCxnSpPr/>
          <p:nvPr/>
        </p:nvCxnSpPr>
        <p:spPr>
          <a:xfrm>
            <a:off x="6819089" y="2500009"/>
            <a:ext cx="457200" cy="20428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pic>
        <p:nvPicPr>
          <p:cNvPr id="1843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8769" y="5220750"/>
            <a:ext cx="1249296" cy="159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299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randombar(horizontal)">
                                      <p:cBhvr>
                                        <p:cTn id="7" dur="500"/>
                                        <p:tgtEl>
                                          <p:spTgt spid="1843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ircle(in)">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8437"/>
                                        </p:tgtEl>
                                        <p:attrNameLst>
                                          <p:attrName>style.visibility</p:attrName>
                                        </p:attrNameLst>
                                      </p:cBhvr>
                                      <p:to>
                                        <p:strVal val="visible"/>
                                      </p:to>
                                    </p:set>
                                    <p:animEffect transition="in" filter="wheel(1)">
                                      <p:cBhvr>
                                        <p:cTn id="17" dur="2000"/>
                                        <p:tgtEl>
                                          <p:spTgt spid="1843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ircle(in)">
                                      <p:cBhvr>
                                        <p:cTn id="22" dur="20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0"/>
                                        <p:tgtEl>
                                          <p:spTgt spid="9"/>
                                        </p:tgtEl>
                                      </p:cBhvr>
                                    </p:animEffect>
                                    <p:anim calcmode="lin" valueType="num">
                                      <p:cBhvr>
                                        <p:cTn id="28" dur="2000" fill="hold"/>
                                        <p:tgtEl>
                                          <p:spTgt spid="9"/>
                                        </p:tgtEl>
                                        <p:attrNameLst>
                                          <p:attrName>ppt_w</p:attrName>
                                        </p:attrNameLst>
                                      </p:cBhvr>
                                      <p:tavLst>
                                        <p:tav tm="0" fmla="#ppt_w*sin(2.5*pi*$)">
                                          <p:val>
                                            <p:fltVal val="0"/>
                                          </p:val>
                                        </p:tav>
                                        <p:tav tm="100000">
                                          <p:val>
                                            <p:fltVal val="1"/>
                                          </p:val>
                                        </p:tav>
                                      </p:tavLst>
                                    </p:anim>
                                    <p:anim calcmode="lin" valueType="num">
                                      <p:cBhvr>
                                        <p:cTn id="29"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circle(in)">
                                      <p:cBhvr>
                                        <p:cTn id="34" dur="2000"/>
                                        <p:tgtEl>
                                          <p:spTgt spid="5">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nodeType="clickEffect">
                                  <p:stCondLst>
                                    <p:cond delay="0"/>
                                  </p:stCondLst>
                                  <p:childTnLst>
                                    <p:set>
                                      <p:cBhvr>
                                        <p:cTn id="38" dur="1" fill="hold">
                                          <p:stCondLst>
                                            <p:cond delay="0"/>
                                          </p:stCondLst>
                                        </p:cTn>
                                        <p:tgtEl>
                                          <p:spTgt spid="18438"/>
                                        </p:tgtEl>
                                        <p:attrNameLst>
                                          <p:attrName>style.visibility</p:attrName>
                                        </p:attrNameLst>
                                      </p:cBhvr>
                                      <p:to>
                                        <p:strVal val="visible"/>
                                      </p:to>
                                    </p:set>
                                    <p:animEffect transition="in" filter="wheel(1)">
                                      <p:cBhvr>
                                        <p:cTn id="39" dur="2000"/>
                                        <p:tgtEl>
                                          <p:spTgt spid="18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957E39-8A90-49A8-84F0-8134582E61B9}"/>
              </a:ext>
            </a:extLst>
          </p:cNvPr>
          <p:cNvSpPr>
            <a:spLocks noGrp="1"/>
          </p:cNvSpPr>
          <p:nvPr>
            <p:ph type="title"/>
          </p:nvPr>
        </p:nvSpPr>
        <p:spPr>
          <a:xfrm>
            <a:off x="698090" y="190500"/>
            <a:ext cx="10363200" cy="1143000"/>
          </a:xfrm>
        </p:spPr>
        <p:txBody>
          <a:bodyPr/>
          <a:lstStyle/>
          <a:p>
            <a:endParaRPr lang="zh-CN" altLang="en-US" dirty="0"/>
          </a:p>
        </p:txBody>
      </p:sp>
      <p:sp>
        <p:nvSpPr>
          <p:cNvPr id="3" name="内容占位符 2">
            <a:extLst>
              <a:ext uri="{FF2B5EF4-FFF2-40B4-BE49-F238E27FC236}">
                <a16:creationId xmlns:a16="http://schemas.microsoft.com/office/drawing/2014/main" id="{E127382A-24E8-4A84-A987-7EBBE0529C7E}"/>
              </a:ext>
            </a:extLst>
          </p:cNvPr>
          <p:cNvSpPr>
            <a:spLocks noGrp="1"/>
          </p:cNvSpPr>
          <p:nvPr>
            <p:ph sz="half" idx="1"/>
          </p:nvPr>
        </p:nvSpPr>
        <p:spPr>
          <a:xfrm>
            <a:off x="127821" y="1514168"/>
            <a:ext cx="5692876" cy="5343832"/>
          </a:xfrm>
        </p:spPr>
        <p:txBody>
          <a:bodyPr>
            <a:normAutofit fontScale="85000" lnSpcReduction="10000"/>
          </a:bodyPr>
          <a:lstStyle/>
          <a:p>
            <a:pPr>
              <a:lnSpc>
                <a:spcPct val="120000"/>
              </a:lnSpc>
            </a:pPr>
            <a:r>
              <a:rPr lang="en-US" altLang="zh-CN" sz="3100" dirty="0"/>
              <a:t>2</a:t>
            </a:r>
            <a:r>
              <a:rPr lang="zh-CN" altLang="en-US" sz="3100" b="1" dirty="0"/>
              <a:t>，现代西方历史学家认为：</a:t>
            </a:r>
            <a:endParaRPr lang="en-US" altLang="zh-CN" sz="3100" b="1" dirty="0"/>
          </a:p>
          <a:p>
            <a:r>
              <a:rPr lang="zh-CN" altLang="en-US" b="1" dirty="0"/>
              <a:t>公元前</a:t>
            </a:r>
            <a:r>
              <a:rPr lang="en-US" altLang="zh-CN" b="1" dirty="0"/>
              <a:t>8-6</a:t>
            </a:r>
            <a:r>
              <a:rPr lang="zh-CN" altLang="en-US" b="1" dirty="0"/>
              <a:t>世纪，在希腊半岛及小亚细亚沿岸，出现了许多希腊人定居点。</a:t>
            </a:r>
            <a:endParaRPr lang="en-US" altLang="zh-CN" b="1" dirty="0"/>
          </a:p>
          <a:p>
            <a:r>
              <a:rPr lang="zh-CN" altLang="en-US" b="1" dirty="0"/>
              <a:t>古希腊人在腓尼基字母的基础上创造了希腊字母，古希腊人进入有史时代。</a:t>
            </a:r>
            <a:endParaRPr lang="en-US" altLang="zh-CN" b="1" dirty="0"/>
          </a:p>
          <a:p>
            <a:r>
              <a:rPr lang="zh-CN" altLang="en-US" b="1" dirty="0"/>
              <a:t>荷马史诗的传唱统一了古希腊人的民族认识，塑造了希腊文化，在哲学出现之前，成为古希腊人的主要教育方式。</a:t>
            </a:r>
            <a:endParaRPr lang="en-US" altLang="zh-CN" b="1" dirty="0"/>
          </a:p>
          <a:p>
            <a:r>
              <a:rPr lang="zh-CN" altLang="en-US" b="1" dirty="0"/>
              <a:t>古希腊人从荷马史诗中学习自身的历史与文化，学习如何处理个人与城邦、个人与神明的关系。</a:t>
            </a:r>
            <a:endParaRPr lang="en-US" altLang="zh-CN" b="1" dirty="0"/>
          </a:p>
          <a:p>
            <a:r>
              <a:rPr lang="zh-CN" altLang="en-US" b="1" dirty="0"/>
              <a:t>但由于荷马史诗的非道德性，它遭到了哲学家们的批评。</a:t>
            </a:r>
          </a:p>
          <a:p>
            <a:endParaRPr lang="en-US" altLang="zh-CN" dirty="0"/>
          </a:p>
          <a:p>
            <a:endParaRPr lang="zh-CN" altLang="en-US" dirty="0"/>
          </a:p>
        </p:txBody>
      </p:sp>
      <p:sp>
        <p:nvSpPr>
          <p:cNvPr id="4" name="内容占位符 3">
            <a:extLst>
              <a:ext uri="{FF2B5EF4-FFF2-40B4-BE49-F238E27FC236}">
                <a16:creationId xmlns:a16="http://schemas.microsoft.com/office/drawing/2014/main" id="{7713244F-8B2A-48B0-8488-C2D7A7BBB689}"/>
              </a:ext>
            </a:extLst>
          </p:cNvPr>
          <p:cNvSpPr>
            <a:spLocks noGrp="1"/>
          </p:cNvSpPr>
          <p:nvPr>
            <p:ph sz="half" idx="2"/>
          </p:nvPr>
        </p:nvSpPr>
        <p:spPr>
          <a:xfrm>
            <a:off x="6096001" y="1853381"/>
            <a:ext cx="5473438" cy="4596580"/>
          </a:xfrm>
        </p:spPr>
        <p:txBody>
          <a:bodyPr>
            <a:normAutofit fontScale="85000" lnSpcReduction="10000"/>
          </a:bodyPr>
          <a:lstStyle/>
          <a:p>
            <a:pPr marL="0" indent="0">
              <a:buNone/>
            </a:pPr>
            <a:endParaRPr lang="zh-CN" altLang="en-US" dirty="0"/>
          </a:p>
        </p:txBody>
      </p:sp>
      <p:pic>
        <p:nvPicPr>
          <p:cNvPr id="5" name="Picture 2">
            <a:extLst>
              <a:ext uri="{FF2B5EF4-FFF2-40B4-BE49-F238E27FC236}">
                <a16:creationId xmlns:a16="http://schemas.microsoft.com/office/drawing/2014/main" id="{026B9D28-206E-4F40-B192-8A986D1BA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0934" y="1514168"/>
            <a:ext cx="2824909" cy="1907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a:extLst>
              <a:ext uri="{FF2B5EF4-FFF2-40B4-BE49-F238E27FC236}">
                <a16:creationId xmlns:a16="http://schemas.microsoft.com/office/drawing/2014/main" id="{1633B453-D707-4361-BD66-9A81C77F3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8738" y="1465007"/>
            <a:ext cx="3353262" cy="44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528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2891" y="235974"/>
            <a:ext cx="10363200" cy="1143000"/>
          </a:xfrm>
        </p:spPr>
        <p:txBody>
          <a:bodyPr/>
          <a:lstStyle/>
          <a:p>
            <a:r>
              <a:rPr lang="zh-CN" altLang="en-US" dirty="0"/>
              <a:t>民主制的诞生</a:t>
            </a:r>
          </a:p>
        </p:txBody>
      </p:sp>
      <p:sp>
        <p:nvSpPr>
          <p:cNvPr id="3" name="Content Placeholder 2"/>
          <p:cNvSpPr>
            <a:spLocks noGrp="1"/>
          </p:cNvSpPr>
          <p:nvPr>
            <p:ph sz="half" idx="1"/>
          </p:nvPr>
        </p:nvSpPr>
        <p:spPr>
          <a:xfrm>
            <a:off x="507601" y="1752599"/>
            <a:ext cx="5008296" cy="5238135"/>
          </a:xfrm>
        </p:spPr>
        <p:txBody>
          <a:bodyPr>
            <a:normAutofit fontScale="70000" lnSpcReduction="20000"/>
          </a:bodyPr>
          <a:lstStyle/>
          <a:p>
            <a:r>
              <a:rPr lang="zh-CN" altLang="zh-CN" b="1" dirty="0"/>
              <a:t>公元前 </a:t>
            </a:r>
            <a:r>
              <a:rPr lang="en-US" altLang="zh-CN" b="1" dirty="0"/>
              <a:t>510</a:t>
            </a:r>
            <a:r>
              <a:rPr lang="zh-CN" altLang="zh-CN" b="1" dirty="0"/>
              <a:t>年， 克利斯提尼建立了民主制度（</a:t>
            </a:r>
            <a:r>
              <a:rPr lang="en-US" altLang="zh-CN" b="1" dirty="0"/>
              <a:t>Democracy</a:t>
            </a:r>
            <a:r>
              <a:rPr lang="zh-CN" altLang="zh-CN" b="1" dirty="0"/>
              <a:t>），实现了政治平等（</a:t>
            </a:r>
            <a:r>
              <a:rPr lang="en-US" altLang="zh-CN" b="1" dirty="0" err="1"/>
              <a:t>Isonomie</a:t>
            </a:r>
            <a:r>
              <a:rPr lang="zh-CN" altLang="zh-CN" b="1" dirty="0"/>
              <a:t>）</a:t>
            </a:r>
            <a:r>
              <a:rPr lang="en-US" altLang="zh-CN" b="1" dirty="0"/>
              <a:t>, </a:t>
            </a:r>
            <a:r>
              <a:rPr lang="zh-CN" altLang="zh-CN" b="1" dirty="0"/>
              <a:t>即以</a:t>
            </a:r>
            <a:r>
              <a:rPr lang="zh-CN" altLang="en-US" b="1" dirty="0"/>
              <a:t>地理</a:t>
            </a:r>
            <a:r>
              <a:rPr lang="zh-CN" altLang="zh-CN" b="1" dirty="0"/>
              <a:t>村落（</a:t>
            </a:r>
            <a:r>
              <a:rPr lang="en-US" altLang="zh-CN" b="1" dirty="0"/>
              <a:t>demos</a:t>
            </a:r>
            <a:r>
              <a:rPr lang="zh-CN" altLang="zh-CN" b="1" dirty="0"/>
              <a:t>）为单位分配选举权，氏族部落以外的男性公民按其居住地获得</a:t>
            </a:r>
            <a:r>
              <a:rPr lang="zh-CN" altLang="zh-CN" b="1" dirty="0">
                <a:solidFill>
                  <a:srgbClr val="FF0000"/>
                </a:solidFill>
              </a:rPr>
              <a:t>公民权</a:t>
            </a:r>
            <a:r>
              <a:rPr lang="zh-CN" altLang="zh-CN" b="1" dirty="0"/>
              <a:t>，改变了旧氏族部落才有公民权的状况。</a:t>
            </a:r>
            <a:r>
              <a:rPr lang="zh-CN" altLang="en-US" b="1" dirty="0"/>
              <a:t>这就是雅典民主制的开始。</a:t>
            </a:r>
            <a:endParaRPr lang="en-US" altLang="zh-CN" b="1" dirty="0"/>
          </a:p>
          <a:p>
            <a:r>
              <a:rPr lang="zh-CN" altLang="zh-CN" b="1" dirty="0"/>
              <a:t>每个村落选举出一定数目的代表，财产达到一定等级，共</a:t>
            </a:r>
            <a:r>
              <a:rPr lang="en-US" altLang="zh-CN" b="1" dirty="0"/>
              <a:t>500</a:t>
            </a:r>
            <a:r>
              <a:rPr lang="zh-CN" altLang="zh-CN" b="1" dirty="0"/>
              <a:t>人组成议事会，后来将军也由部落选举而出，这样公民就享有</a:t>
            </a:r>
            <a:r>
              <a:rPr lang="zh-CN" altLang="zh-CN" b="1" u="sng" dirty="0"/>
              <a:t>与贵族平等</a:t>
            </a:r>
            <a:r>
              <a:rPr lang="zh-CN" altLang="zh-CN" b="1" dirty="0"/>
              <a:t>的政治权利。</a:t>
            </a:r>
            <a:endParaRPr lang="en-US" altLang="zh-CN" b="1" dirty="0"/>
          </a:p>
          <a:p>
            <a:r>
              <a:rPr lang="zh-CN" altLang="en-US" b="1" dirty="0">
                <a:latin typeface="宋体" panose="02010600030101010101" pitchFamily="2" charset="-122"/>
                <a:ea typeface="宋体" panose="02010600030101010101" pitchFamily="2" charset="-122"/>
              </a:rPr>
              <a:t>“</a:t>
            </a:r>
            <a:r>
              <a:rPr lang="zh-CN" altLang="zh-CN" b="1" dirty="0">
                <a:latin typeface="宋体" panose="02010600030101010101" pitchFamily="2" charset="-122"/>
                <a:ea typeface="宋体" panose="02010600030101010101" pitchFamily="2" charset="-122"/>
              </a:rPr>
              <a:t>邦民普选权无需受财产限制，人人都有资格担任公职，九名雅典执政官（</a:t>
            </a:r>
            <a:r>
              <a:rPr lang="en-US" altLang="zh-CN" b="1" dirty="0">
                <a:latin typeface="宋体" panose="02010600030101010101" pitchFamily="2" charset="-122"/>
                <a:ea typeface="宋体" panose="02010600030101010101" pitchFamily="2" charset="-122"/>
              </a:rPr>
              <a:t>archons</a:t>
            </a:r>
            <a:r>
              <a:rPr lang="zh-CN" altLang="zh-CN" b="1" dirty="0">
                <a:latin typeface="宋体" panose="02010600030101010101" pitchFamily="2" charset="-122"/>
                <a:ea typeface="宋体" panose="02010600030101010101" pitchFamily="2" charset="-122"/>
              </a:rPr>
              <a:t>）是名义上的“掌权者”，他们是从全体公民抽签选出的候选人中选出，监管宗教节日和公共礼节。</a:t>
            </a:r>
            <a:r>
              <a:rPr lang="zh-CN" altLang="en-US" b="1" dirty="0">
                <a:latin typeface="宋体" panose="02010600030101010101" pitchFamily="2" charset="-122"/>
                <a:ea typeface="宋体" panose="02010600030101010101" pitchFamily="2" charset="-122"/>
              </a:rPr>
              <a:t>”</a:t>
            </a:r>
            <a:endParaRPr lang="en-US" altLang="zh-CN" b="1" dirty="0"/>
          </a:p>
          <a:p>
            <a:endParaRPr lang="zh-CN" altLang="zh-CN" dirty="0"/>
          </a:p>
        </p:txBody>
      </p:sp>
      <p:sp>
        <p:nvSpPr>
          <p:cNvPr id="4" name="Content Placeholder 3"/>
          <p:cNvSpPr>
            <a:spLocks noGrp="1"/>
          </p:cNvSpPr>
          <p:nvPr>
            <p:ph sz="half" idx="2"/>
          </p:nvPr>
        </p:nvSpPr>
        <p:spPr>
          <a:xfrm>
            <a:off x="6115665" y="1752599"/>
            <a:ext cx="5329084" cy="4988400"/>
          </a:xfrm>
        </p:spPr>
        <p:txBody>
          <a:bodyPr>
            <a:normAutofit fontScale="70000" lnSpcReduction="20000"/>
          </a:bodyPr>
          <a:lstStyle/>
          <a:p>
            <a:r>
              <a:rPr lang="zh-CN" altLang="en-US"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真正的行政权力属于十将军委员会，他们被选出来与</a:t>
            </a:r>
            <a:r>
              <a:rPr lang="en-US" altLang="zh-CN" sz="2800" b="1" dirty="0">
                <a:latin typeface="宋体" panose="02010600030101010101" pitchFamily="2" charset="-122"/>
                <a:ea typeface="宋体" panose="02010600030101010101" pitchFamily="2" charset="-122"/>
              </a:rPr>
              <a:t>500</a:t>
            </a:r>
            <a:r>
              <a:rPr lang="zh-CN" altLang="zh-CN" sz="2800" b="1" dirty="0">
                <a:latin typeface="宋体" panose="02010600030101010101" pitchFamily="2" charset="-122"/>
                <a:ea typeface="宋体" panose="02010600030101010101" pitchFamily="2" charset="-122"/>
              </a:rPr>
              <a:t>人议事会一起工作，作为公民大会的委员会。</a:t>
            </a:r>
            <a:r>
              <a:rPr lang="en-US" altLang="zh-CN" sz="2800" b="1" dirty="0">
                <a:latin typeface="宋体" panose="02010600030101010101" pitchFamily="2" charset="-122"/>
                <a:ea typeface="宋体" panose="02010600030101010101" pitchFamily="2" charset="-122"/>
              </a:rPr>
              <a:t>500</a:t>
            </a:r>
            <a:r>
              <a:rPr lang="zh-CN" altLang="zh-CN" sz="2800" b="1" dirty="0">
                <a:latin typeface="宋体" panose="02010600030101010101" pitchFamily="2" charset="-122"/>
                <a:ea typeface="宋体" panose="02010600030101010101" pitchFamily="2" charset="-122"/>
              </a:rPr>
              <a:t>人议事会由选举和抓阄的混合方式产生，负责以合适的形式制定解决问题的方案以便提交给公民大会，又作为固定的管理机构，以应对雅典当下的政治需要</a:t>
            </a:r>
            <a:r>
              <a:rPr lang="zh-CN" altLang="en-US"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其中一位将军居于领导地位。</a:t>
            </a:r>
            <a:r>
              <a:rPr lang="zh-CN" altLang="en-US"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伪</a:t>
            </a:r>
            <a:r>
              <a:rPr lang="zh-CN" altLang="zh-CN" b="1" dirty="0">
                <a:latin typeface="宋体" panose="02010600030101010101" pitchFamily="2" charset="-122"/>
                <a:ea typeface="宋体" panose="02010600030101010101" pitchFamily="2" charset="-122"/>
              </a:rPr>
              <a:t>亚里士多德《雅典政制》</a:t>
            </a:r>
            <a:r>
              <a:rPr lang="en-US" altLang="zh-CN" sz="2800" b="1" dirty="0">
                <a:latin typeface="宋体" panose="02010600030101010101" pitchFamily="2" charset="-122"/>
                <a:ea typeface="宋体" panose="02010600030101010101" pitchFamily="2" charset="-122"/>
              </a:rPr>
              <a:t>XLIII.3-4</a:t>
            </a:r>
            <a:r>
              <a:rPr lang="zh-CN" altLang="zh-CN" sz="2800" b="1" dirty="0">
                <a:latin typeface="宋体" panose="02010600030101010101" pitchFamily="2" charset="-122"/>
                <a:ea typeface="宋体" panose="02010600030101010101" pitchFamily="2" charset="-122"/>
              </a:rPr>
              <a:t>）</a:t>
            </a:r>
          </a:p>
          <a:p>
            <a:pPr lvl="0"/>
            <a:r>
              <a:rPr lang="zh-CN" altLang="en-US" b="1" dirty="0"/>
              <a:t>公民大会约</a:t>
            </a:r>
            <a:r>
              <a:rPr lang="en-US" altLang="zh-CN" b="1" dirty="0"/>
              <a:t>6000</a:t>
            </a:r>
            <a:r>
              <a:rPr lang="zh-CN" altLang="en-US" b="1" dirty="0"/>
              <a:t>人投票对城邦事务作出决议，每年约</a:t>
            </a:r>
            <a:r>
              <a:rPr lang="en-US" altLang="zh-CN" b="1" dirty="0"/>
              <a:t>40</a:t>
            </a:r>
            <a:r>
              <a:rPr lang="zh-CN" altLang="en-US" b="1" dirty="0"/>
              <a:t>次。</a:t>
            </a:r>
            <a:endParaRPr lang="en-US" altLang="zh-CN" b="1" dirty="0"/>
          </a:p>
          <a:p>
            <a:r>
              <a:rPr lang="zh-CN" altLang="en-US" b="1" dirty="0"/>
              <a:t>城邦按公民登记征兵，武力得到极大增强。史家认为，重装步兵地位的提高是民主制得以产生和延续的重要原因。</a:t>
            </a:r>
            <a:endParaRPr lang="en-US" altLang="zh-CN" b="1" dirty="0"/>
          </a:p>
          <a:p>
            <a:pPr lvl="0"/>
            <a:r>
              <a:rPr lang="zh-CN" altLang="en-US" b="1" dirty="0"/>
              <a:t>伯里克利时期，</a:t>
            </a:r>
            <a:r>
              <a:rPr lang="zh-CN" altLang="zh-CN" b="1" dirty="0"/>
              <a:t>民主制允许移民到其他邻国的人保留雅典公民权，这进一步促进了军事殖民活动。</a:t>
            </a:r>
            <a:endParaRPr lang="zh-CN" altLang="zh-CN" dirty="0"/>
          </a:p>
          <a:p>
            <a:r>
              <a:rPr lang="en-US" altLang="zh-CN" dirty="0"/>
              <a:t> </a:t>
            </a:r>
            <a:endParaRPr lang="zh-CN" altLang="zh-CN" dirty="0"/>
          </a:p>
          <a:p>
            <a:endParaRPr lang="zh-CN" altLang="en-US" dirty="0"/>
          </a:p>
        </p:txBody>
      </p:sp>
    </p:spTree>
    <p:extLst>
      <p:ext uri="{BB962C8B-B14F-4D97-AF65-F5344CB8AC3E}">
        <p14:creationId xmlns:p14="http://schemas.microsoft.com/office/powerpoint/2010/main" val="284400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4C3CB6A-ADC2-4E19-944E-CE53FF1F7890}"/>
              </a:ext>
            </a:extLst>
          </p:cNvPr>
          <p:cNvSpPr>
            <a:spLocks noGrp="1"/>
          </p:cNvSpPr>
          <p:nvPr>
            <p:ph sz="half" idx="1"/>
          </p:nvPr>
        </p:nvSpPr>
        <p:spPr>
          <a:xfrm>
            <a:off x="87688" y="1758108"/>
            <a:ext cx="2174738" cy="4937659"/>
          </a:xfrm>
        </p:spPr>
        <p:txBody>
          <a:bodyPr>
            <a:normAutofit fontScale="47500" lnSpcReduction="20000"/>
          </a:bodyPr>
          <a:lstStyle/>
          <a:p>
            <a:r>
              <a:rPr lang="zh-CN" altLang="en-US" sz="4200" b="1" dirty="0"/>
              <a:t>“地生人”（</a:t>
            </a:r>
            <a:r>
              <a:rPr lang="en-US" altLang="zh-CN" sz="4200" b="1" dirty="0"/>
              <a:t>autochthony</a:t>
            </a:r>
            <a:r>
              <a:rPr lang="zh-CN" altLang="en-US" sz="4200" b="1" dirty="0"/>
              <a:t>）神话</a:t>
            </a:r>
            <a:r>
              <a:rPr lang="en-US" altLang="zh-CN" sz="4200" b="1" dirty="0"/>
              <a:t>,</a:t>
            </a:r>
            <a:r>
              <a:rPr lang="zh-CN" altLang="en-US" sz="4200" b="1" dirty="0"/>
              <a:t>塑造了希腊人自己作为希腊本土居民的合法身份。</a:t>
            </a:r>
            <a:endParaRPr lang="en-US" altLang="zh-CN" sz="4200" b="1" dirty="0"/>
          </a:p>
          <a:p>
            <a:endParaRPr lang="en-US" altLang="zh-CN" sz="4200" dirty="0"/>
          </a:p>
          <a:p>
            <a:endParaRPr lang="en-US" altLang="zh-CN" sz="4200" dirty="0"/>
          </a:p>
          <a:p>
            <a:endParaRPr lang="en-US" altLang="zh-CN" sz="4200" dirty="0"/>
          </a:p>
          <a:p>
            <a:r>
              <a:rPr lang="zh-CN" altLang="en-US" sz="4200" b="1" dirty="0"/>
              <a:t>斯巴达政制由掌握政治权力的斯巴达人对沦为奴隶的原住民希洛人的统治。</a:t>
            </a:r>
            <a:endParaRPr lang="en-US" altLang="zh-CN" sz="4200" b="1" dirty="0"/>
          </a:p>
          <a:p>
            <a:endParaRPr lang="en-US" altLang="zh-CN" dirty="0"/>
          </a:p>
        </p:txBody>
      </p:sp>
      <p:sp>
        <p:nvSpPr>
          <p:cNvPr id="4" name="内容占位符 3">
            <a:extLst>
              <a:ext uri="{FF2B5EF4-FFF2-40B4-BE49-F238E27FC236}">
                <a16:creationId xmlns:a16="http://schemas.microsoft.com/office/drawing/2014/main" id="{C714E929-5F24-462E-9E7C-4FCAB34B99B4}"/>
              </a:ext>
            </a:extLst>
          </p:cNvPr>
          <p:cNvSpPr>
            <a:spLocks noGrp="1"/>
          </p:cNvSpPr>
          <p:nvPr>
            <p:ph sz="half" idx="2"/>
          </p:nvPr>
        </p:nvSpPr>
        <p:spPr>
          <a:xfrm>
            <a:off x="10039149" y="1869600"/>
            <a:ext cx="2021306" cy="4937659"/>
          </a:xfrm>
        </p:spPr>
        <p:txBody>
          <a:bodyPr>
            <a:normAutofit fontScale="47500" lnSpcReduction="20000"/>
          </a:bodyPr>
          <a:lstStyle/>
          <a:p>
            <a:r>
              <a:rPr lang="en-US" altLang="zh-CN" sz="4200" b="1" dirty="0"/>
              <a:t>《</a:t>
            </a:r>
            <a:r>
              <a:rPr lang="zh-CN" altLang="en-US" sz="4200" b="1" dirty="0"/>
              <a:t>荷马史诗</a:t>
            </a:r>
            <a:r>
              <a:rPr lang="en-US" altLang="zh-CN" sz="4200" b="1" dirty="0"/>
              <a:t>》</a:t>
            </a:r>
            <a:r>
              <a:rPr lang="zh-CN" altLang="en-US" sz="4200" b="1" dirty="0"/>
              <a:t>中特洛伊战争是希腊联邦对希腊人殖民地的侵略和掠夺。</a:t>
            </a:r>
            <a:endParaRPr lang="en-US" altLang="zh-CN" sz="4200" b="1" dirty="0"/>
          </a:p>
          <a:p>
            <a:endParaRPr lang="en-US" altLang="zh-CN" sz="4200" b="1" dirty="0"/>
          </a:p>
          <a:p>
            <a:endParaRPr lang="en-US" altLang="zh-CN" sz="4200" dirty="0"/>
          </a:p>
          <a:p>
            <a:endParaRPr lang="en-US" altLang="zh-CN" sz="4200" dirty="0"/>
          </a:p>
          <a:p>
            <a:endParaRPr lang="en-US" altLang="zh-CN" sz="4200" dirty="0"/>
          </a:p>
          <a:p>
            <a:r>
              <a:rPr lang="zh-CN" altLang="en-US" sz="4200" b="1" dirty="0"/>
              <a:t>欧里庇德斯悲剧</a:t>
            </a:r>
            <a:r>
              <a:rPr lang="en-US" altLang="zh-CN" sz="4200" b="1" dirty="0"/>
              <a:t>《</a:t>
            </a:r>
            <a:r>
              <a:rPr lang="zh-CN" altLang="en-US" sz="4200" b="1" dirty="0"/>
              <a:t>特洛伊妇女</a:t>
            </a:r>
            <a:r>
              <a:rPr lang="en-US" altLang="zh-CN" sz="4200" b="1" dirty="0"/>
              <a:t>》</a:t>
            </a:r>
            <a:r>
              <a:rPr lang="zh-CN" altLang="en-US" sz="4200" b="1" dirty="0"/>
              <a:t>表现了特洛伊城破后妇女们被掠卖为奴的惨状。</a:t>
            </a:r>
          </a:p>
          <a:p>
            <a:endParaRPr lang="zh-CN" altLang="en-US" dirty="0"/>
          </a:p>
        </p:txBody>
      </p:sp>
      <p:pic>
        <p:nvPicPr>
          <p:cNvPr id="5" name="图片 4">
            <a:extLst>
              <a:ext uri="{FF2B5EF4-FFF2-40B4-BE49-F238E27FC236}">
                <a16:creationId xmlns:a16="http://schemas.microsoft.com/office/drawing/2014/main" id="{4C6F8118-F621-4040-B54F-F7C5F5971772}"/>
              </a:ext>
            </a:extLst>
          </p:cNvPr>
          <p:cNvPicPr>
            <a:picLocks noChangeAspect="1"/>
          </p:cNvPicPr>
          <p:nvPr/>
        </p:nvPicPr>
        <p:blipFill>
          <a:blip r:embed="rId2"/>
          <a:stretch>
            <a:fillRect/>
          </a:stretch>
        </p:blipFill>
        <p:spPr>
          <a:xfrm>
            <a:off x="6212698" y="1758109"/>
            <a:ext cx="3789456" cy="2347113"/>
          </a:xfrm>
          <a:prstGeom prst="rect">
            <a:avLst/>
          </a:prstGeom>
        </p:spPr>
      </p:pic>
      <p:pic>
        <p:nvPicPr>
          <p:cNvPr id="7" name="图片 6">
            <a:extLst>
              <a:ext uri="{FF2B5EF4-FFF2-40B4-BE49-F238E27FC236}">
                <a16:creationId xmlns:a16="http://schemas.microsoft.com/office/drawing/2014/main" id="{5E03DCDF-28B5-497E-9A1F-373F7C491D4E}"/>
              </a:ext>
            </a:extLst>
          </p:cNvPr>
          <p:cNvPicPr>
            <a:picLocks noChangeAspect="1"/>
          </p:cNvPicPr>
          <p:nvPr/>
        </p:nvPicPr>
        <p:blipFill>
          <a:blip r:embed="rId3"/>
          <a:stretch>
            <a:fillRect/>
          </a:stretch>
        </p:blipFill>
        <p:spPr>
          <a:xfrm>
            <a:off x="2501071" y="4159203"/>
            <a:ext cx="3271085" cy="2453313"/>
          </a:xfrm>
          <a:prstGeom prst="rect">
            <a:avLst/>
          </a:prstGeom>
        </p:spPr>
      </p:pic>
      <p:pic>
        <p:nvPicPr>
          <p:cNvPr id="8" name="图片 7">
            <a:extLst>
              <a:ext uri="{FF2B5EF4-FFF2-40B4-BE49-F238E27FC236}">
                <a16:creationId xmlns:a16="http://schemas.microsoft.com/office/drawing/2014/main" id="{DB052B44-3467-4A1D-A5FA-1B035D092816}"/>
              </a:ext>
            </a:extLst>
          </p:cNvPr>
          <p:cNvPicPr>
            <a:picLocks noChangeAspect="1"/>
          </p:cNvPicPr>
          <p:nvPr/>
        </p:nvPicPr>
        <p:blipFill>
          <a:blip r:embed="rId4"/>
          <a:stretch>
            <a:fillRect/>
          </a:stretch>
        </p:blipFill>
        <p:spPr>
          <a:xfrm>
            <a:off x="2560319" y="1743624"/>
            <a:ext cx="3161783" cy="2086777"/>
          </a:xfrm>
          <a:prstGeom prst="rect">
            <a:avLst/>
          </a:prstGeom>
        </p:spPr>
      </p:pic>
      <p:sp>
        <p:nvSpPr>
          <p:cNvPr id="9" name="文本框 8">
            <a:extLst>
              <a:ext uri="{FF2B5EF4-FFF2-40B4-BE49-F238E27FC236}">
                <a16:creationId xmlns:a16="http://schemas.microsoft.com/office/drawing/2014/main" id="{0F6030D1-B3F7-423C-B746-DFBD4454644A}"/>
              </a:ext>
            </a:extLst>
          </p:cNvPr>
          <p:cNvSpPr txBox="1"/>
          <p:nvPr/>
        </p:nvSpPr>
        <p:spPr>
          <a:xfrm>
            <a:off x="717755" y="776748"/>
            <a:ext cx="8769226" cy="461665"/>
          </a:xfrm>
          <a:prstGeom prst="rect">
            <a:avLst/>
          </a:prstGeom>
          <a:noFill/>
        </p:spPr>
        <p:txBody>
          <a:bodyPr wrap="square" rtlCol="0">
            <a:spAutoFit/>
          </a:bodyPr>
          <a:lstStyle/>
          <a:p>
            <a:r>
              <a:rPr lang="zh-CN" altLang="en-US" sz="2400" b="1" dirty="0"/>
              <a:t>古希腊神话、悲剧、政制等各方面均表现出殖民文化特征</a:t>
            </a:r>
          </a:p>
        </p:txBody>
      </p:sp>
      <p:pic>
        <p:nvPicPr>
          <p:cNvPr id="10" name="图片 9">
            <a:extLst>
              <a:ext uri="{FF2B5EF4-FFF2-40B4-BE49-F238E27FC236}">
                <a16:creationId xmlns:a16="http://schemas.microsoft.com/office/drawing/2014/main" id="{F9E1452F-A7FD-4A56-9118-0919B5187479}"/>
              </a:ext>
            </a:extLst>
          </p:cNvPr>
          <p:cNvPicPr>
            <a:picLocks noChangeAspect="1"/>
          </p:cNvPicPr>
          <p:nvPr/>
        </p:nvPicPr>
        <p:blipFill>
          <a:blip r:embed="rId5"/>
          <a:stretch>
            <a:fillRect/>
          </a:stretch>
        </p:blipFill>
        <p:spPr>
          <a:xfrm>
            <a:off x="6414347" y="4352256"/>
            <a:ext cx="3386157" cy="2260260"/>
          </a:xfrm>
          <a:prstGeom prst="rect">
            <a:avLst/>
          </a:prstGeom>
        </p:spPr>
      </p:pic>
    </p:spTree>
    <p:extLst>
      <p:ext uri="{BB962C8B-B14F-4D97-AF65-F5344CB8AC3E}">
        <p14:creationId xmlns:p14="http://schemas.microsoft.com/office/powerpoint/2010/main" val="2586708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593" y="265471"/>
            <a:ext cx="10363200" cy="1143000"/>
          </a:xfrm>
        </p:spPr>
        <p:txBody>
          <a:bodyPr/>
          <a:lstStyle/>
          <a:p>
            <a:pPr algn="l"/>
            <a:r>
              <a:rPr lang="zh-CN" altLang="en-US" dirty="0"/>
              <a:t>雅典帝国的形成及其衰亡</a:t>
            </a:r>
          </a:p>
        </p:txBody>
      </p:sp>
      <p:sp>
        <p:nvSpPr>
          <p:cNvPr id="3" name="Content Placeholder 2"/>
          <p:cNvSpPr>
            <a:spLocks noGrp="1"/>
          </p:cNvSpPr>
          <p:nvPr>
            <p:ph sz="half" idx="1"/>
          </p:nvPr>
        </p:nvSpPr>
        <p:spPr>
          <a:xfrm>
            <a:off x="297676" y="1519084"/>
            <a:ext cx="5552517" cy="4114800"/>
          </a:xfrm>
        </p:spPr>
        <p:txBody>
          <a:bodyPr/>
          <a:lstStyle/>
          <a:p>
            <a:r>
              <a:rPr lang="zh-CN" altLang="en-US" sz="2400" b="1" dirty="0"/>
              <a:t>据西方历史记载，公元前</a:t>
            </a:r>
            <a:r>
              <a:rPr lang="en-US" altLang="zh-CN" sz="2400" b="1" dirty="0"/>
              <a:t>500</a:t>
            </a:r>
            <a:r>
              <a:rPr lang="zh-CN" altLang="en-US" sz="2400" b="1" dirty="0"/>
              <a:t>年，伊奥尼亚城邦米利都拒绝向波斯帝国纳贡被而征讨，雅典因援助伊奥尼亚，遭到大流士和薛西斯的入侵（前</a:t>
            </a:r>
            <a:r>
              <a:rPr lang="en-US" altLang="zh-CN" sz="2400" b="1" dirty="0"/>
              <a:t>492-479</a:t>
            </a:r>
            <a:r>
              <a:rPr lang="zh-CN" altLang="en-US" sz="2400" b="1" dirty="0"/>
              <a:t>），在萨米拉海战胜利后，雅典意识到建立常备海军的重要性，于是在前</a:t>
            </a:r>
            <a:r>
              <a:rPr lang="en-US" altLang="zh-CN" sz="2400" b="1" dirty="0"/>
              <a:t>478</a:t>
            </a:r>
            <a:r>
              <a:rPr lang="zh-CN" altLang="en-US" sz="2400" b="1" dirty="0"/>
              <a:t>年联合希腊各邦建立提洛同盟并获得领导权，效仿波斯帝国，要求各城邦缴纳金钱或提供装备等以获得保护，后演变为盟邦不得退出并被强迫纳贡。</a:t>
            </a:r>
            <a:endParaRPr lang="en-US" altLang="zh-CN" sz="2400" b="1" dirty="0"/>
          </a:p>
          <a:p>
            <a:r>
              <a:rPr lang="zh-CN" altLang="en-US" sz="2400" b="1" dirty="0"/>
              <a:t>雅典用希腊各邦的钱建设了军队、建设了雅典城邦，西史称为雅典帝国的时代由此开启。</a:t>
            </a:r>
            <a:endParaRPr lang="en-US" altLang="zh-CN" sz="2400" b="1" dirty="0"/>
          </a:p>
        </p:txBody>
      </p:sp>
      <p:sp>
        <p:nvSpPr>
          <p:cNvPr id="4" name="Content Placeholder 3"/>
          <p:cNvSpPr>
            <a:spLocks noGrp="1"/>
          </p:cNvSpPr>
          <p:nvPr>
            <p:ph sz="half" idx="2"/>
          </p:nvPr>
        </p:nvSpPr>
        <p:spPr>
          <a:xfrm>
            <a:off x="6233651" y="1587910"/>
            <a:ext cx="5093110" cy="4434348"/>
          </a:xfrm>
        </p:spPr>
        <p:txBody>
          <a:bodyPr/>
          <a:lstStyle/>
          <a:p>
            <a:r>
              <a:rPr lang="zh-CN" altLang="en-US" sz="2400" b="1" dirty="0"/>
              <a:t>雅典的政治、经济、文化得到大发展，希腊各城邦的杰出学者纷纷来到雅典，创建了雅典的“黄金时代”。</a:t>
            </a:r>
          </a:p>
          <a:p>
            <a:r>
              <a:rPr lang="zh-CN" altLang="en-US" sz="2400" b="1" dirty="0"/>
              <a:t>但是，为摆脱雅典的压榨和统治，希腊许多城邦建立了斯巴达联盟，前</a:t>
            </a:r>
            <a:r>
              <a:rPr lang="en-US" altLang="zh-CN" sz="2400" b="1" dirty="0"/>
              <a:t>431</a:t>
            </a:r>
            <a:r>
              <a:rPr lang="zh-CN" altLang="en-US" sz="2400" b="1" dirty="0"/>
              <a:t>年爆发了伯罗奔尼撒战争。前</a:t>
            </a:r>
            <a:r>
              <a:rPr lang="en-US" altLang="zh-CN" sz="2400" b="1" dirty="0"/>
              <a:t>401</a:t>
            </a:r>
            <a:r>
              <a:rPr lang="zh-CN" altLang="en-US" sz="2400" b="1" dirty="0"/>
              <a:t>年雅典战败。</a:t>
            </a:r>
            <a:endParaRPr lang="zh-CN" altLang="en-US" sz="2400" dirty="0"/>
          </a:p>
          <a:p>
            <a:r>
              <a:rPr lang="zh-CN" altLang="en-US" sz="2400" b="1" dirty="0"/>
              <a:t>前</a:t>
            </a:r>
            <a:r>
              <a:rPr lang="en-US" altLang="zh-CN" sz="2400" b="1" dirty="0"/>
              <a:t>378</a:t>
            </a:r>
            <a:r>
              <a:rPr lang="zh-CN" altLang="en-US" sz="2400" b="1" dirty="0"/>
              <a:t>年，雅典在与波斯和斯巴达博弈的过程中建立了第二次雅典同盟，试图重建雅典帝国，持续与斯巴达作战，直到马其顿帝国兴起。</a:t>
            </a:r>
            <a:endParaRPr lang="en-US" altLang="zh-CN" sz="2400" b="1" dirty="0"/>
          </a:p>
          <a:p>
            <a:endParaRPr lang="zh-CN" altLang="en-US" dirty="0"/>
          </a:p>
        </p:txBody>
      </p:sp>
    </p:spTree>
    <p:extLst>
      <p:ext uri="{BB962C8B-B14F-4D97-AF65-F5344CB8AC3E}">
        <p14:creationId xmlns:p14="http://schemas.microsoft.com/office/powerpoint/2010/main" val="2738270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787" y="-27166"/>
            <a:ext cx="10363200" cy="1143000"/>
          </a:xfrm>
        </p:spPr>
        <p:txBody>
          <a:bodyPr/>
          <a:lstStyle/>
          <a:p>
            <a:pPr algn="l"/>
            <a:r>
              <a:rPr lang="zh-CN" altLang="en-US" dirty="0"/>
              <a:t>雅典帝国的兴亡</a:t>
            </a:r>
          </a:p>
        </p:txBody>
      </p:sp>
      <p:sp>
        <p:nvSpPr>
          <p:cNvPr id="3" name="Content Placeholder 2"/>
          <p:cNvSpPr>
            <a:spLocks noGrp="1"/>
          </p:cNvSpPr>
          <p:nvPr>
            <p:ph sz="half" idx="1"/>
          </p:nvPr>
        </p:nvSpPr>
        <p:spPr>
          <a:xfrm>
            <a:off x="586854" y="1838631"/>
            <a:ext cx="5774618" cy="4621163"/>
          </a:xfrm>
        </p:spPr>
        <p:txBody>
          <a:bodyPr>
            <a:normAutofit/>
          </a:bodyPr>
          <a:lstStyle/>
          <a:p>
            <a:endParaRPr lang="en-US" altLang="zh-CN" dirty="0"/>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369" y="933936"/>
            <a:ext cx="8009915" cy="5958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内容占位符 3">
            <a:extLst>
              <a:ext uri="{FF2B5EF4-FFF2-40B4-BE49-F238E27FC236}">
                <a16:creationId xmlns:a16="http://schemas.microsoft.com/office/drawing/2014/main" id="{46545A60-5740-4836-9368-C242BCACFA17}"/>
              </a:ext>
            </a:extLst>
          </p:cNvPr>
          <p:cNvSpPr>
            <a:spLocks noGrp="1"/>
          </p:cNvSpPr>
          <p:nvPr>
            <p:ph sz="half" idx="2"/>
          </p:nvPr>
        </p:nvSpPr>
        <p:spPr>
          <a:xfrm>
            <a:off x="6883103" y="4063362"/>
            <a:ext cx="5181600" cy="2487563"/>
          </a:xfrm>
        </p:spPr>
        <p:txBody>
          <a:bodyPr/>
          <a:lstStyle/>
          <a:p>
            <a:endParaRPr lang="zh-CN" altLang="en-US" dirty="0"/>
          </a:p>
        </p:txBody>
      </p:sp>
    </p:spTree>
    <p:extLst>
      <p:ext uri="{BB962C8B-B14F-4D97-AF65-F5344CB8AC3E}">
        <p14:creationId xmlns:p14="http://schemas.microsoft.com/office/powerpoint/2010/main" val="57062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randombar(horizontal)">
                                      <p:cBhvr>
                                        <p:cTn id="1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90736-340C-4AB3-8660-2047CFB4E392}"/>
              </a:ext>
            </a:extLst>
          </p:cNvPr>
          <p:cNvSpPr>
            <a:spLocks noGrp="1"/>
          </p:cNvSpPr>
          <p:nvPr>
            <p:ph type="title"/>
          </p:nvPr>
        </p:nvSpPr>
        <p:spPr>
          <a:xfrm>
            <a:off x="914400" y="265471"/>
            <a:ext cx="10363200" cy="1143000"/>
          </a:xfrm>
        </p:spPr>
        <p:txBody>
          <a:bodyPr/>
          <a:lstStyle/>
          <a:p>
            <a:r>
              <a:rPr lang="zh-CN" altLang="en-US" dirty="0"/>
              <a:t>古希腊民主意识形态</a:t>
            </a:r>
          </a:p>
        </p:txBody>
      </p:sp>
      <p:sp>
        <p:nvSpPr>
          <p:cNvPr id="3" name="内容占位符 2">
            <a:extLst>
              <a:ext uri="{FF2B5EF4-FFF2-40B4-BE49-F238E27FC236}">
                <a16:creationId xmlns:a16="http://schemas.microsoft.com/office/drawing/2014/main" id="{0A554C30-5CCE-40CE-824D-6514FF3EAD35}"/>
              </a:ext>
            </a:extLst>
          </p:cNvPr>
          <p:cNvSpPr>
            <a:spLocks noGrp="1"/>
          </p:cNvSpPr>
          <p:nvPr>
            <p:ph sz="half" idx="1"/>
          </p:nvPr>
        </p:nvSpPr>
        <p:spPr>
          <a:xfrm>
            <a:off x="554468" y="1408471"/>
            <a:ext cx="5462873" cy="4526015"/>
          </a:xfrm>
        </p:spPr>
        <p:txBody>
          <a:bodyPr>
            <a:noAutofit/>
          </a:bodyPr>
          <a:lstStyle/>
          <a:p>
            <a:pPr>
              <a:lnSpc>
                <a:spcPct val="120000"/>
              </a:lnSpc>
            </a:pPr>
            <a:r>
              <a:rPr lang="zh-CN" altLang="en-US" sz="2200" b="1" dirty="0">
                <a:latin typeface="宋体" panose="02010600030101010101" pitchFamily="2" charset="-122"/>
                <a:ea typeface="宋体" panose="02010600030101010101" pitchFamily="2" charset="-122"/>
              </a:rPr>
              <a:t>雅典形成了一种“民主制优越”的意识形态：</a:t>
            </a:r>
            <a:endParaRPr lang="en-US" altLang="zh-CN" sz="2200" b="1" dirty="0">
              <a:latin typeface="宋体" panose="02010600030101010101" pitchFamily="2" charset="-122"/>
              <a:ea typeface="宋体" panose="02010600030101010101" pitchFamily="2" charset="-122"/>
            </a:endParaRPr>
          </a:p>
          <a:p>
            <a:pPr>
              <a:lnSpc>
                <a:spcPct val="120000"/>
              </a:lnSpc>
            </a:pPr>
            <a:r>
              <a:rPr lang="zh-CN" altLang="en-US" sz="2200" b="1" dirty="0">
                <a:latin typeface="宋体" panose="02010600030101010101" pitchFamily="2" charset="-122"/>
                <a:ea typeface="宋体" panose="02010600030101010101" pitchFamily="2" charset="-122"/>
              </a:rPr>
              <a:t>“显然，民主制度不仅在单一方面，而是在所有领域都展现其优越性。当雅典人处于僭主统治之时，他们在战争中并不比任何邻邦出色；但一旦摆脱僭主（便立即跃居诸邦之首。这证明当其被压制时他们表现得怯懦</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因那时不过是为主子</a:t>
            </a:r>
            <a:r>
              <a:rPr lang="el-GR" altLang="zh-CN" sz="2200" b="1" dirty="0">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卖命；而获得自由后人人都热切地为自身利益奋斗。”（希罗多德</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历史</a:t>
            </a:r>
            <a:r>
              <a:rPr lang="en-US" altLang="zh-CN" sz="2200" b="1" dirty="0">
                <a:latin typeface="宋体" panose="02010600030101010101" pitchFamily="2" charset="-122"/>
                <a:ea typeface="宋体" panose="02010600030101010101" pitchFamily="2" charset="-122"/>
              </a:rPr>
              <a:t>》5.78</a:t>
            </a:r>
            <a:r>
              <a:rPr lang="zh-CN" altLang="en-US"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4" name="内容占位符 3">
            <a:extLst>
              <a:ext uri="{FF2B5EF4-FFF2-40B4-BE49-F238E27FC236}">
                <a16:creationId xmlns:a16="http://schemas.microsoft.com/office/drawing/2014/main" id="{5DB39CE1-440E-43A7-8450-66C79BDC7D80}"/>
              </a:ext>
            </a:extLst>
          </p:cNvPr>
          <p:cNvSpPr>
            <a:spLocks noGrp="1"/>
          </p:cNvSpPr>
          <p:nvPr>
            <p:ph sz="half" idx="2"/>
          </p:nvPr>
        </p:nvSpPr>
        <p:spPr>
          <a:xfrm>
            <a:off x="6367441" y="1408471"/>
            <a:ext cx="5181600" cy="5032375"/>
          </a:xfrm>
        </p:spPr>
        <p:txBody>
          <a:bodyPr>
            <a:normAutofit fontScale="92500" lnSpcReduction="10000"/>
          </a:bodyPr>
          <a:lstStyle/>
          <a:p>
            <a:r>
              <a:rPr lang="zh-CN" altLang="en-US" sz="2400" b="1" dirty="0">
                <a:latin typeface="宋体" panose="02010600030101010101" pitchFamily="2" charset="-122"/>
                <a:ea typeface="宋体" panose="02010600030101010101" pitchFamily="2" charset="-122"/>
              </a:rPr>
              <a:t>“无论在何处，若人们无法掌控自身事务亦不能自治</a:t>
            </a:r>
            <a:r>
              <a:rPr lang="zh-CN" altLang="el-GR"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反受主人统治</a:t>
            </a:r>
            <a:r>
              <a:rPr lang="zh-CN" altLang="el-GR"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则无心精进武艺</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因主人凭借英勇行为获得更多权势，而他们却仅获得冒险与死亡的报偿。然而</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不受制于人</a:t>
            </a:r>
            <a:r>
              <a:rPr lang="zh-CN" altLang="el-GR"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自治且为己戮力躬耕者，斯人乃最尚武之辈。盖其冒险为切身之利，勇毅自享其荣，怯懦则亲尝其辱。</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（伪希波克拉底</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论空气、水和地域</a:t>
            </a:r>
            <a:r>
              <a:rPr lang="en-US" altLang="zh-CN" sz="2400" b="1" dirty="0">
                <a:latin typeface="宋体" panose="02010600030101010101" pitchFamily="2" charset="-122"/>
                <a:ea typeface="宋体" panose="02010600030101010101" pitchFamily="2" charset="-122"/>
              </a:rPr>
              <a:t>》16.3-7</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民主制产生可能和重装步兵阶层崛起有关，因此军事上的优越成为民主制优越的证明，从中也可看出，贵族统治下希腊并未能形成赏罚分明的制度。实际雅典人期望的是，是更为公平的分配。</a:t>
            </a:r>
          </a:p>
        </p:txBody>
      </p:sp>
    </p:spTree>
    <p:extLst>
      <p:ext uri="{BB962C8B-B14F-4D97-AF65-F5344CB8AC3E}">
        <p14:creationId xmlns:p14="http://schemas.microsoft.com/office/powerpoint/2010/main" val="2413861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8E2A6E-9A26-46D7-8C08-068945EC382E}"/>
              </a:ext>
            </a:extLst>
          </p:cNvPr>
          <p:cNvSpPr>
            <a:spLocks noGrp="1"/>
          </p:cNvSpPr>
          <p:nvPr>
            <p:ph type="title"/>
          </p:nvPr>
        </p:nvSpPr>
        <p:spPr/>
        <p:txBody>
          <a:bodyPr/>
          <a:lstStyle/>
          <a:p>
            <a:r>
              <a:rPr lang="zh-CN" altLang="en-US" dirty="0"/>
              <a:t>民主政制的弊端</a:t>
            </a:r>
            <a:br>
              <a:rPr lang="en-US" altLang="zh-CN" dirty="0"/>
            </a:br>
            <a:endParaRPr lang="zh-CN" altLang="en-US" dirty="0"/>
          </a:p>
        </p:txBody>
      </p:sp>
      <p:sp>
        <p:nvSpPr>
          <p:cNvPr id="3" name="内容占位符 2">
            <a:extLst>
              <a:ext uri="{FF2B5EF4-FFF2-40B4-BE49-F238E27FC236}">
                <a16:creationId xmlns:a16="http://schemas.microsoft.com/office/drawing/2014/main" id="{9C4F1408-5516-4C72-BBD0-FBD187F83015}"/>
              </a:ext>
            </a:extLst>
          </p:cNvPr>
          <p:cNvSpPr>
            <a:spLocks noGrp="1"/>
          </p:cNvSpPr>
          <p:nvPr>
            <p:ph sz="half" idx="1"/>
          </p:nvPr>
        </p:nvSpPr>
        <p:spPr>
          <a:xfrm>
            <a:off x="582209" y="1678141"/>
            <a:ext cx="5388429" cy="4351338"/>
          </a:xfrm>
        </p:spPr>
        <p:txBody>
          <a:bodyPr/>
          <a:lstStyle/>
          <a:p>
            <a:r>
              <a:rPr lang="zh-CN" altLang="en-US" sz="2400" b="1" dirty="0">
                <a:latin typeface="宋体" panose="02010600030101010101" pitchFamily="2" charset="-122"/>
                <a:ea typeface="宋体" panose="02010600030101010101" pitchFamily="2" charset="-122"/>
              </a:rPr>
              <a:t>公民身份与参政的普选权时有变动，多数时候需要一定财产。</a:t>
            </a:r>
            <a:endParaRPr lang="en-US" altLang="zh-CN" sz="2400" b="1" dirty="0">
              <a:latin typeface="宋体" panose="02010600030101010101" pitchFamily="2" charset="-122"/>
              <a:ea typeface="宋体" panose="02010600030101010101" pitchFamily="2" charset="-122"/>
            </a:endParaRPr>
          </a:p>
          <a:p>
            <a:r>
              <a:rPr lang="zh-CN" altLang="zh-CN" sz="2400" b="1" dirty="0">
                <a:latin typeface="宋体" panose="02010600030101010101" pitchFamily="2" charset="-122"/>
                <a:ea typeface="宋体" panose="02010600030101010101" pitchFamily="2" charset="-122"/>
              </a:rPr>
              <a:t>城邦之间的关系并不被希腊人视为政治</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r>
              <a:rPr lang="zh-CN" altLang="zh-CN" sz="2400" b="1" dirty="0">
                <a:latin typeface="宋体" panose="02010600030101010101" pitchFamily="2" charset="-122"/>
                <a:ea typeface="宋体" panose="02010600030101010101" pitchFamily="2" charset="-122"/>
              </a:rPr>
              <a:t>贫民因为还不起债而沦为奴隶</a:t>
            </a:r>
            <a:r>
              <a:rPr lang="zh-CN" altLang="en-US" sz="2400" b="1" dirty="0">
                <a:latin typeface="宋体" panose="02010600030101010101" pitchFamily="2" charset="-122"/>
                <a:ea typeface="宋体" panose="02010600030101010101" pitchFamily="2" charset="-122"/>
              </a:rPr>
              <a:t>的现象普遍存在</a:t>
            </a:r>
            <a:r>
              <a:rPr lang="zh-CN" altLang="zh-CN" sz="2400" b="1" dirty="0">
                <a:latin typeface="宋体" panose="02010600030101010101" pitchFamily="2" charset="-122"/>
                <a:ea typeface="宋体" panose="02010600030101010101" pitchFamily="2" charset="-122"/>
              </a:rPr>
              <a:t>。各种冒险的生意能让人一夜暴富，</a:t>
            </a:r>
            <a:r>
              <a:rPr lang="zh-CN" altLang="en-US" sz="2400" b="1" dirty="0">
                <a:latin typeface="宋体" panose="02010600030101010101" pitchFamily="2" charset="-122"/>
                <a:ea typeface="宋体" panose="02010600030101010101" pitchFamily="2" charset="-122"/>
              </a:rPr>
              <a:t>也</a:t>
            </a:r>
            <a:r>
              <a:rPr lang="zh-CN" altLang="zh-CN" sz="2400" b="1" dirty="0">
                <a:latin typeface="宋体" panose="02010600030101010101" pitchFamily="2" charset="-122"/>
                <a:ea typeface="宋体" panose="02010600030101010101" pitchFamily="2" charset="-122"/>
              </a:rPr>
              <a:t>蕴藏倾家荡产的风险，平民与</a:t>
            </a:r>
            <a:r>
              <a:rPr lang="zh-CN" altLang="en-US" sz="2400" b="1" dirty="0">
                <a:latin typeface="宋体" panose="02010600030101010101" pitchFamily="2" charset="-122"/>
                <a:ea typeface="宋体" panose="02010600030101010101" pitchFamily="2" charset="-122"/>
              </a:rPr>
              <a:t>富人</a:t>
            </a:r>
            <a:r>
              <a:rPr lang="zh-CN" altLang="zh-CN" sz="2400" b="1" dirty="0">
                <a:latin typeface="宋体" panose="02010600030101010101" pitchFamily="2" charset="-122"/>
                <a:ea typeface="宋体" panose="02010600030101010101" pitchFamily="2" charset="-122"/>
              </a:rPr>
              <a:t>的阶层转换极为频繁。权力与资源</a:t>
            </a:r>
            <a:r>
              <a:rPr lang="zh-CN" altLang="en-US" sz="2400" b="1" dirty="0">
                <a:latin typeface="宋体" panose="02010600030101010101" pitchFamily="2" charset="-122"/>
                <a:ea typeface="宋体" panose="02010600030101010101" pitchFamily="2" charset="-122"/>
              </a:rPr>
              <a:t>逐渐</a:t>
            </a:r>
            <a:r>
              <a:rPr lang="zh-CN" altLang="zh-CN" sz="2400" b="1" dirty="0">
                <a:latin typeface="宋体" panose="02010600030101010101" pitchFamily="2" charset="-122"/>
                <a:ea typeface="宋体" panose="02010600030101010101" pitchFamily="2" charset="-122"/>
              </a:rPr>
              <a:t>汇集到少数显赫家族地掌控之中。</a:t>
            </a:r>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民主制与僭主制之间的转换频繁发生。</a:t>
            </a:r>
            <a:endParaRPr lang="zh-CN" altLang="zh-CN" sz="2400" b="1" dirty="0">
              <a:latin typeface="宋体" panose="02010600030101010101" pitchFamily="2" charset="-122"/>
              <a:ea typeface="宋体" panose="02010600030101010101" pitchFamily="2" charset="-122"/>
            </a:endParaRPr>
          </a:p>
          <a:p>
            <a:endParaRPr lang="en-US" altLang="zh-CN" sz="2200" b="1" dirty="0">
              <a:latin typeface="宋体" panose="02010600030101010101" pitchFamily="2" charset="-122"/>
              <a:ea typeface="宋体" panose="02010600030101010101" pitchFamily="2" charset="-122"/>
            </a:endParaRPr>
          </a:p>
          <a:p>
            <a:endParaRPr lang="en-US" altLang="zh-CN" dirty="0"/>
          </a:p>
        </p:txBody>
      </p:sp>
      <p:sp>
        <p:nvSpPr>
          <p:cNvPr id="4" name="内容占位符 3">
            <a:extLst>
              <a:ext uri="{FF2B5EF4-FFF2-40B4-BE49-F238E27FC236}">
                <a16:creationId xmlns:a16="http://schemas.microsoft.com/office/drawing/2014/main" id="{3025BBA2-EEA5-4D46-8C39-ABC830DC7886}"/>
              </a:ext>
            </a:extLst>
          </p:cNvPr>
          <p:cNvSpPr>
            <a:spLocks noGrp="1"/>
          </p:cNvSpPr>
          <p:nvPr>
            <p:ph sz="half" idx="2"/>
          </p:nvPr>
        </p:nvSpPr>
        <p:spPr>
          <a:xfrm>
            <a:off x="6516329" y="1715371"/>
            <a:ext cx="4876800" cy="4351338"/>
          </a:xfrm>
        </p:spPr>
        <p:txBody>
          <a:bodyPr/>
          <a:lstStyle/>
          <a:p>
            <a:r>
              <a:rPr lang="zh-CN" altLang="en-US" sz="2400" b="1" dirty="0">
                <a:latin typeface="宋体" panose="02010600030101010101" pitchFamily="2" charset="-122"/>
                <a:ea typeface="宋体" panose="02010600030101010101" pitchFamily="2" charset="-122"/>
              </a:rPr>
              <a:t>民选官员为了讨好民众，会进行政治上的冒险，如伯里克利挪用提洛同盟的公款修建雅典神庙等设施，修改法律条文让私生子成为公民等。</a:t>
            </a:r>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苏格拉底和柏拉图开始思考民主制对城邦共同生活的危害，并考察什么样的政治制度才是善好的。在此基础上诞生了柏拉图的政治哲学思考和</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理想国</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1265364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5B073B-7DD2-4685-9D07-F329E9085868}"/>
              </a:ext>
            </a:extLst>
          </p:cNvPr>
          <p:cNvSpPr>
            <a:spLocks noGrp="1"/>
          </p:cNvSpPr>
          <p:nvPr>
            <p:ph type="title"/>
          </p:nvPr>
        </p:nvSpPr>
        <p:spPr>
          <a:xfrm>
            <a:off x="702153" y="113773"/>
            <a:ext cx="10840915" cy="1260000"/>
          </a:xfrm>
        </p:spPr>
        <p:txBody>
          <a:bodyPr/>
          <a:lstStyle/>
          <a:p>
            <a:r>
              <a:rPr lang="zh-CN" altLang="en-US" dirty="0"/>
              <a:t>柏拉图对雅典民主政治的批评</a:t>
            </a:r>
          </a:p>
        </p:txBody>
      </p:sp>
      <p:sp>
        <p:nvSpPr>
          <p:cNvPr id="3" name="内容占位符 2">
            <a:extLst>
              <a:ext uri="{FF2B5EF4-FFF2-40B4-BE49-F238E27FC236}">
                <a16:creationId xmlns:a16="http://schemas.microsoft.com/office/drawing/2014/main" id="{71383F53-2383-4497-AA8D-77E9E5996B06}"/>
              </a:ext>
            </a:extLst>
          </p:cNvPr>
          <p:cNvSpPr>
            <a:spLocks noGrp="1"/>
          </p:cNvSpPr>
          <p:nvPr>
            <p:ph sz="half" idx="1"/>
          </p:nvPr>
        </p:nvSpPr>
        <p:spPr>
          <a:xfrm>
            <a:off x="675541" y="1468199"/>
            <a:ext cx="5757915" cy="3921601"/>
          </a:xfrm>
        </p:spPr>
        <p:txBody>
          <a:bodyPr>
            <a:noAutofit/>
          </a:bodyPr>
          <a:lstStyle/>
          <a:p>
            <a:pPr marL="0" indent="0">
              <a:buNone/>
            </a:pPr>
            <a:r>
              <a:rPr lang="en-US" altLang="zh-CN" sz="2200" b="1" dirty="0">
                <a:latin typeface="微软雅黑" panose="020B0503020204020204" pitchFamily="34" charset="-122"/>
                <a:ea typeface="微软雅黑" panose="020B0503020204020204" pitchFamily="34" charset="-122"/>
              </a:rPr>
              <a:t>1</a:t>
            </a:r>
            <a:r>
              <a:rPr lang="zh-CN" altLang="en-US" sz="2400" b="1" dirty="0">
                <a:latin typeface="宋体" panose="02010600030101010101" pitchFamily="2" charset="-122"/>
                <a:ea typeface="宋体" panose="02010600030101010101" pitchFamily="2" charset="-122"/>
              </a:rPr>
              <a:t>，民主政治制度不能进行完善的社会分工，让大量不具备政治知识的人获得了统治权或被家族操纵；</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理想国</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章</a:t>
            </a:r>
            <a:r>
              <a:rPr lang="en-US" altLang="zh-CN" sz="2400" b="1" dirty="0">
                <a:latin typeface="宋体" panose="02010600030101010101" pitchFamily="2" charset="-122"/>
                <a:ea typeface="宋体" panose="02010600030101010101" pitchFamily="2" charset="-122"/>
              </a:rPr>
              <a:t>)</a:t>
            </a:r>
          </a:p>
          <a:p>
            <a:pPr marL="0" indent="0">
              <a:buNone/>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，公民缺乏德性教育，传统诗歌教育灌输了错误生活观念；（</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理想国</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10</a:t>
            </a:r>
            <a:r>
              <a:rPr lang="zh-CN" altLang="en-US" sz="2400" b="1" dirty="0">
                <a:latin typeface="宋体" panose="02010600030101010101" pitchFamily="2" charset="-122"/>
                <a:ea typeface="宋体" panose="02010600030101010101" pitchFamily="2" charset="-122"/>
              </a:rPr>
              <a:t>章）</a:t>
            </a:r>
            <a:endParaRPr lang="en-US" altLang="zh-CN" sz="2400" b="1" dirty="0">
              <a:latin typeface="宋体" panose="02010600030101010101" pitchFamily="2" charset="-122"/>
              <a:ea typeface="宋体" panose="02010600030101010101" pitchFamily="2" charset="-122"/>
            </a:endParaRPr>
          </a:p>
          <a:p>
            <a:pPr marL="0" indent="0">
              <a:buNone/>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，民主政治制度和智者狼狈为奸，用智者教育民众，用公民大会等被演讲修辞败坏的政治生活方式腐蚀城邦中有才能的人；（</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理想国</a:t>
            </a:r>
            <a:r>
              <a:rPr lang="en-US" altLang="zh-CN" sz="2400" b="1" dirty="0">
                <a:latin typeface="宋体" panose="02010600030101010101" pitchFamily="2" charset="-122"/>
                <a:ea typeface="宋体" panose="02010600030101010101" pitchFamily="2" charset="-122"/>
              </a:rPr>
              <a:t>》7</a:t>
            </a:r>
            <a:r>
              <a:rPr lang="zh-CN" altLang="en-US" sz="2400" b="1" dirty="0">
                <a:latin typeface="宋体" panose="02010600030101010101" pitchFamily="2" charset="-122"/>
                <a:ea typeface="宋体" panose="02010600030101010101" pitchFamily="2" charset="-122"/>
              </a:rPr>
              <a:t>章）</a:t>
            </a:r>
            <a:endParaRPr lang="en-US" altLang="zh-CN" sz="2400" b="1" dirty="0">
              <a:latin typeface="宋体" panose="02010600030101010101" pitchFamily="2" charset="-122"/>
              <a:ea typeface="宋体" panose="02010600030101010101" pitchFamily="2" charset="-122"/>
            </a:endParaRPr>
          </a:p>
          <a:p>
            <a:pPr marL="0" indent="0">
              <a:buNone/>
            </a:pPr>
            <a:endParaRPr lang="en-US" altLang="zh-CN" sz="2400" b="1" dirty="0">
              <a:latin typeface="宋体" panose="02010600030101010101" pitchFamily="2" charset="-122"/>
              <a:ea typeface="宋体" panose="02010600030101010101" pitchFamily="2" charset="-122"/>
            </a:endParaRPr>
          </a:p>
        </p:txBody>
      </p:sp>
      <p:sp>
        <p:nvSpPr>
          <p:cNvPr id="4" name="内容占位符 3">
            <a:extLst>
              <a:ext uri="{FF2B5EF4-FFF2-40B4-BE49-F238E27FC236}">
                <a16:creationId xmlns:a16="http://schemas.microsoft.com/office/drawing/2014/main" id="{C24B5C56-66D3-484B-992A-A0A2101E8AD2}"/>
              </a:ext>
            </a:extLst>
          </p:cNvPr>
          <p:cNvSpPr>
            <a:spLocks noGrp="1"/>
          </p:cNvSpPr>
          <p:nvPr>
            <p:ph sz="half" idx="2"/>
          </p:nvPr>
        </p:nvSpPr>
        <p:spPr>
          <a:xfrm>
            <a:off x="6793036" y="1468199"/>
            <a:ext cx="4920343" cy="4351338"/>
          </a:xfrm>
        </p:spPr>
        <p:txBody>
          <a:bodyPr>
            <a:normAutofit/>
          </a:bodyPr>
          <a:lstStyle/>
          <a:p>
            <a:pPr marL="0" indent="0">
              <a:lnSpc>
                <a:spcPct val="100000"/>
              </a:lnSpc>
              <a:buNone/>
            </a:pP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，民主制度允许富人对平民的高利贷掠夺，制造大量流氓无产者；（</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理想国</a:t>
            </a:r>
            <a:r>
              <a:rPr lang="en-US" altLang="zh-CN" sz="2400" b="1" dirty="0">
                <a:latin typeface="宋体" panose="02010600030101010101" pitchFamily="2" charset="-122"/>
                <a:ea typeface="宋体" panose="02010600030101010101" pitchFamily="2" charset="-122"/>
              </a:rPr>
              <a:t>》8</a:t>
            </a:r>
            <a:r>
              <a:rPr lang="zh-CN" altLang="en-US" sz="2400" b="1" dirty="0">
                <a:latin typeface="宋体" panose="02010600030101010101" pitchFamily="2" charset="-122"/>
                <a:ea typeface="宋体" panose="02010600030101010101" pitchFamily="2" charset="-122"/>
              </a:rPr>
              <a:t>章）</a:t>
            </a:r>
            <a:endParaRPr lang="en-US" altLang="zh-CN" sz="2400" b="1" dirty="0">
              <a:latin typeface="宋体" panose="02010600030101010101" pitchFamily="2" charset="-122"/>
              <a:ea typeface="宋体" panose="02010600030101010101" pitchFamily="2" charset="-122"/>
            </a:endParaRPr>
          </a:p>
          <a:p>
            <a:pPr marL="0" indent="0">
              <a:lnSpc>
                <a:spcPct val="100000"/>
              </a:lnSpc>
              <a:buNone/>
            </a:pP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，平民和富人的斗争使得平民求助于一个“保护者”，因此，民主制最后会演变成僭主制。（</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理想国</a:t>
            </a:r>
            <a:r>
              <a:rPr lang="en-US" altLang="zh-CN" sz="2400" b="1" dirty="0">
                <a:latin typeface="宋体" panose="02010600030101010101" pitchFamily="2" charset="-122"/>
                <a:ea typeface="宋体" panose="02010600030101010101" pitchFamily="2" charset="-122"/>
              </a:rPr>
              <a:t>》9</a:t>
            </a:r>
            <a:r>
              <a:rPr lang="zh-CN" altLang="en-US" sz="2400" b="1" dirty="0">
                <a:latin typeface="宋体" panose="02010600030101010101" pitchFamily="2" charset="-122"/>
                <a:ea typeface="宋体" panose="02010600030101010101" pitchFamily="2" charset="-122"/>
              </a:rPr>
              <a:t>章）</a:t>
            </a:r>
            <a:endParaRPr lang="en-US" altLang="zh-CN" sz="2400" b="1" dirty="0">
              <a:latin typeface="宋体" panose="02010600030101010101" pitchFamily="2" charset="-122"/>
              <a:ea typeface="宋体" panose="02010600030101010101" pitchFamily="2" charset="-122"/>
            </a:endParaRPr>
          </a:p>
          <a:p>
            <a:pPr marL="0" indent="0">
              <a:buNone/>
            </a:pPr>
            <a:r>
              <a:rPr lang="en-US" altLang="zh-CN" sz="2400" b="1" dirty="0">
                <a:latin typeface="宋体" panose="02010600030101010101" pitchFamily="2" charset="-122"/>
                <a:ea typeface="宋体" panose="02010600030101010101" pitchFamily="2" charset="-122"/>
              </a:rPr>
              <a:t>6</a:t>
            </a:r>
            <a:r>
              <a:rPr lang="zh-CN" altLang="en-US" sz="2400" b="1" dirty="0">
                <a:latin typeface="宋体" panose="02010600030101010101" pitchFamily="2" charset="-122"/>
                <a:ea typeface="宋体" panose="02010600030101010101" pitchFamily="2" charset="-122"/>
              </a:rPr>
              <a:t>，民主制政府目光短浅，缺乏智慧，不能制定长期对城邦有益的制度。（</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泰阿泰德篇</a:t>
            </a:r>
            <a:r>
              <a:rPr lang="en-US" altLang="zh-CN" sz="2400" b="1" dirty="0">
                <a:latin typeface="宋体" panose="02010600030101010101" pitchFamily="2" charset="-122"/>
                <a:ea typeface="宋体" panose="02010600030101010101" pitchFamily="2" charset="-122"/>
              </a:rPr>
              <a:t>》177d-179d</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0" indent="0">
              <a:lnSpc>
                <a:spcPct val="100000"/>
              </a:lnSpc>
              <a:buNone/>
            </a:pPr>
            <a:endParaRPr lang="zh-CN" altLang="en-US" dirty="0"/>
          </a:p>
        </p:txBody>
      </p:sp>
    </p:spTree>
    <p:extLst>
      <p:ext uri="{BB962C8B-B14F-4D97-AF65-F5344CB8AC3E}">
        <p14:creationId xmlns:p14="http://schemas.microsoft.com/office/powerpoint/2010/main" val="2610575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EEF72D-D6D5-4D15-BBE8-76197B3F8DE1}"/>
              </a:ext>
            </a:extLst>
          </p:cNvPr>
          <p:cNvSpPr>
            <a:spLocks noGrp="1"/>
          </p:cNvSpPr>
          <p:nvPr>
            <p:ph type="title"/>
          </p:nvPr>
        </p:nvSpPr>
        <p:spPr/>
        <p:txBody>
          <a:bodyPr/>
          <a:lstStyle/>
          <a:p>
            <a:r>
              <a:rPr lang="zh-CN" altLang="en-US" dirty="0"/>
              <a:t>雅典</a:t>
            </a:r>
            <a:r>
              <a:rPr lang="en-US" altLang="zh-CN" dirty="0"/>
              <a:t>demos</a:t>
            </a:r>
            <a:r>
              <a:rPr lang="zh-CN" altLang="en-US" dirty="0"/>
              <a:t>帝国形成的共同生活方式</a:t>
            </a:r>
          </a:p>
        </p:txBody>
      </p:sp>
      <p:sp>
        <p:nvSpPr>
          <p:cNvPr id="4" name="内容占位符 3">
            <a:extLst>
              <a:ext uri="{FF2B5EF4-FFF2-40B4-BE49-F238E27FC236}">
                <a16:creationId xmlns:a16="http://schemas.microsoft.com/office/drawing/2014/main" id="{821F5E19-B462-4448-8663-6577D35DC65E}"/>
              </a:ext>
            </a:extLst>
          </p:cNvPr>
          <p:cNvSpPr>
            <a:spLocks noGrp="1"/>
          </p:cNvSpPr>
          <p:nvPr>
            <p:ph sz="half" idx="1"/>
          </p:nvPr>
        </p:nvSpPr>
        <p:spPr>
          <a:xfrm>
            <a:off x="3618271" y="5673213"/>
            <a:ext cx="4797521" cy="1020969"/>
          </a:xfrm>
        </p:spPr>
        <p:txBody>
          <a:bodyPr>
            <a:noAutofit/>
          </a:bodyPr>
          <a:lstStyle/>
          <a:p>
            <a:pPr marL="0" indent="0">
              <a:buNone/>
            </a:pPr>
            <a:r>
              <a:rPr lang="zh-CN" altLang="en-US" sz="2000" b="1" dirty="0"/>
              <a:t>柏拉图将这样的雅典城邦视为病态政体。</a:t>
            </a:r>
            <a:endParaRPr lang="en-US" altLang="zh-CN" sz="2000" b="1" dirty="0"/>
          </a:p>
        </p:txBody>
      </p:sp>
      <p:sp>
        <p:nvSpPr>
          <p:cNvPr id="7" name="文本框 6">
            <a:extLst>
              <a:ext uri="{FF2B5EF4-FFF2-40B4-BE49-F238E27FC236}">
                <a16:creationId xmlns:a16="http://schemas.microsoft.com/office/drawing/2014/main" id="{1672F751-D815-41FD-9CF1-87585ADFC9EF}"/>
              </a:ext>
            </a:extLst>
          </p:cNvPr>
          <p:cNvSpPr txBox="1"/>
          <p:nvPr/>
        </p:nvSpPr>
        <p:spPr>
          <a:xfrm>
            <a:off x="1049154" y="2127183"/>
            <a:ext cx="3631001" cy="400110"/>
          </a:xfrm>
          <a:prstGeom prst="rect">
            <a:avLst/>
          </a:prstGeom>
          <a:noFill/>
        </p:spPr>
        <p:txBody>
          <a:bodyPr wrap="square" rtlCol="0">
            <a:spAutoFit/>
          </a:bodyPr>
          <a:lstStyle/>
          <a:p>
            <a:r>
              <a:rPr lang="zh-CN" altLang="en-US" sz="2000" b="1" dirty="0"/>
              <a:t>掠夺资源为城邦发展提供动力</a:t>
            </a:r>
          </a:p>
        </p:txBody>
      </p:sp>
      <p:sp>
        <p:nvSpPr>
          <p:cNvPr id="9" name="文本框 8">
            <a:extLst>
              <a:ext uri="{FF2B5EF4-FFF2-40B4-BE49-F238E27FC236}">
                <a16:creationId xmlns:a16="http://schemas.microsoft.com/office/drawing/2014/main" id="{8287E946-8C15-49B0-BA8B-186553F4B996}"/>
              </a:ext>
            </a:extLst>
          </p:cNvPr>
          <p:cNvSpPr txBox="1"/>
          <p:nvPr/>
        </p:nvSpPr>
        <p:spPr>
          <a:xfrm>
            <a:off x="914401" y="2891989"/>
            <a:ext cx="3765754" cy="677108"/>
          </a:xfrm>
          <a:prstGeom prst="rect">
            <a:avLst/>
          </a:prstGeom>
          <a:noFill/>
        </p:spPr>
        <p:txBody>
          <a:bodyPr wrap="square" rtlCol="0">
            <a:spAutoFit/>
          </a:bodyPr>
          <a:lstStyle/>
          <a:p>
            <a:r>
              <a:rPr lang="zh-CN" altLang="en-US" sz="2000" b="1" dirty="0"/>
              <a:t>家族门阀利用平民争夺政治权力</a:t>
            </a:r>
            <a:endParaRPr lang="en-US" altLang="zh-CN" sz="2000" b="1" dirty="0"/>
          </a:p>
          <a:p>
            <a:endParaRPr lang="zh-CN" altLang="en-US" dirty="0"/>
          </a:p>
        </p:txBody>
      </p:sp>
      <p:sp>
        <p:nvSpPr>
          <p:cNvPr id="11" name="文本框 10">
            <a:extLst>
              <a:ext uri="{FF2B5EF4-FFF2-40B4-BE49-F238E27FC236}">
                <a16:creationId xmlns:a16="http://schemas.microsoft.com/office/drawing/2014/main" id="{82C831C6-542B-4C7A-B759-1A23F5B31537}"/>
              </a:ext>
            </a:extLst>
          </p:cNvPr>
          <p:cNvSpPr txBox="1"/>
          <p:nvPr/>
        </p:nvSpPr>
        <p:spPr>
          <a:xfrm>
            <a:off x="442762" y="3580598"/>
            <a:ext cx="4417995" cy="707886"/>
          </a:xfrm>
          <a:prstGeom prst="rect">
            <a:avLst/>
          </a:prstGeom>
          <a:noFill/>
        </p:spPr>
        <p:txBody>
          <a:bodyPr wrap="square" rtlCol="0">
            <a:spAutoFit/>
          </a:bodyPr>
          <a:lstStyle/>
          <a:p>
            <a:r>
              <a:rPr lang="zh-CN" altLang="en-US" sz="2000" b="1" dirty="0"/>
              <a:t>表演和修辞成为公共政治生活的主要方式</a:t>
            </a:r>
          </a:p>
        </p:txBody>
      </p:sp>
      <p:sp>
        <p:nvSpPr>
          <p:cNvPr id="14" name="文本框 13">
            <a:extLst>
              <a:ext uri="{FF2B5EF4-FFF2-40B4-BE49-F238E27FC236}">
                <a16:creationId xmlns:a16="http://schemas.microsoft.com/office/drawing/2014/main" id="{89485600-4E0E-4942-87D1-11830F505DFA}"/>
              </a:ext>
            </a:extLst>
          </p:cNvPr>
          <p:cNvSpPr txBox="1"/>
          <p:nvPr/>
        </p:nvSpPr>
        <p:spPr>
          <a:xfrm>
            <a:off x="757085" y="4516658"/>
            <a:ext cx="3609306" cy="677108"/>
          </a:xfrm>
          <a:prstGeom prst="rect">
            <a:avLst/>
          </a:prstGeom>
          <a:noFill/>
        </p:spPr>
        <p:txBody>
          <a:bodyPr wrap="square" rtlCol="0">
            <a:spAutoFit/>
          </a:bodyPr>
          <a:lstStyle/>
          <a:p>
            <a:r>
              <a:rPr lang="zh-CN" altLang="en-US" sz="2000" b="1" dirty="0"/>
              <a:t>伯罗奔尼撒战争中败于斯巴达</a:t>
            </a:r>
            <a:endParaRPr lang="en-US" altLang="zh-CN" sz="2000" b="1" dirty="0"/>
          </a:p>
          <a:p>
            <a:endParaRPr lang="zh-CN" altLang="en-US" dirty="0"/>
          </a:p>
        </p:txBody>
      </p:sp>
      <p:sp>
        <p:nvSpPr>
          <p:cNvPr id="15" name="文本框 14">
            <a:extLst>
              <a:ext uri="{FF2B5EF4-FFF2-40B4-BE49-F238E27FC236}">
                <a16:creationId xmlns:a16="http://schemas.microsoft.com/office/drawing/2014/main" id="{C29AAD5D-AE9C-4631-AEC5-0B03480AA7C4}"/>
              </a:ext>
            </a:extLst>
          </p:cNvPr>
          <p:cNvSpPr txBox="1"/>
          <p:nvPr/>
        </p:nvSpPr>
        <p:spPr>
          <a:xfrm>
            <a:off x="7917553" y="2140098"/>
            <a:ext cx="2810577" cy="677108"/>
          </a:xfrm>
          <a:prstGeom prst="rect">
            <a:avLst/>
          </a:prstGeom>
          <a:noFill/>
        </p:spPr>
        <p:txBody>
          <a:bodyPr wrap="square" rtlCol="0">
            <a:spAutoFit/>
          </a:bodyPr>
          <a:lstStyle/>
          <a:p>
            <a:r>
              <a:rPr lang="zh-CN" altLang="en-US" sz="2000" b="1" dirty="0"/>
              <a:t>各盟邦对雅典的憎恨</a:t>
            </a:r>
          </a:p>
          <a:p>
            <a:endParaRPr lang="zh-CN" altLang="en-US" dirty="0"/>
          </a:p>
        </p:txBody>
      </p:sp>
      <p:sp>
        <p:nvSpPr>
          <p:cNvPr id="16" name="文本框 15">
            <a:extLst>
              <a:ext uri="{FF2B5EF4-FFF2-40B4-BE49-F238E27FC236}">
                <a16:creationId xmlns:a16="http://schemas.microsoft.com/office/drawing/2014/main" id="{8603A920-39F4-4C03-B2CF-1FAADD7BAE57}"/>
              </a:ext>
            </a:extLst>
          </p:cNvPr>
          <p:cNvSpPr txBox="1"/>
          <p:nvPr/>
        </p:nvSpPr>
        <p:spPr>
          <a:xfrm>
            <a:off x="7931215" y="2817206"/>
            <a:ext cx="4113301" cy="400110"/>
          </a:xfrm>
          <a:prstGeom prst="rect">
            <a:avLst/>
          </a:prstGeom>
          <a:noFill/>
        </p:spPr>
        <p:txBody>
          <a:bodyPr wrap="square" rtlCol="0">
            <a:spAutoFit/>
          </a:bodyPr>
          <a:lstStyle/>
          <a:p>
            <a:r>
              <a:rPr lang="zh-CN" altLang="en-US" sz="2000" b="1" dirty="0"/>
              <a:t>政治权力实际掌握在少数家族手中</a:t>
            </a:r>
          </a:p>
        </p:txBody>
      </p:sp>
      <p:sp>
        <p:nvSpPr>
          <p:cNvPr id="19" name="文本框 18">
            <a:extLst>
              <a:ext uri="{FF2B5EF4-FFF2-40B4-BE49-F238E27FC236}">
                <a16:creationId xmlns:a16="http://schemas.microsoft.com/office/drawing/2014/main" id="{AF2470D6-6FB2-4795-A4A2-4E6E0E1D5918}"/>
              </a:ext>
            </a:extLst>
          </p:cNvPr>
          <p:cNvSpPr txBox="1"/>
          <p:nvPr/>
        </p:nvSpPr>
        <p:spPr>
          <a:xfrm>
            <a:off x="7917554" y="3551426"/>
            <a:ext cx="4485373" cy="707886"/>
          </a:xfrm>
          <a:prstGeom prst="rect">
            <a:avLst/>
          </a:prstGeom>
          <a:noFill/>
        </p:spPr>
        <p:txBody>
          <a:bodyPr wrap="square" rtlCol="0">
            <a:spAutoFit/>
          </a:bodyPr>
          <a:lstStyle/>
          <a:p>
            <a:r>
              <a:rPr lang="zh-CN" altLang="en-US" sz="2000" b="1" dirty="0"/>
              <a:t>政治生活因为需要被观看而变成一种表演</a:t>
            </a:r>
          </a:p>
        </p:txBody>
      </p:sp>
      <p:sp>
        <p:nvSpPr>
          <p:cNvPr id="20" name="文本框 19">
            <a:extLst>
              <a:ext uri="{FF2B5EF4-FFF2-40B4-BE49-F238E27FC236}">
                <a16:creationId xmlns:a16="http://schemas.microsoft.com/office/drawing/2014/main" id="{A402A7CD-800C-4E8B-ACC8-996C591E6C57}"/>
              </a:ext>
            </a:extLst>
          </p:cNvPr>
          <p:cNvSpPr txBox="1"/>
          <p:nvPr/>
        </p:nvSpPr>
        <p:spPr>
          <a:xfrm>
            <a:off x="7931215" y="4455102"/>
            <a:ext cx="3869356" cy="400110"/>
          </a:xfrm>
          <a:prstGeom prst="rect">
            <a:avLst/>
          </a:prstGeom>
          <a:noFill/>
        </p:spPr>
        <p:txBody>
          <a:bodyPr wrap="square" rtlCol="0">
            <a:spAutoFit/>
          </a:bodyPr>
          <a:lstStyle/>
          <a:p>
            <a:r>
              <a:rPr lang="zh-CN" altLang="en-US" sz="2000" b="1" dirty="0"/>
              <a:t>雅典丧失了部分主权</a:t>
            </a:r>
          </a:p>
        </p:txBody>
      </p:sp>
      <p:pic>
        <p:nvPicPr>
          <p:cNvPr id="21" name="图片 20">
            <a:extLst>
              <a:ext uri="{FF2B5EF4-FFF2-40B4-BE49-F238E27FC236}">
                <a16:creationId xmlns:a16="http://schemas.microsoft.com/office/drawing/2014/main" id="{0F69F34D-7154-4D0B-8741-13F04C7A2CE1}"/>
              </a:ext>
            </a:extLst>
          </p:cNvPr>
          <p:cNvPicPr>
            <a:picLocks noChangeAspect="1"/>
          </p:cNvPicPr>
          <p:nvPr/>
        </p:nvPicPr>
        <p:blipFill>
          <a:blip r:embed="rId2"/>
          <a:stretch>
            <a:fillRect/>
          </a:stretch>
        </p:blipFill>
        <p:spPr>
          <a:xfrm>
            <a:off x="4860757" y="2044127"/>
            <a:ext cx="2352312" cy="3118862"/>
          </a:xfrm>
          <a:prstGeom prst="rect">
            <a:avLst/>
          </a:prstGeom>
        </p:spPr>
      </p:pic>
    </p:spTree>
    <p:extLst>
      <p:ext uri="{BB962C8B-B14F-4D97-AF65-F5344CB8AC3E}">
        <p14:creationId xmlns:p14="http://schemas.microsoft.com/office/powerpoint/2010/main" val="3262540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EEF72D-D6D5-4D15-BBE8-76197B3F8DE1}"/>
              </a:ext>
            </a:extLst>
          </p:cNvPr>
          <p:cNvSpPr>
            <a:spLocks noGrp="1"/>
          </p:cNvSpPr>
          <p:nvPr>
            <p:ph type="title"/>
          </p:nvPr>
        </p:nvSpPr>
        <p:spPr/>
        <p:txBody>
          <a:bodyPr/>
          <a:lstStyle/>
          <a:p>
            <a:r>
              <a:rPr lang="zh-CN" altLang="en-US" dirty="0"/>
              <a:t>柏拉图想要进行的改变</a:t>
            </a:r>
          </a:p>
        </p:txBody>
      </p:sp>
      <p:sp>
        <p:nvSpPr>
          <p:cNvPr id="4" name="内容占位符 3">
            <a:extLst>
              <a:ext uri="{FF2B5EF4-FFF2-40B4-BE49-F238E27FC236}">
                <a16:creationId xmlns:a16="http://schemas.microsoft.com/office/drawing/2014/main" id="{821F5E19-B462-4448-8663-6577D35DC65E}"/>
              </a:ext>
            </a:extLst>
          </p:cNvPr>
          <p:cNvSpPr>
            <a:spLocks noGrp="1"/>
          </p:cNvSpPr>
          <p:nvPr>
            <p:ph sz="half" idx="1"/>
          </p:nvPr>
        </p:nvSpPr>
        <p:spPr>
          <a:xfrm>
            <a:off x="3618271" y="5673213"/>
            <a:ext cx="4797521" cy="1020969"/>
          </a:xfrm>
        </p:spPr>
        <p:txBody>
          <a:bodyPr>
            <a:noAutofit/>
          </a:bodyPr>
          <a:lstStyle/>
          <a:p>
            <a:pPr marL="0" indent="0">
              <a:buNone/>
            </a:pPr>
            <a:r>
              <a:rPr lang="en-US" altLang="zh-CN" sz="2000" b="1" dirty="0"/>
              <a:t>《</a:t>
            </a:r>
            <a:r>
              <a:rPr lang="zh-CN" altLang="en-US" sz="2000" b="1" dirty="0"/>
              <a:t>理想国</a:t>
            </a:r>
            <a:r>
              <a:rPr lang="en-US" altLang="zh-CN" sz="2000" b="1" dirty="0"/>
              <a:t>》</a:t>
            </a:r>
            <a:r>
              <a:rPr lang="zh-CN" altLang="en-US" sz="2000" b="1" dirty="0"/>
              <a:t>的现实意义，就是柏拉图想治愈多重病灶的雅典政治。治疗从讨论正义问题开始，以公民的理性教育为终结。</a:t>
            </a:r>
            <a:endParaRPr lang="en-US" altLang="zh-CN" sz="2000" b="1" dirty="0"/>
          </a:p>
        </p:txBody>
      </p:sp>
      <p:sp>
        <p:nvSpPr>
          <p:cNvPr id="7" name="文本框 6">
            <a:extLst>
              <a:ext uri="{FF2B5EF4-FFF2-40B4-BE49-F238E27FC236}">
                <a16:creationId xmlns:a16="http://schemas.microsoft.com/office/drawing/2014/main" id="{1672F751-D815-41FD-9CF1-87585ADFC9EF}"/>
              </a:ext>
            </a:extLst>
          </p:cNvPr>
          <p:cNvSpPr txBox="1"/>
          <p:nvPr/>
        </p:nvSpPr>
        <p:spPr>
          <a:xfrm>
            <a:off x="1049154" y="2127183"/>
            <a:ext cx="3631001" cy="400110"/>
          </a:xfrm>
          <a:prstGeom prst="rect">
            <a:avLst/>
          </a:prstGeom>
          <a:noFill/>
        </p:spPr>
        <p:txBody>
          <a:bodyPr wrap="square" rtlCol="0">
            <a:spAutoFit/>
          </a:bodyPr>
          <a:lstStyle/>
          <a:p>
            <a:r>
              <a:rPr lang="zh-CN" altLang="en-US" sz="2000" b="1" dirty="0"/>
              <a:t>掠夺资源为城邦发展提供动力</a:t>
            </a:r>
          </a:p>
        </p:txBody>
      </p:sp>
      <p:sp>
        <p:nvSpPr>
          <p:cNvPr id="9" name="文本框 8">
            <a:extLst>
              <a:ext uri="{FF2B5EF4-FFF2-40B4-BE49-F238E27FC236}">
                <a16:creationId xmlns:a16="http://schemas.microsoft.com/office/drawing/2014/main" id="{8287E946-8C15-49B0-BA8B-186553F4B996}"/>
              </a:ext>
            </a:extLst>
          </p:cNvPr>
          <p:cNvSpPr txBox="1"/>
          <p:nvPr/>
        </p:nvSpPr>
        <p:spPr>
          <a:xfrm>
            <a:off x="914401" y="2891989"/>
            <a:ext cx="3765754" cy="677108"/>
          </a:xfrm>
          <a:prstGeom prst="rect">
            <a:avLst/>
          </a:prstGeom>
          <a:noFill/>
        </p:spPr>
        <p:txBody>
          <a:bodyPr wrap="square" rtlCol="0">
            <a:spAutoFit/>
          </a:bodyPr>
          <a:lstStyle/>
          <a:p>
            <a:r>
              <a:rPr lang="zh-CN" altLang="en-US" sz="2000" b="1" dirty="0"/>
              <a:t>家族门阀利用平民争夺政治权力</a:t>
            </a:r>
            <a:endParaRPr lang="en-US" altLang="zh-CN" sz="2000" b="1" dirty="0"/>
          </a:p>
          <a:p>
            <a:endParaRPr lang="zh-CN" altLang="en-US" dirty="0"/>
          </a:p>
        </p:txBody>
      </p:sp>
      <p:sp>
        <p:nvSpPr>
          <p:cNvPr id="11" name="文本框 10">
            <a:extLst>
              <a:ext uri="{FF2B5EF4-FFF2-40B4-BE49-F238E27FC236}">
                <a16:creationId xmlns:a16="http://schemas.microsoft.com/office/drawing/2014/main" id="{82C831C6-542B-4C7A-B759-1A23F5B31537}"/>
              </a:ext>
            </a:extLst>
          </p:cNvPr>
          <p:cNvSpPr txBox="1"/>
          <p:nvPr/>
        </p:nvSpPr>
        <p:spPr>
          <a:xfrm>
            <a:off x="442762" y="3580598"/>
            <a:ext cx="4417995" cy="707886"/>
          </a:xfrm>
          <a:prstGeom prst="rect">
            <a:avLst/>
          </a:prstGeom>
          <a:noFill/>
        </p:spPr>
        <p:txBody>
          <a:bodyPr wrap="square" rtlCol="0">
            <a:spAutoFit/>
          </a:bodyPr>
          <a:lstStyle/>
          <a:p>
            <a:r>
              <a:rPr lang="zh-CN" altLang="en-US" sz="2000" b="1" dirty="0"/>
              <a:t>表演和修辞成为公共政治生活的主要方式</a:t>
            </a:r>
          </a:p>
        </p:txBody>
      </p:sp>
      <p:sp>
        <p:nvSpPr>
          <p:cNvPr id="14" name="文本框 13">
            <a:extLst>
              <a:ext uri="{FF2B5EF4-FFF2-40B4-BE49-F238E27FC236}">
                <a16:creationId xmlns:a16="http://schemas.microsoft.com/office/drawing/2014/main" id="{89485600-4E0E-4942-87D1-11830F505DFA}"/>
              </a:ext>
            </a:extLst>
          </p:cNvPr>
          <p:cNvSpPr txBox="1"/>
          <p:nvPr/>
        </p:nvSpPr>
        <p:spPr>
          <a:xfrm>
            <a:off x="757085" y="4516658"/>
            <a:ext cx="3609306" cy="677108"/>
          </a:xfrm>
          <a:prstGeom prst="rect">
            <a:avLst/>
          </a:prstGeom>
          <a:noFill/>
        </p:spPr>
        <p:txBody>
          <a:bodyPr wrap="square" rtlCol="0">
            <a:spAutoFit/>
          </a:bodyPr>
          <a:lstStyle/>
          <a:p>
            <a:r>
              <a:rPr lang="zh-CN" altLang="en-US" sz="2000" b="1" dirty="0"/>
              <a:t>伯罗奔尼撒战争中败于斯巴达</a:t>
            </a:r>
            <a:endParaRPr lang="en-US" altLang="zh-CN" sz="2000" b="1" dirty="0"/>
          </a:p>
          <a:p>
            <a:endParaRPr lang="zh-CN" altLang="en-US" dirty="0"/>
          </a:p>
        </p:txBody>
      </p:sp>
      <p:sp>
        <p:nvSpPr>
          <p:cNvPr id="15" name="文本框 14">
            <a:extLst>
              <a:ext uri="{FF2B5EF4-FFF2-40B4-BE49-F238E27FC236}">
                <a16:creationId xmlns:a16="http://schemas.microsoft.com/office/drawing/2014/main" id="{C29AAD5D-AE9C-4631-AEC5-0B03480AA7C4}"/>
              </a:ext>
            </a:extLst>
          </p:cNvPr>
          <p:cNvSpPr txBox="1"/>
          <p:nvPr/>
        </p:nvSpPr>
        <p:spPr>
          <a:xfrm>
            <a:off x="7917553" y="2140098"/>
            <a:ext cx="3556692" cy="707886"/>
          </a:xfrm>
          <a:prstGeom prst="rect">
            <a:avLst/>
          </a:prstGeom>
          <a:noFill/>
        </p:spPr>
        <p:txBody>
          <a:bodyPr wrap="square" rtlCol="0">
            <a:spAutoFit/>
          </a:bodyPr>
          <a:lstStyle/>
          <a:p>
            <a:r>
              <a:rPr lang="zh-CN" altLang="en-US" sz="2000" b="1" dirty="0"/>
              <a:t>节制而非嗜欲的生活方式</a:t>
            </a:r>
            <a:endParaRPr lang="en-US" altLang="zh-CN" sz="2000" b="1" dirty="0"/>
          </a:p>
          <a:p>
            <a:r>
              <a:rPr lang="zh-CN" altLang="en-US" sz="2000" b="1" dirty="0"/>
              <a:t>（减少资源消耗）</a:t>
            </a:r>
            <a:endParaRPr lang="zh-CN" altLang="en-US" dirty="0"/>
          </a:p>
        </p:txBody>
      </p:sp>
      <p:sp>
        <p:nvSpPr>
          <p:cNvPr id="16" name="文本框 15">
            <a:extLst>
              <a:ext uri="{FF2B5EF4-FFF2-40B4-BE49-F238E27FC236}">
                <a16:creationId xmlns:a16="http://schemas.microsoft.com/office/drawing/2014/main" id="{8603A920-39F4-4C03-B2CF-1FAADD7BAE57}"/>
              </a:ext>
            </a:extLst>
          </p:cNvPr>
          <p:cNvSpPr txBox="1"/>
          <p:nvPr/>
        </p:nvSpPr>
        <p:spPr>
          <a:xfrm>
            <a:off x="7931215" y="2817206"/>
            <a:ext cx="4113301" cy="461665"/>
          </a:xfrm>
          <a:prstGeom prst="rect">
            <a:avLst/>
          </a:prstGeom>
          <a:noFill/>
        </p:spPr>
        <p:txBody>
          <a:bodyPr wrap="square" rtlCol="0">
            <a:spAutoFit/>
          </a:bodyPr>
          <a:lstStyle/>
          <a:p>
            <a:r>
              <a:rPr lang="zh-CN" altLang="en-US" sz="2000" b="1" dirty="0"/>
              <a:t>拥有治国知识的哲人王统治</a:t>
            </a:r>
            <a:r>
              <a:rPr lang="zh-CN" altLang="en-US" sz="2400" b="1" dirty="0"/>
              <a:t>；</a:t>
            </a:r>
            <a:endParaRPr lang="en-US" altLang="zh-CN" sz="2400" b="1" dirty="0"/>
          </a:p>
        </p:txBody>
      </p:sp>
      <p:sp>
        <p:nvSpPr>
          <p:cNvPr id="19" name="文本框 18">
            <a:extLst>
              <a:ext uri="{FF2B5EF4-FFF2-40B4-BE49-F238E27FC236}">
                <a16:creationId xmlns:a16="http://schemas.microsoft.com/office/drawing/2014/main" id="{AF2470D6-6FB2-4795-A4A2-4E6E0E1D5918}"/>
              </a:ext>
            </a:extLst>
          </p:cNvPr>
          <p:cNvSpPr txBox="1"/>
          <p:nvPr/>
        </p:nvSpPr>
        <p:spPr>
          <a:xfrm>
            <a:off x="7917554" y="3551426"/>
            <a:ext cx="4485373" cy="707886"/>
          </a:xfrm>
          <a:prstGeom prst="rect">
            <a:avLst/>
          </a:prstGeom>
          <a:noFill/>
        </p:spPr>
        <p:txBody>
          <a:bodyPr wrap="square" rtlCol="0">
            <a:spAutoFit/>
          </a:bodyPr>
          <a:lstStyle/>
          <a:p>
            <a:r>
              <a:rPr lang="zh-CN" altLang="en-US" sz="2000" b="1" dirty="0"/>
              <a:t>年轻人不参政，哲人王经受教育后在</a:t>
            </a:r>
            <a:r>
              <a:rPr lang="en-US" altLang="zh-CN" sz="2000" b="1" dirty="0"/>
              <a:t>50</a:t>
            </a:r>
            <a:r>
              <a:rPr lang="zh-CN" altLang="en-US" sz="2000" b="1" dirty="0"/>
              <a:t>岁后进入城邦管理</a:t>
            </a:r>
          </a:p>
        </p:txBody>
      </p:sp>
      <p:sp>
        <p:nvSpPr>
          <p:cNvPr id="20" name="文本框 19">
            <a:extLst>
              <a:ext uri="{FF2B5EF4-FFF2-40B4-BE49-F238E27FC236}">
                <a16:creationId xmlns:a16="http://schemas.microsoft.com/office/drawing/2014/main" id="{A402A7CD-800C-4E8B-ACC8-996C591E6C57}"/>
              </a:ext>
            </a:extLst>
          </p:cNvPr>
          <p:cNvSpPr txBox="1"/>
          <p:nvPr/>
        </p:nvSpPr>
        <p:spPr>
          <a:xfrm>
            <a:off x="8017845" y="4397120"/>
            <a:ext cx="3869356" cy="707886"/>
          </a:xfrm>
          <a:prstGeom prst="rect">
            <a:avLst/>
          </a:prstGeom>
          <a:noFill/>
        </p:spPr>
        <p:txBody>
          <a:bodyPr wrap="square" rtlCol="0">
            <a:spAutoFit/>
          </a:bodyPr>
          <a:lstStyle/>
          <a:p>
            <a:r>
              <a:rPr lang="zh-CN" altLang="en-US" sz="2000" b="1" dirty="0"/>
              <a:t>希腊各城邦之间不再相互毁灭土地</a:t>
            </a:r>
          </a:p>
        </p:txBody>
      </p:sp>
      <p:pic>
        <p:nvPicPr>
          <p:cNvPr id="21" name="图片 20">
            <a:extLst>
              <a:ext uri="{FF2B5EF4-FFF2-40B4-BE49-F238E27FC236}">
                <a16:creationId xmlns:a16="http://schemas.microsoft.com/office/drawing/2014/main" id="{0F69F34D-7154-4D0B-8741-13F04C7A2CE1}"/>
              </a:ext>
            </a:extLst>
          </p:cNvPr>
          <p:cNvPicPr>
            <a:picLocks noChangeAspect="1"/>
          </p:cNvPicPr>
          <p:nvPr/>
        </p:nvPicPr>
        <p:blipFill>
          <a:blip r:embed="rId2"/>
          <a:stretch>
            <a:fillRect/>
          </a:stretch>
        </p:blipFill>
        <p:spPr>
          <a:xfrm>
            <a:off x="4860757" y="2044127"/>
            <a:ext cx="2352312" cy="3118862"/>
          </a:xfrm>
          <a:prstGeom prst="rect">
            <a:avLst/>
          </a:prstGeom>
        </p:spPr>
      </p:pic>
    </p:spTree>
    <p:extLst>
      <p:ext uri="{BB962C8B-B14F-4D97-AF65-F5344CB8AC3E}">
        <p14:creationId xmlns:p14="http://schemas.microsoft.com/office/powerpoint/2010/main" val="1201569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10363200" cy="1143000"/>
          </a:xfrm>
        </p:spPr>
        <p:txBody>
          <a:bodyPr/>
          <a:lstStyle/>
          <a:p>
            <a:r>
              <a:rPr lang="en-US" altLang="zh-CN" dirty="0"/>
              <a:t>《</a:t>
            </a:r>
            <a:r>
              <a:rPr lang="zh-CN" altLang="en-US" dirty="0"/>
              <a:t>理想国</a:t>
            </a:r>
            <a:r>
              <a:rPr lang="en-US" altLang="zh-CN" dirty="0"/>
              <a:t>》</a:t>
            </a:r>
            <a:r>
              <a:rPr lang="zh-CN" altLang="en-US" dirty="0"/>
              <a:t>中的重要概念</a:t>
            </a:r>
          </a:p>
        </p:txBody>
      </p:sp>
      <p:sp>
        <p:nvSpPr>
          <p:cNvPr id="3" name="Content Placeholder 2"/>
          <p:cNvSpPr>
            <a:spLocks noGrp="1"/>
          </p:cNvSpPr>
          <p:nvPr>
            <p:ph sz="half" idx="1"/>
          </p:nvPr>
        </p:nvSpPr>
        <p:spPr>
          <a:xfrm>
            <a:off x="285894" y="1302774"/>
            <a:ext cx="5040000" cy="3921601"/>
          </a:xfrm>
        </p:spPr>
        <p:txBody>
          <a:bodyPr>
            <a:normAutofit fontScale="85000" lnSpcReduction="20000"/>
          </a:bodyPr>
          <a:lstStyle/>
          <a:p>
            <a:r>
              <a:rPr lang="zh-CN" altLang="en-US" b="1" dirty="0"/>
              <a:t>柏拉图在</a:t>
            </a:r>
            <a:r>
              <a:rPr lang="en-US" altLang="zh-CN" b="1" i="1" dirty="0" err="1"/>
              <a:t>Politeia</a:t>
            </a:r>
            <a:r>
              <a:rPr lang="zh-CN" altLang="en-US" b="1" dirty="0"/>
              <a:t>中讨论了（希腊）人的最好共同生活方式，或者说最佳政治制度。</a:t>
            </a:r>
          </a:p>
          <a:p>
            <a:r>
              <a:rPr lang="zh-CN" altLang="en-US" b="1" dirty="0"/>
              <a:t>在古希腊人的传统观念中，好的生活有赖于一种好的生活方式。什么是过得好呢？传统过得好就是要过一种</a:t>
            </a:r>
            <a:r>
              <a:rPr lang="zh-CN" altLang="en-US" b="1" dirty="0">
                <a:solidFill>
                  <a:srgbClr val="FF0000"/>
                </a:solidFill>
              </a:rPr>
              <a:t>卓越的</a:t>
            </a:r>
            <a:r>
              <a:rPr lang="zh-CN" altLang="en-US" b="1" dirty="0"/>
              <a:t>（有德性的），幸福的，人人羡慕的生活。对古希腊人来说，这种生活依赖（政治）共同生活。</a:t>
            </a:r>
          </a:p>
        </p:txBody>
      </p:sp>
      <p:sp>
        <p:nvSpPr>
          <p:cNvPr id="4" name="Content Placeholder 3"/>
          <p:cNvSpPr>
            <a:spLocks noGrp="1"/>
          </p:cNvSpPr>
          <p:nvPr>
            <p:ph sz="half" idx="2"/>
          </p:nvPr>
        </p:nvSpPr>
        <p:spPr>
          <a:xfrm>
            <a:off x="6394244" y="1371599"/>
            <a:ext cx="5306143" cy="4626077"/>
          </a:xfrm>
        </p:spPr>
        <p:txBody>
          <a:bodyPr>
            <a:normAutofit fontScale="85000" lnSpcReduction="20000"/>
          </a:bodyPr>
          <a:lstStyle/>
          <a:p>
            <a:pPr>
              <a:lnSpc>
                <a:spcPct val="120000"/>
              </a:lnSpc>
            </a:pPr>
            <a:r>
              <a:rPr lang="zh-CN" altLang="en-US" b="1" dirty="0"/>
              <a:t>古希腊人的“卓越”（</a:t>
            </a:r>
            <a:r>
              <a:rPr lang="en-US" altLang="zh-CN" b="1" dirty="0"/>
              <a:t>Arete</a:t>
            </a:r>
            <a:r>
              <a:rPr lang="zh-CN" altLang="en-US" b="1" dirty="0"/>
              <a:t>）</a:t>
            </a:r>
            <a:r>
              <a:rPr lang="en-US" altLang="zh-CN" b="1" dirty="0"/>
              <a:t>—</a:t>
            </a:r>
            <a:r>
              <a:rPr lang="zh-CN" altLang="en-US" b="1" dirty="0"/>
              <a:t>德性，源自荷马史诗，宣扬的是一种英雄的</a:t>
            </a:r>
            <a:r>
              <a:rPr lang="zh-CN" altLang="en-US" b="1" dirty="0">
                <a:solidFill>
                  <a:srgbClr val="FF0000"/>
                </a:solidFill>
              </a:rPr>
              <a:t>荣誉伦理</a:t>
            </a:r>
            <a:r>
              <a:rPr lang="zh-CN" altLang="en-US" b="1" dirty="0"/>
              <a:t>，与后世道德哲学意义上的</a:t>
            </a:r>
            <a:r>
              <a:rPr lang="zh-CN" altLang="en-US" b="1" dirty="0">
                <a:solidFill>
                  <a:srgbClr val="FF0000"/>
                </a:solidFill>
              </a:rPr>
              <a:t>美德</a:t>
            </a:r>
            <a:r>
              <a:rPr lang="zh-CN" altLang="en-US" b="1" dirty="0"/>
              <a:t>概念大相径庭。</a:t>
            </a:r>
            <a:endParaRPr lang="en-US" altLang="zh-CN" b="1" dirty="0"/>
          </a:p>
          <a:p>
            <a:pPr>
              <a:lnSpc>
                <a:spcPct val="120000"/>
              </a:lnSpc>
            </a:pPr>
            <a:r>
              <a:rPr lang="zh-CN" altLang="en-US" b="1" dirty="0"/>
              <a:t>但这种</a:t>
            </a:r>
            <a:r>
              <a:rPr lang="en-US" altLang="zh-CN" b="1" dirty="0"/>
              <a:t>Arete, </a:t>
            </a:r>
            <a:r>
              <a:rPr lang="zh-CN" altLang="en-US" b="1" dirty="0"/>
              <a:t>与政治生活直接相关，政治领袖就被认为具有</a:t>
            </a:r>
            <a:r>
              <a:rPr lang="en-US" altLang="zh-CN" b="1" dirty="0"/>
              <a:t>Arete</a:t>
            </a:r>
            <a:r>
              <a:rPr lang="zh-CN" altLang="en-US" b="1" dirty="0"/>
              <a:t>，苏格拉底认为这种</a:t>
            </a:r>
            <a:r>
              <a:rPr lang="en-US" altLang="zh-CN" b="1" dirty="0"/>
              <a:t>Arete</a:t>
            </a:r>
            <a:r>
              <a:rPr lang="zh-CN" altLang="en-US" b="1" dirty="0"/>
              <a:t>是不可教的（</a:t>
            </a:r>
            <a:r>
              <a:rPr lang="en-US" altLang="zh-CN" b="1" dirty="0"/>
              <a:t>《</a:t>
            </a:r>
            <a:r>
              <a:rPr lang="zh-CN" altLang="en-US" b="1" dirty="0"/>
              <a:t>美诺篇</a:t>
            </a:r>
            <a:r>
              <a:rPr lang="en-US" altLang="zh-CN" b="1" dirty="0"/>
              <a:t>》</a:t>
            </a:r>
            <a:r>
              <a:rPr lang="zh-CN" altLang="en-US" b="1" dirty="0"/>
              <a:t>），柏拉图试图在</a:t>
            </a:r>
            <a:r>
              <a:rPr lang="en-US" altLang="zh-CN" b="1" dirty="0"/>
              <a:t>《</a:t>
            </a:r>
            <a:r>
              <a:rPr lang="zh-CN" altLang="en-US" b="1" dirty="0"/>
              <a:t>理想国</a:t>
            </a:r>
            <a:r>
              <a:rPr lang="en-US" altLang="zh-CN" b="1" dirty="0"/>
              <a:t>》</a:t>
            </a:r>
            <a:r>
              <a:rPr lang="zh-CN" altLang="en-US" b="1" dirty="0"/>
              <a:t>中建构一种</a:t>
            </a:r>
            <a:r>
              <a:rPr lang="zh-CN" altLang="en-US" b="1" dirty="0">
                <a:solidFill>
                  <a:srgbClr val="FF0000"/>
                </a:solidFill>
              </a:rPr>
              <a:t>美德伦理</a:t>
            </a:r>
            <a:r>
              <a:rPr lang="zh-CN" altLang="en-US" b="1" dirty="0"/>
              <a:t>，以城邦福祉为目的、以个人美德完善为伦理政治生活的目标，以教育为最佳政治生活的实现方式。</a:t>
            </a:r>
            <a:endParaRPr lang="en-US" altLang="zh-CN" b="1" dirty="0"/>
          </a:p>
          <a:p>
            <a:endParaRPr lang="zh-CN" alt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7193" y="4441558"/>
            <a:ext cx="3519104" cy="2227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353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circle(in)">
                                      <p:cBhvr>
                                        <p:cTn id="17" dur="20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circle(in)">
                                      <p:cBhvr>
                                        <p:cTn id="22" dur="20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2290"/>
                                        </p:tgtEl>
                                        <p:attrNameLst>
                                          <p:attrName>style.visibility</p:attrName>
                                        </p:attrNameLst>
                                      </p:cBhvr>
                                      <p:to>
                                        <p:strVal val="visible"/>
                                      </p:to>
                                    </p:set>
                                    <p:animEffect transition="in" filter="randombar(horizontal)">
                                      <p:cBhvr>
                                        <p:cTn id="2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normAutofit fontScale="70000" lnSpcReduction="20000"/>
          </a:bodyPr>
          <a:lstStyle/>
          <a:p>
            <a:r>
              <a:rPr lang="zh-CN" altLang="en-US" dirty="0"/>
              <a:t>共同生活总是与他人一起的。那么，如果人们想过得好，生活得好，应该如何与他人共同生活？</a:t>
            </a:r>
            <a:endParaRPr lang="en-US" altLang="zh-CN" dirty="0"/>
          </a:p>
          <a:p>
            <a:r>
              <a:rPr lang="zh-CN" altLang="en-US" dirty="0"/>
              <a:t>在与他人共同的生活中，有两种基本的选择可能，一种是让他人得到他所应得的，而另一种是完全不顾及他人的需要，掠夺他人应得之分。前者是正义的，后者是不正义的。</a:t>
            </a:r>
          </a:p>
          <a:p>
            <a:r>
              <a:rPr lang="zh-CN" altLang="en-US" dirty="0"/>
              <a:t>因而应该如何过一种好的共同生活的问题就变成了：应该正义地对待他人还是不正义的对待他人？换句话说，是应该正义地去生活还是不正义地去生活？ </a:t>
            </a:r>
            <a:endParaRPr lang="en-US" altLang="zh-CN" dirty="0"/>
          </a:p>
          <a:p>
            <a:r>
              <a:rPr lang="en-US" altLang="zh-CN" dirty="0"/>
              <a:t>《</a:t>
            </a:r>
            <a:r>
              <a:rPr lang="zh-CN" altLang="en-US" dirty="0"/>
              <a:t>理想国</a:t>
            </a:r>
            <a:r>
              <a:rPr lang="en-US" altLang="zh-CN" dirty="0"/>
              <a:t>》</a:t>
            </a:r>
            <a:r>
              <a:rPr lang="zh-CN" altLang="en-US" dirty="0"/>
              <a:t>就是关于正义，关于应该选择哪一种生活的理性的、哲学的讨论。</a:t>
            </a:r>
            <a:endParaRPr lang="en-US" altLang="zh-CN" dirty="0"/>
          </a:p>
          <a:p>
            <a:endParaRPr lang="zh-CN" altLang="en-US" dirty="0"/>
          </a:p>
          <a:p>
            <a:endParaRPr lang="zh-CN" altLang="en-US" dirty="0"/>
          </a:p>
        </p:txBody>
      </p:sp>
      <p:sp>
        <p:nvSpPr>
          <p:cNvPr id="4" name="Content Placeholder 3"/>
          <p:cNvSpPr>
            <a:spLocks noGrp="1"/>
          </p:cNvSpPr>
          <p:nvPr>
            <p:ph sz="half" idx="2"/>
          </p:nvPr>
        </p:nvSpPr>
        <p:spPr/>
        <p:txBody>
          <a:bodyPr>
            <a:normAutofit fontScale="70000" lnSpcReduction="20000"/>
          </a:bodyPr>
          <a:lstStyle/>
          <a:p>
            <a:r>
              <a:rPr lang="zh-CN" altLang="en-US" dirty="0"/>
              <a:t>古希腊语</a:t>
            </a:r>
            <a:r>
              <a:rPr lang="en-US" altLang="zh-CN" dirty="0" err="1"/>
              <a:t>dikaiosunê</a:t>
            </a:r>
            <a:r>
              <a:rPr lang="en-US" altLang="zh-CN" dirty="0"/>
              <a:t> (</a:t>
            </a:r>
            <a:r>
              <a:rPr lang="zh-CN" altLang="en-US" dirty="0"/>
              <a:t>正义</a:t>
            </a:r>
            <a:r>
              <a:rPr lang="en-US" altLang="zh-CN" dirty="0"/>
              <a:t>)</a:t>
            </a:r>
            <a:r>
              <a:rPr lang="zh-CN" altLang="en-US" dirty="0"/>
              <a:t>源自“</a:t>
            </a:r>
            <a:r>
              <a:rPr lang="en-US" altLang="zh-CN" dirty="0"/>
              <a:t>dike</a:t>
            </a:r>
            <a:r>
              <a:rPr lang="zh-CN" altLang="en-US" dirty="0"/>
              <a:t>”，正义女神。这个词的含义比英语的</a:t>
            </a:r>
            <a:r>
              <a:rPr lang="en-US" altLang="zh-CN" dirty="0"/>
              <a:t>justice</a:t>
            </a:r>
            <a:r>
              <a:rPr lang="zh-CN" altLang="en-US" dirty="0"/>
              <a:t>要广泛很多，泛指一般正当的、正确的行为。其反义词</a:t>
            </a:r>
            <a:r>
              <a:rPr lang="en-US" altLang="zh-CN" dirty="0" err="1"/>
              <a:t>adikia</a:t>
            </a:r>
            <a:r>
              <a:rPr lang="en-US" altLang="zh-CN" dirty="0"/>
              <a:t>, </a:t>
            </a:r>
            <a:r>
              <a:rPr lang="zh-CN" altLang="en-US" dirty="0"/>
              <a:t>泛指一般不正当的、错误的行为。</a:t>
            </a:r>
            <a:endParaRPr lang="en-US" altLang="zh-CN" dirty="0"/>
          </a:p>
          <a:p>
            <a:endParaRPr lang="en-US" altLang="zh-CN" dirty="0"/>
          </a:p>
          <a:p>
            <a:endParaRPr lang="zh-CN"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242" y="3280299"/>
            <a:ext cx="3299504" cy="306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598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circle(in)">
                                      <p:cBhvr>
                                        <p:cTn id="27" dur="20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3314"/>
                                        </p:tgtEl>
                                        <p:attrNameLst>
                                          <p:attrName>style.visibility</p:attrName>
                                        </p:attrNameLst>
                                      </p:cBhvr>
                                      <p:to>
                                        <p:strVal val="visible"/>
                                      </p:to>
                                    </p:set>
                                    <p:animEffect transition="in" filter="randombar(horizontal)">
                                      <p:cBhvr>
                                        <p:cTn id="32"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CCB8893-99A4-4A6B-AF1F-413267F0F550}"/>
              </a:ext>
            </a:extLst>
          </p:cNvPr>
          <p:cNvSpPr>
            <a:spLocks noGrp="1"/>
          </p:cNvSpPr>
          <p:nvPr>
            <p:ph type="title"/>
          </p:nvPr>
        </p:nvSpPr>
        <p:spPr/>
        <p:txBody>
          <a:bodyPr/>
          <a:lstStyle/>
          <a:p>
            <a:endParaRPr lang="zh-CN" altLang="en-US"/>
          </a:p>
        </p:txBody>
      </p:sp>
      <p:sp>
        <p:nvSpPr>
          <p:cNvPr id="6" name="文本框 5">
            <a:extLst>
              <a:ext uri="{FF2B5EF4-FFF2-40B4-BE49-F238E27FC236}">
                <a16:creationId xmlns:a16="http://schemas.microsoft.com/office/drawing/2014/main" id="{E5C508CA-905D-4BC6-81FD-DF18652F329B}"/>
              </a:ext>
            </a:extLst>
          </p:cNvPr>
          <p:cNvSpPr txBox="1"/>
          <p:nvPr/>
        </p:nvSpPr>
        <p:spPr>
          <a:xfrm>
            <a:off x="5091766" y="1766271"/>
            <a:ext cx="4042608" cy="369332"/>
          </a:xfrm>
          <a:prstGeom prst="rect">
            <a:avLst/>
          </a:prstGeom>
          <a:noFill/>
        </p:spPr>
        <p:txBody>
          <a:bodyPr wrap="square" rtlCol="0">
            <a:spAutoFit/>
          </a:bodyPr>
          <a:lstStyle/>
          <a:p>
            <a:r>
              <a:rPr lang="zh-CN" altLang="en-US" dirty="0"/>
              <a:t>如何对“正义”进行理性和哲学的讨论</a:t>
            </a:r>
          </a:p>
        </p:txBody>
      </p:sp>
      <p:sp>
        <p:nvSpPr>
          <p:cNvPr id="7" name="文本框 6">
            <a:extLst>
              <a:ext uri="{FF2B5EF4-FFF2-40B4-BE49-F238E27FC236}">
                <a16:creationId xmlns:a16="http://schemas.microsoft.com/office/drawing/2014/main" id="{6D579EA1-26B0-40E9-80F0-0CFF94D074EB}"/>
              </a:ext>
            </a:extLst>
          </p:cNvPr>
          <p:cNvSpPr txBox="1"/>
          <p:nvPr/>
        </p:nvSpPr>
        <p:spPr>
          <a:xfrm>
            <a:off x="4533496" y="2435639"/>
            <a:ext cx="2415941" cy="369332"/>
          </a:xfrm>
          <a:prstGeom prst="rect">
            <a:avLst/>
          </a:prstGeom>
          <a:noFill/>
        </p:spPr>
        <p:txBody>
          <a:bodyPr wrap="square" rtlCol="0">
            <a:spAutoFit/>
          </a:bodyPr>
          <a:lstStyle/>
          <a:p>
            <a:r>
              <a:rPr lang="zh-CN" altLang="en-US" dirty="0"/>
              <a:t>传统正义观念错误</a:t>
            </a:r>
          </a:p>
        </p:txBody>
      </p:sp>
      <p:sp>
        <p:nvSpPr>
          <p:cNvPr id="9" name="文本框 8">
            <a:extLst>
              <a:ext uri="{FF2B5EF4-FFF2-40B4-BE49-F238E27FC236}">
                <a16:creationId xmlns:a16="http://schemas.microsoft.com/office/drawing/2014/main" id="{A0774F9F-5056-4929-9EBE-B85C30831969}"/>
              </a:ext>
            </a:extLst>
          </p:cNvPr>
          <p:cNvSpPr txBox="1"/>
          <p:nvPr/>
        </p:nvSpPr>
        <p:spPr>
          <a:xfrm>
            <a:off x="6879656" y="2424567"/>
            <a:ext cx="2704699" cy="369332"/>
          </a:xfrm>
          <a:prstGeom prst="rect">
            <a:avLst/>
          </a:prstGeom>
          <a:noFill/>
        </p:spPr>
        <p:txBody>
          <a:bodyPr wrap="square" rtlCol="0">
            <a:spAutoFit/>
          </a:bodyPr>
          <a:lstStyle/>
          <a:p>
            <a:r>
              <a:rPr lang="zh-CN" altLang="en-US" dirty="0"/>
              <a:t>传统讨论与认知方法错误</a:t>
            </a:r>
          </a:p>
        </p:txBody>
      </p:sp>
      <p:sp>
        <p:nvSpPr>
          <p:cNvPr id="10" name="文本框 9">
            <a:extLst>
              <a:ext uri="{FF2B5EF4-FFF2-40B4-BE49-F238E27FC236}">
                <a16:creationId xmlns:a16="http://schemas.microsoft.com/office/drawing/2014/main" id="{ECC18DBF-130F-449C-83E4-F1321BEC3474}"/>
              </a:ext>
            </a:extLst>
          </p:cNvPr>
          <p:cNvSpPr txBox="1"/>
          <p:nvPr/>
        </p:nvSpPr>
        <p:spPr>
          <a:xfrm>
            <a:off x="4160437" y="3254673"/>
            <a:ext cx="5303685" cy="646331"/>
          </a:xfrm>
          <a:prstGeom prst="rect">
            <a:avLst/>
          </a:prstGeom>
          <a:noFill/>
        </p:spPr>
        <p:txBody>
          <a:bodyPr wrap="square" rtlCol="0">
            <a:spAutoFit/>
          </a:bodyPr>
          <a:lstStyle/>
          <a:p>
            <a:pPr algn="ctr"/>
            <a:r>
              <a:rPr lang="zh-CN" altLang="en-US" dirty="0"/>
              <a:t>重构正义理论</a:t>
            </a:r>
            <a:endParaRPr lang="en-US" altLang="zh-CN" dirty="0"/>
          </a:p>
          <a:p>
            <a:r>
              <a:rPr lang="zh-CN" altLang="en-US" dirty="0"/>
              <a:t>探讨城邦（国家）政治共同体的正义及其如何实现</a:t>
            </a:r>
          </a:p>
        </p:txBody>
      </p:sp>
      <p:sp>
        <p:nvSpPr>
          <p:cNvPr id="11" name="文本框 10">
            <a:extLst>
              <a:ext uri="{FF2B5EF4-FFF2-40B4-BE49-F238E27FC236}">
                <a16:creationId xmlns:a16="http://schemas.microsoft.com/office/drawing/2014/main" id="{53BC075E-EACD-4966-894F-4DF7FA1365BE}"/>
              </a:ext>
            </a:extLst>
          </p:cNvPr>
          <p:cNvSpPr txBox="1"/>
          <p:nvPr/>
        </p:nvSpPr>
        <p:spPr>
          <a:xfrm>
            <a:off x="4716376" y="4192413"/>
            <a:ext cx="4023365" cy="923330"/>
          </a:xfrm>
          <a:prstGeom prst="rect">
            <a:avLst/>
          </a:prstGeom>
          <a:noFill/>
        </p:spPr>
        <p:txBody>
          <a:bodyPr wrap="square" rtlCol="0">
            <a:spAutoFit/>
          </a:bodyPr>
          <a:lstStyle/>
          <a:p>
            <a:pPr algn="ctr"/>
            <a:r>
              <a:rPr lang="zh-CN" altLang="en-US" dirty="0"/>
              <a:t>“理想国”与哲人王：对正义理论的证明</a:t>
            </a:r>
            <a:endParaRPr lang="en-US" altLang="zh-CN" dirty="0"/>
          </a:p>
          <a:p>
            <a:pPr algn="ctr"/>
            <a:r>
              <a:rPr lang="zh-CN" altLang="en-US" dirty="0"/>
              <a:t>从认识论到形而上学根源的揭示</a:t>
            </a:r>
            <a:endParaRPr lang="en-US" altLang="zh-CN" dirty="0"/>
          </a:p>
          <a:p>
            <a:pPr algn="ctr"/>
            <a:r>
              <a:rPr lang="zh-CN" altLang="en-US" dirty="0"/>
              <a:t>理性教育与人的德性</a:t>
            </a:r>
          </a:p>
        </p:txBody>
      </p:sp>
      <p:sp>
        <p:nvSpPr>
          <p:cNvPr id="12" name="文本框 11">
            <a:extLst>
              <a:ext uri="{FF2B5EF4-FFF2-40B4-BE49-F238E27FC236}">
                <a16:creationId xmlns:a16="http://schemas.microsoft.com/office/drawing/2014/main" id="{15356269-D5AF-451C-8297-1EC55A2F892F}"/>
              </a:ext>
            </a:extLst>
          </p:cNvPr>
          <p:cNvSpPr txBox="1"/>
          <p:nvPr/>
        </p:nvSpPr>
        <p:spPr>
          <a:xfrm>
            <a:off x="5261963" y="6063734"/>
            <a:ext cx="4148488" cy="369332"/>
          </a:xfrm>
          <a:prstGeom prst="rect">
            <a:avLst/>
          </a:prstGeom>
          <a:noFill/>
        </p:spPr>
        <p:txBody>
          <a:bodyPr wrap="square" rtlCol="0">
            <a:spAutoFit/>
          </a:bodyPr>
          <a:lstStyle/>
          <a:p>
            <a:r>
              <a:rPr lang="zh-CN" altLang="en-US" dirty="0"/>
              <a:t>错误认知方式对人们生活的危害</a:t>
            </a:r>
          </a:p>
        </p:txBody>
      </p:sp>
      <p:sp>
        <p:nvSpPr>
          <p:cNvPr id="13" name="文本框 12">
            <a:extLst>
              <a:ext uri="{FF2B5EF4-FFF2-40B4-BE49-F238E27FC236}">
                <a16:creationId xmlns:a16="http://schemas.microsoft.com/office/drawing/2014/main" id="{9B4A50B6-ED7B-4CEB-ADED-796280F0BED6}"/>
              </a:ext>
            </a:extLst>
          </p:cNvPr>
          <p:cNvSpPr txBox="1"/>
          <p:nvPr/>
        </p:nvSpPr>
        <p:spPr>
          <a:xfrm>
            <a:off x="1068404" y="2107933"/>
            <a:ext cx="2098308" cy="369332"/>
          </a:xfrm>
          <a:prstGeom prst="rect">
            <a:avLst/>
          </a:prstGeom>
          <a:noFill/>
        </p:spPr>
        <p:txBody>
          <a:bodyPr wrap="square" rtlCol="0">
            <a:spAutoFit/>
          </a:bodyPr>
          <a:lstStyle/>
          <a:p>
            <a:r>
              <a:rPr lang="zh-CN" altLang="en-US" dirty="0"/>
              <a:t>卷一、二</a:t>
            </a:r>
          </a:p>
        </p:txBody>
      </p:sp>
      <p:sp>
        <p:nvSpPr>
          <p:cNvPr id="14" name="文本框 13">
            <a:extLst>
              <a:ext uri="{FF2B5EF4-FFF2-40B4-BE49-F238E27FC236}">
                <a16:creationId xmlns:a16="http://schemas.microsoft.com/office/drawing/2014/main" id="{F371EAB5-88D2-44DC-85EB-5AA95167E2F9}"/>
              </a:ext>
            </a:extLst>
          </p:cNvPr>
          <p:cNvSpPr txBox="1"/>
          <p:nvPr/>
        </p:nvSpPr>
        <p:spPr>
          <a:xfrm>
            <a:off x="1068404" y="3367933"/>
            <a:ext cx="2184935" cy="369332"/>
          </a:xfrm>
          <a:prstGeom prst="rect">
            <a:avLst/>
          </a:prstGeom>
          <a:noFill/>
        </p:spPr>
        <p:txBody>
          <a:bodyPr wrap="square" rtlCol="0">
            <a:spAutoFit/>
          </a:bodyPr>
          <a:lstStyle/>
          <a:p>
            <a:r>
              <a:rPr lang="zh-CN" altLang="en-US" dirty="0"/>
              <a:t>卷二、三、四、五</a:t>
            </a:r>
          </a:p>
        </p:txBody>
      </p:sp>
      <p:sp>
        <p:nvSpPr>
          <p:cNvPr id="15" name="文本框 14">
            <a:extLst>
              <a:ext uri="{FF2B5EF4-FFF2-40B4-BE49-F238E27FC236}">
                <a16:creationId xmlns:a16="http://schemas.microsoft.com/office/drawing/2014/main" id="{F041429C-9C32-4AD5-BF5A-BA3C495EF455}"/>
              </a:ext>
            </a:extLst>
          </p:cNvPr>
          <p:cNvSpPr txBox="1"/>
          <p:nvPr/>
        </p:nvSpPr>
        <p:spPr>
          <a:xfrm>
            <a:off x="1068404" y="4314690"/>
            <a:ext cx="1982805" cy="369332"/>
          </a:xfrm>
          <a:prstGeom prst="rect">
            <a:avLst/>
          </a:prstGeom>
          <a:noFill/>
        </p:spPr>
        <p:txBody>
          <a:bodyPr wrap="square" rtlCol="0">
            <a:spAutoFit/>
          </a:bodyPr>
          <a:lstStyle/>
          <a:p>
            <a:r>
              <a:rPr lang="zh-CN" altLang="en-US" dirty="0"/>
              <a:t>卷五、六、七</a:t>
            </a:r>
          </a:p>
        </p:txBody>
      </p:sp>
      <p:sp>
        <p:nvSpPr>
          <p:cNvPr id="16" name="文本框 15">
            <a:extLst>
              <a:ext uri="{FF2B5EF4-FFF2-40B4-BE49-F238E27FC236}">
                <a16:creationId xmlns:a16="http://schemas.microsoft.com/office/drawing/2014/main" id="{4C4ECDA2-7D83-491D-B674-D3BC84406B55}"/>
              </a:ext>
            </a:extLst>
          </p:cNvPr>
          <p:cNvSpPr txBox="1"/>
          <p:nvPr/>
        </p:nvSpPr>
        <p:spPr>
          <a:xfrm>
            <a:off x="1068404" y="5235598"/>
            <a:ext cx="2184935" cy="369332"/>
          </a:xfrm>
          <a:prstGeom prst="rect">
            <a:avLst/>
          </a:prstGeom>
          <a:noFill/>
        </p:spPr>
        <p:txBody>
          <a:bodyPr wrap="square" rtlCol="0">
            <a:spAutoFit/>
          </a:bodyPr>
          <a:lstStyle/>
          <a:p>
            <a:r>
              <a:rPr lang="zh-CN" altLang="en-US" dirty="0"/>
              <a:t>卷八、九</a:t>
            </a:r>
          </a:p>
        </p:txBody>
      </p:sp>
      <p:sp>
        <p:nvSpPr>
          <p:cNvPr id="18" name="文本框 17">
            <a:extLst>
              <a:ext uri="{FF2B5EF4-FFF2-40B4-BE49-F238E27FC236}">
                <a16:creationId xmlns:a16="http://schemas.microsoft.com/office/drawing/2014/main" id="{0A8684B1-CEEA-4BE9-86B1-97857B68636E}"/>
              </a:ext>
            </a:extLst>
          </p:cNvPr>
          <p:cNvSpPr txBox="1"/>
          <p:nvPr/>
        </p:nvSpPr>
        <p:spPr>
          <a:xfrm>
            <a:off x="4985886" y="5345494"/>
            <a:ext cx="4148488" cy="369332"/>
          </a:xfrm>
          <a:prstGeom prst="rect">
            <a:avLst/>
          </a:prstGeom>
          <a:noFill/>
        </p:spPr>
        <p:txBody>
          <a:bodyPr wrap="square" rtlCol="0">
            <a:spAutoFit/>
          </a:bodyPr>
          <a:lstStyle/>
          <a:p>
            <a:r>
              <a:rPr lang="zh-CN" altLang="en-US" dirty="0"/>
              <a:t>错误共同（政治）生活方式对人的危害</a:t>
            </a:r>
          </a:p>
        </p:txBody>
      </p:sp>
      <p:sp>
        <p:nvSpPr>
          <p:cNvPr id="20" name="文本框 19">
            <a:extLst>
              <a:ext uri="{FF2B5EF4-FFF2-40B4-BE49-F238E27FC236}">
                <a16:creationId xmlns:a16="http://schemas.microsoft.com/office/drawing/2014/main" id="{B57793A5-B4F7-4425-8BA4-04F8D75F595D}"/>
              </a:ext>
            </a:extLst>
          </p:cNvPr>
          <p:cNvSpPr txBox="1"/>
          <p:nvPr/>
        </p:nvSpPr>
        <p:spPr>
          <a:xfrm>
            <a:off x="1068404" y="5881036"/>
            <a:ext cx="1694046" cy="369332"/>
          </a:xfrm>
          <a:prstGeom prst="rect">
            <a:avLst/>
          </a:prstGeom>
          <a:noFill/>
        </p:spPr>
        <p:txBody>
          <a:bodyPr wrap="square" rtlCol="0">
            <a:spAutoFit/>
          </a:bodyPr>
          <a:lstStyle/>
          <a:p>
            <a:r>
              <a:rPr lang="zh-CN" altLang="en-US" dirty="0"/>
              <a:t>卷十</a:t>
            </a:r>
          </a:p>
        </p:txBody>
      </p:sp>
      <p:cxnSp>
        <p:nvCxnSpPr>
          <p:cNvPr id="22" name="直接连接符 21">
            <a:extLst>
              <a:ext uri="{FF2B5EF4-FFF2-40B4-BE49-F238E27FC236}">
                <a16:creationId xmlns:a16="http://schemas.microsoft.com/office/drawing/2014/main" id="{D490313C-CAE6-444B-AD3C-829666010B83}"/>
              </a:ext>
            </a:extLst>
          </p:cNvPr>
          <p:cNvCxnSpPr>
            <a:cxnSpLocks/>
          </p:cNvCxnSpPr>
          <p:nvPr/>
        </p:nvCxnSpPr>
        <p:spPr>
          <a:xfrm flipH="1">
            <a:off x="5806441" y="2166388"/>
            <a:ext cx="364791" cy="1906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C820AE25-05E1-44C6-9183-2DF1D7F9AEC5}"/>
              </a:ext>
            </a:extLst>
          </p:cNvPr>
          <p:cNvCxnSpPr/>
          <p:nvPr/>
        </p:nvCxnSpPr>
        <p:spPr>
          <a:xfrm>
            <a:off x="7526956" y="2155273"/>
            <a:ext cx="336884" cy="26929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箭头: 下 25">
            <a:extLst>
              <a:ext uri="{FF2B5EF4-FFF2-40B4-BE49-F238E27FC236}">
                <a16:creationId xmlns:a16="http://schemas.microsoft.com/office/drawing/2014/main" id="{FF2CCD00-B148-40A6-9AB8-B74EFE0095F1}"/>
              </a:ext>
            </a:extLst>
          </p:cNvPr>
          <p:cNvSpPr/>
          <p:nvPr/>
        </p:nvSpPr>
        <p:spPr>
          <a:xfrm>
            <a:off x="6670308" y="2804971"/>
            <a:ext cx="141972" cy="353108"/>
          </a:xfrm>
          <a:prstGeom prst="down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7" name="箭头: 上 26">
            <a:extLst>
              <a:ext uri="{FF2B5EF4-FFF2-40B4-BE49-F238E27FC236}">
                <a16:creationId xmlns:a16="http://schemas.microsoft.com/office/drawing/2014/main" id="{9E729123-E7DF-41EB-BB74-D8DFA0BB99FC}"/>
              </a:ext>
            </a:extLst>
          </p:cNvPr>
          <p:cNvSpPr/>
          <p:nvPr/>
        </p:nvSpPr>
        <p:spPr>
          <a:xfrm>
            <a:off x="6670308" y="3888025"/>
            <a:ext cx="141972" cy="288165"/>
          </a:xfrm>
          <a:prstGeom prst="up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AB95863D-0906-49C2-AEE5-90EC6F8FBC5B}"/>
              </a:ext>
            </a:extLst>
          </p:cNvPr>
          <p:cNvSpPr/>
          <p:nvPr/>
        </p:nvSpPr>
        <p:spPr>
          <a:xfrm>
            <a:off x="6670308" y="5115743"/>
            <a:ext cx="132795" cy="215246"/>
          </a:xfrm>
          <a:prstGeom prst="downArrow">
            <a:avLst/>
          </a:prstGeom>
          <a:solidFill>
            <a:srgbClr val="FF0000"/>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9" name="箭头: 上 28">
            <a:extLst>
              <a:ext uri="{FF2B5EF4-FFF2-40B4-BE49-F238E27FC236}">
                <a16:creationId xmlns:a16="http://schemas.microsoft.com/office/drawing/2014/main" id="{C07E3314-D3F8-4B4A-9B2B-5F78F520787E}"/>
              </a:ext>
            </a:extLst>
          </p:cNvPr>
          <p:cNvSpPr/>
          <p:nvPr/>
        </p:nvSpPr>
        <p:spPr>
          <a:xfrm>
            <a:off x="6670308" y="5739138"/>
            <a:ext cx="141972" cy="332617"/>
          </a:xfrm>
          <a:prstGeom prst="up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54459285"/>
      </p:ext>
    </p:extLst>
  </p:cSld>
  <p:clrMapOvr>
    <a:masterClrMapping/>
  </p:clrMapOvr>
</p:sld>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1013E350-8288-4DC9-9CB7-9B925C0CF559}" vid="{B22B4746-6D8D-4A3B-A9CB-BFC1A42E5F87}"/>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1013E350-8288-4DC9-9CB7-9B925C0CF559}" vid="{B22B4746-6D8D-4A3B-A9CB-BFC1A42E5F87}"/>
    </a:ext>
  </a:extLst>
</a:theme>
</file>

<file path=ppt/theme/theme4.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EBF972C-B81A-46A3-BFB2-A01F0B5DBC70}">
  <ds:schemaRefs>
    <ds:schemaRef ds:uri="http://schemas.microsoft.com/sharepoint/v3/contenttype/forms"/>
  </ds:schemaRefs>
</ds:datastoreItem>
</file>

<file path=customXml/itemProps2.xml><?xml version="1.0" encoding="utf-8"?>
<ds:datastoreItem xmlns:ds="http://schemas.openxmlformats.org/officeDocument/2006/customXml" ds:itemID="{063CD11F-9FDB-4628-B708-63BFB2D681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3E21D3-7788-4819-8437-C5C4B0C5D46D}">
  <ds:schemaRef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fb0879af-3eba-417a-a55a-ffe6dcd6ca77"/>
    <ds:schemaRef ds:uri="http://schemas.microsoft.com/office/2006/documentManagement/types"/>
    <ds:schemaRef ds:uri="http://purl.org/dc/terms/"/>
    <ds:schemaRef ds:uri="http://purl.org/dc/dcmitype/"/>
    <ds:schemaRef ds:uri="6dc4bcd6-49db-4c07-9060-8acfc67cef9f"/>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主题1</Template>
  <TotalTime>0</TotalTime>
  <Words>3618</Words>
  <Application>Microsoft Office PowerPoint</Application>
  <PresentationFormat>宽屏</PresentationFormat>
  <Paragraphs>229</Paragraphs>
  <Slides>30</Slides>
  <Notes>3</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30</vt:i4>
      </vt:variant>
    </vt:vector>
  </HeadingPairs>
  <TitlesOfParts>
    <vt:vector size="42" baseType="lpstr">
      <vt:lpstr>Microsoft YaHei UI</vt:lpstr>
      <vt:lpstr>等线</vt:lpstr>
      <vt:lpstr>等线 Light</vt:lpstr>
      <vt:lpstr>楷体</vt:lpstr>
      <vt:lpstr>宋体</vt:lpstr>
      <vt:lpstr>微软雅黑</vt:lpstr>
      <vt:lpstr>Arial</vt:lpstr>
      <vt:lpstr>Times New Roman</vt:lpstr>
      <vt:lpstr>主题1</vt:lpstr>
      <vt:lpstr>Default Design</vt:lpstr>
      <vt:lpstr>1_主题1</vt:lpstr>
      <vt:lpstr>1_Default Design</vt:lpstr>
      <vt:lpstr>如何使用此模板</vt:lpstr>
      <vt:lpstr>考核方式</vt:lpstr>
      <vt:lpstr>教学内容</vt:lpstr>
      <vt:lpstr>一、导论</vt:lpstr>
      <vt:lpstr> 1.2 《理想国》阅读和接受 </vt:lpstr>
      <vt:lpstr>PowerPoint 演示文稿</vt:lpstr>
      <vt:lpstr>1.2《理想国》篇名释义</vt:lpstr>
      <vt:lpstr>Politeia的根本含义</vt:lpstr>
      <vt:lpstr>写过politeia的古典作家</vt:lpstr>
      <vt:lpstr>1.3，柏拉图与《理想国》</vt:lpstr>
      <vt:lpstr>PowerPoint 演示文稿</vt:lpstr>
      <vt:lpstr>柏拉图作品排序</vt:lpstr>
      <vt:lpstr> 古典学与柏拉图研究 </vt:lpstr>
      <vt:lpstr>柏拉图作品索引方式</vt:lpstr>
      <vt:lpstr>教材</vt:lpstr>
      <vt:lpstr>PowerPoint 演示文稿</vt:lpstr>
      <vt:lpstr>1.5《理想国》历史背景 </vt:lpstr>
      <vt:lpstr>PowerPoint 演示文稿</vt:lpstr>
      <vt:lpstr>民主制的诞生</vt:lpstr>
      <vt:lpstr>PowerPoint 演示文稿</vt:lpstr>
      <vt:lpstr>雅典帝国的形成及其衰亡</vt:lpstr>
      <vt:lpstr>雅典帝国的兴亡</vt:lpstr>
      <vt:lpstr>古希腊民主意识形态</vt:lpstr>
      <vt:lpstr>民主政制的弊端 </vt:lpstr>
      <vt:lpstr>柏拉图对雅典民主政治的批评</vt:lpstr>
      <vt:lpstr>雅典demos帝国形成的共同生活方式</vt:lpstr>
      <vt:lpstr>柏拉图想要进行的改变</vt:lpstr>
      <vt:lpstr>《理想国》中的重要概念</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2020-02-08T12:01:34Z</dcterms:created>
  <dcterms:modified xsi:type="dcterms:W3CDTF">2025-09-16T08:28:27Z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