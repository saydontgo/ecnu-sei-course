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81" r:id="rId4"/>
  </p:sldMasterIdLst>
  <p:notesMasterIdLst>
    <p:notesMasterId r:id="rId72"/>
  </p:notesMasterIdLst>
  <p:handoutMasterIdLst>
    <p:handoutMasterId r:id="rId73"/>
  </p:handoutMasterIdLst>
  <p:sldIdLst>
    <p:sldId id="412" r:id="rId5"/>
    <p:sldId id="324" r:id="rId6"/>
    <p:sldId id="325" r:id="rId7"/>
    <p:sldId id="398" r:id="rId8"/>
    <p:sldId id="326" r:id="rId9"/>
    <p:sldId id="327" r:id="rId10"/>
    <p:sldId id="400" r:id="rId11"/>
    <p:sldId id="328" r:id="rId12"/>
    <p:sldId id="329" r:id="rId13"/>
    <p:sldId id="330" r:id="rId14"/>
    <p:sldId id="331" r:id="rId15"/>
    <p:sldId id="332" r:id="rId16"/>
    <p:sldId id="383" r:id="rId17"/>
    <p:sldId id="385" r:id="rId18"/>
    <p:sldId id="386" r:id="rId19"/>
    <p:sldId id="389" r:id="rId20"/>
    <p:sldId id="382" r:id="rId21"/>
    <p:sldId id="333" r:id="rId22"/>
    <p:sldId id="334" r:id="rId23"/>
    <p:sldId id="387" r:id="rId24"/>
    <p:sldId id="335" r:id="rId25"/>
    <p:sldId id="338" r:id="rId26"/>
    <p:sldId id="336" r:id="rId27"/>
    <p:sldId id="337" r:id="rId28"/>
    <p:sldId id="339" r:id="rId29"/>
    <p:sldId id="340" r:id="rId30"/>
    <p:sldId id="341" r:id="rId31"/>
    <p:sldId id="342" r:id="rId32"/>
    <p:sldId id="396" r:id="rId33"/>
    <p:sldId id="388" r:id="rId34"/>
    <p:sldId id="344" r:id="rId35"/>
    <p:sldId id="343" r:id="rId36"/>
    <p:sldId id="345" r:id="rId37"/>
    <p:sldId id="401" r:id="rId38"/>
    <p:sldId id="402" r:id="rId39"/>
    <p:sldId id="403" r:id="rId40"/>
    <p:sldId id="404" r:id="rId41"/>
    <p:sldId id="405" r:id="rId42"/>
    <p:sldId id="406" r:id="rId43"/>
    <p:sldId id="407" r:id="rId44"/>
    <p:sldId id="408" r:id="rId45"/>
    <p:sldId id="390" r:id="rId46"/>
    <p:sldId id="355" r:id="rId47"/>
    <p:sldId id="409" r:id="rId48"/>
    <p:sldId id="410" r:id="rId49"/>
    <p:sldId id="392" r:id="rId50"/>
    <p:sldId id="411" r:id="rId51"/>
    <p:sldId id="357" r:id="rId52"/>
    <p:sldId id="358" r:id="rId53"/>
    <p:sldId id="360" r:id="rId54"/>
    <p:sldId id="359" r:id="rId55"/>
    <p:sldId id="361" r:id="rId56"/>
    <p:sldId id="394" r:id="rId57"/>
    <p:sldId id="364" r:id="rId58"/>
    <p:sldId id="363" r:id="rId59"/>
    <p:sldId id="366" r:id="rId60"/>
    <p:sldId id="365" r:id="rId61"/>
    <p:sldId id="399" r:id="rId62"/>
    <p:sldId id="368" r:id="rId63"/>
    <p:sldId id="369" r:id="rId64"/>
    <p:sldId id="371" r:id="rId65"/>
    <p:sldId id="372" r:id="rId66"/>
    <p:sldId id="374" r:id="rId67"/>
    <p:sldId id="375" r:id="rId68"/>
    <p:sldId id="376" r:id="rId69"/>
    <p:sldId id="397" r:id="rId70"/>
    <p:sldId id="395" r:id="rId71"/>
  </p:sldIdLst>
  <p:sldSz cx="12192000" cy="6858000"/>
  <p:notesSz cx="6858000" cy="9144000"/>
  <p:defaultTextStyle>
    <a:defPPr rtl="0">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3E57"/>
    <a:srgbClr val="184259"/>
    <a:srgbClr val="9C4E4E"/>
    <a:srgbClr val="700000"/>
    <a:srgbClr val="5E2001"/>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89" autoAdjust="0"/>
    <p:restoredTop sz="94652" autoAdjust="0"/>
  </p:normalViewPr>
  <p:slideViewPr>
    <p:cSldViewPr snapToGrid="0">
      <p:cViewPr varScale="1">
        <p:scale>
          <a:sx n="65" d="100"/>
          <a:sy n="65" d="100"/>
        </p:scale>
        <p:origin x="912" y="60"/>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7" d="100"/>
          <a:sy n="77" d="100"/>
        </p:scale>
        <p:origin x="3990"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194FFE89-DD1A-434A-B46E-FC016168196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3" name="日期占位符 2">
            <a:extLst>
              <a:ext uri="{FF2B5EF4-FFF2-40B4-BE49-F238E27FC236}">
                <a16:creationId xmlns:a16="http://schemas.microsoft.com/office/drawing/2014/main" id="{705BBA22-1009-4062-B497-20D4D1F4208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592F9BB-E9D3-4971-98B6-25B67B790E54}" type="datetime1">
              <a:rPr lang="zh-CN" altLang="en-US" smtClean="0">
                <a:latin typeface="Microsoft YaHei UI" panose="020B0503020204020204" pitchFamily="34" charset="-122"/>
                <a:ea typeface="Microsoft YaHei UI" panose="020B0503020204020204" pitchFamily="34" charset="-122"/>
              </a:rPr>
              <a:t>2025/9/18</a:t>
            </a:fld>
            <a:endParaRPr lang="zh-CN" altLang="en-US" dirty="0">
              <a:latin typeface="Microsoft YaHei UI" panose="020B0503020204020204" pitchFamily="34" charset="-122"/>
              <a:ea typeface="Microsoft YaHei UI" panose="020B0503020204020204" pitchFamily="34" charset="-122"/>
            </a:endParaRPr>
          </a:p>
        </p:txBody>
      </p:sp>
      <p:sp>
        <p:nvSpPr>
          <p:cNvPr id="4" name="页脚占位符 3">
            <a:extLst>
              <a:ext uri="{FF2B5EF4-FFF2-40B4-BE49-F238E27FC236}">
                <a16:creationId xmlns:a16="http://schemas.microsoft.com/office/drawing/2014/main" id="{265305A3-EF7C-4109-870C-75957F87F89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5" name="灯片编号占位符 4">
            <a:extLst>
              <a:ext uri="{FF2B5EF4-FFF2-40B4-BE49-F238E27FC236}">
                <a16:creationId xmlns:a16="http://schemas.microsoft.com/office/drawing/2014/main" id="{A65183E6-2BF7-4148-8288-DCAD651FB94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E6FCA6C9-E2E2-4922-B1A7-E6462166C8C6}" type="slidenum">
              <a:rPr lang="en-US" altLang="zh-CN" smtClean="0">
                <a:latin typeface="Microsoft YaHei UI" panose="020B0503020204020204" pitchFamily="34" charset="-122"/>
                <a:ea typeface="Microsoft YaHei UI" panose="020B0503020204020204" pitchFamily="34" charset="-122"/>
              </a:rPr>
              <a:t>‹#›</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9005968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icrosoft YaHei UI" panose="020B0503020204020204" pitchFamily="34" charset="-122"/>
                <a:ea typeface="Microsoft YaHei UI"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icrosoft YaHei UI" panose="020B0503020204020204" pitchFamily="34" charset="-122"/>
                <a:ea typeface="Microsoft YaHei UI" panose="020B0503020204020204" pitchFamily="34" charset="-122"/>
              </a:defRPr>
            </a:lvl1pPr>
          </a:lstStyle>
          <a:p>
            <a:fld id="{A3150C38-C506-467B-8DC0-1448EE621FE9}" type="datetime1">
              <a:rPr lang="zh-CN" altLang="en-US" smtClean="0"/>
              <a:pPr/>
              <a:t>2025/9/18</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icrosoft YaHei UI" panose="020B0503020204020204" pitchFamily="34" charset="-122"/>
                <a:ea typeface="Microsoft YaHei UI"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icrosoft YaHei UI" panose="020B0503020204020204" pitchFamily="34" charset="-122"/>
                <a:ea typeface="Microsoft YaHei UI" panose="020B0503020204020204" pitchFamily="34" charset="-122"/>
              </a:defRPr>
            </a:lvl1pPr>
          </a:lstStyle>
          <a:p>
            <a:fld id="{22C70E52-1238-4A7F-867E-2F90BFCA0D60}" type="slidenum">
              <a:rPr lang="en-US" altLang="zh-CN" smtClean="0"/>
              <a:pPr/>
              <a:t>‹#›</a:t>
            </a:fld>
            <a:endParaRPr lang="zh-CN" altLang="en-US"/>
          </a:p>
        </p:txBody>
      </p:sp>
    </p:spTree>
    <p:extLst>
      <p:ext uri="{BB962C8B-B14F-4D97-AF65-F5344CB8AC3E}">
        <p14:creationId xmlns:p14="http://schemas.microsoft.com/office/powerpoint/2010/main" val="3534581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2C70E52-1238-4A7F-867E-2F90BFCA0D60}" type="slidenum">
              <a:rPr kumimoji="0" lang="en-US" altLang="zh-CN" sz="1200" b="0" i="0" u="none" strike="noStrike" kern="1200" cap="none" spc="0" normalizeH="0" baseline="0" noProof="0" smtClean="0">
                <a:ln>
                  <a:noFill/>
                </a:ln>
                <a:solidFill>
                  <a:prstClr val="black"/>
                </a:solidFill>
                <a:effectLst/>
                <a:uLnTx/>
                <a:uFillTx/>
                <a:latin typeface="Microsoft YaHei UI" panose="020B0503020204020204" pitchFamily="34" charset="-122"/>
                <a:ea typeface="Microsoft YaHei UI" panose="020B0503020204020204" pitchFamily="34"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Microsoft YaHei UI" panose="020B0503020204020204" pitchFamily="34" charset="-122"/>
              <a:ea typeface="Microsoft YaHei UI" panose="020B0503020204020204" pitchFamily="34" charset="-122"/>
              <a:cs typeface="+mn-cs"/>
            </a:endParaRPr>
          </a:p>
        </p:txBody>
      </p:sp>
    </p:spTree>
    <p:extLst>
      <p:ext uri="{BB962C8B-B14F-4D97-AF65-F5344CB8AC3E}">
        <p14:creationId xmlns:p14="http://schemas.microsoft.com/office/powerpoint/2010/main" val="2562218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19CFA8DA-6A2E-452F-B2FD-C692E3F94771}"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577963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E6F208F5-23F9-41F0-9BD4-963E4B09B1C7}"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5289355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E07D7A5-162C-448B-9184-4DF74749515C}"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388989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6C7B8D8-DB3E-4157-B75E-F22DF685A7AD}"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77160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DAC17E3C-7BCD-4CE1-BB77-DBC4F6AAD3A7}"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151244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40450531-738C-4056-94DC-C9695B076A7E}"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4497408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02293090-B4C5-4232-8C20-16B4CD9E8563}"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946932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3D83C681-63CC-4C6E-BB2B-532CC9376B13}"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548821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4CD3E630-40F6-4B28-997D-664B0011855B}"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713853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429236F9-F5AC-4754-AA25-365CEB18F646}"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378038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zh-CN" altLang="en-US"/>
              <a:t>单击此处编辑母版标题样式</a:t>
            </a:r>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CD11ED9-4D7A-4F4E-812E-E8F30379C146}"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4216895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Content Placeholder 1"/>
          <p:cNvSpPr>
            <a:spLocks noGrp="1"/>
          </p:cNvSpPr>
          <p:nvPr>
            <p:ph/>
          </p:nvPr>
        </p:nvSpPr>
        <p:spPr>
          <a:xfrm>
            <a:off x="914400" y="609600"/>
            <a:ext cx="10363200" cy="5486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CBD3E1CC-83A2-4B9D-8E8B-60737E93608B}"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4461907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zh-CN" altLang="en-US"/>
              <a:t>单击此处编辑母版标题样式</a:t>
            </a:r>
          </a:p>
        </p:txBody>
      </p:sp>
      <p:sp>
        <p:nvSpPr>
          <p:cNvPr id="3" name="Text Placeholder 2"/>
          <p:cNvSpPr>
            <a:spLocks noGrp="1"/>
          </p:cNvSpPr>
          <p:nvPr>
            <p:ph type="body" sz="half" idx="1"/>
          </p:nvPr>
        </p:nvSpPr>
        <p:spPr>
          <a:xfrm>
            <a:off x="914400" y="1981200"/>
            <a:ext cx="508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Content Placeholder 3"/>
          <p:cNvSpPr>
            <a:spLocks noGrp="1"/>
          </p:cNvSpPr>
          <p:nvPr>
            <p:ph sz="quarter" idx="2"/>
          </p:nvPr>
        </p:nvSpPr>
        <p:spPr>
          <a:xfrm>
            <a:off x="6197600" y="1981200"/>
            <a:ext cx="5080000" cy="1981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Content Placeholder 4"/>
          <p:cNvSpPr>
            <a:spLocks noGrp="1"/>
          </p:cNvSpPr>
          <p:nvPr>
            <p:ph sz="quarter" idx="3"/>
          </p:nvPr>
        </p:nvSpPr>
        <p:spPr>
          <a:xfrm>
            <a:off x="6197600" y="4114800"/>
            <a:ext cx="5080000" cy="1981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3733C97B-CB0A-4B24-848D-85035B14B2B7}"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7106101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zh-CN" altLang="en-US"/>
              <a:t>单击此处编辑母版标题样式</a:t>
            </a:r>
          </a:p>
        </p:txBody>
      </p:sp>
      <p:sp>
        <p:nvSpPr>
          <p:cNvPr id="3" name="Text Placeholder 2"/>
          <p:cNvSpPr>
            <a:spLocks noGrp="1"/>
          </p:cNvSpPr>
          <p:nvPr>
            <p:ph type="body" sz="half" idx="1"/>
          </p:nvPr>
        </p:nvSpPr>
        <p:spPr>
          <a:xfrm>
            <a:off x="914400" y="1981200"/>
            <a:ext cx="508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Content Placeholder 3"/>
          <p:cNvSpPr>
            <a:spLocks noGrp="1"/>
          </p:cNvSpPr>
          <p:nvPr>
            <p:ph sz="half" idx="2"/>
          </p:nvPr>
        </p:nvSpPr>
        <p:spPr>
          <a:xfrm>
            <a:off x="6197600" y="1981200"/>
            <a:ext cx="508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026FDBF1-7747-46AD-BE97-E034824279BE}"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93801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说明和内容">
    <p:spTree>
      <p:nvGrpSpPr>
        <p:cNvPr id="1" name=""/>
        <p:cNvGrpSpPr/>
        <p:nvPr/>
      </p:nvGrpSpPr>
      <p:grpSpPr>
        <a:xfrm>
          <a:off x="0" y="0"/>
          <a:ext cx="0" cy="0"/>
          <a:chOff x="0" y="0"/>
          <a:chExt cx="0" cy="0"/>
        </a:xfrm>
      </p:grpSpPr>
      <p:pic>
        <p:nvPicPr>
          <p:cNvPr id="11" name="图片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标题 1"/>
          <p:cNvSpPr>
            <a:spLocks noGrp="1"/>
          </p:cNvSpPr>
          <p:nvPr>
            <p:ph type="title"/>
          </p:nvPr>
        </p:nvSpPr>
        <p:spPr>
          <a:xfrm>
            <a:off x="685801" y="609601"/>
            <a:ext cx="10840914" cy="1260000"/>
          </a:xfrm>
        </p:spPr>
        <p:txBody>
          <a:bodyPr rtlCol="0" anchor="ctr" anchorCtr="0">
            <a:normAutofit/>
          </a:bodyPr>
          <a:lstStyle>
            <a:lvl1pPr>
              <a:defRPr sz="300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3" name="文本占位符 2"/>
          <p:cNvSpPr>
            <a:spLocks noGrp="1"/>
          </p:cNvSpPr>
          <p:nvPr>
            <p:ph type="body" idx="1" hasCustomPrompt="1"/>
          </p:nvPr>
        </p:nvSpPr>
        <p:spPr>
          <a:xfrm>
            <a:off x="685799" y="1881824"/>
            <a:ext cx="10840914" cy="1032826"/>
          </a:xfrm>
        </p:spPr>
        <p:txBody>
          <a:bodyPr rtlCol="0" anchor="t" anchorCtr="0">
            <a:noAutofit/>
          </a:bodyPr>
          <a:lstStyle>
            <a:lvl1pPr marL="0" indent="0">
              <a:buNone/>
              <a:defRPr sz="1800" b="0">
                <a:latin typeface="Microsoft YaHei UI" panose="020B0503020204020204" pitchFamily="34" charset="-122"/>
                <a:ea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7" name="日期占位符 6"/>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18281B91-EE7B-4529-A481-5FD2E4C316C8}" type="datetime1">
              <a:rPr lang="zh-CN" altLang="en-US" smtClean="0"/>
              <a:t>2025/9/18</a:t>
            </a:fld>
            <a:endParaRPr lang="zh-CN" altLang="en-US"/>
          </a:p>
        </p:txBody>
      </p:sp>
      <p:sp>
        <p:nvSpPr>
          <p:cNvPr id="8" name="页脚占位符 7"/>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t>添加页脚</a:t>
            </a:r>
          </a:p>
        </p:txBody>
      </p:sp>
      <p:sp>
        <p:nvSpPr>
          <p:cNvPr id="6" name="文本占位符 5">
            <a:extLst>
              <a:ext uri="{FF2B5EF4-FFF2-40B4-BE49-F238E27FC236}">
                <a16:creationId xmlns:a16="http://schemas.microsoft.com/office/drawing/2014/main" id="{B47DAE59-9D63-4159-8F3E-560C31F19A89}"/>
              </a:ext>
            </a:extLst>
          </p:cNvPr>
          <p:cNvSpPr>
            <a:spLocks noGrp="1"/>
          </p:cNvSpPr>
          <p:nvPr>
            <p:ph type="body" sz="quarter" idx="14" hasCustomPrompt="1"/>
          </p:nvPr>
        </p:nvSpPr>
        <p:spPr>
          <a:xfrm>
            <a:off x="1216192"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9" name="幻灯片编号占位符 8"/>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pPr/>
              <a:t>‹#›</a:t>
            </a:fld>
            <a:endParaRPr lang="zh-CN" altLang="en-US"/>
          </a:p>
        </p:txBody>
      </p:sp>
      <p:sp>
        <p:nvSpPr>
          <p:cNvPr id="12" name="文本占位符 2">
            <a:extLst>
              <a:ext uri="{FF2B5EF4-FFF2-40B4-BE49-F238E27FC236}">
                <a16:creationId xmlns:a16="http://schemas.microsoft.com/office/drawing/2014/main" id="{4249143D-80A5-4E4C-BBFD-F253500CE226}"/>
              </a:ext>
            </a:extLst>
          </p:cNvPr>
          <p:cNvSpPr>
            <a:spLocks noGrp="1"/>
          </p:cNvSpPr>
          <p:nvPr>
            <p:ph type="body" idx="13" hasCustomPrompt="1"/>
          </p:nvPr>
        </p:nvSpPr>
        <p:spPr>
          <a:xfrm>
            <a:off x="685799" y="2914650"/>
            <a:ext cx="10840914" cy="502126"/>
          </a:xfrm>
        </p:spPr>
        <p:txBody>
          <a:bodyPr rtlCol="0" anchor="ctr" anchorCtr="0">
            <a:noAutofit/>
          </a:bodyPr>
          <a:lstStyle>
            <a:lvl1pPr marL="0" indent="0" algn="ctr">
              <a:buNone/>
              <a:defRPr sz="1800" b="0">
                <a:latin typeface="Microsoft YaHei UI" panose="020B0503020204020204" pitchFamily="34" charset="-122"/>
                <a:ea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20" name="文本占位符 5">
            <a:extLst>
              <a:ext uri="{FF2B5EF4-FFF2-40B4-BE49-F238E27FC236}">
                <a16:creationId xmlns:a16="http://schemas.microsoft.com/office/drawing/2014/main" id="{B06123F0-984B-4EF8-9945-3621C401B7AD}"/>
              </a:ext>
            </a:extLst>
          </p:cNvPr>
          <p:cNvSpPr>
            <a:spLocks noGrp="1"/>
          </p:cNvSpPr>
          <p:nvPr>
            <p:ph type="body" sz="quarter" idx="17" hasCustomPrompt="1"/>
          </p:nvPr>
        </p:nvSpPr>
        <p:spPr>
          <a:xfrm>
            <a:off x="7465366"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21" name="文本占位符 5">
            <a:extLst>
              <a:ext uri="{FF2B5EF4-FFF2-40B4-BE49-F238E27FC236}">
                <a16:creationId xmlns:a16="http://schemas.microsoft.com/office/drawing/2014/main" id="{A669C074-A9BE-4B07-ACEE-3B34AAC8B9E7}"/>
              </a:ext>
            </a:extLst>
          </p:cNvPr>
          <p:cNvSpPr>
            <a:spLocks noGrp="1"/>
          </p:cNvSpPr>
          <p:nvPr>
            <p:ph type="body" sz="quarter" idx="18" hasCustomPrompt="1"/>
          </p:nvPr>
        </p:nvSpPr>
        <p:spPr>
          <a:xfrm>
            <a:off x="9548424"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19" name="文本占位符 5">
            <a:extLst>
              <a:ext uri="{FF2B5EF4-FFF2-40B4-BE49-F238E27FC236}">
                <a16:creationId xmlns:a16="http://schemas.microsoft.com/office/drawing/2014/main" id="{84A40D78-D6DD-41A7-A132-9D48DF8649A9}"/>
              </a:ext>
            </a:extLst>
          </p:cNvPr>
          <p:cNvSpPr>
            <a:spLocks noGrp="1"/>
          </p:cNvSpPr>
          <p:nvPr>
            <p:ph type="body" sz="quarter" idx="16" hasCustomPrompt="1"/>
          </p:nvPr>
        </p:nvSpPr>
        <p:spPr>
          <a:xfrm>
            <a:off x="5382308"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sp>
        <p:nvSpPr>
          <p:cNvPr id="18" name="文本占位符 5">
            <a:extLst>
              <a:ext uri="{FF2B5EF4-FFF2-40B4-BE49-F238E27FC236}">
                <a16:creationId xmlns:a16="http://schemas.microsoft.com/office/drawing/2014/main" id="{4A9CFAA7-850F-4C92-A9BE-56452E5CA04D}"/>
              </a:ext>
            </a:extLst>
          </p:cNvPr>
          <p:cNvSpPr>
            <a:spLocks noGrp="1"/>
          </p:cNvSpPr>
          <p:nvPr>
            <p:ph type="body" sz="quarter" idx="15" hasCustomPrompt="1"/>
          </p:nvPr>
        </p:nvSpPr>
        <p:spPr>
          <a:xfrm>
            <a:off x="3299250" y="3837470"/>
            <a:ext cx="1310050" cy="959003"/>
          </a:xfrm>
        </p:spPr>
        <p:txBody>
          <a:bodyPr rtlCol="0">
            <a:noAutofit/>
          </a:bodyPr>
          <a:lstStyle>
            <a:lvl1pPr marL="0" indent="0" algn="ctr">
              <a:buNone/>
              <a:defRPr sz="1200">
                <a:latin typeface="Microsoft YaHei UI" panose="020B0503020204020204" pitchFamily="34" charset="-122"/>
                <a:ea typeface="Microsoft YaHei UI" panose="020B0503020204020204" pitchFamily="34" charset="-122"/>
              </a:defRPr>
            </a:lvl1pPr>
            <a:lvl3pPr algn="ctr">
              <a:defRPr sz="1200"/>
            </a:lvl3pPr>
            <a:lvl5pPr marL="1828800" indent="0">
              <a:buNone/>
              <a:defRPr/>
            </a:lvl5pPr>
          </a:lstStyle>
          <a:p>
            <a:pPr lvl="0" rtl="0"/>
            <a:r>
              <a:rPr lang="zh-CN" altLang="en-US" noProof="0"/>
              <a:t>编辑母版文本样式</a:t>
            </a:r>
          </a:p>
        </p:txBody>
      </p:sp>
      <p:cxnSp>
        <p:nvCxnSpPr>
          <p:cNvPr id="14" name="直接连接​符 13">
            <a:extLst>
              <a:ext uri="{FF2B5EF4-FFF2-40B4-BE49-F238E27FC236}">
                <a16:creationId xmlns:a16="http://schemas.microsoft.com/office/drawing/2014/main" id="{CC5A0CF1-9FE7-4149-97DC-5221639144C8}"/>
              </a:ext>
              <a:ext uri="{C183D7F6-B498-43B3-948B-1728B52AA6E4}">
                <adec:decorative xmlns:adec="http://schemas.microsoft.com/office/drawing/2017/decorative" val="1"/>
              </a:ext>
            </a:extLst>
          </p:cNvPr>
          <p:cNvCxnSpPr>
            <a:cxnSpLocks/>
          </p:cNvCxnSpPr>
          <p:nvPr userDrawn="1"/>
        </p:nvCxnSpPr>
        <p:spPr>
          <a:xfrm rot="16200000">
            <a:off x="-185517" y="124248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936392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带题注的图片">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标题 1"/>
          <p:cNvSpPr>
            <a:spLocks noGrp="1"/>
          </p:cNvSpPr>
          <p:nvPr>
            <p:ph type="title"/>
          </p:nvPr>
        </p:nvSpPr>
        <p:spPr>
          <a:xfrm>
            <a:off x="1457326" y="995967"/>
            <a:ext cx="6238874" cy="1260000"/>
          </a:xfrm>
        </p:spPr>
        <p:txBody>
          <a:bodyPr rtlCol="0" anchor="ctr" anchorCtr="0">
            <a:noAutofit/>
          </a:bodyPr>
          <a:lstStyle>
            <a:lvl1pPr algn="r">
              <a:defRPr sz="3000" b="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14" name="图片占位符 2"/>
          <p:cNvSpPr>
            <a:spLocks noGrp="1" noChangeAspect="1"/>
          </p:cNvSpPr>
          <p:nvPr>
            <p:ph type="pic" idx="1" hasCustomPrompt="1"/>
          </p:nvPr>
        </p:nvSpPr>
        <p:spPr bwMode="blackGray">
          <a:xfrm>
            <a:off x="8014200" y="995968"/>
            <a:ext cx="3492000" cy="4866064"/>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rtlCol="0" anchor="t">
            <a:norm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noProof="0"/>
              <a:t>单击图标，添加图片</a:t>
            </a:r>
          </a:p>
        </p:txBody>
      </p:sp>
      <p:sp>
        <p:nvSpPr>
          <p:cNvPr id="4" name="文本占位符 3"/>
          <p:cNvSpPr>
            <a:spLocks noGrp="1"/>
          </p:cNvSpPr>
          <p:nvPr>
            <p:ph type="body" sz="half" idx="2" hasCustomPrompt="1"/>
          </p:nvPr>
        </p:nvSpPr>
        <p:spPr>
          <a:xfrm>
            <a:off x="1085849" y="2255967"/>
            <a:ext cx="6610351" cy="3476618"/>
          </a:xfrm>
        </p:spPr>
        <p:txBody>
          <a:bodyPr rtlCol="0" anchor="t">
            <a:normAutofit/>
          </a:bodyPr>
          <a:lstStyle>
            <a:lvl1pPr marL="0" indent="0" algn="r">
              <a:buNone/>
              <a:defRPr sz="1800">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314FB743-A22B-473D-8D8F-3D42015F24A0}" type="datetime1">
              <a:rPr lang="zh-CN" altLang="en-US" smtClean="0"/>
              <a:t>2025/9/18</a:t>
            </a:fld>
            <a:endParaRPr lang="zh-CN" altLang="en-US"/>
          </a:p>
        </p:txBody>
      </p:sp>
      <p:sp>
        <p:nvSpPr>
          <p:cNvPr id="6" name="页脚占位符 5"/>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t>添加页脚</a:t>
            </a:r>
          </a:p>
        </p:txBody>
      </p:sp>
      <p:sp>
        <p:nvSpPr>
          <p:cNvPr id="7" name="幻灯片编号占位符 6"/>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pPr/>
              <a:t>‹#›</a:t>
            </a:fld>
            <a:endParaRPr lang="zh-CN" altLang="en-US"/>
          </a:p>
        </p:txBody>
      </p:sp>
    </p:spTree>
    <p:extLst>
      <p:ext uri="{BB962C8B-B14F-4D97-AF65-F5344CB8AC3E}">
        <p14:creationId xmlns:p14="http://schemas.microsoft.com/office/powerpoint/2010/main" val="39693825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带题注​的右侧图片">
    <p:spTree>
      <p:nvGrpSpPr>
        <p:cNvPr id="1" name=""/>
        <p:cNvGrpSpPr/>
        <p:nvPr/>
      </p:nvGrpSpPr>
      <p:grpSpPr>
        <a:xfrm>
          <a:off x="0" y="0"/>
          <a:ext cx="0" cy="0"/>
          <a:chOff x="0" y="0"/>
          <a:chExt cx="0" cy="0"/>
        </a:xfrm>
      </p:grpSpPr>
      <p:pic>
        <p:nvPicPr>
          <p:cNvPr id="8" name="图片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标题 1"/>
          <p:cNvSpPr>
            <a:spLocks noGrp="1"/>
          </p:cNvSpPr>
          <p:nvPr>
            <p:ph type="title"/>
          </p:nvPr>
        </p:nvSpPr>
        <p:spPr>
          <a:xfrm>
            <a:off x="6657974" y="995968"/>
            <a:ext cx="4848225" cy="1260000"/>
          </a:xfrm>
        </p:spPr>
        <p:txBody>
          <a:bodyPr rtlCol="0" anchor="ctr" anchorCtr="0">
            <a:normAutofit/>
          </a:bodyPr>
          <a:lstStyle>
            <a:lvl1pPr algn="l">
              <a:defRPr sz="3000" b="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14" name="图片占位符 2"/>
          <p:cNvSpPr>
            <a:spLocks noGrp="1" noChangeAspect="1"/>
          </p:cNvSpPr>
          <p:nvPr>
            <p:ph type="pic" idx="1" hasCustomPrompt="1"/>
          </p:nvPr>
        </p:nvSpPr>
        <p:spPr bwMode="blackGray">
          <a:xfrm>
            <a:off x="727574" y="914400"/>
            <a:ext cx="5749425" cy="4818185"/>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rtlCol="0" anchor="t">
            <a:normAutofit/>
          </a:bodyPr>
          <a:lstStyle>
            <a:lvl1pPr marL="0" indent="0" algn="ctr">
              <a:buNone/>
              <a:defRPr sz="1600">
                <a:latin typeface="Microsoft YaHei UI" panose="020B0503020204020204" pitchFamily="34" charset="-122"/>
                <a:ea typeface="Microsoft YaHei UI" panose="020B0503020204020204" pitchFamily="34" charset="-122"/>
              </a:defRPr>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noProof="0"/>
              <a:t>单击图标以添加图片</a:t>
            </a:r>
          </a:p>
        </p:txBody>
      </p:sp>
      <p:sp>
        <p:nvSpPr>
          <p:cNvPr id="4" name="文本占位符 3"/>
          <p:cNvSpPr>
            <a:spLocks noGrp="1"/>
          </p:cNvSpPr>
          <p:nvPr>
            <p:ph type="body" sz="half" idx="2" hasCustomPrompt="1"/>
          </p:nvPr>
        </p:nvSpPr>
        <p:spPr>
          <a:xfrm>
            <a:off x="6657974" y="2255968"/>
            <a:ext cx="4848225" cy="3476617"/>
          </a:xfrm>
        </p:spPr>
        <p:txBody>
          <a:bodyPr rtlCol="0" anchor="t">
            <a:normAutofit/>
          </a:bodyPr>
          <a:lstStyle>
            <a:lvl1pPr marL="0" indent="0" algn="l">
              <a:buNone/>
              <a:defRPr sz="1800">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6D5A3BD8-7515-4998-B35B-0833EDCAA3D0}" type="datetime1">
              <a:rPr lang="zh-CN" altLang="en-US" smtClean="0"/>
              <a:t>2025/9/18</a:t>
            </a:fld>
            <a:endParaRPr lang="zh-CN" altLang="en-US"/>
          </a:p>
        </p:txBody>
      </p:sp>
      <p:sp>
        <p:nvSpPr>
          <p:cNvPr id="6" name="页脚占位符 5"/>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a:t>添加页脚</a:t>
            </a:r>
          </a:p>
        </p:txBody>
      </p:sp>
      <p:sp>
        <p:nvSpPr>
          <p:cNvPr id="7" name="幻灯片编号占位符 6"/>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5D99DD2A-B520-4620-9B43-64B657BA2D42}" type="slidenum">
              <a:rPr lang="en-US" altLang="zh-CN" smtClean="0"/>
              <a:pPr/>
              <a:t>‹#›</a:t>
            </a:fld>
            <a:endParaRPr lang="zh-CN" altLang="en-US"/>
          </a:p>
        </p:txBody>
      </p:sp>
    </p:spTree>
    <p:extLst>
      <p:ext uri="{BB962C8B-B14F-4D97-AF65-F5344CB8AC3E}">
        <p14:creationId xmlns:p14="http://schemas.microsoft.com/office/powerpoint/2010/main" val="3832959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sp>
        <p:nvSpPr>
          <p:cNvPr id="1028"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ea typeface="宋体" pitchFamily="2" charset="-122"/>
              </a:defRPr>
            </a:lvl1pPr>
          </a:lstStyle>
          <a:p>
            <a:pPr fontAlgn="base">
              <a:spcBef>
                <a:spcPct val="0"/>
              </a:spcBef>
              <a:spcAft>
                <a:spcPct val="0"/>
              </a:spcAft>
              <a:defRPr/>
            </a:pPr>
            <a:endParaRPr lang="en-US" altLang="zh-CN">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ea typeface="宋体" pitchFamily="2" charset="-122"/>
              </a:defRPr>
            </a:lvl1pPr>
          </a:lstStyle>
          <a:p>
            <a:pPr fontAlgn="base">
              <a:spcBef>
                <a:spcPct val="0"/>
              </a:spcBef>
              <a:spcAft>
                <a:spcPct val="0"/>
              </a:spcAft>
              <a:defRPr/>
            </a:pPr>
            <a:endParaRPr lang="en-US" altLang="zh-CN">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ea typeface="宋体" pitchFamily="2" charset="-122"/>
              </a:defRPr>
            </a:lvl1pPr>
          </a:lstStyle>
          <a:p>
            <a:pPr fontAlgn="base">
              <a:spcBef>
                <a:spcPct val="0"/>
              </a:spcBef>
              <a:spcAft>
                <a:spcPct val="0"/>
              </a:spcAft>
              <a:defRPr/>
            </a:pPr>
            <a:fld id="{A59AD62C-EAA7-4D5D-9E4E-F3C1DEE386C7}" type="slidenum">
              <a:rPr lang="zh-CN" altLang="en-US">
                <a:solidFill>
                  <a:srgbClr val="000000"/>
                </a:solidFill>
              </a:rPr>
              <a:pPr fontAlgn="base">
                <a:spcBef>
                  <a:spcPct val="0"/>
                </a:spcBef>
                <a:spcAft>
                  <a:spcPct val="0"/>
                </a:spcAft>
                <a:defRPr/>
              </a:pPr>
              <a:t>‹#›</a:t>
            </a:fld>
            <a:endParaRPr lang="en-US" altLang="zh-CN">
              <a:solidFill>
                <a:srgbClr val="000000"/>
              </a:solidFill>
            </a:endParaRPr>
          </a:p>
        </p:txBody>
      </p:sp>
    </p:spTree>
    <p:extLst>
      <p:ext uri="{BB962C8B-B14F-4D97-AF65-F5344CB8AC3E}">
        <p14:creationId xmlns:p14="http://schemas.microsoft.com/office/powerpoint/2010/main" val="2727316906"/>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79" r:id="rId15"/>
    <p:sldLayoutId id="2147483669" r:id="rId16"/>
    <p:sldLayoutId id="2147483680" r:id="rId17"/>
  </p:sldLayoutIdLst>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itchFamily="18" charset="0"/>
          <a:ea typeface="宋体" pitchFamily="2" charset="-122"/>
        </a:defRPr>
      </a:lvl2pPr>
      <a:lvl3pPr algn="ctr" rtl="0" eaLnBrk="1" fontAlgn="base" hangingPunct="1">
        <a:spcBef>
          <a:spcPct val="0"/>
        </a:spcBef>
        <a:spcAft>
          <a:spcPct val="0"/>
        </a:spcAft>
        <a:defRPr sz="4400">
          <a:solidFill>
            <a:schemeClr val="tx2"/>
          </a:solidFill>
          <a:latin typeface="Times New Roman" pitchFamily="18" charset="0"/>
          <a:ea typeface="宋体" pitchFamily="2" charset="-122"/>
        </a:defRPr>
      </a:lvl3pPr>
      <a:lvl4pPr algn="ctr" rtl="0" eaLnBrk="1" fontAlgn="base" hangingPunct="1">
        <a:spcBef>
          <a:spcPct val="0"/>
        </a:spcBef>
        <a:spcAft>
          <a:spcPct val="0"/>
        </a:spcAft>
        <a:defRPr sz="4400">
          <a:solidFill>
            <a:schemeClr val="tx2"/>
          </a:solidFill>
          <a:latin typeface="Times New Roman" pitchFamily="18" charset="0"/>
          <a:ea typeface="宋体" pitchFamily="2" charset="-122"/>
        </a:defRPr>
      </a:lvl4pPr>
      <a:lvl5pPr algn="ctr" rtl="0" eaLnBrk="1" fontAlgn="base" hangingPunct="1">
        <a:spcBef>
          <a:spcPct val="0"/>
        </a:spcBef>
        <a:spcAft>
          <a:spcPct val="0"/>
        </a:spcAft>
        <a:defRPr sz="4400">
          <a:solidFill>
            <a:schemeClr val="tx2"/>
          </a:solidFill>
          <a:latin typeface="Times New Roman" pitchFamily="18" charset="0"/>
          <a:ea typeface="宋体" pitchFamily="2" charset="-122"/>
        </a:defRPr>
      </a:lvl5pPr>
      <a:lvl6pPr marL="457200" algn="ctr" rtl="0" eaLnBrk="1" fontAlgn="base" hangingPunct="1">
        <a:spcBef>
          <a:spcPct val="0"/>
        </a:spcBef>
        <a:spcAft>
          <a:spcPct val="0"/>
        </a:spcAft>
        <a:defRPr sz="4400">
          <a:solidFill>
            <a:schemeClr val="tx2"/>
          </a:solidFill>
          <a:latin typeface="Times New Roman" pitchFamily="18" charset="0"/>
          <a:ea typeface="宋体" pitchFamily="2" charset="-122"/>
        </a:defRPr>
      </a:lvl6pPr>
      <a:lvl7pPr marL="914400" algn="ctr" rtl="0" eaLnBrk="1" fontAlgn="base" hangingPunct="1">
        <a:spcBef>
          <a:spcPct val="0"/>
        </a:spcBef>
        <a:spcAft>
          <a:spcPct val="0"/>
        </a:spcAft>
        <a:defRPr sz="4400">
          <a:solidFill>
            <a:schemeClr val="tx2"/>
          </a:solidFill>
          <a:latin typeface="Times New Roman" pitchFamily="18" charset="0"/>
          <a:ea typeface="宋体" pitchFamily="2" charset="-122"/>
        </a:defRPr>
      </a:lvl7pPr>
      <a:lvl8pPr marL="1371600" algn="ctr" rtl="0" eaLnBrk="1" fontAlgn="base" hangingPunct="1">
        <a:spcBef>
          <a:spcPct val="0"/>
        </a:spcBef>
        <a:spcAft>
          <a:spcPct val="0"/>
        </a:spcAft>
        <a:defRPr sz="4400">
          <a:solidFill>
            <a:schemeClr val="tx2"/>
          </a:solidFill>
          <a:latin typeface="Times New Roman" pitchFamily="18" charset="0"/>
          <a:ea typeface="宋体" pitchFamily="2" charset="-122"/>
        </a:defRPr>
      </a:lvl8pPr>
      <a:lvl9pPr marL="1828800" algn="ctr" rtl="0" eaLnBrk="1" fontAlgn="base" hangingPunct="1">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4.xml"/><Relationship Id="rId4" Type="http://schemas.openxmlformats.org/officeDocument/2006/relationships/image" Target="../media/image61.png"/></Relationships>
</file>

<file path=ppt/slides/_rels/slide3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4.xml"/><Relationship Id="rId4" Type="http://schemas.openxmlformats.org/officeDocument/2006/relationships/image" Target="../media/image67.png"/></Relationships>
</file>

<file path=ppt/slides/_rels/slide3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4.xml"/><Relationship Id="rId5" Type="http://schemas.openxmlformats.org/officeDocument/2006/relationships/image" Target="../media/image71.png"/><Relationship Id="rId4" Type="http://schemas.openxmlformats.org/officeDocument/2006/relationships/image" Target="../media/image70.png"/></Relationships>
</file>

<file path=ppt/slides/_rels/slide3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99.png"/><Relationship Id="rId7" Type="http://schemas.openxmlformats.org/officeDocument/2006/relationships/image" Target="../media/image103.png"/><Relationship Id="rId2" Type="http://schemas.openxmlformats.org/officeDocument/2006/relationships/image" Target="../media/image98.png"/><Relationship Id="rId1" Type="http://schemas.openxmlformats.org/officeDocument/2006/relationships/slideLayout" Target="../slideLayouts/slideLayout2.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 Id="rId9" Type="http://schemas.openxmlformats.org/officeDocument/2006/relationships/image" Target="../media/image105.png"/></Relationships>
</file>

<file path=ppt/slides/_rels/slide59.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305F2-4D75-4D76-BA59-F00627AB838F}"/>
              </a:ext>
            </a:extLst>
          </p:cNvPr>
          <p:cNvSpPr>
            <a:spLocks noGrp="1"/>
          </p:cNvSpPr>
          <p:nvPr>
            <p:ph type="title"/>
          </p:nvPr>
        </p:nvSpPr>
        <p:spPr/>
        <p:txBody>
          <a:bodyPr rtlCol="0"/>
          <a:lstStyle/>
          <a:p>
            <a:pPr rtl="0"/>
            <a:r>
              <a:rPr lang="zh-CN" altLang="en-US">
                <a:latin typeface="Microsoft YaHei UI" panose="020B0503020204020204" pitchFamily="34" charset="-122"/>
                <a:ea typeface="Microsoft YaHei UI" panose="020B0503020204020204" pitchFamily="34" charset="-122"/>
              </a:rPr>
              <a:t>如何使用此模板</a:t>
            </a:r>
          </a:p>
        </p:txBody>
      </p:sp>
      <p:sp>
        <p:nvSpPr>
          <p:cNvPr id="3" name="内容占位符 2">
            <a:extLst>
              <a:ext uri="{FF2B5EF4-FFF2-40B4-BE49-F238E27FC236}">
                <a16:creationId xmlns:a16="http://schemas.microsoft.com/office/drawing/2014/main" id="{88CB4E0E-ECE5-4628-8AFC-87C9EFB0840C}"/>
              </a:ext>
            </a:extLst>
          </p:cNvPr>
          <p:cNvSpPr>
            <a:spLocks noGrp="1"/>
          </p:cNvSpPr>
          <p:nvPr>
            <p:ph idx="1"/>
          </p:nvPr>
        </p:nvSpPr>
        <p:spPr/>
        <p:txBody>
          <a:bodyPr rtlCol="0"/>
          <a:lstStyle/>
          <a:p>
            <a:pPr rtl="0"/>
            <a:r>
              <a:rPr lang="zh-CN" altLang="en-US">
                <a:latin typeface="Microsoft YaHei UI" panose="020B0503020204020204" pitchFamily="34" charset="-122"/>
                <a:ea typeface="Microsoft YaHei UI" panose="020B0503020204020204" pitchFamily="34" charset="-122"/>
              </a:rPr>
              <a:t>按照每张幻灯片上的说明创建演示文稿。</a:t>
            </a:r>
          </a:p>
          <a:p>
            <a:pPr rtl="0"/>
            <a:r>
              <a:rPr lang="zh-CN" altLang="en-US">
                <a:latin typeface="Microsoft YaHei UI" panose="020B0503020204020204" pitchFamily="34" charset="-122"/>
                <a:ea typeface="Microsoft YaHei UI" panose="020B0503020204020204" pitchFamily="34" charset="-122"/>
              </a:rPr>
              <a:t>请记住 </a:t>
            </a:r>
            <a:r>
              <a:rPr lang="en-US" altLang="zh-CN">
                <a:latin typeface="Microsoft YaHei UI" panose="020B0503020204020204" pitchFamily="34" charset="-122"/>
                <a:ea typeface="Microsoft YaHei UI" panose="020B0503020204020204" pitchFamily="34" charset="-122"/>
              </a:rPr>
              <a:t>PowerPoint </a:t>
            </a:r>
            <a:r>
              <a:rPr lang="zh-CN" altLang="en-US">
                <a:latin typeface="Microsoft YaHei UI" panose="020B0503020204020204" pitchFamily="34" charset="-122"/>
                <a:ea typeface="Microsoft YaHei UI" panose="020B0503020204020204" pitchFamily="34" charset="-122"/>
              </a:rPr>
              <a:t>是演示文稿的视觉效果。每张幻灯片上的文字仅作为论点（而不是你要说的所有内容）。</a:t>
            </a:r>
          </a:p>
          <a:p>
            <a:pPr rtl="0"/>
            <a:r>
              <a:rPr lang="zh-CN" altLang="en-US">
                <a:latin typeface="Microsoft YaHei UI" panose="020B0503020204020204" pitchFamily="34" charset="-122"/>
                <a:ea typeface="Microsoft YaHei UI" panose="020B0503020204020204" pitchFamily="34" charset="-122"/>
              </a:rPr>
              <a:t>图像和图形可增加趣味；请务必在适当时将其添加到幻灯片。</a:t>
            </a:r>
          </a:p>
          <a:p>
            <a:pPr rtl="0"/>
            <a:r>
              <a:rPr lang="zh-CN" altLang="en-US">
                <a:latin typeface="Microsoft YaHei UI" panose="020B0503020204020204" pitchFamily="34" charset="-122"/>
                <a:ea typeface="Microsoft YaHei UI" panose="020B0503020204020204" pitchFamily="34" charset="-122"/>
              </a:rPr>
              <a:t>仔细选择切换和动画。（希望受众如何专注于内容，而不是效果。）</a:t>
            </a:r>
          </a:p>
        </p:txBody>
      </p:sp>
      <p:sp>
        <p:nvSpPr>
          <p:cNvPr id="5" name="文本框 4">
            <a:extLst>
              <a:ext uri="{FF2B5EF4-FFF2-40B4-BE49-F238E27FC236}">
                <a16:creationId xmlns:a16="http://schemas.microsoft.com/office/drawing/2014/main" id="{C964FC16-E9FB-469F-90C3-177A60236474}"/>
              </a:ext>
            </a:extLst>
          </p:cNvPr>
          <p:cNvSpPr txBox="1"/>
          <p:nvPr/>
        </p:nvSpPr>
        <p:spPr>
          <a:xfrm>
            <a:off x="3414573" y="685602"/>
            <a:ext cx="419100" cy="110799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6600" b="1" i="0" u="none" strike="noStrike" kern="1200" cap="none" spc="0" normalizeH="0" baseline="0" noProof="0" dirty="0">
                <a:ln>
                  <a:noFill/>
                </a:ln>
                <a:solidFill>
                  <a:prstClr val="white"/>
                </a:solidFill>
                <a:effectLst/>
                <a:uLnTx/>
                <a:uFillTx/>
                <a:latin typeface="Microsoft YaHei UI" panose="020B0503020204020204" pitchFamily="34" charset="-122"/>
                <a:ea typeface="Microsoft YaHei UI" panose="020B0503020204020204" pitchFamily="34" charset="-122"/>
                <a:cs typeface="+mn-cs"/>
              </a:rPr>
              <a:t>？</a:t>
            </a:r>
          </a:p>
        </p:txBody>
      </p:sp>
      <p:pic>
        <p:nvPicPr>
          <p:cNvPr id="6" name="图片 5">
            <a:extLst>
              <a:ext uri="{FF2B5EF4-FFF2-40B4-BE49-F238E27FC236}">
                <a16:creationId xmlns:a16="http://schemas.microsoft.com/office/drawing/2014/main" id="{3277024B-DB97-437B-AFB7-ADCC67686182}"/>
              </a:ext>
            </a:extLst>
          </p:cNvPr>
          <p:cNvPicPr>
            <a:picLocks noChangeAspect="1"/>
          </p:cNvPicPr>
          <p:nvPr/>
        </p:nvPicPr>
        <p:blipFill>
          <a:blip r:embed="rId3"/>
          <a:stretch>
            <a:fillRect/>
          </a:stretch>
        </p:blipFill>
        <p:spPr>
          <a:xfrm>
            <a:off x="-36335" y="-1"/>
            <a:ext cx="12228335" cy="6873069"/>
          </a:xfrm>
          <a:prstGeom prst="rect">
            <a:avLst/>
          </a:prstGeom>
        </p:spPr>
      </p:pic>
      <p:sp>
        <p:nvSpPr>
          <p:cNvPr id="7" name="文本框 6">
            <a:extLst>
              <a:ext uri="{FF2B5EF4-FFF2-40B4-BE49-F238E27FC236}">
                <a16:creationId xmlns:a16="http://schemas.microsoft.com/office/drawing/2014/main" id="{BD8A8358-EA86-4F42-A7A2-D6F9EB98ACC3}"/>
              </a:ext>
            </a:extLst>
          </p:cNvPr>
          <p:cNvSpPr txBox="1"/>
          <p:nvPr/>
        </p:nvSpPr>
        <p:spPr>
          <a:xfrm>
            <a:off x="2890792" y="2285126"/>
            <a:ext cx="6689557" cy="267765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0" normalizeH="0" baseline="0" noProof="0" dirty="0">
                <a:ln>
                  <a:noFill/>
                </a:ln>
                <a:solidFill>
                  <a:prstClr val="white"/>
                </a:solidFill>
                <a:effectLst/>
                <a:uLnTx/>
                <a:uFillTx/>
                <a:latin typeface="Corbel"/>
                <a:ea typeface="+mn-ea"/>
                <a:cs typeface="+mn-cs"/>
              </a:rPr>
              <a:t>西方哲学与人的教育</a:t>
            </a:r>
            <a:endParaRPr kumimoji="0" lang="en-US" altLang="zh-CN" sz="4000" b="1" i="0" u="none" strike="noStrike" kern="1200" cap="none" spc="0" normalizeH="0" baseline="0" noProof="0" dirty="0">
              <a:ln>
                <a:noFill/>
              </a:ln>
              <a:solidFill>
                <a:prstClr val="white"/>
              </a:solidFill>
              <a:effectLst/>
              <a:uLnTx/>
              <a:uFillTx/>
              <a:latin typeface="Corbe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Corbel"/>
                <a:ea typeface="+mn-ea"/>
                <a:cs typeface="+mn-cs"/>
              </a:rPr>
              <a:t>一、柏拉图</a:t>
            </a:r>
            <a:r>
              <a:rPr kumimoji="0" lang="en-US" altLang="zh-CN" sz="3200" b="1" i="0" u="none" strike="noStrike" kern="1200" cap="none" spc="0" normalizeH="0" baseline="0" noProof="0" dirty="0">
                <a:ln>
                  <a:noFill/>
                </a:ln>
                <a:solidFill>
                  <a:prstClr val="white"/>
                </a:solidFill>
                <a:effectLst/>
                <a:uLnTx/>
                <a:uFillTx/>
                <a:latin typeface="Corbel"/>
                <a:ea typeface="+mn-ea"/>
                <a:cs typeface="+mn-cs"/>
              </a:rPr>
              <a:t>《</a:t>
            </a:r>
            <a:r>
              <a:rPr kumimoji="0" lang="zh-CN" altLang="en-US" sz="3200" b="1" i="0" u="none" strike="noStrike" kern="1200" cap="none" spc="0" normalizeH="0" baseline="0" noProof="0" dirty="0">
                <a:ln>
                  <a:noFill/>
                </a:ln>
                <a:solidFill>
                  <a:prstClr val="white"/>
                </a:solidFill>
                <a:effectLst/>
                <a:uLnTx/>
                <a:uFillTx/>
                <a:latin typeface="Corbel"/>
                <a:ea typeface="+mn-ea"/>
                <a:cs typeface="+mn-cs"/>
              </a:rPr>
              <a:t>理 想 国</a:t>
            </a:r>
            <a:r>
              <a:rPr kumimoji="0" lang="en-US" altLang="zh-CN" sz="3200" b="1" i="0" u="none" strike="noStrike" kern="1200" cap="none" spc="0" normalizeH="0" baseline="0" noProof="0" dirty="0">
                <a:ln>
                  <a:noFill/>
                </a:ln>
                <a:solidFill>
                  <a:prstClr val="white"/>
                </a:solidFill>
                <a:effectLst/>
                <a:uLnTx/>
                <a:uFillTx/>
                <a:latin typeface="Corbel"/>
                <a:ea typeface="+mn-ea"/>
                <a:cs typeface="+mn-cs"/>
              </a:rPr>
              <a:t>》</a:t>
            </a:r>
            <a:endParaRPr kumimoji="0" lang="en-US" altLang="zh-CN" sz="4000" b="1" i="0" u="none" strike="noStrike" kern="1200" cap="none" spc="0" normalizeH="0" baseline="0" noProof="0" dirty="0">
              <a:ln>
                <a:noFill/>
              </a:ln>
              <a:solidFill>
                <a:prstClr val="white"/>
              </a:solidFill>
              <a:effectLst/>
              <a:uLnTx/>
              <a:uFillTx/>
              <a:latin typeface="Corbel"/>
              <a:ea typeface="+mn-ea"/>
              <a:cs typeface="+mn-cs"/>
            </a:endParaRP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altLang="zh-CN" sz="3200" b="0" i="0" u="none" strike="noStrike" kern="1200" cap="none" spc="0" normalizeH="0" baseline="0" noProof="0" dirty="0">
              <a:ln>
                <a:noFill/>
              </a:ln>
              <a:solidFill>
                <a:prstClr val="white"/>
              </a:solidFill>
              <a:effectLst/>
              <a:uLnTx/>
              <a:uFillTx/>
              <a:latin typeface="Corbel"/>
              <a:ea typeface="+mn-ea"/>
              <a:cs typeface="+mn-cs"/>
            </a:endParaRP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prstClr val="white"/>
                </a:solidFill>
                <a:effectLst/>
                <a:uLnTx/>
                <a:uFillTx/>
                <a:latin typeface="楷体" panose="02010609060101010101" pitchFamily="49" charset="-122"/>
                <a:ea typeface="楷体" panose="02010609060101010101" pitchFamily="49" charset="-122"/>
                <a:cs typeface="+mn-cs"/>
              </a:rPr>
              <a:t>华东师范大学哲学系 </a:t>
            </a:r>
            <a:endParaRPr kumimoji="0" lang="en-US" altLang="zh-CN" sz="3200" b="0" i="0" u="none" strike="noStrike" kern="1200" cap="none" spc="0" normalizeH="0" baseline="0" noProof="0" dirty="0">
              <a:ln>
                <a:noFill/>
              </a:ln>
              <a:solidFill>
                <a:prstClr val="white"/>
              </a:solidFill>
              <a:effectLst/>
              <a:uLnTx/>
              <a:uFillTx/>
              <a:latin typeface="楷体" panose="02010609060101010101" pitchFamily="49" charset="-122"/>
              <a:ea typeface="楷体" panose="02010609060101010101" pitchFamily="49" charset="-122"/>
              <a:cs typeface="+mn-cs"/>
            </a:endParaRP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prstClr val="white"/>
                </a:solidFill>
                <a:effectLst/>
                <a:uLnTx/>
                <a:uFillTx/>
                <a:latin typeface="楷体" panose="02010609060101010101" pitchFamily="49" charset="-122"/>
                <a:ea typeface="楷体" panose="02010609060101010101" pitchFamily="49" charset="-122"/>
                <a:cs typeface="+mn-cs"/>
              </a:rPr>
              <a:t>张立立</a:t>
            </a:r>
          </a:p>
        </p:txBody>
      </p:sp>
    </p:spTree>
    <p:extLst>
      <p:ext uri="{BB962C8B-B14F-4D97-AF65-F5344CB8AC3E}">
        <p14:creationId xmlns:p14="http://schemas.microsoft.com/office/powerpoint/2010/main" val="1986793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5742" y="108155"/>
            <a:ext cx="10363200" cy="1143000"/>
          </a:xfrm>
        </p:spPr>
        <p:txBody>
          <a:bodyPr/>
          <a:lstStyle/>
          <a:p>
            <a:r>
              <a:rPr lang="zh-CN" altLang="en-US" dirty="0"/>
              <a:t>二、</a:t>
            </a:r>
            <a:r>
              <a:rPr lang="en-US" altLang="zh-CN" dirty="0"/>
              <a:t> </a:t>
            </a:r>
            <a:r>
              <a:rPr lang="zh-CN" altLang="en-US" dirty="0"/>
              <a:t>理想国导读</a:t>
            </a:r>
          </a:p>
        </p:txBody>
      </p:sp>
      <p:sp>
        <p:nvSpPr>
          <p:cNvPr id="3" name="Content Placeholder 2"/>
          <p:cNvSpPr>
            <a:spLocks noGrp="1"/>
          </p:cNvSpPr>
          <p:nvPr>
            <p:ph sz="half" idx="1"/>
          </p:nvPr>
        </p:nvSpPr>
        <p:spPr>
          <a:xfrm>
            <a:off x="619431" y="1371599"/>
            <a:ext cx="6135329" cy="4449097"/>
          </a:xfrm>
        </p:spPr>
        <p:txBody>
          <a:bodyPr>
            <a:noAutofit/>
          </a:bodyPr>
          <a:lstStyle/>
          <a:p>
            <a:r>
              <a:rPr lang="zh-CN" altLang="en-US" sz="2400" b="1" dirty="0"/>
              <a:t>第一卷 </a:t>
            </a:r>
            <a:endParaRPr lang="en-US" altLang="zh-CN" sz="2400" b="1" dirty="0"/>
          </a:p>
          <a:p>
            <a:r>
              <a:rPr lang="zh-CN" altLang="en-US" sz="2400" b="1" dirty="0"/>
              <a:t>柏拉图让苏格拉底与人探讨“什么是正义”问题，对传统正义问题的讨论进行了梳理。</a:t>
            </a:r>
          </a:p>
          <a:p>
            <a:pPr marL="0" indent="0">
              <a:buNone/>
            </a:pPr>
            <a:endParaRPr lang="en-US" altLang="zh-CN" sz="2400" b="1" dirty="0"/>
          </a:p>
          <a:p>
            <a:r>
              <a:rPr lang="zh-CN" altLang="en-US" sz="2400" b="1" dirty="0"/>
              <a:t>开篇</a:t>
            </a:r>
            <a:endParaRPr lang="en-US" altLang="zh-CN" sz="2400" b="1" dirty="0"/>
          </a:p>
          <a:p>
            <a:r>
              <a:rPr lang="zh-CN" altLang="en-US" sz="2400" b="1" dirty="0"/>
              <a:t>苏格拉底来到普埃依拉埃厄，参加本狄斯宗教节，正要离去时，波策马尔科一行将其截住，并半真半假以强力阻留。</a:t>
            </a:r>
            <a:endParaRPr lang="en-US" altLang="zh-CN" sz="2400" b="1" dirty="0"/>
          </a:p>
          <a:p>
            <a:r>
              <a:rPr lang="zh-CN" altLang="en-US" sz="2400" b="1" dirty="0"/>
              <a:t>苏格拉底应邀来到波策马尔科家，寒暄之间，便开启了对一系列问题的探讨：老年人的忧虑、人生的乐趣、人的性格、财富是否是使人过上正义生活的最好帮助、</a:t>
            </a:r>
            <a:r>
              <a:rPr lang="zh-CN" altLang="en-US" sz="2400" b="1" dirty="0">
                <a:solidFill>
                  <a:srgbClr val="FF0000"/>
                </a:solidFill>
              </a:rPr>
              <a:t>什么是正义</a:t>
            </a:r>
            <a:r>
              <a:rPr lang="en-US" altLang="zh-CN" sz="2400" b="1" dirty="0"/>
              <a:t>……</a:t>
            </a:r>
            <a:r>
              <a:rPr lang="zh-CN" altLang="en-US" sz="2400" b="1" dirty="0"/>
              <a:t>　　 </a:t>
            </a:r>
          </a:p>
        </p:txBody>
      </p:sp>
      <p:pic>
        <p:nvPicPr>
          <p:cNvPr id="26626"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7339839" y="1468966"/>
            <a:ext cx="4753837" cy="482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8239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circle(in)">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circle(in)">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circle(in)">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26626"/>
                                        </p:tgtEl>
                                        <p:attrNameLst>
                                          <p:attrName>style.visibility</p:attrName>
                                        </p:attrNameLst>
                                      </p:cBhvr>
                                      <p:to>
                                        <p:strVal val="visible"/>
                                      </p:to>
                                    </p:set>
                                    <p:animEffect transition="in" filter="randombar(horizontal)">
                                      <p:cBhvr>
                                        <p:cTn id="32" dur="500"/>
                                        <p:tgtEl>
                                          <p:spTgt spid="266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4EE96DD-AE65-49E3-A71A-A3FA6F74C65E}"/>
              </a:ext>
            </a:extLst>
          </p:cNvPr>
          <p:cNvPicPr>
            <a:picLocks noChangeAspect="1"/>
          </p:cNvPicPr>
          <p:nvPr/>
        </p:nvPicPr>
        <p:blipFill>
          <a:blip r:embed="rId2"/>
          <a:stretch>
            <a:fillRect/>
          </a:stretch>
        </p:blipFill>
        <p:spPr>
          <a:xfrm>
            <a:off x="0" y="175661"/>
            <a:ext cx="6540900" cy="6506677"/>
          </a:xfrm>
          <a:prstGeom prst="rect">
            <a:avLst/>
          </a:prstGeom>
        </p:spPr>
      </p:pic>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8234" y="907420"/>
            <a:ext cx="5503766" cy="4520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Straight Connector 2"/>
          <p:cNvCxnSpPr/>
          <p:nvPr/>
        </p:nvCxnSpPr>
        <p:spPr>
          <a:xfrm>
            <a:off x="4125270" y="900440"/>
            <a:ext cx="900440" cy="698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3846064" y="5898229"/>
            <a:ext cx="509551" cy="1396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889411" y="5842388"/>
            <a:ext cx="4753484" cy="646331"/>
          </a:xfrm>
          <a:prstGeom prst="rect">
            <a:avLst/>
          </a:prstGeom>
          <a:noFill/>
        </p:spPr>
        <p:txBody>
          <a:bodyPr wrap="square" rtlCol="0">
            <a:spAutoFit/>
          </a:bodyPr>
          <a:lstStyle/>
          <a:p>
            <a:r>
              <a:rPr lang="zh-CN" altLang="en-US" b="1" dirty="0"/>
              <a:t>沃格林：苏格拉底是一个救助者</a:t>
            </a:r>
            <a:r>
              <a:rPr lang="en-US" altLang="zh-CN" b="1" dirty="0"/>
              <a:t>,</a:t>
            </a:r>
            <a:r>
              <a:rPr lang="zh-CN" altLang="en-US" b="1" dirty="0"/>
              <a:t>他从城市走下港口</a:t>
            </a:r>
            <a:r>
              <a:rPr lang="en-US" altLang="zh-CN" b="1" dirty="0"/>
              <a:t>,</a:t>
            </a:r>
            <a:r>
              <a:rPr lang="zh-CN" altLang="en-US" b="1" dirty="0"/>
              <a:t>正如洞穴喻中的哲学家走入洞穴。</a:t>
            </a:r>
          </a:p>
        </p:txBody>
      </p:sp>
      <p:cxnSp>
        <p:nvCxnSpPr>
          <p:cNvPr id="10" name="Straight Connector 9"/>
          <p:cNvCxnSpPr/>
          <p:nvPr/>
        </p:nvCxnSpPr>
        <p:spPr>
          <a:xfrm>
            <a:off x="7470843" y="4173166"/>
            <a:ext cx="67120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1914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ppt_w</p:attrName>
                                        </p:attrNameLst>
                                      </p:cBhvr>
                                      <p:tavLst>
                                        <p:tav tm="0" fmla="#ppt_w*sin(2.5*pi*$)">
                                          <p:val>
                                            <p:fltVal val="0"/>
                                          </p:val>
                                        </p:tav>
                                        <p:tav tm="100000">
                                          <p:val>
                                            <p:fltVal val="1"/>
                                          </p:val>
                                        </p:tav>
                                      </p:tavLst>
                                    </p:anim>
                                    <p:anim calcmode="lin" valueType="num">
                                      <p:cBhvr>
                                        <p:cTn id="9" dur="20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14338"/>
                                        </p:tgtEl>
                                        <p:attrNameLst>
                                          <p:attrName>style.visibility</p:attrName>
                                        </p:attrNameLst>
                                      </p:cBhvr>
                                      <p:to>
                                        <p:strVal val="visible"/>
                                      </p:to>
                                    </p:set>
                                    <p:animEffect transition="in" filter="randombar(horizontal)">
                                      <p:cBhvr>
                                        <p:cTn id="14" dur="500"/>
                                        <p:tgtEl>
                                          <p:spTgt spid="14338"/>
                                        </p:tgtEl>
                                      </p:cBhvr>
                                    </p:animEffect>
                                  </p:childTnLst>
                                </p:cTn>
                              </p:par>
                            </p:childTnLst>
                          </p:cTn>
                        </p:par>
                      </p:childTnLst>
                    </p:cTn>
                  </p:par>
                  <p:par>
                    <p:cTn id="15" fill="hold">
                      <p:stCondLst>
                        <p:cond delay="indefinite"/>
                      </p:stCondLst>
                      <p:childTnLst>
                        <p:par>
                          <p:cTn id="16" fill="hold">
                            <p:stCondLst>
                              <p:cond delay="0"/>
                            </p:stCondLst>
                            <p:childTnLst>
                              <p:par>
                                <p:cTn id="17" presetID="45"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2000"/>
                                        <p:tgtEl>
                                          <p:spTgt spid="10"/>
                                        </p:tgtEl>
                                      </p:cBhvr>
                                    </p:animEffect>
                                    <p:anim calcmode="lin" valueType="num">
                                      <p:cBhvr>
                                        <p:cTn id="20" dur="2000" fill="hold"/>
                                        <p:tgtEl>
                                          <p:spTgt spid="10"/>
                                        </p:tgtEl>
                                        <p:attrNameLst>
                                          <p:attrName>ppt_w</p:attrName>
                                        </p:attrNameLst>
                                      </p:cBhvr>
                                      <p:tavLst>
                                        <p:tav tm="0" fmla="#ppt_w*sin(2.5*pi*$)">
                                          <p:val>
                                            <p:fltVal val="0"/>
                                          </p:val>
                                        </p:tav>
                                        <p:tav tm="100000">
                                          <p:val>
                                            <p:fltVal val="1"/>
                                          </p:val>
                                        </p:tav>
                                      </p:tavLst>
                                    </p:anim>
                                    <p:anim calcmode="lin" valueType="num">
                                      <p:cBhvr>
                                        <p:cTn id="21" dur="20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45" presetClass="entr" presetSubtype="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000"/>
                                        <p:tgtEl>
                                          <p:spTgt spid="7"/>
                                        </p:tgtEl>
                                      </p:cBhvr>
                                    </p:animEffect>
                                    <p:anim calcmode="lin" valueType="num">
                                      <p:cBhvr>
                                        <p:cTn id="27" dur="2000" fill="hold"/>
                                        <p:tgtEl>
                                          <p:spTgt spid="7"/>
                                        </p:tgtEl>
                                        <p:attrNameLst>
                                          <p:attrName>ppt_w</p:attrName>
                                        </p:attrNameLst>
                                      </p:cBhvr>
                                      <p:tavLst>
                                        <p:tav tm="0" fmla="#ppt_w*sin(2.5*pi*$)">
                                          <p:val>
                                            <p:fltVal val="0"/>
                                          </p:val>
                                        </p:tav>
                                        <p:tav tm="100000">
                                          <p:val>
                                            <p:fltVal val="1"/>
                                          </p:val>
                                        </p:tav>
                                      </p:tavLst>
                                    </p:anim>
                                    <p:anim calcmode="lin" valueType="num">
                                      <p:cBhvr>
                                        <p:cTn id="28" dur="20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nodeType="click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animEffect transition="in" filter="randombar(horizontal)">
                                      <p:cBhvr>
                                        <p:cTn id="33"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zh-CN" altLang="en-US"/>
          </a:p>
        </p:txBody>
      </p:sp>
      <p:sp>
        <p:nvSpPr>
          <p:cNvPr id="3" name="Subtitle 2"/>
          <p:cNvSpPr>
            <a:spLocks noGrp="1"/>
          </p:cNvSpPr>
          <p:nvPr>
            <p:ph type="subTitle" idx="1"/>
          </p:nvPr>
        </p:nvSpPr>
        <p:spPr/>
        <p:txBody>
          <a:bodyPr/>
          <a:lstStyle/>
          <a:p>
            <a:endParaRPr lang="zh-CN" alt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2495" y="1161760"/>
            <a:ext cx="8569614" cy="49018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62103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wheel(1)">
                                      <p:cBhvr>
                                        <p:cTn id="7" dur="20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zh-CN" altLang="en-US" dirty="0"/>
          </a:p>
        </p:txBody>
      </p:sp>
      <p:sp>
        <p:nvSpPr>
          <p:cNvPr id="5" name="Content Placeholder 4"/>
          <p:cNvSpPr>
            <a:spLocks noGrp="1"/>
          </p:cNvSpPr>
          <p:nvPr>
            <p:ph sz="half" idx="1"/>
          </p:nvPr>
        </p:nvSpPr>
        <p:spPr/>
        <p:txBody>
          <a:bodyPr/>
          <a:lstStyle/>
          <a:p>
            <a:endParaRPr lang="zh-CN" altLang="en-US" dirty="0"/>
          </a:p>
        </p:txBody>
      </p:sp>
      <p:sp>
        <p:nvSpPr>
          <p:cNvPr id="6" name="Content Placeholder 5"/>
          <p:cNvSpPr>
            <a:spLocks noGrp="1"/>
          </p:cNvSpPr>
          <p:nvPr>
            <p:ph sz="half" idx="2"/>
          </p:nvPr>
        </p:nvSpPr>
        <p:spPr/>
        <p:txBody>
          <a:bodyPr/>
          <a:lstStyle/>
          <a:p>
            <a:endParaRPr lang="zh-CN" altLang="en-US"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8476" y="313535"/>
            <a:ext cx="5210048" cy="3029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8476" y="3499891"/>
            <a:ext cx="5210048" cy="3180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图片 1">
            <a:extLst>
              <a:ext uri="{FF2B5EF4-FFF2-40B4-BE49-F238E27FC236}">
                <a16:creationId xmlns:a16="http://schemas.microsoft.com/office/drawing/2014/main" id="{9C6C5EDD-3E35-446E-BF5C-0F90AF29F352}"/>
              </a:ext>
            </a:extLst>
          </p:cNvPr>
          <p:cNvPicPr>
            <a:picLocks noChangeAspect="1"/>
          </p:cNvPicPr>
          <p:nvPr/>
        </p:nvPicPr>
        <p:blipFill>
          <a:blip r:embed="rId4"/>
          <a:stretch>
            <a:fillRect/>
          </a:stretch>
        </p:blipFill>
        <p:spPr>
          <a:xfrm>
            <a:off x="78744" y="0"/>
            <a:ext cx="5574781" cy="6858000"/>
          </a:xfrm>
          <a:prstGeom prst="rect">
            <a:avLst/>
          </a:prstGeom>
        </p:spPr>
      </p:pic>
      <p:pic>
        <p:nvPicPr>
          <p:cNvPr id="7" name="图片 6">
            <a:extLst>
              <a:ext uri="{FF2B5EF4-FFF2-40B4-BE49-F238E27FC236}">
                <a16:creationId xmlns:a16="http://schemas.microsoft.com/office/drawing/2014/main" id="{01EC6B89-898A-434D-853C-F5AF2449A2A0}"/>
              </a:ext>
            </a:extLst>
          </p:cNvPr>
          <p:cNvPicPr>
            <a:picLocks noChangeAspect="1"/>
          </p:cNvPicPr>
          <p:nvPr/>
        </p:nvPicPr>
        <p:blipFill>
          <a:blip r:embed="rId5"/>
          <a:stretch>
            <a:fillRect/>
          </a:stretch>
        </p:blipFill>
        <p:spPr>
          <a:xfrm flipV="1">
            <a:off x="3001399" y="2165665"/>
            <a:ext cx="2542252" cy="45719"/>
          </a:xfrm>
          <a:prstGeom prst="rect">
            <a:avLst/>
          </a:prstGeom>
        </p:spPr>
      </p:pic>
      <p:pic>
        <p:nvPicPr>
          <p:cNvPr id="9" name="图片 8">
            <a:extLst>
              <a:ext uri="{FF2B5EF4-FFF2-40B4-BE49-F238E27FC236}">
                <a16:creationId xmlns:a16="http://schemas.microsoft.com/office/drawing/2014/main" id="{E7A0A56D-C6D0-4CC3-A303-5966C84DFBD4}"/>
              </a:ext>
            </a:extLst>
          </p:cNvPr>
          <p:cNvPicPr>
            <a:picLocks noChangeAspect="1"/>
          </p:cNvPicPr>
          <p:nvPr/>
        </p:nvPicPr>
        <p:blipFill>
          <a:blip r:embed="rId6"/>
          <a:stretch>
            <a:fillRect/>
          </a:stretch>
        </p:blipFill>
        <p:spPr>
          <a:xfrm>
            <a:off x="3083702" y="5945202"/>
            <a:ext cx="2377646" cy="30483"/>
          </a:xfrm>
          <a:prstGeom prst="rect">
            <a:avLst/>
          </a:prstGeom>
        </p:spPr>
      </p:pic>
    </p:spTree>
    <p:extLst>
      <p:ext uri="{BB962C8B-B14F-4D97-AF65-F5344CB8AC3E}">
        <p14:creationId xmlns:p14="http://schemas.microsoft.com/office/powerpoint/2010/main" val="2996080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randombar(horizontal)">
                                      <p:cBhvr>
                                        <p:cTn id="7" dur="500"/>
                                        <p:tgtEl>
                                          <p:spTgt spid="1536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5363"/>
                                        </p:tgtEl>
                                        <p:attrNameLst>
                                          <p:attrName>style.visibility</p:attrName>
                                        </p:attrNameLst>
                                      </p:cBhvr>
                                      <p:to>
                                        <p:strVal val="visible"/>
                                      </p:to>
                                    </p:set>
                                    <p:animEffect transition="in" filter="randombar(horizontal)">
                                      <p:cBhvr>
                                        <p:cTn id="12" dur="500"/>
                                        <p:tgtEl>
                                          <p:spTgt spid="15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lstStyle/>
          <a:p>
            <a:endParaRPr lang="zh-CN" altLang="en-US" dirty="0"/>
          </a:p>
        </p:txBody>
      </p:sp>
      <p:sp>
        <p:nvSpPr>
          <p:cNvPr id="4" name="Content Placeholder 3"/>
          <p:cNvSpPr>
            <a:spLocks noGrp="1"/>
          </p:cNvSpPr>
          <p:nvPr>
            <p:ph sz="half" idx="2"/>
          </p:nvPr>
        </p:nvSpPr>
        <p:spPr/>
        <p:txBody>
          <a:bodyPr/>
          <a:lstStyle/>
          <a:p>
            <a:endParaRPr lang="zh-CN" altLang="en-US" dirty="0"/>
          </a:p>
        </p:txBody>
      </p:sp>
      <p:cxnSp>
        <p:nvCxnSpPr>
          <p:cNvPr id="14" name="Straight Connector 13"/>
          <p:cNvCxnSpPr/>
          <p:nvPr/>
        </p:nvCxnSpPr>
        <p:spPr>
          <a:xfrm flipV="1">
            <a:off x="3999627" y="5912189"/>
            <a:ext cx="1242468" cy="4886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163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8810" y="1232942"/>
            <a:ext cx="3961551" cy="5472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Box 14"/>
          <p:cNvSpPr txBox="1"/>
          <p:nvPr/>
        </p:nvSpPr>
        <p:spPr>
          <a:xfrm>
            <a:off x="7210495" y="460690"/>
            <a:ext cx="3853047" cy="369332"/>
          </a:xfrm>
          <a:prstGeom prst="rect">
            <a:avLst/>
          </a:prstGeom>
          <a:noFill/>
        </p:spPr>
        <p:txBody>
          <a:bodyPr wrap="square" rtlCol="0">
            <a:spAutoFit/>
          </a:bodyPr>
          <a:lstStyle/>
          <a:p>
            <a:r>
              <a:rPr lang="zh-CN" altLang="en-US" dirty="0"/>
              <a:t>赫拉克勒斯（</a:t>
            </a:r>
            <a:r>
              <a:rPr lang="en-US" altLang="zh-CN" dirty="0"/>
              <a:t>Heracles</a:t>
            </a:r>
            <a:r>
              <a:rPr lang="zh-CN" altLang="en-US" dirty="0"/>
              <a:t>）的选择</a:t>
            </a:r>
          </a:p>
        </p:txBody>
      </p:sp>
      <p:pic>
        <p:nvPicPr>
          <p:cNvPr id="2" name="图片 1">
            <a:extLst>
              <a:ext uri="{FF2B5EF4-FFF2-40B4-BE49-F238E27FC236}">
                <a16:creationId xmlns:a16="http://schemas.microsoft.com/office/drawing/2014/main" id="{CB67331D-5223-44C5-838E-ABD0516FCBDC}"/>
              </a:ext>
            </a:extLst>
          </p:cNvPr>
          <p:cNvPicPr>
            <a:picLocks noChangeAspect="1"/>
          </p:cNvPicPr>
          <p:nvPr/>
        </p:nvPicPr>
        <p:blipFill>
          <a:blip r:embed="rId3"/>
          <a:stretch>
            <a:fillRect/>
          </a:stretch>
        </p:blipFill>
        <p:spPr>
          <a:xfrm>
            <a:off x="183849" y="13335"/>
            <a:ext cx="5775625" cy="6858000"/>
          </a:xfrm>
          <a:prstGeom prst="rect">
            <a:avLst/>
          </a:prstGeom>
        </p:spPr>
      </p:pic>
      <p:pic>
        <p:nvPicPr>
          <p:cNvPr id="7" name="图片 6">
            <a:extLst>
              <a:ext uri="{FF2B5EF4-FFF2-40B4-BE49-F238E27FC236}">
                <a16:creationId xmlns:a16="http://schemas.microsoft.com/office/drawing/2014/main" id="{6A127B1C-E23C-42AC-BC5C-612EAB9CF3D9}"/>
              </a:ext>
            </a:extLst>
          </p:cNvPr>
          <p:cNvPicPr>
            <a:picLocks noChangeAspect="1"/>
          </p:cNvPicPr>
          <p:nvPr/>
        </p:nvPicPr>
        <p:blipFill>
          <a:blip r:embed="rId4"/>
          <a:stretch>
            <a:fillRect/>
          </a:stretch>
        </p:blipFill>
        <p:spPr>
          <a:xfrm>
            <a:off x="555673" y="830022"/>
            <a:ext cx="804742" cy="24386"/>
          </a:xfrm>
          <a:prstGeom prst="rect">
            <a:avLst/>
          </a:prstGeom>
        </p:spPr>
      </p:pic>
      <p:pic>
        <p:nvPicPr>
          <p:cNvPr id="9" name="图片 8">
            <a:extLst>
              <a:ext uri="{FF2B5EF4-FFF2-40B4-BE49-F238E27FC236}">
                <a16:creationId xmlns:a16="http://schemas.microsoft.com/office/drawing/2014/main" id="{2FE2F25E-FB63-4182-9E24-9A8D89A7F205}"/>
              </a:ext>
            </a:extLst>
          </p:cNvPr>
          <p:cNvPicPr>
            <a:picLocks noChangeAspect="1"/>
          </p:cNvPicPr>
          <p:nvPr/>
        </p:nvPicPr>
        <p:blipFill>
          <a:blip r:embed="rId5"/>
          <a:stretch>
            <a:fillRect/>
          </a:stretch>
        </p:blipFill>
        <p:spPr>
          <a:xfrm>
            <a:off x="555673" y="1362073"/>
            <a:ext cx="1959372" cy="45719"/>
          </a:xfrm>
          <a:prstGeom prst="rect">
            <a:avLst/>
          </a:prstGeom>
        </p:spPr>
      </p:pic>
      <p:pic>
        <p:nvPicPr>
          <p:cNvPr id="11" name="图片 10">
            <a:extLst>
              <a:ext uri="{FF2B5EF4-FFF2-40B4-BE49-F238E27FC236}">
                <a16:creationId xmlns:a16="http://schemas.microsoft.com/office/drawing/2014/main" id="{B62CB97A-BC2F-49D5-AD8C-3BC49F1D2979}"/>
              </a:ext>
            </a:extLst>
          </p:cNvPr>
          <p:cNvPicPr>
            <a:picLocks noChangeAspect="1"/>
          </p:cNvPicPr>
          <p:nvPr/>
        </p:nvPicPr>
        <p:blipFill>
          <a:blip r:embed="rId6"/>
          <a:stretch>
            <a:fillRect/>
          </a:stretch>
        </p:blipFill>
        <p:spPr>
          <a:xfrm>
            <a:off x="734088" y="5441058"/>
            <a:ext cx="4188315" cy="54869"/>
          </a:xfrm>
          <a:prstGeom prst="rect">
            <a:avLst/>
          </a:prstGeom>
        </p:spPr>
      </p:pic>
      <p:pic>
        <p:nvPicPr>
          <p:cNvPr id="13" name="图片 12">
            <a:extLst>
              <a:ext uri="{FF2B5EF4-FFF2-40B4-BE49-F238E27FC236}">
                <a16:creationId xmlns:a16="http://schemas.microsoft.com/office/drawing/2014/main" id="{1D0733DD-3338-473A-8908-F56CC3E186CB}"/>
              </a:ext>
            </a:extLst>
          </p:cNvPr>
          <p:cNvPicPr>
            <a:picLocks noChangeAspect="1"/>
          </p:cNvPicPr>
          <p:nvPr/>
        </p:nvPicPr>
        <p:blipFill>
          <a:blip r:embed="rId7"/>
          <a:stretch>
            <a:fillRect/>
          </a:stretch>
        </p:blipFill>
        <p:spPr>
          <a:xfrm>
            <a:off x="1218386" y="5711946"/>
            <a:ext cx="4023709" cy="79255"/>
          </a:xfrm>
          <a:prstGeom prst="rect">
            <a:avLst/>
          </a:prstGeom>
        </p:spPr>
      </p:pic>
      <p:pic>
        <p:nvPicPr>
          <p:cNvPr id="16" name="图片 15">
            <a:extLst>
              <a:ext uri="{FF2B5EF4-FFF2-40B4-BE49-F238E27FC236}">
                <a16:creationId xmlns:a16="http://schemas.microsoft.com/office/drawing/2014/main" id="{FCEC4FE9-7DD7-4A24-92E0-938BA4BC6D53}"/>
              </a:ext>
            </a:extLst>
          </p:cNvPr>
          <p:cNvPicPr>
            <a:picLocks noChangeAspect="1"/>
          </p:cNvPicPr>
          <p:nvPr/>
        </p:nvPicPr>
        <p:blipFill>
          <a:blip r:embed="rId8"/>
          <a:stretch>
            <a:fillRect/>
          </a:stretch>
        </p:blipFill>
        <p:spPr>
          <a:xfrm>
            <a:off x="3999627" y="6231627"/>
            <a:ext cx="1242468" cy="66345"/>
          </a:xfrm>
          <a:prstGeom prst="rect">
            <a:avLst/>
          </a:prstGeom>
        </p:spPr>
      </p:pic>
    </p:spTree>
    <p:extLst>
      <p:ext uri="{BB962C8B-B14F-4D97-AF65-F5344CB8AC3E}">
        <p14:creationId xmlns:p14="http://schemas.microsoft.com/office/powerpoint/2010/main" val="3744090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000"/>
                                        <p:tgtEl>
                                          <p:spTgt spid="14"/>
                                        </p:tgtEl>
                                      </p:cBhvr>
                                    </p:animEffect>
                                    <p:anim calcmode="lin" valueType="num">
                                      <p:cBhvr>
                                        <p:cTn id="8" dur="2000" fill="hold"/>
                                        <p:tgtEl>
                                          <p:spTgt spid="14"/>
                                        </p:tgtEl>
                                        <p:attrNameLst>
                                          <p:attrName>ppt_w</p:attrName>
                                        </p:attrNameLst>
                                      </p:cBhvr>
                                      <p:tavLst>
                                        <p:tav tm="0" fmla="#ppt_w*sin(2.5*pi*$)">
                                          <p:val>
                                            <p:fltVal val="0"/>
                                          </p:val>
                                        </p:tav>
                                        <p:tav tm="100000">
                                          <p:val>
                                            <p:fltVal val="1"/>
                                          </p:val>
                                        </p:tav>
                                      </p:tavLst>
                                    </p:anim>
                                    <p:anim calcmode="lin" valueType="num">
                                      <p:cBhvr>
                                        <p:cTn id="9" dur="2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heel(1)">
                                      <p:cBhvr>
                                        <p:cTn id="14" dur="2000"/>
                                        <p:tgtEl>
                                          <p:spTgt spid="15"/>
                                        </p:tgtEl>
                                      </p:cBhvr>
                                    </p:animEffec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nodeType="clickEffect">
                                  <p:stCondLst>
                                    <p:cond delay="0"/>
                                  </p:stCondLst>
                                  <p:childTnLst>
                                    <p:set>
                                      <p:cBhvr>
                                        <p:cTn id="18" dur="1" fill="hold">
                                          <p:stCondLst>
                                            <p:cond delay="0"/>
                                          </p:stCondLst>
                                        </p:cTn>
                                        <p:tgtEl>
                                          <p:spTgt spid="16387"/>
                                        </p:tgtEl>
                                        <p:attrNameLst>
                                          <p:attrName>style.visibility</p:attrName>
                                        </p:attrNameLst>
                                      </p:cBhvr>
                                      <p:to>
                                        <p:strVal val="visible"/>
                                      </p:to>
                                    </p:set>
                                    <p:anim calcmode="lin" valueType="num">
                                      <p:cBhvr>
                                        <p:cTn id="19" dur="1000" fill="hold"/>
                                        <p:tgtEl>
                                          <p:spTgt spid="16387"/>
                                        </p:tgtEl>
                                        <p:attrNameLst>
                                          <p:attrName>ppt_w</p:attrName>
                                        </p:attrNameLst>
                                      </p:cBhvr>
                                      <p:tavLst>
                                        <p:tav tm="0">
                                          <p:val>
                                            <p:fltVal val="0"/>
                                          </p:val>
                                        </p:tav>
                                        <p:tav tm="100000">
                                          <p:val>
                                            <p:strVal val="#ppt_w"/>
                                          </p:val>
                                        </p:tav>
                                      </p:tavLst>
                                    </p:anim>
                                    <p:anim calcmode="lin" valueType="num">
                                      <p:cBhvr>
                                        <p:cTn id="20" dur="1000" fill="hold"/>
                                        <p:tgtEl>
                                          <p:spTgt spid="16387"/>
                                        </p:tgtEl>
                                        <p:attrNameLst>
                                          <p:attrName>ppt_h</p:attrName>
                                        </p:attrNameLst>
                                      </p:cBhvr>
                                      <p:tavLst>
                                        <p:tav tm="0">
                                          <p:val>
                                            <p:fltVal val="0"/>
                                          </p:val>
                                        </p:tav>
                                        <p:tav tm="100000">
                                          <p:val>
                                            <p:strVal val="#ppt_h"/>
                                          </p:val>
                                        </p:tav>
                                      </p:tavLst>
                                    </p:anim>
                                    <p:anim calcmode="lin" valueType="num">
                                      <p:cBhvr>
                                        <p:cTn id="21" dur="1000" fill="hold"/>
                                        <p:tgtEl>
                                          <p:spTgt spid="16387"/>
                                        </p:tgtEl>
                                        <p:attrNameLst>
                                          <p:attrName>style.rotation</p:attrName>
                                        </p:attrNameLst>
                                      </p:cBhvr>
                                      <p:tavLst>
                                        <p:tav tm="0">
                                          <p:val>
                                            <p:fltVal val="90"/>
                                          </p:val>
                                        </p:tav>
                                        <p:tav tm="100000">
                                          <p:val>
                                            <p:fltVal val="0"/>
                                          </p:val>
                                        </p:tav>
                                      </p:tavLst>
                                    </p:anim>
                                    <p:animEffect transition="in" filter="fade">
                                      <p:cBhvr>
                                        <p:cTn id="22" dur="1000"/>
                                        <p:tgtEl>
                                          <p:spTgt spid="16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332F89FA-2827-4BD1-8CD1-197AADB3D518}"/>
              </a:ext>
            </a:extLst>
          </p:cNvPr>
          <p:cNvSpPr>
            <a:spLocks noGrp="1"/>
          </p:cNvSpPr>
          <p:nvPr>
            <p:ph type="title"/>
          </p:nvPr>
        </p:nvSpPr>
        <p:spPr>
          <a:xfrm>
            <a:off x="557981" y="258719"/>
            <a:ext cx="10840914" cy="795688"/>
          </a:xfrm>
        </p:spPr>
        <p:txBody>
          <a:bodyPr/>
          <a:lstStyle/>
          <a:p>
            <a:r>
              <a:rPr lang="zh-CN" altLang="en-US" dirty="0"/>
              <a:t>卷一的结构</a:t>
            </a:r>
          </a:p>
        </p:txBody>
      </p:sp>
      <p:sp>
        <p:nvSpPr>
          <p:cNvPr id="8" name="文本框 7">
            <a:extLst>
              <a:ext uri="{FF2B5EF4-FFF2-40B4-BE49-F238E27FC236}">
                <a16:creationId xmlns:a16="http://schemas.microsoft.com/office/drawing/2014/main" id="{6D90522D-1ED4-41C8-B2DF-AAD5678815D5}"/>
              </a:ext>
            </a:extLst>
          </p:cNvPr>
          <p:cNvSpPr txBox="1"/>
          <p:nvPr/>
        </p:nvSpPr>
        <p:spPr>
          <a:xfrm>
            <a:off x="827772" y="1815556"/>
            <a:ext cx="2977311" cy="461665"/>
          </a:xfrm>
          <a:prstGeom prst="rect">
            <a:avLst/>
          </a:prstGeom>
          <a:noFill/>
        </p:spPr>
        <p:txBody>
          <a:bodyPr wrap="square" rtlCol="0">
            <a:spAutoFit/>
          </a:bodyPr>
          <a:lstStyle/>
          <a:p>
            <a:r>
              <a:rPr lang="zh-CN" altLang="en-US" sz="2400" b="1" dirty="0"/>
              <a:t>苏格拉底</a:t>
            </a:r>
            <a:r>
              <a:rPr lang="en-US" altLang="zh-CN" sz="2400" b="1" dirty="0" err="1"/>
              <a:t>v.s</a:t>
            </a:r>
            <a:r>
              <a:rPr lang="en-US" altLang="zh-CN" sz="2400" b="1" dirty="0"/>
              <a:t>.</a:t>
            </a:r>
            <a:r>
              <a:rPr lang="zh-CN" altLang="en-US" sz="2400" b="1" dirty="0"/>
              <a:t> 凯帕洛</a:t>
            </a:r>
          </a:p>
        </p:txBody>
      </p:sp>
      <p:sp>
        <p:nvSpPr>
          <p:cNvPr id="9" name="文本框 8">
            <a:extLst>
              <a:ext uri="{FF2B5EF4-FFF2-40B4-BE49-F238E27FC236}">
                <a16:creationId xmlns:a16="http://schemas.microsoft.com/office/drawing/2014/main" id="{39D68B38-1958-4D20-83D4-99989A972D8C}"/>
              </a:ext>
            </a:extLst>
          </p:cNvPr>
          <p:cNvSpPr txBox="1"/>
          <p:nvPr/>
        </p:nvSpPr>
        <p:spPr>
          <a:xfrm>
            <a:off x="859131" y="2934614"/>
            <a:ext cx="2752825" cy="830997"/>
          </a:xfrm>
          <a:prstGeom prst="rect">
            <a:avLst/>
          </a:prstGeom>
          <a:noFill/>
        </p:spPr>
        <p:txBody>
          <a:bodyPr wrap="square" rtlCol="0">
            <a:spAutoFit/>
          </a:bodyPr>
          <a:lstStyle/>
          <a:p>
            <a:r>
              <a:rPr lang="zh-CN" altLang="en-US" sz="2400" b="1" dirty="0"/>
              <a:t>苏格拉底</a:t>
            </a:r>
            <a:r>
              <a:rPr lang="en-US" altLang="zh-CN" sz="2400" b="1" dirty="0" err="1"/>
              <a:t>v.s</a:t>
            </a:r>
            <a:r>
              <a:rPr lang="en-US" altLang="zh-CN" sz="2400" b="1" dirty="0"/>
              <a:t>.</a:t>
            </a:r>
            <a:r>
              <a:rPr lang="zh-CN" altLang="en-US" sz="2400" b="1" dirty="0"/>
              <a:t>波策马尔科</a:t>
            </a:r>
          </a:p>
        </p:txBody>
      </p:sp>
      <p:sp>
        <p:nvSpPr>
          <p:cNvPr id="10" name="文本框 9">
            <a:extLst>
              <a:ext uri="{FF2B5EF4-FFF2-40B4-BE49-F238E27FC236}">
                <a16:creationId xmlns:a16="http://schemas.microsoft.com/office/drawing/2014/main" id="{86B6E402-3878-4476-8FEB-EDCAECED0ECC}"/>
              </a:ext>
            </a:extLst>
          </p:cNvPr>
          <p:cNvSpPr txBox="1"/>
          <p:nvPr/>
        </p:nvSpPr>
        <p:spPr>
          <a:xfrm>
            <a:off x="872688" y="4165281"/>
            <a:ext cx="2752825" cy="830997"/>
          </a:xfrm>
          <a:prstGeom prst="rect">
            <a:avLst/>
          </a:prstGeom>
          <a:noFill/>
        </p:spPr>
        <p:txBody>
          <a:bodyPr wrap="square" rtlCol="0">
            <a:spAutoFit/>
          </a:bodyPr>
          <a:lstStyle/>
          <a:p>
            <a:r>
              <a:rPr lang="zh-CN" altLang="en-US" sz="2400" b="1" dirty="0"/>
              <a:t>苏格拉底</a:t>
            </a:r>
            <a:r>
              <a:rPr lang="en-US" altLang="zh-CN" sz="2400" b="1" dirty="0" err="1"/>
              <a:t>v.s</a:t>
            </a:r>
            <a:r>
              <a:rPr lang="en-US" altLang="zh-CN" sz="2400" b="1" dirty="0"/>
              <a:t>.</a:t>
            </a:r>
            <a:r>
              <a:rPr lang="zh-CN" altLang="en-US" sz="2400" b="1" dirty="0"/>
              <a:t>特拉需马科</a:t>
            </a:r>
          </a:p>
        </p:txBody>
      </p:sp>
      <p:sp>
        <p:nvSpPr>
          <p:cNvPr id="11" name="文本框 10">
            <a:extLst>
              <a:ext uri="{FF2B5EF4-FFF2-40B4-BE49-F238E27FC236}">
                <a16:creationId xmlns:a16="http://schemas.microsoft.com/office/drawing/2014/main" id="{B761B9CE-C56D-4903-A96D-DBDEC7DFA0CE}"/>
              </a:ext>
            </a:extLst>
          </p:cNvPr>
          <p:cNvSpPr txBox="1"/>
          <p:nvPr/>
        </p:nvSpPr>
        <p:spPr>
          <a:xfrm>
            <a:off x="4514248" y="1223270"/>
            <a:ext cx="3946255" cy="1200329"/>
          </a:xfrm>
          <a:prstGeom prst="rect">
            <a:avLst/>
          </a:prstGeom>
          <a:noFill/>
        </p:spPr>
        <p:txBody>
          <a:bodyPr wrap="square" rtlCol="0">
            <a:spAutoFit/>
          </a:bodyPr>
          <a:lstStyle/>
          <a:p>
            <a:r>
              <a:rPr lang="zh-CN" altLang="en-US" sz="2400" b="1" dirty="0"/>
              <a:t>品格是好生活的原因</a:t>
            </a:r>
            <a:endParaRPr lang="en-US" altLang="zh-CN" sz="2400" b="1" dirty="0"/>
          </a:p>
          <a:p>
            <a:r>
              <a:rPr lang="zh-CN" altLang="en-US" sz="2400" b="1" dirty="0"/>
              <a:t>品格的核心是要正义</a:t>
            </a:r>
            <a:endParaRPr lang="en-US" altLang="zh-CN" sz="2400" b="1" dirty="0"/>
          </a:p>
          <a:p>
            <a:r>
              <a:rPr lang="zh-CN" altLang="en-US" sz="2400" b="1" dirty="0"/>
              <a:t>正义就是说真话，有债就还</a:t>
            </a:r>
          </a:p>
        </p:txBody>
      </p:sp>
      <p:sp>
        <p:nvSpPr>
          <p:cNvPr id="12" name="文本框 11">
            <a:extLst>
              <a:ext uri="{FF2B5EF4-FFF2-40B4-BE49-F238E27FC236}">
                <a16:creationId xmlns:a16="http://schemas.microsoft.com/office/drawing/2014/main" id="{19EBFDD2-DE79-40B4-90A2-992C8AC8ECE4}"/>
              </a:ext>
            </a:extLst>
          </p:cNvPr>
          <p:cNvSpPr txBox="1"/>
          <p:nvPr/>
        </p:nvSpPr>
        <p:spPr>
          <a:xfrm>
            <a:off x="4514248" y="2749947"/>
            <a:ext cx="3080083" cy="1200329"/>
          </a:xfrm>
          <a:prstGeom prst="rect">
            <a:avLst/>
          </a:prstGeom>
          <a:noFill/>
        </p:spPr>
        <p:txBody>
          <a:bodyPr wrap="square" rtlCol="0">
            <a:spAutoFit/>
          </a:bodyPr>
          <a:lstStyle/>
          <a:p>
            <a:r>
              <a:rPr lang="zh-CN" altLang="en-US" sz="2400" b="1" dirty="0"/>
              <a:t>诗人西蒙尼代：正义是把该负于人的，还之于人</a:t>
            </a:r>
          </a:p>
        </p:txBody>
      </p:sp>
      <p:sp>
        <p:nvSpPr>
          <p:cNvPr id="14" name="右大括号 13">
            <a:extLst>
              <a:ext uri="{FF2B5EF4-FFF2-40B4-BE49-F238E27FC236}">
                <a16:creationId xmlns:a16="http://schemas.microsoft.com/office/drawing/2014/main" id="{DE0B9028-6EED-4DD8-B7D8-B7F4D1F24A33}"/>
              </a:ext>
            </a:extLst>
          </p:cNvPr>
          <p:cNvSpPr/>
          <p:nvPr/>
        </p:nvSpPr>
        <p:spPr>
          <a:xfrm>
            <a:off x="8460503" y="1478823"/>
            <a:ext cx="519763" cy="1762665"/>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967A1806-C5A7-482D-BE15-3FE263183B6C}"/>
              </a:ext>
            </a:extLst>
          </p:cNvPr>
          <p:cNvSpPr txBox="1"/>
          <p:nvPr/>
        </p:nvSpPr>
        <p:spPr>
          <a:xfrm>
            <a:off x="9182501" y="1592601"/>
            <a:ext cx="2344214" cy="1200329"/>
          </a:xfrm>
          <a:prstGeom prst="rect">
            <a:avLst/>
          </a:prstGeom>
          <a:noFill/>
        </p:spPr>
        <p:txBody>
          <a:bodyPr wrap="square" rtlCol="0">
            <a:spAutoFit/>
          </a:bodyPr>
          <a:lstStyle/>
          <a:p>
            <a:r>
              <a:rPr lang="zh-CN" altLang="en-US" sz="2400" b="1" dirty="0"/>
              <a:t>苏格拉底：</a:t>
            </a:r>
            <a:endParaRPr lang="en-US" altLang="zh-CN" sz="2400" b="1" dirty="0"/>
          </a:p>
          <a:p>
            <a:r>
              <a:rPr lang="zh-CN" altLang="en-US" sz="2400" b="1" dirty="0"/>
              <a:t>辨析传统（诗歌）教育的正义观念</a:t>
            </a:r>
          </a:p>
        </p:txBody>
      </p:sp>
      <p:sp>
        <p:nvSpPr>
          <p:cNvPr id="16" name="文本框 15">
            <a:extLst>
              <a:ext uri="{FF2B5EF4-FFF2-40B4-BE49-F238E27FC236}">
                <a16:creationId xmlns:a16="http://schemas.microsoft.com/office/drawing/2014/main" id="{234FD3FD-42A4-4F0C-872D-371444C97640}"/>
              </a:ext>
            </a:extLst>
          </p:cNvPr>
          <p:cNvSpPr txBox="1"/>
          <p:nvPr/>
        </p:nvSpPr>
        <p:spPr>
          <a:xfrm>
            <a:off x="4515490" y="4276624"/>
            <a:ext cx="2733574" cy="461665"/>
          </a:xfrm>
          <a:prstGeom prst="rect">
            <a:avLst/>
          </a:prstGeom>
          <a:noFill/>
        </p:spPr>
        <p:txBody>
          <a:bodyPr wrap="square" rtlCol="0">
            <a:spAutoFit/>
          </a:bodyPr>
          <a:lstStyle/>
          <a:p>
            <a:r>
              <a:rPr lang="zh-CN" altLang="en-US" sz="2400" b="1" dirty="0"/>
              <a:t>正义是强者的利益</a:t>
            </a:r>
          </a:p>
        </p:txBody>
      </p:sp>
      <p:sp>
        <p:nvSpPr>
          <p:cNvPr id="18" name="右大括号 17">
            <a:extLst>
              <a:ext uri="{FF2B5EF4-FFF2-40B4-BE49-F238E27FC236}">
                <a16:creationId xmlns:a16="http://schemas.microsoft.com/office/drawing/2014/main" id="{4150D0A8-3126-4205-A75A-9CB5E3DE97F7}"/>
              </a:ext>
            </a:extLst>
          </p:cNvPr>
          <p:cNvSpPr/>
          <p:nvPr/>
        </p:nvSpPr>
        <p:spPr>
          <a:xfrm>
            <a:off x="8454500" y="3616513"/>
            <a:ext cx="519763" cy="1533395"/>
          </a:xfrm>
          <a:prstGeom prst="rightBrace">
            <a:avLst/>
          </a:prstGeom>
          <a:noFill/>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p>
        </p:txBody>
      </p:sp>
      <p:sp>
        <p:nvSpPr>
          <p:cNvPr id="19" name="文本框 18">
            <a:extLst>
              <a:ext uri="{FF2B5EF4-FFF2-40B4-BE49-F238E27FC236}">
                <a16:creationId xmlns:a16="http://schemas.microsoft.com/office/drawing/2014/main" id="{3433DC8C-ABDB-4184-B5F6-2FE83963863A}"/>
              </a:ext>
            </a:extLst>
          </p:cNvPr>
          <p:cNvSpPr txBox="1"/>
          <p:nvPr/>
        </p:nvSpPr>
        <p:spPr>
          <a:xfrm>
            <a:off x="9182501" y="3765611"/>
            <a:ext cx="2344214" cy="1200329"/>
          </a:xfrm>
          <a:prstGeom prst="rect">
            <a:avLst/>
          </a:prstGeom>
          <a:noFill/>
        </p:spPr>
        <p:txBody>
          <a:bodyPr wrap="square" rtlCol="0">
            <a:spAutoFit/>
          </a:bodyPr>
          <a:lstStyle/>
          <a:p>
            <a:r>
              <a:rPr lang="zh-CN" altLang="en-US" sz="2400" b="1" dirty="0"/>
              <a:t>苏格拉底：</a:t>
            </a:r>
            <a:endParaRPr lang="en-US" altLang="zh-CN" sz="2400" b="1" dirty="0"/>
          </a:p>
          <a:p>
            <a:r>
              <a:rPr lang="zh-CN" altLang="en-US" sz="2400" b="1" dirty="0"/>
              <a:t>辨析智者教育的正义观念</a:t>
            </a:r>
          </a:p>
        </p:txBody>
      </p:sp>
      <p:sp>
        <p:nvSpPr>
          <p:cNvPr id="20" name="箭头: 下 19">
            <a:extLst>
              <a:ext uri="{FF2B5EF4-FFF2-40B4-BE49-F238E27FC236}">
                <a16:creationId xmlns:a16="http://schemas.microsoft.com/office/drawing/2014/main" id="{EAB1FB83-5D90-4BFF-B7E5-DE37376E2A98}"/>
              </a:ext>
            </a:extLst>
          </p:cNvPr>
          <p:cNvSpPr/>
          <p:nvPr/>
        </p:nvSpPr>
        <p:spPr>
          <a:xfrm rot="10800000">
            <a:off x="5845744" y="2480869"/>
            <a:ext cx="208545" cy="263385"/>
          </a:xfrm>
          <a:prstGeom prst="downArrow">
            <a:avLst/>
          </a:prstGeom>
          <a:solidFill>
            <a:srgbClr val="FF000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2400"/>
          </a:p>
        </p:txBody>
      </p:sp>
    </p:spTree>
    <p:extLst>
      <p:ext uri="{BB962C8B-B14F-4D97-AF65-F5344CB8AC3E}">
        <p14:creationId xmlns:p14="http://schemas.microsoft.com/office/powerpoint/2010/main" val="774150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ppt_x"/>
                                          </p:val>
                                        </p:tav>
                                        <p:tav tm="100000">
                                          <p:val>
                                            <p:strVal val="#ppt_x"/>
                                          </p:val>
                                        </p:tav>
                                      </p:tavLst>
                                    </p:anim>
                                    <p:anim calcmode="lin" valueType="num">
                                      <p:cBhvr additive="base">
                                        <p:cTn id="3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
                                            <p:txEl>
                                              <p:pRg st="0" end="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9">
                                            <p:txEl>
                                              <p:pRg st="0" end="0"/>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a:xfrm>
            <a:off x="6604000" y="1981200"/>
            <a:ext cx="5080000" cy="4114800"/>
          </a:xfrm>
        </p:spPr>
        <p:txBody>
          <a:bodyPr/>
          <a:lstStyle/>
          <a:p>
            <a:r>
              <a:rPr lang="zh-CN" altLang="en-US" dirty="0"/>
              <a:t>苏格拉底与凯帕洛的对话</a:t>
            </a: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3204" y="3101026"/>
            <a:ext cx="1900796" cy="2534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47992" y="3101026"/>
            <a:ext cx="2170787" cy="3327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图片 4">
            <a:extLst>
              <a:ext uri="{FF2B5EF4-FFF2-40B4-BE49-F238E27FC236}">
                <a16:creationId xmlns:a16="http://schemas.microsoft.com/office/drawing/2014/main" id="{CE78C4B5-1AF1-4A63-8E70-D6072594E109}"/>
              </a:ext>
            </a:extLst>
          </p:cNvPr>
          <p:cNvPicPr>
            <a:picLocks noChangeAspect="1"/>
          </p:cNvPicPr>
          <p:nvPr/>
        </p:nvPicPr>
        <p:blipFill>
          <a:blip r:embed="rId4"/>
          <a:stretch>
            <a:fillRect/>
          </a:stretch>
        </p:blipFill>
        <p:spPr>
          <a:xfrm>
            <a:off x="170267" y="-15059"/>
            <a:ext cx="6549844" cy="6700994"/>
          </a:xfrm>
          <a:prstGeom prst="rect">
            <a:avLst/>
          </a:prstGeom>
        </p:spPr>
      </p:pic>
      <p:pic>
        <p:nvPicPr>
          <p:cNvPr id="7" name="图片 6">
            <a:extLst>
              <a:ext uri="{FF2B5EF4-FFF2-40B4-BE49-F238E27FC236}">
                <a16:creationId xmlns:a16="http://schemas.microsoft.com/office/drawing/2014/main" id="{6C335DEA-660F-4BCC-ADED-80A3086BD0FF}"/>
              </a:ext>
            </a:extLst>
          </p:cNvPr>
          <p:cNvPicPr>
            <a:picLocks noChangeAspect="1"/>
          </p:cNvPicPr>
          <p:nvPr/>
        </p:nvPicPr>
        <p:blipFill>
          <a:blip r:embed="rId5"/>
          <a:stretch>
            <a:fillRect/>
          </a:stretch>
        </p:blipFill>
        <p:spPr>
          <a:xfrm>
            <a:off x="3139306" y="5165555"/>
            <a:ext cx="1981372" cy="30483"/>
          </a:xfrm>
          <a:prstGeom prst="rect">
            <a:avLst/>
          </a:prstGeom>
        </p:spPr>
      </p:pic>
    </p:spTree>
    <p:extLst>
      <p:ext uri="{BB962C8B-B14F-4D97-AF65-F5344CB8AC3E}">
        <p14:creationId xmlns:p14="http://schemas.microsoft.com/office/powerpoint/2010/main" val="2367561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ircle(in)">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17410"/>
                                        </p:tgtEl>
                                        <p:attrNameLst>
                                          <p:attrName>style.visibility</p:attrName>
                                        </p:attrNameLst>
                                      </p:cBhvr>
                                      <p:to>
                                        <p:strVal val="visible"/>
                                      </p:to>
                                    </p:set>
                                    <p:animEffect transition="in" filter="wheel(1)">
                                      <p:cBhvr>
                                        <p:cTn id="12" dur="2000"/>
                                        <p:tgtEl>
                                          <p:spTgt spid="17410"/>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7411"/>
                                        </p:tgtEl>
                                        <p:attrNameLst>
                                          <p:attrName>style.visibility</p:attrName>
                                        </p:attrNameLst>
                                      </p:cBhvr>
                                      <p:to>
                                        <p:strVal val="visible"/>
                                      </p:to>
                                    </p:set>
                                    <p:animEffect transition="in" filter="randombar(horizontal)">
                                      <p:cBhvr>
                                        <p:cTn id="17" dur="500"/>
                                        <p:tgtEl>
                                          <p:spTgt spid="17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pic>
        <p:nvPicPr>
          <p:cNvPr id="14" name="内容占位符 13">
            <a:extLst>
              <a:ext uri="{FF2B5EF4-FFF2-40B4-BE49-F238E27FC236}">
                <a16:creationId xmlns:a16="http://schemas.microsoft.com/office/drawing/2014/main" id="{5CEE586F-914D-43AB-A64D-9ECD7D483655}"/>
              </a:ext>
            </a:extLst>
          </p:cNvPr>
          <p:cNvPicPr>
            <a:picLocks noGrp="1" noChangeAspect="1"/>
          </p:cNvPicPr>
          <p:nvPr>
            <p:ph sz="half" idx="1"/>
          </p:nvPr>
        </p:nvPicPr>
        <p:blipFill>
          <a:blip r:embed="rId2"/>
          <a:stretch>
            <a:fillRect/>
          </a:stretch>
        </p:blipFill>
        <p:spPr>
          <a:xfrm>
            <a:off x="46453" y="41575"/>
            <a:ext cx="5656904" cy="6774850"/>
          </a:xfrm>
          <a:prstGeom prst="rect">
            <a:avLst/>
          </a:prstGeom>
        </p:spPr>
      </p:pic>
      <p:sp>
        <p:nvSpPr>
          <p:cNvPr id="4" name="Content Placeholder 3"/>
          <p:cNvSpPr>
            <a:spLocks noGrp="1"/>
          </p:cNvSpPr>
          <p:nvPr>
            <p:ph sz="half" idx="2"/>
          </p:nvPr>
        </p:nvSpPr>
        <p:spPr>
          <a:xfrm>
            <a:off x="6197599" y="1981199"/>
            <a:ext cx="5355303" cy="4632157"/>
          </a:xfrm>
        </p:spPr>
        <p:txBody>
          <a:bodyPr>
            <a:normAutofit fontScale="77500" lnSpcReduction="20000"/>
          </a:bodyPr>
          <a:lstStyle/>
          <a:p>
            <a:pPr marL="0" indent="0">
              <a:buNone/>
            </a:pPr>
            <a:r>
              <a:rPr lang="zh-CN" altLang="en-US" sz="3100" b="1" dirty="0"/>
              <a:t>对话回合</a:t>
            </a:r>
            <a:r>
              <a:rPr lang="en-US" altLang="zh-CN" sz="3100" b="1" dirty="0"/>
              <a:t>1</a:t>
            </a:r>
            <a:r>
              <a:rPr lang="zh-CN" altLang="en-US" sz="3100" b="1" dirty="0"/>
              <a:t>：</a:t>
            </a:r>
          </a:p>
          <a:p>
            <a:r>
              <a:rPr lang="zh-CN" altLang="en-US" sz="3100" b="1" dirty="0"/>
              <a:t>苏格拉底：老年生活有幸福吗？</a:t>
            </a:r>
          </a:p>
          <a:p>
            <a:r>
              <a:rPr lang="zh-CN" altLang="en-US" sz="3100" b="1" dirty="0"/>
              <a:t>凯帕洛</a:t>
            </a:r>
            <a:r>
              <a:rPr lang="en-US" altLang="zh-CN" sz="3100" b="1" dirty="0"/>
              <a:t>: </a:t>
            </a:r>
            <a:r>
              <a:rPr lang="zh-CN" altLang="en-US" sz="3100" b="1" dirty="0"/>
              <a:t>老年生活的好处是可以摆脱欲望的统治，使人宁静；但老年并不是幸福的原因，人们的</a:t>
            </a:r>
            <a:r>
              <a:rPr lang="zh-CN" altLang="en-US" sz="3100" b="1" dirty="0">
                <a:solidFill>
                  <a:srgbClr val="FF0000"/>
                </a:solidFill>
              </a:rPr>
              <a:t>品格</a:t>
            </a:r>
            <a:r>
              <a:rPr lang="zh-CN" altLang="en-US" sz="3100" b="1" dirty="0"/>
              <a:t>才是。因此：幸福不在于满足欲望</a:t>
            </a:r>
            <a:r>
              <a:rPr lang="en-US" altLang="zh-CN" sz="3100" b="1" dirty="0"/>
              <a:t>,</a:t>
            </a:r>
            <a:r>
              <a:rPr lang="zh-CN" altLang="en-US" sz="3100" b="1" dirty="0"/>
              <a:t>享受生活的乐趣</a:t>
            </a:r>
            <a:r>
              <a:rPr lang="en-US" altLang="zh-CN" sz="3100" b="1" dirty="0"/>
              <a:t>,</a:t>
            </a:r>
            <a:r>
              <a:rPr lang="zh-CN" altLang="en-US" sz="3100" b="1" dirty="0"/>
              <a:t>而在于有序和知足的生活方式。</a:t>
            </a:r>
            <a:r>
              <a:rPr lang="en-US" altLang="zh-CN" sz="3100" b="1" dirty="0"/>
              <a:t>329d</a:t>
            </a:r>
          </a:p>
          <a:p>
            <a:endParaRPr lang="en-US" altLang="zh-CN" sz="3100" b="1" dirty="0"/>
          </a:p>
          <a:p>
            <a:pPr marL="0" indent="0">
              <a:buNone/>
            </a:pPr>
            <a:r>
              <a:rPr lang="zh-CN" altLang="en-US" sz="3100" b="1" dirty="0"/>
              <a:t>对话回合</a:t>
            </a:r>
            <a:r>
              <a:rPr lang="en-US" altLang="zh-CN" sz="3100" b="1" dirty="0"/>
              <a:t>2</a:t>
            </a:r>
            <a:r>
              <a:rPr lang="zh-CN" altLang="en-US" sz="3100" b="1" dirty="0"/>
              <a:t>：</a:t>
            </a:r>
            <a:endParaRPr lang="en-US" altLang="zh-CN" sz="3100" b="1" dirty="0"/>
          </a:p>
          <a:p>
            <a:r>
              <a:rPr lang="zh-CN" altLang="en-US" sz="3100" b="1" dirty="0"/>
              <a:t>苏格拉底：老年生活的幸福，是否因为财产？</a:t>
            </a:r>
            <a:endParaRPr lang="en-US" altLang="zh-CN" sz="3100" b="1" dirty="0"/>
          </a:p>
          <a:p>
            <a:r>
              <a:rPr lang="zh-CN" altLang="en-US" sz="3100" b="1" dirty="0"/>
              <a:t>凯帕洛：财富是有益的，但不是决定性的因素。</a:t>
            </a:r>
            <a:endParaRPr lang="en-US" altLang="zh-CN" sz="3100" b="1" dirty="0"/>
          </a:p>
          <a:p>
            <a:endParaRPr lang="zh-CN" altLang="en-US" dirty="0"/>
          </a:p>
        </p:txBody>
      </p:sp>
      <p:pic>
        <p:nvPicPr>
          <p:cNvPr id="16" name="图片 15">
            <a:extLst>
              <a:ext uri="{FF2B5EF4-FFF2-40B4-BE49-F238E27FC236}">
                <a16:creationId xmlns:a16="http://schemas.microsoft.com/office/drawing/2014/main" id="{97727476-FE81-485C-B85B-A712E8856F5A}"/>
              </a:ext>
            </a:extLst>
          </p:cNvPr>
          <p:cNvPicPr>
            <a:picLocks noChangeAspect="1"/>
          </p:cNvPicPr>
          <p:nvPr/>
        </p:nvPicPr>
        <p:blipFill>
          <a:blip r:embed="rId3"/>
          <a:stretch>
            <a:fillRect/>
          </a:stretch>
        </p:blipFill>
        <p:spPr>
          <a:xfrm>
            <a:off x="138634" y="6613356"/>
            <a:ext cx="4986960" cy="60965"/>
          </a:xfrm>
          <a:prstGeom prst="rect">
            <a:avLst/>
          </a:prstGeom>
        </p:spPr>
      </p:pic>
      <p:pic>
        <p:nvPicPr>
          <p:cNvPr id="17" name="图片 16">
            <a:extLst>
              <a:ext uri="{FF2B5EF4-FFF2-40B4-BE49-F238E27FC236}">
                <a16:creationId xmlns:a16="http://schemas.microsoft.com/office/drawing/2014/main" id="{ACC92A60-C088-4C03-B792-9F6AFA52F9FE}"/>
              </a:ext>
            </a:extLst>
          </p:cNvPr>
          <p:cNvPicPr>
            <a:picLocks noChangeAspect="1"/>
          </p:cNvPicPr>
          <p:nvPr/>
        </p:nvPicPr>
        <p:blipFill>
          <a:blip r:embed="rId4"/>
          <a:stretch>
            <a:fillRect/>
          </a:stretch>
        </p:blipFill>
        <p:spPr>
          <a:xfrm>
            <a:off x="3933797" y="6250806"/>
            <a:ext cx="1109568" cy="30483"/>
          </a:xfrm>
          <a:prstGeom prst="rect">
            <a:avLst/>
          </a:prstGeom>
        </p:spPr>
      </p:pic>
      <p:cxnSp>
        <p:nvCxnSpPr>
          <p:cNvPr id="21" name="直接连接符 20">
            <a:extLst>
              <a:ext uri="{FF2B5EF4-FFF2-40B4-BE49-F238E27FC236}">
                <a16:creationId xmlns:a16="http://schemas.microsoft.com/office/drawing/2014/main" id="{F767F726-5C60-43EA-ABD7-782B329F9699}"/>
              </a:ext>
            </a:extLst>
          </p:cNvPr>
          <p:cNvCxnSpPr>
            <a:cxnSpLocks/>
          </p:cNvCxnSpPr>
          <p:nvPr/>
        </p:nvCxnSpPr>
        <p:spPr>
          <a:xfrm>
            <a:off x="3003082" y="1239600"/>
            <a:ext cx="134753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2E927AC3-B45C-428C-9CBB-C7E6B6CDEB93}"/>
              </a:ext>
            </a:extLst>
          </p:cNvPr>
          <p:cNvCxnSpPr/>
          <p:nvPr/>
        </p:nvCxnSpPr>
        <p:spPr>
          <a:xfrm>
            <a:off x="221381" y="2069432"/>
            <a:ext cx="2410733"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3814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ircle(in)">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circle(in)">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circle(in)">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circle(in)">
                                      <p:cBhvr>
                                        <p:cTn id="22" dur="2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circle(in)">
                                      <p:cBhvr>
                                        <p:cTn id="27" dur="20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circle(in)">
                                      <p:cBhvr>
                                        <p:cTn id="32" dur="2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lstStyle/>
          <a:p>
            <a:pPr marL="0" indent="0">
              <a:buNone/>
            </a:pPr>
            <a:r>
              <a:rPr lang="zh-CN" altLang="en-US" dirty="0"/>
              <a:t>对话回合</a:t>
            </a:r>
            <a:r>
              <a:rPr lang="en-US" altLang="zh-CN" dirty="0"/>
              <a:t>3:</a:t>
            </a:r>
          </a:p>
          <a:p>
            <a:r>
              <a:rPr lang="zh-CN" altLang="en-US" dirty="0"/>
              <a:t>苏格拉底：人们从财富中能得到什么好处呢？</a:t>
            </a:r>
            <a:endParaRPr lang="en-US" altLang="zh-CN" dirty="0"/>
          </a:p>
        </p:txBody>
      </p:sp>
      <p:pic>
        <p:nvPicPr>
          <p:cNvPr id="5" name="图片 4">
            <a:extLst>
              <a:ext uri="{FF2B5EF4-FFF2-40B4-BE49-F238E27FC236}">
                <a16:creationId xmlns:a16="http://schemas.microsoft.com/office/drawing/2014/main" id="{3E73CF4C-9D9E-4B7F-814E-FACC1DCE20E5}"/>
              </a:ext>
            </a:extLst>
          </p:cNvPr>
          <p:cNvPicPr>
            <a:picLocks noChangeAspect="1"/>
          </p:cNvPicPr>
          <p:nvPr/>
        </p:nvPicPr>
        <p:blipFill>
          <a:blip r:embed="rId2"/>
          <a:stretch>
            <a:fillRect/>
          </a:stretch>
        </p:blipFill>
        <p:spPr>
          <a:xfrm>
            <a:off x="68861" y="0"/>
            <a:ext cx="5656941" cy="6858000"/>
          </a:xfrm>
          <a:prstGeom prst="rect">
            <a:avLst/>
          </a:prstGeom>
        </p:spPr>
      </p:pic>
    </p:spTree>
    <p:extLst>
      <p:ext uri="{BB962C8B-B14F-4D97-AF65-F5344CB8AC3E}">
        <p14:creationId xmlns:p14="http://schemas.microsoft.com/office/powerpoint/2010/main" val="3693987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ircle(in)">
                                      <p:cBhvr>
                                        <p:cTn id="7" dur="2000"/>
                                        <p:tgtEl>
                                          <p:spTgt spid="4">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circle(in)">
                                      <p:cBhvr>
                                        <p:cTn id="10"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a:xfrm>
            <a:off x="484898" y="1981200"/>
            <a:ext cx="5080000" cy="4114800"/>
          </a:xfrm>
        </p:spPr>
        <p:txBody>
          <a:bodyPr/>
          <a:lstStyle/>
          <a:p>
            <a:r>
              <a:rPr lang="zh-CN" altLang="en-US" sz="2400" b="1" dirty="0"/>
              <a:t>凯帕洛：财富的用处，是让一个明达的人可以不必被迫行不义。</a:t>
            </a:r>
            <a:endParaRPr lang="en-US" altLang="zh-CN" sz="2400" b="1" dirty="0"/>
          </a:p>
          <a:p>
            <a:r>
              <a:rPr lang="zh-CN" altLang="en-US" sz="2400" b="1" dirty="0"/>
              <a:t>（古希腊债务奴隶相当普遍，许多城邦官员选举与财产等级相关）</a:t>
            </a:r>
            <a:endParaRPr lang="en-US" altLang="zh-CN" sz="2400" b="1" dirty="0"/>
          </a:p>
          <a:p>
            <a:pPr marL="0" indent="0">
              <a:buNone/>
            </a:pPr>
            <a:endParaRPr lang="en-US" altLang="zh-CN" sz="2400" b="1" dirty="0"/>
          </a:p>
          <a:p>
            <a:pPr marL="0" indent="0">
              <a:buNone/>
            </a:pPr>
            <a:r>
              <a:rPr lang="zh-CN" altLang="en-US" sz="2400" b="1" dirty="0"/>
              <a:t>对话回合</a:t>
            </a:r>
            <a:r>
              <a:rPr lang="en-US" altLang="zh-CN" sz="2400" b="1" dirty="0"/>
              <a:t>4</a:t>
            </a:r>
            <a:r>
              <a:rPr lang="zh-CN" altLang="en-US" sz="2400" b="1" dirty="0"/>
              <a:t>：</a:t>
            </a:r>
            <a:endParaRPr lang="en-US" altLang="zh-CN" sz="2400" b="1" dirty="0"/>
          </a:p>
          <a:p>
            <a:r>
              <a:rPr lang="zh-CN" altLang="en-US" sz="2400" b="1" dirty="0"/>
              <a:t>苏格拉底：什么是正义，正义就是说真话，有债就还吗？</a:t>
            </a:r>
            <a:r>
              <a:rPr lang="en-US" altLang="zh-CN" sz="2400" b="1" dirty="0"/>
              <a:t>331c-d</a:t>
            </a:r>
          </a:p>
          <a:p>
            <a:pPr marL="0" indent="0">
              <a:buNone/>
            </a:pPr>
            <a:endParaRPr lang="zh-CN" altLang="en-US"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1057" y="1"/>
            <a:ext cx="5288742"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flipV="1">
            <a:off x="7675418" y="3205018"/>
            <a:ext cx="3648364" cy="1847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7361382" y="3429001"/>
            <a:ext cx="39624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7269018" y="3602182"/>
            <a:ext cx="4054764" cy="6465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9625631" y="1312269"/>
            <a:ext cx="31410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7828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randombar(horizontal)">
                                      <p:cBhvr>
                                        <p:cTn id="7" dur="500"/>
                                        <p:tgtEl>
                                          <p:spTgt spid="15362"/>
                                        </p:tgtEl>
                                      </p:cBhvr>
                                    </p:animEffect>
                                  </p:childTnLst>
                                </p:cTn>
                              </p:par>
                            </p:childTnLst>
                          </p:cTn>
                        </p:par>
                      </p:childTnLst>
                    </p:cTn>
                  </p:par>
                  <p:par>
                    <p:cTn id="8" fill="hold">
                      <p:stCondLst>
                        <p:cond delay="indefinite"/>
                      </p:stCondLst>
                      <p:childTnLst>
                        <p:par>
                          <p:cTn id="9" fill="hold">
                            <p:stCondLst>
                              <p:cond delay="0"/>
                            </p:stCondLst>
                            <p:childTnLst>
                              <p:par>
                                <p:cTn id="10" presetID="45"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000"/>
                                        <p:tgtEl>
                                          <p:spTgt spid="7"/>
                                        </p:tgtEl>
                                      </p:cBhvr>
                                    </p:animEffect>
                                    <p:anim calcmode="lin" valueType="num">
                                      <p:cBhvr>
                                        <p:cTn id="13" dur="2000" fill="hold"/>
                                        <p:tgtEl>
                                          <p:spTgt spid="7"/>
                                        </p:tgtEl>
                                        <p:attrNameLst>
                                          <p:attrName>ppt_w</p:attrName>
                                        </p:attrNameLst>
                                      </p:cBhvr>
                                      <p:tavLst>
                                        <p:tav tm="0" fmla="#ppt_w*sin(2.5*pi*$)">
                                          <p:val>
                                            <p:fltVal val="0"/>
                                          </p:val>
                                        </p:tav>
                                        <p:tav tm="100000">
                                          <p:val>
                                            <p:fltVal val="1"/>
                                          </p:val>
                                        </p:tav>
                                      </p:tavLst>
                                    </p:anim>
                                    <p:anim calcmode="lin" valueType="num">
                                      <p:cBhvr>
                                        <p:cTn id="14" dur="20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1000" fill="hold"/>
                                        <p:tgtEl>
                                          <p:spTgt spid="6"/>
                                        </p:tgtEl>
                                        <p:attrNameLst>
                                          <p:attrName>ppt_w</p:attrName>
                                        </p:attrNameLst>
                                      </p:cBhvr>
                                      <p:tavLst>
                                        <p:tav tm="0">
                                          <p:val>
                                            <p:fltVal val="0"/>
                                          </p:val>
                                        </p:tav>
                                        <p:tav tm="100000">
                                          <p:val>
                                            <p:strVal val="#ppt_w"/>
                                          </p:val>
                                        </p:tav>
                                      </p:tavLst>
                                    </p:anim>
                                    <p:anim calcmode="lin" valueType="num">
                                      <p:cBhvr>
                                        <p:cTn id="20" dur="1000" fill="hold"/>
                                        <p:tgtEl>
                                          <p:spTgt spid="6"/>
                                        </p:tgtEl>
                                        <p:attrNameLst>
                                          <p:attrName>ppt_h</p:attrName>
                                        </p:attrNameLst>
                                      </p:cBhvr>
                                      <p:tavLst>
                                        <p:tav tm="0">
                                          <p:val>
                                            <p:fltVal val="0"/>
                                          </p:val>
                                        </p:tav>
                                        <p:tav tm="100000">
                                          <p:val>
                                            <p:strVal val="#ppt_h"/>
                                          </p:val>
                                        </p:tav>
                                      </p:tavLst>
                                    </p:anim>
                                    <p:anim calcmode="lin" valueType="num">
                                      <p:cBhvr>
                                        <p:cTn id="21" dur="1000" fill="hold"/>
                                        <p:tgtEl>
                                          <p:spTgt spid="6"/>
                                        </p:tgtEl>
                                        <p:attrNameLst>
                                          <p:attrName>style.rotation</p:attrName>
                                        </p:attrNameLst>
                                      </p:cBhvr>
                                      <p:tavLst>
                                        <p:tav tm="0">
                                          <p:val>
                                            <p:fltVal val="90"/>
                                          </p:val>
                                        </p:tav>
                                        <p:tav tm="100000">
                                          <p:val>
                                            <p:fltVal val="0"/>
                                          </p:val>
                                        </p:tav>
                                      </p:tavLst>
                                    </p:anim>
                                    <p:animEffect transition="in" filter="fade">
                                      <p:cBhvr>
                                        <p:cTn id="22" dur="1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1000" fill="hold"/>
                                        <p:tgtEl>
                                          <p:spTgt spid="8"/>
                                        </p:tgtEl>
                                        <p:attrNameLst>
                                          <p:attrName>ppt_w</p:attrName>
                                        </p:attrNameLst>
                                      </p:cBhvr>
                                      <p:tavLst>
                                        <p:tav tm="0">
                                          <p:val>
                                            <p:fltVal val="0"/>
                                          </p:val>
                                        </p:tav>
                                        <p:tav tm="100000">
                                          <p:val>
                                            <p:strVal val="#ppt_w"/>
                                          </p:val>
                                        </p:tav>
                                      </p:tavLst>
                                    </p:anim>
                                    <p:anim calcmode="lin" valueType="num">
                                      <p:cBhvr>
                                        <p:cTn id="28" dur="1000" fill="hold"/>
                                        <p:tgtEl>
                                          <p:spTgt spid="8"/>
                                        </p:tgtEl>
                                        <p:attrNameLst>
                                          <p:attrName>ppt_h</p:attrName>
                                        </p:attrNameLst>
                                      </p:cBhvr>
                                      <p:tavLst>
                                        <p:tav tm="0">
                                          <p:val>
                                            <p:fltVal val="0"/>
                                          </p:val>
                                        </p:tav>
                                        <p:tav tm="100000">
                                          <p:val>
                                            <p:strVal val="#ppt_h"/>
                                          </p:val>
                                        </p:tav>
                                      </p:tavLst>
                                    </p:anim>
                                    <p:anim calcmode="lin" valueType="num">
                                      <p:cBhvr>
                                        <p:cTn id="29" dur="1000" fill="hold"/>
                                        <p:tgtEl>
                                          <p:spTgt spid="8"/>
                                        </p:tgtEl>
                                        <p:attrNameLst>
                                          <p:attrName>style.rotation</p:attrName>
                                        </p:attrNameLst>
                                      </p:cBhvr>
                                      <p:tavLst>
                                        <p:tav tm="0">
                                          <p:val>
                                            <p:fltVal val="90"/>
                                          </p:val>
                                        </p:tav>
                                        <p:tav tm="100000">
                                          <p:val>
                                            <p:fltVal val="0"/>
                                          </p:val>
                                        </p:tav>
                                      </p:tavLst>
                                    </p:anim>
                                    <p:animEffect transition="in" filter="fade">
                                      <p:cBhvr>
                                        <p:cTn id="30" dur="10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1000" fill="hold"/>
                                        <p:tgtEl>
                                          <p:spTgt spid="10"/>
                                        </p:tgtEl>
                                        <p:attrNameLst>
                                          <p:attrName>ppt_w</p:attrName>
                                        </p:attrNameLst>
                                      </p:cBhvr>
                                      <p:tavLst>
                                        <p:tav tm="0">
                                          <p:val>
                                            <p:fltVal val="0"/>
                                          </p:val>
                                        </p:tav>
                                        <p:tav tm="100000">
                                          <p:val>
                                            <p:strVal val="#ppt_w"/>
                                          </p:val>
                                        </p:tav>
                                      </p:tavLst>
                                    </p:anim>
                                    <p:anim calcmode="lin" valueType="num">
                                      <p:cBhvr>
                                        <p:cTn id="36" dur="1000" fill="hold"/>
                                        <p:tgtEl>
                                          <p:spTgt spid="10"/>
                                        </p:tgtEl>
                                        <p:attrNameLst>
                                          <p:attrName>ppt_h</p:attrName>
                                        </p:attrNameLst>
                                      </p:cBhvr>
                                      <p:tavLst>
                                        <p:tav tm="0">
                                          <p:val>
                                            <p:fltVal val="0"/>
                                          </p:val>
                                        </p:tav>
                                        <p:tav tm="100000">
                                          <p:val>
                                            <p:strVal val="#ppt_h"/>
                                          </p:val>
                                        </p:tav>
                                      </p:tavLst>
                                    </p:anim>
                                    <p:anim calcmode="lin" valueType="num">
                                      <p:cBhvr>
                                        <p:cTn id="37" dur="1000" fill="hold"/>
                                        <p:tgtEl>
                                          <p:spTgt spid="10"/>
                                        </p:tgtEl>
                                        <p:attrNameLst>
                                          <p:attrName>style.rotation</p:attrName>
                                        </p:attrNameLst>
                                      </p:cBhvr>
                                      <p:tavLst>
                                        <p:tav tm="0">
                                          <p:val>
                                            <p:fltVal val="90"/>
                                          </p:val>
                                        </p:tav>
                                        <p:tav tm="100000">
                                          <p:val>
                                            <p:fltVal val="0"/>
                                          </p:val>
                                        </p:tav>
                                      </p:tavLst>
                                    </p:anim>
                                    <p:animEffect transition="in" filter="fade">
                                      <p:cBhvr>
                                        <p:cTn id="38" dur="10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nodeType="clickEffect">
                                  <p:stCondLst>
                                    <p:cond delay="0"/>
                                  </p:stCondLst>
                                  <p:childTnLst>
                                    <p:set>
                                      <p:cBhvr>
                                        <p:cTn id="42" dur="1" fill="hold">
                                          <p:stCondLst>
                                            <p:cond delay="0"/>
                                          </p:stCondLst>
                                        </p:cTn>
                                        <p:tgtEl>
                                          <p:spTgt spid="3">
                                            <p:txEl>
                                              <p:pRg st="0" end="0"/>
                                            </p:txEl>
                                          </p:spTgt>
                                        </p:tgtEl>
                                        <p:attrNameLst>
                                          <p:attrName>style.visibility</p:attrName>
                                        </p:attrNameLst>
                                      </p:cBhvr>
                                      <p:to>
                                        <p:strVal val="visible"/>
                                      </p:to>
                                    </p:set>
                                    <p:animEffect transition="in" filter="circle(in)">
                                      <p:cBhvr>
                                        <p:cTn id="43" dur="2000"/>
                                        <p:tgtEl>
                                          <p:spTgt spid="3">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nodeType="clickEffect">
                                  <p:stCondLst>
                                    <p:cond delay="0"/>
                                  </p:stCondLst>
                                  <p:childTnLst>
                                    <p:set>
                                      <p:cBhvr>
                                        <p:cTn id="47" dur="1" fill="hold">
                                          <p:stCondLst>
                                            <p:cond delay="0"/>
                                          </p:stCondLst>
                                        </p:cTn>
                                        <p:tgtEl>
                                          <p:spTgt spid="3">
                                            <p:txEl>
                                              <p:pRg st="1" end="1"/>
                                            </p:txEl>
                                          </p:spTgt>
                                        </p:tgtEl>
                                        <p:attrNameLst>
                                          <p:attrName>style.visibility</p:attrName>
                                        </p:attrNameLst>
                                      </p:cBhvr>
                                      <p:to>
                                        <p:strVal val="visible"/>
                                      </p:to>
                                    </p:set>
                                    <p:animEffect transition="in" filter="circle(in)">
                                      <p:cBhvr>
                                        <p:cTn id="48" dur="2000"/>
                                        <p:tgtEl>
                                          <p:spTgt spid="3">
                                            <p:txEl>
                                              <p:pRg st="1" end="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6" presetClass="entr" presetSubtype="16" fill="hold" nodeType="clickEffect">
                                  <p:stCondLst>
                                    <p:cond delay="0"/>
                                  </p:stCondLst>
                                  <p:childTnLst>
                                    <p:set>
                                      <p:cBhvr>
                                        <p:cTn id="52" dur="1" fill="hold">
                                          <p:stCondLst>
                                            <p:cond delay="0"/>
                                          </p:stCondLst>
                                        </p:cTn>
                                        <p:tgtEl>
                                          <p:spTgt spid="3">
                                            <p:txEl>
                                              <p:pRg st="3" end="3"/>
                                            </p:txEl>
                                          </p:spTgt>
                                        </p:tgtEl>
                                        <p:attrNameLst>
                                          <p:attrName>style.visibility</p:attrName>
                                        </p:attrNameLst>
                                      </p:cBhvr>
                                      <p:to>
                                        <p:strVal val="visible"/>
                                      </p:to>
                                    </p:set>
                                    <p:animEffect transition="in" filter="circle(in)">
                                      <p:cBhvr>
                                        <p:cTn id="53" dur="2000"/>
                                        <p:tgtEl>
                                          <p:spTgt spid="3">
                                            <p:txEl>
                                              <p:pRg st="3" end="3"/>
                                            </p:txEl>
                                          </p:spTgt>
                                        </p:tgtEl>
                                      </p:cBhvr>
                                    </p:animEffect>
                                  </p:childTnLst>
                                </p:cTn>
                              </p:par>
                              <p:par>
                                <p:cTn id="54" presetID="6" presetClass="entr" presetSubtype="16" fill="hold" nodeType="withEffect">
                                  <p:stCondLst>
                                    <p:cond delay="0"/>
                                  </p:stCondLst>
                                  <p:childTnLst>
                                    <p:set>
                                      <p:cBhvr>
                                        <p:cTn id="55" dur="1" fill="hold">
                                          <p:stCondLst>
                                            <p:cond delay="0"/>
                                          </p:stCondLst>
                                        </p:cTn>
                                        <p:tgtEl>
                                          <p:spTgt spid="3">
                                            <p:txEl>
                                              <p:pRg st="4" end="4"/>
                                            </p:txEl>
                                          </p:spTgt>
                                        </p:tgtEl>
                                        <p:attrNameLst>
                                          <p:attrName>style.visibility</p:attrName>
                                        </p:attrNameLst>
                                      </p:cBhvr>
                                      <p:to>
                                        <p:strVal val="visible"/>
                                      </p:to>
                                    </p:set>
                                    <p:animEffect transition="in" filter="circle(in)">
                                      <p:cBhvr>
                                        <p:cTn id="56"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a:xfrm>
            <a:off x="6275524" y="533171"/>
            <a:ext cx="5080000" cy="4114800"/>
          </a:xfrm>
        </p:spPr>
        <p:txBody>
          <a:bodyPr/>
          <a:lstStyle/>
          <a:p>
            <a:r>
              <a:rPr lang="zh-CN" altLang="en-US" sz="2400" b="1" dirty="0"/>
              <a:t>苏格拉底举例反驳说，如果一个朋友在我们这里存了武器，但后来疯了，我们就不能把武器归还给他。这表明“说真话，有债就还”并不是正义。</a:t>
            </a:r>
            <a:endParaRPr lang="en-US" altLang="zh-CN" sz="2400" b="1" dirty="0"/>
          </a:p>
          <a:p>
            <a:r>
              <a:rPr lang="zh-CN" altLang="en-US" sz="2400" b="1" dirty="0"/>
              <a:t>凯帕洛退出对话。</a:t>
            </a:r>
            <a:endParaRPr lang="en-US" altLang="zh-CN" sz="2400" b="1" dirty="0"/>
          </a:p>
          <a:p>
            <a:r>
              <a:rPr lang="zh-CN" altLang="en-US" sz="2400" b="1" dirty="0"/>
              <a:t>波策马尔科接过了话题。他引用诗人西蒙尼代（</a:t>
            </a:r>
            <a:r>
              <a:rPr lang="en-US" altLang="zh-CN" sz="2400" b="1" dirty="0" err="1"/>
              <a:t>Simonides</a:t>
            </a:r>
            <a:r>
              <a:rPr lang="zh-CN" altLang="en-US" sz="2400" b="1" dirty="0"/>
              <a:t>）的话来证明父亲正义观念的正确性。</a:t>
            </a: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7067"/>
            <a:ext cx="6060088" cy="6357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flipV="1">
            <a:off x="1607127" y="1477818"/>
            <a:ext cx="4128655" cy="36946"/>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803564" y="1745673"/>
            <a:ext cx="3897745" cy="4618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4701309" y="3094182"/>
            <a:ext cx="563418" cy="277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7021" y="4647971"/>
            <a:ext cx="1705565" cy="219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 name="Straight Connector 11"/>
          <p:cNvCxnSpPr/>
          <p:nvPr/>
        </p:nvCxnSpPr>
        <p:spPr>
          <a:xfrm>
            <a:off x="2835564" y="5745018"/>
            <a:ext cx="290021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713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6386"/>
                                        </p:tgtEl>
                                        <p:attrNameLst>
                                          <p:attrName>style.visibility</p:attrName>
                                        </p:attrNameLst>
                                      </p:cBhvr>
                                      <p:to>
                                        <p:strVal val="visible"/>
                                      </p:to>
                                    </p:set>
                                    <p:animEffect transition="in" filter="randombar(horizontal)">
                                      <p:cBhvr>
                                        <p:cTn id="7" dur="500"/>
                                        <p:tgtEl>
                                          <p:spTgt spid="16386"/>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4">
                                            <p:txEl>
                                              <p:pRg st="0" end="0"/>
                                            </p:txEl>
                                          </p:spTgt>
                                        </p:tgtEl>
                                        <p:attrNameLst>
                                          <p:attrName>style.visibility</p:attrName>
                                        </p:attrNameLst>
                                      </p:cBhvr>
                                      <p:to>
                                        <p:strVal val="visible"/>
                                      </p:to>
                                    </p:set>
                                    <p:animEffect transition="in" filter="circle(in)">
                                      <p:cBhvr>
                                        <p:cTn id="28" dur="2000"/>
                                        <p:tgtEl>
                                          <p:spTgt spid="4">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nodeType="click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animEffect transition="in" filter="circle(in)">
                                      <p:cBhvr>
                                        <p:cTn id="33" dur="2000"/>
                                        <p:tgtEl>
                                          <p:spTgt spid="4">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nodeType="clickEffect">
                                  <p:stCondLst>
                                    <p:cond delay="0"/>
                                  </p:stCondLst>
                                  <p:childTnLst>
                                    <p:set>
                                      <p:cBhvr>
                                        <p:cTn id="37" dur="1" fill="hold">
                                          <p:stCondLst>
                                            <p:cond delay="0"/>
                                          </p:stCondLst>
                                        </p:cTn>
                                        <p:tgtEl>
                                          <p:spTgt spid="4">
                                            <p:txEl>
                                              <p:pRg st="2" end="2"/>
                                            </p:txEl>
                                          </p:spTgt>
                                        </p:tgtEl>
                                        <p:attrNameLst>
                                          <p:attrName>style.visibility</p:attrName>
                                        </p:attrNameLst>
                                      </p:cBhvr>
                                      <p:to>
                                        <p:strVal val="visible"/>
                                      </p:to>
                                    </p:set>
                                    <p:animEffect transition="in" filter="wheel(1)">
                                      <p:cBhvr>
                                        <p:cTn id="38" dur="2000"/>
                                        <p:tgtEl>
                                          <p:spTgt spid="4">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1000" fill="hold"/>
                                        <p:tgtEl>
                                          <p:spTgt spid="10"/>
                                        </p:tgtEl>
                                        <p:attrNameLst>
                                          <p:attrName>ppt_w</p:attrName>
                                        </p:attrNameLst>
                                      </p:cBhvr>
                                      <p:tavLst>
                                        <p:tav tm="0">
                                          <p:val>
                                            <p:fltVal val="0"/>
                                          </p:val>
                                        </p:tav>
                                        <p:tav tm="100000">
                                          <p:val>
                                            <p:strVal val="#ppt_w"/>
                                          </p:val>
                                        </p:tav>
                                      </p:tavLst>
                                    </p:anim>
                                    <p:anim calcmode="lin" valueType="num">
                                      <p:cBhvr>
                                        <p:cTn id="44" dur="1000" fill="hold"/>
                                        <p:tgtEl>
                                          <p:spTgt spid="10"/>
                                        </p:tgtEl>
                                        <p:attrNameLst>
                                          <p:attrName>ppt_h</p:attrName>
                                        </p:attrNameLst>
                                      </p:cBhvr>
                                      <p:tavLst>
                                        <p:tav tm="0">
                                          <p:val>
                                            <p:fltVal val="0"/>
                                          </p:val>
                                        </p:tav>
                                        <p:tav tm="100000">
                                          <p:val>
                                            <p:strVal val="#ppt_h"/>
                                          </p:val>
                                        </p:tav>
                                      </p:tavLst>
                                    </p:anim>
                                    <p:anim calcmode="lin" valueType="num">
                                      <p:cBhvr>
                                        <p:cTn id="45" dur="1000" fill="hold"/>
                                        <p:tgtEl>
                                          <p:spTgt spid="10"/>
                                        </p:tgtEl>
                                        <p:attrNameLst>
                                          <p:attrName>style.rotation</p:attrName>
                                        </p:attrNameLst>
                                      </p:cBhvr>
                                      <p:tavLst>
                                        <p:tav tm="0">
                                          <p:val>
                                            <p:fltVal val="90"/>
                                          </p:val>
                                        </p:tav>
                                        <p:tav tm="100000">
                                          <p:val>
                                            <p:fltVal val="0"/>
                                          </p:val>
                                        </p:tav>
                                      </p:tavLst>
                                    </p:anim>
                                    <p:animEffect transition="in" filter="fade">
                                      <p:cBhvr>
                                        <p:cTn id="46" dur="10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nodeType="clickEffect">
                                  <p:stCondLst>
                                    <p:cond delay="0"/>
                                  </p:stCondLst>
                                  <p:childTnLst>
                                    <p:set>
                                      <p:cBhvr>
                                        <p:cTn id="50" dur="1" fill="hold">
                                          <p:stCondLst>
                                            <p:cond delay="0"/>
                                          </p:stCondLst>
                                        </p:cTn>
                                        <p:tgtEl>
                                          <p:spTgt spid="1026"/>
                                        </p:tgtEl>
                                        <p:attrNameLst>
                                          <p:attrName>style.visibility</p:attrName>
                                        </p:attrNameLst>
                                      </p:cBhvr>
                                      <p:to>
                                        <p:strVal val="visible"/>
                                      </p:to>
                                    </p:set>
                                    <p:anim calcmode="lin" valueType="num">
                                      <p:cBhvr>
                                        <p:cTn id="51" dur="1000" fill="hold"/>
                                        <p:tgtEl>
                                          <p:spTgt spid="1026"/>
                                        </p:tgtEl>
                                        <p:attrNameLst>
                                          <p:attrName>ppt_w</p:attrName>
                                        </p:attrNameLst>
                                      </p:cBhvr>
                                      <p:tavLst>
                                        <p:tav tm="0">
                                          <p:val>
                                            <p:fltVal val="0"/>
                                          </p:val>
                                        </p:tav>
                                        <p:tav tm="100000">
                                          <p:val>
                                            <p:strVal val="#ppt_w"/>
                                          </p:val>
                                        </p:tav>
                                      </p:tavLst>
                                    </p:anim>
                                    <p:anim calcmode="lin" valueType="num">
                                      <p:cBhvr>
                                        <p:cTn id="52" dur="1000" fill="hold"/>
                                        <p:tgtEl>
                                          <p:spTgt spid="1026"/>
                                        </p:tgtEl>
                                        <p:attrNameLst>
                                          <p:attrName>ppt_h</p:attrName>
                                        </p:attrNameLst>
                                      </p:cBhvr>
                                      <p:tavLst>
                                        <p:tav tm="0">
                                          <p:val>
                                            <p:fltVal val="0"/>
                                          </p:val>
                                        </p:tav>
                                        <p:tav tm="100000">
                                          <p:val>
                                            <p:strVal val="#ppt_h"/>
                                          </p:val>
                                        </p:tav>
                                      </p:tavLst>
                                    </p:anim>
                                    <p:anim calcmode="lin" valueType="num">
                                      <p:cBhvr>
                                        <p:cTn id="53" dur="1000" fill="hold"/>
                                        <p:tgtEl>
                                          <p:spTgt spid="1026"/>
                                        </p:tgtEl>
                                        <p:attrNameLst>
                                          <p:attrName>style.rotation</p:attrName>
                                        </p:attrNameLst>
                                      </p:cBhvr>
                                      <p:tavLst>
                                        <p:tav tm="0">
                                          <p:val>
                                            <p:fltVal val="90"/>
                                          </p:val>
                                        </p:tav>
                                        <p:tav tm="100000">
                                          <p:val>
                                            <p:fltVal val="0"/>
                                          </p:val>
                                        </p:tav>
                                      </p:tavLst>
                                    </p:anim>
                                    <p:animEffect transition="in" filter="fade">
                                      <p:cBhvr>
                                        <p:cTn id="54" dur="1000"/>
                                        <p:tgtEl>
                                          <p:spTgt spid="1026"/>
                                        </p:tgtEl>
                                      </p:cBhvr>
                                    </p:animEffect>
                                  </p:childTnLst>
                                </p:cTn>
                              </p:par>
                            </p:childTnLst>
                          </p:cTn>
                        </p:par>
                      </p:childTnLst>
                    </p:cTn>
                  </p:par>
                  <p:par>
                    <p:cTn id="55" fill="hold">
                      <p:stCondLst>
                        <p:cond delay="indefinite"/>
                      </p:stCondLst>
                      <p:childTnLst>
                        <p:par>
                          <p:cTn id="56" fill="hold">
                            <p:stCondLst>
                              <p:cond delay="0"/>
                            </p:stCondLst>
                            <p:childTnLst>
                              <p:par>
                                <p:cTn id="57" presetID="31" presetClass="entr" presetSubtype="0" fill="hold" nodeType="clickEffect">
                                  <p:stCondLst>
                                    <p:cond delay="0"/>
                                  </p:stCondLst>
                                  <p:childTnLst>
                                    <p:set>
                                      <p:cBhvr>
                                        <p:cTn id="58" dur="1" fill="hold">
                                          <p:stCondLst>
                                            <p:cond delay="0"/>
                                          </p:stCondLst>
                                        </p:cTn>
                                        <p:tgtEl>
                                          <p:spTgt spid="12"/>
                                        </p:tgtEl>
                                        <p:attrNameLst>
                                          <p:attrName>style.visibility</p:attrName>
                                        </p:attrNameLst>
                                      </p:cBhvr>
                                      <p:to>
                                        <p:strVal val="visible"/>
                                      </p:to>
                                    </p:set>
                                    <p:anim calcmode="lin" valueType="num">
                                      <p:cBhvr>
                                        <p:cTn id="59" dur="1000" fill="hold"/>
                                        <p:tgtEl>
                                          <p:spTgt spid="12"/>
                                        </p:tgtEl>
                                        <p:attrNameLst>
                                          <p:attrName>ppt_w</p:attrName>
                                        </p:attrNameLst>
                                      </p:cBhvr>
                                      <p:tavLst>
                                        <p:tav tm="0">
                                          <p:val>
                                            <p:fltVal val="0"/>
                                          </p:val>
                                        </p:tav>
                                        <p:tav tm="100000">
                                          <p:val>
                                            <p:strVal val="#ppt_w"/>
                                          </p:val>
                                        </p:tav>
                                      </p:tavLst>
                                    </p:anim>
                                    <p:anim calcmode="lin" valueType="num">
                                      <p:cBhvr>
                                        <p:cTn id="60" dur="1000" fill="hold"/>
                                        <p:tgtEl>
                                          <p:spTgt spid="12"/>
                                        </p:tgtEl>
                                        <p:attrNameLst>
                                          <p:attrName>ppt_h</p:attrName>
                                        </p:attrNameLst>
                                      </p:cBhvr>
                                      <p:tavLst>
                                        <p:tav tm="0">
                                          <p:val>
                                            <p:fltVal val="0"/>
                                          </p:val>
                                        </p:tav>
                                        <p:tav tm="100000">
                                          <p:val>
                                            <p:strVal val="#ppt_h"/>
                                          </p:val>
                                        </p:tav>
                                      </p:tavLst>
                                    </p:anim>
                                    <p:anim calcmode="lin" valueType="num">
                                      <p:cBhvr>
                                        <p:cTn id="61" dur="1000" fill="hold"/>
                                        <p:tgtEl>
                                          <p:spTgt spid="12"/>
                                        </p:tgtEl>
                                        <p:attrNameLst>
                                          <p:attrName>style.rotation</p:attrName>
                                        </p:attrNameLst>
                                      </p:cBhvr>
                                      <p:tavLst>
                                        <p:tav tm="0">
                                          <p:val>
                                            <p:fltVal val="90"/>
                                          </p:val>
                                        </p:tav>
                                        <p:tav tm="100000">
                                          <p:val>
                                            <p:fltVal val="0"/>
                                          </p:val>
                                        </p:tav>
                                      </p:tavLst>
                                    </p:anim>
                                    <p:animEffect transition="in" filter="fade">
                                      <p:cBhvr>
                                        <p:cTn id="62"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小结</a:t>
            </a:r>
          </a:p>
        </p:txBody>
      </p:sp>
      <p:sp>
        <p:nvSpPr>
          <p:cNvPr id="3" name="Content Placeholder 2"/>
          <p:cNvSpPr>
            <a:spLocks noGrp="1"/>
          </p:cNvSpPr>
          <p:nvPr>
            <p:ph sz="half" idx="1"/>
          </p:nvPr>
        </p:nvSpPr>
        <p:spPr>
          <a:xfrm>
            <a:off x="758111" y="1752600"/>
            <a:ext cx="5080000" cy="4114800"/>
          </a:xfrm>
        </p:spPr>
        <p:txBody>
          <a:bodyPr/>
          <a:lstStyle/>
          <a:p>
            <a:r>
              <a:rPr lang="en-US" altLang="zh-CN" sz="2000" b="1" dirty="0"/>
              <a:t>《</a:t>
            </a:r>
            <a:r>
              <a:rPr lang="zh-CN" altLang="en-US" sz="2000" b="1" dirty="0"/>
              <a:t>理想国</a:t>
            </a:r>
            <a:r>
              <a:rPr lang="en-US" altLang="zh-CN" sz="2000" b="1" dirty="0"/>
              <a:t>》</a:t>
            </a:r>
            <a:r>
              <a:rPr lang="zh-CN" altLang="en-US" sz="2000" b="1" dirty="0"/>
              <a:t>关于正义的讨论以凯帕洛开场，可谓意味深长。凯帕洛是一位富有的老人，苏格拉底期待他能说出关于“人们应该怎样生活”的知识。他说，人生的幸福在于：</a:t>
            </a:r>
            <a:endParaRPr lang="en-US" altLang="zh-CN" sz="2000" b="1" dirty="0"/>
          </a:p>
          <a:p>
            <a:pPr marL="457200" lvl="1" indent="0">
              <a:buNone/>
            </a:pPr>
            <a:r>
              <a:rPr lang="zh-CN" altLang="en-US" sz="2000" b="1" dirty="0"/>
              <a:t>（</a:t>
            </a:r>
            <a:r>
              <a:rPr lang="en-US" altLang="zh-CN" sz="2000" b="1" dirty="0"/>
              <a:t>1</a:t>
            </a:r>
            <a:r>
              <a:rPr lang="zh-CN" altLang="en-US" sz="2000" b="1" dirty="0"/>
              <a:t>），品格与有秩序的生活方式；</a:t>
            </a:r>
            <a:endParaRPr lang="en-US" altLang="zh-CN" sz="2000" b="1" dirty="0"/>
          </a:p>
          <a:p>
            <a:pPr marL="457200" lvl="1" indent="0">
              <a:buNone/>
            </a:pPr>
            <a:r>
              <a:rPr lang="zh-CN" altLang="en-US" sz="2000" b="1" dirty="0"/>
              <a:t>（</a:t>
            </a:r>
            <a:r>
              <a:rPr lang="en-US" altLang="zh-CN" sz="2000" b="1" dirty="0"/>
              <a:t>2</a:t>
            </a:r>
            <a:r>
              <a:rPr lang="zh-CN" altLang="en-US" sz="2000" b="1" dirty="0"/>
              <a:t>），对他人正义。</a:t>
            </a:r>
          </a:p>
          <a:p>
            <a:r>
              <a:rPr lang="zh-CN" altLang="en-US" sz="2000" b="1" dirty="0"/>
              <a:t>但凯帕洛对于“什么是正义”这个问题的回答，显然不令人满意。“讲真话，有债就还”不过是他这个商人的职业操守或信念，不可能是对于正义的普遍定义。所以苏格拉底会举 “疯了的朋友”这个例子来反驳。</a:t>
            </a:r>
          </a:p>
          <a:p>
            <a:endParaRPr lang="zh-CN" altLang="en-US" dirty="0"/>
          </a:p>
        </p:txBody>
      </p:sp>
      <p:sp>
        <p:nvSpPr>
          <p:cNvPr id="4" name="Content Placeholder 3"/>
          <p:cNvSpPr>
            <a:spLocks noGrp="1"/>
          </p:cNvSpPr>
          <p:nvPr>
            <p:ph sz="half" idx="2"/>
          </p:nvPr>
        </p:nvSpPr>
        <p:spPr>
          <a:xfrm>
            <a:off x="6695768" y="1804523"/>
            <a:ext cx="4698122" cy="3921600"/>
          </a:xfrm>
        </p:spPr>
        <p:txBody>
          <a:bodyPr/>
          <a:lstStyle/>
          <a:p>
            <a:pPr marL="324000"/>
            <a:r>
              <a:rPr lang="zh-CN" altLang="en-US" sz="2000" b="1" dirty="0"/>
              <a:t>苏格拉底惯用的“什么是</a:t>
            </a:r>
            <a:r>
              <a:rPr lang="en-US" altLang="zh-CN" sz="2000" b="1" dirty="0"/>
              <a:t>……”</a:t>
            </a:r>
            <a:r>
              <a:rPr lang="zh-CN" altLang="en-US" sz="2000" b="1" dirty="0"/>
              <a:t>的提问方式，追问的不是正义的具体现象，而是正义得以成为正义的根本原因，或者说，</a:t>
            </a:r>
            <a:r>
              <a:rPr lang="zh-CN" altLang="en-US" sz="2000" b="1" dirty="0">
                <a:solidFill>
                  <a:srgbClr val="FF0000"/>
                </a:solidFill>
              </a:rPr>
              <a:t>正义的本质</a:t>
            </a:r>
            <a:r>
              <a:rPr lang="zh-CN" altLang="en-US" sz="2000" b="1" dirty="0"/>
              <a:t>（</a:t>
            </a:r>
            <a:r>
              <a:rPr lang="en-US" altLang="zh-CN" sz="2000" b="1" dirty="0"/>
              <a:t>Essence</a:t>
            </a:r>
            <a:r>
              <a:rPr lang="zh-CN" altLang="en-US" sz="2000" b="1" dirty="0"/>
              <a:t>）。</a:t>
            </a:r>
          </a:p>
          <a:p>
            <a:pPr marL="324000"/>
            <a:r>
              <a:rPr lang="zh-CN" altLang="en-US" sz="2000" b="1" dirty="0"/>
              <a:t>“讲真话，欠债就还”，显然只是一种行为规范，不是对正义的</a:t>
            </a:r>
            <a:r>
              <a:rPr lang="zh-CN" altLang="en-US" sz="2000" b="1" dirty="0">
                <a:solidFill>
                  <a:srgbClr val="FF0000"/>
                </a:solidFill>
              </a:rPr>
              <a:t>本质性定义。</a:t>
            </a:r>
          </a:p>
          <a:p>
            <a:endParaRPr lang="zh-CN" altLang="en-US" dirty="0"/>
          </a:p>
        </p:txBody>
      </p:sp>
    </p:spTree>
    <p:extLst>
      <p:ext uri="{BB962C8B-B14F-4D97-AF65-F5344CB8AC3E}">
        <p14:creationId xmlns:p14="http://schemas.microsoft.com/office/powerpoint/2010/main" val="2001779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27" dur="500"/>
                                        <p:tgtEl>
                                          <p:spTgt spid="4">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1" presetClass="entr" presetSubtype="0" fill="hold" nodeType="clickEffect">
                                  <p:stCondLst>
                                    <p:cond delay="0"/>
                                  </p:stCondLst>
                                  <p:childTnLst>
                                    <p:set>
                                      <p:cBhvr>
                                        <p:cTn id="31" dur="1" fill="hold">
                                          <p:stCondLst>
                                            <p:cond delay="0"/>
                                          </p:stCondLst>
                                        </p:cTn>
                                        <p:tgtEl>
                                          <p:spTgt spid="4">
                                            <p:txEl>
                                              <p:pRg st="1" end="1"/>
                                            </p:txEl>
                                          </p:spTgt>
                                        </p:tgtEl>
                                        <p:attrNameLst>
                                          <p:attrName>style.visibility</p:attrName>
                                        </p:attrNameLst>
                                      </p:cBhvr>
                                      <p:to>
                                        <p:strVal val="visible"/>
                                      </p:to>
                                    </p:set>
                                    <p:anim calcmode="lin" valueType="num">
                                      <p:cBhvr>
                                        <p:cTn id="32" dur="1000" fill="hold"/>
                                        <p:tgtEl>
                                          <p:spTgt spid="4">
                                            <p:txEl>
                                              <p:pRg st="1" end="1"/>
                                            </p:txEl>
                                          </p:spTgt>
                                        </p:tgtEl>
                                        <p:attrNameLst>
                                          <p:attrName>ppt_w</p:attrName>
                                        </p:attrNameLst>
                                      </p:cBhvr>
                                      <p:tavLst>
                                        <p:tav tm="0">
                                          <p:val>
                                            <p:fltVal val="0"/>
                                          </p:val>
                                        </p:tav>
                                        <p:tav tm="100000">
                                          <p:val>
                                            <p:strVal val="#ppt_w"/>
                                          </p:val>
                                        </p:tav>
                                      </p:tavLst>
                                    </p:anim>
                                    <p:anim calcmode="lin" valueType="num">
                                      <p:cBhvr>
                                        <p:cTn id="33" dur="1000" fill="hold"/>
                                        <p:tgtEl>
                                          <p:spTgt spid="4">
                                            <p:txEl>
                                              <p:pRg st="1" end="1"/>
                                            </p:txEl>
                                          </p:spTgt>
                                        </p:tgtEl>
                                        <p:attrNameLst>
                                          <p:attrName>ppt_h</p:attrName>
                                        </p:attrNameLst>
                                      </p:cBhvr>
                                      <p:tavLst>
                                        <p:tav tm="0">
                                          <p:val>
                                            <p:fltVal val="0"/>
                                          </p:val>
                                        </p:tav>
                                        <p:tav tm="100000">
                                          <p:val>
                                            <p:strVal val="#ppt_h"/>
                                          </p:val>
                                        </p:tav>
                                      </p:tavLst>
                                    </p:anim>
                                    <p:anim calcmode="lin" valueType="num">
                                      <p:cBhvr>
                                        <p:cTn id="34" dur="1000" fill="hold"/>
                                        <p:tgtEl>
                                          <p:spTgt spid="4">
                                            <p:txEl>
                                              <p:pRg st="1" end="1"/>
                                            </p:txEl>
                                          </p:spTgt>
                                        </p:tgtEl>
                                        <p:attrNameLst>
                                          <p:attrName>style.rotation</p:attrName>
                                        </p:attrNameLst>
                                      </p:cBhvr>
                                      <p:tavLst>
                                        <p:tav tm="0">
                                          <p:val>
                                            <p:fltVal val="90"/>
                                          </p:val>
                                        </p:tav>
                                        <p:tav tm="100000">
                                          <p:val>
                                            <p:fltVal val="0"/>
                                          </p:val>
                                        </p:tav>
                                      </p:tavLst>
                                    </p:anim>
                                    <p:animEffect transition="in" filter="fade">
                                      <p:cBhvr>
                                        <p:cTn id="35" dur="1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苏格拉底的方法</a:t>
            </a:r>
          </a:p>
        </p:txBody>
      </p:sp>
      <p:sp>
        <p:nvSpPr>
          <p:cNvPr id="3" name="Content Placeholder 2"/>
          <p:cNvSpPr>
            <a:spLocks noGrp="1"/>
          </p:cNvSpPr>
          <p:nvPr>
            <p:ph sz="half" idx="1"/>
          </p:nvPr>
        </p:nvSpPr>
        <p:spPr/>
        <p:txBody>
          <a:bodyPr>
            <a:normAutofit fontScale="77500" lnSpcReduction="20000"/>
          </a:bodyPr>
          <a:lstStyle/>
          <a:p>
            <a:r>
              <a:rPr lang="en-US" altLang="zh-CN" b="1" dirty="0"/>
              <a:t>Elenchus</a:t>
            </a:r>
            <a:r>
              <a:rPr lang="zh-CN" altLang="en-US" b="1" dirty="0"/>
              <a:t>，是苏格拉底与对话者论辩的方法，即问答法，亦译为反诘法。</a:t>
            </a:r>
          </a:p>
          <a:p>
            <a:endParaRPr lang="zh-CN" altLang="en-US" dirty="0"/>
          </a:p>
        </p:txBody>
      </p:sp>
      <p:sp>
        <p:nvSpPr>
          <p:cNvPr id="4" name="Content Placeholder 3"/>
          <p:cNvSpPr>
            <a:spLocks noGrp="1"/>
          </p:cNvSpPr>
          <p:nvPr>
            <p:ph sz="half" idx="2"/>
          </p:nvPr>
        </p:nvSpPr>
        <p:spPr/>
        <p:txBody>
          <a:bodyPr>
            <a:normAutofit fontScale="77500" lnSpcReduction="20000"/>
          </a:bodyPr>
          <a:lstStyle/>
          <a:p>
            <a:r>
              <a:rPr lang="zh-CN" altLang="en-US" b="1" dirty="0"/>
              <a:t>苏格拉底运用问答法，来为如下一些问题寻找答案，诸如正义是什么，虔诚是什么，勇气是什么，节制是什么，友谊是什么，或者别的一些习俗认可的德性是什么的问题。对答案的寻求通常采用如下形式</a:t>
            </a:r>
            <a:r>
              <a:rPr lang="en-US" altLang="zh-CN" b="1" dirty="0"/>
              <a:t>:</a:t>
            </a:r>
          </a:p>
          <a:p>
            <a:r>
              <a:rPr lang="en-US" altLang="zh-CN" b="1" dirty="0"/>
              <a:t> </a:t>
            </a:r>
            <a:r>
              <a:rPr lang="zh-CN" altLang="en-US" b="1" dirty="0"/>
              <a:t>一位对话者提出一个对德性的说明。然后，苏格拉底试图以对话者自身某些别的信念为前提，论证他的说明在这些前提下是自相矛盾的来驳斥他。这些信念必须是对话者自身</a:t>
            </a:r>
            <a:r>
              <a:rPr lang="zh-CN" altLang="en-US" b="1" dirty="0">
                <a:solidFill>
                  <a:srgbClr val="FF0000"/>
                </a:solidFill>
              </a:rPr>
              <a:t>真正具有</a:t>
            </a:r>
            <a:r>
              <a:rPr lang="zh-CN" altLang="en-US" b="1" dirty="0"/>
              <a:t>的信念，苏格拉底不会采用不被严肃持有的信念。</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535" y="2762976"/>
            <a:ext cx="5040401" cy="3322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0635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randombar(horizontal)">
                                      <p:cBhvr>
                                        <p:cTn id="12" dur="500"/>
                                        <p:tgtEl>
                                          <p:spTgt spid="1026"/>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 calcmode="lin" valueType="num">
                                      <p:cBhvr>
                                        <p:cTn id="17" dur="1000" fill="hold"/>
                                        <p:tgtEl>
                                          <p:spTgt spid="4">
                                            <p:txEl>
                                              <p:pRg st="0" end="0"/>
                                            </p:txEl>
                                          </p:spTgt>
                                        </p:tgtEl>
                                        <p:attrNameLst>
                                          <p:attrName>ppt_w</p:attrName>
                                        </p:attrNameLst>
                                      </p:cBhvr>
                                      <p:tavLst>
                                        <p:tav tm="0">
                                          <p:val>
                                            <p:fltVal val="0"/>
                                          </p:val>
                                        </p:tav>
                                        <p:tav tm="100000">
                                          <p:val>
                                            <p:strVal val="#ppt_w"/>
                                          </p:val>
                                        </p:tav>
                                      </p:tavLst>
                                    </p:anim>
                                    <p:anim calcmode="lin" valueType="num">
                                      <p:cBhvr>
                                        <p:cTn id="18" dur="1000" fill="hold"/>
                                        <p:tgtEl>
                                          <p:spTgt spid="4">
                                            <p:txEl>
                                              <p:pRg st="0" end="0"/>
                                            </p:txEl>
                                          </p:spTgt>
                                        </p:tgtEl>
                                        <p:attrNameLst>
                                          <p:attrName>ppt_h</p:attrName>
                                        </p:attrNameLst>
                                      </p:cBhvr>
                                      <p:tavLst>
                                        <p:tav tm="0">
                                          <p:val>
                                            <p:fltVal val="0"/>
                                          </p:val>
                                        </p:tav>
                                        <p:tav tm="100000">
                                          <p:val>
                                            <p:strVal val="#ppt_h"/>
                                          </p:val>
                                        </p:tav>
                                      </p:tavLst>
                                    </p:anim>
                                    <p:anim calcmode="lin" valueType="num">
                                      <p:cBhvr>
                                        <p:cTn id="19" dur="1000" fill="hold"/>
                                        <p:tgtEl>
                                          <p:spTgt spid="4">
                                            <p:txEl>
                                              <p:pRg st="0" end="0"/>
                                            </p:txEl>
                                          </p:spTgt>
                                        </p:tgtEl>
                                        <p:attrNameLst>
                                          <p:attrName>style.rotation</p:attrName>
                                        </p:attrNameLst>
                                      </p:cBhvr>
                                      <p:tavLst>
                                        <p:tav tm="0">
                                          <p:val>
                                            <p:fltVal val="90"/>
                                          </p:val>
                                        </p:tav>
                                        <p:tav tm="100000">
                                          <p:val>
                                            <p:fltVal val="0"/>
                                          </p:val>
                                        </p:tav>
                                      </p:tavLst>
                                    </p:anim>
                                    <p:animEffect transition="in" filter="fade">
                                      <p:cBhvr>
                                        <p:cTn id="20" dur="1000"/>
                                        <p:tgtEl>
                                          <p:spTgt spid="4">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Effect transition="in" filter="randombar(horizontal)">
                                      <p:cBhvr>
                                        <p:cTn id="25"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zh-CN" altLang="en-US" dirty="0"/>
              <a:t>问答法的优点与缺点</a:t>
            </a:r>
          </a:p>
        </p:txBody>
      </p:sp>
      <p:sp>
        <p:nvSpPr>
          <p:cNvPr id="3" name="Content Placeholder 2"/>
          <p:cNvSpPr>
            <a:spLocks noGrp="1"/>
          </p:cNvSpPr>
          <p:nvPr>
            <p:ph sz="half" idx="1"/>
          </p:nvPr>
        </p:nvSpPr>
        <p:spPr>
          <a:xfrm>
            <a:off x="738660" y="2064774"/>
            <a:ext cx="4914888" cy="4031226"/>
          </a:xfrm>
        </p:spPr>
        <p:txBody>
          <a:bodyPr/>
          <a:lstStyle/>
          <a:p>
            <a:r>
              <a:rPr lang="zh-CN" altLang="en-US" sz="2400" b="1" dirty="0"/>
              <a:t>问答法的积极面是使人认识到自己原有观念的局限，消极面是会摧毁人固有的（传统）观念。</a:t>
            </a:r>
          </a:p>
          <a:p>
            <a:r>
              <a:rPr lang="zh-CN" altLang="en-US" sz="2400" b="1" dirty="0"/>
              <a:t>此外，问答法在论辩形式上与智者的论辩术相似。因此，在雅典普通民众眼里，苏格拉底是一个智者。戏剧家阿里斯托芬在</a:t>
            </a:r>
            <a:r>
              <a:rPr lang="en-US" altLang="zh-CN" sz="2400" b="1" dirty="0"/>
              <a:t>《</a:t>
            </a:r>
            <a:r>
              <a:rPr lang="zh-CN" altLang="en-US" sz="2400" b="1" dirty="0"/>
              <a:t>云</a:t>
            </a:r>
            <a:r>
              <a:rPr lang="en-US" altLang="zh-CN" sz="2400" b="1" dirty="0"/>
              <a:t>》</a:t>
            </a:r>
            <a:r>
              <a:rPr lang="zh-CN" altLang="en-US" sz="2400" b="1" dirty="0"/>
              <a:t>一剧中将苏格拉底作为智者讽刺。</a:t>
            </a:r>
          </a:p>
          <a:p>
            <a:endParaRPr lang="zh-CN" altLang="en-US" dirty="0"/>
          </a:p>
          <a:p>
            <a:endParaRPr lang="zh-CN" altLang="en-US" dirty="0"/>
          </a:p>
        </p:txBody>
      </p:sp>
      <p:sp>
        <p:nvSpPr>
          <p:cNvPr id="4" name="Content Placeholder 3"/>
          <p:cNvSpPr>
            <a:spLocks noGrp="1"/>
          </p:cNvSpPr>
          <p:nvPr>
            <p:ph sz="half" idx="2"/>
          </p:nvPr>
        </p:nvSpPr>
        <p:spPr/>
        <p:txBody>
          <a:bodyPr/>
          <a:lstStyle/>
          <a:p>
            <a:endParaRPr lang="zh-CN"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72948" y="1636142"/>
            <a:ext cx="4819052" cy="3212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8716" y="4502789"/>
            <a:ext cx="1554119" cy="2355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2186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2051"/>
                                        </p:tgtEl>
                                        <p:attrNameLst>
                                          <p:attrName>style.visibility</p:attrName>
                                        </p:attrNameLst>
                                      </p:cBhvr>
                                      <p:to>
                                        <p:strVal val="visible"/>
                                      </p:to>
                                    </p:set>
                                    <p:animEffect transition="in" filter="wheel(1)">
                                      <p:cBhvr>
                                        <p:cTn id="17" dur="2000"/>
                                        <p:tgtEl>
                                          <p:spTgt spid="2051"/>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2050"/>
                                        </p:tgtEl>
                                        <p:attrNameLst>
                                          <p:attrName>style.visibility</p:attrName>
                                        </p:attrNameLst>
                                      </p:cBhvr>
                                      <p:to>
                                        <p:strVal val="visible"/>
                                      </p:to>
                                    </p:set>
                                    <p:animEffect transition="in" filter="randombar(horizontal)">
                                      <p:cBhvr>
                                        <p:cTn id="22"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zh-CN" altLang="en-US" dirty="0"/>
              <a:t>何谓智者？</a:t>
            </a:r>
            <a:br>
              <a:rPr lang="en-US" altLang="zh-CN" dirty="0"/>
            </a:br>
            <a:endParaRPr lang="zh-CN" altLang="en-US" dirty="0"/>
          </a:p>
        </p:txBody>
      </p:sp>
      <p:sp>
        <p:nvSpPr>
          <p:cNvPr id="3" name="Content Placeholder 2"/>
          <p:cNvSpPr>
            <a:spLocks noGrp="1"/>
          </p:cNvSpPr>
          <p:nvPr>
            <p:ph sz="half" idx="1"/>
          </p:nvPr>
        </p:nvSpPr>
        <p:spPr>
          <a:xfrm>
            <a:off x="685802" y="1869599"/>
            <a:ext cx="5511798" cy="4816335"/>
          </a:xfrm>
        </p:spPr>
        <p:txBody>
          <a:bodyPr>
            <a:normAutofit fontScale="70000" lnSpcReduction="20000"/>
          </a:bodyPr>
          <a:lstStyle/>
          <a:p>
            <a:pPr>
              <a:lnSpc>
                <a:spcPct val="120000"/>
              </a:lnSpc>
            </a:pPr>
            <a:r>
              <a:rPr lang="zh-CN" altLang="en-US" b="1" dirty="0"/>
              <a:t>公元前</a:t>
            </a:r>
            <a:r>
              <a:rPr lang="en-US" altLang="zh-CN" b="1" dirty="0"/>
              <a:t>5</a:t>
            </a:r>
            <a:r>
              <a:rPr lang="zh-CN" altLang="en-US" b="1" dirty="0"/>
              <a:t>世纪后半叶，雅典和希腊社会进入了古典时代的繁荣时期。新的社会政治活动刺激公民们提高自己的素质和文化修养，确立新的教育方式和行为准则，于是在全希腊范围内出现了一批以传授论辩和演说技艺，提供安邦治国才能为己任的职业教师，这就是智者，</a:t>
            </a:r>
            <a:r>
              <a:rPr lang="en-US" altLang="zh-CN" b="1" dirty="0" err="1"/>
              <a:t>sophistes</a:t>
            </a:r>
            <a:r>
              <a:rPr lang="zh-CN" altLang="en-US" b="1" dirty="0"/>
              <a:t>。</a:t>
            </a:r>
            <a:endParaRPr lang="en-US" altLang="zh-CN" b="1" dirty="0"/>
          </a:p>
          <a:p>
            <a:pPr>
              <a:lnSpc>
                <a:spcPct val="120000"/>
              </a:lnSpc>
            </a:pPr>
            <a:r>
              <a:rPr lang="zh-CN" altLang="en-US" b="1" dirty="0"/>
              <a:t>智者将人看作是人和社会、人和自然、人和神的中心；用人的利益，需要和体验解释人们的社会历史活动。智者运动使更多的人受到教育，是西方历史上第一次启蒙运动。但智者的活动也摧毁了当时传统的道德伦理，对社会道德沦丧负有一定责任。柏拉图和亚里士多德将他们贬低为贩卖似是而非的智慧的骗子。</a:t>
            </a:r>
          </a:p>
        </p:txBody>
      </p:sp>
      <p:sp>
        <p:nvSpPr>
          <p:cNvPr id="4" name="Content Placeholder 3"/>
          <p:cNvSpPr>
            <a:spLocks noGrp="1"/>
          </p:cNvSpPr>
          <p:nvPr>
            <p:ph sz="half" idx="2"/>
          </p:nvPr>
        </p:nvSpPr>
        <p:spPr/>
        <p:txBody>
          <a:bodyPr>
            <a:normAutofit fontScale="70000" lnSpcReduction="20000"/>
          </a:bodyPr>
          <a:lstStyle/>
          <a:p>
            <a:endParaRPr lang="zh-CN"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4170" y="214311"/>
            <a:ext cx="1885950" cy="277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80120" y="3123248"/>
            <a:ext cx="2438400" cy="275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1855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wheel(1)">
                                      <p:cBhvr>
                                        <p:cTn id="12" dur="2000"/>
                                        <p:tgtEl>
                                          <p:spTgt spid="1026"/>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1027"/>
                                        </p:tgtEl>
                                        <p:attrNameLst>
                                          <p:attrName>style.visibility</p:attrName>
                                        </p:attrNameLst>
                                      </p:cBhvr>
                                      <p:to>
                                        <p:strVal val="visible"/>
                                      </p:to>
                                    </p:set>
                                    <p:animEffect transition="in" filter="wheel(1)">
                                      <p:cBhvr>
                                        <p:cTn id="17" dur="2000"/>
                                        <p:tgtEl>
                                          <p:spTgt spid="1027"/>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2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496291" y="2586182"/>
            <a:ext cx="3500582" cy="2105891"/>
          </a:xfrm>
          <a:prstGeom prst="ellipse">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 name="Oval 5"/>
          <p:cNvSpPr/>
          <p:nvPr/>
        </p:nvSpPr>
        <p:spPr>
          <a:xfrm>
            <a:off x="1496290" y="1902583"/>
            <a:ext cx="2817091" cy="1958109"/>
          </a:xfrm>
          <a:prstGeom prst="ellipse">
            <a:avLst/>
          </a:prstGeom>
          <a:solidFill>
            <a:schemeClr val="accent1">
              <a:lumMod val="40000"/>
              <a:lumOff val="6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7" name="TextBox 6"/>
          <p:cNvSpPr txBox="1"/>
          <p:nvPr/>
        </p:nvSpPr>
        <p:spPr>
          <a:xfrm>
            <a:off x="1962726" y="2219916"/>
            <a:ext cx="1884217" cy="1323439"/>
          </a:xfrm>
          <a:prstGeom prst="rect">
            <a:avLst/>
          </a:prstGeom>
          <a:noFill/>
        </p:spPr>
        <p:txBody>
          <a:bodyPr wrap="square" rtlCol="0">
            <a:spAutoFit/>
          </a:bodyPr>
          <a:lstStyle/>
          <a:p>
            <a:pPr algn="ctr"/>
            <a:r>
              <a:rPr lang="zh-CN" altLang="en-US" sz="2000" b="1" dirty="0"/>
              <a:t>凯帕洛</a:t>
            </a:r>
            <a:endParaRPr lang="en-US" altLang="zh-CN" sz="2000" b="1" dirty="0"/>
          </a:p>
          <a:p>
            <a:pPr algn="ctr"/>
            <a:endParaRPr lang="en-US" altLang="zh-CN" sz="2000" b="1" dirty="0"/>
          </a:p>
          <a:p>
            <a:pPr algn="ctr"/>
            <a:r>
              <a:rPr lang="zh-CN" altLang="en-US" sz="2000" b="1" dirty="0"/>
              <a:t>说真话</a:t>
            </a:r>
            <a:endParaRPr lang="en-US" altLang="zh-CN" sz="2000" b="1" dirty="0"/>
          </a:p>
          <a:p>
            <a:pPr algn="ctr"/>
            <a:r>
              <a:rPr lang="zh-CN" altLang="en-US" sz="2000" b="1" dirty="0"/>
              <a:t>有债就还</a:t>
            </a:r>
          </a:p>
        </p:txBody>
      </p:sp>
      <p:sp>
        <p:nvSpPr>
          <p:cNvPr id="8" name="Rounded Rectangle 7"/>
          <p:cNvSpPr/>
          <p:nvPr/>
        </p:nvSpPr>
        <p:spPr>
          <a:xfrm>
            <a:off x="1745673" y="4692073"/>
            <a:ext cx="2484582" cy="1440872"/>
          </a:xfrm>
          <a:prstGeom prst="roundRect">
            <a:avLst/>
          </a:prstGeom>
          <a:solidFill>
            <a:schemeClr val="accent1">
              <a:lumMod val="40000"/>
              <a:lumOff val="6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9" name="TextBox 8"/>
          <p:cNvSpPr txBox="1"/>
          <p:nvPr/>
        </p:nvSpPr>
        <p:spPr>
          <a:xfrm>
            <a:off x="1939636" y="4950844"/>
            <a:ext cx="2013526" cy="923330"/>
          </a:xfrm>
          <a:prstGeom prst="rect">
            <a:avLst/>
          </a:prstGeom>
          <a:noFill/>
        </p:spPr>
        <p:txBody>
          <a:bodyPr wrap="square" rtlCol="0">
            <a:spAutoFit/>
          </a:bodyPr>
          <a:lstStyle/>
          <a:p>
            <a:pPr algn="ctr"/>
            <a:r>
              <a:rPr lang="zh-CN" altLang="en-US" b="1" dirty="0"/>
              <a:t>商人的伦理规范</a:t>
            </a:r>
            <a:endParaRPr lang="en-US" altLang="zh-CN" b="1" dirty="0"/>
          </a:p>
          <a:p>
            <a:pPr algn="ctr"/>
            <a:endParaRPr lang="en-US" altLang="zh-CN" dirty="0"/>
          </a:p>
          <a:p>
            <a:pPr algn="ctr"/>
            <a:r>
              <a:rPr lang="zh-CN" altLang="en-US" b="1" dirty="0"/>
              <a:t>具体行为规范</a:t>
            </a:r>
          </a:p>
        </p:txBody>
      </p:sp>
      <p:sp>
        <p:nvSpPr>
          <p:cNvPr id="10" name="Oval 9"/>
          <p:cNvSpPr/>
          <p:nvPr/>
        </p:nvSpPr>
        <p:spPr>
          <a:xfrm>
            <a:off x="6188364" y="1902583"/>
            <a:ext cx="3140363" cy="1921056"/>
          </a:xfrm>
          <a:prstGeom prst="ellipse">
            <a:avLst/>
          </a:prstGeom>
          <a:solidFill>
            <a:srgbClr val="92D05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1" name="TextBox 10"/>
          <p:cNvSpPr txBox="1"/>
          <p:nvPr/>
        </p:nvSpPr>
        <p:spPr>
          <a:xfrm>
            <a:off x="6714838" y="2219916"/>
            <a:ext cx="2207490" cy="1200329"/>
          </a:xfrm>
          <a:prstGeom prst="rect">
            <a:avLst/>
          </a:prstGeom>
          <a:noFill/>
        </p:spPr>
        <p:txBody>
          <a:bodyPr wrap="square" rtlCol="0">
            <a:spAutoFit/>
          </a:bodyPr>
          <a:lstStyle/>
          <a:p>
            <a:pPr algn="ctr"/>
            <a:r>
              <a:rPr lang="zh-CN" altLang="en-US" b="1" dirty="0"/>
              <a:t>西蒙尼代</a:t>
            </a:r>
            <a:endParaRPr lang="en-US" altLang="zh-CN" b="1" dirty="0"/>
          </a:p>
          <a:p>
            <a:pPr algn="ctr"/>
            <a:endParaRPr lang="en-US" altLang="zh-CN" b="1" dirty="0"/>
          </a:p>
          <a:p>
            <a:pPr algn="ctr"/>
            <a:r>
              <a:rPr lang="zh-CN" altLang="en-US" b="1" dirty="0"/>
              <a:t>凡所该负于人的</a:t>
            </a:r>
            <a:endParaRPr lang="en-US" altLang="zh-CN" b="1" dirty="0"/>
          </a:p>
          <a:p>
            <a:pPr algn="ctr"/>
            <a:r>
              <a:rPr lang="zh-CN" altLang="en-US" b="1" dirty="0"/>
              <a:t>还之于人</a:t>
            </a:r>
          </a:p>
        </p:txBody>
      </p:sp>
      <p:sp>
        <p:nvSpPr>
          <p:cNvPr id="12" name="Rounded Rectangle 11"/>
          <p:cNvSpPr/>
          <p:nvPr/>
        </p:nvSpPr>
        <p:spPr>
          <a:xfrm>
            <a:off x="6220692" y="4692073"/>
            <a:ext cx="3195781" cy="1487055"/>
          </a:xfrm>
          <a:prstGeom prst="roundRect">
            <a:avLst/>
          </a:prstGeom>
          <a:solidFill>
            <a:srgbClr val="92D05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3" name="TextBox 12"/>
          <p:cNvSpPr txBox="1"/>
          <p:nvPr/>
        </p:nvSpPr>
        <p:spPr>
          <a:xfrm>
            <a:off x="6714838" y="4950844"/>
            <a:ext cx="2299853" cy="400110"/>
          </a:xfrm>
          <a:prstGeom prst="rect">
            <a:avLst/>
          </a:prstGeom>
          <a:noFill/>
        </p:spPr>
        <p:txBody>
          <a:bodyPr wrap="square" rtlCol="0">
            <a:spAutoFit/>
          </a:bodyPr>
          <a:lstStyle/>
          <a:p>
            <a:pPr algn="ctr"/>
            <a:r>
              <a:rPr lang="zh-CN" altLang="en-US" sz="2000" b="1" dirty="0"/>
              <a:t>普遍原则</a:t>
            </a:r>
          </a:p>
        </p:txBody>
      </p:sp>
      <p:cxnSp>
        <p:nvCxnSpPr>
          <p:cNvPr id="15" name="Curved Connector 14"/>
          <p:cNvCxnSpPr/>
          <p:nvPr/>
        </p:nvCxnSpPr>
        <p:spPr>
          <a:xfrm rot="16200000" flipH="1">
            <a:off x="2460625" y="4186670"/>
            <a:ext cx="674253" cy="201467"/>
          </a:xfrm>
          <a:prstGeom prst="curvedConnector3">
            <a:avLst/>
          </a:prstGeom>
          <a:ln w="19050"/>
        </p:spPr>
        <p:style>
          <a:lnRef idx="1">
            <a:schemeClr val="accent1"/>
          </a:lnRef>
          <a:fillRef idx="0">
            <a:schemeClr val="accent1"/>
          </a:fillRef>
          <a:effectRef idx="0">
            <a:schemeClr val="accent1"/>
          </a:effectRef>
          <a:fontRef idx="minor">
            <a:schemeClr val="tx1"/>
          </a:fontRef>
        </p:style>
      </p:cxnSp>
      <p:cxnSp>
        <p:nvCxnSpPr>
          <p:cNvPr id="17" name="Curved Connector 16"/>
          <p:cNvCxnSpPr/>
          <p:nvPr/>
        </p:nvCxnSpPr>
        <p:spPr>
          <a:xfrm rot="16200000" flipH="1">
            <a:off x="7527636" y="4181184"/>
            <a:ext cx="674256" cy="212440"/>
          </a:xfrm>
          <a:prstGeom prst="curvedConnector3">
            <a:avLst/>
          </a:prstGeom>
          <a:ln w="19050"/>
        </p:spPr>
        <p:style>
          <a:lnRef idx="1">
            <a:schemeClr val="accent1"/>
          </a:lnRef>
          <a:fillRef idx="0">
            <a:schemeClr val="accent1"/>
          </a:fillRef>
          <a:effectRef idx="0">
            <a:schemeClr val="accent1"/>
          </a:effectRef>
          <a:fontRef idx="minor">
            <a:schemeClr val="tx1"/>
          </a:fontRef>
        </p:style>
      </p:cxnSp>
      <p:sp>
        <p:nvSpPr>
          <p:cNvPr id="20" name="Title 19"/>
          <p:cNvSpPr>
            <a:spLocks noGrp="1"/>
          </p:cNvSpPr>
          <p:nvPr>
            <p:ph type="title"/>
          </p:nvPr>
        </p:nvSpPr>
        <p:spPr/>
        <p:txBody>
          <a:bodyPr/>
          <a:lstStyle/>
          <a:p>
            <a:r>
              <a:rPr lang="zh-CN" altLang="en-US" dirty="0"/>
              <a:t>苏格拉底和波策马尔科的对话</a:t>
            </a:r>
          </a:p>
        </p:txBody>
      </p:sp>
      <p:sp>
        <p:nvSpPr>
          <p:cNvPr id="2" name="Right Arrow 1"/>
          <p:cNvSpPr/>
          <p:nvPr/>
        </p:nvSpPr>
        <p:spPr>
          <a:xfrm>
            <a:off x="4634821" y="2722261"/>
            <a:ext cx="1249448" cy="186570"/>
          </a:xfrm>
          <a:prstGeom prst="rightArrow">
            <a:avLst/>
          </a:prstGeom>
          <a:solidFill>
            <a:srgbClr val="FF000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132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randombar(horizontal)">
                                      <p:cBhvr>
                                        <p:cTn id="12" dur="500"/>
                                        <p:tgtEl>
                                          <p:spTgt spid="7">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randombar(horizontal)">
                                      <p:cBhvr>
                                        <p:cTn id="15" dur="500"/>
                                        <p:tgtEl>
                                          <p:spTgt spid="7">
                                            <p:txEl>
                                              <p:pRg st="2" end="2"/>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animEffect transition="in" filter="randombar(horizontal)">
                                      <p:cBhvr>
                                        <p:cTn id="18" dur="500"/>
                                        <p:tgtEl>
                                          <p:spTgt spid="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heel(1)">
                                      <p:cBhvr>
                                        <p:cTn id="23" dur="20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11">
                                            <p:txEl>
                                              <p:pRg st="0" end="0"/>
                                            </p:txEl>
                                          </p:spTgt>
                                        </p:tgtEl>
                                        <p:attrNameLst>
                                          <p:attrName>style.visibility</p:attrName>
                                        </p:attrNameLst>
                                      </p:cBhvr>
                                      <p:to>
                                        <p:strVal val="visible"/>
                                      </p:to>
                                    </p:set>
                                    <p:animEffect transition="in" filter="randombar(horizontal)">
                                      <p:cBhvr>
                                        <p:cTn id="28" dur="500"/>
                                        <p:tgtEl>
                                          <p:spTgt spid="11">
                                            <p:txEl>
                                              <p:pRg st="0" end="0"/>
                                            </p:txEl>
                                          </p:spTgt>
                                        </p:tgtEl>
                                      </p:cBhvr>
                                    </p:animEffect>
                                  </p:childTnLst>
                                </p:cTn>
                              </p:par>
                              <p:par>
                                <p:cTn id="29" presetID="14" presetClass="entr" presetSubtype="10" fill="hold" nodeType="withEffect">
                                  <p:stCondLst>
                                    <p:cond delay="0"/>
                                  </p:stCondLst>
                                  <p:childTnLst>
                                    <p:set>
                                      <p:cBhvr>
                                        <p:cTn id="30" dur="1" fill="hold">
                                          <p:stCondLst>
                                            <p:cond delay="0"/>
                                          </p:stCondLst>
                                        </p:cTn>
                                        <p:tgtEl>
                                          <p:spTgt spid="11">
                                            <p:txEl>
                                              <p:pRg st="2" end="2"/>
                                            </p:txEl>
                                          </p:spTgt>
                                        </p:tgtEl>
                                        <p:attrNameLst>
                                          <p:attrName>style.visibility</p:attrName>
                                        </p:attrNameLst>
                                      </p:cBhvr>
                                      <p:to>
                                        <p:strVal val="visible"/>
                                      </p:to>
                                    </p:set>
                                    <p:animEffect transition="in" filter="randombar(horizontal)">
                                      <p:cBhvr>
                                        <p:cTn id="31" dur="500"/>
                                        <p:tgtEl>
                                          <p:spTgt spid="11">
                                            <p:txEl>
                                              <p:pRg st="2" end="2"/>
                                            </p:txEl>
                                          </p:spTgt>
                                        </p:tgtEl>
                                      </p:cBhvr>
                                    </p:animEffect>
                                  </p:childTnLst>
                                </p:cTn>
                              </p:par>
                              <p:par>
                                <p:cTn id="32" presetID="14" presetClass="entr" presetSubtype="10" fill="hold" nodeType="withEffect">
                                  <p:stCondLst>
                                    <p:cond delay="0"/>
                                  </p:stCondLst>
                                  <p:childTnLst>
                                    <p:set>
                                      <p:cBhvr>
                                        <p:cTn id="33" dur="1" fill="hold">
                                          <p:stCondLst>
                                            <p:cond delay="0"/>
                                          </p:stCondLst>
                                        </p:cTn>
                                        <p:tgtEl>
                                          <p:spTgt spid="11">
                                            <p:txEl>
                                              <p:pRg st="3" end="3"/>
                                            </p:txEl>
                                          </p:spTgt>
                                        </p:tgtEl>
                                        <p:attrNameLst>
                                          <p:attrName>style.visibility</p:attrName>
                                        </p:attrNameLst>
                                      </p:cBhvr>
                                      <p:to>
                                        <p:strVal val="visible"/>
                                      </p:to>
                                    </p:set>
                                    <p:animEffect transition="in" filter="randombar(horizontal)">
                                      <p:cBhvr>
                                        <p:cTn id="34" dur="500"/>
                                        <p:tgtEl>
                                          <p:spTgt spid="11">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6"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down)">
                                      <p:cBhvr>
                                        <p:cTn id="39" dur="580">
                                          <p:stCondLst>
                                            <p:cond delay="0"/>
                                          </p:stCondLst>
                                        </p:cTn>
                                        <p:tgtEl>
                                          <p:spTgt spid="15"/>
                                        </p:tgtEl>
                                      </p:cBhvr>
                                    </p:animEffect>
                                    <p:anim calcmode="lin" valueType="num">
                                      <p:cBhvr>
                                        <p:cTn id="40"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45" dur="26">
                                          <p:stCondLst>
                                            <p:cond delay="650"/>
                                          </p:stCondLst>
                                        </p:cTn>
                                        <p:tgtEl>
                                          <p:spTgt spid="15"/>
                                        </p:tgtEl>
                                      </p:cBhvr>
                                      <p:to x="100000" y="60000"/>
                                    </p:animScale>
                                    <p:animScale>
                                      <p:cBhvr>
                                        <p:cTn id="46" dur="166" decel="50000">
                                          <p:stCondLst>
                                            <p:cond delay="676"/>
                                          </p:stCondLst>
                                        </p:cTn>
                                        <p:tgtEl>
                                          <p:spTgt spid="15"/>
                                        </p:tgtEl>
                                      </p:cBhvr>
                                      <p:to x="100000" y="100000"/>
                                    </p:animScale>
                                    <p:animScale>
                                      <p:cBhvr>
                                        <p:cTn id="47" dur="26">
                                          <p:stCondLst>
                                            <p:cond delay="1312"/>
                                          </p:stCondLst>
                                        </p:cTn>
                                        <p:tgtEl>
                                          <p:spTgt spid="15"/>
                                        </p:tgtEl>
                                      </p:cBhvr>
                                      <p:to x="100000" y="80000"/>
                                    </p:animScale>
                                    <p:animScale>
                                      <p:cBhvr>
                                        <p:cTn id="48" dur="166" decel="50000">
                                          <p:stCondLst>
                                            <p:cond delay="1338"/>
                                          </p:stCondLst>
                                        </p:cTn>
                                        <p:tgtEl>
                                          <p:spTgt spid="15"/>
                                        </p:tgtEl>
                                      </p:cBhvr>
                                      <p:to x="100000" y="100000"/>
                                    </p:animScale>
                                    <p:animScale>
                                      <p:cBhvr>
                                        <p:cTn id="49" dur="26">
                                          <p:stCondLst>
                                            <p:cond delay="1642"/>
                                          </p:stCondLst>
                                        </p:cTn>
                                        <p:tgtEl>
                                          <p:spTgt spid="15"/>
                                        </p:tgtEl>
                                      </p:cBhvr>
                                      <p:to x="100000" y="90000"/>
                                    </p:animScale>
                                    <p:animScale>
                                      <p:cBhvr>
                                        <p:cTn id="50" dur="166" decel="50000">
                                          <p:stCondLst>
                                            <p:cond delay="1668"/>
                                          </p:stCondLst>
                                        </p:cTn>
                                        <p:tgtEl>
                                          <p:spTgt spid="15"/>
                                        </p:tgtEl>
                                      </p:cBhvr>
                                      <p:to x="100000" y="100000"/>
                                    </p:animScale>
                                    <p:animScale>
                                      <p:cBhvr>
                                        <p:cTn id="51" dur="26">
                                          <p:stCondLst>
                                            <p:cond delay="1808"/>
                                          </p:stCondLst>
                                        </p:cTn>
                                        <p:tgtEl>
                                          <p:spTgt spid="15"/>
                                        </p:tgtEl>
                                      </p:cBhvr>
                                      <p:to x="100000" y="95000"/>
                                    </p:animScale>
                                    <p:animScale>
                                      <p:cBhvr>
                                        <p:cTn id="52" dur="166" decel="50000">
                                          <p:stCondLst>
                                            <p:cond delay="1834"/>
                                          </p:stCondLst>
                                        </p:cTn>
                                        <p:tgtEl>
                                          <p:spTgt spid="15"/>
                                        </p:tgtEl>
                                      </p:cBhvr>
                                      <p:to x="100000" y="100000"/>
                                    </p:animScale>
                                  </p:childTnLst>
                                </p:cTn>
                              </p:par>
                            </p:childTnLst>
                          </p:cTn>
                        </p:par>
                      </p:childTnLst>
                    </p:cTn>
                  </p:par>
                  <p:par>
                    <p:cTn id="53" fill="hold">
                      <p:stCondLst>
                        <p:cond delay="indefinite"/>
                      </p:stCondLst>
                      <p:childTnLst>
                        <p:par>
                          <p:cTn id="54" fill="hold">
                            <p:stCondLst>
                              <p:cond delay="0"/>
                            </p:stCondLst>
                            <p:childTnLst>
                              <p:par>
                                <p:cTn id="55" presetID="21" presetClass="entr" presetSubtype="1" fill="hold" grpId="0" nodeType="click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wheel(1)">
                                      <p:cBhvr>
                                        <p:cTn id="57" dur="2000"/>
                                        <p:tgtEl>
                                          <p:spTgt spid="8"/>
                                        </p:tgtEl>
                                      </p:cBhvr>
                                    </p:animEffect>
                                  </p:childTnLst>
                                </p:cTn>
                              </p:par>
                            </p:childTnLst>
                          </p:cTn>
                        </p:par>
                      </p:childTnLst>
                    </p:cTn>
                  </p:par>
                  <p:par>
                    <p:cTn id="58" fill="hold">
                      <p:stCondLst>
                        <p:cond delay="indefinite"/>
                      </p:stCondLst>
                      <p:childTnLst>
                        <p:par>
                          <p:cTn id="59" fill="hold">
                            <p:stCondLst>
                              <p:cond delay="0"/>
                            </p:stCondLst>
                            <p:childTnLst>
                              <p:par>
                                <p:cTn id="60" presetID="6" presetClass="entr" presetSubtype="16" fill="hold" nodeType="clickEffect">
                                  <p:stCondLst>
                                    <p:cond delay="0"/>
                                  </p:stCondLst>
                                  <p:childTnLst>
                                    <p:set>
                                      <p:cBhvr>
                                        <p:cTn id="61" dur="1" fill="hold">
                                          <p:stCondLst>
                                            <p:cond delay="0"/>
                                          </p:stCondLst>
                                        </p:cTn>
                                        <p:tgtEl>
                                          <p:spTgt spid="9">
                                            <p:txEl>
                                              <p:pRg st="0" end="0"/>
                                            </p:txEl>
                                          </p:spTgt>
                                        </p:tgtEl>
                                        <p:attrNameLst>
                                          <p:attrName>style.visibility</p:attrName>
                                        </p:attrNameLst>
                                      </p:cBhvr>
                                      <p:to>
                                        <p:strVal val="visible"/>
                                      </p:to>
                                    </p:set>
                                    <p:animEffect transition="in" filter="circle(in)">
                                      <p:cBhvr>
                                        <p:cTn id="62" dur="2000"/>
                                        <p:tgtEl>
                                          <p:spTgt spid="9">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1" presetClass="entr" presetSubtype="0" fill="hold" nodeType="clickEffect">
                                  <p:stCondLst>
                                    <p:cond delay="0"/>
                                  </p:stCondLst>
                                  <p:childTnLst>
                                    <p:set>
                                      <p:cBhvr>
                                        <p:cTn id="66" dur="1" fill="hold">
                                          <p:stCondLst>
                                            <p:cond delay="0"/>
                                          </p:stCondLst>
                                        </p:cTn>
                                        <p:tgtEl>
                                          <p:spTgt spid="9">
                                            <p:txEl>
                                              <p:pRg st="2" end="2"/>
                                            </p:txEl>
                                          </p:spTgt>
                                        </p:tgtEl>
                                        <p:attrNameLst>
                                          <p:attrName>style.visibility</p:attrName>
                                        </p:attrNameLst>
                                      </p:cBhvr>
                                      <p:to>
                                        <p:strVal val="visible"/>
                                      </p:to>
                                    </p:set>
                                    <p:anim calcmode="lin" valueType="num">
                                      <p:cBhvr>
                                        <p:cTn id="67" dur="1000" fill="hold"/>
                                        <p:tgtEl>
                                          <p:spTgt spid="9">
                                            <p:txEl>
                                              <p:pRg st="2" end="2"/>
                                            </p:txEl>
                                          </p:spTgt>
                                        </p:tgtEl>
                                        <p:attrNameLst>
                                          <p:attrName>ppt_w</p:attrName>
                                        </p:attrNameLst>
                                      </p:cBhvr>
                                      <p:tavLst>
                                        <p:tav tm="0">
                                          <p:val>
                                            <p:fltVal val="0"/>
                                          </p:val>
                                        </p:tav>
                                        <p:tav tm="100000">
                                          <p:val>
                                            <p:strVal val="#ppt_w"/>
                                          </p:val>
                                        </p:tav>
                                      </p:tavLst>
                                    </p:anim>
                                    <p:anim calcmode="lin" valueType="num">
                                      <p:cBhvr>
                                        <p:cTn id="68" dur="1000" fill="hold"/>
                                        <p:tgtEl>
                                          <p:spTgt spid="9">
                                            <p:txEl>
                                              <p:pRg st="2" end="2"/>
                                            </p:txEl>
                                          </p:spTgt>
                                        </p:tgtEl>
                                        <p:attrNameLst>
                                          <p:attrName>ppt_h</p:attrName>
                                        </p:attrNameLst>
                                      </p:cBhvr>
                                      <p:tavLst>
                                        <p:tav tm="0">
                                          <p:val>
                                            <p:fltVal val="0"/>
                                          </p:val>
                                        </p:tav>
                                        <p:tav tm="100000">
                                          <p:val>
                                            <p:strVal val="#ppt_h"/>
                                          </p:val>
                                        </p:tav>
                                      </p:tavLst>
                                    </p:anim>
                                    <p:anim calcmode="lin" valueType="num">
                                      <p:cBhvr>
                                        <p:cTn id="69" dur="1000" fill="hold"/>
                                        <p:tgtEl>
                                          <p:spTgt spid="9">
                                            <p:txEl>
                                              <p:pRg st="2" end="2"/>
                                            </p:txEl>
                                          </p:spTgt>
                                        </p:tgtEl>
                                        <p:attrNameLst>
                                          <p:attrName>style.rotation</p:attrName>
                                        </p:attrNameLst>
                                      </p:cBhvr>
                                      <p:tavLst>
                                        <p:tav tm="0">
                                          <p:val>
                                            <p:fltVal val="90"/>
                                          </p:val>
                                        </p:tav>
                                        <p:tav tm="100000">
                                          <p:val>
                                            <p:fltVal val="0"/>
                                          </p:val>
                                        </p:tav>
                                      </p:tavLst>
                                    </p:anim>
                                    <p:animEffect transition="in" filter="fade">
                                      <p:cBhvr>
                                        <p:cTn id="70" dur="1000"/>
                                        <p:tgtEl>
                                          <p:spTgt spid="9">
                                            <p:txEl>
                                              <p:pRg st="2" end="2"/>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26" presetClass="entr" presetSubtype="0" fill="hold" nodeType="click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wipe(down)">
                                      <p:cBhvr>
                                        <p:cTn id="75" dur="580">
                                          <p:stCondLst>
                                            <p:cond delay="0"/>
                                          </p:stCondLst>
                                        </p:cTn>
                                        <p:tgtEl>
                                          <p:spTgt spid="17"/>
                                        </p:tgtEl>
                                      </p:cBhvr>
                                    </p:animEffect>
                                    <p:anim calcmode="lin" valueType="num">
                                      <p:cBhvr>
                                        <p:cTn id="76"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77"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78"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79"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80"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81" dur="26">
                                          <p:stCondLst>
                                            <p:cond delay="650"/>
                                          </p:stCondLst>
                                        </p:cTn>
                                        <p:tgtEl>
                                          <p:spTgt spid="17"/>
                                        </p:tgtEl>
                                      </p:cBhvr>
                                      <p:to x="100000" y="60000"/>
                                    </p:animScale>
                                    <p:animScale>
                                      <p:cBhvr>
                                        <p:cTn id="82" dur="166" decel="50000">
                                          <p:stCondLst>
                                            <p:cond delay="676"/>
                                          </p:stCondLst>
                                        </p:cTn>
                                        <p:tgtEl>
                                          <p:spTgt spid="17"/>
                                        </p:tgtEl>
                                      </p:cBhvr>
                                      <p:to x="100000" y="100000"/>
                                    </p:animScale>
                                    <p:animScale>
                                      <p:cBhvr>
                                        <p:cTn id="83" dur="26">
                                          <p:stCondLst>
                                            <p:cond delay="1312"/>
                                          </p:stCondLst>
                                        </p:cTn>
                                        <p:tgtEl>
                                          <p:spTgt spid="17"/>
                                        </p:tgtEl>
                                      </p:cBhvr>
                                      <p:to x="100000" y="80000"/>
                                    </p:animScale>
                                    <p:animScale>
                                      <p:cBhvr>
                                        <p:cTn id="84" dur="166" decel="50000">
                                          <p:stCondLst>
                                            <p:cond delay="1338"/>
                                          </p:stCondLst>
                                        </p:cTn>
                                        <p:tgtEl>
                                          <p:spTgt spid="17"/>
                                        </p:tgtEl>
                                      </p:cBhvr>
                                      <p:to x="100000" y="100000"/>
                                    </p:animScale>
                                    <p:animScale>
                                      <p:cBhvr>
                                        <p:cTn id="85" dur="26">
                                          <p:stCondLst>
                                            <p:cond delay="1642"/>
                                          </p:stCondLst>
                                        </p:cTn>
                                        <p:tgtEl>
                                          <p:spTgt spid="17"/>
                                        </p:tgtEl>
                                      </p:cBhvr>
                                      <p:to x="100000" y="90000"/>
                                    </p:animScale>
                                    <p:animScale>
                                      <p:cBhvr>
                                        <p:cTn id="86" dur="166" decel="50000">
                                          <p:stCondLst>
                                            <p:cond delay="1668"/>
                                          </p:stCondLst>
                                        </p:cTn>
                                        <p:tgtEl>
                                          <p:spTgt spid="17"/>
                                        </p:tgtEl>
                                      </p:cBhvr>
                                      <p:to x="100000" y="100000"/>
                                    </p:animScale>
                                    <p:animScale>
                                      <p:cBhvr>
                                        <p:cTn id="87" dur="26">
                                          <p:stCondLst>
                                            <p:cond delay="1808"/>
                                          </p:stCondLst>
                                        </p:cTn>
                                        <p:tgtEl>
                                          <p:spTgt spid="17"/>
                                        </p:tgtEl>
                                      </p:cBhvr>
                                      <p:to x="100000" y="95000"/>
                                    </p:animScale>
                                    <p:animScale>
                                      <p:cBhvr>
                                        <p:cTn id="88" dur="166" decel="50000">
                                          <p:stCondLst>
                                            <p:cond delay="1834"/>
                                          </p:stCondLst>
                                        </p:cTn>
                                        <p:tgtEl>
                                          <p:spTgt spid="17"/>
                                        </p:tgtEl>
                                      </p:cBhvr>
                                      <p:to x="100000" y="100000"/>
                                    </p:animScale>
                                  </p:childTnLst>
                                </p:cTn>
                              </p:par>
                            </p:childTnLst>
                          </p:cTn>
                        </p:par>
                      </p:childTnLst>
                    </p:cTn>
                  </p:par>
                  <p:par>
                    <p:cTn id="89" fill="hold">
                      <p:stCondLst>
                        <p:cond delay="indefinite"/>
                      </p:stCondLst>
                      <p:childTnLst>
                        <p:par>
                          <p:cTn id="90" fill="hold">
                            <p:stCondLst>
                              <p:cond delay="0"/>
                            </p:stCondLst>
                            <p:childTnLst>
                              <p:par>
                                <p:cTn id="91" presetID="21" presetClass="entr" presetSubtype="1" fill="hold" grpId="0" nodeType="clickEffect">
                                  <p:stCondLst>
                                    <p:cond delay="0"/>
                                  </p:stCondLst>
                                  <p:childTnLst>
                                    <p:set>
                                      <p:cBhvr>
                                        <p:cTn id="92" dur="1" fill="hold">
                                          <p:stCondLst>
                                            <p:cond delay="0"/>
                                          </p:stCondLst>
                                        </p:cTn>
                                        <p:tgtEl>
                                          <p:spTgt spid="12"/>
                                        </p:tgtEl>
                                        <p:attrNameLst>
                                          <p:attrName>style.visibility</p:attrName>
                                        </p:attrNameLst>
                                      </p:cBhvr>
                                      <p:to>
                                        <p:strVal val="visible"/>
                                      </p:to>
                                    </p:set>
                                    <p:animEffect transition="in" filter="wheel(1)">
                                      <p:cBhvr>
                                        <p:cTn id="93" dur="2000"/>
                                        <p:tgtEl>
                                          <p:spTgt spid="12"/>
                                        </p:tgtEl>
                                      </p:cBhvr>
                                    </p:animEffect>
                                  </p:childTnLst>
                                </p:cTn>
                              </p:par>
                            </p:childTnLst>
                          </p:cTn>
                        </p:par>
                      </p:childTnLst>
                    </p:cTn>
                  </p:par>
                  <p:par>
                    <p:cTn id="94" fill="hold">
                      <p:stCondLst>
                        <p:cond delay="indefinite"/>
                      </p:stCondLst>
                      <p:childTnLst>
                        <p:par>
                          <p:cTn id="95" fill="hold">
                            <p:stCondLst>
                              <p:cond delay="0"/>
                            </p:stCondLst>
                            <p:childTnLst>
                              <p:par>
                                <p:cTn id="96" presetID="31" presetClass="entr" presetSubtype="0" fill="hold" nodeType="clickEffect">
                                  <p:stCondLst>
                                    <p:cond delay="0"/>
                                  </p:stCondLst>
                                  <p:childTnLst>
                                    <p:set>
                                      <p:cBhvr>
                                        <p:cTn id="97" dur="1" fill="hold">
                                          <p:stCondLst>
                                            <p:cond delay="0"/>
                                          </p:stCondLst>
                                        </p:cTn>
                                        <p:tgtEl>
                                          <p:spTgt spid="13">
                                            <p:txEl>
                                              <p:pRg st="0" end="0"/>
                                            </p:txEl>
                                          </p:spTgt>
                                        </p:tgtEl>
                                        <p:attrNameLst>
                                          <p:attrName>style.visibility</p:attrName>
                                        </p:attrNameLst>
                                      </p:cBhvr>
                                      <p:to>
                                        <p:strVal val="visible"/>
                                      </p:to>
                                    </p:set>
                                    <p:anim calcmode="lin" valueType="num">
                                      <p:cBhvr>
                                        <p:cTn id="98" dur="1000" fill="hold"/>
                                        <p:tgtEl>
                                          <p:spTgt spid="13">
                                            <p:txEl>
                                              <p:pRg st="0" end="0"/>
                                            </p:txEl>
                                          </p:spTgt>
                                        </p:tgtEl>
                                        <p:attrNameLst>
                                          <p:attrName>ppt_w</p:attrName>
                                        </p:attrNameLst>
                                      </p:cBhvr>
                                      <p:tavLst>
                                        <p:tav tm="0">
                                          <p:val>
                                            <p:fltVal val="0"/>
                                          </p:val>
                                        </p:tav>
                                        <p:tav tm="100000">
                                          <p:val>
                                            <p:strVal val="#ppt_w"/>
                                          </p:val>
                                        </p:tav>
                                      </p:tavLst>
                                    </p:anim>
                                    <p:anim calcmode="lin" valueType="num">
                                      <p:cBhvr>
                                        <p:cTn id="99" dur="1000" fill="hold"/>
                                        <p:tgtEl>
                                          <p:spTgt spid="13">
                                            <p:txEl>
                                              <p:pRg st="0" end="0"/>
                                            </p:txEl>
                                          </p:spTgt>
                                        </p:tgtEl>
                                        <p:attrNameLst>
                                          <p:attrName>ppt_h</p:attrName>
                                        </p:attrNameLst>
                                      </p:cBhvr>
                                      <p:tavLst>
                                        <p:tav tm="0">
                                          <p:val>
                                            <p:fltVal val="0"/>
                                          </p:val>
                                        </p:tav>
                                        <p:tav tm="100000">
                                          <p:val>
                                            <p:strVal val="#ppt_h"/>
                                          </p:val>
                                        </p:tav>
                                      </p:tavLst>
                                    </p:anim>
                                    <p:anim calcmode="lin" valueType="num">
                                      <p:cBhvr>
                                        <p:cTn id="100" dur="1000" fill="hold"/>
                                        <p:tgtEl>
                                          <p:spTgt spid="13">
                                            <p:txEl>
                                              <p:pRg st="0" end="0"/>
                                            </p:txEl>
                                          </p:spTgt>
                                        </p:tgtEl>
                                        <p:attrNameLst>
                                          <p:attrName>style.rotation</p:attrName>
                                        </p:attrNameLst>
                                      </p:cBhvr>
                                      <p:tavLst>
                                        <p:tav tm="0">
                                          <p:val>
                                            <p:fltVal val="90"/>
                                          </p:val>
                                        </p:tav>
                                        <p:tav tm="100000">
                                          <p:val>
                                            <p:fltVal val="0"/>
                                          </p:val>
                                        </p:tav>
                                      </p:tavLst>
                                    </p:anim>
                                    <p:animEffect transition="in" filter="fade">
                                      <p:cBhvr>
                                        <p:cTn id="101" dur="1000"/>
                                        <p:tgtEl>
                                          <p:spTgt spid="13">
                                            <p:txEl>
                                              <p:pRg st="0" end="0"/>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31" presetClass="entr" presetSubtype="0" fill="hold" grpId="0" nodeType="clickEffect">
                                  <p:stCondLst>
                                    <p:cond delay="0"/>
                                  </p:stCondLst>
                                  <p:childTnLst>
                                    <p:set>
                                      <p:cBhvr>
                                        <p:cTn id="105" dur="1" fill="hold">
                                          <p:stCondLst>
                                            <p:cond delay="0"/>
                                          </p:stCondLst>
                                        </p:cTn>
                                        <p:tgtEl>
                                          <p:spTgt spid="2"/>
                                        </p:tgtEl>
                                        <p:attrNameLst>
                                          <p:attrName>style.visibility</p:attrName>
                                        </p:attrNameLst>
                                      </p:cBhvr>
                                      <p:to>
                                        <p:strVal val="visible"/>
                                      </p:to>
                                    </p:set>
                                    <p:anim calcmode="lin" valueType="num">
                                      <p:cBhvr>
                                        <p:cTn id="106" dur="1000" fill="hold"/>
                                        <p:tgtEl>
                                          <p:spTgt spid="2"/>
                                        </p:tgtEl>
                                        <p:attrNameLst>
                                          <p:attrName>ppt_w</p:attrName>
                                        </p:attrNameLst>
                                      </p:cBhvr>
                                      <p:tavLst>
                                        <p:tav tm="0">
                                          <p:val>
                                            <p:fltVal val="0"/>
                                          </p:val>
                                        </p:tav>
                                        <p:tav tm="100000">
                                          <p:val>
                                            <p:strVal val="#ppt_w"/>
                                          </p:val>
                                        </p:tav>
                                      </p:tavLst>
                                    </p:anim>
                                    <p:anim calcmode="lin" valueType="num">
                                      <p:cBhvr>
                                        <p:cTn id="107" dur="1000" fill="hold"/>
                                        <p:tgtEl>
                                          <p:spTgt spid="2"/>
                                        </p:tgtEl>
                                        <p:attrNameLst>
                                          <p:attrName>ppt_h</p:attrName>
                                        </p:attrNameLst>
                                      </p:cBhvr>
                                      <p:tavLst>
                                        <p:tav tm="0">
                                          <p:val>
                                            <p:fltVal val="0"/>
                                          </p:val>
                                        </p:tav>
                                        <p:tav tm="100000">
                                          <p:val>
                                            <p:strVal val="#ppt_h"/>
                                          </p:val>
                                        </p:tav>
                                      </p:tavLst>
                                    </p:anim>
                                    <p:anim calcmode="lin" valueType="num">
                                      <p:cBhvr>
                                        <p:cTn id="108" dur="1000" fill="hold"/>
                                        <p:tgtEl>
                                          <p:spTgt spid="2"/>
                                        </p:tgtEl>
                                        <p:attrNameLst>
                                          <p:attrName>style.rotation</p:attrName>
                                        </p:attrNameLst>
                                      </p:cBhvr>
                                      <p:tavLst>
                                        <p:tav tm="0">
                                          <p:val>
                                            <p:fltVal val="90"/>
                                          </p:val>
                                        </p:tav>
                                        <p:tav tm="100000">
                                          <p:val>
                                            <p:fltVal val="0"/>
                                          </p:val>
                                        </p:tav>
                                      </p:tavLst>
                                    </p:anim>
                                    <p:animEffect transition="in" filter="fade">
                                      <p:cBhvr>
                                        <p:cTn id="10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a:xfrm>
            <a:off x="6158273" y="1609436"/>
            <a:ext cx="5306140" cy="4114800"/>
          </a:xfrm>
        </p:spPr>
        <p:txBody>
          <a:bodyPr/>
          <a:lstStyle/>
          <a:p>
            <a:pPr marL="0" indent="0">
              <a:buNone/>
            </a:pPr>
            <a:r>
              <a:rPr lang="zh-CN" altLang="en-US" sz="2400" b="1" dirty="0"/>
              <a:t>对话回合</a:t>
            </a:r>
            <a:r>
              <a:rPr lang="en-US" altLang="zh-CN" sz="2400" b="1" dirty="0"/>
              <a:t>1</a:t>
            </a:r>
            <a:r>
              <a:rPr lang="zh-CN" altLang="en-US" sz="2400" b="1" dirty="0"/>
              <a:t>：</a:t>
            </a:r>
            <a:endParaRPr lang="en-US" altLang="zh-CN" sz="2400" b="1" dirty="0"/>
          </a:p>
          <a:p>
            <a:r>
              <a:rPr lang="zh-CN" altLang="en-US" sz="2400" b="1" dirty="0"/>
              <a:t>苏格拉底：西蒙尼代的话不可能是说，“欠了别人的就要还”，如果这个人疯了，我们就不能把武器归还给他。换句话说，“说真话，有债就还”不是对西蒙尼代的正确解释。那么西蒙尼代的话是什么意思呢？</a:t>
            </a:r>
            <a:endParaRPr lang="en-US" altLang="zh-CN" sz="2400" b="1" dirty="0"/>
          </a:p>
          <a:p>
            <a:r>
              <a:rPr lang="zh-CN" altLang="en-US" sz="2400" b="1" dirty="0"/>
              <a:t>波策马尔科：西蒙尼代的意思是，</a:t>
            </a:r>
            <a:r>
              <a:rPr lang="zh-CN" altLang="en-US" sz="2400" b="1" dirty="0">
                <a:solidFill>
                  <a:srgbClr val="FF0000"/>
                </a:solidFill>
              </a:rPr>
              <a:t>帮助朋友，伤害敌人（扶友损敌）就是正义。</a:t>
            </a:r>
            <a:endParaRPr lang="en-US" altLang="zh-CN" sz="2400" b="1" dirty="0">
              <a:solidFill>
                <a:srgbClr val="FF0000"/>
              </a:solidFill>
            </a:endParaRPr>
          </a:p>
          <a:p>
            <a:r>
              <a:rPr lang="zh-CN" altLang="en-US" sz="2400" b="1" dirty="0"/>
              <a:t>（扶友损敌实际是传统古希腊伦理）</a:t>
            </a:r>
            <a:endParaRPr lang="en-US" altLang="zh-CN" sz="2400" b="1" dirty="0"/>
          </a:p>
          <a:p>
            <a:pPr marL="0" indent="0">
              <a:buNone/>
            </a:pPr>
            <a:endParaRPr lang="en-US" altLang="zh-CN" sz="2400" b="1" dirty="0"/>
          </a:p>
          <a:p>
            <a:endParaRPr lang="zh-CN" altLang="en-US" dirty="0"/>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364" y="72940"/>
            <a:ext cx="5391150" cy="6785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flipV="1">
            <a:off x="3556000" y="3380509"/>
            <a:ext cx="1200727" cy="923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406400" y="3657600"/>
            <a:ext cx="4350327" cy="9236"/>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154545" y="6548582"/>
            <a:ext cx="351905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49745" y="6779491"/>
            <a:ext cx="1653310" cy="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9851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randombar(horizontal)">
                                      <p:cBhvr>
                                        <p:cTn id="7" dur="500"/>
                                        <p:tgtEl>
                                          <p:spTgt spid="17410"/>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heel(1)">
                                      <p:cBhvr>
                                        <p:cTn id="12" dur="2000"/>
                                        <p:tgtEl>
                                          <p:spTgt spid="4">
                                            <p:txEl>
                                              <p:pRg st="0" end="0"/>
                                            </p:txEl>
                                          </p:spTgt>
                                        </p:tgtEl>
                                      </p:cBhvr>
                                    </p:animEffect>
                                  </p:childTnLst>
                                </p:cTn>
                              </p:par>
                              <p:par>
                                <p:cTn id="13" presetID="21" presetClass="entr" presetSubtype="1"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wheel(1)">
                                      <p:cBhvr>
                                        <p:cTn id="15" dur="2000"/>
                                        <p:tgtEl>
                                          <p:spTgt spid="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1000" fill="hold"/>
                                        <p:tgtEl>
                                          <p:spTgt spid="6"/>
                                        </p:tgtEl>
                                        <p:attrNameLst>
                                          <p:attrName>ppt_w</p:attrName>
                                        </p:attrNameLst>
                                      </p:cBhvr>
                                      <p:tavLst>
                                        <p:tav tm="0">
                                          <p:val>
                                            <p:fltVal val="0"/>
                                          </p:val>
                                        </p:tav>
                                        <p:tav tm="100000">
                                          <p:val>
                                            <p:strVal val="#ppt_w"/>
                                          </p:val>
                                        </p:tav>
                                      </p:tavLst>
                                    </p:anim>
                                    <p:anim calcmode="lin" valueType="num">
                                      <p:cBhvr>
                                        <p:cTn id="21" dur="1000" fill="hold"/>
                                        <p:tgtEl>
                                          <p:spTgt spid="6"/>
                                        </p:tgtEl>
                                        <p:attrNameLst>
                                          <p:attrName>ppt_h</p:attrName>
                                        </p:attrNameLst>
                                      </p:cBhvr>
                                      <p:tavLst>
                                        <p:tav tm="0">
                                          <p:val>
                                            <p:fltVal val="0"/>
                                          </p:val>
                                        </p:tav>
                                        <p:tav tm="100000">
                                          <p:val>
                                            <p:strVal val="#ppt_h"/>
                                          </p:val>
                                        </p:tav>
                                      </p:tavLst>
                                    </p:anim>
                                    <p:anim calcmode="lin" valueType="num">
                                      <p:cBhvr>
                                        <p:cTn id="22" dur="1000" fill="hold"/>
                                        <p:tgtEl>
                                          <p:spTgt spid="6"/>
                                        </p:tgtEl>
                                        <p:attrNameLst>
                                          <p:attrName>style.rotation</p:attrName>
                                        </p:attrNameLst>
                                      </p:cBhvr>
                                      <p:tavLst>
                                        <p:tav tm="0">
                                          <p:val>
                                            <p:fltVal val="90"/>
                                          </p:val>
                                        </p:tav>
                                        <p:tav tm="100000">
                                          <p:val>
                                            <p:fltVal val="0"/>
                                          </p:val>
                                        </p:tav>
                                      </p:tavLst>
                                    </p:anim>
                                    <p:animEffect transition="in" filter="fade">
                                      <p:cBhvr>
                                        <p:cTn id="23" dur="10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1000" fill="hold"/>
                                        <p:tgtEl>
                                          <p:spTgt spid="8"/>
                                        </p:tgtEl>
                                        <p:attrNameLst>
                                          <p:attrName>ppt_w</p:attrName>
                                        </p:attrNameLst>
                                      </p:cBhvr>
                                      <p:tavLst>
                                        <p:tav tm="0">
                                          <p:val>
                                            <p:fltVal val="0"/>
                                          </p:val>
                                        </p:tav>
                                        <p:tav tm="100000">
                                          <p:val>
                                            <p:strVal val="#ppt_w"/>
                                          </p:val>
                                        </p:tav>
                                      </p:tavLst>
                                    </p:anim>
                                    <p:anim calcmode="lin" valueType="num">
                                      <p:cBhvr>
                                        <p:cTn id="29" dur="1000" fill="hold"/>
                                        <p:tgtEl>
                                          <p:spTgt spid="8"/>
                                        </p:tgtEl>
                                        <p:attrNameLst>
                                          <p:attrName>ppt_h</p:attrName>
                                        </p:attrNameLst>
                                      </p:cBhvr>
                                      <p:tavLst>
                                        <p:tav tm="0">
                                          <p:val>
                                            <p:fltVal val="0"/>
                                          </p:val>
                                        </p:tav>
                                        <p:tav tm="100000">
                                          <p:val>
                                            <p:strVal val="#ppt_h"/>
                                          </p:val>
                                        </p:tav>
                                      </p:tavLst>
                                    </p:anim>
                                    <p:anim calcmode="lin" valueType="num">
                                      <p:cBhvr>
                                        <p:cTn id="30" dur="1000" fill="hold"/>
                                        <p:tgtEl>
                                          <p:spTgt spid="8"/>
                                        </p:tgtEl>
                                        <p:attrNameLst>
                                          <p:attrName>style.rotation</p:attrName>
                                        </p:attrNameLst>
                                      </p:cBhvr>
                                      <p:tavLst>
                                        <p:tav tm="0">
                                          <p:val>
                                            <p:fltVal val="90"/>
                                          </p:val>
                                        </p:tav>
                                        <p:tav tm="100000">
                                          <p:val>
                                            <p:fltVal val="0"/>
                                          </p:val>
                                        </p:tav>
                                      </p:tavLst>
                                    </p:anim>
                                    <p:animEffect transition="in" filter="fade">
                                      <p:cBhvr>
                                        <p:cTn id="31" dur="10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p:cTn id="36" dur="1000" fill="hold"/>
                                        <p:tgtEl>
                                          <p:spTgt spid="10"/>
                                        </p:tgtEl>
                                        <p:attrNameLst>
                                          <p:attrName>ppt_w</p:attrName>
                                        </p:attrNameLst>
                                      </p:cBhvr>
                                      <p:tavLst>
                                        <p:tav tm="0">
                                          <p:val>
                                            <p:fltVal val="0"/>
                                          </p:val>
                                        </p:tav>
                                        <p:tav tm="100000">
                                          <p:val>
                                            <p:strVal val="#ppt_w"/>
                                          </p:val>
                                        </p:tav>
                                      </p:tavLst>
                                    </p:anim>
                                    <p:anim calcmode="lin" valueType="num">
                                      <p:cBhvr>
                                        <p:cTn id="37" dur="1000" fill="hold"/>
                                        <p:tgtEl>
                                          <p:spTgt spid="10"/>
                                        </p:tgtEl>
                                        <p:attrNameLst>
                                          <p:attrName>ppt_h</p:attrName>
                                        </p:attrNameLst>
                                      </p:cBhvr>
                                      <p:tavLst>
                                        <p:tav tm="0">
                                          <p:val>
                                            <p:fltVal val="0"/>
                                          </p:val>
                                        </p:tav>
                                        <p:tav tm="100000">
                                          <p:val>
                                            <p:strVal val="#ppt_h"/>
                                          </p:val>
                                        </p:tav>
                                      </p:tavLst>
                                    </p:anim>
                                    <p:anim calcmode="lin" valueType="num">
                                      <p:cBhvr>
                                        <p:cTn id="38" dur="1000" fill="hold"/>
                                        <p:tgtEl>
                                          <p:spTgt spid="10"/>
                                        </p:tgtEl>
                                        <p:attrNameLst>
                                          <p:attrName>style.rotation</p:attrName>
                                        </p:attrNameLst>
                                      </p:cBhvr>
                                      <p:tavLst>
                                        <p:tav tm="0">
                                          <p:val>
                                            <p:fltVal val="90"/>
                                          </p:val>
                                        </p:tav>
                                        <p:tav tm="100000">
                                          <p:val>
                                            <p:fltVal val="0"/>
                                          </p:val>
                                        </p:tav>
                                      </p:tavLst>
                                    </p:anim>
                                    <p:animEffect transition="in" filter="fade">
                                      <p:cBhvr>
                                        <p:cTn id="39" dur="10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31" presetClass="entr" presetSubtype="0" fill="hold" nodeType="click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p:cTn id="44" dur="1000" fill="hold"/>
                                        <p:tgtEl>
                                          <p:spTgt spid="12"/>
                                        </p:tgtEl>
                                        <p:attrNameLst>
                                          <p:attrName>ppt_w</p:attrName>
                                        </p:attrNameLst>
                                      </p:cBhvr>
                                      <p:tavLst>
                                        <p:tav tm="0">
                                          <p:val>
                                            <p:fltVal val="0"/>
                                          </p:val>
                                        </p:tav>
                                        <p:tav tm="100000">
                                          <p:val>
                                            <p:strVal val="#ppt_w"/>
                                          </p:val>
                                        </p:tav>
                                      </p:tavLst>
                                    </p:anim>
                                    <p:anim calcmode="lin" valueType="num">
                                      <p:cBhvr>
                                        <p:cTn id="45" dur="1000" fill="hold"/>
                                        <p:tgtEl>
                                          <p:spTgt spid="12"/>
                                        </p:tgtEl>
                                        <p:attrNameLst>
                                          <p:attrName>ppt_h</p:attrName>
                                        </p:attrNameLst>
                                      </p:cBhvr>
                                      <p:tavLst>
                                        <p:tav tm="0">
                                          <p:val>
                                            <p:fltVal val="0"/>
                                          </p:val>
                                        </p:tav>
                                        <p:tav tm="100000">
                                          <p:val>
                                            <p:strVal val="#ppt_h"/>
                                          </p:val>
                                        </p:tav>
                                      </p:tavLst>
                                    </p:anim>
                                    <p:anim calcmode="lin" valueType="num">
                                      <p:cBhvr>
                                        <p:cTn id="46" dur="1000" fill="hold"/>
                                        <p:tgtEl>
                                          <p:spTgt spid="12"/>
                                        </p:tgtEl>
                                        <p:attrNameLst>
                                          <p:attrName>style.rotation</p:attrName>
                                        </p:attrNameLst>
                                      </p:cBhvr>
                                      <p:tavLst>
                                        <p:tav tm="0">
                                          <p:val>
                                            <p:fltVal val="90"/>
                                          </p:val>
                                        </p:tav>
                                        <p:tav tm="100000">
                                          <p:val>
                                            <p:fltVal val="0"/>
                                          </p:val>
                                        </p:tav>
                                      </p:tavLst>
                                    </p:anim>
                                    <p:animEffect transition="in" filter="fade">
                                      <p:cBhvr>
                                        <p:cTn id="47" dur="10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nodeType="clickEffect">
                                  <p:stCondLst>
                                    <p:cond delay="0"/>
                                  </p:stCondLst>
                                  <p:childTnLst>
                                    <p:set>
                                      <p:cBhvr>
                                        <p:cTn id="51" dur="1" fill="hold">
                                          <p:stCondLst>
                                            <p:cond delay="0"/>
                                          </p:stCondLst>
                                        </p:cTn>
                                        <p:tgtEl>
                                          <p:spTgt spid="4">
                                            <p:txEl>
                                              <p:pRg st="2" end="2"/>
                                            </p:txEl>
                                          </p:spTgt>
                                        </p:tgtEl>
                                        <p:attrNameLst>
                                          <p:attrName>style.visibility</p:attrName>
                                        </p:attrNameLst>
                                      </p:cBhvr>
                                      <p:to>
                                        <p:strVal val="visible"/>
                                      </p:to>
                                    </p:set>
                                    <p:animEffect transition="in" filter="circle(in)">
                                      <p:cBhvr>
                                        <p:cTn id="52" dur="2000"/>
                                        <p:tgtEl>
                                          <p:spTgt spid="4">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nodeType="clickEffect">
                                  <p:stCondLst>
                                    <p:cond delay="0"/>
                                  </p:stCondLst>
                                  <p:childTnLst>
                                    <p:set>
                                      <p:cBhvr>
                                        <p:cTn id="56" dur="1" fill="hold">
                                          <p:stCondLst>
                                            <p:cond delay="0"/>
                                          </p:stCondLst>
                                        </p:cTn>
                                        <p:tgtEl>
                                          <p:spTgt spid="4">
                                            <p:txEl>
                                              <p:pRg st="3" end="3"/>
                                            </p:txEl>
                                          </p:spTgt>
                                        </p:tgtEl>
                                        <p:attrNameLst>
                                          <p:attrName>style.visibility</p:attrName>
                                        </p:attrNameLst>
                                      </p:cBhvr>
                                      <p:to>
                                        <p:strVal val="visible"/>
                                      </p:to>
                                    </p:set>
                                    <p:animEffect transition="in" filter="circle(in)">
                                      <p:cBhvr>
                                        <p:cTn id="57" dur="2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normAutofit fontScale="70000" lnSpcReduction="20000"/>
          </a:bodyPr>
          <a:lstStyle/>
          <a:p>
            <a:r>
              <a:rPr lang="zh-CN" altLang="en-US" b="1" dirty="0"/>
              <a:t>苏格拉底的反驳：</a:t>
            </a:r>
            <a:endParaRPr lang="en-US" altLang="zh-CN" b="1" dirty="0"/>
          </a:p>
          <a:p>
            <a:r>
              <a:rPr lang="zh-CN" altLang="en-US" b="1" dirty="0"/>
              <a:t>医学的技艺是一种把什么该负的归还给什么的技艺呢？</a:t>
            </a:r>
            <a:endParaRPr lang="en-US" altLang="zh-CN" b="1" dirty="0"/>
          </a:p>
          <a:p>
            <a:r>
              <a:rPr lang="zh-CN" altLang="en-US" b="1" dirty="0"/>
              <a:t>烹饪的技艺是一种把什么该负的归还给什么的技艺呢？</a:t>
            </a:r>
            <a:endParaRPr lang="en-US" altLang="zh-CN" b="1" dirty="0"/>
          </a:p>
          <a:p>
            <a:r>
              <a:rPr lang="zh-CN" altLang="en-US" b="1" dirty="0"/>
              <a:t>（苏格拉底的潜台词是：把该负的归还给人的，是一种技艺。所以他用了医学、烹饪</a:t>
            </a:r>
            <a:r>
              <a:rPr lang="en-US" altLang="zh-CN" b="1" dirty="0"/>
              <a:t>……</a:t>
            </a:r>
            <a:r>
              <a:rPr lang="zh-CN" altLang="en-US" b="1" dirty="0"/>
              <a:t>航海</a:t>
            </a:r>
            <a:r>
              <a:rPr lang="en-US" altLang="zh-CN" b="1" dirty="0"/>
              <a:t>……</a:t>
            </a:r>
            <a:r>
              <a:rPr lang="zh-CN" altLang="en-US" b="1" dirty="0"/>
              <a:t>等等做例子。但问题是：</a:t>
            </a:r>
            <a:r>
              <a:rPr lang="zh-CN" altLang="en-US" b="1" dirty="0">
                <a:solidFill>
                  <a:srgbClr val="FF0000"/>
                </a:solidFill>
              </a:rPr>
              <a:t>正义是一种技艺吗</a:t>
            </a:r>
            <a:r>
              <a:rPr lang="zh-CN" altLang="en-US" b="1" dirty="0"/>
              <a:t>？将正义等同于一种技艺，会有什么后果呢？）</a:t>
            </a:r>
            <a:endParaRPr lang="en-US" altLang="zh-CN" b="1" dirty="0"/>
          </a:p>
          <a:p>
            <a:r>
              <a:rPr lang="zh-CN" altLang="en-US" b="1" dirty="0"/>
              <a:t>波策马尔科坚持：</a:t>
            </a:r>
            <a:endParaRPr lang="en-US" altLang="zh-CN" b="1" dirty="0"/>
          </a:p>
          <a:p>
            <a:r>
              <a:rPr lang="zh-CN" altLang="en-US" b="1" dirty="0"/>
              <a:t>正义是把利益归之于朋友，把损害归之于敌人的技艺。</a:t>
            </a:r>
          </a:p>
        </p:txBody>
      </p:sp>
      <p:sp>
        <p:nvSpPr>
          <p:cNvPr id="4" name="Content Placeholder 3"/>
          <p:cNvSpPr>
            <a:spLocks noGrp="1"/>
          </p:cNvSpPr>
          <p:nvPr>
            <p:ph sz="half" idx="2"/>
          </p:nvPr>
        </p:nvSpPr>
        <p:spPr/>
        <p:txBody>
          <a:bodyPr>
            <a:normAutofit fontScale="70000" lnSpcReduction="20000"/>
          </a:bodyPr>
          <a:lstStyle/>
          <a:p>
            <a:endParaRPr lang="zh-CN" altLang="en-US"/>
          </a:p>
        </p:txBody>
      </p:sp>
      <p:pic>
        <p:nvPicPr>
          <p:cNvPr id="5" name="图片 4">
            <a:extLst>
              <a:ext uri="{FF2B5EF4-FFF2-40B4-BE49-F238E27FC236}">
                <a16:creationId xmlns:a16="http://schemas.microsoft.com/office/drawing/2014/main" id="{9736FF9D-95EE-4518-B9DF-37128F32E177}"/>
              </a:ext>
            </a:extLst>
          </p:cNvPr>
          <p:cNvPicPr>
            <a:picLocks noChangeAspect="1"/>
          </p:cNvPicPr>
          <p:nvPr/>
        </p:nvPicPr>
        <p:blipFill>
          <a:blip r:embed="rId2"/>
          <a:stretch>
            <a:fillRect/>
          </a:stretch>
        </p:blipFill>
        <p:spPr>
          <a:xfrm>
            <a:off x="5964116" y="276225"/>
            <a:ext cx="5562600" cy="6305550"/>
          </a:xfrm>
          <a:prstGeom prst="rect">
            <a:avLst/>
          </a:prstGeom>
        </p:spPr>
      </p:pic>
      <p:pic>
        <p:nvPicPr>
          <p:cNvPr id="7" name="图片 6">
            <a:extLst>
              <a:ext uri="{FF2B5EF4-FFF2-40B4-BE49-F238E27FC236}">
                <a16:creationId xmlns:a16="http://schemas.microsoft.com/office/drawing/2014/main" id="{10A9F098-77B9-4309-81D6-B6CA3511C577}"/>
              </a:ext>
            </a:extLst>
          </p:cNvPr>
          <p:cNvPicPr>
            <a:picLocks noChangeAspect="1"/>
          </p:cNvPicPr>
          <p:nvPr/>
        </p:nvPicPr>
        <p:blipFill>
          <a:blip r:embed="rId3"/>
          <a:stretch>
            <a:fillRect/>
          </a:stretch>
        </p:blipFill>
        <p:spPr>
          <a:xfrm>
            <a:off x="7610071" y="4473979"/>
            <a:ext cx="3286029" cy="85351"/>
          </a:xfrm>
          <a:prstGeom prst="rect">
            <a:avLst/>
          </a:prstGeom>
        </p:spPr>
      </p:pic>
    </p:spTree>
    <p:extLst>
      <p:ext uri="{BB962C8B-B14F-4D97-AF65-F5344CB8AC3E}">
        <p14:creationId xmlns:p14="http://schemas.microsoft.com/office/powerpoint/2010/main" val="186396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circle(in)">
                                      <p:cBhvr>
                                        <p:cTn id="10" dur="20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circle(in)">
                                      <p:cBhvr>
                                        <p:cTn id="15" dur="20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circle(in)">
                                      <p:cBhvr>
                                        <p:cTn id="20" dur="20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circle(in)">
                                      <p:cBhvr>
                                        <p:cTn id="25" dur="20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circle(in)">
                                      <p:cBhvr>
                                        <p:cTn id="30"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技艺与技艺论证</a:t>
            </a:r>
          </a:p>
        </p:txBody>
      </p:sp>
      <p:sp>
        <p:nvSpPr>
          <p:cNvPr id="3" name="Content Placeholder 2"/>
          <p:cNvSpPr>
            <a:spLocks noGrp="1"/>
          </p:cNvSpPr>
          <p:nvPr>
            <p:ph sz="half" idx="1"/>
          </p:nvPr>
        </p:nvSpPr>
        <p:spPr/>
        <p:txBody>
          <a:bodyPr/>
          <a:lstStyle/>
          <a:p>
            <a:r>
              <a:rPr lang="en-US" altLang="zh-CN" dirty="0"/>
              <a:t>                           </a:t>
            </a:r>
          </a:p>
          <a:p>
            <a:r>
              <a:rPr lang="en-US" altLang="zh-CN" dirty="0"/>
              <a:t> </a:t>
            </a:r>
            <a:r>
              <a:rPr lang="zh-CN" altLang="en-US" sz="2400" b="1" dirty="0"/>
              <a:t>“技艺”在古希腊的含义是，制造或获得某事物的技巧，尤其是原则或方法。因此技艺可以是艺术（</a:t>
            </a:r>
            <a:r>
              <a:rPr lang="en-US" altLang="zh-CN" sz="2400" b="1" dirty="0"/>
              <a:t>art</a:t>
            </a:r>
            <a:r>
              <a:rPr lang="zh-CN" altLang="en-US" sz="2400" b="1" dirty="0"/>
              <a:t>），技术（</a:t>
            </a:r>
            <a:r>
              <a:rPr lang="en-US" altLang="zh-CN" sz="2400" b="1" dirty="0"/>
              <a:t>craft</a:t>
            </a:r>
            <a:r>
              <a:rPr lang="zh-CN" altLang="en-US" sz="2400" b="1" dirty="0"/>
              <a:t>），或者原则</a:t>
            </a:r>
            <a:r>
              <a:rPr lang="en-US" altLang="zh-CN" sz="2400" b="1" dirty="0"/>
              <a:t>/</a:t>
            </a:r>
            <a:r>
              <a:rPr lang="zh-CN" altLang="en-US" sz="2400" b="1" dirty="0"/>
              <a:t>方法（</a:t>
            </a:r>
            <a:r>
              <a:rPr lang="en-US" altLang="zh-CN" sz="2400" b="1" dirty="0"/>
              <a:t>discipline</a:t>
            </a:r>
            <a:r>
              <a:rPr lang="zh-CN" altLang="en-US" sz="2400" b="1" dirty="0"/>
              <a:t>）。</a:t>
            </a:r>
            <a:endParaRPr lang="en-US" altLang="zh-CN" sz="2400" b="1" dirty="0"/>
          </a:p>
          <a:p>
            <a:r>
              <a:rPr lang="zh-CN" altLang="en-US" sz="2400" b="1" dirty="0"/>
              <a:t>当正义被定义为“该负于人的，归还于人”时，正义就变成了一种因人而异，区别对待的技巧。</a:t>
            </a:r>
            <a:r>
              <a:rPr lang="en-US" altLang="zh-CN" sz="2400" b="1" dirty="0"/>
              <a:t> </a:t>
            </a:r>
            <a:r>
              <a:rPr lang="zh-CN" altLang="en-US" sz="2400" b="1" dirty="0"/>
              <a:t>所以苏格拉底在这里使用了技艺论证来鉴别正义（德性）是否一种技艺。</a:t>
            </a:r>
            <a:r>
              <a:rPr lang="en-US" altLang="zh-CN" sz="2400" b="1" dirty="0"/>
              <a:t>                                 </a:t>
            </a:r>
            <a:endParaRPr lang="zh-CN" altLang="en-US" sz="2400" b="1" dirty="0"/>
          </a:p>
        </p:txBody>
      </p:sp>
      <p:sp>
        <p:nvSpPr>
          <p:cNvPr id="4" name="Content Placeholder 3"/>
          <p:cNvSpPr>
            <a:spLocks noGrp="1"/>
          </p:cNvSpPr>
          <p:nvPr>
            <p:ph sz="half" idx="2"/>
          </p:nvPr>
        </p:nvSpPr>
        <p:spPr>
          <a:xfrm>
            <a:off x="6518786" y="1981200"/>
            <a:ext cx="4758813" cy="4114800"/>
          </a:xfrm>
        </p:spPr>
        <p:txBody>
          <a:bodyPr/>
          <a:lstStyle/>
          <a:p>
            <a:r>
              <a:rPr lang="zh-CN" altLang="en-US" sz="2400" b="1" dirty="0"/>
              <a:t>那么，正义如果是因人而异，区别对待的技巧，会带来什么后果呢？</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822" y="1692905"/>
            <a:ext cx="2238375" cy="55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1676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circle(in)">
                                      <p:cBhvr>
                                        <p:cTn id="7" dur="20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6" presetClass="entr" presetSubtype="0" fill="hold"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wipe(down)">
                                      <p:cBhvr>
                                        <p:cTn id="22" dur="580">
                                          <p:stCondLst>
                                            <p:cond delay="0"/>
                                          </p:stCondLst>
                                        </p:cTn>
                                        <p:tgtEl>
                                          <p:spTgt spid="4">
                                            <p:txEl>
                                              <p:pRg st="0" end="0"/>
                                            </p:txEl>
                                          </p:spTgt>
                                        </p:tgtEl>
                                      </p:cBhvr>
                                    </p:animEffect>
                                    <p:anim calcmode="lin" valueType="num">
                                      <p:cBhvr>
                                        <p:cTn id="23" dur="1822" tmFilter="0,0; 0.14,0.36; 0.43,0.73; 0.71,0.91; 1.0,1.0">
                                          <p:stCondLst>
                                            <p:cond delay="0"/>
                                          </p:stCondLst>
                                        </p:cTn>
                                        <p:tgtEl>
                                          <p:spTgt spid="4">
                                            <p:txEl>
                                              <p:pRg st="0" end="0"/>
                                            </p:txEl>
                                          </p:spTgt>
                                        </p:tgtEl>
                                        <p:attrNameLst>
                                          <p:attrName>ppt_x</p:attrName>
                                        </p:attrNameLst>
                                      </p:cBhvr>
                                      <p:tavLst>
                                        <p:tav tm="0">
                                          <p:val>
                                            <p:strVal val="#ppt_x-0.25"/>
                                          </p:val>
                                        </p:tav>
                                        <p:tav tm="100000">
                                          <p:val>
                                            <p:strVal val="#ppt_x"/>
                                          </p:val>
                                        </p:tav>
                                      </p:tavLst>
                                    </p:anim>
                                    <p:anim calcmode="lin" valueType="num">
                                      <p:cBhvr>
                                        <p:cTn id="24" dur="664" tmFilter="0.0,0.0; 0.25,0.07; 0.50,0.2; 0.75,0.467; 1.0,1.0">
                                          <p:stCondLst>
                                            <p:cond delay="0"/>
                                          </p:stCondLst>
                                        </p:cTn>
                                        <p:tgtEl>
                                          <p:spTgt spid="4">
                                            <p:txEl>
                                              <p:pRg st="0" end="0"/>
                                            </p:txEl>
                                          </p:spTgt>
                                        </p:tgtEl>
                                        <p:attrNameLst>
                                          <p:attrName>ppt_y</p:attrName>
                                        </p:attrNameLst>
                                      </p:cBhvr>
                                      <p:tavLst>
                                        <p:tav tm="0" fmla="#ppt_y-sin(pi*$)/3">
                                          <p:val>
                                            <p:fltVal val="0.5"/>
                                          </p:val>
                                        </p:tav>
                                        <p:tav tm="100000">
                                          <p:val>
                                            <p:fltVal val="1"/>
                                          </p:val>
                                        </p:tav>
                                      </p:tavLst>
                                    </p:anim>
                                    <p:anim calcmode="lin" valueType="num">
                                      <p:cBhvr>
                                        <p:cTn id="25" dur="664" tmFilter="0, 0; 0.125,0.2665; 0.25,0.4; 0.375,0.465; 0.5,0.5;  0.625,0.535; 0.75,0.6; 0.875,0.7335; 1,1">
                                          <p:stCondLst>
                                            <p:cond delay="664"/>
                                          </p:stCondLst>
                                        </p:cTn>
                                        <p:tgtEl>
                                          <p:spTgt spid="4">
                                            <p:txEl>
                                              <p:pRg st="0" end="0"/>
                                            </p:txEl>
                                          </p:spTgt>
                                        </p:tgtEl>
                                        <p:attrNameLst>
                                          <p:attrName>ppt_y</p:attrName>
                                        </p:attrNameLst>
                                      </p:cBhvr>
                                      <p:tavLst>
                                        <p:tav tm="0" fmla="#ppt_y-sin(pi*$)/9">
                                          <p:val>
                                            <p:fltVal val="0"/>
                                          </p:val>
                                        </p:tav>
                                        <p:tav tm="100000">
                                          <p:val>
                                            <p:fltVal val="1"/>
                                          </p:val>
                                        </p:tav>
                                      </p:tavLst>
                                    </p:anim>
                                    <p:anim calcmode="lin" valueType="num">
                                      <p:cBhvr>
                                        <p:cTn id="26" dur="332" tmFilter="0, 0; 0.125,0.2665; 0.25,0.4; 0.375,0.465; 0.5,0.5;  0.625,0.535; 0.75,0.6; 0.875,0.7335; 1,1">
                                          <p:stCondLst>
                                            <p:cond delay="1324"/>
                                          </p:stCondLst>
                                        </p:cTn>
                                        <p:tgtEl>
                                          <p:spTgt spid="4">
                                            <p:txEl>
                                              <p:pRg st="0" end="0"/>
                                            </p:txEl>
                                          </p:spTgt>
                                        </p:tgtEl>
                                        <p:attrNameLst>
                                          <p:attrName>ppt_y</p:attrName>
                                        </p:attrNameLst>
                                      </p:cBhvr>
                                      <p:tavLst>
                                        <p:tav tm="0" fmla="#ppt_y-sin(pi*$)/27">
                                          <p:val>
                                            <p:fltVal val="0"/>
                                          </p:val>
                                        </p:tav>
                                        <p:tav tm="100000">
                                          <p:val>
                                            <p:fltVal val="1"/>
                                          </p:val>
                                        </p:tav>
                                      </p:tavLst>
                                    </p:anim>
                                    <p:anim calcmode="lin" valueType="num">
                                      <p:cBhvr>
                                        <p:cTn id="27" dur="164" tmFilter="0, 0; 0.125,0.2665; 0.25,0.4; 0.375,0.465; 0.5,0.5;  0.625,0.535; 0.75,0.6; 0.875,0.7335; 1,1">
                                          <p:stCondLst>
                                            <p:cond delay="1656"/>
                                          </p:stCondLst>
                                        </p:cTn>
                                        <p:tgtEl>
                                          <p:spTgt spid="4">
                                            <p:txEl>
                                              <p:pRg st="0" end="0"/>
                                            </p:txEl>
                                          </p:spTgt>
                                        </p:tgtEl>
                                        <p:attrNameLst>
                                          <p:attrName>ppt_y</p:attrName>
                                        </p:attrNameLst>
                                      </p:cBhvr>
                                      <p:tavLst>
                                        <p:tav tm="0" fmla="#ppt_y-sin(pi*$)/81">
                                          <p:val>
                                            <p:fltVal val="0"/>
                                          </p:val>
                                        </p:tav>
                                        <p:tav tm="100000">
                                          <p:val>
                                            <p:fltVal val="1"/>
                                          </p:val>
                                        </p:tav>
                                      </p:tavLst>
                                    </p:anim>
                                    <p:animScale>
                                      <p:cBhvr>
                                        <p:cTn id="28" dur="26">
                                          <p:stCondLst>
                                            <p:cond delay="650"/>
                                          </p:stCondLst>
                                        </p:cTn>
                                        <p:tgtEl>
                                          <p:spTgt spid="4">
                                            <p:txEl>
                                              <p:pRg st="0" end="0"/>
                                            </p:txEl>
                                          </p:spTgt>
                                        </p:tgtEl>
                                      </p:cBhvr>
                                      <p:to x="100000" y="60000"/>
                                    </p:animScale>
                                    <p:animScale>
                                      <p:cBhvr>
                                        <p:cTn id="29" dur="166" decel="50000">
                                          <p:stCondLst>
                                            <p:cond delay="676"/>
                                          </p:stCondLst>
                                        </p:cTn>
                                        <p:tgtEl>
                                          <p:spTgt spid="4">
                                            <p:txEl>
                                              <p:pRg st="0" end="0"/>
                                            </p:txEl>
                                          </p:spTgt>
                                        </p:tgtEl>
                                      </p:cBhvr>
                                      <p:to x="100000" y="100000"/>
                                    </p:animScale>
                                    <p:animScale>
                                      <p:cBhvr>
                                        <p:cTn id="30" dur="26">
                                          <p:stCondLst>
                                            <p:cond delay="1312"/>
                                          </p:stCondLst>
                                        </p:cTn>
                                        <p:tgtEl>
                                          <p:spTgt spid="4">
                                            <p:txEl>
                                              <p:pRg st="0" end="0"/>
                                            </p:txEl>
                                          </p:spTgt>
                                        </p:tgtEl>
                                      </p:cBhvr>
                                      <p:to x="100000" y="80000"/>
                                    </p:animScale>
                                    <p:animScale>
                                      <p:cBhvr>
                                        <p:cTn id="31" dur="166" decel="50000">
                                          <p:stCondLst>
                                            <p:cond delay="1338"/>
                                          </p:stCondLst>
                                        </p:cTn>
                                        <p:tgtEl>
                                          <p:spTgt spid="4">
                                            <p:txEl>
                                              <p:pRg st="0" end="0"/>
                                            </p:txEl>
                                          </p:spTgt>
                                        </p:tgtEl>
                                      </p:cBhvr>
                                      <p:to x="100000" y="100000"/>
                                    </p:animScale>
                                    <p:animScale>
                                      <p:cBhvr>
                                        <p:cTn id="32" dur="26">
                                          <p:stCondLst>
                                            <p:cond delay="1642"/>
                                          </p:stCondLst>
                                        </p:cTn>
                                        <p:tgtEl>
                                          <p:spTgt spid="4">
                                            <p:txEl>
                                              <p:pRg st="0" end="0"/>
                                            </p:txEl>
                                          </p:spTgt>
                                        </p:tgtEl>
                                      </p:cBhvr>
                                      <p:to x="100000" y="90000"/>
                                    </p:animScale>
                                    <p:animScale>
                                      <p:cBhvr>
                                        <p:cTn id="33" dur="166" decel="50000">
                                          <p:stCondLst>
                                            <p:cond delay="1668"/>
                                          </p:stCondLst>
                                        </p:cTn>
                                        <p:tgtEl>
                                          <p:spTgt spid="4">
                                            <p:txEl>
                                              <p:pRg st="0" end="0"/>
                                            </p:txEl>
                                          </p:spTgt>
                                        </p:tgtEl>
                                      </p:cBhvr>
                                      <p:to x="100000" y="100000"/>
                                    </p:animScale>
                                    <p:animScale>
                                      <p:cBhvr>
                                        <p:cTn id="34" dur="26">
                                          <p:stCondLst>
                                            <p:cond delay="1808"/>
                                          </p:stCondLst>
                                        </p:cTn>
                                        <p:tgtEl>
                                          <p:spTgt spid="4">
                                            <p:txEl>
                                              <p:pRg st="0" end="0"/>
                                            </p:txEl>
                                          </p:spTgt>
                                        </p:tgtEl>
                                      </p:cBhvr>
                                      <p:to x="100000" y="95000"/>
                                    </p:animScale>
                                    <p:animScale>
                                      <p:cBhvr>
                                        <p:cTn id="35" dur="166" decel="50000">
                                          <p:stCondLst>
                                            <p:cond delay="1834"/>
                                          </p:stCondLst>
                                        </p:cTn>
                                        <p:tgtEl>
                                          <p:spTgt spid="4">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dirty="0"/>
          </a:p>
        </p:txBody>
      </p:sp>
      <p:sp>
        <p:nvSpPr>
          <p:cNvPr id="4" name="Content Placeholder 3"/>
          <p:cNvSpPr>
            <a:spLocks noGrp="1"/>
          </p:cNvSpPr>
          <p:nvPr>
            <p:ph sz="half" idx="2"/>
          </p:nvPr>
        </p:nvSpPr>
        <p:spPr/>
        <p:txBody>
          <a:bodyPr/>
          <a:lstStyle/>
          <a:p>
            <a:endParaRPr lang="zh-CN" altLang="en-US"/>
          </a:p>
        </p:txBody>
      </p:sp>
      <p:pic>
        <p:nvPicPr>
          <p:cNvPr id="5" name="图片 4">
            <a:extLst>
              <a:ext uri="{FF2B5EF4-FFF2-40B4-BE49-F238E27FC236}">
                <a16:creationId xmlns:a16="http://schemas.microsoft.com/office/drawing/2014/main" id="{FA610E14-BBBE-48EB-AD34-85CCAD3E18C6}"/>
              </a:ext>
            </a:extLst>
          </p:cNvPr>
          <p:cNvPicPr>
            <a:picLocks noChangeAspect="1"/>
          </p:cNvPicPr>
          <p:nvPr/>
        </p:nvPicPr>
        <p:blipFill>
          <a:blip r:embed="rId2"/>
          <a:stretch>
            <a:fillRect/>
          </a:stretch>
        </p:blipFill>
        <p:spPr>
          <a:xfrm>
            <a:off x="6096000" y="80260"/>
            <a:ext cx="5619750" cy="6562725"/>
          </a:xfrm>
          <a:prstGeom prst="rect">
            <a:avLst/>
          </a:prstGeom>
        </p:spPr>
      </p:pic>
      <p:pic>
        <p:nvPicPr>
          <p:cNvPr id="7" name="图片 6">
            <a:extLst>
              <a:ext uri="{FF2B5EF4-FFF2-40B4-BE49-F238E27FC236}">
                <a16:creationId xmlns:a16="http://schemas.microsoft.com/office/drawing/2014/main" id="{91094B92-DF49-4F9D-B661-2B4A59CE31AE}"/>
              </a:ext>
            </a:extLst>
          </p:cNvPr>
          <p:cNvPicPr>
            <a:picLocks noChangeAspect="1"/>
          </p:cNvPicPr>
          <p:nvPr/>
        </p:nvPicPr>
        <p:blipFill>
          <a:blip r:embed="rId3"/>
          <a:stretch>
            <a:fillRect/>
          </a:stretch>
        </p:blipFill>
        <p:spPr>
          <a:xfrm>
            <a:off x="302986" y="0"/>
            <a:ext cx="5422816" cy="6858000"/>
          </a:xfrm>
          <a:prstGeom prst="rect">
            <a:avLst/>
          </a:prstGeom>
        </p:spPr>
      </p:pic>
    </p:spTree>
    <p:extLst>
      <p:ext uri="{BB962C8B-B14F-4D97-AF65-F5344CB8AC3E}">
        <p14:creationId xmlns:p14="http://schemas.microsoft.com/office/powerpoint/2010/main" val="18292445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dirty="0"/>
          </a:p>
          <a:p>
            <a:endParaRPr lang="zh-CN" altLang="en-US" dirty="0"/>
          </a:p>
        </p:txBody>
      </p:sp>
      <p:sp>
        <p:nvSpPr>
          <p:cNvPr id="4" name="Content Placeholder 3"/>
          <p:cNvSpPr>
            <a:spLocks noGrp="1"/>
          </p:cNvSpPr>
          <p:nvPr>
            <p:ph sz="half" idx="2"/>
          </p:nvPr>
        </p:nvSpPr>
        <p:spPr>
          <a:xfrm>
            <a:off x="6464902" y="2035744"/>
            <a:ext cx="5080000" cy="4114800"/>
          </a:xfrm>
        </p:spPr>
        <p:txBody>
          <a:bodyPr/>
          <a:lstStyle/>
          <a:p>
            <a:pPr marL="0" indent="0">
              <a:buNone/>
            </a:pPr>
            <a:r>
              <a:rPr lang="zh-CN" altLang="en-US" sz="2400" b="1" dirty="0"/>
              <a:t>后果</a:t>
            </a:r>
            <a:r>
              <a:rPr lang="en-US" altLang="zh-CN" sz="2400" b="1" dirty="0"/>
              <a:t>1</a:t>
            </a:r>
            <a:r>
              <a:rPr lang="zh-CN" altLang="en-US" sz="2400" b="1" dirty="0"/>
              <a:t>，</a:t>
            </a:r>
            <a:endParaRPr lang="en-US" altLang="zh-CN" sz="2400" b="1" dirty="0"/>
          </a:p>
          <a:p>
            <a:pPr marL="0" indent="0">
              <a:buNone/>
            </a:pPr>
            <a:r>
              <a:rPr lang="zh-CN" altLang="en-US" sz="2400" b="1" dirty="0"/>
              <a:t>如果正义是技艺，那么：</a:t>
            </a:r>
            <a:endParaRPr lang="en-US" altLang="zh-CN" sz="2400" b="1" dirty="0"/>
          </a:p>
          <a:p>
            <a:r>
              <a:rPr lang="zh-CN" altLang="en-US" sz="2400" b="1" dirty="0"/>
              <a:t>苏格拉底通过一系列的例子表明，正义就和其他技艺一样，是对我们有实际用处的东西，所以在我们需要一项具体的技艺（如医学、航海等）来解决生活中的问题时，正义是无用的。而在我们不需要这项技艺时，正义才是有用的。</a:t>
            </a:r>
          </a:p>
        </p:txBody>
      </p:sp>
      <p:pic>
        <p:nvPicPr>
          <p:cNvPr id="5" name="图片 4">
            <a:extLst>
              <a:ext uri="{FF2B5EF4-FFF2-40B4-BE49-F238E27FC236}">
                <a16:creationId xmlns:a16="http://schemas.microsoft.com/office/drawing/2014/main" id="{2CC20DFD-F49C-4068-9CA5-94D77F92562F}"/>
              </a:ext>
            </a:extLst>
          </p:cNvPr>
          <p:cNvPicPr>
            <a:picLocks noChangeAspect="1"/>
          </p:cNvPicPr>
          <p:nvPr/>
        </p:nvPicPr>
        <p:blipFill>
          <a:blip r:embed="rId2"/>
          <a:stretch>
            <a:fillRect/>
          </a:stretch>
        </p:blipFill>
        <p:spPr>
          <a:xfrm>
            <a:off x="443898" y="1402784"/>
            <a:ext cx="5727485" cy="3702617"/>
          </a:xfrm>
          <a:prstGeom prst="rect">
            <a:avLst/>
          </a:prstGeom>
        </p:spPr>
      </p:pic>
      <p:pic>
        <p:nvPicPr>
          <p:cNvPr id="7" name="图片 6">
            <a:extLst>
              <a:ext uri="{FF2B5EF4-FFF2-40B4-BE49-F238E27FC236}">
                <a16:creationId xmlns:a16="http://schemas.microsoft.com/office/drawing/2014/main" id="{51B3200F-5598-4CB0-B48F-0B40F4A2AED2}"/>
              </a:ext>
            </a:extLst>
          </p:cNvPr>
          <p:cNvPicPr>
            <a:picLocks noChangeAspect="1"/>
          </p:cNvPicPr>
          <p:nvPr/>
        </p:nvPicPr>
        <p:blipFill>
          <a:blip r:embed="rId3"/>
          <a:stretch>
            <a:fillRect/>
          </a:stretch>
        </p:blipFill>
        <p:spPr>
          <a:xfrm>
            <a:off x="2561704" y="4083999"/>
            <a:ext cx="3164098" cy="18290"/>
          </a:xfrm>
          <a:prstGeom prst="rect">
            <a:avLst/>
          </a:prstGeom>
        </p:spPr>
      </p:pic>
      <p:pic>
        <p:nvPicPr>
          <p:cNvPr id="8" name="图片 7">
            <a:extLst>
              <a:ext uri="{FF2B5EF4-FFF2-40B4-BE49-F238E27FC236}">
                <a16:creationId xmlns:a16="http://schemas.microsoft.com/office/drawing/2014/main" id="{D4DFE1AC-5412-4E34-8A83-345581B0373F}"/>
              </a:ext>
            </a:extLst>
          </p:cNvPr>
          <p:cNvPicPr>
            <a:picLocks noChangeAspect="1"/>
          </p:cNvPicPr>
          <p:nvPr/>
        </p:nvPicPr>
        <p:blipFill>
          <a:blip r:embed="rId4"/>
          <a:stretch>
            <a:fillRect/>
          </a:stretch>
        </p:blipFill>
        <p:spPr>
          <a:xfrm>
            <a:off x="1102780" y="4307488"/>
            <a:ext cx="1426588" cy="42676"/>
          </a:xfrm>
          <a:prstGeom prst="rect">
            <a:avLst/>
          </a:prstGeom>
        </p:spPr>
      </p:pic>
    </p:spTree>
    <p:extLst>
      <p:ext uri="{BB962C8B-B14F-4D97-AF65-F5344CB8AC3E}">
        <p14:creationId xmlns:p14="http://schemas.microsoft.com/office/powerpoint/2010/main" val="1526605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ECF9897-67A8-46B4-9FF1-DD51AF6F437D}"/>
              </a:ext>
            </a:extLst>
          </p:cNvPr>
          <p:cNvPicPr>
            <a:picLocks noChangeAspect="1"/>
          </p:cNvPicPr>
          <p:nvPr/>
        </p:nvPicPr>
        <p:blipFill>
          <a:blip r:embed="rId2"/>
          <a:stretch>
            <a:fillRect/>
          </a:stretch>
        </p:blipFill>
        <p:spPr>
          <a:xfrm>
            <a:off x="317233" y="0"/>
            <a:ext cx="5619750" cy="4219575"/>
          </a:xfrm>
          <a:prstGeom prst="rect">
            <a:avLst/>
          </a:prstGeom>
        </p:spPr>
      </p:pic>
      <p:pic>
        <p:nvPicPr>
          <p:cNvPr id="7" name="图片 6">
            <a:extLst>
              <a:ext uri="{FF2B5EF4-FFF2-40B4-BE49-F238E27FC236}">
                <a16:creationId xmlns:a16="http://schemas.microsoft.com/office/drawing/2014/main" id="{49BAE2FD-7A98-4BA8-B25C-E731A42A7B10}"/>
              </a:ext>
            </a:extLst>
          </p:cNvPr>
          <p:cNvPicPr>
            <a:picLocks noChangeAspect="1"/>
          </p:cNvPicPr>
          <p:nvPr/>
        </p:nvPicPr>
        <p:blipFill>
          <a:blip r:embed="rId3"/>
          <a:stretch>
            <a:fillRect/>
          </a:stretch>
        </p:blipFill>
        <p:spPr>
          <a:xfrm>
            <a:off x="2812910" y="3830401"/>
            <a:ext cx="1676545" cy="24386"/>
          </a:xfrm>
          <a:prstGeom prst="rect">
            <a:avLst/>
          </a:prstGeom>
        </p:spPr>
      </p:pic>
      <p:pic>
        <p:nvPicPr>
          <p:cNvPr id="9" name="图片 8">
            <a:extLst>
              <a:ext uri="{FF2B5EF4-FFF2-40B4-BE49-F238E27FC236}">
                <a16:creationId xmlns:a16="http://schemas.microsoft.com/office/drawing/2014/main" id="{A481C549-BB7D-41F5-8C16-16E16E0D0E15}"/>
              </a:ext>
            </a:extLst>
          </p:cNvPr>
          <p:cNvPicPr>
            <a:picLocks noChangeAspect="1"/>
          </p:cNvPicPr>
          <p:nvPr/>
        </p:nvPicPr>
        <p:blipFill>
          <a:blip r:embed="rId4"/>
          <a:stretch>
            <a:fillRect/>
          </a:stretch>
        </p:blipFill>
        <p:spPr>
          <a:xfrm>
            <a:off x="6096000" y="0"/>
            <a:ext cx="5344013" cy="6858000"/>
          </a:xfrm>
          <a:prstGeom prst="rect">
            <a:avLst/>
          </a:prstGeom>
        </p:spPr>
      </p:pic>
      <p:sp>
        <p:nvSpPr>
          <p:cNvPr id="3" name="Content Placeholder 2"/>
          <p:cNvSpPr>
            <a:spLocks noGrp="1"/>
          </p:cNvSpPr>
          <p:nvPr>
            <p:ph sz="half" idx="1"/>
          </p:nvPr>
        </p:nvSpPr>
        <p:spPr>
          <a:xfrm>
            <a:off x="619125" y="4389120"/>
            <a:ext cx="5156733" cy="1507264"/>
          </a:xfrm>
        </p:spPr>
        <p:txBody>
          <a:bodyPr>
            <a:normAutofit fontScale="62500" lnSpcReduction="20000"/>
          </a:bodyPr>
          <a:lstStyle/>
          <a:p>
            <a:pPr marL="0" indent="0">
              <a:buNone/>
            </a:pPr>
            <a:r>
              <a:rPr lang="zh-CN" altLang="en-US" sz="3400" b="1" dirty="0"/>
              <a:t>后果</a:t>
            </a:r>
            <a:r>
              <a:rPr lang="en-US" altLang="zh-CN" sz="3400" b="1" dirty="0"/>
              <a:t>2</a:t>
            </a:r>
          </a:p>
          <a:p>
            <a:r>
              <a:rPr lang="zh-CN" altLang="en-US" sz="3400" b="1" dirty="0"/>
              <a:t>如果正义是技艺，那么正义的人总是对人区别对待，既对人正义，也对人不正义，这就让正义的人像个小偷。</a:t>
            </a:r>
            <a:r>
              <a:rPr lang="en-US" altLang="zh-CN" sz="3400" b="1" dirty="0"/>
              <a:t>334b</a:t>
            </a:r>
          </a:p>
          <a:p>
            <a:endParaRPr lang="zh-CN" altLang="en-US" dirty="0"/>
          </a:p>
        </p:txBody>
      </p:sp>
      <p:cxnSp>
        <p:nvCxnSpPr>
          <p:cNvPr id="8" name="Straight Connector 7"/>
          <p:cNvCxnSpPr/>
          <p:nvPr/>
        </p:nvCxnSpPr>
        <p:spPr>
          <a:xfrm flipV="1">
            <a:off x="887062" y="577050"/>
            <a:ext cx="2310430" cy="2094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371763" y="273254"/>
            <a:ext cx="281300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D4828A81-C464-4D36-A724-BE197B7A13F4}"/>
              </a:ext>
            </a:extLst>
          </p:cNvPr>
          <p:cNvCxnSpPr/>
          <p:nvPr/>
        </p:nvCxnSpPr>
        <p:spPr>
          <a:xfrm>
            <a:off x="6722058" y="1221107"/>
            <a:ext cx="1299410"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1646765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lstStyle/>
          <a:p>
            <a:pPr marL="0" indent="0">
              <a:buNone/>
            </a:pPr>
            <a:r>
              <a:rPr lang="zh-CN" altLang="en-US" sz="2400" b="1" dirty="0"/>
              <a:t>对话回合二：</a:t>
            </a:r>
            <a:endParaRPr lang="en-US" altLang="zh-CN" sz="2400" b="1" dirty="0"/>
          </a:p>
          <a:p>
            <a:r>
              <a:rPr lang="zh-CN" altLang="en-US" sz="2400" b="1" dirty="0"/>
              <a:t>波策马尔科仍然不肯放弃他的观点，于是苏格拉底问：</a:t>
            </a:r>
            <a:endParaRPr lang="en-US" altLang="zh-CN" sz="2400" b="1" dirty="0"/>
          </a:p>
          <a:p>
            <a:r>
              <a:rPr lang="zh-CN" altLang="en-US" sz="2400" b="1" dirty="0"/>
              <a:t>如果正义是扶友损敌，那么，由于人们总会在对人的判断上失误</a:t>
            </a:r>
            <a:r>
              <a:rPr lang="en-US" altLang="zh-CN" sz="2400" b="1" dirty="0"/>
              <a:t>——</a:t>
            </a:r>
            <a:r>
              <a:rPr lang="zh-CN" altLang="en-US" sz="2400" b="1" dirty="0"/>
              <a:t>所以，如果我们以为是朋友的，实际却是邪恶的人，而我们以为邪恶的，实际却是好人？这样我们秉持扶友损敌的原则，岂不是在助纣为虐？</a:t>
            </a:r>
          </a:p>
        </p:txBody>
      </p:sp>
      <p:pic>
        <p:nvPicPr>
          <p:cNvPr id="5" name="图片 4">
            <a:extLst>
              <a:ext uri="{FF2B5EF4-FFF2-40B4-BE49-F238E27FC236}">
                <a16:creationId xmlns:a16="http://schemas.microsoft.com/office/drawing/2014/main" id="{AAF66CFE-E249-4D85-A197-4E13AF257339}"/>
              </a:ext>
            </a:extLst>
          </p:cNvPr>
          <p:cNvPicPr>
            <a:picLocks noChangeAspect="1"/>
          </p:cNvPicPr>
          <p:nvPr/>
        </p:nvPicPr>
        <p:blipFill>
          <a:blip r:embed="rId2"/>
          <a:stretch>
            <a:fillRect/>
          </a:stretch>
        </p:blipFill>
        <p:spPr>
          <a:xfrm>
            <a:off x="73781" y="15241"/>
            <a:ext cx="5344013" cy="6842759"/>
          </a:xfrm>
          <a:prstGeom prst="rect">
            <a:avLst/>
          </a:prstGeom>
        </p:spPr>
      </p:pic>
      <p:pic>
        <p:nvPicPr>
          <p:cNvPr id="7" name="图片 6">
            <a:extLst>
              <a:ext uri="{FF2B5EF4-FFF2-40B4-BE49-F238E27FC236}">
                <a16:creationId xmlns:a16="http://schemas.microsoft.com/office/drawing/2014/main" id="{BA310602-8C84-42AE-B522-9EB177981CA0}"/>
              </a:ext>
            </a:extLst>
          </p:cNvPr>
          <p:cNvPicPr>
            <a:picLocks noChangeAspect="1"/>
          </p:cNvPicPr>
          <p:nvPr/>
        </p:nvPicPr>
        <p:blipFill>
          <a:blip r:embed="rId3"/>
          <a:stretch>
            <a:fillRect/>
          </a:stretch>
        </p:blipFill>
        <p:spPr>
          <a:xfrm>
            <a:off x="2173256" y="4568790"/>
            <a:ext cx="2975106" cy="30483"/>
          </a:xfrm>
          <a:prstGeom prst="rect">
            <a:avLst/>
          </a:prstGeom>
        </p:spPr>
      </p:pic>
      <p:pic>
        <p:nvPicPr>
          <p:cNvPr id="9" name="图片 8">
            <a:extLst>
              <a:ext uri="{FF2B5EF4-FFF2-40B4-BE49-F238E27FC236}">
                <a16:creationId xmlns:a16="http://schemas.microsoft.com/office/drawing/2014/main" id="{53CF4E6E-8FDC-439A-91FD-DCF9389638A9}"/>
              </a:ext>
            </a:extLst>
          </p:cNvPr>
          <p:cNvPicPr>
            <a:picLocks noChangeAspect="1"/>
          </p:cNvPicPr>
          <p:nvPr/>
        </p:nvPicPr>
        <p:blipFill>
          <a:blip r:embed="rId4"/>
          <a:stretch>
            <a:fillRect/>
          </a:stretch>
        </p:blipFill>
        <p:spPr>
          <a:xfrm>
            <a:off x="1979422" y="5534043"/>
            <a:ext cx="2148746" cy="45719"/>
          </a:xfrm>
          <a:prstGeom prst="rect">
            <a:avLst/>
          </a:prstGeom>
        </p:spPr>
      </p:pic>
    </p:spTree>
    <p:extLst>
      <p:ext uri="{BB962C8B-B14F-4D97-AF65-F5344CB8AC3E}">
        <p14:creationId xmlns:p14="http://schemas.microsoft.com/office/powerpoint/2010/main" val="529802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7" dur="500"/>
                                        <p:tgtEl>
                                          <p:spTgt spid="4">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5"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lstStyle/>
          <a:p>
            <a:pPr marL="0" indent="0">
              <a:buNone/>
            </a:pPr>
            <a:r>
              <a:rPr lang="zh-CN" altLang="en-US" sz="2400" b="1" dirty="0"/>
              <a:t>对话回合</a:t>
            </a:r>
            <a:r>
              <a:rPr lang="en-US" altLang="zh-CN" sz="2400" b="1" dirty="0"/>
              <a:t>3</a:t>
            </a:r>
            <a:r>
              <a:rPr lang="zh-CN" altLang="en-US" sz="2400" b="1" dirty="0"/>
              <a:t>：</a:t>
            </a:r>
            <a:endParaRPr lang="en-US" altLang="zh-CN" sz="2400" b="1" dirty="0"/>
          </a:p>
          <a:p>
            <a:r>
              <a:rPr lang="zh-CN" altLang="en-US" sz="2400" b="1" dirty="0"/>
              <a:t>波策马尔科修改了自己的观点：</a:t>
            </a:r>
            <a:endParaRPr lang="en-US" altLang="zh-CN" sz="2400" b="1" dirty="0"/>
          </a:p>
          <a:p>
            <a:r>
              <a:rPr lang="zh-CN" altLang="en-US" sz="2400" b="1" dirty="0"/>
              <a:t>正义就是帮助朋友，如果朋友是好人；伤害敌人，如果敌人是恶人。</a:t>
            </a:r>
            <a:endParaRPr lang="en-US" altLang="zh-CN" sz="2400" b="1" dirty="0"/>
          </a:p>
          <a:p>
            <a:r>
              <a:rPr lang="zh-CN" altLang="en-US" sz="2400" b="1" dirty="0"/>
              <a:t>这个观点站得住脚吗？</a:t>
            </a:r>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910" y="166688"/>
            <a:ext cx="5689863" cy="6519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flipV="1">
            <a:off x="942321" y="4446357"/>
            <a:ext cx="4243932" cy="27921"/>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432769" y="4725563"/>
            <a:ext cx="4753484" cy="13961"/>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386568" y="6463621"/>
            <a:ext cx="2848547"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8357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3554"/>
                                        </p:tgtEl>
                                        <p:attrNameLst>
                                          <p:attrName>style.visibility</p:attrName>
                                        </p:attrNameLst>
                                      </p:cBhvr>
                                      <p:to>
                                        <p:strVal val="visible"/>
                                      </p:to>
                                    </p:set>
                                    <p:animEffect transition="in" filter="randombar(horizontal)">
                                      <p:cBhvr>
                                        <p:cTn id="7" dur="500"/>
                                        <p:tgtEl>
                                          <p:spTgt spid="23554"/>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4">
                                            <p:txEl>
                                              <p:pRg st="0" end="0"/>
                                            </p:txEl>
                                          </p:spTgt>
                                        </p:tgtEl>
                                        <p:attrNameLst>
                                          <p:attrName>style.visibility</p:attrName>
                                        </p:attrNameLst>
                                      </p:cBhvr>
                                      <p:to>
                                        <p:strVal val="visible"/>
                                      </p:to>
                                    </p:set>
                                    <p:animEffect transition="in" filter="circle(in)">
                                      <p:cBhvr>
                                        <p:cTn id="28" dur="2000"/>
                                        <p:tgtEl>
                                          <p:spTgt spid="4">
                                            <p:txEl>
                                              <p:pRg st="0" end="0"/>
                                            </p:txEl>
                                          </p:spTgt>
                                        </p:tgtEl>
                                      </p:cBhvr>
                                    </p:animEffect>
                                  </p:childTnLst>
                                </p:cTn>
                              </p:par>
                              <p:par>
                                <p:cTn id="29" presetID="6" presetClass="entr" presetSubtype="16" fill="hold" nodeType="with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animEffect transition="in" filter="circle(in)">
                                      <p:cBhvr>
                                        <p:cTn id="31" dur="2000"/>
                                        <p:tgtEl>
                                          <p:spTgt spid="4">
                                            <p:txEl>
                                              <p:pRg st="1" end="1"/>
                                            </p:txEl>
                                          </p:spTgt>
                                        </p:tgtEl>
                                      </p:cBhvr>
                                    </p:animEffect>
                                  </p:childTnLst>
                                </p:cTn>
                              </p:par>
                              <p:par>
                                <p:cTn id="32" presetID="6" presetClass="entr" presetSubtype="16" fill="hold" nodeType="withEffect">
                                  <p:stCondLst>
                                    <p:cond delay="0"/>
                                  </p:stCondLst>
                                  <p:childTnLst>
                                    <p:set>
                                      <p:cBhvr>
                                        <p:cTn id="33" dur="1" fill="hold">
                                          <p:stCondLst>
                                            <p:cond delay="0"/>
                                          </p:stCondLst>
                                        </p:cTn>
                                        <p:tgtEl>
                                          <p:spTgt spid="4">
                                            <p:txEl>
                                              <p:pRg st="2" end="2"/>
                                            </p:txEl>
                                          </p:spTgt>
                                        </p:tgtEl>
                                        <p:attrNameLst>
                                          <p:attrName>style.visibility</p:attrName>
                                        </p:attrNameLst>
                                      </p:cBhvr>
                                      <p:to>
                                        <p:strVal val="visible"/>
                                      </p:to>
                                    </p:set>
                                    <p:animEffect transition="in" filter="circle(in)">
                                      <p:cBhvr>
                                        <p:cTn id="34" dur="2000"/>
                                        <p:tgtEl>
                                          <p:spTgt spid="4">
                                            <p:txEl>
                                              <p:pRg st="2" end="2"/>
                                            </p:txEl>
                                          </p:spTgt>
                                        </p:tgtEl>
                                      </p:cBhvr>
                                    </p:animEffect>
                                  </p:childTnLst>
                                </p:cTn>
                              </p:par>
                              <p:par>
                                <p:cTn id="35" presetID="6" presetClass="entr" presetSubtype="16" fill="hold" nodeType="with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animEffect transition="in" filter="circle(in)">
                                      <p:cBhvr>
                                        <p:cTn id="37" dur="2000"/>
                                        <p:tgtEl>
                                          <p:spTgt spid="4">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1"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p:cTn id="42" dur="1000" fill="hold"/>
                                        <p:tgtEl>
                                          <p:spTgt spid="10"/>
                                        </p:tgtEl>
                                        <p:attrNameLst>
                                          <p:attrName>ppt_w</p:attrName>
                                        </p:attrNameLst>
                                      </p:cBhvr>
                                      <p:tavLst>
                                        <p:tav tm="0">
                                          <p:val>
                                            <p:fltVal val="0"/>
                                          </p:val>
                                        </p:tav>
                                        <p:tav tm="100000">
                                          <p:val>
                                            <p:strVal val="#ppt_w"/>
                                          </p:val>
                                        </p:tav>
                                      </p:tavLst>
                                    </p:anim>
                                    <p:anim calcmode="lin" valueType="num">
                                      <p:cBhvr>
                                        <p:cTn id="43" dur="1000" fill="hold"/>
                                        <p:tgtEl>
                                          <p:spTgt spid="10"/>
                                        </p:tgtEl>
                                        <p:attrNameLst>
                                          <p:attrName>ppt_h</p:attrName>
                                        </p:attrNameLst>
                                      </p:cBhvr>
                                      <p:tavLst>
                                        <p:tav tm="0">
                                          <p:val>
                                            <p:fltVal val="0"/>
                                          </p:val>
                                        </p:tav>
                                        <p:tav tm="100000">
                                          <p:val>
                                            <p:strVal val="#ppt_h"/>
                                          </p:val>
                                        </p:tav>
                                      </p:tavLst>
                                    </p:anim>
                                    <p:anim calcmode="lin" valueType="num">
                                      <p:cBhvr>
                                        <p:cTn id="44" dur="1000" fill="hold"/>
                                        <p:tgtEl>
                                          <p:spTgt spid="10"/>
                                        </p:tgtEl>
                                        <p:attrNameLst>
                                          <p:attrName>style.rotation</p:attrName>
                                        </p:attrNameLst>
                                      </p:cBhvr>
                                      <p:tavLst>
                                        <p:tav tm="0">
                                          <p:val>
                                            <p:fltVal val="90"/>
                                          </p:val>
                                        </p:tav>
                                        <p:tav tm="100000">
                                          <p:val>
                                            <p:fltVal val="0"/>
                                          </p:val>
                                        </p:tav>
                                      </p:tavLst>
                                    </p:anim>
                                    <p:animEffect transition="in" filter="fade">
                                      <p:cBhvr>
                                        <p:cTn id="45"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pic>
        <p:nvPicPr>
          <p:cNvPr id="5" name="内容占位符 4">
            <a:extLst>
              <a:ext uri="{FF2B5EF4-FFF2-40B4-BE49-F238E27FC236}">
                <a16:creationId xmlns:a16="http://schemas.microsoft.com/office/drawing/2014/main" id="{511123D3-6027-42F9-BD86-7B163AEE5C5B}"/>
              </a:ext>
            </a:extLst>
          </p:cNvPr>
          <p:cNvPicPr>
            <a:picLocks noGrp="1" noChangeAspect="1"/>
          </p:cNvPicPr>
          <p:nvPr>
            <p:ph sz="half" idx="1"/>
          </p:nvPr>
        </p:nvPicPr>
        <p:blipFill>
          <a:blip r:embed="rId2"/>
          <a:stretch>
            <a:fillRect/>
          </a:stretch>
        </p:blipFill>
        <p:spPr>
          <a:xfrm>
            <a:off x="503892" y="98551"/>
            <a:ext cx="4756045" cy="6759449"/>
          </a:xfrm>
          <a:prstGeom prst="rect">
            <a:avLst/>
          </a:prstGeom>
        </p:spPr>
      </p:pic>
      <p:sp>
        <p:nvSpPr>
          <p:cNvPr id="4" name="Content Placeholder 3"/>
          <p:cNvSpPr>
            <a:spLocks noGrp="1"/>
          </p:cNvSpPr>
          <p:nvPr>
            <p:ph sz="half" idx="2"/>
          </p:nvPr>
        </p:nvSpPr>
        <p:spPr/>
        <p:txBody>
          <a:bodyPr/>
          <a:lstStyle/>
          <a:p>
            <a:pPr marL="0" indent="0">
              <a:buNone/>
            </a:pPr>
            <a:r>
              <a:rPr lang="zh-CN" altLang="en-US" sz="2400" b="1" dirty="0"/>
              <a:t>苏格拉底的反驳</a:t>
            </a:r>
            <a:r>
              <a:rPr lang="en-US" altLang="zh-CN" sz="2400" b="1" dirty="0"/>
              <a:t>:</a:t>
            </a:r>
          </a:p>
          <a:p>
            <a:r>
              <a:rPr lang="zh-CN" altLang="en-US" sz="2400" b="1" dirty="0"/>
              <a:t>一个正义的人应该做伤害他人的事吗？不论是怎样一个人？</a:t>
            </a:r>
            <a:r>
              <a:rPr lang="en-US" altLang="zh-CN" sz="2400" b="1" dirty="0"/>
              <a:t>335d</a:t>
            </a:r>
          </a:p>
          <a:p>
            <a:r>
              <a:rPr lang="zh-CN" altLang="en-US" sz="2400" b="1" dirty="0"/>
              <a:t>伤害（</a:t>
            </a:r>
            <a:r>
              <a:rPr lang="en-US" altLang="zh-CN" sz="2400" b="1" dirty="0" err="1"/>
              <a:t>braptein</a:t>
            </a:r>
            <a:r>
              <a:rPr lang="zh-CN" altLang="en-US" sz="2400" b="1" dirty="0"/>
              <a:t>，有“伤害人的灵魂”之义，受到伤害的人的品德其实会变得更坏更不正义）</a:t>
            </a:r>
            <a:endParaRPr lang="en-US" altLang="zh-CN" sz="2400" b="1" dirty="0"/>
          </a:p>
          <a:p>
            <a:endParaRPr lang="en-US" altLang="zh-CN" dirty="0"/>
          </a:p>
          <a:p>
            <a:endParaRPr lang="zh-CN" altLang="en-US" dirty="0"/>
          </a:p>
        </p:txBody>
      </p:sp>
      <p:cxnSp>
        <p:nvCxnSpPr>
          <p:cNvPr id="6" name="Straight Connector 5"/>
          <p:cNvCxnSpPr/>
          <p:nvPr/>
        </p:nvCxnSpPr>
        <p:spPr>
          <a:xfrm>
            <a:off x="2548931" y="999338"/>
            <a:ext cx="2505875" cy="2094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862159" y="1218659"/>
            <a:ext cx="816678" cy="20941"/>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4119466" y="4745989"/>
            <a:ext cx="935340" cy="698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cxnSpLocks/>
          </p:cNvCxnSpPr>
          <p:nvPr/>
        </p:nvCxnSpPr>
        <p:spPr>
          <a:xfrm>
            <a:off x="1126156" y="4988401"/>
            <a:ext cx="2089490"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9744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ircle(in)">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circle(in)">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1000" fill="hold"/>
                                        <p:tgtEl>
                                          <p:spTgt spid="6"/>
                                        </p:tgtEl>
                                        <p:attrNameLst>
                                          <p:attrName>ppt_w</p:attrName>
                                        </p:attrNameLst>
                                      </p:cBhvr>
                                      <p:tavLst>
                                        <p:tav tm="0">
                                          <p:val>
                                            <p:fltVal val="0"/>
                                          </p:val>
                                        </p:tav>
                                        <p:tav tm="100000">
                                          <p:val>
                                            <p:strVal val="#ppt_w"/>
                                          </p:val>
                                        </p:tav>
                                      </p:tavLst>
                                    </p:anim>
                                    <p:anim calcmode="lin" valueType="num">
                                      <p:cBhvr>
                                        <p:cTn id="18" dur="1000" fill="hold"/>
                                        <p:tgtEl>
                                          <p:spTgt spid="6"/>
                                        </p:tgtEl>
                                        <p:attrNameLst>
                                          <p:attrName>ppt_h</p:attrName>
                                        </p:attrNameLst>
                                      </p:cBhvr>
                                      <p:tavLst>
                                        <p:tav tm="0">
                                          <p:val>
                                            <p:fltVal val="0"/>
                                          </p:val>
                                        </p:tav>
                                        <p:tav tm="100000">
                                          <p:val>
                                            <p:strVal val="#ppt_h"/>
                                          </p:val>
                                        </p:tav>
                                      </p:tavLst>
                                    </p:anim>
                                    <p:anim calcmode="lin" valueType="num">
                                      <p:cBhvr>
                                        <p:cTn id="19" dur="1000" fill="hold"/>
                                        <p:tgtEl>
                                          <p:spTgt spid="6"/>
                                        </p:tgtEl>
                                        <p:attrNameLst>
                                          <p:attrName>style.rotation</p:attrName>
                                        </p:attrNameLst>
                                      </p:cBhvr>
                                      <p:tavLst>
                                        <p:tav tm="0">
                                          <p:val>
                                            <p:fltVal val="90"/>
                                          </p:val>
                                        </p:tav>
                                        <p:tav tm="100000">
                                          <p:val>
                                            <p:fltVal val="0"/>
                                          </p:val>
                                        </p:tav>
                                      </p:tavLst>
                                    </p:anim>
                                    <p:animEffect transition="in" filter="fade">
                                      <p:cBhvr>
                                        <p:cTn id="20" dur="10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1000" fill="hold"/>
                                        <p:tgtEl>
                                          <p:spTgt spid="8"/>
                                        </p:tgtEl>
                                        <p:attrNameLst>
                                          <p:attrName>ppt_w</p:attrName>
                                        </p:attrNameLst>
                                      </p:cBhvr>
                                      <p:tavLst>
                                        <p:tav tm="0">
                                          <p:val>
                                            <p:fltVal val="0"/>
                                          </p:val>
                                        </p:tav>
                                        <p:tav tm="100000">
                                          <p:val>
                                            <p:strVal val="#ppt_w"/>
                                          </p:val>
                                        </p:tav>
                                      </p:tavLst>
                                    </p:anim>
                                    <p:anim calcmode="lin" valueType="num">
                                      <p:cBhvr>
                                        <p:cTn id="26" dur="1000" fill="hold"/>
                                        <p:tgtEl>
                                          <p:spTgt spid="8"/>
                                        </p:tgtEl>
                                        <p:attrNameLst>
                                          <p:attrName>ppt_h</p:attrName>
                                        </p:attrNameLst>
                                      </p:cBhvr>
                                      <p:tavLst>
                                        <p:tav tm="0">
                                          <p:val>
                                            <p:fltVal val="0"/>
                                          </p:val>
                                        </p:tav>
                                        <p:tav tm="100000">
                                          <p:val>
                                            <p:strVal val="#ppt_h"/>
                                          </p:val>
                                        </p:tav>
                                      </p:tavLst>
                                    </p:anim>
                                    <p:anim calcmode="lin" valueType="num">
                                      <p:cBhvr>
                                        <p:cTn id="27" dur="1000" fill="hold"/>
                                        <p:tgtEl>
                                          <p:spTgt spid="8"/>
                                        </p:tgtEl>
                                        <p:attrNameLst>
                                          <p:attrName>style.rotation</p:attrName>
                                        </p:attrNameLst>
                                      </p:cBhvr>
                                      <p:tavLst>
                                        <p:tav tm="0">
                                          <p:val>
                                            <p:fltVal val="90"/>
                                          </p:val>
                                        </p:tav>
                                        <p:tav tm="100000">
                                          <p:val>
                                            <p:fltVal val="0"/>
                                          </p:val>
                                        </p:tav>
                                      </p:tavLst>
                                    </p:anim>
                                    <p:animEffect transition="in" filter="fade">
                                      <p:cBhvr>
                                        <p:cTn id="28" dur="10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animEffect transition="in" filter="circle(in)">
                                      <p:cBhvr>
                                        <p:cTn id="33" dur="2000"/>
                                        <p:tgtEl>
                                          <p:spTgt spid="4">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1" presetClass="entr" presetSubtype="0"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1000" fill="hold"/>
                                        <p:tgtEl>
                                          <p:spTgt spid="10"/>
                                        </p:tgtEl>
                                        <p:attrNameLst>
                                          <p:attrName>ppt_w</p:attrName>
                                        </p:attrNameLst>
                                      </p:cBhvr>
                                      <p:tavLst>
                                        <p:tav tm="0">
                                          <p:val>
                                            <p:fltVal val="0"/>
                                          </p:val>
                                        </p:tav>
                                        <p:tav tm="100000">
                                          <p:val>
                                            <p:strVal val="#ppt_w"/>
                                          </p:val>
                                        </p:tav>
                                      </p:tavLst>
                                    </p:anim>
                                    <p:anim calcmode="lin" valueType="num">
                                      <p:cBhvr>
                                        <p:cTn id="39" dur="1000" fill="hold"/>
                                        <p:tgtEl>
                                          <p:spTgt spid="10"/>
                                        </p:tgtEl>
                                        <p:attrNameLst>
                                          <p:attrName>ppt_h</p:attrName>
                                        </p:attrNameLst>
                                      </p:cBhvr>
                                      <p:tavLst>
                                        <p:tav tm="0">
                                          <p:val>
                                            <p:fltVal val="0"/>
                                          </p:val>
                                        </p:tav>
                                        <p:tav tm="100000">
                                          <p:val>
                                            <p:strVal val="#ppt_h"/>
                                          </p:val>
                                        </p:tav>
                                      </p:tavLst>
                                    </p:anim>
                                    <p:anim calcmode="lin" valueType="num">
                                      <p:cBhvr>
                                        <p:cTn id="40" dur="1000" fill="hold"/>
                                        <p:tgtEl>
                                          <p:spTgt spid="10"/>
                                        </p:tgtEl>
                                        <p:attrNameLst>
                                          <p:attrName>style.rotation</p:attrName>
                                        </p:attrNameLst>
                                      </p:cBhvr>
                                      <p:tavLst>
                                        <p:tav tm="0">
                                          <p:val>
                                            <p:fltVal val="90"/>
                                          </p:val>
                                        </p:tav>
                                        <p:tav tm="100000">
                                          <p:val>
                                            <p:fltVal val="0"/>
                                          </p:val>
                                        </p:tav>
                                      </p:tavLst>
                                    </p:anim>
                                    <p:animEffect transition="in" filter="fade">
                                      <p:cBhvr>
                                        <p:cTn id="41" dur="10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31" presetClass="entr" presetSubtype="0"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p:cTn id="46" dur="1000" fill="hold"/>
                                        <p:tgtEl>
                                          <p:spTgt spid="12"/>
                                        </p:tgtEl>
                                        <p:attrNameLst>
                                          <p:attrName>ppt_w</p:attrName>
                                        </p:attrNameLst>
                                      </p:cBhvr>
                                      <p:tavLst>
                                        <p:tav tm="0">
                                          <p:val>
                                            <p:fltVal val="0"/>
                                          </p:val>
                                        </p:tav>
                                        <p:tav tm="100000">
                                          <p:val>
                                            <p:strVal val="#ppt_w"/>
                                          </p:val>
                                        </p:tav>
                                      </p:tavLst>
                                    </p:anim>
                                    <p:anim calcmode="lin" valueType="num">
                                      <p:cBhvr>
                                        <p:cTn id="47" dur="1000" fill="hold"/>
                                        <p:tgtEl>
                                          <p:spTgt spid="12"/>
                                        </p:tgtEl>
                                        <p:attrNameLst>
                                          <p:attrName>ppt_h</p:attrName>
                                        </p:attrNameLst>
                                      </p:cBhvr>
                                      <p:tavLst>
                                        <p:tav tm="0">
                                          <p:val>
                                            <p:fltVal val="0"/>
                                          </p:val>
                                        </p:tav>
                                        <p:tav tm="100000">
                                          <p:val>
                                            <p:strVal val="#ppt_h"/>
                                          </p:val>
                                        </p:tav>
                                      </p:tavLst>
                                    </p:anim>
                                    <p:anim calcmode="lin" valueType="num">
                                      <p:cBhvr>
                                        <p:cTn id="48" dur="1000" fill="hold"/>
                                        <p:tgtEl>
                                          <p:spTgt spid="12"/>
                                        </p:tgtEl>
                                        <p:attrNameLst>
                                          <p:attrName>style.rotation</p:attrName>
                                        </p:attrNameLst>
                                      </p:cBhvr>
                                      <p:tavLst>
                                        <p:tav tm="0">
                                          <p:val>
                                            <p:fltVal val="90"/>
                                          </p:val>
                                        </p:tav>
                                        <p:tav tm="100000">
                                          <p:val>
                                            <p:fltVal val="0"/>
                                          </p:val>
                                        </p:tav>
                                      </p:tavLst>
                                    </p:anim>
                                    <p:animEffect transition="in" filter="fade">
                                      <p:cBhvr>
                                        <p:cTn id="49"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lstStyle/>
          <a:p>
            <a:r>
              <a:rPr lang="zh-CN" altLang="en-US" sz="2400" b="1" dirty="0"/>
              <a:t>苏格拉底接着论证说：</a:t>
            </a:r>
            <a:endParaRPr lang="en-US" altLang="zh-CN" sz="2400" b="1" dirty="0"/>
          </a:p>
          <a:p>
            <a:r>
              <a:rPr lang="zh-CN" altLang="en-US" sz="2400" b="1" dirty="0"/>
              <a:t>因此伤害他人是做了不正义的事，正义的人能用正义造就不正义的人吗？</a:t>
            </a:r>
            <a:endParaRPr lang="en-US" altLang="zh-CN" sz="2400" b="1" dirty="0"/>
          </a:p>
          <a:p>
            <a:r>
              <a:rPr lang="zh-CN" altLang="en-US" sz="2400" b="1" dirty="0"/>
              <a:t>波策马尔科承认这不可能。</a:t>
            </a:r>
            <a:endParaRPr lang="en-US" altLang="zh-CN" sz="2400" b="1" dirty="0"/>
          </a:p>
          <a:p>
            <a:endParaRPr lang="en-US" altLang="zh-CN" sz="2400" b="1" dirty="0"/>
          </a:p>
          <a:p>
            <a:r>
              <a:rPr lang="zh-CN" altLang="en-US" sz="2400" b="1" dirty="0"/>
              <a:t>于是得出结论：伤害他人不是正义，不论是伤害朋友还是敌人。因此，西蒙尼代的话，决不能解释为扶友损敌。</a:t>
            </a:r>
          </a:p>
          <a:p>
            <a:endParaRPr lang="zh-CN" altLang="en-US" dirty="0"/>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720" y="198789"/>
            <a:ext cx="5082157" cy="636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1137765" y="1144745"/>
            <a:ext cx="3713441" cy="698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509551" y="1347169"/>
            <a:ext cx="1409991" cy="34901"/>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1298308" y="4062449"/>
            <a:ext cx="3552898" cy="1396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509551" y="4306754"/>
            <a:ext cx="2903744" cy="20941"/>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4907046" y="4879127"/>
            <a:ext cx="0" cy="7119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0190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randombar(horizontal)">
                                      <p:cBhvr>
                                        <p:cTn id="7" dur="500"/>
                                        <p:tgtEl>
                                          <p:spTgt spid="2560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circle(in)">
                                      <p:cBhvr>
                                        <p:cTn id="12" dur="2000"/>
                                        <p:tgtEl>
                                          <p:spTgt spid="4">
                                            <p:txEl>
                                              <p:pRg st="0" end="0"/>
                                            </p:txEl>
                                          </p:spTgt>
                                        </p:tgtEl>
                                      </p:cBhvr>
                                    </p:animEffect>
                                  </p:childTnLst>
                                </p:cTn>
                              </p:par>
                              <p:par>
                                <p:cTn id="13" presetID="6" presetClass="entr" presetSubtype="16"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circle(in)">
                                      <p:cBhvr>
                                        <p:cTn id="15" dur="2000"/>
                                        <p:tgtEl>
                                          <p:spTgt spid="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1000" fill="hold"/>
                                        <p:tgtEl>
                                          <p:spTgt spid="6"/>
                                        </p:tgtEl>
                                        <p:attrNameLst>
                                          <p:attrName>ppt_w</p:attrName>
                                        </p:attrNameLst>
                                      </p:cBhvr>
                                      <p:tavLst>
                                        <p:tav tm="0">
                                          <p:val>
                                            <p:fltVal val="0"/>
                                          </p:val>
                                        </p:tav>
                                        <p:tav tm="100000">
                                          <p:val>
                                            <p:strVal val="#ppt_w"/>
                                          </p:val>
                                        </p:tav>
                                      </p:tavLst>
                                    </p:anim>
                                    <p:anim calcmode="lin" valueType="num">
                                      <p:cBhvr>
                                        <p:cTn id="21" dur="1000" fill="hold"/>
                                        <p:tgtEl>
                                          <p:spTgt spid="6"/>
                                        </p:tgtEl>
                                        <p:attrNameLst>
                                          <p:attrName>ppt_h</p:attrName>
                                        </p:attrNameLst>
                                      </p:cBhvr>
                                      <p:tavLst>
                                        <p:tav tm="0">
                                          <p:val>
                                            <p:fltVal val="0"/>
                                          </p:val>
                                        </p:tav>
                                        <p:tav tm="100000">
                                          <p:val>
                                            <p:strVal val="#ppt_h"/>
                                          </p:val>
                                        </p:tav>
                                      </p:tavLst>
                                    </p:anim>
                                    <p:anim calcmode="lin" valueType="num">
                                      <p:cBhvr>
                                        <p:cTn id="22" dur="1000" fill="hold"/>
                                        <p:tgtEl>
                                          <p:spTgt spid="6"/>
                                        </p:tgtEl>
                                        <p:attrNameLst>
                                          <p:attrName>style.rotation</p:attrName>
                                        </p:attrNameLst>
                                      </p:cBhvr>
                                      <p:tavLst>
                                        <p:tav tm="0">
                                          <p:val>
                                            <p:fltVal val="90"/>
                                          </p:val>
                                        </p:tav>
                                        <p:tav tm="100000">
                                          <p:val>
                                            <p:fltVal val="0"/>
                                          </p:val>
                                        </p:tav>
                                      </p:tavLst>
                                    </p:anim>
                                    <p:animEffect transition="in" filter="fade">
                                      <p:cBhvr>
                                        <p:cTn id="23" dur="10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1000" fill="hold"/>
                                        <p:tgtEl>
                                          <p:spTgt spid="8"/>
                                        </p:tgtEl>
                                        <p:attrNameLst>
                                          <p:attrName>ppt_w</p:attrName>
                                        </p:attrNameLst>
                                      </p:cBhvr>
                                      <p:tavLst>
                                        <p:tav tm="0">
                                          <p:val>
                                            <p:fltVal val="0"/>
                                          </p:val>
                                        </p:tav>
                                        <p:tav tm="100000">
                                          <p:val>
                                            <p:strVal val="#ppt_w"/>
                                          </p:val>
                                        </p:tav>
                                      </p:tavLst>
                                    </p:anim>
                                    <p:anim calcmode="lin" valueType="num">
                                      <p:cBhvr>
                                        <p:cTn id="29" dur="1000" fill="hold"/>
                                        <p:tgtEl>
                                          <p:spTgt spid="8"/>
                                        </p:tgtEl>
                                        <p:attrNameLst>
                                          <p:attrName>ppt_h</p:attrName>
                                        </p:attrNameLst>
                                      </p:cBhvr>
                                      <p:tavLst>
                                        <p:tav tm="0">
                                          <p:val>
                                            <p:fltVal val="0"/>
                                          </p:val>
                                        </p:tav>
                                        <p:tav tm="100000">
                                          <p:val>
                                            <p:strVal val="#ppt_h"/>
                                          </p:val>
                                        </p:tav>
                                      </p:tavLst>
                                    </p:anim>
                                    <p:anim calcmode="lin" valueType="num">
                                      <p:cBhvr>
                                        <p:cTn id="30" dur="1000" fill="hold"/>
                                        <p:tgtEl>
                                          <p:spTgt spid="8"/>
                                        </p:tgtEl>
                                        <p:attrNameLst>
                                          <p:attrName>style.rotation</p:attrName>
                                        </p:attrNameLst>
                                      </p:cBhvr>
                                      <p:tavLst>
                                        <p:tav tm="0">
                                          <p:val>
                                            <p:fltVal val="90"/>
                                          </p:val>
                                        </p:tav>
                                        <p:tav tm="100000">
                                          <p:val>
                                            <p:fltVal val="0"/>
                                          </p:val>
                                        </p:tav>
                                      </p:tavLst>
                                    </p:anim>
                                    <p:animEffect transition="in" filter="fade">
                                      <p:cBhvr>
                                        <p:cTn id="31" dur="10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4">
                                            <p:txEl>
                                              <p:pRg st="2" end="2"/>
                                            </p:txEl>
                                          </p:spTgt>
                                        </p:tgtEl>
                                        <p:attrNameLst>
                                          <p:attrName>style.visibility</p:attrName>
                                        </p:attrNameLst>
                                      </p:cBhvr>
                                      <p:to>
                                        <p:strVal val="visible"/>
                                      </p:to>
                                    </p:set>
                                    <p:animEffect transition="in" filter="circle(in)">
                                      <p:cBhvr>
                                        <p:cTn id="36" dur="2000"/>
                                        <p:tgtEl>
                                          <p:spTgt spid="4">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6" presetClass="entr" presetSubtype="16" fill="hold"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animEffect transition="in" filter="circle(in)">
                                      <p:cBhvr>
                                        <p:cTn id="41" dur="2000"/>
                                        <p:tgtEl>
                                          <p:spTgt spid="4">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1" presetClass="entr" presetSubtype="0" fill="hold" nodeType="click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p:cTn id="46" dur="1000" fill="hold"/>
                                        <p:tgtEl>
                                          <p:spTgt spid="14"/>
                                        </p:tgtEl>
                                        <p:attrNameLst>
                                          <p:attrName>ppt_w</p:attrName>
                                        </p:attrNameLst>
                                      </p:cBhvr>
                                      <p:tavLst>
                                        <p:tav tm="0">
                                          <p:val>
                                            <p:fltVal val="0"/>
                                          </p:val>
                                        </p:tav>
                                        <p:tav tm="100000">
                                          <p:val>
                                            <p:strVal val="#ppt_w"/>
                                          </p:val>
                                        </p:tav>
                                      </p:tavLst>
                                    </p:anim>
                                    <p:anim calcmode="lin" valueType="num">
                                      <p:cBhvr>
                                        <p:cTn id="47" dur="1000" fill="hold"/>
                                        <p:tgtEl>
                                          <p:spTgt spid="14"/>
                                        </p:tgtEl>
                                        <p:attrNameLst>
                                          <p:attrName>ppt_h</p:attrName>
                                        </p:attrNameLst>
                                      </p:cBhvr>
                                      <p:tavLst>
                                        <p:tav tm="0">
                                          <p:val>
                                            <p:fltVal val="0"/>
                                          </p:val>
                                        </p:tav>
                                        <p:tav tm="100000">
                                          <p:val>
                                            <p:strVal val="#ppt_h"/>
                                          </p:val>
                                        </p:tav>
                                      </p:tavLst>
                                    </p:anim>
                                    <p:anim calcmode="lin" valueType="num">
                                      <p:cBhvr>
                                        <p:cTn id="48" dur="1000" fill="hold"/>
                                        <p:tgtEl>
                                          <p:spTgt spid="14"/>
                                        </p:tgtEl>
                                        <p:attrNameLst>
                                          <p:attrName>style.rotation</p:attrName>
                                        </p:attrNameLst>
                                      </p:cBhvr>
                                      <p:tavLst>
                                        <p:tav tm="0">
                                          <p:val>
                                            <p:fltVal val="90"/>
                                          </p:val>
                                        </p:tav>
                                        <p:tav tm="100000">
                                          <p:val>
                                            <p:fltVal val="0"/>
                                          </p:val>
                                        </p:tav>
                                      </p:tavLst>
                                    </p:anim>
                                    <p:animEffect transition="in" filter="fade">
                                      <p:cBhvr>
                                        <p:cTn id="49"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BE2509F-165C-4AE3-B58F-F7CBA8E525DE}"/>
              </a:ext>
            </a:extLst>
          </p:cNvPr>
          <p:cNvPicPr>
            <a:picLocks noChangeAspect="1"/>
          </p:cNvPicPr>
          <p:nvPr/>
        </p:nvPicPr>
        <p:blipFill>
          <a:blip r:embed="rId2"/>
          <a:stretch>
            <a:fillRect/>
          </a:stretch>
        </p:blipFill>
        <p:spPr>
          <a:xfrm>
            <a:off x="0" y="315675"/>
            <a:ext cx="6169894" cy="3832813"/>
          </a:xfrm>
          <a:prstGeom prst="rect">
            <a:avLst/>
          </a:prstGeom>
        </p:spPr>
      </p:pic>
      <p:sp>
        <p:nvSpPr>
          <p:cNvPr id="4" name="Content Placeholder 3"/>
          <p:cNvSpPr>
            <a:spLocks noGrp="1"/>
          </p:cNvSpPr>
          <p:nvPr>
            <p:ph sz="half" idx="1"/>
          </p:nvPr>
        </p:nvSpPr>
        <p:spPr>
          <a:xfrm>
            <a:off x="6596196" y="174681"/>
            <a:ext cx="5080000" cy="4114800"/>
          </a:xfrm>
        </p:spPr>
        <p:txBody>
          <a:bodyPr/>
          <a:lstStyle/>
          <a:p>
            <a:r>
              <a:rPr lang="zh-CN" altLang="en-US" sz="2400" b="1" dirty="0"/>
              <a:t>至此，苏格拉底与波策马尔科的对话告一段落。</a:t>
            </a:r>
            <a:endParaRPr lang="en-US" altLang="zh-CN" sz="2400" b="1" dirty="0"/>
          </a:p>
          <a:p>
            <a:r>
              <a:rPr lang="zh-CN" altLang="en-US" sz="2400" b="1" dirty="0"/>
              <a:t>但苏格拉底接着提出了一个值得注意的看法，他说，扶友损敌可能是一些自以为有大能耐的有钱人说的</a:t>
            </a:r>
            <a:r>
              <a:rPr lang="en-US" altLang="zh-CN" sz="2400" b="1" dirty="0"/>
              <a:t>——</a:t>
            </a:r>
            <a:r>
              <a:rPr lang="zh-CN" altLang="en-US" sz="2400" b="1" dirty="0"/>
              <a:t>并得到了波策马尔科的肯定。</a:t>
            </a:r>
            <a:endParaRPr lang="en-US" altLang="zh-CN" sz="2400" b="1" dirty="0"/>
          </a:p>
          <a:p>
            <a:r>
              <a:rPr lang="zh-CN" altLang="en-US" sz="2400" b="1" dirty="0"/>
              <a:t>这不是一段无足轻重的插曲。这些人是历史上真实存在过的人，他们野心勃勃，想要操控城邦的政治。而波策马尔科承认受到他们的观点影响，表明：人们（尤其年轻人）的伦理观念受到</a:t>
            </a:r>
            <a:r>
              <a:rPr lang="zh-CN" altLang="en-US" sz="2400" b="1" dirty="0">
                <a:solidFill>
                  <a:srgbClr val="FF0000"/>
                </a:solidFill>
              </a:rPr>
              <a:t>城邦政治生活</a:t>
            </a:r>
            <a:r>
              <a:rPr lang="zh-CN" altLang="en-US" sz="2400" b="1" dirty="0"/>
              <a:t>的影响。</a:t>
            </a:r>
            <a:endParaRPr lang="en-US" altLang="zh-CN" sz="2400" b="1" dirty="0"/>
          </a:p>
          <a:p>
            <a:r>
              <a:rPr lang="zh-CN" altLang="en-US" sz="2400" b="1" dirty="0"/>
              <a:t>因此，接下来的讨论就进入到政治领域。</a:t>
            </a:r>
          </a:p>
        </p:txBody>
      </p:sp>
      <p:cxnSp>
        <p:nvCxnSpPr>
          <p:cNvPr id="12" name="Straight Connector 11"/>
          <p:cNvCxnSpPr/>
          <p:nvPr/>
        </p:nvCxnSpPr>
        <p:spPr>
          <a:xfrm flipV="1">
            <a:off x="2162083" y="2350013"/>
            <a:ext cx="3182949" cy="1396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1806096" y="2654295"/>
            <a:ext cx="3894925" cy="698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1712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ircle(in)">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circle(in)">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1000" fill="hold"/>
                                        <p:tgtEl>
                                          <p:spTgt spid="12"/>
                                        </p:tgtEl>
                                        <p:attrNameLst>
                                          <p:attrName>ppt_w</p:attrName>
                                        </p:attrNameLst>
                                      </p:cBhvr>
                                      <p:tavLst>
                                        <p:tav tm="0">
                                          <p:val>
                                            <p:fltVal val="0"/>
                                          </p:val>
                                        </p:tav>
                                        <p:tav tm="100000">
                                          <p:val>
                                            <p:strVal val="#ppt_w"/>
                                          </p:val>
                                        </p:tav>
                                      </p:tavLst>
                                    </p:anim>
                                    <p:anim calcmode="lin" valueType="num">
                                      <p:cBhvr>
                                        <p:cTn id="18" dur="1000" fill="hold"/>
                                        <p:tgtEl>
                                          <p:spTgt spid="12"/>
                                        </p:tgtEl>
                                        <p:attrNameLst>
                                          <p:attrName>ppt_h</p:attrName>
                                        </p:attrNameLst>
                                      </p:cBhvr>
                                      <p:tavLst>
                                        <p:tav tm="0">
                                          <p:val>
                                            <p:fltVal val="0"/>
                                          </p:val>
                                        </p:tav>
                                        <p:tav tm="100000">
                                          <p:val>
                                            <p:strVal val="#ppt_h"/>
                                          </p:val>
                                        </p:tav>
                                      </p:tavLst>
                                    </p:anim>
                                    <p:anim calcmode="lin" valueType="num">
                                      <p:cBhvr>
                                        <p:cTn id="19" dur="1000" fill="hold"/>
                                        <p:tgtEl>
                                          <p:spTgt spid="12"/>
                                        </p:tgtEl>
                                        <p:attrNameLst>
                                          <p:attrName>style.rotation</p:attrName>
                                        </p:attrNameLst>
                                      </p:cBhvr>
                                      <p:tavLst>
                                        <p:tav tm="0">
                                          <p:val>
                                            <p:fltVal val="90"/>
                                          </p:val>
                                        </p:tav>
                                        <p:tav tm="100000">
                                          <p:val>
                                            <p:fltVal val="0"/>
                                          </p:val>
                                        </p:tav>
                                      </p:tavLst>
                                    </p:anim>
                                    <p:animEffect transition="in" filter="fade">
                                      <p:cBhvr>
                                        <p:cTn id="20" dur="10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p:cTn id="25" dur="1000" fill="hold"/>
                                        <p:tgtEl>
                                          <p:spTgt spid="14"/>
                                        </p:tgtEl>
                                        <p:attrNameLst>
                                          <p:attrName>ppt_w</p:attrName>
                                        </p:attrNameLst>
                                      </p:cBhvr>
                                      <p:tavLst>
                                        <p:tav tm="0">
                                          <p:val>
                                            <p:fltVal val="0"/>
                                          </p:val>
                                        </p:tav>
                                        <p:tav tm="100000">
                                          <p:val>
                                            <p:strVal val="#ppt_w"/>
                                          </p:val>
                                        </p:tav>
                                      </p:tavLst>
                                    </p:anim>
                                    <p:anim calcmode="lin" valueType="num">
                                      <p:cBhvr>
                                        <p:cTn id="26" dur="1000" fill="hold"/>
                                        <p:tgtEl>
                                          <p:spTgt spid="14"/>
                                        </p:tgtEl>
                                        <p:attrNameLst>
                                          <p:attrName>ppt_h</p:attrName>
                                        </p:attrNameLst>
                                      </p:cBhvr>
                                      <p:tavLst>
                                        <p:tav tm="0">
                                          <p:val>
                                            <p:fltVal val="0"/>
                                          </p:val>
                                        </p:tav>
                                        <p:tav tm="100000">
                                          <p:val>
                                            <p:strVal val="#ppt_h"/>
                                          </p:val>
                                        </p:tav>
                                      </p:tavLst>
                                    </p:anim>
                                    <p:anim calcmode="lin" valueType="num">
                                      <p:cBhvr>
                                        <p:cTn id="27" dur="1000" fill="hold"/>
                                        <p:tgtEl>
                                          <p:spTgt spid="14"/>
                                        </p:tgtEl>
                                        <p:attrNameLst>
                                          <p:attrName>style.rotation</p:attrName>
                                        </p:attrNameLst>
                                      </p:cBhvr>
                                      <p:tavLst>
                                        <p:tav tm="0">
                                          <p:val>
                                            <p:fltVal val="90"/>
                                          </p:val>
                                        </p:tav>
                                        <p:tav tm="100000">
                                          <p:val>
                                            <p:fltVal val="0"/>
                                          </p:val>
                                        </p:tav>
                                      </p:tavLst>
                                    </p:anim>
                                    <p:animEffect transition="in" filter="fade">
                                      <p:cBhvr>
                                        <p:cTn id="28" dur="10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anim calcmode="lin" valueType="num">
                                      <p:cBhvr>
                                        <p:cTn id="33" dur="1000" fill="hold"/>
                                        <p:tgtEl>
                                          <p:spTgt spid="4">
                                            <p:txEl>
                                              <p:pRg st="2" end="2"/>
                                            </p:txEl>
                                          </p:spTgt>
                                        </p:tgtEl>
                                        <p:attrNameLst>
                                          <p:attrName>ppt_w</p:attrName>
                                        </p:attrNameLst>
                                      </p:cBhvr>
                                      <p:tavLst>
                                        <p:tav tm="0">
                                          <p:val>
                                            <p:fltVal val="0"/>
                                          </p:val>
                                        </p:tav>
                                        <p:tav tm="100000">
                                          <p:val>
                                            <p:strVal val="#ppt_w"/>
                                          </p:val>
                                        </p:tav>
                                      </p:tavLst>
                                    </p:anim>
                                    <p:anim calcmode="lin" valueType="num">
                                      <p:cBhvr>
                                        <p:cTn id="34" dur="1000" fill="hold"/>
                                        <p:tgtEl>
                                          <p:spTgt spid="4">
                                            <p:txEl>
                                              <p:pRg st="2" end="2"/>
                                            </p:txEl>
                                          </p:spTgt>
                                        </p:tgtEl>
                                        <p:attrNameLst>
                                          <p:attrName>ppt_h</p:attrName>
                                        </p:attrNameLst>
                                      </p:cBhvr>
                                      <p:tavLst>
                                        <p:tav tm="0">
                                          <p:val>
                                            <p:fltVal val="0"/>
                                          </p:val>
                                        </p:tav>
                                        <p:tav tm="100000">
                                          <p:val>
                                            <p:strVal val="#ppt_h"/>
                                          </p:val>
                                        </p:tav>
                                      </p:tavLst>
                                    </p:anim>
                                    <p:anim calcmode="lin" valueType="num">
                                      <p:cBhvr>
                                        <p:cTn id="35" dur="1000" fill="hold"/>
                                        <p:tgtEl>
                                          <p:spTgt spid="4">
                                            <p:txEl>
                                              <p:pRg st="2" end="2"/>
                                            </p:txEl>
                                          </p:spTgt>
                                        </p:tgtEl>
                                        <p:attrNameLst>
                                          <p:attrName>style.rotation</p:attrName>
                                        </p:attrNameLst>
                                      </p:cBhvr>
                                      <p:tavLst>
                                        <p:tav tm="0">
                                          <p:val>
                                            <p:fltVal val="90"/>
                                          </p:val>
                                        </p:tav>
                                        <p:tav tm="100000">
                                          <p:val>
                                            <p:fltVal val="0"/>
                                          </p:val>
                                        </p:tav>
                                      </p:tavLst>
                                    </p:anim>
                                    <p:animEffect transition="in" filter="fade">
                                      <p:cBhvr>
                                        <p:cTn id="36" dur="1000"/>
                                        <p:tgtEl>
                                          <p:spTgt spid="4">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nodeType="clickEffect">
                                  <p:stCondLst>
                                    <p:cond delay="0"/>
                                  </p:stCondLst>
                                  <p:childTnLst>
                                    <p:set>
                                      <p:cBhvr>
                                        <p:cTn id="40" dur="1" fill="hold">
                                          <p:stCondLst>
                                            <p:cond delay="0"/>
                                          </p:stCondLst>
                                        </p:cTn>
                                        <p:tgtEl>
                                          <p:spTgt spid="4">
                                            <p:txEl>
                                              <p:pRg st="3" end="3"/>
                                            </p:txEl>
                                          </p:spTgt>
                                        </p:tgtEl>
                                        <p:attrNameLst>
                                          <p:attrName>style.visibility</p:attrName>
                                        </p:attrNameLst>
                                      </p:cBhvr>
                                      <p:to>
                                        <p:strVal val="visible"/>
                                      </p:to>
                                    </p:set>
                                    <p:anim calcmode="lin" valueType="num">
                                      <p:cBhvr>
                                        <p:cTn id="41" dur="1000" fill="hold"/>
                                        <p:tgtEl>
                                          <p:spTgt spid="4">
                                            <p:txEl>
                                              <p:pRg st="3" end="3"/>
                                            </p:txEl>
                                          </p:spTgt>
                                        </p:tgtEl>
                                        <p:attrNameLst>
                                          <p:attrName>ppt_w</p:attrName>
                                        </p:attrNameLst>
                                      </p:cBhvr>
                                      <p:tavLst>
                                        <p:tav tm="0">
                                          <p:val>
                                            <p:fltVal val="0"/>
                                          </p:val>
                                        </p:tav>
                                        <p:tav tm="100000">
                                          <p:val>
                                            <p:strVal val="#ppt_w"/>
                                          </p:val>
                                        </p:tav>
                                      </p:tavLst>
                                    </p:anim>
                                    <p:anim calcmode="lin" valueType="num">
                                      <p:cBhvr>
                                        <p:cTn id="42" dur="1000" fill="hold"/>
                                        <p:tgtEl>
                                          <p:spTgt spid="4">
                                            <p:txEl>
                                              <p:pRg st="3" end="3"/>
                                            </p:txEl>
                                          </p:spTgt>
                                        </p:tgtEl>
                                        <p:attrNameLst>
                                          <p:attrName>ppt_h</p:attrName>
                                        </p:attrNameLst>
                                      </p:cBhvr>
                                      <p:tavLst>
                                        <p:tav tm="0">
                                          <p:val>
                                            <p:fltVal val="0"/>
                                          </p:val>
                                        </p:tav>
                                        <p:tav tm="100000">
                                          <p:val>
                                            <p:strVal val="#ppt_h"/>
                                          </p:val>
                                        </p:tav>
                                      </p:tavLst>
                                    </p:anim>
                                    <p:anim calcmode="lin" valueType="num">
                                      <p:cBhvr>
                                        <p:cTn id="43" dur="1000" fill="hold"/>
                                        <p:tgtEl>
                                          <p:spTgt spid="4">
                                            <p:txEl>
                                              <p:pRg st="3" end="3"/>
                                            </p:txEl>
                                          </p:spTgt>
                                        </p:tgtEl>
                                        <p:attrNameLst>
                                          <p:attrName>style.rotation</p:attrName>
                                        </p:attrNameLst>
                                      </p:cBhvr>
                                      <p:tavLst>
                                        <p:tav tm="0">
                                          <p:val>
                                            <p:fltVal val="90"/>
                                          </p:val>
                                        </p:tav>
                                        <p:tav tm="100000">
                                          <p:val>
                                            <p:fltVal val="0"/>
                                          </p:val>
                                        </p:tav>
                                      </p:tavLst>
                                    </p:anim>
                                    <p:animEffect transition="in" filter="fade">
                                      <p:cBhvr>
                                        <p:cTn id="44" dur="1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r"/>
            <a:br>
              <a:rPr lang="zh-CN" altLang="en-US" dirty="0"/>
            </a:br>
            <a:r>
              <a:rPr lang="zh-CN" altLang="en-US" sz="3600" dirty="0"/>
              <a:t>理想国第一卷</a:t>
            </a:r>
            <a:br>
              <a:rPr lang="en-US" altLang="zh-CN" sz="3600" dirty="0"/>
            </a:br>
            <a:endParaRPr lang="zh-CN" altLang="en-US" sz="3600" dirty="0"/>
          </a:p>
        </p:txBody>
      </p:sp>
      <p:sp>
        <p:nvSpPr>
          <p:cNvPr id="7" name="Text Placeholder 6"/>
          <p:cNvSpPr>
            <a:spLocks noGrp="1"/>
          </p:cNvSpPr>
          <p:nvPr>
            <p:ph type="body" idx="1"/>
          </p:nvPr>
        </p:nvSpPr>
        <p:spPr/>
        <p:txBody>
          <a:bodyPr>
            <a:normAutofit/>
          </a:bodyPr>
          <a:lstStyle/>
          <a:p>
            <a:pPr algn="r"/>
            <a:r>
              <a:rPr lang="zh-CN" altLang="en-US" sz="2800" dirty="0"/>
              <a:t>苏格拉底与智者特拉需马科的对话</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1260" y="1684378"/>
            <a:ext cx="1746225" cy="2393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9966" y="1684380"/>
            <a:ext cx="1795462" cy="239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3222171" y="2423886"/>
            <a:ext cx="856343" cy="523220"/>
          </a:xfrm>
          <a:prstGeom prst="rect">
            <a:avLst/>
          </a:prstGeom>
          <a:noFill/>
        </p:spPr>
        <p:txBody>
          <a:bodyPr wrap="square" rtlCol="0">
            <a:spAutoFit/>
          </a:bodyPr>
          <a:lstStyle/>
          <a:p>
            <a:r>
              <a:rPr lang="en-US" altLang="zh-CN" sz="2800" b="1" dirty="0"/>
              <a:t>V.S.</a:t>
            </a:r>
            <a:endParaRPr lang="zh-CN" altLang="en-US" sz="2800" b="1" dirty="0"/>
          </a:p>
        </p:txBody>
      </p:sp>
    </p:spTree>
    <p:extLst>
      <p:ext uri="{BB962C8B-B14F-4D97-AF65-F5344CB8AC3E}">
        <p14:creationId xmlns:p14="http://schemas.microsoft.com/office/powerpoint/2010/main" val="2887120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circle(in)">
                                      <p:cBhvr>
                                        <p:cTn id="12" dur="20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1027"/>
                                        </p:tgtEl>
                                        <p:attrNameLst>
                                          <p:attrName>style.visibility</p:attrName>
                                        </p:attrNameLst>
                                      </p:cBhvr>
                                      <p:to>
                                        <p:strVal val="visible"/>
                                      </p:to>
                                    </p:set>
                                    <p:animEffect transition="in" filter="wheel(1)">
                                      <p:cBhvr>
                                        <p:cTn id="17" dur="2000"/>
                                        <p:tgtEl>
                                          <p:spTgt spid="1027"/>
                                        </p:tgtEl>
                                      </p:cBhvr>
                                    </p:animEffect>
                                  </p:childTnLst>
                                </p:cTn>
                              </p:par>
                            </p:childTnLst>
                          </p:cTn>
                        </p:par>
                      </p:childTnLst>
                    </p:cTn>
                  </p:par>
                  <p:par>
                    <p:cTn id="18" fill="hold">
                      <p:stCondLst>
                        <p:cond delay="indefinite"/>
                      </p:stCondLst>
                      <p:childTnLst>
                        <p:par>
                          <p:cTn id="19" fill="hold">
                            <p:stCondLst>
                              <p:cond delay="0"/>
                            </p:stCondLst>
                            <p:childTnLst>
                              <p:par>
                                <p:cTn id="20" presetID="45" presetClass="entr" presetSubtype="0" fill="hold" nodeType="click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fade">
                                      <p:cBhvr>
                                        <p:cTn id="22" dur="2000"/>
                                        <p:tgtEl>
                                          <p:spTgt spid="8">
                                            <p:txEl>
                                              <p:pRg st="0" end="0"/>
                                            </p:txEl>
                                          </p:spTgt>
                                        </p:tgtEl>
                                      </p:cBhvr>
                                    </p:animEffect>
                                    <p:anim calcmode="lin" valueType="num">
                                      <p:cBhvr>
                                        <p:cTn id="23" dur="2000" fill="hold"/>
                                        <p:tgtEl>
                                          <p:spTgt spid="8">
                                            <p:txEl>
                                              <p:pRg st="0" end="0"/>
                                            </p:txEl>
                                          </p:spTgt>
                                        </p:tgtEl>
                                        <p:attrNameLst>
                                          <p:attrName>ppt_w</p:attrName>
                                        </p:attrNameLst>
                                      </p:cBhvr>
                                      <p:tavLst>
                                        <p:tav tm="0" fmla="#ppt_w*sin(2.5*pi*$)">
                                          <p:val>
                                            <p:fltVal val="0"/>
                                          </p:val>
                                        </p:tav>
                                        <p:tav tm="100000">
                                          <p:val>
                                            <p:fltVal val="1"/>
                                          </p:val>
                                        </p:tav>
                                      </p:tavLst>
                                    </p:anim>
                                    <p:anim calcmode="lin" valueType="num">
                                      <p:cBhvr>
                                        <p:cTn id="24" dur="2000" fill="hold"/>
                                        <p:tgtEl>
                                          <p:spTgt spid="8">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nodeType="clickEffect">
                                  <p:stCondLst>
                                    <p:cond delay="0"/>
                                  </p:stCondLst>
                                  <p:childTnLst>
                                    <p:set>
                                      <p:cBhvr>
                                        <p:cTn id="28" dur="1" fill="hold">
                                          <p:stCondLst>
                                            <p:cond delay="0"/>
                                          </p:stCondLst>
                                        </p:cTn>
                                        <p:tgtEl>
                                          <p:spTgt spid="1026"/>
                                        </p:tgtEl>
                                        <p:attrNameLst>
                                          <p:attrName>style.visibility</p:attrName>
                                        </p:attrNameLst>
                                      </p:cBhvr>
                                      <p:to>
                                        <p:strVal val="visible"/>
                                      </p:to>
                                    </p:set>
                                    <p:animEffect transition="in" filter="wheel(1)">
                                      <p:cBhvr>
                                        <p:cTn id="29" dur="2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zh-CN" altLang="en-US" sz="2400" dirty="0"/>
              <a:t>苏格拉底与特拉需马科的对话</a:t>
            </a:r>
            <a:br>
              <a:rPr lang="en-US" altLang="zh-CN" dirty="0"/>
            </a:br>
            <a:endParaRPr lang="zh-CN" altLang="en-US" dirty="0"/>
          </a:p>
        </p:txBody>
      </p:sp>
      <p:pic>
        <p:nvPicPr>
          <p:cNvPr id="6" name="内容占位符 5">
            <a:extLst>
              <a:ext uri="{FF2B5EF4-FFF2-40B4-BE49-F238E27FC236}">
                <a16:creationId xmlns:a16="http://schemas.microsoft.com/office/drawing/2014/main" id="{0AEC549C-41E9-4FF6-A18B-43945E42755A}"/>
              </a:ext>
            </a:extLst>
          </p:cNvPr>
          <p:cNvPicPr>
            <a:picLocks noGrp="1" noChangeAspect="1"/>
          </p:cNvPicPr>
          <p:nvPr>
            <p:ph sz="half" idx="1"/>
          </p:nvPr>
        </p:nvPicPr>
        <p:blipFill>
          <a:blip r:embed="rId2"/>
          <a:stretch>
            <a:fillRect/>
          </a:stretch>
        </p:blipFill>
        <p:spPr>
          <a:xfrm>
            <a:off x="152510" y="1526673"/>
            <a:ext cx="5699650" cy="3573257"/>
          </a:xfrm>
          <a:prstGeom prst="rect">
            <a:avLst/>
          </a:prstGeom>
        </p:spPr>
      </p:pic>
      <p:sp>
        <p:nvSpPr>
          <p:cNvPr id="4" name="Content Placeholder 3"/>
          <p:cNvSpPr>
            <a:spLocks noGrp="1"/>
          </p:cNvSpPr>
          <p:nvPr>
            <p:ph sz="half" idx="2"/>
          </p:nvPr>
        </p:nvSpPr>
        <p:spPr/>
        <p:txBody>
          <a:bodyPr>
            <a:normAutofit fontScale="77500" lnSpcReduction="20000"/>
          </a:bodyPr>
          <a:lstStyle/>
          <a:p>
            <a:r>
              <a:rPr lang="zh-CN" altLang="en-US" b="1" dirty="0"/>
              <a:t>特拉需马科（</a:t>
            </a:r>
            <a:r>
              <a:rPr lang="en-US" altLang="zh-CN" b="1" dirty="0" err="1"/>
              <a:t>Thrasymachus</a:t>
            </a:r>
            <a:r>
              <a:rPr lang="zh-CN" altLang="en-US" b="1" dirty="0"/>
              <a:t>）是历史上确有其人的一个智者。</a:t>
            </a:r>
            <a:endParaRPr lang="en-US" altLang="zh-CN" b="1" dirty="0"/>
          </a:p>
          <a:p>
            <a:r>
              <a:rPr lang="zh-CN" altLang="en-US" b="1" dirty="0"/>
              <a:t>特拉需马科的上场不是偶然的。苏格拉底与普通人凯帕洛和波策马尔科（生产者）的关于传统正义观念（西蒙尼代）的谈话已结束，苏格拉底正在猜想“扶友损敌”的观念是城邦里想做僭主的野心家们提出的，特拉需马科就来宣讲僭主们对正义的理解了。</a:t>
            </a:r>
          </a:p>
          <a:p>
            <a:r>
              <a:rPr lang="zh-CN" altLang="en-US" b="1" dirty="0"/>
              <a:t>“扶友损敌”不过是他们为了党同伐异、争取民众支持的烟幕弹。特拉需马科将要说出的，才是僭主们真正的政治观念。</a:t>
            </a:r>
          </a:p>
          <a:p>
            <a:endParaRPr lang="zh-CN" altLang="en-US" b="1" dirty="0"/>
          </a:p>
          <a:p>
            <a:endParaRPr lang="zh-CN" altLang="en-US" dirty="0"/>
          </a:p>
        </p:txBody>
      </p:sp>
      <p:pic>
        <p:nvPicPr>
          <p:cNvPr id="7" name="图片 6">
            <a:extLst>
              <a:ext uri="{FF2B5EF4-FFF2-40B4-BE49-F238E27FC236}">
                <a16:creationId xmlns:a16="http://schemas.microsoft.com/office/drawing/2014/main" id="{02A511D8-C94B-4521-9DC2-166B357C1FC2}"/>
              </a:ext>
            </a:extLst>
          </p:cNvPr>
          <p:cNvPicPr>
            <a:picLocks noChangeAspect="1"/>
          </p:cNvPicPr>
          <p:nvPr/>
        </p:nvPicPr>
        <p:blipFill>
          <a:blip r:embed="rId3"/>
          <a:stretch>
            <a:fillRect/>
          </a:stretch>
        </p:blipFill>
        <p:spPr>
          <a:xfrm>
            <a:off x="1497313" y="3398517"/>
            <a:ext cx="1304657" cy="60965"/>
          </a:xfrm>
          <a:prstGeom prst="rect">
            <a:avLst/>
          </a:prstGeom>
        </p:spPr>
      </p:pic>
    </p:spTree>
    <p:extLst>
      <p:ext uri="{BB962C8B-B14F-4D97-AF65-F5344CB8AC3E}">
        <p14:creationId xmlns:p14="http://schemas.microsoft.com/office/powerpoint/2010/main" val="2550042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ircle(in)">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circle(in)">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circle(in)">
                                      <p:cBhvr>
                                        <p:cTn id="17" dur="2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zh-CN" altLang="en-US"/>
          </a:p>
        </p:txBody>
      </p:sp>
      <p:pic>
        <p:nvPicPr>
          <p:cNvPr id="2050"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1088571" y="3415431"/>
            <a:ext cx="4070502" cy="2585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Content Placeholder 6"/>
          <p:cNvSpPr>
            <a:spLocks noGrp="1"/>
          </p:cNvSpPr>
          <p:nvPr>
            <p:ph sz="half" idx="2"/>
          </p:nvPr>
        </p:nvSpPr>
        <p:spPr/>
        <p:txBody>
          <a:bodyPr/>
          <a:lstStyle/>
          <a:p>
            <a:endParaRPr lang="zh-CN" altLang="en-US"/>
          </a:p>
        </p:txBody>
      </p:sp>
      <p:pic>
        <p:nvPicPr>
          <p:cNvPr id="276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4087" y="333373"/>
            <a:ext cx="5887131" cy="6105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1045028" y="2017486"/>
            <a:ext cx="4644572" cy="923330"/>
          </a:xfrm>
          <a:prstGeom prst="rect">
            <a:avLst/>
          </a:prstGeom>
          <a:noFill/>
        </p:spPr>
        <p:txBody>
          <a:bodyPr wrap="square" rtlCol="0">
            <a:spAutoFit/>
          </a:bodyPr>
          <a:lstStyle/>
          <a:p>
            <a:r>
              <a:rPr lang="zh-CN" altLang="en-US" dirty="0"/>
              <a:t>柏拉图对特拉需马科的描述很有戏剧性，值得注意。特拉需马科多次被描述为动物或野兽。后文第六卷对智者的全面批评与之呼应。</a:t>
            </a:r>
          </a:p>
        </p:txBody>
      </p:sp>
    </p:spTree>
    <p:extLst>
      <p:ext uri="{BB962C8B-B14F-4D97-AF65-F5344CB8AC3E}">
        <p14:creationId xmlns:p14="http://schemas.microsoft.com/office/powerpoint/2010/main" val="3664657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circle(in)">
                                      <p:cBhvr>
                                        <p:cTn id="7" dur="2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7650"/>
                                        </p:tgtEl>
                                        <p:attrNameLst>
                                          <p:attrName>style.visibility</p:attrName>
                                        </p:attrNameLst>
                                      </p:cBhvr>
                                      <p:to>
                                        <p:strVal val="visible"/>
                                      </p:to>
                                    </p:set>
                                    <p:animEffect transition="in" filter="randombar(horizontal)">
                                      <p:cBhvr>
                                        <p:cTn id="12" dur="500"/>
                                        <p:tgtEl>
                                          <p:spTgt spid="27650"/>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050"/>
                                        </p:tgtEl>
                                        <p:attrNameLst>
                                          <p:attrName>style.visibility</p:attrName>
                                        </p:attrNameLst>
                                      </p:cBhvr>
                                      <p:to>
                                        <p:strVal val="visible"/>
                                      </p:to>
                                    </p:set>
                                    <p:animEffect transition="in" filter="randombar(horizontal)">
                                      <p:cBhvr>
                                        <p:cTn id="1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ltLang="zh-CN" dirty="0"/>
            </a:br>
            <a:r>
              <a:rPr lang="zh-CN" altLang="en-US" sz="2700" dirty="0"/>
              <a:t>对话回合</a:t>
            </a:r>
            <a:r>
              <a:rPr lang="en-US" altLang="zh-CN" sz="2700" dirty="0"/>
              <a:t>1</a:t>
            </a:r>
            <a:br>
              <a:rPr lang="en-US" altLang="zh-CN" dirty="0"/>
            </a:br>
            <a:endParaRPr lang="zh-CN" altLang="en-US" dirty="0"/>
          </a:p>
        </p:txBody>
      </p:sp>
      <p:sp>
        <p:nvSpPr>
          <p:cNvPr id="3" name="Content Placeholder 2"/>
          <p:cNvSpPr>
            <a:spLocks noGrp="1"/>
          </p:cNvSpPr>
          <p:nvPr>
            <p:ph sz="half" idx="1"/>
          </p:nvPr>
        </p:nvSpPr>
        <p:spPr/>
        <p:txBody>
          <a:bodyPr/>
          <a:lstStyle/>
          <a:p>
            <a:pPr marL="0" indent="0">
              <a:buNone/>
            </a:pPr>
            <a:r>
              <a:rPr lang="zh-CN" altLang="en-US" dirty="0"/>
              <a:t>特拉需马科：</a:t>
            </a:r>
            <a:endParaRPr lang="en-US" altLang="zh-CN" dirty="0"/>
          </a:p>
          <a:p>
            <a:r>
              <a:rPr lang="zh-CN" altLang="en-US" dirty="0"/>
              <a:t>正义是强者的利益。</a:t>
            </a:r>
            <a:endParaRPr lang="en-US" altLang="zh-CN" dirty="0"/>
          </a:p>
          <a:p>
            <a:pPr marL="0" indent="0">
              <a:buNone/>
            </a:pPr>
            <a:r>
              <a:rPr lang="zh-CN" altLang="en-US" dirty="0"/>
              <a:t>苏格拉底：</a:t>
            </a:r>
            <a:endParaRPr lang="en-US" altLang="zh-CN" dirty="0"/>
          </a:p>
          <a:p>
            <a:r>
              <a:rPr lang="zh-CN" altLang="en-US" dirty="0"/>
              <a:t>这是什么意思呢？</a:t>
            </a:r>
          </a:p>
        </p:txBody>
      </p:sp>
      <p:sp>
        <p:nvSpPr>
          <p:cNvPr id="4" name="Content Placeholder 3"/>
          <p:cNvSpPr>
            <a:spLocks noGrp="1"/>
          </p:cNvSpPr>
          <p:nvPr>
            <p:ph sz="half" idx="2"/>
          </p:nvPr>
        </p:nvSpPr>
        <p:spPr/>
        <p:txBody>
          <a:bodyPr/>
          <a:lstStyle/>
          <a:p>
            <a:endParaRPr lang="zh-CN" altLang="en-US"/>
          </a:p>
        </p:txBody>
      </p:sp>
      <p:pic>
        <p:nvPicPr>
          <p:cNvPr id="5" name="图片 4">
            <a:extLst>
              <a:ext uri="{FF2B5EF4-FFF2-40B4-BE49-F238E27FC236}">
                <a16:creationId xmlns:a16="http://schemas.microsoft.com/office/drawing/2014/main" id="{C46FB365-E7EE-4762-8499-251CB159E1F2}"/>
              </a:ext>
            </a:extLst>
          </p:cNvPr>
          <p:cNvPicPr>
            <a:picLocks noChangeAspect="1"/>
          </p:cNvPicPr>
          <p:nvPr/>
        </p:nvPicPr>
        <p:blipFill>
          <a:blip r:embed="rId2"/>
          <a:stretch>
            <a:fillRect/>
          </a:stretch>
        </p:blipFill>
        <p:spPr>
          <a:xfrm>
            <a:off x="6344223" y="0"/>
            <a:ext cx="5050999" cy="6858000"/>
          </a:xfrm>
          <a:prstGeom prst="rect">
            <a:avLst/>
          </a:prstGeom>
        </p:spPr>
      </p:pic>
      <p:pic>
        <p:nvPicPr>
          <p:cNvPr id="7" name="图片 6">
            <a:extLst>
              <a:ext uri="{FF2B5EF4-FFF2-40B4-BE49-F238E27FC236}">
                <a16:creationId xmlns:a16="http://schemas.microsoft.com/office/drawing/2014/main" id="{20A33612-01E8-41E5-A6CF-40C4ADFDB21D}"/>
              </a:ext>
            </a:extLst>
          </p:cNvPr>
          <p:cNvPicPr>
            <a:picLocks noChangeAspect="1"/>
          </p:cNvPicPr>
          <p:nvPr/>
        </p:nvPicPr>
        <p:blipFill>
          <a:blip r:embed="rId3"/>
          <a:stretch>
            <a:fillRect/>
          </a:stretch>
        </p:blipFill>
        <p:spPr>
          <a:xfrm>
            <a:off x="6941921" y="4068758"/>
            <a:ext cx="4133446" cy="48772"/>
          </a:xfrm>
          <a:prstGeom prst="rect">
            <a:avLst/>
          </a:prstGeom>
        </p:spPr>
      </p:pic>
      <p:pic>
        <p:nvPicPr>
          <p:cNvPr id="8" name="图片 7">
            <a:extLst>
              <a:ext uri="{FF2B5EF4-FFF2-40B4-BE49-F238E27FC236}">
                <a16:creationId xmlns:a16="http://schemas.microsoft.com/office/drawing/2014/main" id="{B5BAD2B2-1D59-4530-A997-07904C6A4480}"/>
              </a:ext>
            </a:extLst>
          </p:cNvPr>
          <p:cNvPicPr>
            <a:picLocks noChangeAspect="1"/>
          </p:cNvPicPr>
          <p:nvPr/>
        </p:nvPicPr>
        <p:blipFill>
          <a:blip r:embed="rId4"/>
          <a:stretch>
            <a:fillRect/>
          </a:stretch>
        </p:blipFill>
        <p:spPr>
          <a:xfrm>
            <a:off x="8575576" y="5030803"/>
            <a:ext cx="1201016" cy="30483"/>
          </a:xfrm>
          <a:prstGeom prst="rect">
            <a:avLst/>
          </a:prstGeom>
        </p:spPr>
      </p:pic>
    </p:spTree>
    <p:extLst>
      <p:ext uri="{BB962C8B-B14F-4D97-AF65-F5344CB8AC3E}">
        <p14:creationId xmlns:p14="http://schemas.microsoft.com/office/powerpoint/2010/main" val="1944433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par>
                                <p:cTn id="8" presetID="21" presetClass="entr" presetSubtype="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heel(1)">
                                      <p:cBhvr>
                                        <p:cTn id="10" dur="20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heel(1)">
                                      <p:cBhvr>
                                        <p:cTn id="15" dur="2000"/>
                                        <p:tgtEl>
                                          <p:spTgt spid="3">
                                            <p:txEl>
                                              <p:pRg st="2" end="2"/>
                                            </p:txEl>
                                          </p:spTgt>
                                        </p:tgtEl>
                                      </p:cBhvr>
                                    </p:animEffect>
                                  </p:childTnLst>
                                </p:cTn>
                              </p:par>
                              <p:par>
                                <p:cTn id="16" presetID="21" presetClass="entr" presetSubtype="1"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heel(1)">
                                      <p:cBhvr>
                                        <p:cTn id="18"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pPr marL="0" indent="0">
              <a:buNone/>
            </a:pPr>
            <a:r>
              <a:rPr lang="zh-CN" altLang="en-US" dirty="0"/>
              <a:t>特拉需马科的论证：</a:t>
            </a:r>
            <a:endParaRPr lang="en-US" altLang="zh-CN" dirty="0"/>
          </a:p>
          <a:p>
            <a:pPr marL="0" indent="0">
              <a:buNone/>
            </a:pPr>
            <a:r>
              <a:rPr lang="zh-CN" altLang="en-US" dirty="0"/>
              <a:t>正义是强者的利益。</a:t>
            </a:r>
            <a:r>
              <a:rPr lang="en-US" altLang="zh-CN" dirty="0"/>
              <a:t>338c-f</a:t>
            </a:r>
          </a:p>
          <a:p>
            <a:pPr marL="0" indent="0">
              <a:buNone/>
            </a:pPr>
            <a:r>
              <a:rPr lang="en-US" altLang="zh-CN" dirty="0"/>
              <a:t>1.</a:t>
            </a:r>
            <a:r>
              <a:rPr lang="zh-CN" altLang="en-US" dirty="0"/>
              <a:t>在城邦中强的，就获得统治；</a:t>
            </a:r>
          </a:p>
          <a:p>
            <a:pPr marL="0" indent="0">
              <a:buNone/>
            </a:pPr>
            <a:r>
              <a:rPr lang="en-US" altLang="zh-CN" dirty="0"/>
              <a:t>2.</a:t>
            </a:r>
            <a:r>
              <a:rPr lang="zh-CN" altLang="en-US" dirty="0"/>
              <a:t>每个政府制定对自己有利的政策；</a:t>
            </a:r>
          </a:p>
          <a:p>
            <a:pPr marL="0" indent="0">
              <a:buNone/>
            </a:pPr>
            <a:r>
              <a:rPr lang="en-US" altLang="zh-CN" dirty="0"/>
              <a:t>3. </a:t>
            </a:r>
            <a:r>
              <a:rPr lang="zh-CN" altLang="en-US" dirty="0"/>
              <a:t>然后政府宣布，对法律的主体是正义的，就是对政府自己有利的东西，并惩罚不服从法律和正义的人。</a:t>
            </a:r>
          </a:p>
          <a:p>
            <a:pPr marL="0" indent="0">
              <a:buNone/>
            </a:pPr>
            <a:r>
              <a:rPr lang="zh-CN" altLang="en-US" dirty="0"/>
              <a:t>特拉需马科的正义命题适用于从民主制到僭主制的所有政治体制。 </a:t>
            </a:r>
          </a:p>
        </p:txBody>
      </p:sp>
      <p:sp>
        <p:nvSpPr>
          <p:cNvPr id="4" name="Content Placeholder 3"/>
          <p:cNvSpPr>
            <a:spLocks noGrp="1"/>
          </p:cNvSpPr>
          <p:nvPr>
            <p:ph sz="half" idx="2"/>
          </p:nvPr>
        </p:nvSpPr>
        <p:spPr/>
        <p:txBody>
          <a:bodyPr/>
          <a:lstStyle/>
          <a:p>
            <a:endParaRPr lang="zh-CN" altLang="en-US" dirty="0"/>
          </a:p>
        </p:txBody>
      </p:sp>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9338" y="685799"/>
            <a:ext cx="5753566" cy="45214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flipV="1">
            <a:off x="7795034" y="2213183"/>
            <a:ext cx="3123445" cy="1810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6283105" y="2488565"/>
            <a:ext cx="1973655" cy="1810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6699564" y="2994463"/>
            <a:ext cx="4218915" cy="905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6283105" y="3237524"/>
            <a:ext cx="4635374" cy="1810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6283105" y="3498597"/>
            <a:ext cx="4635374" cy="905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6259661" y="3706826"/>
            <a:ext cx="3784348" cy="3621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6283105" y="4075880"/>
            <a:ext cx="4635374" cy="905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6283105" y="4295421"/>
            <a:ext cx="4635374" cy="5432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6422983" y="4908735"/>
            <a:ext cx="4635374" cy="3621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9256718" y="4602114"/>
            <a:ext cx="180163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2791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9698"/>
                                        </p:tgtEl>
                                        <p:attrNameLst>
                                          <p:attrName>style.visibility</p:attrName>
                                        </p:attrNameLst>
                                      </p:cBhvr>
                                      <p:to>
                                        <p:strVal val="visible"/>
                                      </p:to>
                                    </p:set>
                                    <p:animEffect transition="in" filter="randombar(horizontal)">
                                      <p:cBhvr>
                                        <p:cTn id="7" dur="500"/>
                                        <p:tgtEl>
                                          <p:spTgt spid="29698"/>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1000" fill="hold"/>
                                        <p:tgtEl>
                                          <p:spTgt spid="10"/>
                                        </p:tgtEl>
                                        <p:attrNameLst>
                                          <p:attrName>ppt_w</p:attrName>
                                        </p:attrNameLst>
                                      </p:cBhvr>
                                      <p:tavLst>
                                        <p:tav tm="0">
                                          <p:val>
                                            <p:fltVal val="0"/>
                                          </p:val>
                                        </p:tav>
                                        <p:tav tm="100000">
                                          <p:val>
                                            <p:strVal val="#ppt_w"/>
                                          </p:val>
                                        </p:tav>
                                      </p:tavLst>
                                    </p:anim>
                                    <p:anim calcmode="lin" valueType="num">
                                      <p:cBhvr>
                                        <p:cTn id="29" dur="1000" fill="hold"/>
                                        <p:tgtEl>
                                          <p:spTgt spid="10"/>
                                        </p:tgtEl>
                                        <p:attrNameLst>
                                          <p:attrName>ppt_h</p:attrName>
                                        </p:attrNameLst>
                                      </p:cBhvr>
                                      <p:tavLst>
                                        <p:tav tm="0">
                                          <p:val>
                                            <p:fltVal val="0"/>
                                          </p:val>
                                        </p:tav>
                                        <p:tav tm="100000">
                                          <p:val>
                                            <p:strVal val="#ppt_h"/>
                                          </p:val>
                                        </p:tav>
                                      </p:tavLst>
                                    </p:anim>
                                    <p:anim calcmode="lin" valueType="num">
                                      <p:cBhvr>
                                        <p:cTn id="30" dur="1000" fill="hold"/>
                                        <p:tgtEl>
                                          <p:spTgt spid="10"/>
                                        </p:tgtEl>
                                        <p:attrNameLst>
                                          <p:attrName>style.rotation</p:attrName>
                                        </p:attrNameLst>
                                      </p:cBhvr>
                                      <p:tavLst>
                                        <p:tav tm="0">
                                          <p:val>
                                            <p:fltVal val="90"/>
                                          </p:val>
                                        </p:tav>
                                        <p:tav tm="100000">
                                          <p:val>
                                            <p:fltVal val="0"/>
                                          </p:val>
                                        </p:tav>
                                      </p:tavLst>
                                    </p:anim>
                                    <p:animEffect transition="in" filter="fade">
                                      <p:cBhvr>
                                        <p:cTn id="31" dur="1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1000" fill="hold"/>
                                        <p:tgtEl>
                                          <p:spTgt spid="12"/>
                                        </p:tgtEl>
                                        <p:attrNameLst>
                                          <p:attrName>ppt_w</p:attrName>
                                        </p:attrNameLst>
                                      </p:cBhvr>
                                      <p:tavLst>
                                        <p:tav tm="0">
                                          <p:val>
                                            <p:fltVal val="0"/>
                                          </p:val>
                                        </p:tav>
                                        <p:tav tm="100000">
                                          <p:val>
                                            <p:strVal val="#ppt_w"/>
                                          </p:val>
                                        </p:tav>
                                      </p:tavLst>
                                    </p:anim>
                                    <p:anim calcmode="lin" valueType="num">
                                      <p:cBhvr>
                                        <p:cTn id="37" dur="1000" fill="hold"/>
                                        <p:tgtEl>
                                          <p:spTgt spid="12"/>
                                        </p:tgtEl>
                                        <p:attrNameLst>
                                          <p:attrName>ppt_h</p:attrName>
                                        </p:attrNameLst>
                                      </p:cBhvr>
                                      <p:tavLst>
                                        <p:tav tm="0">
                                          <p:val>
                                            <p:fltVal val="0"/>
                                          </p:val>
                                        </p:tav>
                                        <p:tav tm="100000">
                                          <p:val>
                                            <p:strVal val="#ppt_h"/>
                                          </p:val>
                                        </p:tav>
                                      </p:tavLst>
                                    </p:anim>
                                    <p:anim calcmode="lin" valueType="num">
                                      <p:cBhvr>
                                        <p:cTn id="38" dur="1000" fill="hold"/>
                                        <p:tgtEl>
                                          <p:spTgt spid="12"/>
                                        </p:tgtEl>
                                        <p:attrNameLst>
                                          <p:attrName>style.rotation</p:attrName>
                                        </p:attrNameLst>
                                      </p:cBhvr>
                                      <p:tavLst>
                                        <p:tav tm="0">
                                          <p:val>
                                            <p:fltVal val="90"/>
                                          </p:val>
                                        </p:tav>
                                        <p:tav tm="100000">
                                          <p:val>
                                            <p:fltVal val="0"/>
                                          </p:val>
                                        </p:tav>
                                      </p:tavLst>
                                    </p:anim>
                                    <p:animEffect transition="in" filter="fade">
                                      <p:cBhvr>
                                        <p:cTn id="39" dur="10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31" presetClass="entr" presetSubtype="0" fill="hold" nodeType="click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p:cTn id="44" dur="1000" fill="hold"/>
                                        <p:tgtEl>
                                          <p:spTgt spid="14"/>
                                        </p:tgtEl>
                                        <p:attrNameLst>
                                          <p:attrName>ppt_w</p:attrName>
                                        </p:attrNameLst>
                                      </p:cBhvr>
                                      <p:tavLst>
                                        <p:tav tm="0">
                                          <p:val>
                                            <p:fltVal val="0"/>
                                          </p:val>
                                        </p:tav>
                                        <p:tav tm="100000">
                                          <p:val>
                                            <p:strVal val="#ppt_w"/>
                                          </p:val>
                                        </p:tav>
                                      </p:tavLst>
                                    </p:anim>
                                    <p:anim calcmode="lin" valueType="num">
                                      <p:cBhvr>
                                        <p:cTn id="45" dur="1000" fill="hold"/>
                                        <p:tgtEl>
                                          <p:spTgt spid="14"/>
                                        </p:tgtEl>
                                        <p:attrNameLst>
                                          <p:attrName>ppt_h</p:attrName>
                                        </p:attrNameLst>
                                      </p:cBhvr>
                                      <p:tavLst>
                                        <p:tav tm="0">
                                          <p:val>
                                            <p:fltVal val="0"/>
                                          </p:val>
                                        </p:tav>
                                        <p:tav tm="100000">
                                          <p:val>
                                            <p:strVal val="#ppt_h"/>
                                          </p:val>
                                        </p:tav>
                                      </p:tavLst>
                                    </p:anim>
                                    <p:anim calcmode="lin" valueType="num">
                                      <p:cBhvr>
                                        <p:cTn id="46" dur="1000" fill="hold"/>
                                        <p:tgtEl>
                                          <p:spTgt spid="14"/>
                                        </p:tgtEl>
                                        <p:attrNameLst>
                                          <p:attrName>style.rotation</p:attrName>
                                        </p:attrNameLst>
                                      </p:cBhvr>
                                      <p:tavLst>
                                        <p:tav tm="0">
                                          <p:val>
                                            <p:fltVal val="90"/>
                                          </p:val>
                                        </p:tav>
                                        <p:tav tm="100000">
                                          <p:val>
                                            <p:fltVal val="0"/>
                                          </p:val>
                                        </p:tav>
                                      </p:tavLst>
                                    </p:anim>
                                    <p:animEffect transition="in" filter="fade">
                                      <p:cBhvr>
                                        <p:cTn id="47" dur="10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31" presetClass="entr" presetSubtype="0"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p:cTn id="52" dur="1000" fill="hold"/>
                                        <p:tgtEl>
                                          <p:spTgt spid="16"/>
                                        </p:tgtEl>
                                        <p:attrNameLst>
                                          <p:attrName>ppt_w</p:attrName>
                                        </p:attrNameLst>
                                      </p:cBhvr>
                                      <p:tavLst>
                                        <p:tav tm="0">
                                          <p:val>
                                            <p:fltVal val="0"/>
                                          </p:val>
                                        </p:tav>
                                        <p:tav tm="100000">
                                          <p:val>
                                            <p:strVal val="#ppt_w"/>
                                          </p:val>
                                        </p:tav>
                                      </p:tavLst>
                                    </p:anim>
                                    <p:anim calcmode="lin" valueType="num">
                                      <p:cBhvr>
                                        <p:cTn id="53" dur="1000" fill="hold"/>
                                        <p:tgtEl>
                                          <p:spTgt spid="16"/>
                                        </p:tgtEl>
                                        <p:attrNameLst>
                                          <p:attrName>ppt_h</p:attrName>
                                        </p:attrNameLst>
                                      </p:cBhvr>
                                      <p:tavLst>
                                        <p:tav tm="0">
                                          <p:val>
                                            <p:fltVal val="0"/>
                                          </p:val>
                                        </p:tav>
                                        <p:tav tm="100000">
                                          <p:val>
                                            <p:strVal val="#ppt_h"/>
                                          </p:val>
                                        </p:tav>
                                      </p:tavLst>
                                    </p:anim>
                                    <p:anim calcmode="lin" valueType="num">
                                      <p:cBhvr>
                                        <p:cTn id="54" dur="1000" fill="hold"/>
                                        <p:tgtEl>
                                          <p:spTgt spid="16"/>
                                        </p:tgtEl>
                                        <p:attrNameLst>
                                          <p:attrName>style.rotation</p:attrName>
                                        </p:attrNameLst>
                                      </p:cBhvr>
                                      <p:tavLst>
                                        <p:tav tm="0">
                                          <p:val>
                                            <p:fltVal val="90"/>
                                          </p:val>
                                        </p:tav>
                                        <p:tav tm="100000">
                                          <p:val>
                                            <p:fltVal val="0"/>
                                          </p:val>
                                        </p:tav>
                                      </p:tavLst>
                                    </p:anim>
                                    <p:animEffect transition="in" filter="fade">
                                      <p:cBhvr>
                                        <p:cTn id="55" dur="1000"/>
                                        <p:tgtEl>
                                          <p:spTgt spid="16"/>
                                        </p:tgtEl>
                                      </p:cBhvr>
                                    </p:animEffect>
                                  </p:childTnLst>
                                </p:cTn>
                              </p:par>
                            </p:childTnLst>
                          </p:cTn>
                        </p:par>
                      </p:childTnLst>
                    </p:cTn>
                  </p:par>
                  <p:par>
                    <p:cTn id="56" fill="hold">
                      <p:stCondLst>
                        <p:cond delay="indefinite"/>
                      </p:stCondLst>
                      <p:childTnLst>
                        <p:par>
                          <p:cTn id="57" fill="hold">
                            <p:stCondLst>
                              <p:cond delay="0"/>
                            </p:stCondLst>
                            <p:childTnLst>
                              <p:par>
                                <p:cTn id="58" presetID="31" presetClass="entr" presetSubtype="0" fill="hold" nodeType="click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p:cTn id="60" dur="1000" fill="hold"/>
                                        <p:tgtEl>
                                          <p:spTgt spid="18"/>
                                        </p:tgtEl>
                                        <p:attrNameLst>
                                          <p:attrName>ppt_w</p:attrName>
                                        </p:attrNameLst>
                                      </p:cBhvr>
                                      <p:tavLst>
                                        <p:tav tm="0">
                                          <p:val>
                                            <p:fltVal val="0"/>
                                          </p:val>
                                        </p:tav>
                                        <p:tav tm="100000">
                                          <p:val>
                                            <p:strVal val="#ppt_w"/>
                                          </p:val>
                                        </p:tav>
                                      </p:tavLst>
                                    </p:anim>
                                    <p:anim calcmode="lin" valueType="num">
                                      <p:cBhvr>
                                        <p:cTn id="61" dur="1000" fill="hold"/>
                                        <p:tgtEl>
                                          <p:spTgt spid="18"/>
                                        </p:tgtEl>
                                        <p:attrNameLst>
                                          <p:attrName>ppt_h</p:attrName>
                                        </p:attrNameLst>
                                      </p:cBhvr>
                                      <p:tavLst>
                                        <p:tav tm="0">
                                          <p:val>
                                            <p:fltVal val="0"/>
                                          </p:val>
                                        </p:tav>
                                        <p:tav tm="100000">
                                          <p:val>
                                            <p:strVal val="#ppt_h"/>
                                          </p:val>
                                        </p:tav>
                                      </p:tavLst>
                                    </p:anim>
                                    <p:anim calcmode="lin" valueType="num">
                                      <p:cBhvr>
                                        <p:cTn id="62" dur="1000" fill="hold"/>
                                        <p:tgtEl>
                                          <p:spTgt spid="18"/>
                                        </p:tgtEl>
                                        <p:attrNameLst>
                                          <p:attrName>style.rotation</p:attrName>
                                        </p:attrNameLst>
                                      </p:cBhvr>
                                      <p:tavLst>
                                        <p:tav tm="0">
                                          <p:val>
                                            <p:fltVal val="90"/>
                                          </p:val>
                                        </p:tav>
                                        <p:tav tm="100000">
                                          <p:val>
                                            <p:fltVal val="0"/>
                                          </p:val>
                                        </p:tav>
                                      </p:tavLst>
                                    </p:anim>
                                    <p:animEffect transition="in" filter="fade">
                                      <p:cBhvr>
                                        <p:cTn id="63" dur="1000"/>
                                        <p:tgtEl>
                                          <p:spTgt spid="18"/>
                                        </p:tgtEl>
                                      </p:cBhvr>
                                    </p:animEffect>
                                  </p:childTnLst>
                                </p:cTn>
                              </p:par>
                            </p:childTnLst>
                          </p:cTn>
                        </p:par>
                      </p:childTnLst>
                    </p:cTn>
                  </p:par>
                  <p:par>
                    <p:cTn id="64" fill="hold">
                      <p:stCondLst>
                        <p:cond delay="indefinite"/>
                      </p:stCondLst>
                      <p:childTnLst>
                        <p:par>
                          <p:cTn id="65" fill="hold">
                            <p:stCondLst>
                              <p:cond delay="0"/>
                            </p:stCondLst>
                            <p:childTnLst>
                              <p:par>
                                <p:cTn id="66" presetID="31" presetClass="entr" presetSubtype="0" fill="hold" nodeType="clickEffect">
                                  <p:stCondLst>
                                    <p:cond delay="0"/>
                                  </p:stCondLst>
                                  <p:childTnLst>
                                    <p:set>
                                      <p:cBhvr>
                                        <p:cTn id="67" dur="1" fill="hold">
                                          <p:stCondLst>
                                            <p:cond delay="0"/>
                                          </p:stCondLst>
                                        </p:cTn>
                                        <p:tgtEl>
                                          <p:spTgt spid="20"/>
                                        </p:tgtEl>
                                        <p:attrNameLst>
                                          <p:attrName>style.visibility</p:attrName>
                                        </p:attrNameLst>
                                      </p:cBhvr>
                                      <p:to>
                                        <p:strVal val="visible"/>
                                      </p:to>
                                    </p:set>
                                    <p:anim calcmode="lin" valueType="num">
                                      <p:cBhvr>
                                        <p:cTn id="68" dur="1000" fill="hold"/>
                                        <p:tgtEl>
                                          <p:spTgt spid="20"/>
                                        </p:tgtEl>
                                        <p:attrNameLst>
                                          <p:attrName>ppt_w</p:attrName>
                                        </p:attrNameLst>
                                      </p:cBhvr>
                                      <p:tavLst>
                                        <p:tav tm="0">
                                          <p:val>
                                            <p:fltVal val="0"/>
                                          </p:val>
                                        </p:tav>
                                        <p:tav tm="100000">
                                          <p:val>
                                            <p:strVal val="#ppt_w"/>
                                          </p:val>
                                        </p:tav>
                                      </p:tavLst>
                                    </p:anim>
                                    <p:anim calcmode="lin" valueType="num">
                                      <p:cBhvr>
                                        <p:cTn id="69" dur="1000" fill="hold"/>
                                        <p:tgtEl>
                                          <p:spTgt spid="20"/>
                                        </p:tgtEl>
                                        <p:attrNameLst>
                                          <p:attrName>ppt_h</p:attrName>
                                        </p:attrNameLst>
                                      </p:cBhvr>
                                      <p:tavLst>
                                        <p:tav tm="0">
                                          <p:val>
                                            <p:fltVal val="0"/>
                                          </p:val>
                                        </p:tav>
                                        <p:tav tm="100000">
                                          <p:val>
                                            <p:strVal val="#ppt_h"/>
                                          </p:val>
                                        </p:tav>
                                      </p:tavLst>
                                    </p:anim>
                                    <p:anim calcmode="lin" valueType="num">
                                      <p:cBhvr>
                                        <p:cTn id="70" dur="1000" fill="hold"/>
                                        <p:tgtEl>
                                          <p:spTgt spid="20"/>
                                        </p:tgtEl>
                                        <p:attrNameLst>
                                          <p:attrName>style.rotation</p:attrName>
                                        </p:attrNameLst>
                                      </p:cBhvr>
                                      <p:tavLst>
                                        <p:tav tm="0">
                                          <p:val>
                                            <p:fltVal val="90"/>
                                          </p:val>
                                        </p:tav>
                                        <p:tav tm="100000">
                                          <p:val>
                                            <p:fltVal val="0"/>
                                          </p:val>
                                        </p:tav>
                                      </p:tavLst>
                                    </p:anim>
                                    <p:animEffect transition="in" filter="fade">
                                      <p:cBhvr>
                                        <p:cTn id="71" dur="1000"/>
                                        <p:tgtEl>
                                          <p:spTgt spid="20"/>
                                        </p:tgtEl>
                                      </p:cBhvr>
                                    </p:animEffect>
                                  </p:childTnLst>
                                </p:cTn>
                              </p:par>
                            </p:childTnLst>
                          </p:cTn>
                        </p:par>
                      </p:childTnLst>
                    </p:cTn>
                  </p:par>
                  <p:par>
                    <p:cTn id="72" fill="hold">
                      <p:stCondLst>
                        <p:cond delay="indefinite"/>
                      </p:stCondLst>
                      <p:childTnLst>
                        <p:par>
                          <p:cTn id="73" fill="hold">
                            <p:stCondLst>
                              <p:cond delay="0"/>
                            </p:stCondLst>
                            <p:childTnLst>
                              <p:par>
                                <p:cTn id="74" presetID="31" presetClass="entr" presetSubtype="0" fill="hold" nodeType="clickEffect">
                                  <p:stCondLst>
                                    <p:cond delay="0"/>
                                  </p:stCondLst>
                                  <p:childTnLst>
                                    <p:set>
                                      <p:cBhvr>
                                        <p:cTn id="75" dur="1" fill="hold">
                                          <p:stCondLst>
                                            <p:cond delay="0"/>
                                          </p:stCondLst>
                                        </p:cTn>
                                        <p:tgtEl>
                                          <p:spTgt spid="25"/>
                                        </p:tgtEl>
                                        <p:attrNameLst>
                                          <p:attrName>style.visibility</p:attrName>
                                        </p:attrNameLst>
                                      </p:cBhvr>
                                      <p:to>
                                        <p:strVal val="visible"/>
                                      </p:to>
                                    </p:set>
                                    <p:anim calcmode="lin" valueType="num">
                                      <p:cBhvr>
                                        <p:cTn id="76" dur="1000" fill="hold"/>
                                        <p:tgtEl>
                                          <p:spTgt spid="25"/>
                                        </p:tgtEl>
                                        <p:attrNameLst>
                                          <p:attrName>ppt_w</p:attrName>
                                        </p:attrNameLst>
                                      </p:cBhvr>
                                      <p:tavLst>
                                        <p:tav tm="0">
                                          <p:val>
                                            <p:fltVal val="0"/>
                                          </p:val>
                                        </p:tav>
                                        <p:tav tm="100000">
                                          <p:val>
                                            <p:strVal val="#ppt_w"/>
                                          </p:val>
                                        </p:tav>
                                      </p:tavLst>
                                    </p:anim>
                                    <p:anim calcmode="lin" valueType="num">
                                      <p:cBhvr>
                                        <p:cTn id="77" dur="1000" fill="hold"/>
                                        <p:tgtEl>
                                          <p:spTgt spid="25"/>
                                        </p:tgtEl>
                                        <p:attrNameLst>
                                          <p:attrName>ppt_h</p:attrName>
                                        </p:attrNameLst>
                                      </p:cBhvr>
                                      <p:tavLst>
                                        <p:tav tm="0">
                                          <p:val>
                                            <p:fltVal val="0"/>
                                          </p:val>
                                        </p:tav>
                                        <p:tav tm="100000">
                                          <p:val>
                                            <p:strVal val="#ppt_h"/>
                                          </p:val>
                                        </p:tav>
                                      </p:tavLst>
                                    </p:anim>
                                    <p:anim calcmode="lin" valueType="num">
                                      <p:cBhvr>
                                        <p:cTn id="78" dur="1000" fill="hold"/>
                                        <p:tgtEl>
                                          <p:spTgt spid="25"/>
                                        </p:tgtEl>
                                        <p:attrNameLst>
                                          <p:attrName>style.rotation</p:attrName>
                                        </p:attrNameLst>
                                      </p:cBhvr>
                                      <p:tavLst>
                                        <p:tav tm="0">
                                          <p:val>
                                            <p:fltVal val="90"/>
                                          </p:val>
                                        </p:tav>
                                        <p:tav tm="100000">
                                          <p:val>
                                            <p:fltVal val="0"/>
                                          </p:val>
                                        </p:tav>
                                      </p:tavLst>
                                    </p:anim>
                                    <p:animEffect transition="in" filter="fade">
                                      <p:cBhvr>
                                        <p:cTn id="79" dur="1000"/>
                                        <p:tgtEl>
                                          <p:spTgt spid="25"/>
                                        </p:tgtEl>
                                      </p:cBhvr>
                                    </p:animEffect>
                                  </p:childTnLst>
                                </p:cTn>
                              </p:par>
                            </p:childTnLst>
                          </p:cTn>
                        </p:par>
                      </p:childTnLst>
                    </p:cTn>
                  </p:par>
                  <p:par>
                    <p:cTn id="80" fill="hold">
                      <p:stCondLst>
                        <p:cond delay="indefinite"/>
                      </p:stCondLst>
                      <p:childTnLst>
                        <p:par>
                          <p:cTn id="81" fill="hold">
                            <p:stCondLst>
                              <p:cond delay="0"/>
                            </p:stCondLst>
                            <p:childTnLst>
                              <p:par>
                                <p:cTn id="82" presetID="31" presetClass="entr" presetSubtype="0" fill="hold" nodeType="clickEffect">
                                  <p:stCondLst>
                                    <p:cond delay="0"/>
                                  </p:stCondLst>
                                  <p:childTnLst>
                                    <p:set>
                                      <p:cBhvr>
                                        <p:cTn id="83" dur="1" fill="hold">
                                          <p:stCondLst>
                                            <p:cond delay="0"/>
                                          </p:stCondLst>
                                        </p:cTn>
                                        <p:tgtEl>
                                          <p:spTgt spid="23"/>
                                        </p:tgtEl>
                                        <p:attrNameLst>
                                          <p:attrName>style.visibility</p:attrName>
                                        </p:attrNameLst>
                                      </p:cBhvr>
                                      <p:to>
                                        <p:strVal val="visible"/>
                                      </p:to>
                                    </p:set>
                                    <p:anim calcmode="lin" valueType="num">
                                      <p:cBhvr>
                                        <p:cTn id="84" dur="1000" fill="hold"/>
                                        <p:tgtEl>
                                          <p:spTgt spid="23"/>
                                        </p:tgtEl>
                                        <p:attrNameLst>
                                          <p:attrName>ppt_w</p:attrName>
                                        </p:attrNameLst>
                                      </p:cBhvr>
                                      <p:tavLst>
                                        <p:tav tm="0">
                                          <p:val>
                                            <p:fltVal val="0"/>
                                          </p:val>
                                        </p:tav>
                                        <p:tav tm="100000">
                                          <p:val>
                                            <p:strVal val="#ppt_w"/>
                                          </p:val>
                                        </p:tav>
                                      </p:tavLst>
                                    </p:anim>
                                    <p:anim calcmode="lin" valueType="num">
                                      <p:cBhvr>
                                        <p:cTn id="85" dur="1000" fill="hold"/>
                                        <p:tgtEl>
                                          <p:spTgt spid="23"/>
                                        </p:tgtEl>
                                        <p:attrNameLst>
                                          <p:attrName>ppt_h</p:attrName>
                                        </p:attrNameLst>
                                      </p:cBhvr>
                                      <p:tavLst>
                                        <p:tav tm="0">
                                          <p:val>
                                            <p:fltVal val="0"/>
                                          </p:val>
                                        </p:tav>
                                        <p:tav tm="100000">
                                          <p:val>
                                            <p:strVal val="#ppt_h"/>
                                          </p:val>
                                        </p:tav>
                                      </p:tavLst>
                                    </p:anim>
                                    <p:anim calcmode="lin" valueType="num">
                                      <p:cBhvr>
                                        <p:cTn id="86" dur="1000" fill="hold"/>
                                        <p:tgtEl>
                                          <p:spTgt spid="23"/>
                                        </p:tgtEl>
                                        <p:attrNameLst>
                                          <p:attrName>style.rotation</p:attrName>
                                        </p:attrNameLst>
                                      </p:cBhvr>
                                      <p:tavLst>
                                        <p:tav tm="0">
                                          <p:val>
                                            <p:fltVal val="90"/>
                                          </p:val>
                                        </p:tav>
                                        <p:tav tm="100000">
                                          <p:val>
                                            <p:fltVal val="0"/>
                                          </p:val>
                                        </p:tav>
                                      </p:tavLst>
                                    </p:anim>
                                    <p:animEffect transition="in" filter="fade">
                                      <p:cBhvr>
                                        <p:cTn id="87" dur="1000"/>
                                        <p:tgtEl>
                                          <p:spTgt spid="23"/>
                                        </p:tgtEl>
                                      </p:cBhvr>
                                    </p:animEffect>
                                  </p:childTnLst>
                                </p:cTn>
                              </p:par>
                            </p:childTnLst>
                          </p:cTn>
                        </p:par>
                      </p:childTnLst>
                    </p:cTn>
                  </p:par>
                  <p:par>
                    <p:cTn id="88" fill="hold">
                      <p:stCondLst>
                        <p:cond delay="indefinite"/>
                      </p:stCondLst>
                      <p:childTnLst>
                        <p:par>
                          <p:cTn id="89" fill="hold">
                            <p:stCondLst>
                              <p:cond delay="0"/>
                            </p:stCondLst>
                            <p:childTnLst>
                              <p:par>
                                <p:cTn id="90" presetID="6" presetClass="entr" presetSubtype="16" fill="hold" nodeType="clickEffect">
                                  <p:stCondLst>
                                    <p:cond delay="0"/>
                                  </p:stCondLst>
                                  <p:childTnLst>
                                    <p:set>
                                      <p:cBhvr>
                                        <p:cTn id="91" dur="1" fill="hold">
                                          <p:stCondLst>
                                            <p:cond delay="0"/>
                                          </p:stCondLst>
                                        </p:cTn>
                                        <p:tgtEl>
                                          <p:spTgt spid="3">
                                            <p:txEl>
                                              <p:pRg st="1" end="1"/>
                                            </p:txEl>
                                          </p:spTgt>
                                        </p:tgtEl>
                                        <p:attrNameLst>
                                          <p:attrName>style.visibility</p:attrName>
                                        </p:attrNameLst>
                                      </p:cBhvr>
                                      <p:to>
                                        <p:strVal val="visible"/>
                                      </p:to>
                                    </p:set>
                                    <p:animEffect transition="in" filter="circle(in)">
                                      <p:cBhvr>
                                        <p:cTn id="92" dur="2000"/>
                                        <p:tgtEl>
                                          <p:spTgt spid="3">
                                            <p:txEl>
                                              <p:pRg st="1" end="1"/>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6" presetClass="entr" presetSubtype="16" fill="hold" nodeType="clickEffect">
                                  <p:stCondLst>
                                    <p:cond delay="0"/>
                                  </p:stCondLst>
                                  <p:childTnLst>
                                    <p:set>
                                      <p:cBhvr>
                                        <p:cTn id="96" dur="1" fill="hold">
                                          <p:stCondLst>
                                            <p:cond delay="0"/>
                                          </p:stCondLst>
                                        </p:cTn>
                                        <p:tgtEl>
                                          <p:spTgt spid="3">
                                            <p:txEl>
                                              <p:pRg st="2" end="2"/>
                                            </p:txEl>
                                          </p:spTgt>
                                        </p:tgtEl>
                                        <p:attrNameLst>
                                          <p:attrName>style.visibility</p:attrName>
                                        </p:attrNameLst>
                                      </p:cBhvr>
                                      <p:to>
                                        <p:strVal val="visible"/>
                                      </p:to>
                                    </p:set>
                                    <p:animEffect transition="in" filter="circle(in)">
                                      <p:cBhvr>
                                        <p:cTn id="97" dur="2000"/>
                                        <p:tgtEl>
                                          <p:spTgt spid="3">
                                            <p:txEl>
                                              <p:pRg st="2" end="2"/>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6" presetClass="entr" presetSubtype="16" fill="hold" nodeType="clickEffect">
                                  <p:stCondLst>
                                    <p:cond delay="0"/>
                                  </p:stCondLst>
                                  <p:childTnLst>
                                    <p:set>
                                      <p:cBhvr>
                                        <p:cTn id="101" dur="1" fill="hold">
                                          <p:stCondLst>
                                            <p:cond delay="0"/>
                                          </p:stCondLst>
                                        </p:cTn>
                                        <p:tgtEl>
                                          <p:spTgt spid="3">
                                            <p:txEl>
                                              <p:pRg st="3" end="3"/>
                                            </p:txEl>
                                          </p:spTgt>
                                        </p:tgtEl>
                                        <p:attrNameLst>
                                          <p:attrName>style.visibility</p:attrName>
                                        </p:attrNameLst>
                                      </p:cBhvr>
                                      <p:to>
                                        <p:strVal val="visible"/>
                                      </p:to>
                                    </p:set>
                                    <p:animEffect transition="in" filter="circle(in)">
                                      <p:cBhvr>
                                        <p:cTn id="102" dur="2000"/>
                                        <p:tgtEl>
                                          <p:spTgt spid="3">
                                            <p:txEl>
                                              <p:pRg st="3" end="3"/>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6" presetClass="entr" presetSubtype="16" fill="hold" nodeType="clickEffect">
                                  <p:stCondLst>
                                    <p:cond delay="0"/>
                                  </p:stCondLst>
                                  <p:childTnLst>
                                    <p:set>
                                      <p:cBhvr>
                                        <p:cTn id="106" dur="1" fill="hold">
                                          <p:stCondLst>
                                            <p:cond delay="0"/>
                                          </p:stCondLst>
                                        </p:cTn>
                                        <p:tgtEl>
                                          <p:spTgt spid="3">
                                            <p:txEl>
                                              <p:pRg st="4" end="4"/>
                                            </p:txEl>
                                          </p:spTgt>
                                        </p:tgtEl>
                                        <p:attrNameLst>
                                          <p:attrName>style.visibility</p:attrName>
                                        </p:attrNameLst>
                                      </p:cBhvr>
                                      <p:to>
                                        <p:strVal val="visible"/>
                                      </p:to>
                                    </p:set>
                                    <p:animEffect transition="in" filter="circle(in)">
                                      <p:cBhvr>
                                        <p:cTn id="107" dur="2000"/>
                                        <p:tgtEl>
                                          <p:spTgt spid="3">
                                            <p:txEl>
                                              <p:pRg st="4" end="4"/>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6" presetClass="entr" presetSubtype="16" fill="hold" nodeType="clickEffect">
                                  <p:stCondLst>
                                    <p:cond delay="0"/>
                                  </p:stCondLst>
                                  <p:childTnLst>
                                    <p:set>
                                      <p:cBhvr>
                                        <p:cTn id="111" dur="1" fill="hold">
                                          <p:stCondLst>
                                            <p:cond delay="0"/>
                                          </p:stCondLst>
                                        </p:cTn>
                                        <p:tgtEl>
                                          <p:spTgt spid="3">
                                            <p:txEl>
                                              <p:pRg st="5" end="5"/>
                                            </p:txEl>
                                          </p:spTgt>
                                        </p:tgtEl>
                                        <p:attrNameLst>
                                          <p:attrName>style.visibility</p:attrName>
                                        </p:attrNameLst>
                                      </p:cBhvr>
                                      <p:to>
                                        <p:strVal val="visible"/>
                                      </p:to>
                                    </p:set>
                                    <p:animEffect transition="in" filter="circle(in)">
                                      <p:cBhvr>
                                        <p:cTn id="11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r>
              <a:rPr lang="zh-CN" altLang="en-US" dirty="0"/>
              <a:t>特拉需马科的上场，标志着关于正义生活方式讨论由伦理到政治的转向</a:t>
            </a:r>
            <a:r>
              <a:rPr lang="en-US" altLang="zh-CN" dirty="0"/>
              <a:t>——</a:t>
            </a:r>
            <a:r>
              <a:rPr lang="zh-CN" altLang="en-US" dirty="0"/>
              <a:t>之所以转向，因为关于“人应该怎样生活（正义的或不正义的）？”的伦理讨论遇到了无法解决的问题（或者说界限）：政治（共同生活）。</a:t>
            </a:r>
          </a:p>
          <a:p>
            <a:r>
              <a:rPr lang="zh-CN" altLang="en-US" dirty="0"/>
              <a:t>如果统治者是只为自己的私利谋取利益的僭主，其政令是为其利益服务，那么我应该服从还是拒绝服从？如果我服从，那么我岂不是在助纣为虐？</a:t>
            </a:r>
            <a:endParaRPr lang="en-US" altLang="zh-CN" dirty="0"/>
          </a:p>
          <a:p>
            <a:endParaRPr lang="zh-CN" altLang="en-US" dirty="0"/>
          </a:p>
          <a:p>
            <a:endParaRPr lang="zh-CN" altLang="en-US" dirty="0"/>
          </a:p>
        </p:txBody>
      </p:sp>
      <p:pic>
        <p:nvPicPr>
          <p:cNvPr id="4" name="图片 3">
            <a:extLst>
              <a:ext uri="{FF2B5EF4-FFF2-40B4-BE49-F238E27FC236}">
                <a16:creationId xmlns:a16="http://schemas.microsoft.com/office/drawing/2014/main" id="{023DD5AB-4167-4051-96BC-76C50D157063}"/>
              </a:ext>
            </a:extLst>
          </p:cNvPr>
          <p:cNvPicPr>
            <a:picLocks noChangeAspect="1"/>
          </p:cNvPicPr>
          <p:nvPr/>
        </p:nvPicPr>
        <p:blipFill>
          <a:blip r:embed="rId2"/>
          <a:stretch>
            <a:fillRect/>
          </a:stretch>
        </p:blipFill>
        <p:spPr>
          <a:xfrm>
            <a:off x="5821240" y="609600"/>
            <a:ext cx="5705475" cy="3886200"/>
          </a:xfrm>
          <a:prstGeom prst="rect">
            <a:avLst/>
          </a:prstGeom>
        </p:spPr>
      </p:pic>
      <p:pic>
        <p:nvPicPr>
          <p:cNvPr id="7" name="图片 6">
            <a:extLst>
              <a:ext uri="{FF2B5EF4-FFF2-40B4-BE49-F238E27FC236}">
                <a16:creationId xmlns:a16="http://schemas.microsoft.com/office/drawing/2014/main" id="{7B63B06D-692A-47AE-A04D-7806C19663BB}"/>
              </a:ext>
            </a:extLst>
          </p:cNvPr>
          <p:cNvPicPr>
            <a:picLocks noChangeAspect="1"/>
          </p:cNvPicPr>
          <p:nvPr/>
        </p:nvPicPr>
        <p:blipFill>
          <a:blip r:embed="rId3"/>
          <a:stretch>
            <a:fillRect/>
          </a:stretch>
        </p:blipFill>
        <p:spPr>
          <a:xfrm>
            <a:off x="7575777" y="3718238"/>
            <a:ext cx="2469094" cy="18290"/>
          </a:xfrm>
          <a:prstGeom prst="rect">
            <a:avLst/>
          </a:prstGeom>
        </p:spPr>
      </p:pic>
    </p:spTree>
    <p:extLst>
      <p:ext uri="{BB962C8B-B14F-4D97-AF65-F5344CB8AC3E}">
        <p14:creationId xmlns:p14="http://schemas.microsoft.com/office/powerpoint/2010/main" val="851948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a:xfrm>
            <a:off x="558265" y="2868328"/>
            <a:ext cx="5537735" cy="3609473"/>
          </a:xfrm>
        </p:spPr>
        <p:txBody>
          <a:bodyPr>
            <a:normAutofit/>
          </a:bodyPr>
          <a:lstStyle/>
          <a:p>
            <a:pPr>
              <a:lnSpc>
                <a:spcPts val="2300"/>
              </a:lnSpc>
            </a:pPr>
            <a:r>
              <a:rPr lang="zh-CN" altLang="en-US" sz="2200" dirty="0"/>
              <a:t>苏格拉底的反驳</a:t>
            </a:r>
            <a:r>
              <a:rPr lang="en-US" altLang="zh-CN" sz="2200" dirty="0"/>
              <a:t>1</a:t>
            </a:r>
            <a:r>
              <a:rPr lang="zh-CN" altLang="en-US" sz="2200" dirty="0"/>
              <a:t>：</a:t>
            </a:r>
          </a:p>
          <a:p>
            <a:pPr>
              <a:lnSpc>
                <a:spcPts val="2300"/>
              </a:lnSpc>
            </a:pPr>
            <a:r>
              <a:rPr lang="zh-CN" altLang="en-US" sz="2200" dirty="0"/>
              <a:t>苏格拉底同意，正义是某种利益</a:t>
            </a:r>
            <a:r>
              <a:rPr lang="en-US" altLang="zh-CN" sz="2200" dirty="0"/>
              <a:t>339b</a:t>
            </a:r>
            <a:r>
              <a:rPr lang="zh-CN" altLang="en-US" sz="2200" dirty="0"/>
              <a:t>。但正义不是强者的利益，因为统治者在制定法律时也会犯错误，制定对自己不利的法律。而如果被统治者去执行，就会做出对强者不利的事。</a:t>
            </a:r>
          </a:p>
          <a:p>
            <a:pPr>
              <a:lnSpc>
                <a:spcPts val="2300"/>
              </a:lnSpc>
            </a:pPr>
            <a:endParaRPr lang="zh-CN" altLang="en-US" dirty="0"/>
          </a:p>
          <a:p>
            <a:pPr>
              <a:lnSpc>
                <a:spcPts val="2300"/>
              </a:lnSpc>
            </a:pPr>
            <a:r>
              <a:rPr lang="zh-CN" altLang="en-US" dirty="0"/>
              <a:t>（</a:t>
            </a:r>
            <a:r>
              <a:rPr lang="zh-CN" altLang="en-US" sz="2200" dirty="0"/>
              <a:t>在此苏格拉底提出了政治哲学中的一个关键问题：正确的知识在政治生活中的作用）</a:t>
            </a:r>
          </a:p>
          <a:p>
            <a:endParaRPr lang="zh-CN" altLang="en-US" dirty="0"/>
          </a:p>
        </p:txBody>
      </p:sp>
      <p:sp>
        <p:nvSpPr>
          <p:cNvPr id="4" name="Content Placeholder 3"/>
          <p:cNvSpPr>
            <a:spLocks noGrp="1"/>
          </p:cNvSpPr>
          <p:nvPr>
            <p:ph sz="half" idx="2"/>
          </p:nvPr>
        </p:nvSpPr>
        <p:spPr/>
        <p:txBody>
          <a:bodyPr>
            <a:normAutofit/>
          </a:bodyPr>
          <a:lstStyle/>
          <a:p>
            <a:endParaRPr lang="zh-CN" altLang="en-US"/>
          </a:p>
        </p:txBody>
      </p:sp>
      <p:pic>
        <p:nvPicPr>
          <p:cNvPr id="317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2763" y="252412"/>
            <a:ext cx="5154465" cy="6523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Straight Connector 7"/>
          <p:cNvCxnSpPr/>
          <p:nvPr/>
        </p:nvCxnSpPr>
        <p:spPr>
          <a:xfrm flipV="1">
            <a:off x="9326213" y="3541874"/>
            <a:ext cx="1865014" cy="905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208273" y="3808290"/>
            <a:ext cx="706170" cy="905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7645651" y="4666537"/>
            <a:ext cx="33226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7B7CFCDC-2907-4883-B7D9-E10C58A7AA73}"/>
              </a:ext>
            </a:extLst>
          </p:cNvPr>
          <p:cNvPicPr>
            <a:picLocks noChangeAspect="1"/>
          </p:cNvPicPr>
          <p:nvPr/>
        </p:nvPicPr>
        <p:blipFill>
          <a:blip r:embed="rId3"/>
          <a:stretch>
            <a:fillRect/>
          </a:stretch>
        </p:blipFill>
        <p:spPr>
          <a:xfrm>
            <a:off x="309562" y="252412"/>
            <a:ext cx="5705475" cy="2514600"/>
          </a:xfrm>
          <a:prstGeom prst="rect">
            <a:avLst/>
          </a:prstGeom>
        </p:spPr>
      </p:pic>
      <p:pic>
        <p:nvPicPr>
          <p:cNvPr id="7" name="图片 6">
            <a:extLst>
              <a:ext uri="{FF2B5EF4-FFF2-40B4-BE49-F238E27FC236}">
                <a16:creationId xmlns:a16="http://schemas.microsoft.com/office/drawing/2014/main" id="{CB4D7A2F-56C8-45BD-9D6B-D6C7E0321E28}"/>
              </a:ext>
            </a:extLst>
          </p:cNvPr>
          <p:cNvPicPr>
            <a:picLocks noChangeAspect="1"/>
          </p:cNvPicPr>
          <p:nvPr/>
        </p:nvPicPr>
        <p:blipFill>
          <a:blip r:embed="rId4"/>
          <a:stretch>
            <a:fillRect/>
          </a:stretch>
        </p:blipFill>
        <p:spPr>
          <a:xfrm>
            <a:off x="3177125" y="2303064"/>
            <a:ext cx="1847248" cy="30483"/>
          </a:xfrm>
          <a:prstGeom prst="rect">
            <a:avLst/>
          </a:prstGeom>
        </p:spPr>
      </p:pic>
    </p:spTree>
    <p:extLst>
      <p:ext uri="{BB962C8B-B14F-4D97-AF65-F5344CB8AC3E}">
        <p14:creationId xmlns:p14="http://schemas.microsoft.com/office/powerpoint/2010/main" val="1313297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1746"/>
                                        </p:tgtEl>
                                        <p:attrNameLst>
                                          <p:attrName>style.visibility</p:attrName>
                                        </p:attrNameLst>
                                      </p:cBhvr>
                                      <p:to>
                                        <p:strVal val="visible"/>
                                      </p:to>
                                    </p:set>
                                    <p:animEffect transition="in" filter="randombar(horizontal)">
                                      <p:cBhvr>
                                        <p:cTn id="7" dur="500"/>
                                        <p:tgtEl>
                                          <p:spTgt spid="31746"/>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ppt_w</p:attrName>
                                        </p:attrNameLst>
                                      </p:cBhvr>
                                      <p:tavLst>
                                        <p:tav tm="0">
                                          <p:val>
                                            <p:fltVal val="0"/>
                                          </p:val>
                                        </p:tav>
                                        <p:tav tm="100000">
                                          <p:val>
                                            <p:strVal val="#ppt_w"/>
                                          </p:val>
                                        </p:tav>
                                      </p:tavLst>
                                    </p:anim>
                                    <p:anim calcmode="lin" valueType="num">
                                      <p:cBhvr>
                                        <p:cTn id="13" dur="1000" fill="hold"/>
                                        <p:tgtEl>
                                          <p:spTgt spid="8"/>
                                        </p:tgtEl>
                                        <p:attrNameLst>
                                          <p:attrName>ppt_h</p:attrName>
                                        </p:attrNameLst>
                                      </p:cBhvr>
                                      <p:tavLst>
                                        <p:tav tm="0">
                                          <p:val>
                                            <p:fltVal val="0"/>
                                          </p:val>
                                        </p:tav>
                                        <p:tav tm="100000">
                                          <p:val>
                                            <p:strVal val="#ppt_h"/>
                                          </p:val>
                                        </p:tav>
                                      </p:tavLst>
                                    </p:anim>
                                    <p:anim calcmode="lin" valueType="num">
                                      <p:cBhvr>
                                        <p:cTn id="14" dur="1000" fill="hold"/>
                                        <p:tgtEl>
                                          <p:spTgt spid="8"/>
                                        </p:tgtEl>
                                        <p:attrNameLst>
                                          <p:attrName>style.rotation</p:attrName>
                                        </p:attrNameLst>
                                      </p:cBhvr>
                                      <p:tavLst>
                                        <p:tav tm="0">
                                          <p:val>
                                            <p:fltVal val="90"/>
                                          </p:val>
                                        </p:tav>
                                        <p:tav tm="100000">
                                          <p:val>
                                            <p:fltVal val="0"/>
                                          </p:val>
                                        </p:tav>
                                      </p:tavLst>
                                    </p:anim>
                                    <p:animEffect transition="in" filter="fade">
                                      <p:cBhvr>
                                        <p:cTn id="15" dur="10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p:cTn id="20" dur="1000" fill="hold"/>
                                        <p:tgtEl>
                                          <p:spTgt spid="10"/>
                                        </p:tgtEl>
                                        <p:attrNameLst>
                                          <p:attrName>ppt_w</p:attrName>
                                        </p:attrNameLst>
                                      </p:cBhvr>
                                      <p:tavLst>
                                        <p:tav tm="0">
                                          <p:val>
                                            <p:fltVal val="0"/>
                                          </p:val>
                                        </p:tav>
                                        <p:tav tm="100000">
                                          <p:val>
                                            <p:strVal val="#ppt_w"/>
                                          </p:val>
                                        </p:tav>
                                      </p:tavLst>
                                    </p:anim>
                                    <p:anim calcmode="lin" valueType="num">
                                      <p:cBhvr>
                                        <p:cTn id="21" dur="1000" fill="hold"/>
                                        <p:tgtEl>
                                          <p:spTgt spid="10"/>
                                        </p:tgtEl>
                                        <p:attrNameLst>
                                          <p:attrName>ppt_h</p:attrName>
                                        </p:attrNameLst>
                                      </p:cBhvr>
                                      <p:tavLst>
                                        <p:tav tm="0">
                                          <p:val>
                                            <p:fltVal val="0"/>
                                          </p:val>
                                        </p:tav>
                                        <p:tav tm="100000">
                                          <p:val>
                                            <p:strVal val="#ppt_h"/>
                                          </p:val>
                                        </p:tav>
                                      </p:tavLst>
                                    </p:anim>
                                    <p:anim calcmode="lin" valueType="num">
                                      <p:cBhvr>
                                        <p:cTn id="22" dur="1000" fill="hold"/>
                                        <p:tgtEl>
                                          <p:spTgt spid="10"/>
                                        </p:tgtEl>
                                        <p:attrNameLst>
                                          <p:attrName>style.rotation</p:attrName>
                                        </p:attrNameLst>
                                      </p:cBhvr>
                                      <p:tavLst>
                                        <p:tav tm="0">
                                          <p:val>
                                            <p:fltVal val="90"/>
                                          </p:val>
                                        </p:tav>
                                        <p:tav tm="100000">
                                          <p:val>
                                            <p:fltVal val="0"/>
                                          </p:val>
                                        </p:tav>
                                      </p:tavLst>
                                    </p:anim>
                                    <p:animEffect transition="in" filter="fade">
                                      <p:cBhvr>
                                        <p:cTn id="23" dur="10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p:cTn id="28" dur="1000" fill="hold"/>
                                        <p:tgtEl>
                                          <p:spTgt spid="12"/>
                                        </p:tgtEl>
                                        <p:attrNameLst>
                                          <p:attrName>ppt_w</p:attrName>
                                        </p:attrNameLst>
                                      </p:cBhvr>
                                      <p:tavLst>
                                        <p:tav tm="0">
                                          <p:val>
                                            <p:fltVal val="0"/>
                                          </p:val>
                                        </p:tav>
                                        <p:tav tm="100000">
                                          <p:val>
                                            <p:strVal val="#ppt_w"/>
                                          </p:val>
                                        </p:tav>
                                      </p:tavLst>
                                    </p:anim>
                                    <p:anim calcmode="lin" valueType="num">
                                      <p:cBhvr>
                                        <p:cTn id="29" dur="1000" fill="hold"/>
                                        <p:tgtEl>
                                          <p:spTgt spid="12"/>
                                        </p:tgtEl>
                                        <p:attrNameLst>
                                          <p:attrName>ppt_h</p:attrName>
                                        </p:attrNameLst>
                                      </p:cBhvr>
                                      <p:tavLst>
                                        <p:tav tm="0">
                                          <p:val>
                                            <p:fltVal val="0"/>
                                          </p:val>
                                        </p:tav>
                                        <p:tav tm="100000">
                                          <p:val>
                                            <p:strVal val="#ppt_h"/>
                                          </p:val>
                                        </p:tav>
                                      </p:tavLst>
                                    </p:anim>
                                    <p:anim calcmode="lin" valueType="num">
                                      <p:cBhvr>
                                        <p:cTn id="30" dur="1000" fill="hold"/>
                                        <p:tgtEl>
                                          <p:spTgt spid="12"/>
                                        </p:tgtEl>
                                        <p:attrNameLst>
                                          <p:attrName>style.rotation</p:attrName>
                                        </p:attrNameLst>
                                      </p:cBhvr>
                                      <p:tavLst>
                                        <p:tav tm="0">
                                          <p:val>
                                            <p:fltVal val="90"/>
                                          </p:val>
                                        </p:tav>
                                        <p:tav tm="100000">
                                          <p:val>
                                            <p:fltVal val="0"/>
                                          </p:val>
                                        </p:tav>
                                      </p:tavLst>
                                    </p:anim>
                                    <p:animEffect transition="in" filter="fade">
                                      <p:cBhvr>
                                        <p:cTn id="31" dur="10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3">
                                            <p:txEl>
                                              <p:pRg st="0" end="0"/>
                                            </p:txEl>
                                          </p:spTgt>
                                        </p:tgtEl>
                                        <p:attrNameLst>
                                          <p:attrName>style.visibility</p:attrName>
                                        </p:attrNameLst>
                                      </p:cBhvr>
                                      <p:to>
                                        <p:strVal val="visible"/>
                                      </p:to>
                                    </p:set>
                                    <p:animEffect transition="in" filter="circle(in)">
                                      <p:cBhvr>
                                        <p:cTn id="36" dur="2000"/>
                                        <p:tgtEl>
                                          <p:spTgt spid="3">
                                            <p:txEl>
                                              <p:pRg st="0" end="0"/>
                                            </p:txEl>
                                          </p:spTgt>
                                        </p:tgtEl>
                                      </p:cBhvr>
                                    </p:animEffect>
                                  </p:childTnLst>
                                </p:cTn>
                              </p:par>
                              <p:par>
                                <p:cTn id="37" presetID="6" presetClass="entr" presetSubtype="16" fill="hold" nodeType="withEffect">
                                  <p:stCondLst>
                                    <p:cond delay="0"/>
                                  </p:stCondLst>
                                  <p:childTnLst>
                                    <p:set>
                                      <p:cBhvr>
                                        <p:cTn id="38" dur="1" fill="hold">
                                          <p:stCondLst>
                                            <p:cond delay="0"/>
                                          </p:stCondLst>
                                        </p:cTn>
                                        <p:tgtEl>
                                          <p:spTgt spid="3">
                                            <p:txEl>
                                              <p:pRg st="1" end="1"/>
                                            </p:txEl>
                                          </p:spTgt>
                                        </p:tgtEl>
                                        <p:attrNameLst>
                                          <p:attrName>style.visibility</p:attrName>
                                        </p:attrNameLst>
                                      </p:cBhvr>
                                      <p:to>
                                        <p:strVal val="visible"/>
                                      </p:to>
                                    </p:set>
                                    <p:animEffect transition="in" filter="circle(in)">
                                      <p:cBhvr>
                                        <p:cTn id="39" dur="2000"/>
                                        <p:tgtEl>
                                          <p:spTgt spid="3">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6" presetClass="entr" presetSubtype="16" fill="hold" nodeType="clickEffect">
                                  <p:stCondLst>
                                    <p:cond delay="0"/>
                                  </p:stCondLst>
                                  <p:childTnLst>
                                    <p:set>
                                      <p:cBhvr>
                                        <p:cTn id="43" dur="1" fill="hold">
                                          <p:stCondLst>
                                            <p:cond delay="0"/>
                                          </p:stCondLst>
                                        </p:cTn>
                                        <p:tgtEl>
                                          <p:spTgt spid="3">
                                            <p:txEl>
                                              <p:pRg st="3" end="3"/>
                                            </p:txEl>
                                          </p:spTgt>
                                        </p:tgtEl>
                                        <p:attrNameLst>
                                          <p:attrName>style.visibility</p:attrName>
                                        </p:attrNameLst>
                                      </p:cBhvr>
                                      <p:to>
                                        <p:strVal val="visible"/>
                                      </p:to>
                                    </p:set>
                                    <p:animEffect transition="in" filter="circle(in)">
                                      <p:cBhvr>
                                        <p:cTn id="44"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dirty="0"/>
          </a:p>
        </p:txBody>
      </p:sp>
      <p:sp>
        <p:nvSpPr>
          <p:cNvPr id="4" name="Content Placeholder 3"/>
          <p:cNvSpPr>
            <a:spLocks noGrp="1"/>
          </p:cNvSpPr>
          <p:nvPr>
            <p:ph sz="half" idx="2"/>
          </p:nvPr>
        </p:nvSpPr>
        <p:spPr/>
        <p:txBody>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cxnSp>
        <p:nvCxnSpPr>
          <p:cNvPr id="6" name="Straight Connector 5"/>
          <p:cNvCxnSpPr/>
          <p:nvPr/>
        </p:nvCxnSpPr>
        <p:spPr>
          <a:xfrm>
            <a:off x="8926717" y="3739081"/>
            <a:ext cx="196460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73456E60-5AAD-493E-B611-BFB972F20345}"/>
              </a:ext>
            </a:extLst>
          </p:cNvPr>
          <p:cNvPicPr>
            <a:picLocks noChangeAspect="1"/>
          </p:cNvPicPr>
          <p:nvPr/>
        </p:nvPicPr>
        <p:blipFill>
          <a:blip r:embed="rId2"/>
          <a:stretch>
            <a:fillRect/>
          </a:stretch>
        </p:blipFill>
        <p:spPr>
          <a:xfrm>
            <a:off x="230254" y="0"/>
            <a:ext cx="5367130" cy="6858000"/>
          </a:xfrm>
          <a:prstGeom prst="rect">
            <a:avLst/>
          </a:prstGeom>
        </p:spPr>
      </p:pic>
      <p:pic>
        <p:nvPicPr>
          <p:cNvPr id="7" name="图片 6">
            <a:extLst>
              <a:ext uri="{FF2B5EF4-FFF2-40B4-BE49-F238E27FC236}">
                <a16:creationId xmlns:a16="http://schemas.microsoft.com/office/drawing/2014/main" id="{91BF5323-FEDA-431C-B169-DEFA64000817}"/>
              </a:ext>
            </a:extLst>
          </p:cNvPr>
          <p:cNvPicPr>
            <a:picLocks noChangeAspect="1"/>
          </p:cNvPicPr>
          <p:nvPr/>
        </p:nvPicPr>
        <p:blipFill>
          <a:blip r:embed="rId3"/>
          <a:stretch>
            <a:fillRect/>
          </a:stretch>
        </p:blipFill>
        <p:spPr>
          <a:xfrm>
            <a:off x="5972797" y="494096"/>
            <a:ext cx="5591175" cy="4619625"/>
          </a:xfrm>
          <a:prstGeom prst="rect">
            <a:avLst/>
          </a:prstGeom>
        </p:spPr>
      </p:pic>
      <p:pic>
        <p:nvPicPr>
          <p:cNvPr id="8" name="图片 7">
            <a:extLst>
              <a:ext uri="{FF2B5EF4-FFF2-40B4-BE49-F238E27FC236}">
                <a16:creationId xmlns:a16="http://schemas.microsoft.com/office/drawing/2014/main" id="{B3497387-6A85-40E1-8411-BFD44E2D3CCB}"/>
              </a:ext>
            </a:extLst>
          </p:cNvPr>
          <p:cNvPicPr>
            <a:picLocks noChangeAspect="1"/>
          </p:cNvPicPr>
          <p:nvPr/>
        </p:nvPicPr>
        <p:blipFill>
          <a:blip r:embed="rId4"/>
          <a:stretch>
            <a:fillRect/>
          </a:stretch>
        </p:blipFill>
        <p:spPr>
          <a:xfrm>
            <a:off x="6142123" y="3706202"/>
            <a:ext cx="4749196" cy="30483"/>
          </a:xfrm>
          <a:prstGeom prst="rect">
            <a:avLst/>
          </a:prstGeom>
        </p:spPr>
      </p:pic>
      <p:pic>
        <p:nvPicPr>
          <p:cNvPr id="10" name="图片 9">
            <a:extLst>
              <a:ext uri="{FF2B5EF4-FFF2-40B4-BE49-F238E27FC236}">
                <a16:creationId xmlns:a16="http://schemas.microsoft.com/office/drawing/2014/main" id="{D4D2E803-C839-4410-9D62-935CAD4C3AE3}"/>
              </a:ext>
            </a:extLst>
          </p:cNvPr>
          <p:cNvPicPr>
            <a:picLocks noChangeAspect="1"/>
          </p:cNvPicPr>
          <p:nvPr/>
        </p:nvPicPr>
        <p:blipFill>
          <a:blip r:embed="rId5"/>
          <a:stretch>
            <a:fillRect/>
          </a:stretch>
        </p:blipFill>
        <p:spPr>
          <a:xfrm>
            <a:off x="6052932" y="4207556"/>
            <a:ext cx="4939119" cy="46983"/>
          </a:xfrm>
          <a:prstGeom prst="rect">
            <a:avLst/>
          </a:prstGeom>
        </p:spPr>
      </p:pic>
    </p:spTree>
    <p:extLst>
      <p:ext uri="{BB962C8B-B14F-4D97-AF65-F5344CB8AC3E}">
        <p14:creationId xmlns:p14="http://schemas.microsoft.com/office/powerpoint/2010/main" val="776971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pPr marL="0" indent="0">
              <a:buNone/>
            </a:pPr>
            <a:r>
              <a:rPr lang="zh-CN" altLang="en-US" sz="2000" dirty="0"/>
              <a:t>特拉需马科的回答：</a:t>
            </a:r>
          </a:p>
          <a:p>
            <a:r>
              <a:rPr lang="zh-CN" altLang="en-US" sz="2000" dirty="0"/>
              <a:t> 强者是像技艺匠师一样，不犯错误的人。</a:t>
            </a:r>
          </a:p>
          <a:p>
            <a:endParaRPr lang="zh-CN" altLang="en-US" dirty="0"/>
          </a:p>
        </p:txBody>
      </p:sp>
      <p:pic>
        <p:nvPicPr>
          <p:cNvPr id="5" name="内容占位符 4">
            <a:extLst>
              <a:ext uri="{FF2B5EF4-FFF2-40B4-BE49-F238E27FC236}">
                <a16:creationId xmlns:a16="http://schemas.microsoft.com/office/drawing/2014/main" id="{4BBF5624-4109-41BD-9BD3-4773266FF1B9}"/>
              </a:ext>
            </a:extLst>
          </p:cNvPr>
          <p:cNvPicPr>
            <a:picLocks noGrp="1" noChangeAspect="1"/>
          </p:cNvPicPr>
          <p:nvPr>
            <p:ph sz="half" idx="2"/>
          </p:nvPr>
        </p:nvPicPr>
        <p:blipFill>
          <a:blip r:embed="rId2"/>
          <a:stretch>
            <a:fillRect/>
          </a:stretch>
        </p:blipFill>
        <p:spPr>
          <a:xfrm>
            <a:off x="6376950" y="276933"/>
            <a:ext cx="5445308" cy="6304134"/>
          </a:xfrm>
          <a:prstGeom prst="rect">
            <a:avLst/>
          </a:prstGeom>
        </p:spPr>
      </p:pic>
      <p:cxnSp>
        <p:nvCxnSpPr>
          <p:cNvPr id="6" name="Straight Connector 5"/>
          <p:cNvCxnSpPr/>
          <p:nvPr/>
        </p:nvCxnSpPr>
        <p:spPr>
          <a:xfrm>
            <a:off x="9189267" y="733331"/>
            <a:ext cx="229052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6862527" y="959667"/>
            <a:ext cx="4617267" cy="1810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7924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1000" fill="hold"/>
                                        <p:tgtEl>
                                          <p:spTgt spid="8"/>
                                        </p:tgtEl>
                                        <p:attrNameLst>
                                          <p:attrName>ppt_w</p:attrName>
                                        </p:attrNameLst>
                                      </p:cBhvr>
                                      <p:tavLst>
                                        <p:tav tm="0">
                                          <p:val>
                                            <p:fltVal val="0"/>
                                          </p:val>
                                        </p:tav>
                                        <p:tav tm="100000">
                                          <p:val>
                                            <p:strVal val="#ppt_w"/>
                                          </p:val>
                                        </p:tav>
                                      </p:tavLst>
                                    </p:anim>
                                    <p:anim calcmode="lin" valueType="num">
                                      <p:cBhvr>
                                        <p:cTn id="16" dur="1000" fill="hold"/>
                                        <p:tgtEl>
                                          <p:spTgt spid="8"/>
                                        </p:tgtEl>
                                        <p:attrNameLst>
                                          <p:attrName>ppt_h</p:attrName>
                                        </p:attrNameLst>
                                      </p:cBhvr>
                                      <p:tavLst>
                                        <p:tav tm="0">
                                          <p:val>
                                            <p:fltVal val="0"/>
                                          </p:val>
                                        </p:tav>
                                        <p:tav tm="100000">
                                          <p:val>
                                            <p:strVal val="#ppt_h"/>
                                          </p:val>
                                        </p:tav>
                                      </p:tavLst>
                                    </p:anim>
                                    <p:anim calcmode="lin" valueType="num">
                                      <p:cBhvr>
                                        <p:cTn id="17" dur="1000" fill="hold"/>
                                        <p:tgtEl>
                                          <p:spTgt spid="8"/>
                                        </p:tgtEl>
                                        <p:attrNameLst>
                                          <p:attrName>style.rotation</p:attrName>
                                        </p:attrNameLst>
                                      </p:cBhvr>
                                      <p:tavLst>
                                        <p:tav tm="0">
                                          <p:val>
                                            <p:fltVal val="90"/>
                                          </p:val>
                                        </p:tav>
                                        <p:tav tm="100000">
                                          <p:val>
                                            <p:fltVal val="0"/>
                                          </p:val>
                                        </p:tav>
                                      </p:tavLst>
                                    </p:anim>
                                    <p:animEffect transition="in" filter="fade">
                                      <p:cBhvr>
                                        <p:cTn id="18" dur="10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Effect transition="in" filter="circle(in)">
                                      <p:cBhvr>
                                        <p:cTn id="23" dur="2000"/>
                                        <p:tgtEl>
                                          <p:spTgt spid="3">
                                            <p:txEl>
                                              <p:pRg st="0" end="0"/>
                                            </p:txEl>
                                          </p:spTgt>
                                        </p:tgtEl>
                                      </p:cBhvr>
                                    </p:animEffect>
                                  </p:childTnLst>
                                </p:cTn>
                              </p:par>
                              <p:par>
                                <p:cTn id="24" presetID="6" presetClass="entr" presetSubtype="16" fill="hold" nodeType="with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Effect transition="in" filter="circle(in)">
                                      <p:cBhvr>
                                        <p:cTn id="26"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normAutofit/>
          </a:bodyPr>
          <a:lstStyle/>
          <a:p>
            <a:pPr marL="0" indent="0">
              <a:buNone/>
            </a:pPr>
            <a:r>
              <a:rPr lang="zh-CN" altLang="en-US" sz="2000" dirty="0"/>
              <a:t>苏格拉底的反驳</a:t>
            </a:r>
            <a:r>
              <a:rPr lang="en-US" altLang="zh-CN" sz="2000" dirty="0"/>
              <a:t>2</a:t>
            </a:r>
            <a:r>
              <a:rPr lang="zh-CN" altLang="en-US" sz="2000" dirty="0"/>
              <a:t>：</a:t>
            </a:r>
            <a:endParaRPr lang="en-US" altLang="zh-CN" sz="2000" dirty="0"/>
          </a:p>
          <a:p>
            <a:r>
              <a:rPr lang="zh-CN" altLang="en-US" sz="2000" dirty="0"/>
              <a:t>特拉需马科认为统治者不会犯错误的理由，是将统治者等同于技艺匠师，这就将统治等同于一种技艺，但就会发现：</a:t>
            </a:r>
            <a:endParaRPr lang="en-US" altLang="zh-CN" sz="2000" dirty="0"/>
          </a:p>
          <a:p>
            <a:pPr marL="0" indent="0">
              <a:buNone/>
            </a:pPr>
            <a:r>
              <a:rPr lang="en-US" altLang="zh-CN" sz="2000" dirty="0"/>
              <a:t>1</a:t>
            </a:r>
            <a:r>
              <a:rPr lang="zh-CN" altLang="en-US" sz="2000" dirty="0"/>
              <a:t>，技艺的目的是为每一个人提供利益，而不是把利益归于拥有技艺的人。</a:t>
            </a:r>
          </a:p>
        </p:txBody>
      </p:sp>
      <p:sp>
        <p:nvSpPr>
          <p:cNvPr id="4" name="Content Placeholder 3"/>
          <p:cNvSpPr>
            <a:spLocks noGrp="1"/>
          </p:cNvSpPr>
          <p:nvPr>
            <p:ph sz="half" idx="2"/>
          </p:nvPr>
        </p:nvSpPr>
        <p:spPr/>
        <p:txBody>
          <a:bodyPr/>
          <a:lstStyle/>
          <a:p>
            <a:endParaRPr lang="zh-CN" altLang="en-US"/>
          </a:p>
        </p:txBody>
      </p:sp>
      <p:pic>
        <p:nvPicPr>
          <p:cNvPr id="358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2675" y="204788"/>
            <a:ext cx="5883608" cy="587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flipV="1">
            <a:off x="7155543" y="5573486"/>
            <a:ext cx="4107543" cy="2902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6400800" y="5834743"/>
            <a:ext cx="235131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6246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5842"/>
                                        </p:tgtEl>
                                        <p:attrNameLst>
                                          <p:attrName>style.visibility</p:attrName>
                                        </p:attrNameLst>
                                      </p:cBhvr>
                                      <p:to>
                                        <p:strVal val="visible"/>
                                      </p:to>
                                    </p:set>
                                    <p:animEffect transition="in" filter="randombar(horizontal)">
                                      <p:cBhvr>
                                        <p:cTn id="7" dur="500"/>
                                        <p:tgtEl>
                                          <p:spTgt spid="3584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heel(1)">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2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1000" fill="hold"/>
                                        <p:tgtEl>
                                          <p:spTgt spid="6"/>
                                        </p:tgtEl>
                                        <p:attrNameLst>
                                          <p:attrName>ppt_w</p:attrName>
                                        </p:attrNameLst>
                                      </p:cBhvr>
                                      <p:tavLst>
                                        <p:tav tm="0">
                                          <p:val>
                                            <p:fltVal val="0"/>
                                          </p:val>
                                        </p:tav>
                                        <p:tav tm="100000">
                                          <p:val>
                                            <p:strVal val="#ppt_w"/>
                                          </p:val>
                                        </p:tav>
                                      </p:tavLst>
                                    </p:anim>
                                    <p:anim calcmode="lin" valueType="num">
                                      <p:cBhvr>
                                        <p:cTn id="28" dur="1000" fill="hold"/>
                                        <p:tgtEl>
                                          <p:spTgt spid="6"/>
                                        </p:tgtEl>
                                        <p:attrNameLst>
                                          <p:attrName>ppt_h</p:attrName>
                                        </p:attrNameLst>
                                      </p:cBhvr>
                                      <p:tavLst>
                                        <p:tav tm="0">
                                          <p:val>
                                            <p:fltVal val="0"/>
                                          </p:val>
                                        </p:tav>
                                        <p:tav tm="100000">
                                          <p:val>
                                            <p:strVal val="#ppt_h"/>
                                          </p:val>
                                        </p:tav>
                                      </p:tavLst>
                                    </p:anim>
                                    <p:anim calcmode="lin" valueType="num">
                                      <p:cBhvr>
                                        <p:cTn id="29" dur="1000" fill="hold"/>
                                        <p:tgtEl>
                                          <p:spTgt spid="6"/>
                                        </p:tgtEl>
                                        <p:attrNameLst>
                                          <p:attrName>style.rotation</p:attrName>
                                        </p:attrNameLst>
                                      </p:cBhvr>
                                      <p:tavLst>
                                        <p:tav tm="0">
                                          <p:val>
                                            <p:fltVal val="90"/>
                                          </p:val>
                                        </p:tav>
                                        <p:tav tm="100000">
                                          <p:val>
                                            <p:fltVal val="0"/>
                                          </p:val>
                                        </p:tav>
                                      </p:tavLst>
                                    </p:anim>
                                    <p:animEffect transition="in" filter="fade">
                                      <p:cBhvr>
                                        <p:cTn id="30" dur="10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p:cTn id="35" dur="1000" fill="hold"/>
                                        <p:tgtEl>
                                          <p:spTgt spid="8"/>
                                        </p:tgtEl>
                                        <p:attrNameLst>
                                          <p:attrName>ppt_w</p:attrName>
                                        </p:attrNameLst>
                                      </p:cBhvr>
                                      <p:tavLst>
                                        <p:tav tm="0">
                                          <p:val>
                                            <p:fltVal val="0"/>
                                          </p:val>
                                        </p:tav>
                                        <p:tav tm="100000">
                                          <p:val>
                                            <p:strVal val="#ppt_w"/>
                                          </p:val>
                                        </p:tav>
                                      </p:tavLst>
                                    </p:anim>
                                    <p:anim calcmode="lin" valueType="num">
                                      <p:cBhvr>
                                        <p:cTn id="36" dur="1000" fill="hold"/>
                                        <p:tgtEl>
                                          <p:spTgt spid="8"/>
                                        </p:tgtEl>
                                        <p:attrNameLst>
                                          <p:attrName>ppt_h</p:attrName>
                                        </p:attrNameLst>
                                      </p:cBhvr>
                                      <p:tavLst>
                                        <p:tav tm="0">
                                          <p:val>
                                            <p:fltVal val="0"/>
                                          </p:val>
                                        </p:tav>
                                        <p:tav tm="100000">
                                          <p:val>
                                            <p:strVal val="#ppt_h"/>
                                          </p:val>
                                        </p:tav>
                                      </p:tavLst>
                                    </p:anim>
                                    <p:anim calcmode="lin" valueType="num">
                                      <p:cBhvr>
                                        <p:cTn id="37" dur="1000" fill="hold"/>
                                        <p:tgtEl>
                                          <p:spTgt spid="8"/>
                                        </p:tgtEl>
                                        <p:attrNameLst>
                                          <p:attrName>style.rotation</p:attrName>
                                        </p:attrNameLst>
                                      </p:cBhvr>
                                      <p:tavLst>
                                        <p:tav tm="0">
                                          <p:val>
                                            <p:fltVal val="90"/>
                                          </p:val>
                                        </p:tav>
                                        <p:tav tm="100000">
                                          <p:val>
                                            <p:fltVal val="0"/>
                                          </p:val>
                                        </p:tav>
                                      </p:tavLst>
                                    </p:anim>
                                    <p:animEffect transition="in" filter="fade">
                                      <p:cBhvr>
                                        <p:cTn id="38"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a:p>
        </p:txBody>
      </p:sp>
      <p:sp>
        <p:nvSpPr>
          <p:cNvPr id="3" name="Content Placeholder 2"/>
          <p:cNvSpPr>
            <a:spLocks noGrp="1"/>
          </p:cNvSpPr>
          <p:nvPr>
            <p:ph sz="half" idx="1"/>
          </p:nvPr>
        </p:nvSpPr>
        <p:spPr/>
        <p:txBody>
          <a:bodyPr>
            <a:normAutofit/>
          </a:bodyPr>
          <a:lstStyle/>
          <a:p>
            <a:pPr marL="0" indent="0">
              <a:buNone/>
            </a:pPr>
            <a:r>
              <a:rPr lang="en-US" altLang="zh-CN" sz="2000" dirty="0"/>
              <a:t>2</a:t>
            </a:r>
            <a:r>
              <a:rPr lang="zh-CN" altLang="en-US" sz="2000" dirty="0"/>
              <a:t>，技艺本身是为了某种利益发展起来的，因为人们的生活不是天生完美的</a:t>
            </a:r>
            <a:r>
              <a:rPr lang="en-US" altLang="zh-CN" sz="2000" dirty="0"/>
              <a:t>341c5,</a:t>
            </a:r>
            <a:r>
              <a:rPr lang="zh-CN" altLang="en-US" sz="2000" dirty="0"/>
              <a:t>例如身体需要医术的照顾。但是技艺本身则不是因为有缺陷，所以需要别的技艺来弥补。 </a:t>
            </a:r>
          </a:p>
          <a:p>
            <a:endParaRPr lang="zh-CN" altLang="en-US" dirty="0"/>
          </a:p>
        </p:txBody>
      </p:sp>
      <p:sp>
        <p:nvSpPr>
          <p:cNvPr id="4" name="Content Placeholder 3"/>
          <p:cNvSpPr>
            <a:spLocks noGrp="1"/>
          </p:cNvSpPr>
          <p:nvPr>
            <p:ph sz="half" idx="2"/>
          </p:nvPr>
        </p:nvSpPr>
        <p:spPr/>
        <p:txBody>
          <a:bodyPr>
            <a:normAutofit/>
          </a:bodyPr>
          <a:lstStyle/>
          <a:p>
            <a:endParaRPr lang="zh-CN" altLang="en-US" dirty="0"/>
          </a:p>
        </p:txBody>
      </p:sp>
      <p:pic>
        <p:nvPicPr>
          <p:cNvPr id="36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1674" y="657224"/>
            <a:ext cx="6005531" cy="564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flipV="1">
            <a:off x="10637822" y="2788467"/>
            <a:ext cx="832919" cy="1810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6581869" y="3032911"/>
            <a:ext cx="4789283" cy="1810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581869" y="3295461"/>
            <a:ext cx="4789283" cy="1810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581869" y="3548958"/>
            <a:ext cx="1240325" cy="905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6112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6866"/>
                                        </p:tgtEl>
                                        <p:attrNameLst>
                                          <p:attrName>style.visibility</p:attrName>
                                        </p:attrNameLst>
                                      </p:cBhvr>
                                      <p:to>
                                        <p:strVal val="visible"/>
                                      </p:to>
                                    </p:set>
                                    <p:animEffect transition="in" filter="randombar(horizontal)">
                                      <p:cBhvr>
                                        <p:cTn id="7" dur="500"/>
                                        <p:tgtEl>
                                          <p:spTgt spid="36866"/>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1000" fill="hold"/>
                                        <p:tgtEl>
                                          <p:spTgt spid="10"/>
                                        </p:tgtEl>
                                        <p:attrNameLst>
                                          <p:attrName>ppt_w</p:attrName>
                                        </p:attrNameLst>
                                      </p:cBhvr>
                                      <p:tavLst>
                                        <p:tav tm="0">
                                          <p:val>
                                            <p:fltVal val="0"/>
                                          </p:val>
                                        </p:tav>
                                        <p:tav tm="100000">
                                          <p:val>
                                            <p:strVal val="#ppt_w"/>
                                          </p:val>
                                        </p:tav>
                                      </p:tavLst>
                                    </p:anim>
                                    <p:anim calcmode="lin" valueType="num">
                                      <p:cBhvr>
                                        <p:cTn id="29" dur="1000" fill="hold"/>
                                        <p:tgtEl>
                                          <p:spTgt spid="10"/>
                                        </p:tgtEl>
                                        <p:attrNameLst>
                                          <p:attrName>ppt_h</p:attrName>
                                        </p:attrNameLst>
                                      </p:cBhvr>
                                      <p:tavLst>
                                        <p:tav tm="0">
                                          <p:val>
                                            <p:fltVal val="0"/>
                                          </p:val>
                                        </p:tav>
                                        <p:tav tm="100000">
                                          <p:val>
                                            <p:strVal val="#ppt_h"/>
                                          </p:val>
                                        </p:tav>
                                      </p:tavLst>
                                    </p:anim>
                                    <p:anim calcmode="lin" valueType="num">
                                      <p:cBhvr>
                                        <p:cTn id="30" dur="1000" fill="hold"/>
                                        <p:tgtEl>
                                          <p:spTgt spid="10"/>
                                        </p:tgtEl>
                                        <p:attrNameLst>
                                          <p:attrName>style.rotation</p:attrName>
                                        </p:attrNameLst>
                                      </p:cBhvr>
                                      <p:tavLst>
                                        <p:tav tm="0">
                                          <p:val>
                                            <p:fltVal val="90"/>
                                          </p:val>
                                        </p:tav>
                                        <p:tav tm="100000">
                                          <p:val>
                                            <p:fltVal val="0"/>
                                          </p:val>
                                        </p:tav>
                                      </p:tavLst>
                                    </p:anim>
                                    <p:animEffect transition="in" filter="fade">
                                      <p:cBhvr>
                                        <p:cTn id="31" dur="1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1000" fill="hold"/>
                                        <p:tgtEl>
                                          <p:spTgt spid="12"/>
                                        </p:tgtEl>
                                        <p:attrNameLst>
                                          <p:attrName>ppt_w</p:attrName>
                                        </p:attrNameLst>
                                      </p:cBhvr>
                                      <p:tavLst>
                                        <p:tav tm="0">
                                          <p:val>
                                            <p:fltVal val="0"/>
                                          </p:val>
                                        </p:tav>
                                        <p:tav tm="100000">
                                          <p:val>
                                            <p:strVal val="#ppt_w"/>
                                          </p:val>
                                        </p:tav>
                                      </p:tavLst>
                                    </p:anim>
                                    <p:anim calcmode="lin" valueType="num">
                                      <p:cBhvr>
                                        <p:cTn id="37" dur="1000" fill="hold"/>
                                        <p:tgtEl>
                                          <p:spTgt spid="12"/>
                                        </p:tgtEl>
                                        <p:attrNameLst>
                                          <p:attrName>ppt_h</p:attrName>
                                        </p:attrNameLst>
                                      </p:cBhvr>
                                      <p:tavLst>
                                        <p:tav tm="0">
                                          <p:val>
                                            <p:fltVal val="0"/>
                                          </p:val>
                                        </p:tav>
                                        <p:tav tm="100000">
                                          <p:val>
                                            <p:strVal val="#ppt_h"/>
                                          </p:val>
                                        </p:tav>
                                      </p:tavLst>
                                    </p:anim>
                                    <p:anim calcmode="lin" valueType="num">
                                      <p:cBhvr>
                                        <p:cTn id="38" dur="1000" fill="hold"/>
                                        <p:tgtEl>
                                          <p:spTgt spid="12"/>
                                        </p:tgtEl>
                                        <p:attrNameLst>
                                          <p:attrName>style.rotation</p:attrName>
                                        </p:attrNameLst>
                                      </p:cBhvr>
                                      <p:tavLst>
                                        <p:tav tm="0">
                                          <p:val>
                                            <p:fltVal val="90"/>
                                          </p:val>
                                        </p:tav>
                                        <p:tav tm="100000">
                                          <p:val>
                                            <p:fltVal val="0"/>
                                          </p:val>
                                        </p:tav>
                                      </p:tavLst>
                                    </p:anim>
                                    <p:animEffect transition="in" filter="fade">
                                      <p:cBhvr>
                                        <p:cTn id="39" dur="10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6" presetClass="entr" presetSubtype="16" fill="hold" nodeType="clickEffect">
                                  <p:stCondLst>
                                    <p:cond delay="0"/>
                                  </p:stCondLst>
                                  <p:childTnLst>
                                    <p:set>
                                      <p:cBhvr>
                                        <p:cTn id="43" dur="1" fill="hold">
                                          <p:stCondLst>
                                            <p:cond delay="0"/>
                                          </p:stCondLst>
                                        </p:cTn>
                                        <p:tgtEl>
                                          <p:spTgt spid="3">
                                            <p:txEl>
                                              <p:pRg st="0" end="0"/>
                                            </p:txEl>
                                          </p:spTgt>
                                        </p:tgtEl>
                                        <p:attrNameLst>
                                          <p:attrName>style.visibility</p:attrName>
                                        </p:attrNameLst>
                                      </p:cBhvr>
                                      <p:to>
                                        <p:strVal val="visible"/>
                                      </p:to>
                                    </p:set>
                                    <p:animEffect transition="in" filter="circle(in)">
                                      <p:cBhvr>
                                        <p:cTn id="44"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normAutofit/>
          </a:bodyPr>
          <a:lstStyle/>
          <a:p>
            <a:pPr marL="0" indent="0">
              <a:buNone/>
            </a:pPr>
            <a:r>
              <a:rPr lang="en-US" altLang="zh-CN" sz="2400" b="1" dirty="0"/>
              <a:t>3</a:t>
            </a:r>
            <a:r>
              <a:rPr lang="zh-CN" altLang="en-US" sz="2400" b="1" dirty="0"/>
              <a:t>，所以技艺不考虑自身的利益（因为它没有缺陷，无需考虑要别什么技艺对它有利），而只考虑它作为技艺为之服务的对象的利益，如医药只考虑人的身体的利益，而不考虑什么对它有利。</a:t>
            </a:r>
          </a:p>
          <a:p>
            <a:pPr marL="0" indent="0">
              <a:buNone/>
            </a:pPr>
            <a:r>
              <a:rPr lang="zh-CN" altLang="en-US" sz="2400" b="1" dirty="0"/>
              <a:t>结论：没有一种知识是为了它自己的利益</a:t>
            </a:r>
            <a:r>
              <a:rPr lang="en-US" altLang="zh-CN" sz="2400" b="1" dirty="0"/>
              <a:t>342d</a:t>
            </a:r>
            <a:r>
              <a:rPr lang="zh-CN" altLang="en-US" sz="2400" b="1" dirty="0"/>
              <a:t>，它不会去安排实现强者（统治者）的利益，而只会去考虑和安排被统治者的利益。</a:t>
            </a:r>
          </a:p>
        </p:txBody>
      </p:sp>
      <p:sp>
        <p:nvSpPr>
          <p:cNvPr id="4" name="Content Placeholder 3"/>
          <p:cNvSpPr>
            <a:spLocks noGrp="1"/>
          </p:cNvSpPr>
          <p:nvPr>
            <p:ph sz="half" idx="2"/>
          </p:nvPr>
        </p:nvSpPr>
        <p:spPr/>
        <p:txBody>
          <a:bodyPr/>
          <a:lstStyle/>
          <a:p>
            <a:endParaRPr lang="zh-CN" altLang="en-US"/>
          </a:p>
        </p:txBody>
      </p:sp>
      <p:pic>
        <p:nvPicPr>
          <p:cNvPr id="378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499" y="247650"/>
            <a:ext cx="5455539" cy="634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flipV="1">
            <a:off x="8537418" y="5585988"/>
            <a:ext cx="2553077" cy="905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6509442" y="5821378"/>
            <a:ext cx="4581053" cy="4526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6509442" y="6074875"/>
            <a:ext cx="3576118" cy="3621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6509442" y="1231271"/>
            <a:ext cx="4581053" cy="905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6509442" y="1484768"/>
            <a:ext cx="1788059" cy="905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4603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7890"/>
                                        </p:tgtEl>
                                        <p:attrNameLst>
                                          <p:attrName>style.visibility</p:attrName>
                                        </p:attrNameLst>
                                      </p:cBhvr>
                                      <p:to>
                                        <p:strVal val="visible"/>
                                      </p:to>
                                    </p:set>
                                    <p:animEffect transition="in" filter="randombar(horizontal)">
                                      <p:cBhvr>
                                        <p:cTn id="7" dur="500"/>
                                        <p:tgtEl>
                                          <p:spTgt spid="37890"/>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1000" fill="hold"/>
                                        <p:tgtEl>
                                          <p:spTgt spid="14"/>
                                        </p:tgtEl>
                                        <p:attrNameLst>
                                          <p:attrName>ppt_w</p:attrName>
                                        </p:attrNameLst>
                                      </p:cBhvr>
                                      <p:tavLst>
                                        <p:tav tm="0">
                                          <p:val>
                                            <p:fltVal val="0"/>
                                          </p:val>
                                        </p:tav>
                                        <p:tav tm="100000">
                                          <p:val>
                                            <p:strVal val="#ppt_w"/>
                                          </p:val>
                                        </p:tav>
                                      </p:tavLst>
                                    </p:anim>
                                    <p:anim calcmode="lin" valueType="num">
                                      <p:cBhvr>
                                        <p:cTn id="13" dur="1000" fill="hold"/>
                                        <p:tgtEl>
                                          <p:spTgt spid="14"/>
                                        </p:tgtEl>
                                        <p:attrNameLst>
                                          <p:attrName>ppt_h</p:attrName>
                                        </p:attrNameLst>
                                      </p:cBhvr>
                                      <p:tavLst>
                                        <p:tav tm="0">
                                          <p:val>
                                            <p:fltVal val="0"/>
                                          </p:val>
                                        </p:tav>
                                        <p:tav tm="100000">
                                          <p:val>
                                            <p:strVal val="#ppt_h"/>
                                          </p:val>
                                        </p:tav>
                                      </p:tavLst>
                                    </p:anim>
                                    <p:anim calcmode="lin" valueType="num">
                                      <p:cBhvr>
                                        <p:cTn id="14" dur="1000" fill="hold"/>
                                        <p:tgtEl>
                                          <p:spTgt spid="14"/>
                                        </p:tgtEl>
                                        <p:attrNameLst>
                                          <p:attrName>style.rotation</p:attrName>
                                        </p:attrNameLst>
                                      </p:cBhvr>
                                      <p:tavLst>
                                        <p:tav tm="0">
                                          <p:val>
                                            <p:fltVal val="90"/>
                                          </p:val>
                                        </p:tav>
                                        <p:tav tm="100000">
                                          <p:val>
                                            <p:fltVal val="0"/>
                                          </p:val>
                                        </p:tav>
                                      </p:tavLst>
                                    </p:anim>
                                    <p:animEffect transition="in" filter="fade">
                                      <p:cBhvr>
                                        <p:cTn id="15" dur="10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 calcmode="lin" valueType="num">
                                      <p:cBhvr>
                                        <p:cTn id="20" dur="1000" fill="hold"/>
                                        <p:tgtEl>
                                          <p:spTgt spid="16"/>
                                        </p:tgtEl>
                                        <p:attrNameLst>
                                          <p:attrName>ppt_w</p:attrName>
                                        </p:attrNameLst>
                                      </p:cBhvr>
                                      <p:tavLst>
                                        <p:tav tm="0">
                                          <p:val>
                                            <p:fltVal val="0"/>
                                          </p:val>
                                        </p:tav>
                                        <p:tav tm="100000">
                                          <p:val>
                                            <p:strVal val="#ppt_w"/>
                                          </p:val>
                                        </p:tav>
                                      </p:tavLst>
                                    </p:anim>
                                    <p:anim calcmode="lin" valueType="num">
                                      <p:cBhvr>
                                        <p:cTn id="21" dur="1000" fill="hold"/>
                                        <p:tgtEl>
                                          <p:spTgt spid="16"/>
                                        </p:tgtEl>
                                        <p:attrNameLst>
                                          <p:attrName>ppt_h</p:attrName>
                                        </p:attrNameLst>
                                      </p:cBhvr>
                                      <p:tavLst>
                                        <p:tav tm="0">
                                          <p:val>
                                            <p:fltVal val="0"/>
                                          </p:val>
                                        </p:tav>
                                        <p:tav tm="100000">
                                          <p:val>
                                            <p:strVal val="#ppt_h"/>
                                          </p:val>
                                        </p:tav>
                                      </p:tavLst>
                                    </p:anim>
                                    <p:anim calcmode="lin" valueType="num">
                                      <p:cBhvr>
                                        <p:cTn id="22" dur="1000" fill="hold"/>
                                        <p:tgtEl>
                                          <p:spTgt spid="16"/>
                                        </p:tgtEl>
                                        <p:attrNameLst>
                                          <p:attrName>style.rotation</p:attrName>
                                        </p:attrNameLst>
                                      </p:cBhvr>
                                      <p:tavLst>
                                        <p:tav tm="0">
                                          <p:val>
                                            <p:fltVal val="90"/>
                                          </p:val>
                                        </p:tav>
                                        <p:tav tm="100000">
                                          <p:val>
                                            <p:fltVal val="0"/>
                                          </p:val>
                                        </p:tav>
                                      </p:tavLst>
                                    </p:anim>
                                    <p:animEffect transition="in" filter="fade">
                                      <p:cBhvr>
                                        <p:cTn id="23" dur="10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p:cTn id="28" dur="1000" fill="hold"/>
                                        <p:tgtEl>
                                          <p:spTgt spid="6"/>
                                        </p:tgtEl>
                                        <p:attrNameLst>
                                          <p:attrName>ppt_w</p:attrName>
                                        </p:attrNameLst>
                                      </p:cBhvr>
                                      <p:tavLst>
                                        <p:tav tm="0">
                                          <p:val>
                                            <p:fltVal val="0"/>
                                          </p:val>
                                        </p:tav>
                                        <p:tav tm="100000">
                                          <p:val>
                                            <p:strVal val="#ppt_w"/>
                                          </p:val>
                                        </p:tav>
                                      </p:tavLst>
                                    </p:anim>
                                    <p:anim calcmode="lin" valueType="num">
                                      <p:cBhvr>
                                        <p:cTn id="29" dur="1000" fill="hold"/>
                                        <p:tgtEl>
                                          <p:spTgt spid="6"/>
                                        </p:tgtEl>
                                        <p:attrNameLst>
                                          <p:attrName>ppt_h</p:attrName>
                                        </p:attrNameLst>
                                      </p:cBhvr>
                                      <p:tavLst>
                                        <p:tav tm="0">
                                          <p:val>
                                            <p:fltVal val="0"/>
                                          </p:val>
                                        </p:tav>
                                        <p:tav tm="100000">
                                          <p:val>
                                            <p:strVal val="#ppt_h"/>
                                          </p:val>
                                        </p:tav>
                                      </p:tavLst>
                                    </p:anim>
                                    <p:anim calcmode="lin" valueType="num">
                                      <p:cBhvr>
                                        <p:cTn id="30" dur="1000" fill="hold"/>
                                        <p:tgtEl>
                                          <p:spTgt spid="6"/>
                                        </p:tgtEl>
                                        <p:attrNameLst>
                                          <p:attrName>style.rotation</p:attrName>
                                        </p:attrNameLst>
                                      </p:cBhvr>
                                      <p:tavLst>
                                        <p:tav tm="0">
                                          <p:val>
                                            <p:fltVal val="90"/>
                                          </p:val>
                                        </p:tav>
                                        <p:tav tm="100000">
                                          <p:val>
                                            <p:fltVal val="0"/>
                                          </p:val>
                                        </p:tav>
                                      </p:tavLst>
                                    </p:anim>
                                    <p:animEffect transition="in" filter="fade">
                                      <p:cBhvr>
                                        <p:cTn id="31" dur="10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1000" fill="hold"/>
                                        <p:tgtEl>
                                          <p:spTgt spid="8"/>
                                        </p:tgtEl>
                                        <p:attrNameLst>
                                          <p:attrName>ppt_w</p:attrName>
                                        </p:attrNameLst>
                                      </p:cBhvr>
                                      <p:tavLst>
                                        <p:tav tm="0">
                                          <p:val>
                                            <p:fltVal val="0"/>
                                          </p:val>
                                        </p:tav>
                                        <p:tav tm="100000">
                                          <p:val>
                                            <p:strVal val="#ppt_w"/>
                                          </p:val>
                                        </p:tav>
                                      </p:tavLst>
                                    </p:anim>
                                    <p:anim calcmode="lin" valueType="num">
                                      <p:cBhvr>
                                        <p:cTn id="37" dur="1000" fill="hold"/>
                                        <p:tgtEl>
                                          <p:spTgt spid="8"/>
                                        </p:tgtEl>
                                        <p:attrNameLst>
                                          <p:attrName>ppt_h</p:attrName>
                                        </p:attrNameLst>
                                      </p:cBhvr>
                                      <p:tavLst>
                                        <p:tav tm="0">
                                          <p:val>
                                            <p:fltVal val="0"/>
                                          </p:val>
                                        </p:tav>
                                        <p:tav tm="100000">
                                          <p:val>
                                            <p:strVal val="#ppt_h"/>
                                          </p:val>
                                        </p:tav>
                                      </p:tavLst>
                                    </p:anim>
                                    <p:anim calcmode="lin" valueType="num">
                                      <p:cBhvr>
                                        <p:cTn id="38" dur="1000" fill="hold"/>
                                        <p:tgtEl>
                                          <p:spTgt spid="8"/>
                                        </p:tgtEl>
                                        <p:attrNameLst>
                                          <p:attrName>style.rotation</p:attrName>
                                        </p:attrNameLst>
                                      </p:cBhvr>
                                      <p:tavLst>
                                        <p:tav tm="0">
                                          <p:val>
                                            <p:fltVal val="90"/>
                                          </p:val>
                                        </p:tav>
                                        <p:tav tm="100000">
                                          <p:val>
                                            <p:fltVal val="0"/>
                                          </p:val>
                                        </p:tav>
                                      </p:tavLst>
                                    </p:anim>
                                    <p:animEffect transition="in" filter="fade">
                                      <p:cBhvr>
                                        <p:cTn id="39" dur="10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31" presetClass="entr" presetSubtype="0" fill="hold" nodeType="click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p:cTn id="44" dur="1000" fill="hold"/>
                                        <p:tgtEl>
                                          <p:spTgt spid="10"/>
                                        </p:tgtEl>
                                        <p:attrNameLst>
                                          <p:attrName>ppt_w</p:attrName>
                                        </p:attrNameLst>
                                      </p:cBhvr>
                                      <p:tavLst>
                                        <p:tav tm="0">
                                          <p:val>
                                            <p:fltVal val="0"/>
                                          </p:val>
                                        </p:tav>
                                        <p:tav tm="100000">
                                          <p:val>
                                            <p:strVal val="#ppt_w"/>
                                          </p:val>
                                        </p:tav>
                                      </p:tavLst>
                                    </p:anim>
                                    <p:anim calcmode="lin" valueType="num">
                                      <p:cBhvr>
                                        <p:cTn id="45" dur="1000" fill="hold"/>
                                        <p:tgtEl>
                                          <p:spTgt spid="10"/>
                                        </p:tgtEl>
                                        <p:attrNameLst>
                                          <p:attrName>ppt_h</p:attrName>
                                        </p:attrNameLst>
                                      </p:cBhvr>
                                      <p:tavLst>
                                        <p:tav tm="0">
                                          <p:val>
                                            <p:fltVal val="0"/>
                                          </p:val>
                                        </p:tav>
                                        <p:tav tm="100000">
                                          <p:val>
                                            <p:strVal val="#ppt_h"/>
                                          </p:val>
                                        </p:tav>
                                      </p:tavLst>
                                    </p:anim>
                                    <p:anim calcmode="lin" valueType="num">
                                      <p:cBhvr>
                                        <p:cTn id="46" dur="1000" fill="hold"/>
                                        <p:tgtEl>
                                          <p:spTgt spid="10"/>
                                        </p:tgtEl>
                                        <p:attrNameLst>
                                          <p:attrName>style.rotation</p:attrName>
                                        </p:attrNameLst>
                                      </p:cBhvr>
                                      <p:tavLst>
                                        <p:tav tm="0">
                                          <p:val>
                                            <p:fltVal val="90"/>
                                          </p:val>
                                        </p:tav>
                                        <p:tav tm="100000">
                                          <p:val>
                                            <p:fltVal val="0"/>
                                          </p:val>
                                        </p:tav>
                                      </p:tavLst>
                                    </p:anim>
                                    <p:animEffect transition="in" filter="fade">
                                      <p:cBhvr>
                                        <p:cTn id="47" dur="10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nodeType="clickEffect">
                                  <p:stCondLst>
                                    <p:cond delay="0"/>
                                  </p:stCondLst>
                                  <p:childTnLst>
                                    <p:set>
                                      <p:cBhvr>
                                        <p:cTn id="51" dur="1" fill="hold">
                                          <p:stCondLst>
                                            <p:cond delay="0"/>
                                          </p:stCondLst>
                                        </p:cTn>
                                        <p:tgtEl>
                                          <p:spTgt spid="3">
                                            <p:txEl>
                                              <p:pRg st="0" end="0"/>
                                            </p:txEl>
                                          </p:spTgt>
                                        </p:tgtEl>
                                        <p:attrNameLst>
                                          <p:attrName>style.visibility</p:attrName>
                                        </p:attrNameLst>
                                      </p:cBhvr>
                                      <p:to>
                                        <p:strVal val="visible"/>
                                      </p:to>
                                    </p:set>
                                    <p:animEffect transition="in" filter="circle(in)">
                                      <p:cBhvr>
                                        <p:cTn id="52" dur="2000"/>
                                        <p:tgtEl>
                                          <p:spTgt spid="3">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nodeType="clickEffect">
                                  <p:stCondLst>
                                    <p:cond delay="0"/>
                                  </p:stCondLst>
                                  <p:childTnLst>
                                    <p:set>
                                      <p:cBhvr>
                                        <p:cTn id="56" dur="1" fill="hold">
                                          <p:stCondLst>
                                            <p:cond delay="0"/>
                                          </p:stCondLst>
                                        </p:cTn>
                                        <p:tgtEl>
                                          <p:spTgt spid="3">
                                            <p:txEl>
                                              <p:pRg st="1" end="1"/>
                                            </p:txEl>
                                          </p:spTgt>
                                        </p:tgtEl>
                                        <p:attrNameLst>
                                          <p:attrName>style.visibility</p:attrName>
                                        </p:attrNameLst>
                                      </p:cBhvr>
                                      <p:to>
                                        <p:strVal val="visible"/>
                                      </p:to>
                                    </p:set>
                                    <p:animEffect transition="in" filter="circle(in)">
                                      <p:cBhvr>
                                        <p:cTn id="57"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r>
              <a:rPr lang="zh-CN" altLang="en-US" sz="2400" b="1" dirty="0"/>
              <a:t>亦即是说，如果统治是一种技艺，那么任何一个统治者都不应该去考虑自己（强者）的利益，而是只会为了被统治者的利益（而被统治者当然是弱者）考虑。</a:t>
            </a:r>
          </a:p>
          <a:p>
            <a:endParaRPr lang="zh-CN" altLang="en-US" dirty="0"/>
          </a:p>
        </p:txBody>
      </p:sp>
      <p:pic>
        <p:nvPicPr>
          <p:cNvPr id="5" name="内容占位符 4">
            <a:extLst>
              <a:ext uri="{FF2B5EF4-FFF2-40B4-BE49-F238E27FC236}">
                <a16:creationId xmlns:a16="http://schemas.microsoft.com/office/drawing/2014/main" id="{1BD40F5F-5A7F-442F-91C1-8F613B809C64}"/>
              </a:ext>
            </a:extLst>
          </p:cNvPr>
          <p:cNvPicPr>
            <a:picLocks noGrp="1" noChangeAspect="1"/>
          </p:cNvPicPr>
          <p:nvPr>
            <p:ph sz="half" idx="2"/>
          </p:nvPr>
        </p:nvPicPr>
        <p:blipFill>
          <a:blip r:embed="rId2"/>
          <a:stretch>
            <a:fillRect/>
          </a:stretch>
        </p:blipFill>
        <p:spPr>
          <a:xfrm>
            <a:off x="6859390" y="0"/>
            <a:ext cx="5040000" cy="6897720"/>
          </a:xfrm>
          <a:prstGeom prst="rect">
            <a:avLst/>
          </a:prstGeom>
        </p:spPr>
      </p:pic>
      <p:cxnSp>
        <p:nvCxnSpPr>
          <p:cNvPr id="6" name="Straight Connector 5"/>
          <p:cNvCxnSpPr/>
          <p:nvPr/>
        </p:nvCxnSpPr>
        <p:spPr>
          <a:xfrm>
            <a:off x="8247707" y="3739081"/>
            <a:ext cx="3268301" cy="1810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7460055" y="3956364"/>
            <a:ext cx="4119327" cy="905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7460055" y="4146487"/>
            <a:ext cx="1919335" cy="2716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709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1000" fill="hold"/>
                                        <p:tgtEl>
                                          <p:spTgt spid="8"/>
                                        </p:tgtEl>
                                        <p:attrNameLst>
                                          <p:attrName>ppt_w</p:attrName>
                                        </p:attrNameLst>
                                      </p:cBhvr>
                                      <p:tavLst>
                                        <p:tav tm="0">
                                          <p:val>
                                            <p:fltVal val="0"/>
                                          </p:val>
                                        </p:tav>
                                        <p:tav tm="100000">
                                          <p:val>
                                            <p:strVal val="#ppt_w"/>
                                          </p:val>
                                        </p:tav>
                                      </p:tavLst>
                                    </p:anim>
                                    <p:anim calcmode="lin" valueType="num">
                                      <p:cBhvr>
                                        <p:cTn id="16" dur="1000" fill="hold"/>
                                        <p:tgtEl>
                                          <p:spTgt spid="8"/>
                                        </p:tgtEl>
                                        <p:attrNameLst>
                                          <p:attrName>ppt_h</p:attrName>
                                        </p:attrNameLst>
                                      </p:cBhvr>
                                      <p:tavLst>
                                        <p:tav tm="0">
                                          <p:val>
                                            <p:fltVal val="0"/>
                                          </p:val>
                                        </p:tav>
                                        <p:tav tm="100000">
                                          <p:val>
                                            <p:strVal val="#ppt_h"/>
                                          </p:val>
                                        </p:tav>
                                      </p:tavLst>
                                    </p:anim>
                                    <p:anim calcmode="lin" valueType="num">
                                      <p:cBhvr>
                                        <p:cTn id="17" dur="1000" fill="hold"/>
                                        <p:tgtEl>
                                          <p:spTgt spid="8"/>
                                        </p:tgtEl>
                                        <p:attrNameLst>
                                          <p:attrName>style.rotation</p:attrName>
                                        </p:attrNameLst>
                                      </p:cBhvr>
                                      <p:tavLst>
                                        <p:tav tm="0">
                                          <p:val>
                                            <p:fltVal val="90"/>
                                          </p:val>
                                        </p:tav>
                                        <p:tav tm="100000">
                                          <p:val>
                                            <p:fltVal val="0"/>
                                          </p:val>
                                        </p:tav>
                                      </p:tavLst>
                                    </p:anim>
                                    <p:animEffect transition="in" filter="fade">
                                      <p:cBhvr>
                                        <p:cTn id="18" dur="10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p:cTn id="23" dur="1000" fill="hold"/>
                                        <p:tgtEl>
                                          <p:spTgt spid="10"/>
                                        </p:tgtEl>
                                        <p:attrNameLst>
                                          <p:attrName>ppt_w</p:attrName>
                                        </p:attrNameLst>
                                      </p:cBhvr>
                                      <p:tavLst>
                                        <p:tav tm="0">
                                          <p:val>
                                            <p:fltVal val="0"/>
                                          </p:val>
                                        </p:tav>
                                        <p:tav tm="100000">
                                          <p:val>
                                            <p:strVal val="#ppt_w"/>
                                          </p:val>
                                        </p:tav>
                                      </p:tavLst>
                                    </p:anim>
                                    <p:anim calcmode="lin" valueType="num">
                                      <p:cBhvr>
                                        <p:cTn id="24" dur="1000" fill="hold"/>
                                        <p:tgtEl>
                                          <p:spTgt spid="10"/>
                                        </p:tgtEl>
                                        <p:attrNameLst>
                                          <p:attrName>ppt_h</p:attrName>
                                        </p:attrNameLst>
                                      </p:cBhvr>
                                      <p:tavLst>
                                        <p:tav tm="0">
                                          <p:val>
                                            <p:fltVal val="0"/>
                                          </p:val>
                                        </p:tav>
                                        <p:tav tm="100000">
                                          <p:val>
                                            <p:strVal val="#ppt_h"/>
                                          </p:val>
                                        </p:tav>
                                      </p:tavLst>
                                    </p:anim>
                                    <p:anim calcmode="lin" valueType="num">
                                      <p:cBhvr>
                                        <p:cTn id="25" dur="1000" fill="hold"/>
                                        <p:tgtEl>
                                          <p:spTgt spid="10"/>
                                        </p:tgtEl>
                                        <p:attrNameLst>
                                          <p:attrName>style.rotation</p:attrName>
                                        </p:attrNameLst>
                                      </p:cBhvr>
                                      <p:tavLst>
                                        <p:tav tm="0">
                                          <p:val>
                                            <p:fltVal val="90"/>
                                          </p:val>
                                        </p:tav>
                                        <p:tav tm="100000">
                                          <p:val>
                                            <p:fltVal val="0"/>
                                          </p:val>
                                        </p:tav>
                                      </p:tavLst>
                                    </p:anim>
                                    <p:animEffect transition="in" filter="fade">
                                      <p:cBhvr>
                                        <p:cTn id="26" dur="10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animEffect transition="in" filter="circle(in)">
                                      <p:cBhvr>
                                        <p:cTn id="31"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论证思路整理</a:t>
            </a:r>
          </a:p>
        </p:txBody>
      </p:sp>
      <p:sp>
        <p:nvSpPr>
          <p:cNvPr id="5" name="TextBox 4"/>
          <p:cNvSpPr txBox="1"/>
          <p:nvPr/>
        </p:nvSpPr>
        <p:spPr>
          <a:xfrm>
            <a:off x="1140735" y="2739602"/>
            <a:ext cx="2027978" cy="369332"/>
          </a:xfrm>
          <a:prstGeom prst="rect">
            <a:avLst/>
          </a:prstGeom>
          <a:noFill/>
        </p:spPr>
        <p:txBody>
          <a:bodyPr wrap="square" rtlCol="0">
            <a:spAutoFit/>
          </a:bodyPr>
          <a:lstStyle/>
          <a:p>
            <a:r>
              <a:rPr lang="zh-CN" altLang="en-US" b="1" dirty="0"/>
              <a:t>正义是强者的利益</a:t>
            </a:r>
          </a:p>
        </p:txBody>
      </p:sp>
      <p:sp>
        <p:nvSpPr>
          <p:cNvPr id="6" name="TextBox 5"/>
          <p:cNvSpPr txBox="1"/>
          <p:nvPr/>
        </p:nvSpPr>
        <p:spPr>
          <a:xfrm>
            <a:off x="1140735" y="4071589"/>
            <a:ext cx="2295055" cy="1015663"/>
          </a:xfrm>
          <a:prstGeom prst="rect">
            <a:avLst/>
          </a:prstGeom>
          <a:noFill/>
        </p:spPr>
        <p:txBody>
          <a:bodyPr wrap="square" rtlCol="0">
            <a:spAutoFit/>
          </a:bodyPr>
          <a:lstStyle/>
          <a:p>
            <a:r>
              <a:rPr lang="zh-CN" altLang="en-US" sz="2000" b="1" dirty="0"/>
              <a:t>强者会犯错误</a:t>
            </a:r>
            <a:endParaRPr lang="en-US" altLang="zh-CN" sz="2000" b="1" dirty="0"/>
          </a:p>
          <a:p>
            <a:r>
              <a:rPr lang="zh-CN" altLang="en-US" sz="2000" b="1" dirty="0"/>
              <a:t>制定不利于己的法律</a:t>
            </a:r>
          </a:p>
        </p:txBody>
      </p:sp>
      <p:sp>
        <p:nvSpPr>
          <p:cNvPr id="7" name="TextBox 6"/>
          <p:cNvSpPr txBox="1"/>
          <p:nvPr/>
        </p:nvSpPr>
        <p:spPr>
          <a:xfrm>
            <a:off x="3539905" y="2601102"/>
            <a:ext cx="2290527" cy="707886"/>
          </a:xfrm>
          <a:prstGeom prst="rect">
            <a:avLst/>
          </a:prstGeom>
          <a:noFill/>
        </p:spPr>
        <p:txBody>
          <a:bodyPr wrap="square" rtlCol="0">
            <a:spAutoFit/>
          </a:bodyPr>
          <a:lstStyle/>
          <a:p>
            <a:r>
              <a:rPr lang="zh-CN" altLang="en-US" sz="2000" b="1" dirty="0"/>
              <a:t>强者不会犯错</a:t>
            </a:r>
            <a:endParaRPr lang="en-US" altLang="zh-CN" sz="2000" b="1" dirty="0"/>
          </a:p>
          <a:p>
            <a:r>
              <a:rPr lang="zh-CN" altLang="en-US" sz="2000" b="1" dirty="0"/>
              <a:t>强者是技艺匠师</a:t>
            </a:r>
          </a:p>
        </p:txBody>
      </p:sp>
      <p:sp>
        <p:nvSpPr>
          <p:cNvPr id="8" name="TextBox 7"/>
          <p:cNvSpPr txBox="1"/>
          <p:nvPr/>
        </p:nvSpPr>
        <p:spPr>
          <a:xfrm>
            <a:off x="3576120" y="4060065"/>
            <a:ext cx="2331267" cy="1631216"/>
          </a:xfrm>
          <a:prstGeom prst="rect">
            <a:avLst/>
          </a:prstGeom>
          <a:noFill/>
        </p:spPr>
        <p:txBody>
          <a:bodyPr wrap="square" rtlCol="0">
            <a:spAutoFit/>
          </a:bodyPr>
          <a:lstStyle/>
          <a:p>
            <a:r>
              <a:rPr lang="zh-CN" altLang="en-US" sz="2000" b="1" dirty="0"/>
              <a:t>如果强者是技艺匠师</a:t>
            </a:r>
            <a:endParaRPr lang="en-US" altLang="zh-CN" sz="2000" b="1" dirty="0"/>
          </a:p>
          <a:p>
            <a:r>
              <a:rPr lang="zh-CN" altLang="en-US" sz="2000" b="1" dirty="0"/>
              <a:t>统治就被等同于技艺</a:t>
            </a:r>
            <a:endParaRPr lang="en-US" altLang="zh-CN" sz="2000" b="1" dirty="0"/>
          </a:p>
          <a:p>
            <a:endParaRPr lang="zh-CN" altLang="en-US" sz="2000" b="1" dirty="0"/>
          </a:p>
        </p:txBody>
      </p:sp>
      <p:sp>
        <p:nvSpPr>
          <p:cNvPr id="9" name="TextBox 8"/>
          <p:cNvSpPr txBox="1"/>
          <p:nvPr/>
        </p:nvSpPr>
        <p:spPr>
          <a:xfrm>
            <a:off x="6310264" y="4055951"/>
            <a:ext cx="2362955" cy="707886"/>
          </a:xfrm>
          <a:prstGeom prst="rect">
            <a:avLst/>
          </a:prstGeom>
          <a:noFill/>
        </p:spPr>
        <p:txBody>
          <a:bodyPr wrap="square" rtlCol="0">
            <a:spAutoFit/>
          </a:bodyPr>
          <a:lstStyle/>
          <a:p>
            <a:r>
              <a:rPr lang="zh-CN" altLang="en-US" sz="2000" b="1" dirty="0"/>
              <a:t>但技艺只为自己服务对象的利益服务</a:t>
            </a:r>
          </a:p>
        </p:txBody>
      </p:sp>
      <p:sp>
        <p:nvSpPr>
          <p:cNvPr id="11" name="TextBox 10"/>
          <p:cNvSpPr txBox="1"/>
          <p:nvPr/>
        </p:nvSpPr>
        <p:spPr>
          <a:xfrm>
            <a:off x="9225481" y="4055951"/>
            <a:ext cx="2417275" cy="1015663"/>
          </a:xfrm>
          <a:prstGeom prst="rect">
            <a:avLst/>
          </a:prstGeom>
          <a:noFill/>
        </p:spPr>
        <p:txBody>
          <a:bodyPr wrap="square" rtlCol="0">
            <a:spAutoFit/>
          </a:bodyPr>
          <a:lstStyle/>
          <a:p>
            <a:r>
              <a:rPr lang="zh-CN" altLang="en-US" sz="2000" b="1" dirty="0"/>
              <a:t>（作为技艺匠师）的统治者只会为被统治者的利益考虑</a:t>
            </a:r>
          </a:p>
        </p:txBody>
      </p:sp>
      <p:sp>
        <p:nvSpPr>
          <p:cNvPr id="12" name="TextBox 11"/>
          <p:cNvSpPr txBox="1"/>
          <p:nvPr/>
        </p:nvSpPr>
        <p:spPr>
          <a:xfrm>
            <a:off x="9225481" y="2664476"/>
            <a:ext cx="2317687" cy="400110"/>
          </a:xfrm>
          <a:prstGeom prst="rect">
            <a:avLst/>
          </a:prstGeom>
          <a:noFill/>
        </p:spPr>
        <p:txBody>
          <a:bodyPr wrap="square" rtlCol="0">
            <a:spAutoFit/>
          </a:bodyPr>
          <a:lstStyle/>
          <a:p>
            <a:r>
              <a:rPr lang="zh-CN" altLang="en-US" sz="2000" b="1" dirty="0"/>
              <a:t>正义是强者的利益</a:t>
            </a:r>
          </a:p>
        </p:txBody>
      </p:sp>
      <p:sp>
        <p:nvSpPr>
          <p:cNvPr id="13" name="Up Arrow 12"/>
          <p:cNvSpPr/>
          <p:nvPr/>
        </p:nvSpPr>
        <p:spPr>
          <a:xfrm>
            <a:off x="1692998" y="3395050"/>
            <a:ext cx="172016" cy="497940"/>
          </a:xfrm>
          <a:prstGeom prst="upArrow">
            <a:avLst/>
          </a:prstGeom>
          <a:solidFill>
            <a:srgbClr val="FF0000"/>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2000" b="1"/>
          </a:p>
        </p:txBody>
      </p:sp>
      <p:sp>
        <p:nvSpPr>
          <p:cNvPr id="14" name="Right Arrow 13"/>
          <p:cNvSpPr/>
          <p:nvPr/>
        </p:nvSpPr>
        <p:spPr>
          <a:xfrm>
            <a:off x="3168713" y="2849142"/>
            <a:ext cx="371192" cy="184665"/>
          </a:xfrm>
          <a:prstGeom prst="rightArrow">
            <a:avLst/>
          </a:prstGeom>
          <a:solidFill>
            <a:srgbClr val="FF000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2000" b="1"/>
          </a:p>
        </p:txBody>
      </p:sp>
      <p:sp>
        <p:nvSpPr>
          <p:cNvPr id="15" name="Down Arrow 14"/>
          <p:cNvSpPr/>
          <p:nvPr/>
        </p:nvSpPr>
        <p:spPr>
          <a:xfrm rot="10800000">
            <a:off x="4354265" y="3369655"/>
            <a:ext cx="195101" cy="497940"/>
          </a:xfrm>
          <a:prstGeom prst="downArrow">
            <a:avLst/>
          </a:prstGeom>
          <a:solidFill>
            <a:srgbClr val="FF000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2000" b="1"/>
          </a:p>
        </p:txBody>
      </p:sp>
      <p:sp>
        <p:nvSpPr>
          <p:cNvPr id="16" name="Right Arrow 15"/>
          <p:cNvSpPr/>
          <p:nvPr/>
        </p:nvSpPr>
        <p:spPr>
          <a:xfrm>
            <a:off x="5830433" y="4273236"/>
            <a:ext cx="479832" cy="151599"/>
          </a:xfrm>
          <a:prstGeom prst="rightArrow">
            <a:avLst/>
          </a:prstGeom>
          <a:solidFill>
            <a:srgbClr val="FF000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2000" b="1"/>
          </a:p>
        </p:txBody>
      </p:sp>
      <p:sp>
        <p:nvSpPr>
          <p:cNvPr id="17" name="Right Arrow 16"/>
          <p:cNvSpPr/>
          <p:nvPr/>
        </p:nvSpPr>
        <p:spPr>
          <a:xfrm>
            <a:off x="8564578" y="4200808"/>
            <a:ext cx="516048" cy="193947"/>
          </a:xfrm>
          <a:prstGeom prst="rightArrow">
            <a:avLst/>
          </a:prstGeom>
          <a:solidFill>
            <a:srgbClr val="FF000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2000" b="1"/>
          </a:p>
        </p:txBody>
      </p:sp>
      <p:sp>
        <p:nvSpPr>
          <p:cNvPr id="18" name="Up Arrow 17"/>
          <p:cNvSpPr/>
          <p:nvPr/>
        </p:nvSpPr>
        <p:spPr>
          <a:xfrm>
            <a:off x="10230416" y="3279120"/>
            <a:ext cx="203702" cy="588475"/>
          </a:xfrm>
          <a:prstGeom prst="upArrow">
            <a:avLst/>
          </a:prstGeom>
          <a:solidFill>
            <a:srgbClr val="FF000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2000" b="1"/>
          </a:p>
        </p:txBody>
      </p:sp>
      <p:cxnSp>
        <p:nvCxnSpPr>
          <p:cNvPr id="20" name="Straight Connector 19"/>
          <p:cNvCxnSpPr/>
          <p:nvPr/>
        </p:nvCxnSpPr>
        <p:spPr>
          <a:xfrm flipV="1">
            <a:off x="9433711" y="2664476"/>
            <a:ext cx="1702051" cy="36933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9379390" y="2601102"/>
            <a:ext cx="1801639" cy="50783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57244"/>
            <a:ext cx="1173489" cy="1687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76" y="4071589"/>
            <a:ext cx="1151011" cy="1537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85552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randombar(horizontal)">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ircle(in)">
                                      <p:cBhvr>
                                        <p:cTn id="12" dur="20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1027"/>
                                        </p:tgtEl>
                                        <p:attrNameLst>
                                          <p:attrName>style.visibility</p:attrName>
                                        </p:attrNameLst>
                                      </p:cBhvr>
                                      <p:to>
                                        <p:strVal val="visible"/>
                                      </p:to>
                                    </p:set>
                                    <p:anim calcmode="lin" valueType="num">
                                      <p:cBhvr>
                                        <p:cTn id="17" dur="1000" fill="hold"/>
                                        <p:tgtEl>
                                          <p:spTgt spid="1027"/>
                                        </p:tgtEl>
                                        <p:attrNameLst>
                                          <p:attrName>ppt_w</p:attrName>
                                        </p:attrNameLst>
                                      </p:cBhvr>
                                      <p:tavLst>
                                        <p:tav tm="0">
                                          <p:val>
                                            <p:fltVal val="0"/>
                                          </p:val>
                                        </p:tav>
                                        <p:tav tm="100000">
                                          <p:val>
                                            <p:strVal val="#ppt_w"/>
                                          </p:val>
                                        </p:tav>
                                      </p:tavLst>
                                    </p:anim>
                                    <p:anim calcmode="lin" valueType="num">
                                      <p:cBhvr>
                                        <p:cTn id="18" dur="1000" fill="hold"/>
                                        <p:tgtEl>
                                          <p:spTgt spid="1027"/>
                                        </p:tgtEl>
                                        <p:attrNameLst>
                                          <p:attrName>ppt_h</p:attrName>
                                        </p:attrNameLst>
                                      </p:cBhvr>
                                      <p:tavLst>
                                        <p:tav tm="0">
                                          <p:val>
                                            <p:fltVal val="0"/>
                                          </p:val>
                                        </p:tav>
                                        <p:tav tm="100000">
                                          <p:val>
                                            <p:strVal val="#ppt_h"/>
                                          </p:val>
                                        </p:tav>
                                      </p:tavLst>
                                    </p:anim>
                                    <p:anim calcmode="lin" valueType="num">
                                      <p:cBhvr>
                                        <p:cTn id="19" dur="1000" fill="hold"/>
                                        <p:tgtEl>
                                          <p:spTgt spid="1027"/>
                                        </p:tgtEl>
                                        <p:attrNameLst>
                                          <p:attrName>style.rotation</p:attrName>
                                        </p:attrNameLst>
                                      </p:cBhvr>
                                      <p:tavLst>
                                        <p:tav tm="0">
                                          <p:val>
                                            <p:fltVal val="90"/>
                                          </p:val>
                                        </p:tav>
                                        <p:tav tm="100000">
                                          <p:val>
                                            <p:fltVal val="0"/>
                                          </p:val>
                                        </p:tav>
                                      </p:tavLst>
                                    </p:anim>
                                    <p:animEffect transition="in" filter="fade">
                                      <p:cBhvr>
                                        <p:cTn id="20" dur="1000"/>
                                        <p:tgtEl>
                                          <p:spTgt spid="1027"/>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 calcmode="lin" valueType="num">
                                      <p:cBhvr>
                                        <p:cTn id="25" dur="1000" fill="hold"/>
                                        <p:tgtEl>
                                          <p:spTgt spid="6">
                                            <p:txEl>
                                              <p:pRg st="0" end="0"/>
                                            </p:txEl>
                                          </p:spTgt>
                                        </p:tgtEl>
                                        <p:attrNameLst>
                                          <p:attrName>ppt_w</p:attrName>
                                        </p:attrNameLst>
                                      </p:cBhvr>
                                      <p:tavLst>
                                        <p:tav tm="0">
                                          <p:val>
                                            <p:fltVal val="0"/>
                                          </p:val>
                                        </p:tav>
                                        <p:tav tm="100000">
                                          <p:val>
                                            <p:strVal val="#ppt_w"/>
                                          </p:val>
                                        </p:tav>
                                      </p:tavLst>
                                    </p:anim>
                                    <p:anim calcmode="lin" valueType="num">
                                      <p:cBhvr>
                                        <p:cTn id="26" dur="1000" fill="hold"/>
                                        <p:tgtEl>
                                          <p:spTgt spid="6">
                                            <p:txEl>
                                              <p:pRg st="0" end="0"/>
                                            </p:txEl>
                                          </p:spTgt>
                                        </p:tgtEl>
                                        <p:attrNameLst>
                                          <p:attrName>ppt_h</p:attrName>
                                        </p:attrNameLst>
                                      </p:cBhvr>
                                      <p:tavLst>
                                        <p:tav tm="0">
                                          <p:val>
                                            <p:fltVal val="0"/>
                                          </p:val>
                                        </p:tav>
                                        <p:tav tm="100000">
                                          <p:val>
                                            <p:strVal val="#ppt_h"/>
                                          </p:val>
                                        </p:tav>
                                      </p:tavLst>
                                    </p:anim>
                                    <p:anim calcmode="lin" valueType="num">
                                      <p:cBhvr>
                                        <p:cTn id="27" dur="1000" fill="hold"/>
                                        <p:tgtEl>
                                          <p:spTgt spid="6">
                                            <p:txEl>
                                              <p:pRg st="0" end="0"/>
                                            </p:txEl>
                                          </p:spTgt>
                                        </p:tgtEl>
                                        <p:attrNameLst>
                                          <p:attrName>style.rotation</p:attrName>
                                        </p:attrNameLst>
                                      </p:cBhvr>
                                      <p:tavLst>
                                        <p:tav tm="0">
                                          <p:val>
                                            <p:fltVal val="90"/>
                                          </p:val>
                                        </p:tav>
                                        <p:tav tm="100000">
                                          <p:val>
                                            <p:fltVal val="0"/>
                                          </p:val>
                                        </p:tav>
                                      </p:tavLst>
                                    </p:anim>
                                    <p:animEffect transition="in" filter="fade">
                                      <p:cBhvr>
                                        <p:cTn id="28" dur="1000"/>
                                        <p:tgtEl>
                                          <p:spTgt spid="6">
                                            <p:txEl>
                                              <p:pRg st="0" end="0"/>
                                            </p:txEl>
                                          </p:spTgt>
                                        </p:tgtEl>
                                      </p:cBhvr>
                                    </p:animEffect>
                                  </p:childTnLst>
                                </p:cTn>
                              </p:par>
                              <p:par>
                                <p:cTn id="29" presetID="31" presetClass="entr" presetSubtype="0" fill="hold" nodeType="withEffect">
                                  <p:stCondLst>
                                    <p:cond delay="0"/>
                                  </p:stCondLst>
                                  <p:childTnLst>
                                    <p:set>
                                      <p:cBhvr>
                                        <p:cTn id="30" dur="1" fill="hold">
                                          <p:stCondLst>
                                            <p:cond delay="0"/>
                                          </p:stCondLst>
                                        </p:cTn>
                                        <p:tgtEl>
                                          <p:spTgt spid="6">
                                            <p:txEl>
                                              <p:pRg st="1" end="1"/>
                                            </p:txEl>
                                          </p:spTgt>
                                        </p:tgtEl>
                                        <p:attrNameLst>
                                          <p:attrName>style.visibility</p:attrName>
                                        </p:attrNameLst>
                                      </p:cBhvr>
                                      <p:to>
                                        <p:strVal val="visible"/>
                                      </p:to>
                                    </p:set>
                                    <p:anim calcmode="lin" valueType="num">
                                      <p:cBhvr>
                                        <p:cTn id="31" dur="1000" fill="hold"/>
                                        <p:tgtEl>
                                          <p:spTgt spid="6">
                                            <p:txEl>
                                              <p:pRg st="1" end="1"/>
                                            </p:txEl>
                                          </p:spTgt>
                                        </p:tgtEl>
                                        <p:attrNameLst>
                                          <p:attrName>ppt_w</p:attrName>
                                        </p:attrNameLst>
                                      </p:cBhvr>
                                      <p:tavLst>
                                        <p:tav tm="0">
                                          <p:val>
                                            <p:fltVal val="0"/>
                                          </p:val>
                                        </p:tav>
                                        <p:tav tm="100000">
                                          <p:val>
                                            <p:strVal val="#ppt_w"/>
                                          </p:val>
                                        </p:tav>
                                      </p:tavLst>
                                    </p:anim>
                                    <p:anim calcmode="lin" valueType="num">
                                      <p:cBhvr>
                                        <p:cTn id="32" dur="1000" fill="hold"/>
                                        <p:tgtEl>
                                          <p:spTgt spid="6">
                                            <p:txEl>
                                              <p:pRg st="1" end="1"/>
                                            </p:txEl>
                                          </p:spTgt>
                                        </p:tgtEl>
                                        <p:attrNameLst>
                                          <p:attrName>ppt_h</p:attrName>
                                        </p:attrNameLst>
                                      </p:cBhvr>
                                      <p:tavLst>
                                        <p:tav tm="0">
                                          <p:val>
                                            <p:fltVal val="0"/>
                                          </p:val>
                                        </p:tav>
                                        <p:tav tm="100000">
                                          <p:val>
                                            <p:strVal val="#ppt_h"/>
                                          </p:val>
                                        </p:tav>
                                      </p:tavLst>
                                    </p:anim>
                                    <p:anim calcmode="lin" valueType="num">
                                      <p:cBhvr>
                                        <p:cTn id="33" dur="1000" fill="hold"/>
                                        <p:tgtEl>
                                          <p:spTgt spid="6">
                                            <p:txEl>
                                              <p:pRg st="1" end="1"/>
                                            </p:txEl>
                                          </p:spTgt>
                                        </p:tgtEl>
                                        <p:attrNameLst>
                                          <p:attrName>style.rotation</p:attrName>
                                        </p:attrNameLst>
                                      </p:cBhvr>
                                      <p:tavLst>
                                        <p:tav tm="0">
                                          <p:val>
                                            <p:fltVal val="90"/>
                                          </p:val>
                                        </p:tav>
                                        <p:tav tm="100000">
                                          <p:val>
                                            <p:fltVal val="0"/>
                                          </p:val>
                                        </p:tav>
                                      </p:tavLst>
                                    </p:anim>
                                    <p:animEffect transition="in" filter="fade">
                                      <p:cBhvr>
                                        <p:cTn id="34" dur="1000"/>
                                        <p:tgtEl>
                                          <p:spTgt spid="6">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45"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2000"/>
                                        <p:tgtEl>
                                          <p:spTgt spid="13"/>
                                        </p:tgtEl>
                                      </p:cBhvr>
                                    </p:animEffect>
                                    <p:anim calcmode="lin" valueType="num">
                                      <p:cBhvr>
                                        <p:cTn id="40" dur="2000" fill="hold"/>
                                        <p:tgtEl>
                                          <p:spTgt spid="13"/>
                                        </p:tgtEl>
                                        <p:attrNameLst>
                                          <p:attrName>ppt_w</p:attrName>
                                        </p:attrNameLst>
                                      </p:cBhvr>
                                      <p:tavLst>
                                        <p:tav tm="0" fmla="#ppt_w*sin(2.5*pi*$)">
                                          <p:val>
                                            <p:fltVal val="0"/>
                                          </p:val>
                                        </p:tav>
                                        <p:tav tm="100000">
                                          <p:val>
                                            <p:fltVal val="1"/>
                                          </p:val>
                                        </p:tav>
                                      </p:tavLst>
                                    </p:anim>
                                    <p:anim calcmode="lin" valueType="num">
                                      <p:cBhvr>
                                        <p:cTn id="41" dur="20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31" presetClass="entr" presetSubtype="0"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p:cTn id="46" dur="1000" fill="hold"/>
                                        <p:tgtEl>
                                          <p:spTgt spid="14"/>
                                        </p:tgtEl>
                                        <p:attrNameLst>
                                          <p:attrName>ppt_w</p:attrName>
                                        </p:attrNameLst>
                                      </p:cBhvr>
                                      <p:tavLst>
                                        <p:tav tm="0">
                                          <p:val>
                                            <p:fltVal val="0"/>
                                          </p:val>
                                        </p:tav>
                                        <p:tav tm="100000">
                                          <p:val>
                                            <p:strVal val="#ppt_w"/>
                                          </p:val>
                                        </p:tav>
                                      </p:tavLst>
                                    </p:anim>
                                    <p:anim calcmode="lin" valueType="num">
                                      <p:cBhvr>
                                        <p:cTn id="47" dur="1000" fill="hold"/>
                                        <p:tgtEl>
                                          <p:spTgt spid="14"/>
                                        </p:tgtEl>
                                        <p:attrNameLst>
                                          <p:attrName>ppt_h</p:attrName>
                                        </p:attrNameLst>
                                      </p:cBhvr>
                                      <p:tavLst>
                                        <p:tav tm="0">
                                          <p:val>
                                            <p:fltVal val="0"/>
                                          </p:val>
                                        </p:tav>
                                        <p:tav tm="100000">
                                          <p:val>
                                            <p:strVal val="#ppt_h"/>
                                          </p:val>
                                        </p:tav>
                                      </p:tavLst>
                                    </p:anim>
                                    <p:anim calcmode="lin" valueType="num">
                                      <p:cBhvr>
                                        <p:cTn id="48" dur="1000" fill="hold"/>
                                        <p:tgtEl>
                                          <p:spTgt spid="14"/>
                                        </p:tgtEl>
                                        <p:attrNameLst>
                                          <p:attrName>style.rotation</p:attrName>
                                        </p:attrNameLst>
                                      </p:cBhvr>
                                      <p:tavLst>
                                        <p:tav tm="0">
                                          <p:val>
                                            <p:fltVal val="90"/>
                                          </p:val>
                                        </p:tav>
                                        <p:tav tm="100000">
                                          <p:val>
                                            <p:fltVal val="0"/>
                                          </p:val>
                                        </p:tav>
                                      </p:tavLst>
                                    </p:anim>
                                    <p:animEffect transition="in" filter="fade">
                                      <p:cBhvr>
                                        <p:cTn id="49" dur="1000"/>
                                        <p:tgtEl>
                                          <p:spTgt spid="14"/>
                                        </p:tgtEl>
                                      </p:cBhvr>
                                    </p:animEffect>
                                  </p:childTnLst>
                                </p:cTn>
                              </p:par>
                            </p:childTnLst>
                          </p:cTn>
                        </p:par>
                      </p:childTnLst>
                    </p:cTn>
                  </p:par>
                  <p:par>
                    <p:cTn id="50" fill="hold">
                      <p:stCondLst>
                        <p:cond delay="indefinite"/>
                      </p:stCondLst>
                      <p:childTnLst>
                        <p:par>
                          <p:cTn id="51" fill="hold">
                            <p:stCondLst>
                              <p:cond delay="0"/>
                            </p:stCondLst>
                            <p:childTnLst>
                              <p:par>
                                <p:cTn id="52" presetID="31" presetClass="entr" presetSubtype="0" fill="hold" nodeType="clickEffect">
                                  <p:stCondLst>
                                    <p:cond delay="0"/>
                                  </p:stCondLst>
                                  <p:childTnLst>
                                    <p:set>
                                      <p:cBhvr>
                                        <p:cTn id="53" dur="1" fill="hold">
                                          <p:stCondLst>
                                            <p:cond delay="0"/>
                                          </p:stCondLst>
                                        </p:cTn>
                                        <p:tgtEl>
                                          <p:spTgt spid="7">
                                            <p:txEl>
                                              <p:pRg st="0" end="0"/>
                                            </p:txEl>
                                          </p:spTgt>
                                        </p:tgtEl>
                                        <p:attrNameLst>
                                          <p:attrName>style.visibility</p:attrName>
                                        </p:attrNameLst>
                                      </p:cBhvr>
                                      <p:to>
                                        <p:strVal val="visible"/>
                                      </p:to>
                                    </p:set>
                                    <p:anim calcmode="lin" valueType="num">
                                      <p:cBhvr>
                                        <p:cTn id="54" dur="1000" fill="hold"/>
                                        <p:tgtEl>
                                          <p:spTgt spid="7">
                                            <p:txEl>
                                              <p:pRg st="0" end="0"/>
                                            </p:txEl>
                                          </p:spTgt>
                                        </p:tgtEl>
                                        <p:attrNameLst>
                                          <p:attrName>ppt_w</p:attrName>
                                        </p:attrNameLst>
                                      </p:cBhvr>
                                      <p:tavLst>
                                        <p:tav tm="0">
                                          <p:val>
                                            <p:fltVal val="0"/>
                                          </p:val>
                                        </p:tav>
                                        <p:tav tm="100000">
                                          <p:val>
                                            <p:strVal val="#ppt_w"/>
                                          </p:val>
                                        </p:tav>
                                      </p:tavLst>
                                    </p:anim>
                                    <p:anim calcmode="lin" valueType="num">
                                      <p:cBhvr>
                                        <p:cTn id="55" dur="1000" fill="hold"/>
                                        <p:tgtEl>
                                          <p:spTgt spid="7">
                                            <p:txEl>
                                              <p:pRg st="0" end="0"/>
                                            </p:txEl>
                                          </p:spTgt>
                                        </p:tgtEl>
                                        <p:attrNameLst>
                                          <p:attrName>ppt_h</p:attrName>
                                        </p:attrNameLst>
                                      </p:cBhvr>
                                      <p:tavLst>
                                        <p:tav tm="0">
                                          <p:val>
                                            <p:fltVal val="0"/>
                                          </p:val>
                                        </p:tav>
                                        <p:tav tm="100000">
                                          <p:val>
                                            <p:strVal val="#ppt_h"/>
                                          </p:val>
                                        </p:tav>
                                      </p:tavLst>
                                    </p:anim>
                                    <p:anim calcmode="lin" valueType="num">
                                      <p:cBhvr>
                                        <p:cTn id="56" dur="1000" fill="hold"/>
                                        <p:tgtEl>
                                          <p:spTgt spid="7">
                                            <p:txEl>
                                              <p:pRg st="0" end="0"/>
                                            </p:txEl>
                                          </p:spTgt>
                                        </p:tgtEl>
                                        <p:attrNameLst>
                                          <p:attrName>style.rotation</p:attrName>
                                        </p:attrNameLst>
                                      </p:cBhvr>
                                      <p:tavLst>
                                        <p:tav tm="0">
                                          <p:val>
                                            <p:fltVal val="90"/>
                                          </p:val>
                                        </p:tav>
                                        <p:tav tm="100000">
                                          <p:val>
                                            <p:fltVal val="0"/>
                                          </p:val>
                                        </p:tav>
                                      </p:tavLst>
                                    </p:anim>
                                    <p:animEffect transition="in" filter="fade">
                                      <p:cBhvr>
                                        <p:cTn id="57" dur="1000"/>
                                        <p:tgtEl>
                                          <p:spTgt spid="7">
                                            <p:txEl>
                                              <p:pRg st="0" end="0"/>
                                            </p:txEl>
                                          </p:spTgt>
                                        </p:tgtEl>
                                      </p:cBhvr>
                                    </p:animEffect>
                                  </p:childTnLst>
                                </p:cTn>
                              </p:par>
                              <p:par>
                                <p:cTn id="58" presetID="31" presetClass="entr" presetSubtype="0" fill="hold" nodeType="withEffect">
                                  <p:stCondLst>
                                    <p:cond delay="0"/>
                                  </p:stCondLst>
                                  <p:childTnLst>
                                    <p:set>
                                      <p:cBhvr>
                                        <p:cTn id="59" dur="1" fill="hold">
                                          <p:stCondLst>
                                            <p:cond delay="0"/>
                                          </p:stCondLst>
                                        </p:cTn>
                                        <p:tgtEl>
                                          <p:spTgt spid="7">
                                            <p:txEl>
                                              <p:pRg st="1" end="1"/>
                                            </p:txEl>
                                          </p:spTgt>
                                        </p:tgtEl>
                                        <p:attrNameLst>
                                          <p:attrName>style.visibility</p:attrName>
                                        </p:attrNameLst>
                                      </p:cBhvr>
                                      <p:to>
                                        <p:strVal val="visible"/>
                                      </p:to>
                                    </p:set>
                                    <p:anim calcmode="lin" valueType="num">
                                      <p:cBhvr>
                                        <p:cTn id="60" dur="1000" fill="hold"/>
                                        <p:tgtEl>
                                          <p:spTgt spid="7">
                                            <p:txEl>
                                              <p:pRg st="1" end="1"/>
                                            </p:txEl>
                                          </p:spTgt>
                                        </p:tgtEl>
                                        <p:attrNameLst>
                                          <p:attrName>ppt_w</p:attrName>
                                        </p:attrNameLst>
                                      </p:cBhvr>
                                      <p:tavLst>
                                        <p:tav tm="0">
                                          <p:val>
                                            <p:fltVal val="0"/>
                                          </p:val>
                                        </p:tav>
                                        <p:tav tm="100000">
                                          <p:val>
                                            <p:strVal val="#ppt_w"/>
                                          </p:val>
                                        </p:tav>
                                      </p:tavLst>
                                    </p:anim>
                                    <p:anim calcmode="lin" valueType="num">
                                      <p:cBhvr>
                                        <p:cTn id="61" dur="1000" fill="hold"/>
                                        <p:tgtEl>
                                          <p:spTgt spid="7">
                                            <p:txEl>
                                              <p:pRg st="1" end="1"/>
                                            </p:txEl>
                                          </p:spTgt>
                                        </p:tgtEl>
                                        <p:attrNameLst>
                                          <p:attrName>ppt_h</p:attrName>
                                        </p:attrNameLst>
                                      </p:cBhvr>
                                      <p:tavLst>
                                        <p:tav tm="0">
                                          <p:val>
                                            <p:fltVal val="0"/>
                                          </p:val>
                                        </p:tav>
                                        <p:tav tm="100000">
                                          <p:val>
                                            <p:strVal val="#ppt_h"/>
                                          </p:val>
                                        </p:tav>
                                      </p:tavLst>
                                    </p:anim>
                                    <p:anim calcmode="lin" valueType="num">
                                      <p:cBhvr>
                                        <p:cTn id="62" dur="1000" fill="hold"/>
                                        <p:tgtEl>
                                          <p:spTgt spid="7">
                                            <p:txEl>
                                              <p:pRg st="1" end="1"/>
                                            </p:txEl>
                                          </p:spTgt>
                                        </p:tgtEl>
                                        <p:attrNameLst>
                                          <p:attrName>style.rotation</p:attrName>
                                        </p:attrNameLst>
                                      </p:cBhvr>
                                      <p:tavLst>
                                        <p:tav tm="0">
                                          <p:val>
                                            <p:fltVal val="90"/>
                                          </p:val>
                                        </p:tav>
                                        <p:tav tm="100000">
                                          <p:val>
                                            <p:fltVal val="0"/>
                                          </p:val>
                                        </p:tav>
                                      </p:tavLst>
                                    </p:anim>
                                    <p:animEffect transition="in" filter="fade">
                                      <p:cBhvr>
                                        <p:cTn id="63" dur="1000"/>
                                        <p:tgtEl>
                                          <p:spTgt spid="7">
                                            <p:txEl>
                                              <p:pRg st="1" end="1"/>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45" presetClass="entr" presetSubtype="0" fill="hold" grpId="0" nodeType="click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2000"/>
                                        <p:tgtEl>
                                          <p:spTgt spid="15"/>
                                        </p:tgtEl>
                                      </p:cBhvr>
                                    </p:animEffect>
                                    <p:anim calcmode="lin" valueType="num">
                                      <p:cBhvr>
                                        <p:cTn id="69" dur="2000" fill="hold"/>
                                        <p:tgtEl>
                                          <p:spTgt spid="15"/>
                                        </p:tgtEl>
                                        <p:attrNameLst>
                                          <p:attrName>ppt_w</p:attrName>
                                        </p:attrNameLst>
                                      </p:cBhvr>
                                      <p:tavLst>
                                        <p:tav tm="0" fmla="#ppt_w*sin(2.5*pi*$)">
                                          <p:val>
                                            <p:fltVal val="0"/>
                                          </p:val>
                                        </p:tav>
                                        <p:tav tm="100000">
                                          <p:val>
                                            <p:fltVal val="1"/>
                                          </p:val>
                                        </p:tav>
                                      </p:tavLst>
                                    </p:anim>
                                    <p:anim calcmode="lin" valueType="num">
                                      <p:cBhvr>
                                        <p:cTn id="70" dur="20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71" fill="hold">
                      <p:stCondLst>
                        <p:cond delay="indefinite"/>
                      </p:stCondLst>
                      <p:childTnLst>
                        <p:par>
                          <p:cTn id="72" fill="hold">
                            <p:stCondLst>
                              <p:cond delay="0"/>
                            </p:stCondLst>
                            <p:childTnLst>
                              <p:par>
                                <p:cTn id="73" presetID="45" presetClass="entr" presetSubtype="0" fill="hold" nodeType="clickEffect">
                                  <p:stCondLst>
                                    <p:cond delay="0"/>
                                  </p:stCondLst>
                                  <p:childTnLst>
                                    <p:set>
                                      <p:cBhvr>
                                        <p:cTn id="74" dur="1" fill="hold">
                                          <p:stCondLst>
                                            <p:cond delay="0"/>
                                          </p:stCondLst>
                                        </p:cTn>
                                        <p:tgtEl>
                                          <p:spTgt spid="8">
                                            <p:txEl>
                                              <p:pRg st="0" end="0"/>
                                            </p:txEl>
                                          </p:spTgt>
                                        </p:tgtEl>
                                        <p:attrNameLst>
                                          <p:attrName>style.visibility</p:attrName>
                                        </p:attrNameLst>
                                      </p:cBhvr>
                                      <p:to>
                                        <p:strVal val="visible"/>
                                      </p:to>
                                    </p:set>
                                    <p:animEffect transition="in" filter="fade">
                                      <p:cBhvr>
                                        <p:cTn id="75" dur="2000"/>
                                        <p:tgtEl>
                                          <p:spTgt spid="8">
                                            <p:txEl>
                                              <p:pRg st="0" end="0"/>
                                            </p:txEl>
                                          </p:spTgt>
                                        </p:tgtEl>
                                      </p:cBhvr>
                                    </p:animEffect>
                                    <p:anim calcmode="lin" valueType="num">
                                      <p:cBhvr>
                                        <p:cTn id="76" dur="2000" fill="hold"/>
                                        <p:tgtEl>
                                          <p:spTgt spid="8">
                                            <p:txEl>
                                              <p:pRg st="0" end="0"/>
                                            </p:txEl>
                                          </p:spTgt>
                                        </p:tgtEl>
                                        <p:attrNameLst>
                                          <p:attrName>ppt_w</p:attrName>
                                        </p:attrNameLst>
                                      </p:cBhvr>
                                      <p:tavLst>
                                        <p:tav tm="0" fmla="#ppt_w*sin(2.5*pi*$)">
                                          <p:val>
                                            <p:fltVal val="0"/>
                                          </p:val>
                                        </p:tav>
                                        <p:tav tm="100000">
                                          <p:val>
                                            <p:fltVal val="1"/>
                                          </p:val>
                                        </p:tav>
                                      </p:tavLst>
                                    </p:anim>
                                    <p:anim calcmode="lin" valueType="num">
                                      <p:cBhvr>
                                        <p:cTn id="77" dur="2000" fill="hold"/>
                                        <p:tgtEl>
                                          <p:spTgt spid="8">
                                            <p:txEl>
                                              <p:pRg st="0" end="0"/>
                                            </p:txEl>
                                          </p:spTgt>
                                        </p:tgtEl>
                                        <p:attrNameLst>
                                          <p:attrName>ppt_h</p:attrName>
                                        </p:attrNameLst>
                                      </p:cBhvr>
                                      <p:tavLst>
                                        <p:tav tm="0">
                                          <p:val>
                                            <p:strVal val="#ppt_h"/>
                                          </p:val>
                                        </p:tav>
                                        <p:tav tm="100000">
                                          <p:val>
                                            <p:strVal val="#ppt_h"/>
                                          </p:val>
                                        </p:tav>
                                      </p:tavLst>
                                    </p:anim>
                                  </p:childTnLst>
                                </p:cTn>
                              </p:par>
                              <p:par>
                                <p:cTn id="78" presetID="45" presetClass="entr" presetSubtype="0" fill="hold" nodeType="withEffect">
                                  <p:stCondLst>
                                    <p:cond delay="0"/>
                                  </p:stCondLst>
                                  <p:childTnLst>
                                    <p:set>
                                      <p:cBhvr>
                                        <p:cTn id="79" dur="1" fill="hold">
                                          <p:stCondLst>
                                            <p:cond delay="0"/>
                                          </p:stCondLst>
                                        </p:cTn>
                                        <p:tgtEl>
                                          <p:spTgt spid="8">
                                            <p:txEl>
                                              <p:pRg st="1" end="1"/>
                                            </p:txEl>
                                          </p:spTgt>
                                        </p:tgtEl>
                                        <p:attrNameLst>
                                          <p:attrName>style.visibility</p:attrName>
                                        </p:attrNameLst>
                                      </p:cBhvr>
                                      <p:to>
                                        <p:strVal val="visible"/>
                                      </p:to>
                                    </p:set>
                                    <p:animEffect transition="in" filter="fade">
                                      <p:cBhvr>
                                        <p:cTn id="80" dur="2000"/>
                                        <p:tgtEl>
                                          <p:spTgt spid="8">
                                            <p:txEl>
                                              <p:pRg st="1" end="1"/>
                                            </p:txEl>
                                          </p:spTgt>
                                        </p:tgtEl>
                                      </p:cBhvr>
                                    </p:animEffect>
                                    <p:anim calcmode="lin" valueType="num">
                                      <p:cBhvr>
                                        <p:cTn id="81" dur="2000" fill="hold"/>
                                        <p:tgtEl>
                                          <p:spTgt spid="8">
                                            <p:txEl>
                                              <p:pRg st="1" end="1"/>
                                            </p:txEl>
                                          </p:spTgt>
                                        </p:tgtEl>
                                        <p:attrNameLst>
                                          <p:attrName>ppt_w</p:attrName>
                                        </p:attrNameLst>
                                      </p:cBhvr>
                                      <p:tavLst>
                                        <p:tav tm="0" fmla="#ppt_w*sin(2.5*pi*$)">
                                          <p:val>
                                            <p:fltVal val="0"/>
                                          </p:val>
                                        </p:tav>
                                        <p:tav tm="100000">
                                          <p:val>
                                            <p:fltVal val="1"/>
                                          </p:val>
                                        </p:tav>
                                      </p:tavLst>
                                    </p:anim>
                                    <p:anim calcmode="lin" valueType="num">
                                      <p:cBhvr>
                                        <p:cTn id="82" dur="2000" fill="hold"/>
                                        <p:tgtEl>
                                          <p:spTgt spid="8">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83" fill="hold">
                      <p:stCondLst>
                        <p:cond delay="indefinite"/>
                      </p:stCondLst>
                      <p:childTnLst>
                        <p:par>
                          <p:cTn id="84" fill="hold">
                            <p:stCondLst>
                              <p:cond delay="0"/>
                            </p:stCondLst>
                            <p:childTnLst>
                              <p:par>
                                <p:cTn id="85" presetID="45" presetClass="entr" presetSubtype="0" fill="hold" grpId="0" nodeType="clickEffect">
                                  <p:stCondLst>
                                    <p:cond delay="0"/>
                                  </p:stCondLst>
                                  <p:childTnLst>
                                    <p:set>
                                      <p:cBhvr>
                                        <p:cTn id="86" dur="1" fill="hold">
                                          <p:stCondLst>
                                            <p:cond delay="0"/>
                                          </p:stCondLst>
                                        </p:cTn>
                                        <p:tgtEl>
                                          <p:spTgt spid="16"/>
                                        </p:tgtEl>
                                        <p:attrNameLst>
                                          <p:attrName>style.visibility</p:attrName>
                                        </p:attrNameLst>
                                      </p:cBhvr>
                                      <p:to>
                                        <p:strVal val="visible"/>
                                      </p:to>
                                    </p:set>
                                    <p:animEffect transition="in" filter="fade">
                                      <p:cBhvr>
                                        <p:cTn id="87" dur="2000"/>
                                        <p:tgtEl>
                                          <p:spTgt spid="16"/>
                                        </p:tgtEl>
                                      </p:cBhvr>
                                    </p:animEffect>
                                    <p:anim calcmode="lin" valueType="num">
                                      <p:cBhvr>
                                        <p:cTn id="88" dur="2000" fill="hold"/>
                                        <p:tgtEl>
                                          <p:spTgt spid="16"/>
                                        </p:tgtEl>
                                        <p:attrNameLst>
                                          <p:attrName>ppt_w</p:attrName>
                                        </p:attrNameLst>
                                      </p:cBhvr>
                                      <p:tavLst>
                                        <p:tav tm="0" fmla="#ppt_w*sin(2.5*pi*$)">
                                          <p:val>
                                            <p:fltVal val="0"/>
                                          </p:val>
                                        </p:tav>
                                        <p:tav tm="100000">
                                          <p:val>
                                            <p:fltVal val="1"/>
                                          </p:val>
                                        </p:tav>
                                      </p:tavLst>
                                    </p:anim>
                                    <p:anim calcmode="lin" valueType="num">
                                      <p:cBhvr>
                                        <p:cTn id="89" dur="2000" fill="hold"/>
                                        <p:tgtEl>
                                          <p:spTgt spid="16"/>
                                        </p:tgtEl>
                                        <p:attrNameLst>
                                          <p:attrName>ppt_h</p:attrName>
                                        </p:attrNameLst>
                                      </p:cBhvr>
                                      <p:tavLst>
                                        <p:tav tm="0">
                                          <p:val>
                                            <p:strVal val="#ppt_h"/>
                                          </p:val>
                                        </p:tav>
                                        <p:tav tm="100000">
                                          <p:val>
                                            <p:strVal val="#ppt_h"/>
                                          </p:val>
                                        </p:tav>
                                      </p:tavLst>
                                    </p:anim>
                                  </p:childTnLst>
                                </p:cTn>
                              </p:par>
                            </p:childTnLst>
                          </p:cTn>
                        </p:par>
                      </p:childTnLst>
                    </p:cTn>
                  </p:par>
                  <p:par>
                    <p:cTn id="90" fill="hold">
                      <p:stCondLst>
                        <p:cond delay="indefinite"/>
                      </p:stCondLst>
                      <p:childTnLst>
                        <p:par>
                          <p:cTn id="91" fill="hold">
                            <p:stCondLst>
                              <p:cond delay="0"/>
                            </p:stCondLst>
                            <p:childTnLst>
                              <p:par>
                                <p:cTn id="92" presetID="31" presetClass="entr" presetSubtype="0" fill="hold" nodeType="clickEffect">
                                  <p:stCondLst>
                                    <p:cond delay="0"/>
                                  </p:stCondLst>
                                  <p:childTnLst>
                                    <p:set>
                                      <p:cBhvr>
                                        <p:cTn id="93" dur="1" fill="hold">
                                          <p:stCondLst>
                                            <p:cond delay="0"/>
                                          </p:stCondLst>
                                        </p:cTn>
                                        <p:tgtEl>
                                          <p:spTgt spid="9">
                                            <p:txEl>
                                              <p:pRg st="0" end="0"/>
                                            </p:txEl>
                                          </p:spTgt>
                                        </p:tgtEl>
                                        <p:attrNameLst>
                                          <p:attrName>style.visibility</p:attrName>
                                        </p:attrNameLst>
                                      </p:cBhvr>
                                      <p:to>
                                        <p:strVal val="visible"/>
                                      </p:to>
                                    </p:set>
                                    <p:anim calcmode="lin" valueType="num">
                                      <p:cBhvr>
                                        <p:cTn id="94" dur="1000" fill="hold"/>
                                        <p:tgtEl>
                                          <p:spTgt spid="9">
                                            <p:txEl>
                                              <p:pRg st="0" end="0"/>
                                            </p:txEl>
                                          </p:spTgt>
                                        </p:tgtEl>
                                        <p:attrNameLst>
                                          <p:attrName>ppt_w</p:attrName>
                                        </p:attrNameLst>
                                      </p:cBhvr>
                                      <p:tavLst>
                                        <p:tav tm="0">
                                          <p:val>
                                            <p:fltVal val="0"/>
                                          </p:val>
                                        </p:tav>
                                        <p:tav tm="100000">
                                          <p:val>
                                            <p:strVal val="#ppt_w"/>
                                          </p:val>
                                        </p:tav>
                                      </p:tavLst>
                                    </p:anim>
                                    <p:anim calcmode="lin" valueType="num">
                                      <p:cBhvr>
                                        <p:cTn id="95" dur="1000" fill="hold"/>
                                        <p:tgtEl>
                                          <p:spTgt spid="9">
                                            <p:txEl>
                                              <p:pRg st="0" end="0"/>
                                            </p:txEl>
                                          </p:spTgt>
                                        </p:tgtEl>
                                        <p:attrNameLst>
                                          <p:attrName>ppt_h</p:attrName>
                                        </p:attrNameLst>
                                      </p:cBhvr>
                                      <p:tavLst>
                                        <p:tav tm="0">
                                          <p:val>
                                            <p:fltVal val="0"/>
                                          </p:val>
                                        </p:tav>
                                        <p:tav tm="100000">
                                          <p:val>
                                            <p:strVal val="#ppt_h"/>
                                          </p:val>
                                        </p:tav>
                                      </p:tavLst>
                                    </p:anim>
                                    <p:anim calcmode="lin" valueType="num">
                                      <p:cBhvr>
                                        <p:cTn id="96" dur="1000" fill="hold"/>
                                        <p:tgtEl>
                                          <p:spTgt spid="9">
                                            <p:txEl>
                                              <p:pRg st="0" end="0"/>
                                            </p:txEl>
                                          </p:spTgt>
                                        </p:tgtEl>
                                        <p:attrNameLst>
                                          <p:attrName>style.rotation</p:attrName>
                                        </p:attrNameLst>
                                      </p:cBhvr>
                                      <p:tavLst>
                                        <p:tav tm="0">
                                          <p:val>
                                            <p:fltVal val="90"/>
                                          </p:val>
                                        </p:tav>
                                        <p:tav tm="100000">
                                          <p:val>
                                            <p:fltVal val="0"/>
                                          </p:val>
                                        </p:tav>
                                      </p:tavLst>
                                    </p:anim>
                                    <p:animEffect transition="in" filter="fade">
                                      <p:cBhvr>
                                        <p:cTn id="97" dur="1000"/>
                                        <p:tgtEl>
                                          <p:spTgt spid="9">
                                            <p:txEl>
                                              <p:pRg st="0" end="0"/>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6" presetClass="entr" presetSubtype="16" fill="hold" grpId="0" nodeType="clickEffect">
                                  <p:stCondLst>
                                    <p:cond delay="0"/>
                                  </p:stCondLst>
                                  <p:childTnLst>
                                    <p:set>
                                      <p:cBhvr>
                                        <p:cTn id="101" dur="1" fill="hold">
                                          <p:stCondLst>
                                            <p:cond delay="0"/>
                                          </p:stCondLst>
                                        </p:cTn>
                                        <p:tgtEl>
                                          <p:spTgt spid="17"/>
                                        </p:tgtEl>
                                        <p:attrNameLst>
                                          <p:attrName>style.visibility</p:attrName>
                                        </p:attrNameLst>
                                      </p:cBhvr>
                                      <p:to>
                                        <p:strVal val="visible"/>
                                      </p:to>
                                    </p:set>
                                    <p:animEffect transition="in" filter="circle(in)">
                                      <p:cBhvr>
                                        <p:cTn id="102" dur="2000"/>
                                        <p:tgtEl>
                                          <p:spTgt spid="17"/>
                                        </p:tgtEl>
                                      </p:cBhvr>
                                    </p:animEffect>
                                  </p:childTnLst>
                                </p:cTn>
                              </p:par>
                            </p:childTnLst>
                          </p:cTn>
                        </p:par>
                      </p:childTnLst>
                    </p:cTn>
                  </p:par>
                  <p:par>
                    <p:cTn id="103" fill="hold">
                      <p:stCondLst>
                        <p:cond delay="indefinite"/>
                      </p:stCondLst>
                      <p:childTnLst>
                        <p:par>
                          <p:cTn id="104" fill="hold">
                            <p:stCondLst>
                              <p:cond delay="0"/>
                            </p:stCondLst>
                            <p:childTnLst>
                              <p:par>
                                <p:cTn id="105" presetID="14" presetClass="entr" presetSubtype="10" fill="hold" nodeType="clickEffect">
                                  <p:stCondLst>
                                    <p:cond delay="0"/>
                                  </p:stCondLst>
                                  <p:childTnLst>
                                    <p:set>
                                      <p:cBhvr>
                                        <p:cTn id="106" dur="1" fill="hold">
                                          <p:stCondLst>
                                            <p:cond delay="0"/>
                                          </p:stCondLst>
                                        </p:cTn>
                                        <p:tgtEl>
                                          <p:spTgt spid="11">
                                            <p:txEl>
                                              <p:pRg st="0" end="0"/>
                                            </p:txEl>
                                          </p:spTgt>
                                        </p:tgtEl>
                                        <p:attrNameLst>
                                          <p:attrName>style.visibility</p:attrName>
                                        </p:attrNameLst>
                                      </p:cBhvr>
                                      <p:to>
                                        <p:strVal val="visible"/>
                                      </p:to>
                                    </p:set>
                                    <p:animEffect transition="in" filter="randombar(horizontal)">
                                      <p:cBhvr>
                                        <p:cTn id="107" dur="500"/>
                                        <p:tgtEl>
                                          <p:spTgt spid="11">
                                            <p:txEl>
                                              <p:pRg st="0" end="0"/>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6" presetClass="entr" presetSubtype="16" fill="hold" grpId="0" nodeType="clickEffect">
                                  <p:stCondLst>
                                    <p:cond delay="0"/>
                                  </p:stCondLst>
                                  <p:childTnLst>
                                    <p:set>
                                      <p:cBhvr>
                                        <p:cTn id="111" dur="1" fill="hold">
                                          <p:stCondLst>
                                            <p:cond delay="0"/>
                                          </p:stCondLst>
                                        </p:cTn>
                                        <p:tgtEl>
                                          <p:spTgt spid="18"/>
                                        </p:tgtEl>
                                        <p:attrNameLst>
                                          <p:attrName>style.visibility</p:attrName>
                                        </p:attrNameLst>
                                      </p:cBhvr>
                                      <p:to>
                                        <p:strVal val="visible"/>
                                      </p:to>
                                    </p:set>
                                    <p:animEffect transition="in" filter="circle(in)">
                                      <p:cBhvr>
                                        <p:cTn id="112" dur="2000"/>
                                        <p:tgtEl>
                                          <p:spTgt spid="18"/>
                                        </p:tgtEl>
                                      </p:cBhvr>
                                    </p:animEffect>
                                  </p:childTnLst>
                                </p:cTn>
                              </p:par>
                            </p:childTnLst>
                          </p:cTn>
                        </p:par>
                      </p:childTnLst>
                    </p:cTn>
                  </p:par>
                  <p:par>
                    <p:cTn id="113" fill="hold">
                      <p:stCondLst>
                        <p:cond delay="indefinite"/>
                      </p:stCondLst>
                      <p:childTnLst>
                        <p:par>
                          <p:cTn id="114" fill="hold">
                            <p:stCondLst>
                              <p:cond delay="0"/>
                            </p:stCondLst>
                            <p:childTnLst>
                              <p:par>
                                <p:cTn id="115" presetID="6" presetClass="entr" presetSubtype="16" fill="hold" nodeType="clickEffect">
                                  <p:stCondLst>
                                    <p:cond delay="0"/>
                                  </p:stCondLst>
                                  <p:childTnLst>
                                    <p:set>
                                      <p:cBhvr>
                                        <p:cTn id="116" dur="1" fill="hold">
                                          <p:stCondLst>
                                            <p:cond delay="0"/>
                                          </p:stCondLst>
                                        </p:cTn>
                                        <p:tgtEl>
                                          <p:spTgt spid="12">
                                            <p:txEl>
                                              <p:pRg st="0" end="0"/>
                                            </p:txEl>
                                          </p:spTgt>
                                        </p:tgtEl>
                                        <p:attrNameLst>
                                          <p:attrName>style.visibility</p:attrName>
                                        </p:attrNameLst>
                                      </p:cBhvr>
                                      <p:to>
                                        <p:strVal val="visible"/>
                                      </p:to>
                                    </p:set>
                                    <p:animEffect transition="in" filter="circle(in)">
                                      <p:cBhvr>
                                        <p:cTn id="117" dur="2000"/>
                                        <p:tgtEl>
                                          <p:spTgt spid="12">
                                            <p:txEl>
                                              <p:pRg st="0" end="0"/>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26" presetClass="entr" presetSubtype="0" fill="hold" nodeType="clickEffect">
                                  <p:stCondLst>
                                    <p:cond delay="0"/>
                                  </p:stCondLst>
                                  <p:childTnLst>
                                    <p:set>
                                      <p:cBhvr>
                                        <p:cTn id="121" dur="1" fill="hold">
                                          <p:stCondLst>
                                            <p:cond delay="0"/>
                                          </p:stCondLst>
                                        </p:cTn>
                                        <p:tgtEl>
                                          <p:spTgt spid="20"/>
                                        </p:tgtEl>
                                        <p:attrNameLst>
                                          <p:attrName>style.visibility</p:attrName>
                                        </p:attrNameLst>
                                      </p:cBhvr>
                                      <p:to>
                                        <p:strVal val="visible"/>
                                      </p:to>
                                    </p:set>
                                    <p:animEffect transition="in" filter="wipe(down)">
                                      <p:cBhvr>
                                        <p:cTn id="122" dur="580">
                                          <p:stCondLst>
                                            <p:cond delay="0"/>
                                          </p:stCondLst>
                                        </p:cTn>
                                        <p:tgtEl>
                                          <p:spTgt spid="20"/>
                                        </p:tgtEl>
                                      </p:cBhvr>
                                    </p:animEffect>
                                    <p:anim calcmode="lin" valueType="num">
                                      <p:cBhvr>
                                        <p:cTn id="123" dur="1822"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124" dur="664"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125" dur="664" tmFilter="0, 0; 0.125,0.2665; 0.25,0.4; 0.375,0.465; 0.5,0.5;  0.625,0.535; 0.75,0.6; 0.875,0.7335; 1,1">
                                          <p:stCondLst>
                                            <p:cond delay="664"/>
                                          </p:stCondLst>
                                        </p:cTn>
                                        <p:tgtEl>
                                          <p:spTgt spid="20"/>
                                        </p:tgtEl>
                                        <p:attrNameLst>
                                          <p:attrName>ppt_y</p:attrName>
                                        </p:attrNameLst>
                                      </p:cBhvr>
                                      <p:tavLst>
                                        <p:tav tm="0" fmla="#ppt_y-sin(pi*$)/9">
                                          <p:val>
                                            <p:fltVal val="0"/>
                                          </p:val>
                                        </p:tav>
                                        <p:tav tm="100000">
                                          <p:val>
                                            <p:fltVal val="1"/>
                                          </p:val>
                                        </p:tav>
                                      </p:tavLst>
                                    </p:anim>
                                    <p:anim calcmode="lin" valueType="num">
                                      <p:cBhvr>
                                        <p:cTn id="126" dur="332" tmFilter="0, 0; 0.125,0.2665; 0.25,0.4; 0.375,0.465; 0.5,0.5;  0.625,0.535; 0.75,0.6; 0.875,0.7335; 1,1">
                                          <p:stCondLst>
                                            <p:cond delay="1324"/>
                                          </p:stCondLst>
                                        </p:cTn>
                                        <p:tgtEl>
                                          <p:spTgt spid="20"/>
                                        </p:tgtEl>
                                        <p:attrNameLst>
                                          <p:attrName>ppt_y</p:attrName>
                                        </p:attrNameLst>
                                      </p:cBhvr>
                                      <p:tavLst>
                                        <p:tav tm="0" fmla="#ppt_y-sin(pi*$)/27">
                                          <p:val>
                                            <p:fltVal val="0"/>
                                          </p:val>
                                        </p:tav>
                                        <p:tav tm="100000">
                                          <p:val>
                                            <p:fltVal val="1"/>
                                          </p:val>
                                        </p:tav>
                                      </p:tavLst>
                                    </p:anim>
                                    <p:anim calcmode="lin" valueType="num">
                                      <p:cBhvr>
                                        <p:cTn id="127" dur="164" tmFilter="0, 0; 0.125,0.2665; 0.25,0.4; 0.375,0.465; 0.5,0.5;  0.625,0.535; 0.75,0.6; 0.875,0.7335; 1,1">
                                          <p:stCondLst>
                                            <p:cond delay="1656"/>
                                          </p:stCondLst>
                                        </p:cTn>
                                        <p:tgtEl>
                                          <p:spTgt spid="20"/>
                                        </p:tgtEl>
                                        <p:attrNameLst>
                                          <p:attrName>ppt_y</p:attrName>
                                        </p:attrNameLst>
                                      </p:cBhvr>
                                      <p:tavLst>
                                        <p:tav tm="0" fmla="#ppt_y-sin(pi*$)/81">
                                          <p:val>
                                            <p:fltVal val="0"/>
                                          </p:val>
                                        </p:tav>
                                        <p:tav tm="100000">
                                          <p:val>
                                            <p:fltVal val="1"/>
                                          </p:val>
                                        </p:tav>
                                      </p:tavLst>
                                    </p:anim>
                                    <p:animScale>
                                      <p:cBhvr>
                                        <p:cTn id="128" dur="26">
                                          <p:stCondLst>
                                            <p:cond delay="650"/>
                                          </p:stCondLst>
                                        </p:cTn>
                                        <p:tgtEl>
                                          <p:spTgt spid="20"/>
                                        </p:tgtEl>
                                      </p:cBhvr>
                                      <p:to x="100000" y="60000"/>
                                    </p:animScale>
                                    <p:animScale>
                                      <p:cBhvr>
                                        <p:cTn id="129" dur="166" decel="50000">
                                          <p:stCondLst>
                                            <p:cond delay="676"/>
                                          </p:stCondLst>
                                        </p:cTn>
                                        <p:tgtEl>
                                          <p:spTgt spid="20"/>
                                        </p:tgtEl>
                                      </p:cBhvr>
                                      <p:to x="100000" y="100000"/>
                                    </p:animScale>
                                    <p:animScale>
                                      <p:cBhvr>
                                        <p:cTn id="130" dur="26">
                                          <p:stCondLst>
                                            <p:cond delay="1312"/>
                                          </p:stCondLst>
                                        </p:cTn>
                                        <p:tgtEl>
                                          <p:spTgt spid="20"/>
                                        </p:tgtEl>
                                      </p:cBhvr>
                                      <p:to x="100000" y="80000"/>
                                    </p:animScale>
                                    <p:animScale>
                                      <p:cBhvr>
                                        <p:cTn id="131" dur="166" decel="50000">
                                          <p:stCondLst>
                                            <p:cond delay="1338"/>
                                          </p:stCondLst>
                                        </p:cTn>
                                        <p:tgtEl>
                                          <p:spTgt spid="20"/>
                                        </p:tgtEl>
                                      </p:cBhvr>
                                      <p:to x="100000" y="100000"/>
                                    </p:animScale>
                                    <p:animScale>
                                      <p:cBhvr>
                                        <p:cTn id="132" dur="26">
                                          <p:stCondLst>
                                            <p:cond delay="1642"/>
                                          </p:stCondLst>
                                        </p:cTn>
                                        <p:tgtEl>
                                          <p:spTgt spid="20"/>
                                        </p:tgtEl>
                                      </p:cBhvr>
                                      <p:to x="100000" y="90000"/>
                                    </p:animScale>
                                    <p:animScale>
                                      <p:cBhvr>
                                        <p:cTn id="133" dur="166" decel="50000">
                                          <p:stCondLst>
                                            <p:cond delay="1668"/>
                                          </p:stCondLst>
                                        </p:cTn>
                                        <p:tgtEl>
                                          <p:spTgt spid="20"/>
                                        </p:tgtEl>
                                      </p:cBhvr>
                                      <p:to x="100000" y="100000"/>
                                    </p:animScale>
                                    <p:animScale>
                                      <p:cBhvr>
                                        <p:cTn id="134" dur="26">
                                          <p:stCondLst>
                                            <p:cond delay="1808"/>
                                          </p:stCondLst>
                                        </p:cTn>
                                        <p:tgtEl>
                                          <p:spTgt spid="20"/>
                                        </p:tgtEl>
                                      </p:cBhvr>
                                      <p:to x="100000" y="95000"/>
                                    </p:animScale>
                                    <p:animScale>
                                      <p:cBhvr>
                                        <p:cTn id="135" dur="166" decel="50000">
                                          <p:stCondLst>
                                            <p:cond delay="1834"/>
                                          </p:stCondLst>
                                        </p:cTn>
                                        <p:tgtEl>
                                          <p:spTgt spid="20"/>
                                        </p:tgtEl>
                                      </p:cBhvr>
                                      <p:to x="100000" y="100000"/>
                                    </p:animScale>
                                  </p:childTnLst>
                                </p:cTn>
                              </p:par>
                            </p:childTnLst>
                          </p:cTn>
                        </p:par>
                      </p:childTnLst>
                    </p:cTn>
                  </p:par>
                  <p:par>
                    <p:cTn id="136" fill="hold">
                      <p:stCondLst>
                        <p:cond delay="indefinite"/>
                      </p:stCondLst>
                      <p:childTnLst>
                        <p:par>
                          <p:cTn id="137" fill="hold">
                            <p:stCondLst>
                              <p:cond delay="0"/>
                            </p:stCondLst>
                            <p:childTnLst>
                              <p:par>
                                <p:cTn id="138" presetID="31" presetClass="entr" presetSubtype="0" fill="hold" nodeType="clickEffect">
                                  <p:stCondLst>
                                    <p:cond delay="0"/>
                                  </p:stCondLst>
                                  <p:childTnLst>
                                    <p:set>
                                      <p:cBhvr>
                                        <p:cTn id="139" dur="1" fill="hold">
                                          <p:stCondLst>
                                            <p:cond delay="0"/>
                                          </p:stCondLst>
                                        </p:cTn>
                                        <p:tgtEl>
                                          <p:spTgt spid="22"/>
                                        </p:tgtEl>
                                        <p:attrNameLst>
                                          <p:attrName>style.visibility</p:attrName>
                                        </p:attrNameLst>
                                      </p:cBhvr>
                                      <p:to>
                                        <p:strVal val="visible"/>
                                      </p:to>
                                    </p:set>
                                    <p:anim calcmode="lin" valueType="num">
                                      <p:cBhvr>
                                        <p:cTn id="140" dur="1000" fill="hold"/>
                                        <p:tgtEl>
                                          <p:spTgt spid="22"/>
                                        </p:tgtEl>
                                        <p:attrNameLst>
                                          <p:attrName>ppt_w</p:attrName>
                                        </p:attrNameLst>
                                      </p:cBhvr>
                                      <p:tavLst>
                                        <p:tav tm="0">
                                          <p:val>
                                            <p:fltVal val="0"/>
                                          </p:val>
                                        </p:tav>
                                        <p:tav tm="100000">
                                          <p:val>
                                            <p:strVal val="#ppt_w"/>
                                          </p:val>
                                        </p:tav>
                                      </p:tavLst>
                                    </p:anim>
                                    <p:anim calcmode="lin" valueType="num">
                                      <p:cBhvr>
                                        <p:cTn id="141" dur="1000" fill="hold"/>
                                        <p:tgtEl>
                                          <p:spTgt spid="22"/>
                                        </p:tgtEl>
                                        <p:attrNameLst>
                                          <p:attrName>ppt_h</p:attrName>
                                        </p:attrNameLst>
                                      </p:cBhvr>
                                      <p:tavLst>
                                        <p:tav tm="0">
                                          <p:val>
                                            <p:fltVal val="0"/>
                                          </p:val>
                                        </p:tav>
                                        <p:tav tm="100000">
                                          <p:val>
                                            <p:strVal val="#ppt_h"/>
                                          </p:val>
                                        </p:tav>
                                      </p:tavLst>
                                    </p:anim>
                                    <p:anim calcmode="lin" valueType="num">
                                      <p:cBhvr>
                                        <p:cTn id="142" dur="1000" fill="hold"/>
                                        <p:tgtEl>
                                          <p:spTgt spid="22"/>
                                        </p:tgtEl>
                                        <p:attrNameLst>
                                          <p:attrName>style.rotation</p:attrName>
                                        </p:attrNameLst>
                                      </p:cBhvr>
                                      <p:tavLst>
                                        <p:tav tm="0">
                                          <p:val>
                                            <p:fltVal val="90"/>
                                          </p:val>
                                        </p:tav>
                                        <p:tav tm="100000">
                                          <p:val>
                                            <p:fltVal val="0"/>
                                          </p:val>
                                        </p:tav>
                                      </p:tavLst>
                                    </p:anim>
                                    <p:animEffect transition="in" filter="fade">
                                      <p:cBhvr>
                                        <p:cTn id="143"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zh-CN" altLang="en-US" dirty="0"/>
              <a:t>对话回合</a:t>
            </a:r>
            <a:r>
              <a:rPr lang="en-US" altLang="zh-CN" dirty="0"/>
              <a:t>2</a:t>
            </a:r>
            <a:endParaRPr lang="zh-CN" altLang="en-US" dirty="0"/>
          </a:p>
        </p:txBody>
      </p:sp>
      <p:sp>
        <p:nvSpPr>
          <p:cNvPr id="3" name="Content Placeholder 2"/>
          <p:cNvSpPr>
            <a:spLocks noGrp="1"/>
          </p:cNvSpPr>
          <p:nvPr>
            <p:ph sz="half" idx="1"/>
          </p:nvPr>
        </p:nvSpPr>
        <p:spPr>
          <a:xfrm>
            <a:off x="645954" y="1752600"/>
            <a:ext cx="5367046" cy="4495800"/>
          </a:xfrm>
        </p:spPr>
        <p:txBody>
          <a:bodyPr>
            <a:noAutofit/>
          </a:bodyPr>
          <a:lstStyle/>
          <a:p>
            <a:pPr marL="0" indent="0">
              <a:buNone/>
            </a:pPr>
            <a:r>
              <a:rPr lang="zh-CN" altLang="en-US" sz="2400" b="1" dirty="0"/>
              <a:t>特拉需马科：</a:t>
            </a:r>
            <a:endParaRPr lang="en-US" altLang="zh-CN" sz="2400" b="1" dirty="0"/>
          </a:p>
          <a:p>
            <a:pPr marL="0" indent="0">
              <a:buNone/>
            </a:pPr>
            <a:r>
              <a:rPr lang="en-US" altLang="zh-CN" sz="2400" b="1" dirty="0"/>
              <a:t>1</a:t>
            </a:r>
            <a:r>
              <a:rPr lang="zh-CN" altLang="en-US" sz="2400" b="1" dirty="0"/>
              <a:t>，统治者照看被统治者（为了被统治者的利益），归根结底是为自己的利益，正如牧人照看畜群也是为了自己的利益一样</a:t>
            </a:r>
            <a:r>
              <a:rPr lang="en-US" altLang="zh-CN" sz="2400" b="1" dirty="0"/>
              <a:t>343b-d</a:t>
            </a:r>
            <a:r>
              <a:rPr lang="zh-CN" altLang="en-US" sz="2400" b="1" dirty="0"/>
              <a:t>。正义实际上乃是他人的好处，强者和统治者的利益，对服从和为之服务的人是有害的 。</a:t>
            </a:r>
          </a:p>
          <a:p>
            <a:endParaRPr lang="zh-CN" altLang="en-US" sz="2400" b="1" dirty="0"/>
          </a:p>
          <a:p>
            <a:pPr marL="0" indent="0">
              <a:buNone/>
            </a:pPr>
            <a:r>
              <a:rPr lang="zh-CN" altLang="en-US" sz="2400" b="1" dirty="0"/>
              <a:t>（思考：特拉需马科在这里提出的新命题，正义实际上乃是他人的好处，这与“正义是强者的利益”，是否同一个命题？）</a:t>
            </a:r>
          </a:p>
        </p:txBody>
      </p:sp>
      <p:sp>
        <p:nvSpPr>
          <p:cNvPr id="4" name="Content Placeholder 3"/>
          <p:cNvSpPr>
            <a:spLocks noGrp="1"/>
          </p:cNvSpPr>
          <p:nvPr>
            <p:ph sz="half" idx="2"/>
          </p:nvPr>
        </p:nvSpPr>
        <p:spPr/>
        <p:txBody>
          <a:bodyPr/>
          <a:lstStyle/>
          <a:p>
            <a:endParaRPr lang="zh-CN" altLang="en-US"/>
          </a:p>
        </p:txBody>
      </p:sp>
      <p:pic>
        <p:nvPicPr>
          <p:cNvPr id="399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8438" y="261938"/>
            <a:ext cx="5367046" cy="6253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8881110" y="3074670"/>
            <a:ext cx="2354580" cy="2286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6892290" y="3303270"/>
            <a:ext cx="43434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6892290" y="3531870"/>
            <a:ext cx="3817620" cy="1143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6860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9938"/>
                                        </p:tgtEl>
                                        <p:attrNameLst>
                                          <p:attrName>style.visibility</p:attrName>
                                        </p:attrNameLst>
                                      </p:cBhvr>
                                      <p:to>
                                        <p:strVal val="visible"/>
                                      </p:to>
                                    </p:set>
                                    <p:animEffect transition="in" filter="randombar(horizontal)">
                                      <p:cBhvr>
                                        <p:cTn id="7" dur="500"/>
                                        <p:tgtEl>
                                          <p:spTgt spid="39938"/>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p:cTn id="20" dur="1000" fill="hold"/>
                                        <p:tgtEl>
                                          <p:spTgt spid="9"/>
                                        </p:tgtEl>
                                        <p:attrNameLst>
                                          <p:attrName>ppt_w</p:attrName>
                                        </p:attrNameLst>
                                      </p:cBhvr>
                                      <p:tavLst>
                                        <p:tav tm="0">
                                          <p:val>
                                            <p:fltVal val="0"/>
                                          </p:val>
                                        </p:tav>
                                        <p:tav tm="100000">
                                          <p:val>
                                            <p:strVal val="#ppt_w"/>
                                          </p:val>
                                        </p:tav>
                                      </p:tavLst>
                                    </p:anim>
                                    <p:anim calcmode="lin" valueType="num">
                                      <p:cBhvr>
                                        <p:cTn id="21" dur="1000" fill="hold"/>
                                        <p:tgtEl>
                                          <p:spTgt spid="9"/>
                                        </p:tgtEl>
                                        <p:attrNameLst>
                                          <p:attrName>ppt_h</p:attrName>
                                        </p:attrNameLst>
                                      </p:cBhvr>
                                      <p:tavLst>
                                        <p:tav tm="0">
                                          <p:val>
                                            <p:fltVal val="0"/>
                                          </p:val>
                                        </p:tav>
                                        <p:tav tm="100000">
                                          <p:val>
                                            <p:strVal val="#ppt_h"/>
                                          </p:val>
                                        </p:tav>
                                      </p:tavLst>
                                    </p:anim>
                                    <p:anim calcmode="lin" valueType="num">
                                      <p:cBhvr>
                                        <p:cTn id="22" dur="1000" fill="hold"/>
                                        <p:tgtEl>
                                          <p:spTgt spid="9"/>
                                        </p:tgtEl>
                                        <p:attrNameLst>
                                          <p:attrName>style.rotation</p:attrName>
                                        </p:attrNameLst>
                                      </p:cBhvr>
                                      <p:tavLst>
                                        <p:tav tm="0">
                                          <p:val>
                                            <p:fltVal val="90"/>
                                          </p:val>
                                        </p:tav>
                                        <p:tav tm="100000">
                                          <p:val>
                                            <p:fltVal val="0"/>
                                          </p:val>
                                        </p:tav>
                                      </p:tavLst>
                                    </p:anim>
                                    <p:animEffect transition="in" filter="fade">
                                      <p:cBhvr>
                                        <p:cTn id="23" dur="10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p:cTn id="28" dur="1000" fill="hold"/>
                                        <p:tgtEl>
                                          <p:spTgt spid="12"/>
                                        </p:tgtEl>
                                        <p:attrNameLst>
                                          <p:attrName>ppt_w</p:attrName>
                                        </p:attrNameLst>
                                      </p:cBhvr>
                                      <p:tavLst>
                                        <p:tav tm="0">
                                          <p:val>
                                            <p:fltVal val="0"/>
                                          </p:val>
                                        </p:tav>
                                        <p:tav tm="100000">
                                          <p:val>
                                            <p:strVal val="#ppt_w"/>
                                          </p:val>
                                        </p:tav>
                                      </p:tavLst>
                                    </p:anim>
                                    <p:anim calcmode="lin" valueType="num">
                                      <p:cBhvr>
                                        <p:cTn id="29" dur="1000" fill="hold"/>
                                        <p:tgtEl>
                                          <p:spTgt spid="12"/>
                                        </p:tgtEl>
                                        <p:attrNameLst>
                                          <p:attrName>ppt_h</p:attrName>
                                        </p:attrNameLst>
                                      </p:cBhvr>
                                      <p:tavLst>
                                        <p:tav tm="0">
                                          <p:val>
                                            <p:fltVal val="0"/>
                                          </p:val>
                                        </p:tav>
                                        <p:tav tm="100000">
                                          <p:val>
                                            <p:strVal val="#ppt_h"/>
                                          </p:val>
                                        </p:tav>
                                      </p:tavLst>
                                    </p:anim>
                                    <p:anim calcmode="lin" valueType="num">
                                      <p:cBhvr>
                                        <p:cTn id="30" dur="1000" fill="hold"/>
                                        <p:tgtEl>
                                          <p:spTgt spid="12"/>
                                        </p:tgtEl>
                                        <p:attrNameLst>
                                          <p:attrName>style.rotation</p:attrName>
                                        </p:attrNameLst>
                                      </p:cBhvr>
                                      <p:tavLst>
                                        <p:tav tm="0">
                                          <p:val>
                                            <p:fltVal val="90"/>
                                          </p:val>
                                        </p:tav>
                                        <p:tav tm="100000">
                                          <p:val>
                                            <p:fltVal val="0"/>
                                          </p:val>
                                        </p:tav>
                                      </p:tavLst>
                                    </p:anim>
                                    <p:animEffect transition="in" filter="fade">
                                      <p:cBhvr>
                                        <p:cTn id="31" dur="10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3">
                                            <p:txEl>
                                              <p:pRg st="0" end="0"/>
                                            </p:txEl>
                                          </p:spTgt>
                                        </p:tgtEl>
                                        <p:attrNameLst>
                                          <p:attrName>style.visibility</p:attrName>
                                        </p:attrNameLst>
                                      </p:cBhvr>
                                      <p:to>
                                        <p:strVal val="visible"/>
                                      </p:to>
                                    </p:set>
                                    <p:animEffect transition="in" filter="circle(in)">
                                      <p:cBhvr>
                                        <p:cTn id="36" dur="2000"/>
                                        <p:tgtEl>
                                          <p:spTgt spid="3">
                                            <p:txEl>
                                              <p:pRg st="0" end="0"/>
                                            </p:txEl>
                                          </p:spTgt>
                                        </p:tgtEl>
                                      </p:cBhvr>
                                    </p:animEffect>
                                  </p:childTnLst>
                                </p:cTn>
                              </p:par>
                              <p:par>
                                <p:cTn id="37" presetID="6" presetClass="entr" presetSubtype="16" fill="hold" nodeType="withEffect">
                                  <p:stCondLst>
                                    <p:cond delay="0"/>
                                  </p:stCondLst>
                                  <p:childTnLst>
                                    <p:set>
                                      <p:cBhvr>
                                        <p:cTn id="38" dur="1" fill="hold">
                                          <p:stCondLst>
                                            <p:cond delay="0"/>
                                          </p:stCondLst>
                                        </p:cTn>
                                        <p:tgtEl>
                                          <p:spTgt spid="3">
                                            <p:txEl>
                                              <p:pRg st="1" end="1"/>
                                            </p:txEl>
                                          </p:spTgt>
                                        </p:tgtEl>
                                        <p:attrNameLst>
                                          <p:attrName>style.visibility</p:attrName>
                                        </p:attrNameLst>
                                      </p:cBhvr>
                                      <p:to>
                                        <p:strVal val="visible"/>
                                      </p:to>
                                    </p:set>
                                    <p:animEffect transition="in" filter="circle(in)">
                                      <p:cBhvr>
                                        <p:cTn id="39" dur="2000"/>
                                        <p:tgtEl>
                                          <p:spTgt spid="3">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6" presetClass="entr" presetSubtype="16" fill="hold" nodeType="clickEffect">
                                  <p:stCondLst>
                                    <p:cond delay="0"/>
                                  </p:stCondLst>
                                  <p:childTnLst>
                                    <p:set>
                                      <p:cBhvr>
                                        <p:cTn id="43" dur="1" fill="hold">
                                          <p:stCondLst>
                                            <p:cond delay="0"/>
                                          </p:stCondLst>
                                        </p:cTn>
                                        <p:tgtEl>
                                          <p:spTgt spid="3">
                                            <p:txEl>
                                              <p:pRg st="3" end="3"/>
                                            </p:txEl>
                                          </p:spTgt>
                                        </p:tgtEl>
                                        <p:attrNameLst>
                                          <p:attrName>style.visibility</p:attrName>
                                        </p:attrNameLst>
                                      </p:cBhvr>
                                      <p:to>
                                        <p:strVal val="visible"/>
                                      </p:to>
                                    </p:set>
                                    <p:animEffect transition="in" filter="circle(in)">
                                      <p:cBhvr>
                                        <p:cTn id="44"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2" y="770022"/>
            <a:ext cx="5040000" cy="5021180"/>
          </a:xfrm>
        </p:spPr>
        <p:txBody>
          <a:bodyPr>
            <a:normAutofit/>
          </a:bodyPr>
          <a:lstStyle/>
          <a:p>
            <a:pPr marL="0" indent="0">
              <a:buNone/>
            </a:pPr>
            <a:r>
              <a:rPr lang="zh-CN" altLang="en-US" sz="2000" b="1" dirty="0"/>
              <a:t>特拉需马科论证正义乃是他人的好处（利益）</a:t>
            </a:r>
            <a:endParaRPr lang="en-US" altLang="zh-CN" sz="2000" b="1" dirty="0"/>
          </a:p>
          <a:p>
            <a:pPr marL="0" indent="0">
              <a:buNone/>
            </a:pPr>
            <a:r>
              <a:rPr lang="en-US" altLang="zh-CN" sz="2000" b="1" dirty="0"/>
              <a:t>1</a:t>
            </a:r>
            <a:r>
              <a:rPr lang="zh-CN" altLang="en-US" sz="2000" b="1" dirty="0"/>
              <a:t>，在社会关系中，一个正义的人与不正义的人合作，吃亏的总是正义的人；</a:t>
            </a:r>
          </a:p>
          <a:p>
            <a:pPr marL="0" indent="0">
              <a:buNone/>
            </a:pPr>
            <a:r>
              <a:rPr lang="en-US" altLang="zh-CN" sz="2000" b="1" dirty="0"/>
              <a:t>2</a:t>
            </a:r>
            <a:r>
              <a:rPr lang="zh-CN" altLang="en-US" sz="2000" b="1" dirty="0"/>
              <a:t>，在与城邦的关系中，正义的人老实缴纳税收，不正义的人偷税漏税，收益分成的时候，正义的人什么也拿不到，不正义的人弄上很多，所以吃亏的也是正义的人；</a:t>
            </a:r>
            <a:endParaRPr lang="en-US" altLang="zh-CN" sz="2000" b="1" dirty="0"/>
          </a:p>
          <a:p>
            <a:pPr marL="0" indent="0">
              <a:buNone/>
            </a:pPr>
            <a:r>
              <a:rPr lang="en-US" altLang="zh-CN" sz="2000" b="1" dirty="0"/>
              <a:t>3</a:t>
            </a:r>
            <a:r>
              <a:rPr lang="zh-CN" altLang="en-US" sz="2000" b="1" dirty="0"/>
              <a:t>，最后，如果一个正义的人与一个不正义的人都承担公职，那么一个正义的人即便不在其他方面受损失，他也会因疏于照看自己的私人产业而受损，而他又因为正义，所以从公共资产中得不到任何好处，而且他的亲友们憎恨他，因为他不愿不正义地帮他们的忙。 </a:t>
            </a:r>
            <a:endParaRPr lang="en-US" altLang="zh-CN" sz="2000" b="1" dirty="0"/>
          </a:p>
          <a:p>
            <a:endParaRPr lang="zh-CN" altLang="en-US" dirty="0"/>
          </a:p>
        </p:txBody>
      </p:sp>
      <p:pic>
        <p:nvPicPr>
          <p:cNvPr id="7" name="内容占位符 6">
            <a:extLst>
              <a:ext uri="{FF2B5EF4-FFF2-40B4-BE49-F238E27FC236}">
                <a16:creationId xmlns:a16="http://schemas.microsoft.com/office/drawing/2014/main" id="{56142393-BBFE-4DE6-9821-347B770B9314}"/>
              </a:ext>
            </a:extLst>
          </p:cNvPr>
          <p:cNvPicPr>
            <a:picLocks noGrp="1" noChangeAspect="1"/>
          </p:cNvPicPr>
          <p:nvPr>
            <p:ph sz="half" idx="2"/>
          </p:nvPr>
        </p:nvPicPr>
        <p:blipFill>
          <a:blip r:embed="rId2"/>
          <a:stretch>
            <a:fillRect/>
          </a:stretch>
        </p:blipFill>
        <p:spPr>
          <a:xfrm>
            <a:off x="6197600" y="3293533"/>
            <a:ext cx="5080000" cy="1490133"/>
          </a:xfrm>
          <a:prstGeom prst="rect">
            <a:avLst/>
          </a:prstGeom>
        </p:spPr>
      </p:pic>
      <p:pic>
        <p:nvPicPr>
          <p:cNvPr id="6" name="图片 5">
            <a:extLst>
              <a:ext uri="{FF2B5EF4-FFF2-40B4-BE49-F238E27FC236}">
                <a16:creationId xmlns:a16="http://schemas.microsoft.com/office/drawing/2014/main" id="{D9A6225C-5EC9-4D35-8A81-727957192755}"/>
              </a:ext>
            </a:extLst>
          </p:cNvPr>
          <p:cNvPicPr>
            <a:picLocks noChangeAspect="1"/>
          </p:cNvPicPr>
          <p:nvPr/>
        </p:nvPicPr>
        <p:blipFill>
          <a:blip r:embed="rId3"/>
          <a:stretch>
            <a:fillRect/>
          </a:stretch>
        </p:blipFill>
        <p:spPr>
          <a:xfrm>
            <a:off x="6056269" y="609600"/>
            <a:ext cx="5648325" cy="2286000"/>
          </a:xfrm>
          <a:prstGeom prst="rect">
            <a:avLst/>
          </a:prstGeom>
        </p:spPr>
      </p:pic>
    </p:spTree>
    <p:extLst>
      <p:ext uri="{BB962C8B-B14F-4D97-AF65-F5344CB8AC3E}">
        <p14:creationId xmlns:p14="http://schemas.microsoft.com/office/powerpoint/2010/main" val="1957067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a:xfrm>
            <a:off x="914400" y="1726299"/>
            <a:ext cx="5080000" cy="4114800"/>
          </a:xfrm>
        </p:spPr>
        <p:txBody>
          <a:bodyPr/>
          <a:lstStyle/>
          <a:p>
            <a:pPr marL="0" indent="0">
              <a:buNone/>
            </a:pPr>
            <a:r>
              <a:rPr lang="zh-CN" altLang="en-US" sz="2400" b="1" dirty="0"/>
              <a:t>有权的人比其他人僭越更多</a:t>
            </a:r>
            <a:r>
              <a:rPr lang="en-US" altLang="zh-CN" sz="2400" b="1" dirty="0"/>
              <a:t>……</a:t>
            </a:r>
            <a:r>
              <a:rPr lang="zh-CN" altLang="en-US" sz="2400" b="1" dirty="0"/>
              <a:t>不正义的极致就是僭主</a:t>
            </a:r>
            <a:r>
              <a:rPr lang="en-US" altLang="zh-CN" sz="2400" b="1" dirty="0"/>
              <a:t>……</a:t>
            </a:r>
            <a:r>
              <a:rPr lang="zh-CN" altLang="en-US" sz="2400" b="1" dirty="0"/>
              <a:t>要是他们被抓住了，他们就获得不义之名。要是他们没被抓住，他们就被称作幸福的，为神所护佑的：不仅被公民们，而且被那些知道他犯下了所有这些不义的人；因为，不是害怕做不义的事，而是害怕从不义的事受害，激发了人们对不义的指责。  </a:t>
            </a:r>
          </a:p>
          <a:p>
            <a:pPr marL="0" indent="0">
              <a:buNone/>
            </a:pPr>
            <a:r>
              <a:rPr lang="zh-CN" altLang="en-US" sz="2400" b="1" dirty="0"/>
              <a:t>所以，正义是强者的利益，而不正义能给自己带来实惠和利益（人们应该做一个不正义的人）。</a:t>
            </a:r>
          </a:p>
          <a:p>
            <a:endParaRPr lang="zh-CN" altLang="en-US" dirty="0"/>
          </a:p>
        </p:txBody>
      </p:sp>
      <p:pic>
        <p:nvPicPr>
          <p:cNvPr id="5" name="内容占位符 4">
            <a:extLst>
              <a:ext uri="{FF2B5EF4-FFF2-40B4-BE49-F238E27FC236}">
                <a16:creationId xmlns:a16="http://schemas.microsoft.com/office/drawing/2014/main" id="{CEC1F343-0F51-4670-A68F-8E7FDE45876E}"/>
              </a:ext>
            </a:extLst>
          </p:cNvPr>
          <p:cNvPicPr>
            <a:picLocks noGrp="1" noChangeAspect="1"/>
          </p:cNvPicPr>
          <p:nvPr>
            <p:ph sz="half" idx="2"/>
          </p:nvPr>
        </p:nvPicPr>
        <p:blipFill>
          <a:blip r:embed="rId2"/>
          <a:stretch>
            <a:fillRect/>
          </a:stretch>
        </p:blipFill>
        <p:spPr>
          <a:xfrm>
            <a:off x="5930871" y="189912"/>
            <a:ext cx="5780943" cy="4671470"/>
          </a:xfrm>
          <a:prstGeom prst="rect">
            <a:avLst/>
          </a:prstGeom>
        </p:spPr>
      </p:pic>
      <p:cxnSp>
        <p:nvCxnSpPr>
          <p:cNvPr id="6" name="Straight Connector 5"/>
          <p:cNvCxnSpPr/>
          <p:nvPr/>
        </p:nvCxnSpPr>
        <p:spPr>
          <a:xfrm>
            <a:off x="6554709" y="751438"/>
            <a:ext cx="65184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0945640" y="462298"/>
            <a:ext cx="43456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6554709" y="1312752"/>
            <a:ext cx="805758" cy="905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9607380" y="3909166"/>
            <a:ext cx="1919335" cy="1810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6554709" y="4197592"/>
            <a:ext cx="5042780" cy="905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6524403" y="4469077"/>
            <a:ext cx="71522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0871" y="5131701"/>
            <a:ext cx="6048375"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8" name="Straight Connector 17"/>
          <p:cNvCxnSpPr/>
          <p:nvPr/>
        </p:nvCxnSpPr>
        <p:spPr>
          <a:xfrm>
            <a:off x="10447699" y="4952246"/>
            <a:ext cx="114979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554709" y="5567881"/>
            <a:ext cx="482549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7197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randombar(horizontal)">
                                      <p:cBhvr>
                                        <p:cTn id="7" dur="500"/>
                                        <p:tgtEl>
                                          <p:spTgt spid="2051"/>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ppt_w</p:attrName>
                                        </p:attrNameLst>
                                      </p:cBhvr>
                                      <p:tavLst>
                                        <p:tav tm="0">
                                          <p:val>
                                            <p:fltVal val="0"/>
                                          </p:val>
                                        </p:tav>
                                        <p:tav tm="100000">
                                          <p:val>
                                            <p:strVal val="#ppt_w"/>
                                          </p:val>
                                        </p:tav>
                                      </p:tavLst>
                                    </p:anim>
                                    <p:anim calcmode="lin" valueType="num">
                                      <p:cBhvr>
                                        <p:cTn id="13" dur="1000" fill="hold"/>
                                        <p:tgtEl>
                                          <p:spTgt spid="8"/>
                                        </p:tgtEl>
                                        <p:attrNameLst>
                                          <p:attrName>ppt_h</p:attrName>
                                        </p:attrNameLst>
                                      </p:cBhvr>
                                      <p:tavLst>
                                        <p:tav tm="0">
                                          <p:val>
                                            <p:fltVal val="0"/>
                                          </p:val>
                                        </p:tav>
                                        <p:tav tm="100000">
                                          <p:val>
                                            <p:strVal val="#ppt_h"/>
                                          </p:val>
                                        </p:tav>
                                      </p:tavLst>
                                    </p:anim>
                                    <p:anim calcmode="lin" valueType="num">
                                      <p:cBhvr>
                                        <p:cTn id="14" dur="1000" fill="hold"/>
                                        <p:tgtEl>
                                          <p:spTgt spid="8"/>
                                        </p:tgtEl>
                                        <p:attrNameLst>
                                          <p:attrName>style.rotation</p:attrName>
                                        </p:attrNameLst>
                                      </p:cBhvr>
                                      <p:tavLst>
                                        <p:tav tm="0">
                                          <p:val>
                                            <p:fltVal val="90"/>
                                          </p:val>
                                        </p:tav>
                                        <p:tav tm="100000">
                                          <p:val>
                                            <p:fltVal val="0"/>
                                          </p:val>
                                        </p:tav>
                                      </p:tavLst>
                                    </p:anim>
                                    <p:animEffect transition="in" filter="fade">
                                      <p:cBhvr>
                                        <p:cTn id="15" dur="10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1000" fill="hold"/>
                                        <p:tgtEl>
                                          <p:spTgt spid="6"/>
                                        </p:tgtEl>
                                        <p:attrNameLst>
                                          <p:attrName>ppt_w</p:attrName>
                                        </p:attrNameLst>
                                      </p:cBhvr>
                                      <p:tavLst>
                                        <p:tav tm="0">
                                          <p:val>
                                            <p:fltVal val="0"/>
                                          </p:val>
                                        </p:tav>
                                        <p:tav tm="100000">
                                          <p:val>
                                            <p:strVal val="#ppt_w"/>
                                          </p:val>
                                        </p:tav>
                                      </p:tavLst>
                                    </p:anim>
                                    <p:anim calcmode="lin" valueType="num">
                                      <p:cBhvr>
                                        <p:cTn id="21" dur="1000" fill="hold"/>
                                        <p:tgtEl>
                                          <p:spTgt spid="6"/>
                                        </p:tgtEl>
                                        <p:attrNameLst>
                                          <p:attrName>ppt_h</p:attrName>
                                        </p:attrNameLst>
                                      </p:cBhvr>
                                      <p:tavLst>
                                        <p:tav tm="0">
                                          <p:val>
                                            <p:fltVal val="0"/>
                                          </p:val>
                                        </p:tav>
                                        <p:tav tm="100000">
                                          <p:val>
                                            <p:strVal val="#ppt_h"/>
                                          </p:val>
                                        </p:tav>
                                      </p:tavLst>
                                    </p:anim>
                                    <p:anim calcmode="lin" valueType="num">
                                      <p:cBhvr>
                                        <p:cTn id="22" dur="1000" fill="hold"/>
                                        <p:tgtEl>
                                          <p:spTgt spid="6"/>
                                        </p:tgtEl>
                                        <p:attrNameLst>
                                          <p:attrName>style.rotation</p:attrName>
                                        </p:attrNameLst>
                                      </p:cBhvr>
                                      <p:tavLst>
                                        <p:tav tm="0">
                                          <p:val>
                                            <p:fltVal val="90"/>
                                          </p:val>
                                        </p:tav>
                                        <p:tav tm="100000">
                                          <p:val>
                                            <p:fltVal val="0"/>
                                          </p:val>
                                        </p:tav>
                                      </p:tavLst>
                                    </p:anim>
                                    <p:animEffect transition="in" filter="fade">
                                      <p:cBhvr>
                                        <p:cTn id="23" dur="10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1000" fill="hold"/>
                                        <p:tgtEl>
                                          <p:spTgt spid="10"/>
                                        </p:tgtEl>
                                        <p:attrNameLst>
                                          <p:attrName>ppt_w</p:attrName>
                                        </p:attrNameLst>
                                      </p:cBhvr>
                                      <p:tavLst>
                                        <p:tav tm="0">
                                          <p:val>
                                            <p:fltVal val="0"/>
                                          </p:val>
                                        </p:tav>
                                        <p:tav tm="100000">
                                          <p:val>
                                            <p:strVal val="#ppt_w"/>
                                          </p:val>
                                        </p:tav>
                                      </p:tavLst>
                                    </p:anim>
                                    <p:anim calcmode="lin" valueType="num">
                                      <p:cBhvr>
                                        <p:cTn id="29" dur="1000" fill="hold"/>
                                        <p:tgtEl>
                                          <p:spTgt spid="10"/>
                                        </p:tgtEl>
                                        <p:attrNameLst>
                                          <p:attrName>ppt_h</p:attrName>
                                        </p:attrNameLst>
                                      </p:cBhvr>
                                      <p:tavLst>
                                        <p:tav tm="0">
                                          <p:val>
                                            <p:fltVal val="0"/>
                                          </p:val>
                                        </p:tav>
                                        <p:tav tm="100000">
                                          <p:val>
                                            <p:strVal val="#ppt_h"/>
                                          </p:val>
                                        </p:tav>
                                      </p:tavLst>
                                    </p:anim>
                                    <p:anim calcmode="lin" valueType="num">
                                      <p:cBhvr>
                                        <p:cTn id="30" dur="1000" fill="hold"/>
                                        <p:tgtEl>
                                          <p:spTgt spid="10"/>
                                        </p:tgtEl>
                                        <p:attrNameLst>
                                          <p:attrName>style.rotation</p:attrName>
                                        </p:attrNameLst>
                                      </p:cBhvr>
                                      <p:tavLst>
                                        <p:tav tm="0">
                                          <p:val>
                                            <p:fltVal val="90"/>
                                          </p:val>
                                        </p:tav>
                                        <p:tav tm="100000">
                                          <p:val>
                                            <p:fltVal val="0"/>
                                          </p:val>
                                        </p:tav>
                                      </p:tavLst>
                                    </p:anim>
                                    <p:animEffect transition="in" filter="fade">
                                      <p:cBhvr>
                                        <p:cTn id="31" dur="1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1000" fill="hold"/>
                                        <p:tgtEl>
                                          <p:spTgt spid="12"/>
                                        </p:tgtEl>
                                        <p:attrNameLst>
                                          <p:attrName>ppt_w</p:attrName>
                                        </p:attrNameLst>
                                      </p:cBhvr>
                                      <p:tavLst>
                                        <p:tav tm="0">
                                          <p:val>
                                            <p:fltVal val="0"/>
                                          </p:val>
                                        </p:tav>
                                        <p:tav tm="100000">
                                          <p:val>
                                            <p:strVal val="#ppt_w"/>
                                          </p:val>
                                        </p:tav>
                                      </p:tavLst>
                                    </p:anim>
                                    <p:anim calcmode="lin" valueType="num">
                                      <p:cBhvr>
                                        <p:cTn id="37" dur="1000" fill="hold"/>
                                        <p:tgtEl>
                                          <p:spTgt spid="12"/>
                                        </p:tgtEl>
                                        <p:attrNameLst>
                                          <p:attrName>ppt_h</p:attrName>
                                        </p:attrNameLst>
                                      </p:cBhvr>
                                      <p:tavLst>
                                        <p:tav tm="0">
                                          <p:val>
                                            <p:fltVal val="0"/>
                                          </p:val>
                                        </p:tav>
                                        <p:tav tm="100000">
                                          <p:val>
                                            <p:strVal val="#ppt_h"/>
                                          </p:val>
                                        </p:tav>
                                      </p:tavLst>
                                    </p:anim>
                                    <p:anim calcmode="lin" valueType="num">
                                      <p:cBhvr>
                                        <p:cTn id="38" dur="1000" fill="hold"/>
                                        <p:tgtEl>
                                          <p:spTgt spid="12"/>
                                        </p:tgtEl>
                                        <p:attrNameLst>
                                          <p:attrName>style.rotation</p:attrName>
                                        </p:attrNameLst>
                                      </p:cBhvr>
                                      <p:tavLst>
                                        <p:tav tm="0">
                                          <p:val>
                                            <p:fltVal val="90"/>
                                          </p:val>
                                        </p:tav>
                                        <p:tav tm="100000">
                                          <p:val>
                                            <p:fltVal val="0"/>
                                          </p:val>
                                        </p:tav>
                                      </p:tavLst>
                                    </p:anim>
                                    <p:animEffect transition="in" filter="fade">
                                      <p:cBhvr>
                                        <p:cTn id="39" dur="10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31" presetClass="entr" presetSubtype="0" fill="hold" nodeType="click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p:cTn id="44" dur="1000" fill="hold"/>
                                        <p:tgtEl>
                                          <p:spTgt spid="14"/>
                                        </p:tgtEl>
                                        <p:attrNameLst>
                                          <p:attrName>ppt_w</p:attrName>
                                        </p:attrNameLst>
                                      </p:cBhvr>
                                      <p:tavLst>
                                        <p:tav tm="0">
                                          <p:val>
                                            <p:fltVal val="0"/>
                                          </p:val>
                                        </p:tav>
                                        <p:tav tm="100000">
                                          <p:val>
                                            <p:strVal val="#ppt_w"/>
                                          </p:val>
                                        </p:tav>
                                      </p:tavLst>
                                    </p:anim>
                                    <p:anim calcmode="lin" valueType="num">
                                      <p:cBhvr>
                                        <p:cTn id="45" dur="1000" fill="hold"/>
                                        <p:tgtEl>
                                          <p:spTgt spid="14"/>
                                        </p:tgtEl>
                                        <p:attrNameLst>
                                          <p:attrName>ppt_h</p:attrName>
                                        </p:attrNameLst>
                                      </p:cBhvr>
                                      <p:tavLst>
                                        <p:tav tm="0">
                                          <p:val>
                                            <p:fltVal val="0"/>
                                          </p:val>
                                        </p:tav>
                                        <p:tav tm="100000">
                                          <p:val>
                                            <p:strVal val="#ppt_h"/>
                                          </p:val>
                                        </p:tav>
                                      </p:tavLst>
                                    </p:anim>
                                    <p:anim calcmode="lin" valueType="num">
                                      <p:cBhvr>
                                        <p:cTn id="46" dur="1000" fill="hold"/>
                                        <p:tgtEl>
                                          <p:spTgt spid="14"/>
                                        </p:tgtEl>
                                        <p:attrNameLst>
                                          <p:attrName>style.rotation</p:attrName>
                                        </p:attrNameLst>
                                      </p:cBhvr>
                                      <p:tavLst>
                                        <p:tav tm="0">
                                          <p:val>
                                            <p:fltVal val="90"/>
                                          </p:val>
                                        </p:tav>
                                        <p:tav tm="100000">
                                          <p:val>
                                            <p:fltVal val="0"/>
                                          </p:val>
                                        </p:tav>
                                      </p:tavLst>
                                    </p:anim>
                                    <p:animEffect transition="in" filter="fade">
                                      <p:cBhvr>
                                        <p:cTn id="47" dur="10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31" presetClass="entr" presetSubtype="0"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p:cTn id="52" dur="1000" fill="hold"/>
                                        <p:tgtEl>
                                          <p:spTgt spid="16"/>
                                        </p:tgtEl>
                                        <p:attrNameLst>
                                          <p:attrName>ppt_w</p:attrName>
                                        </p:attrNameLst>
                                      </p:cBhvr>
                                      <p:tavLst>
                                        <p:tav tm="0">
                                          <p:val>
                                            <p:fltVal val="0"/>
                                          </p:val>
                                        </p:tav>
                                        <p:tav tm="100000">
                                          <p:val>
                                            <p:strVal val="#ppt_w"/>
                                          </p:val>
                                        </p:tav>
                                      </p:tavLst>
                                    </p:anim>
                                    <p:anim calcmode="lin" valueType="num">
                                      <p:cBhvr>
                                        <p:cTn id="53" dur="1000" fill="hold"/>
                                        <p:tgtEl>
                                          <p:spTgt spid="16"/>
                                        </p:tgtEl>
                                        <p:attrNameLst>
                                          <p:attrName>ppt_h</p:attrName>
                                        </p:attrNameLst>
                                      </p:cBhvr>
                                      <p:tavLst>
                                        <p:tav tm="0">
                                          <p:val>
                                            <p:fltVal val="0"/>
                                          </p:val>
                                        </p:tav>
                                        <p:tav tm="100000">
                                          <p:val>
                                            <p:strVal val="#ppt_h"/>
                                          </p:val>
                                        </p:tav>
                                      </p:tavLst>
                                    </p:anim>
                                    <p:anim calcmode="lin" valueType="num">
                                      <p:cBhvr>
                                        <p:cTn id="54" dur="1000" fill="hold"/>
                                        <p:tgtEl>
                                          <p:spTgt spid="16"/>
                                        </p:tgtEl>
                                        <p:attrNameLst>
                                          <p:attrName>style.rotation</p:attrName>
                                        </p:attrNameLst>
                                      </p:cBhvr>
                                      <p:tavLst>
                                        <p:tav tm="0">
                                          <p:val>
                                            <p:fltVal val="90"/>
                                          </p:val>
                                        </p:tav>
                                        <p:tav tm="100000">
                                          <p:val>
                                            <p:fltVal val="0"/>
                                          </p:val>
                                        </p:tav>
                                      </p:tavLst>
                                    </p:anim>
                                    <p:animEffect transition="in" filter="fade">
                                      <p:cBhvr>
                                        <p:cTn id="55" dur="1000"/>
                                        <p:tgtEl>
                                          <p:spTgt spid="16"/>
                                        </p:tgtEl>
                                      </p:cBhvr>
                                    </p:animEffect>
                                  </p:childTnLst>
                                </p:cTn>
                              </p:par>
                            </p:childTnLst>
                          </p:cTn>
                        </p:par>
                      </p:childTnLst>
                    </p:cTn>
                  </p:par>
                  <p:par>
                    <p:cTn id="56" fill="hold">
                      <p:stCondLst>
                        <p:cond delay="indefinite"/>
                      </p:stCondLst>
                      <p:childTnLst>
                        <p:par>
                          <p:cTn id="57" fill="hold">
                            <p:stCondLst>
                              <p:cond delay="0"/>
                            </p:stCondLst>
                            <p:childTnLst>
                              <p:par>
                                <p:cTn id="58" presetID="31" presetClass="entr" presetSubtype="0" fill="hold" nodeType="click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p:cTn id="60" dur="1000" fill="hold"/>
                                        <p:tgtEl>
                                          <p:spTgt spid="18"/>
                                        </p:tgtEl>
                                        <p:attrNameLst>
                                          <p:attrName>ppt_w</p:attrName>
                                        </p:attrNameLst>
                                      </p:cBhvr>
                                      <p:tavLst>
                                        <p:tav tm="0">
                                          <p:val>
                                            <p:fltVal val="0"/>
                                          </p:val>
                                        </p:tav>
                                        <p:tav tm="100000">
                                          <p:val>
                                            <p:strVal val="#ppt_w"/>
                                          </p:val>
                                        </p:tav>
                                      </p:tavLst>
                                    </p:anim>
                                    <p:anim calcmode="lin" valueType="num">
                                      <p:cBhvr>
                                        <p:cTn id="61" dur="1000" fill="hold"/>
                                        <p:tgtEl>
                                          <p:spTgt spid="18"/>
                                        </p:tgtEl>
                                        <p:attrNameLst>
                                          <p:attrName>ppt_h</p:attrName>
                                        </p:attrNameLst>
                                      </p:cBhvr>
                                      <p:tavLst>
                                        <p:tav tm="0">
                                          <p:val>
                                            <p:fltVal val="0"/>
                                          </p:val>
                                        </p:tav>
                                        <p:tav tm="100000">
                                          <p:val>
                                            <p:strVal val="#ppt_h"/>
                                          </p:val>
                                        </p:tav>
                                      </p:tavLst>
                                    </p:anim>
                                    <p:anim calcmode="lin" valueType="num">
                                      <p:cBhvr>
                                        <p:cTn id="62" dur="1000" fill="hold"/>
                                        <p:tgtEl>
                                          <p:spTgt spid="18"/>
                                        </p:tgtEl>
                                        <p:attrNameLst>
                                          <p:attrName>style.rotation</p:attrName>
                                        </p:attrNameLst>
                                      </p:cBhvr>
                                      <p:tavLst>
                                        <p:tav tm="0">
                                          <p:val>
                                            <p:fltVal val="90"/>
                                          </p:val>
                                        </p:tav>
                                        <p:tav tm="100000">
                                          <p:val>
                                            <p:fltVal val="0"/>
                                          </p:val>
                                        </p:tav>
                                      </p:tavLst>
                                    </p:anim>
                                    <p:animEffect transition="in" filter="fade">
                                      <p:cBhvr>
                                        <p:cTn id="63" dur="1000"/>
                                        <p:tgtEl>
                                          <p:spTgt spid="18"/>
                                        </p:tgtEl>
                                      </p:cBhvr>
                                    </p:animEffect>
                                  </p:childTnLst>
                                </p:cTn>
                              </p:par>
                            </p:childTnLst>
                          </p:cTn>
                        </p:par>
                      </p:childTnLst>
                    </p:cTn>
                  </p:par>
                  <p:par>
                    <p:cTn id="64" fill="hold">
                      <p:stCondLst>
                        <p:cond delay="indefinite"/>
                      </p:stCondLst>
                      <p:childTnLst>
                        <p:par>
                          <p:cTn id="65" fill="hold">
                            <p:stCondLst>
                              <p:cond delay="0"/>
                            </p:stCondLst>
                            <p:childTnLst>
                              <p:par>
                                <p:cTn id="66" presetID="31" presetClass="entr" presetSubtype="0" fill="hold" nodeType="clickEffect">
                                  <p:stCondLst>
                                    <p:cond delay="0"/>
                                  </p:stCondLst>
                                  <p:childTnLst>
                                    <p:set>
                                      <p:cBhvr>
                                        <p:cTn id="67" dur="1" fill="hold">
                                          <p:stCondLst>
                                            <p:cond delay="0"/>
                                          </p:stCondLst>
                                        </p:cTn>
                                        <p:tgtEl>
                                          <p:spTgt spid="20"/>
                                        </p:tgtEl>
                                        <p:attrNameLst>
                                          <p:attrName>style.visibility</p:attrName>
                                        </p:attrNameLst>
                                      </p:cBhvr>
                                      <p:to>
                                        <p:strVal val="visible"/>
                                      </p:to>
                                    </p:set>
                                    <p:anim calcmode="lin" valueType="num">
                                      <p:cBhvr>
                                        <p:cTn id="68" dur="1000" fill="hold"/>
                                        <p:tgtEl>
                                          <p:spTgt spid="20"/>
                                        </p:tgtEl>
                                        <p:attrNameLst>
                                          <p:attrName>ppt_w</p:attrName>
                                        </p:attrNameLst>
                                      </p:cBhvr>
                                      <p:tavLst>
                                        <p:tav tm="0">
                                          <p:val>
                                            <p:fltVal val="0"/>
                                          </p:val>
                                        </p:tav>
                                        <p:tav tm="100000">
                                          <p:val>
                                            <p:strVal val="#ppt_w"/>
                                          </p:val>
                                        </p:tav>
                                      </p:tavLst>
                                    </p:anim>
                                    <p:anim calcmode="lin" valueType="num">
                                      <p:cBhvr>
                                        <p:cTn id="69" dur="1000" fill="hold"/>
                                        <p:tgtEl>
                                          <p:spTgt spid="20"/>
                                        </p:tgtEl>
                                        <p:attrNameLst>
                                          <p:attrName>ppt_h</p:attrName>
                                        </p:attrNameLst>
                                      </p:cBhvr>
                                      <p:tavLst>
                                        <p:tav tm="0">
                                          <p:val>
                                            <p:fltVal val="0"/>
                                          </p:val>
                                        </p:tav>
                                        <p:tav tm="100000">
                                          <p:val>
                                            <p:strVal val="#ppt_h"/>
                                          </p:val>
                                        </p:tav>
                                      </p:tavLst>
                                    </p:anim>
                                    <p:anim calcmode="lin" valueType="num">
                                      <p:cBhvr>
                                        <p:cTn id="70" dur="1000" fill="hold"/>
                                        <p:tgtEl>
                                          <p:spTgt spid="20"/>
                                        </p:tgtEl>
                                        <p:attrNameLst>
                                          <p:attrName>style.rotation</p:attrName>
                                        </p:attrNameLst>
                                      </p:cBhvr>
                                      <p:tavLst>
                                        <p:tav tm="0">
                                          <p:val>
                                            <p:fltVal val="90"/>
                                          </p:val>
                                        </p:tav>
                                        <p:tav tm="100000">
                                          <p:val>
                                            <p:fltVal val="0"/>
                                          </p:val>
                                        </p:tav>
                                      </p:tavLst>
                                    </p:anim>
                                    <p:animEffect transition="in" filter="fade">
                                      <p:cBhvr>
                                        <p:cTn id="71" dur="1000"/>
                                        <p:tgtEl>
                                          <p:spTgt spid="20"/>
                                        </p:tgtEl>
                                      </p:cBhvr>
                                    </p:animEffect>
                                  </p:childTnLst>
                                </p:cTn>
                              </p:par>
                            </p:childTnLst>
                          </p:cTn>
                        </p:par>
                      </p:childTnLst>
                    </p:cTn>
                  </p:par>
                  <p:par>
                    <p:cTn id="72" fill="hold">
                      <p:stCondLst>
                        <p:cond delay="indefinite"/>
                      </p:stCondLst>
                      <p:childTnLst>
                        <p:par>
                          <p:cTn id="73" fill="hold">
                            <p:stCondLst>
                              <p:cond delay="0"/>
                            </p:stCondLst>
                            <p:childTnLst>
                              <p:par>
                                <p:cTn id="74" presetID="6" presetClass="entr" presetSubtype="16" fill="hold" nodeType="clickEffect">
                                  <p:stCondLst>
                                    <p:cond delay="0"/>
                                  </p:stCondLst>
                                  <p:childTnLst>
                                    <p:set>
                                      <p:cBhvr>
                                        <p:cTn id="75" dur="1" fill="hold">
                                          <p:stCondLst>
                                            <p:cond delay="0"/>
                                          </p:stCondLst>
                                        </p:cTn>
                                        <p:tgtEl>
                                          <p:spTgt spid="3">
                                            <p:txEl>
                                              <p:pRg st="0" end="0"/>
                                            </p:txEl>
                                          </p:spTgt>
                                        </p:tgtEl>
                                        <p:attrNameLst>
                                          <p:attrName>style.visibility</p:attrName>
                                        </p:attrNameLst>
                                      </p:cBhvr>
                                      <p:to>
                                        <p:strVal val="visible"/>
                                      </p:to>
                                    </p:set>
                                    <p:animEffect transition="in" filter="circle(in)">
                                      <p:cBhvr>
                                        <p:cTn id="76" dur="2000"/>
                                        <p:tgtEl>
                                          <p:spTgt spid="3">
                                            <p:txEl>
                                              <p:pRg st="0" end="0"/>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6" presetClass="entr" presetSubtype="16" fill="hold" nodeType="clickEffect">
                                  <p:stCondLst>
                                    <p:cond delay="0"/>
                                  </p:stCondLst>
                                  <p:childTnLst>
                                    <p:set>
                                      <p:cBhvr>
                                        <p:cTn id="80" dur="1" fill="hold">
                                          <p:stCondLst>
                                            <p:cond delay="0"/>
                                          </p:stCondLst>
                                        </p:cTn>
                                        <p:tgtEl>
                                          <p:spTgt spid="3">
                                            <p:txEl>
                                              <p:pRg st="1" end="1"/>
                                            </p:txEl>
                                          </p:spTgt>
                                        </p:tgtEl>
                                        <p:attrNameLst>
                                          <p:attrName>style.visibility</p:attrName>
                                        </p:attrNameLst>
                                      </p:cBhvr>
                                      <p:to>
                                        <p:strVal val="visible"/>
                                      </p:to>
                                    </p:set>
                                    <p:animEffect transition="in" filter="circle(in)">
                                      <p:cBhvr>
                                        <p:cTn id="81"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zh-CN" altLang="en-US" dirty="0"/>
          </a:p>
        </p:txBody>
      </p:sp>
      <p:sp>
        <p:nvSpPr>
          <p:cNvPr id="3" name="Content Placeholder 2"/>
          <p:cNvSpPr>
            <a:spLocks noGrp="1"/>
          </p:cNvSpPr>
          <p:nvPr>
            <p:ph sz="half" idx="4294967295"/>
          </p:nvPr>
        </p:nvSpPr>
        <p:spPr>
          <a:xfrm>
            <a:off x="914400" y="1752600"/>
            <a:ext cx="4859338" cy="2073275"/>
          </a:xfrm>
        </p:spPr>
        <p:txBody>
          <a:bodyPr/>
          <a:lstStyle/>
          <a:p>
            <a:pPr marL="0" indent="0">
              <a:buNone/>
            </a:pPr>
            <a:r>
              <a:rPr lang="zh-CN" altLang="en-US" sz="2000" b="1" dirty="0"/>
              <a:t>特拉需马科提出的两个命题：</a:t>
            </a:r>
            <a:endParaRPr lang="en-US" altLang="zh-CN" sz="2000" b="1" dirty="0"/>
          </a:p>
          <a:p>
            <a:pPr marL="0" indent="0">
              <a:buNone/>
            </a:pPr>
            <a:r>
              <a:rPr lang="en-US" altLang="zh-CN" sz="2000" b="1" dirty="0"/>
              <a:t>1</a:t>
            </a:r>
            <a:r>
              <a:rPr lang="zh-CN" altLang="en-US" sz="2000" b="1" dirty="0"/>
              <a:t>，正义是强者的利益</a:t>
            </a:r>
            <a:endParaRPr lang="en-US" altLang="zh-CN" sz="2000" b="1" dirty="0"/>
          </a:p>
          <a:p>
            <a:pPr marL="0" indent="0">
              <a:buNone/>
            </a:pPr>
            <a:r>
              <a:rPr lang="en-US" altLang="zh-CN" sz="2000" b="1" dirty="0"/>
              <a:t>2</a:t>
            </a:r>
            <a:r>
              <a:rPr lang="zh-CN" altLang="en-US" sz="2000" b="1" dirty="0"/>
              <a:t>，正义是他人的利益</a:t>
            </a:r>
            <a:endParaRPr lang="en-US" altLang="zh-CN" sz="2000" b="1" dirty="0"/>
          </a:p>
        </p:txBody>
      </p:sp>
      <p:sp>
        <p:nvSpPr>
          <p:cNvPr id="6" name="Right Brace 5"/>
          <p:cNvSpPr/>
          <p:nvPr/>
        </p:nvSpPr>
        <p:spPr>
          <a:xfrm>
            <a:off x="3899852" y="2755751"/>
            <a:ext cx="497940" cy="497941"/>
          </a:xfrm>
          <a:prstGeom prst="rightBrace">
            <a:avLst/>
          </a:prstGeom>
          <a:noFill/>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b="1"/>
          </a:p>
        </p:txBody>
      </p:sp>
      <p:sp>
        <p:nvSpPr>
          <p:cNvPr id="7" name="TextBox 6"/>
          <p:cNvSpPr txBox="1"/>
          <p:nvPr/>
        </p:nvSpPr>
        <p:spPr>
          <a:xfrm>
            <a:off x="4472411" y="2820056"/>
            <a:ext cx="2823537" cy="400110"/>
          </a:xfrm>
          <a:prstGeom prst="rect">
            <a:avLst/>
          </a:prstGeom>
          <a:noFill/>
        </p:spPr>
        <p:txBody>
          <a:bodyPr wrap="square" rtlCol="0">
            <a:spAutoFit/>
          </a:bodyPr>
          <a:lstStyle/>
          <a:p>
            <a:r>
              <a:rPr lang="zh-CN" altLang="en-US" sz="2000" b="1" dirty="0"/>
              <a:t>它们之间的关系是什么？</a:t>
            </a:r>
          </a:p>
        </p:txBody>
      </p:sp>
      <p:sp>
        <p:nvSpPr>
          <p:cNvPr id="9" name="TextBox 8"/>
          <p:cNvSpPr txBox="1"/>
          <p:nvPr/>
        </p:nvSpPr>
        <p:spPr>
          <a:xfrm>
            <a:off x="1231271" y="4061312"/>
            <a:ext cx="3440317" cy="1323439"/>
          </a:xfrm>
          <a:prstGeom prst="rect">
            <a:avLst/>
          </a:prstGeom>
          <a:noFill/>
        </p:spPr>
        <p:txBody>
          <a:bodyPr wrap="square" rtlCol="0">
            <a:spAutoFit/>
          </a:bodyPr>
          <a:lstStyle/>
          <a:p>
            <a:r>
              <a:rPr lang="zh-CN" altLang="en-US" sz="2000" b="1" dirty="0"/>
              <a:t>在特拉需马科看来，“正义是他人的利益”是一个更普遍的规律，进一步说明了“正义是强者的利益”。</a:t>
            </a:r>
          </a:p>
        </p:txBody>
      </p:sp>
      <p:sp>
        <p:nvSpPr>
          <p:cNvPr id="10" name="TextBox 9"/>
          <p:cNvSpPr txBox="1"/>
          <p:nvPr/>
        </p:nvSpPr>
        <p:spPr>
          <a:xfrm>
            <a:off x="5712734" y="3681065"/>
            <a:ext cx="4297539" cy="2862322"/>
          </a:xfrm>
          <a:prstGeom prst="rect">
            <a:avLst/>
          </a:prstGeom>
          <a:noFill/>
        </p:spPr>
        <p:txBody>
          <a:bodyPr wrap="square" rtlCol="0">
            <a:spAutoFit/>
          </a:bodyPr>
          <a:lstStyle/>
          <a:p>
            <a:r>
              <a:rPr lang="zh-CN" altLang="en-US" sz="2000" b="1" dirty="0"/>
              <a:t>被统治者：因为正义是他人（统治者或其他被统治者）的利益，自己应该做不正义的人，才能得到好处。</a:t>
            </a:r>
            <a:endParaRPr lang="en-US" altLang="zh-CN" sz="2000" b="1" dirty="0"/>
          </a:p>
          <a:p>
            <a:endParaRPr lang="en-US" altLang="zh-CN" sz="2000" b="1" dirty="0"/>
          </a:p>
          <a:p>
            <a:r>
              <a:rPr lang="zh-CN" altLang="en-US" sz="2000" b="1" dirty="0"/>
              <a:t>统治者：因为正义是他人的利益（统治技艺要为被统治者服务），所以自己应该做僭主（不正义的极致），奴役被统治者。这时不义也被称作吉祥了。</a:t>
            </a:r>
          </a:p>
        </p:txBody>
      </p:sp>
      <p:sp>
        <p:nvSpPr>
          <p:cNvPr id="11" name="Right Arrow 10"/>
          <p:cNvSpPr/>
          <p:nvPr/>
        </p:nvSpPr>
        <p:spPr>
          <a:xfrm>
            <a:off x="4544840" y="4495878"/>
            <a:ext cx="353085" cy="165598"/>
          </a:xfrm>
          <a:prstGeom prst="rightArrow">
            <a:avLst/>
          </a:prstGeom>
          <a:solidFill>
            <a:srgbClr val="FF0000"/>
          </a:solidFill>
          <a:ln w="19050">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2000" b="1"/>
          </a:p>
        </p:txBody>
      </p:sp>
      <p:sp>
        <p:nvSpPr>
          <p:cNvPr id="12" name="Left Brace 11"/>
          <p:cNvSpPr/>
          <p:nvPr/>
        </p:nvSpPr>
        <p:spPr>
          <a:xfrm>
            <a:off x="5024673" y="4133739"/>
            <a:ext cx="552262" cy="941561"/>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b="1"/>
          </a:p>
        </p:txBody>
      </p:sp>
    </p:spTree>
    <p:extLst>
      <p:ext uri="{BB962C8B-B14F-4D97-AF65-F5344CB8AC3E}">
        <p14:creationId xmlns:p14="http://schemas.microsoft.com/office/powerpoint/2010/main" val="3756430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ircle(in)">
                                      <p:cBhvr>
                                        <p:cTn id="7" dur="2000"/>
                                        <p:tgtEl>
                                          <p:spTgt spid="3">
                                            <p:txEl>
                                              <p:pRg st="1" end="1"/>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circle(in)">
                                      <p:cBhvr>
                                        <p:cTn id="10" dur="20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heel(1)">
                                      <p:cBhvr>
                                        <p:cTn id="15" dur="2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45" presetClass="entr" presetSubtype="0" fill="hold" nodeType="clickEffect">
                                  <p:stCondLst>
                                    <p:cond delay="0"/>
                                  </p:stCondLst>
                                  <p:childTnLst>
                                    <p:set>
                                      <p:cBhvr>
                                        <p:cTn id="19" dur="1" fill="hold">
                                          <p:stCondLst>
                                            <p:cond delay="0"/>
                                          </p:stCondLst>
                                        </p:cTn>
                                        <p:tgtEl>
                                          <p:spTgt spid="7">
                                            <p:txEl>
                                              <p:pRg st="0" end="0"/>
                                            </p:txEl>
                                          </p:spTgt>
                                        </p:tgtEl>
                                        <p:attrNameLst>
                                          <p:attrName>style.visibility</p:attrName>
                                        </p:attrNameLst>
                                      </p:cBhvr>
                                      <p:to>
                                        <p:strVal val="visible"/>
                                      </p:to>
                                    </p:set>
                                    <p:animEffect transition="in" filter="fade">
                                      <p:cBhvr>
                                        <p:cTn id="20" dur="2000"/>
                                        <p:tgtEl>
                                          <p:spTgt spid="7">
                                            <p:txEl>
                                              <p:pRg st="0" end="0"/>
                                            </p:txEl>
                                          </p:spTgt>
                                        </p:tgtEl>
                                      </p:cBhvr>
                                    </p:animEffect>
                                    <p:anim calcmode="lin" valueType="num">
                                      <p:cBhvr>
                                        <p:cTn id="21" dur="2000" fill="hold"/>
                                        <p:tgtEl>
                                          <p:spTgt spid="7">
                                            <p:txEl>
                                              <p:pRg st="0" end="0"/>
                                            </p:txEl>
                                          </p:spTgt>
                                        </p:tgtEl>
                                        <p:attrNameLst>
                                          <p:attrName>ppt_w</p:attrName>
                                        </p:attrNameLst>
                                      </p:cBhvr>
                                      <p:tavLst>
                                        <p:tav tm="0" fmla="#ppt_w*sin(2.5*pi*$)">
                                          <p:val>
                                            <p:fltVal val="0"/>
                                          </p:val>
                                        </p:tav>
                                        <p:tav tm="100000">
                                          <p:val>
                                            <p:fltVal val="1"/>
                                          </p:val>
                                        </p:tav>
                                      </p:tavLst>
                                    </p:anim>
                                    <p:anim calcmode="lin" valueType="num">
                                      <p:cBhvr>
                                        <p:cTn id="22" dur="2000" fill="hold"/>
                                        <p:tgtEl>
                                          <p:spTgt spid="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Effect transition="in" filter="circle(in)">
                                      <p:cBhvr>
                                        <p:cTn id="27" dur="2000"/>
                                        <p:tgtEl>
                                          <p:spTgt spid="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circle(in)">
                                      <p:cBhvr>
                                        <p:cTn id="32" dur="20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randombar(horizontal)">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10">
                                            <p:txEl>
                                              <p:pRg st="0" end="0"/>
                                            </p:txEl>
                                          </p:spTgt>
                                        </p:tgtEl>
                                        <p:attrNameLst>
                                          <p:attrName>style.visibility</p:attrName>
                                        </p:attrNameLst>
                                      </p:cBhvr>
                                      <p:to>
                                        <p:strVal val="visible"/>
                                      </p:to>
                                    </p:set>
                                    <p:animEffect transition="in" filter="randombar(horizontal)">
                                      <p:cBhvr>
                                        <p:cTn id="42" dur="500"/>
                                        <p:tgtEl>
                                          <p:spTgt spid="10">
                                            <p:txEl>
                                              <p:pRg st="0" end="0"/>
                                            </p:txEl>
                                          </p:spTgt>
                                        </p:tgtEl>
                                      </p:cBhvr>
                                    </p:animEffect>
                                  </p:childTnLst>
                                </p:cTn>
                              </p:par>
                              <p:par>
                                <p:cTn id="43" presetID="14" presetClass="entr" presetSubtype="10" fill="hold" nodeType="withEffect">
                                  <p:stCondLst>
                                    <p:cond delay="0"/>
                                  </p:stCondLst>
                                  <p:childTnLst>
                                    <p:set>
                                      <p:cBhvr>
                                        <p:cTn id="44" dur="1" fill="hold">
                                          <p:stCondLst>
                                            <p:cond delay="0"/>
                                          </p:stCondLst>
                                        </p:cTn>
                                        <p:tgtEl>
                                          <p:spTgt spid="10">
                                            <p:txEl>
                                              <p:pRg st="2" end="2"/>
                                            </p:txEl>
                                          </p:spTgt>
                                        </p:tgtEl>
                                        <p:attrNameLst>
                                          <p:attrName>style.visibility</p:attrName>
                                        </p:attrNameLst>
                                      </p:cBhvr>
                                      <p:to>
                                        <p:strVal val="visible"/>
                                      </p:to>
                                    </p:set>
                                    <p:animEffect transition="in" filter="randombar(horizontal)">
                                      <p:cBhvr>
                                        <p:cTn id="45"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endParaRPr lang="zh-CN" altLang="en-US"/>
          </a:p>
        </p:txBody>
      </p:sp>
      <p:sp>
        <p:nvSpPr>
          <p:cNvPr id="4" name="Content Placeholder 3"/>
          <p:cNvSpPr>
            <a:spLocks noGrp="1"/>
          </p:cNvSpPr>
          <p:nvPr>
            <p:ph sz="half" idx="4294967295"/>
          </p:nvPr>
        </p:nvSpPr>
        <p:spPr>
          <a:xfrm>
            <a:off x="914400" y="2014671"/>
            <a:ext cx="5040313" cy="3921125"/>
          </a:xfrm>
        </p:spPr>
        <p:txBody>
          <a:bodyPr/>
          <a:lstStyle/>
          <a:p>
            <a:pPr marL="0" indent="0">
              <a:buNone/>
            </a:pPr>
            <a:r>
              <a:rPr lang="zh-CN" altLang="en-US" sz="2400" b="1" dirty="0"/>
              <a:t>在特拉需马科的论证中，凸显出来的两个最重要的问题：</a:t>
            </a:r>
            <a:endParaRPr lang="en-US" altLang="zh-CN" sz="2400" b="1" dirty="0"/>
          </a:p>
          <a:p>
            <a:pPr marL="0" indent="0">
              <a:buNone/>
            </a:pPr>
            <a:r>
              <a:rPr lang="en-US" altLang="zh-CN" sz="2400" b="1" dirty="0"/>
              <a:t>1</a:t>
            </a:r>
            <a:r>
              <a:rPr lang="zh-CN" altLang="en-US" sz="2400" b="1" dirty="0"/>
              <a:t>，如果正义是他人的利益，他人的善，我为什么要正义？</a:t>
            </a:r>
            <a:endParaRPr lang="en-US" altLang="zh-CN" sz="2400" b="1" dirty="0"/>
          </a:p>
          <a:p>
            <a:endParaRPr lang="en-US" altLang="zh-CN" sz="2400" b="1" dirty="0"/>
          </a:p>
          <a:p>
            <a:pPr marL="0" indent="0">
              <a:buNone/>
            </a:pPr>
            <a:r>
              <a:rPr lang="en-US" altLang="zh-CN" sz="2400" b="1" dirty="0"/>
              <a:t>2</a:t>
            </a:r>
            <a:r>
              <a:rPr lang="zh-CN" altLang="en-US" sz="2400" b="1" dirty="0"/>
              <a:t>，如果人们谴责不正义，不是为了怕自己对人不公正，而仅仅是为了怕他人对自己不公正</a:t>
            </a:r>
            <a:r>
              <a:rPr lang="en-US" altLang="zh-CN" sz="2400" b="1" dirty="0"/>
              <a:t>3 44c</a:t>
            </a:r>
            <a:r>
              <a:rPr lang="zh-CN" altLang="en-US" sz="2400" b="1" dirty="0"/>
              <a:t>，那么人们是否天生就有为恶（选择不正义）的倾向？</a:t>
            </a:r>
          </a:p>
          <a:p>
            <a:endParaRPr lang="en-US" altLang="zh-CN" sz="2400" b="1" dirty="0"/>
          </a:p>
          <a:p>
            <a:endParaRPr lang="zh-CN" altLang="en-US" dirty="0"/>
          </a:p>
        </p:txBody>
      </p:sp>
      <p:pic>
        <p:nvPicPr>
          <p:cNvPr id="2" name="图片 1">
            <a:extLst>
              <a:ext uri="{FF2B5EF4-FFF2-40B4-BE49-F238E27FC236}">
                <a16:creationId xmlns:a16="http://schemas.microsoft.com/office/drawing/2014/main" id="{92294501-4C79-4774-BC90-410B2B0CC007}"/>
              </a:ext>
            </a:extLst>
          </p:cNvPr>
          <p:cNvPicPr>
            <a:picLocks noChangeAspect="1"/>
          </p:cNvPicPr>
          <p:nvPr/>
        </p:nvPicPr>
        <p:blipFill>
          <a:blip r:embed="rId2"/>
          <a:stretch>
            <a:fillRect/>
          </a:stretch>
        </p:blipFill>
        <p:spPr>
          <a:xfrm>
            <a:off x="6371924" y="2877954"/>
            <a:ext cx="5777803" cy="1963553"/>
          </a:xfrm>
          <a:prstGeom prst="rect">
            <a:avLst/>
          </a:prstGeom>
        </p:spPr>
      </p:pic>
      <p:cxnSp>
        <p:nvCxnSpPr>
          <p:cNvPr id="5" name="直接连接符 4">
            <a:extLst>
              <a:ext uri="{FF2B5EF4-FFF2-40B4-BE49-F238E27FC236}">
                <a16:creationId xmlns:a16="http://schemas.microsoft.com/office/drawing/2014/main" id="{10C9AA27-ABF5-4817-A1A4-486EA1345E64}"/>
              </a:ext>
            </a:extLst>
          </p:cNvPr>
          <p:cNvCxnSpPr/>
          <p:nvPr/>
        </p:nvCxnSpPr>
        <p:spPr>
          <a:xfrm>
            <a:off x="6472679" y="3581507"/>
            <a:ext cx="5414521" cy="0"/>
          </a:xfrm>
          <a:prstGeom prst="line">
            <a:avLst/>
          </a:prstGeom>
          <a:ln w="1905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8" name="直接连接符 7">
            <a:extLst>
              <a:ext uri="{FF2B5EF4-FFF2-40B4-BE49-F238E27FC236}">
                <a16:creationId xmlns:a16="http://schemas.microsoft.com/office/drawing/2014/main" id="{BACFD998-0ECF-4A8E-A505-B09CBE051182}"/>
              </a:ext>
            </a:extLst>
          </p:cNvPr>
          <p:cNvCxnSpPr>
            <a:cxnSpLocks/>
          </p:cNvCxnSpPr>
          <p:nvPr/>
        </p:nvCxnSpPr>
        <p:spPr>
          <a:xfrm>
            <a:off x="6525928" y="3975234"/>
            <a:ext cx="74114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77594091-D60C-4A88-AB66-C7B769EBB344}"/>
              </a:ext>
            </a:extLst>
          </p:cNvPr>
          <p:cNvCxnSpPr>
            <a:cxnSpLocks/>
          </p:cNvCxnSpPr>
          <p:nvPr/>
        </p:nvCxnSpPr>
        <p:spPr>
          <a:xfrm>
            <a:off x="9933272" y="3272589"/>
            <a:ext cx="195392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4166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circle(in)">
                                      <p:cBhvr>
                                        <p:cTn id="7" dur="20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circle(in)">
                                      <p:cBhvr>
                                        <p:cTn id="12" dur="2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normAutofit/>
          </a:bodyPr>
          <a:lstStyle/>
          <a:p>
            <a:pPr marL="0" indent="0">
              <a:buNone/>
            </a:pPr>
            <a:r>
              <a:rPr lang="zh-CN" altLang="en-US" sz="2400" b="1" dirty="0"/>
              <a:t>苏格拉底表示特拉需马科的问题很重要，它关系到每个人究竟应该选择何种生活道路的问题。</a:t>
            </a:r>
            <a:r>
              <a:rPr lang="en-US" altLang="zh-CN" sz="2400" b="1" dirty="0"/>
              <a:t>344d</a:t>
            </a:r>
            <a:endParaRPr lang="zh-CN" altLang="en-US" sz="2400" b="1" dirty="0"/>
          </a:p>
        </p:txBody>
      </p:sp>
      <p:sp>
        <p:nvSpPr>
          <p:cNvPr id="4" name="Content Placeholder 3"/>
          <p:cNvSpPr>
            <a:spLocks noGrp="1"/>
          </p:cNvSpPr>
          <p:nvPr>
            <p:ph sz="half" idx="2"/>
          </p:nvPr>
        </p:nvSpPr>
        <p:spPr/>
        <p:txBody>
          <a:bodyPr/>
          <a:lstStyle/>
          <a:p>
            <a:endParaRPr lang="zh-CN" altLang="en-US"/>
          </a:p>
        </p:txBody>
      </p:sp>
      <p:pic>
        <p:nvPicPr>
          <p:cNvPr id="419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6950" y="357187"/>
            <a:ext cx="6063000" cy="5793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8605366" y="2782750"/>
            <a:ext cx="276130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cxnSpLocks/>
          </p:cNvCxnSpPr>
          <p:nvPr/>
        </p:nvCxnSpPr>
        <p:spPr>
          <a:xfrm>
            <a:off x="6651057" y="3036246"/>
            <a:ext cx="362872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437014" y="4707802"/>
            <a:ext cx="0" cy="81481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623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1986"/>
                                        </p:tgtEl>
                                        <p:attrNameLst>
                                          <p:attrName>style.visibility</p:attrName>
                                        </p:attrNameLst>
                                      </p:cBhvr>
                                      <p:to>
                                        <p:strVal val="visible"/>
                                      </p:to>
                                    </p:set>
                                    <p:animEffect transition="in" filter="randombar(horizontal)">
                                      <p:cBhvr>
                                        <p:cTn id="7" dur="500"/>
                                        <p:tgtEl>
                                          <p:spTgt spid="4198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1000" fill="hold"/>
                                        <p:tgtEl>
                                          <p:spTgt spid="6"/>
                                        </p:tgtEl>
                                        <p:attrNameLst>
                                          <p:attrName>ppt_w</p:attrName>
                                        </p:attrNameLst>
                                      </p:cBhvr>
                                      <p:tavLst>
                                        <p:tav tm="0">
                                          <p:val>
                                            <p:fltVal val="0"/>
                                          </p:val>
                                        </p:tav>
                                        <p:tav tm="100000">
                                          <p:val>
                                            <p:strVal val="#ppt_w"/>
                                          </p:val>
                                        </p:tav>
                                      </p:tavLst>
                                    </p:anim>
                                    <p:anim calcmode="lin" valueType="num">
                                      <p:cBhvr>
                                        <p:cTn id="18" dur="1000" fill="hold"/>
                                        <p:tgtEl>
                                          <p:spTgt spid="6"/>
                                        </p:tgtEl>
                                        <p:attrNameLst>
                                          <p:attrName>ppt_h</p:attrName>
                                        </p:attrNameLst>
                                      </p:cBhvr>
                                      <p:tavLst>
                                        <p:tav tm="0">
                                          <p:val>
                                            <p:fltVal val="0"/>
                                          </p:val>
                                        </p:tav>
                                        <p:tav tm="100000">
                                          <p:val>
                                            <p:strVal val="#ppt_h"/>
                                          </p:val>
                                        </p:tav>
                                      </p:tavLst>
                                    </p:anim>
                                    <p:anim calcmode="lin" valueType="num">
                                      <p:cBhvr>
                                        <p:cTn id="19" dur="1000" fill="hold"/>
                                        <p:tgtEl>
                                          <p:spTgt spid="6"/>
                                        </p:tgtEl>
                                        <p:attrNameLst>
                                          <p:attrName>style.rotation</p:attrName>
                                        </p:attrNameLst>
                                      </p:cBhvr>
                                      <p:tavLst>
                                        <p:tav tm="0">
                                          <p:val>
                                            <p:fltVal val="90"/>
                                          </p:val>
                                        </p:tav>
                                        <p:tav tm="100000">
                                          <p:val>
                                            <p:fltVal val="0"/>
                                          </p:val>
                                        </p:tav>
                                      </p:tavLst>
                                    </p:anim>
                                    <p:animEffect transition="in" filter="fade">
                                      <p:cBhvr>
                                        <p:cTn id="20" dur="10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1000" fill="hold"/>
                                        <p:tgtEl>
                                          <p:spTgt spid="8"/>
                                        </p:tgtEl>
                                        <p:attrNameLst>
                                          <p:attrName>ppt_w</p:attrName>
                                        </p:attrNameLst>
                                      </p:cBhvr>
                                      <p:tavLst>
                                        <p:tav tm="0">
                                          <p:val>
                                            <p:fltVal val="0"/>
                                          </p:val>
                                        </p:tav>
                                        <p:tav tm="100000">
                                          <p:val>
                                            <p:strVal val="#ppt_w"/>
                                          </p:val>
                                        </p:tav>
                                      </p:tavLst>
                                    </p:anim>
                                    <p:anim calcmode="lin" valueType="num">
                                      <p:cBhvr>
                                        <p:cTn id="26" dur="1000" fill="hold"/>
                                        <p:tgtEl>
                                          <p:spTgt spid="8"/>
                                        </p:tgtEl>
                                        <p:attrNameLst>
                                          <p:attrName>ppt_h</p:attrName>
                                        </p:attrNameLst>
                                      </p:cBhvr>
                                      <p:tavLst>
                                        <p:tav tm="0">
                                          <p:val>
                                            <p:fltVal val="0"/>
                                          </p:val>
                                        </p:tav>
                                        <p:tav tm="100000">
                                          <p:val>
                                            <p:strVal val="#ppt_h"/>
                                          </p:val>
                                        </p:tav>
                                      </p:tavLst>
                                    </p:anim>
                                    <p:anim calcmode="lin" valueType="num">
                                      <p:cBhvr>
                                        <p:cTn id="27" dur="1000" fill="hold"/>
                                        <p:tgtEl>
                                          <p:spTgt spid="8"/>
                                        </p:tgtEl>
                                        <p:attrNameLst>
                                          <p:attrName>style.rotation</p:attrName>
                                        </p:attrNameLst>
                                      </p:cBhvr>
                                      <p:tavLst>
                                        <p:tav tm="0">
                                          <p:val>
                                            <p:fltVal val="90"/>
                                          </p:val>
                                        </p:tav>
                                        <p:tav tm="100000">
                                          <p:val>
                                            <p:fltVal val="0"/>
                                          </p:val>
                                        </p:tav>
                                      </p:tavLst>
                                    </p:anim>
                                    <p:animEffect transition="in" filter="fade">
                                      <p:cBhvr>
                                        <p:cTn id="28" dur="10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1000" fill="hold"/>
                                        <p:tgtEl>
                                          <p:spTgt spid="11"/>
                                        </p:tgtEl>
                                        <p:attrNameLst>
                                          <p:attrName>ppt_w</p:attrName>
                                        </p:attrNameLst>
                                      </p:cBhvr>
                                      <p:tavLst>
                                        <p:tav tm="0">
                                          <p:val>
                                            <p:fltVal val="0"/>
                                          </p:val>
                                        </p:tav>
                                        <p:tav tm="100000">
                                          <p:val>
                                            <p:strVal val="#ppt_w"/>
                                          </p:val>
                                        </p:tav>
                                      </p:tavLst>
                                    </p:anim>
                                    <p:anim calcmode="lin" valueType="num">
                                      <p:cBhvr>
                                        <p:cTn id="34" dur="1000" fill="hold"/>
                                        <p:tgtEl>
                                          <p:spTgt spid="11"/>
                                        </p:tgtEl>
                                        <p:attrNameLst>
                                          <p:attrName>ppt_h</p:attrName>
                                        </p:attrNameLst>
                                      </p:cBhvr>
                                      <p:tavLst>
                                        <p:tav tm="0">
                                          <p:val>
                                            <p:fltVal val="0"/>
                                          </p:val>
                                        </p:tav>
                                        <p:tav tm="100000">
                                          <p:val>
                                            <p:strVal val="#ppt_h"/>
                                          </p:val>
                                        </p:tav>
                                      </p:tavLst>
                                    </p:anim>
                                    <p:anim calcmode="lin" valueType="num">
                                      <p:cBhvr>
                                        <p:cTn id="35" dur="1000" fill="hold"/>
                                        <p:tgtEl>
                                          <p:spTgt spid="11"/>
                                        </p:tgtEl>
                                        <p:attrNameLst>
                                          <p:attrName>style.rotation</p:attrName>
                                        </p:attrNameLst>
                                      </p:cBhvr>
                                      <p:tavLst>
                                        <p:tav tm="0">
                                          <p:val>
                                            <p:fltVal val="90"/>
                                          </p:val>
                                        </p:tav>
                                        <p:tav tm="100000">
                                          <p:val>
                                            <p:fltVal val="0"/>
                                          </p:val>
                                        </p:tav>
                                      </p:tavLst>
                                    </p:anim>
                                    <p:animEffect transition="in" filter="fade">
                                      <p:cBhvr>
                                        <p:cTn id="36"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zh-CN" altLang="en-US" dirty="0"/>
              <a:t>苏格拉底的反驳</a:t>
            </a:r>
          </a:p>
        </p:txBody>
      </p:sp>
      <p:sp>
        <p:nvSpPr>
          <p:cNvPr id="3" name="Content Placeholder 2"/>
          <p:cNvSpPr>
            <a:spLocks noGrp="1"/>
          </p:cNvSpPr>
          <p:nvPr>
            <p:ph sz="half" idx="1"/>
          </p:nvPr>
        </p:nvSpPr>
        <p:spPr>
          <a:xfrm>
            <a:off x="582491" y="1869600"/>
            <a:ext cx="5802843" cy="3921601"/>
          </a:xfrm>
        </p:spPr>
        <p:txBody>
          <a:bodyPr/>
          <a:lstStyle/>
          <a:p>
            <a:pPr marL="0" indent="0">
              <a:buNone/>
            </a:pPr>
            <a:r>
              <a:rPr lang="en-US" altLang="zh-CN" sz="2400" b="1" dirty="0"/>
              <a:t>1</a:t>
            </a:r>
            <a:r>
              <a:rPr lang="zh-CN" altLang="en-US" sz="2400" b="1" dirty="0"/>
              <a:t>，“正义是强者的利益”是我们看到的表面现象，真实的情况是，所有统治者都认为，统治的好处是属于被统治者的。</a:t>
            </a:r>
            <a:endParaRPr lang="en-US" altLang="zh-CN" sz="2400" b="1" dirty="0"/>
          </a:p>
          <a:p>
            <a:pPr marL="0" indent="0">
              <a:buNone/>
            </a:pPr>
            <a:endParaRPr lang="en-US" altLang="zh-CN" sz="2400" b="1" dirty="0"/>
          </a:p>
          <a:p>
            <a:pPr marL="0" indent="0">
              <a:buNone/>
            </a:pPr>
            <a:r>
              <a:rPr lang="zh-CN" altLang="en-US" sz="2400" b="1" dirty="0"/>
              <a:t>统治是一种技艺          获取报酬是另一种技艺</a:t>
            </a:r>
            <a:endParaRPr lang="en-US" altLang="zh-CN" sz="2400" b="1" dirty="0"/>
          </a:p>
          <a:p>
            <a:pPr marL="0" indent="0">
              <a:buNone/>
            </a:pPr>
            <a:r>
              <a:rPr lang="zh-CN" altLang="en-US" sz="2400" b="1" dirty="0"/>
              <a:t>   </a:t>
            </a:r>
            <a:endParaRPr lang="en-US" altLang="zh-CN" sz="2400" b="1" dirty="0"/>
          </a:p>
          <a:p>
            <a:pPr marL="0" indent="0">
              <a:buNone/>
            </a:pPr>
            <a:r>
              <a:rPr lang="en-US" altLang="zh-CN" sz="2400" b="1" dirty="0"/>
              <a:t>    </a:t>
            </a:r>
            <a:r>
              <a:rPr lang="zh-CN" altLang="en-US" sz="2400" b="1" dirty="0"/>
              <a:t>被统治者                      统治者</a:t>
            </a:r>
          </a:p>
        </p:txBody>
      </p:sp>
      <p:sp>
        <p:nvSpPr>
          <p:cNvPr id="4" name="Content Placeholder 3"/>
          <p:cNvSpPr>
            <a:spLocks noGrp="1"/>
          </p:cNvSpPr>
          <p:nvPr>
            <p:ph sz="half" idx="2"/>
          </p:nvPr>
        </p:nvSpPr>
        <p:spPr/>
        <p:txBody>
          <a:bodyPr/>
          <a:lstStyle/>
          <a:p>
            <a:endParaRPr lang="zh-CN" altLang="en-US"/>
          </a:p>
        </p:txBody>
      </p:sp>
      <p:pic>
        <p:nvPicPr>
          <p:cNvPr id="430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7975" y="104775"/>
            <a:ext cx="4972050" cy="675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8990091" y="905347"/>
            <a:ext cx="1901228"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6781046" y="1140737"/>
            <a:ext cx="4110273" cy="9053"/>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6781046" y="1348966"/>
            <a:ext cx="2697932" cy="905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Down Arrow 10"/>
          <p:cNvSpPr/>
          <p:nvPr/>
        </p:nvSpPr>
        <p:spPr>
          <a:xfrm flipH="1">
            <a:off x="1316863" y="4304665"/>
            <a:ext cx="144855" cy="316871"/>
          </a:xfrm>
          <a:prstGeom prst="downArrow">
            <a:avLst/>
          </a:prstGeom>
          <a:solidFill>
            <a:srgbClr val="FF000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2" name="Down Arrow 11"/>
          <p:cNvSpPr/>
          <p:nvPr/>
        </p:nvSpPr>
        <p:spPr>
          <a:xfrm>
            <a:off x="4145060" y="4254759"/>
            <a:ext cx="127201" cy="316871"/>
          </a:xfrm>
          <a:prstGeom prst="downArrow">
            <a:avLst/>
          </a:prstGeom>
          <a:solidFill>
            <a:srgbClr val="FF000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95590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3010"/>
                                        </p:tgtEl>
                                        <p:attrNameLst>
                                          <p:attrName>style.visibility</p:attrName>
                                        </p:attrNameLst>
                                      </p:cBhvr>
                                      <p:to>
                                        <p:strVal val="visible"/>
                                      </p:to>
                                    </p:set>
                                    <p:animEffect transition="in" filter="randombar(horizontal)">
                                      <p:cBhvr>
                                        <p:cTn id="7" dur="500"/>
                                        <p:tgtEl>
                                          <p:spTgt spid="43010"/>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1000" fill="hold"/>
                                        <p:tgtEl>
                                          <p:spTgt spid="10"/>
                                        </p:tgtEl>
                                        <p:attrNameLst>
                                          <p:attrName>ppt_w</p:attrName>
                                        </p:attrNameLst>
                                      </p:cBhvr>
                                      <p:tavLst>
                                        <p:tav tm="0">
                                          <p:val>
                                            <p:fltVal val="0"/>
                                          </p:val>
                                        </p:tav>
                                        <p:tav tm="100000">
                                          <p:val>
                                            <p:strVal val="#ppt_w"/>
                                          </p:val>
                                        </p:tav>
                                      </p:tavLst>
                                    </p:anim>
                                    <p:anim calcmode="lin" valueType="num">
                                      <p:cBhvr>
                                        <p:cTn id="29" dur="1000" fill="hold"/>
                                        <p:tgtEl>
                                          <p:spTgt spid="10"/>
                                        </p:tgtEl>
                                        <p:attrNameLst>
                                          <p:attrName>ppt_h</p:attrName>
                                        </p:attrNameLst>
                                      </p:cBhvr>
                                      <p:tavLst>
                                        <p:tav tm="0">
                                          <p:val>
                                            <p:fltVal val="0"/>
                                          </p:val>
                                        </p:tav>
                                        <p:tav tm="100000">
                                          <p:val>
                                            <p:strVal val="#ppt_h"/>
                                          </p:val>
                                        </p:tav>
                                      </p:tavLst>
                                    </p:anim>
                                    <p:anim calcmode="lin" valueType="num">
                                      <p:cBhvr>
                                        <p:cTn id="30" dur="1000" fill="hold"/>
                                        <p:tgtEl>
                                          <p:spTgt spid="10"/>
                                        </p:tgtEl>
                                        <p:attrNameLst>
                                          <p:attrName>style.rotation</p:attrName>
                                        </p:attrNameLst>
                                      </p:cBhvr>
                                      <p:tavLst>
                                        <p:tav tm="0">
                                          <p:val>
                                            <p:fltVal val="90"/>
                                          </p:val>
                                        </p:tav>
                                        <p:tav tm="100000">
                                          <p:val>
                                            <p:fltVal val="0"/>
                                          </p:val>
                                        </p:tav>
                                      </p:tavLst>
                                    </p:anim>
                                    <p:animEffect transition="in" filter="fade">
                                      <p:cBhvr>
                                        <p:cTn id="31" dur="1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3">
                                            <p:txEl>
                                              <p:pRg st="0" end="0"/>
                                            </p:txEl>
                                          </p:spTgt>
                                        </p:tgtEl>
                                        <p:attrNameLst>
                                          <p:attrName>style.visibility</p:attrName>
                                        </p:attrNameLst>
                                      </p:cBhvr>
                                      <p:to>
                                        <p:strVal val="visible"/>
                                      </p:to>
                                    </p:set>
                                    <p:animEffect transition="in" filter="circle(in)">
                                      <p:cBhvr>
                                        <p:cTn id="36" dur="2000"/>
                                        <p:tgtEl>
                                          <p:spTgt spid="3">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6" presetClass="entr" presetSubtype="16" fill="hold" nodeType="clickEffect">
                                  <p:stCondLst>
                                    <p:cond delay="0"/>
                                  </p:stCondLst>
                                  <p:childTnLst>
                                    <p:set>
                                      <p:cBhvr>
                                        <p:cTn id="40" dur="1" fill="hold">
                                          <p:stCondLst>
                                            <p:cond delay="0"/>
                                          </p:stCondLst>
                                        </p:cTn>
                                        <p:tgtEl>
                                          <p:spTgt spid="3">
                                            <p:txEl>
                                              <p:pRg st="2" end="2"/>
                                            </p:txEl>
                                          </p:spTgt>
                                        </p:tgtEl>
                                        <p:attrNameLst>
                                          <p:attrName>style.visibility</p:attrName>
                                        </p:attrNameLst>
                                      </p:cBhvr>
                                      <p:to>
                                        <p:strVal val="visible"/>
                                      </p:to>
                                    </p:set>
                                    <p:animEffect transition="in" filter="circle(in)">
                                      <p:cBhvr>
                                        <p:cTn id="41" dur="2000"/>
                                        <p:tgtEl>
                                          <p:spTgt spid="3">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6" presetClass="entr" presetSubtype="16"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circle(in)">
                                      <p:cBhvr>
                                        <p:cTn id="46" dur="20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circle(in)">
                                      <p:cBhvr>
                                        <p:cTn id="51" dur="2000"/>
                                        <p:tgtEl>
                                          <p:spTgt spid="12"/>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nodeType="clickEffect">
                                  <p:stCondLst>
                                    <p:cond delay="0"/>
                                  </p:stCondLst>
                                  <p:childTnLst>
                                    <p:set>
                                      <p:cBhvr>
                                        <p:cTn id="55" dur="1" fill="hold">
                                          <p:stCondLst>
                                            <p:cond delay="0"/>
                                          </p:stCondLst>
                                        </p:cTn>
                                        <p:tgtEl>
                                          <p:spTgt spid="3">
                                            <p:txEl>
                                              <p:pRg st="4" end="4"/>
                                            </p:txEl>
                                          </p:spTgt>
                                        </p:tgtEl>
                                        <p:attrNameLst>
                                          <p:attrName>style.visibility</p:attrName>
                                        </p:attrNameLst>
                                      </p:cBhvr>
                                      <p:to>
                                        <p:strVal val="visible"/>
                                      </p:to>
                                    </p:set>
                                    <p:animEffect transition="in" filter="circle(in)">
                                      <p:cBhvr>
                                        <p:cTn id="56"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normAutofit/>
          </a:bodyPr>
          <a:lstStyle/>
          <a:p>
            <a:pPr marL="0" indent="0">
              <a:buNone/>
            </a:pPr>
            <a:r>
              <a:rPr lang="zh-CN" altLang="en-US" sz="2400" b="1" dirty="0"/>
              <a:t>既然统治者要求获得报酬，那么他们能够获得什么样的报酬呢？</a:t>
            </a:r>
          </a:p>
        </p:txBody>
      </p:sp>
      <p:sp>
        <p:nvSpPr>
          <p:cNvPr id="4" name="Content Placeholder 3"/>
          <p:cNvSpPr>
            <a:spLocks noGrp="1"/>
          </p:cNvSpPr>
          <p:nvPr>
            <p:ph sz="half" idx="2"/>
          </p:nvPr>
        </p:nvSpPr>
        <p:spPr/>
        <p:txBody>
          <a:bodyPr/>
          <a:lstStyle/>
          <a:p>
            <a:endParaRPr lang="zh-CN" altLang="en-US"/>
          </a:p>
        </p:txBody>
      </p:sp>
      <p:pic>
        <p:nvPicPr>
          <p:cNvPr id="440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6575" y="0"/>
            <a:ext cx="4714875" cy="6748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9035358" y="5848539"/>
            <a:ext cx="2326741" cy="2716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7469109" y="6065822"/>
            <a:ext cx="2480649" cy="1810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3713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4034"/>
                                        </p:tgtEl>
                                        <p:attrNameLst>
                                          <p:attrName>style.visibility</p:attrName>
                                        </p:attrNameLst>
                                      </p:cBhvr>
                                      <p:to>
                                        <p:strVal val="visible"/>
                                      </p:to>
                                    </p:set>
                                    <p:animEffect transition="in" filter="randombar(horizontal)">
                                      <p:cBhvr>
                                        <p:cTn id="12" dur="500"/>
                                        <p:tgtEl>
                                          <p:spTgt spid="44034"/>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1000" fill="hold"/>
                                        <p:tgtEl>
                                          <p:spTgt spid="6"/>
                                        </p:tgtEl>
                                        <p:attrNameLst>
                                          <p:attrName>ppt_w</p:attrName>
                                        </p:attrNameLst>
                                      </p:cBhvr>
                                      <p:tavLst>
                                        <p:tav tm="0">
                                          <p:val>
                                            <p:fltVal val="0"/>
                                          </p:val>
                                        </p:tav>
                                        <p:tav tm="100000">
                                          <p:val>
                                            <p:strVal val="#ppt_w"/>
                                          </p:val>
                                        </p:tav>
                                      </p:tavLst>
                                    </p:anim>
                                    <p:anim calcmode="lin" valueType="num">
                                      <p:cBhvr>
                                        <p:cTn id="18" dur="1000" fill="hold"/>
                                        <p:tgtEl>
                                          <p:spTgt spid="6"/>
                                        </p:tgtEl>
                                        <p:attrNameLst>
                                          <p:attrName>ppt_h</p:attrName>
                                        </p:attrNameLst>
                                      </p:cBhvr>
                                      <p:tavLst>
                                        <p:tav tm="0">
                                          <p:val>
                                            <p:fltVal val="0"/>
                                          </p:val>
                                        </p:tav>
                                        <p:tav tm="100000">
                                          <p:val>
                                            <p:strVal val="#ppt_h"/>
                                          </p:val>
                                        </p:tav>
                                      </p:tavLst>
                                    </p:anim>
                                    <p:anim calcmode="lin" valueType="num">
                                      <p:cBhvr>
                                        <p:cTn id="19" dur="1000" fill="hold"/>
                                        <p:tgtEl>
                                          <p:spTgt spid="6"/>
                                        </p:tgtEl>
                                        <p:attrNameLst>
                                          <p:attrName>style.rotation</p:attrName>
                                        </p:attrNameLst>
                                      </p:cBhvr>
                                      <p:tavLst>
                                        <p:tav tm="0">
                                          <p:val>
                                            <p:fltVal val="90"/>
                                          </p:val>
                                        </p:tav>
                                        <p:tav tm="100000">
                                          <p:val>
                                            <p:fltVal val="0"/>
                                          </p:val>
                                        </p:tav>
                                      </p:tavLst>
                                    </p:anim>
                                    <p:animEffect transition="in" filter="fade">
                                      <p:cBhvr>
                                        <p:cTn id="20" dur="10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1000" fill="hold"/>
                                        <p:tgtEl>
                                          <p:spTgt spid="8"/>
                                        </p:tgtEl>
                                        <p:attrNameLst>
                                          <p:attrName>ppt_w</p:attrName>
                                        </p:attrNameLst>
                                      </p:cBhvr>
                                      <p:tavLst>
                                        <p:tav tm="0">
                                          <p:val>
                                            <p:fltVal val="0"/>
                                          </p:val>
                                        </p:tav>
                                        <p:tav tm="100000">
                                          <p:val>
                                            <p:strVal val="#ppt_w"/>
                                          </p:val>
                                        </p:tav>
                                      </p:tavLst>
                                    </p:anim>
                                    <p:anim calcmode="lin" valueType="num">
                                      <p:cBhvr>
                                        <p:cTn id="26" dur="1000" fill="hold"/>
                                        <p:tgtEl>
                                          <p:spTgt spid="8"/>
                                        </p:tgtEl>
                                        <p:attrNameLst>
                                          <p:attrName>ppt_h</p:attrName>
                                        </p:attrNameLst>
                                      </p:cBhvr>
                                      <p:tavLst>
                                        <p:tav tm="0">
                                          <p:val>
                                            <p:fltVal val="0"/>
                                          </p:val>
                                        </p:tav>
                                        <p:tav tm="100000">
                                          <p:val>
                                            <p:strVal val="#ppt_h"/>
                                          </p:val>
                                        </p:tav>
                                      </p:tavLst>
                                    </p:anim>
                                    <p:anim calcmode="lin" valueType="num">
                                      <p:cBhvr>
                                        <p:cTn id="27" dur="1000" fill="hold"/>
                                        <p:tgtEl>
                                          <p:spTgt spid="8"/>
                                        </p:tgtEl>
                                        <p:attrNameLst>
                                          <p:attrName>style.rotation</p:attrName>
                                        </p:attrNameLst>
                                      </p:cBhvr>
                                      <p:tavLst>
                                        <p:tav tm="0">
                                          <p:val>
                                            <p:fltVal val="90"/>
                                          </p:val>
                                        </p:tav>
                                        <p:tav tm="100000">
                                          <p:val>
                                            <p:fltVal val="0"/>
                                          </p:val>
                                        </p:tav>
                                      </p:tavLst>
                                    </p:anim>
                                    <p:animEffect transition="in" filter="fade">
                                      <p:cBhvr>
                                        <p:cTn id="28"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endParaRPr lang="zh-CN" altLang="en-US"/>
          </a:p>
        </p:txBody>
      </p:sp>
      <p:sp>
        <p:nvSpPr>
          <p:cNvPr id="3" name="Content Placeholder 2"/>
          <p:cNvSpPr>
            <a:spLocks noGrp="1"/>
          </p:cNvSpPr>
          <p:nvPr>
            <p:ph sz="half" idx="4294967295"/>
          </p:nvPr>
        </p:nvSpPr>
        <p:spPr>
          <a:xfrm>
            <a:off x="823636" y="2044059"/>
            <a:ext cx="4903788" cy="2505075"/>
          </a:xfrm>
        </p:spPr>
        <p:txBody>
          <a:bodyPr/>
          <a:lstStyle/>
          <a:p>
            <a:r>
              <a:rPr lang="zh-CN" altLang="en-US" sz="2400" b="1" dirty="0"/>
              <a:t>苏格拉底列举了三种统治者可能获得的报酬：</a:t>
            </a:r>
            <a:endParaRPr lang="en-US" altLang="zh-CN" sz="2400" b="1" dirty="0"/>
          </a:p>
          <a:p>
            <a:pPr marL="0" indent="0">
              <a:buNone/>
            </a:pPr>
            <a:r>
              <a:rPr lang="zh-CN" altLang="en-US" sz="2400" b="1" dirty="0"/>
              <a:t> </a:t>
            </a:r>
            <a:endParaRPr lang="en-US" altLang="zh-CN" sz="2400" b="1" dirty="0"/>
          </a:p>
          <a:p>
            <a:pPr marL="0" indent="0">
              <a:buNone/>
            </a:pPr>
            <a:r>
              <a:rPr lang="en-US" altLang="zh-CN" sz="2400" b="1" dirty="0"/>
              <a:t> 1</a:t>
            </a:r>
            <a:r>
              <a:rPr lang="zh-CN" altLang="en-US" sz="2400" b="1" dirty="0"/>
              <a:t>，金钱</a:t>
            </a:r>
            <a:endParaRPr lang="en-US" altLang="zh-CN" sz="2400" b="1" dirty="0"/>
          </a:p>
          <a:p>
            <a:pPr marL="0" indent="0">
              <a:buNone/>
            </a:pPr>
            <a:r>
              <a:rPr lang="zh-CN" altLang="en-US" sz="2400" b="1" dirty="0"/>
              <a:t> </a:t>
            </a:r>
            <a:r>
              <a:rPr lang="en-US" altLang="zh-CN" sz="2400" b="1" dirty="0"/>
              <a:t>2</a:t>
            </a:r>
            <a:r>
              <a:rPr lang="zh-CN" altLang="en-US" sz="2400" b="1" dirty="0"/>
              <a:t>，荣誉</a:t>
            </a:r>
            <a:endParaRPr lang="en-US" altLang="zh-CN" sz="2400" b="1" dirty="0"/>
          </a:p>
          <a:p>
            <a:pPr marL="0" indent="0">
              <a:buNone/>
            </a:pPr>
            <a:r>
              <a:rPr lang="zh-CN" altLang="en-US" sz="2400" b="1" dirty="0"/>
              <a:t> </a:t>
            </a:r>
            <a:r>
              <a:rPr lang="en-US" altLang="zh-CN" sz="2400" b="1" dirty="0"/>
              <a:t>3</a:t>
            </a:r>
            <a:r>
              <a:rPr lang="zh-CN" altLang="en-US" sz="2400" b="1" dirty="0"/>
              <a:t>，惩罚  </a:t>
            </a:r>
            <a:r>
              <a:rPr lang="zh-CN" altLang="en-US" sz="2400" b="1" dirty="0">
                <a:solidFill>
                  <a:srgbClr val="FF0000"/>
                </a:solidFill>
              </a:rPr>
              <a:t>？</a:t>
            </a:r>
          </a:p>
        </p:txBody>
      </p:sp>
      <p:pic>
        <p:nvPicPr>
          <p:cNvPr id="450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375" y="204788"/>
            <a:ext cx="5086350" cy="595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7876515" y="633743"/>
            <a:ext cx="3051018" cy="1810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6699564" y="851026"/>
            <a:ext cx="4146487" cy="1810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699564" y="1131683"/>
            <a:ext cx="37119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Right Brace 10"/>
          <p:cNvSpPr/>
          <p:nvPr/>
        </p:nvSpPr>
        <p:spPr>
          <a:xfrm>
            <a:off x="2245031" y="3337022"/>
            <a:ext cx="307818" cy="443620"/>
          </a:xfrm>
          <a:prstGeom prst="righ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b="1" dirty="0"/>
          </a:p>
        </p:txBody>
      </p:sp>
      <p:sp>
        <p:nvSpPr>
          <p:cNvPr id="13" name="TextBox 12"/>
          <p:cNvSpPr txBox="1"/>
          <p:nvPr/>
        </p:nvSpPr>
        <p:spPr>
          <a:xfrm>
            <a:off x="2634330" y="3327968"/>
            <a:ext cx="778597" cy="830997"/>
          </a:xfrm>
          <a:prstGeom prst="rect">
            <a:avLst/>
          </a:prstGeom>
          <a:noFill/>
        </p:spPr>
        <p:txBody>
          <a:bodyPr wrap="square" rtlCol="0">
            <a:spAutoFit/>
          </a:bodyPr>
          <a:lstStyle/>
          <a:p>
            <a:r>
              <a:rPr lang="zh-CN" altLang="en-US" sz="2400" b="1" dirty="0"/>
              <a:t>利益</a:t>
            </a:r>
          </a:p>
        </p:txBody>
      </p:sp>
      <p:cxnSp>
        <p:nvCxnSpPr>
          <p:cNvPr id="4" name="Straight Connector 3"/>
          <p:cNvCxnSpPr/>
          <p:nvPr/>
        </p:nvCxnSpPr>
        <p:spPr>
          <a:xfrm>
            <a:off x="9048584" y="2576223"/>
            <a:ext cx="1765190" cy="795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6742706" y="2798859"/>
            <a:ext cx="275910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6742706" y="4953663"/>
            <a:ext cx="4063117" cy="55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3697466" y="3327968"/>
            <a:ext cx="1016000" cy="461665"/>
          </a:xfrm>
          <a:prstGeom prst="rect">
            <a:avLst/>
          </a:prstGeom>
          <a:noFill/>
        </p:spPr>
        <p:txBody>
          <a:bodyPr wrap="square" rtlCol="0">
            <a:spAutoFit/>
          </a:bodyPr>
          <a:lstStyle/>
          <a:p>
            <a:r>
              <a:rPr lang="zh-CN" altLang="en-US" sz="2400" b="1" dirty="0">
                <a:solidFill>
                  <a:srgbClr val="FF0000"/>
                </a:solidFill>
              </a:rPr>
              <a:t>耻辱</a:t>
            </a:r>
          </a:p>
        </p:txBody>
      </p:sp>
      <p:sp>
        <p:nvSpPr>
          <p:cNvPr id="5" name="Left Arrow 4"/>
          <p:cNvSpPr/>
          <p:nvPr/>
        </p:nvSpPr>
        <p:spPr>
          <a:xfrm>
            <a:off x="3412927" y="3432961"/>
            <a:ext cx="284539" cy="190123"/>
          </a:xfrm>
          <a:prstGeom prst="leftArrow">
            <a:avLst/>
          </a:prstGeom>
          <a:solidFill>
            <a:srgbClr val="FF000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2400" b="1"/>
          </a:p>
        </p:txBody>
      </p:sp>
    </p:spTree>
    <p:extLst>
      <p:ext uri="{BB962C8B-B14F-4D97-AF65-F5344CB8AC3E}">
        <p14:creationId xmlns:p14="http://schemas.microsoft.com/office/powerpoint/2010/main" val="2367588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5058"/>
                                        </p:tgtEl>
                                        <p:attrNameLst>
                                          <p:attrName>style.visibility</p:attrName>
                                        </p:attrNameLst>
                                      </p:cBhvr>
                                      <p:to>
                                        <p:strVal val="visible"/>
                                      </p:to>
                                    </p:set>
                                    <p:animEffect transition="in" filter="circle(in)">
                                      <p:cBhvr>
                                        <p:cTn id="7" dur="2000"/>
                                        <p:tgtEl>
                                          <p:spTgt spid="45058"/>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1000" fill="hold"/>
                                        <p:tgtEl>
                                          <p:spTgt spid="10"/>
                                        </p:tgtEl>
                                        <p:attrNameLst>
                                          <p:attrName>ppt_w</p:attrName>
                                        </p:attrNameLst>
                                      </p:cBhvr>
                                      <p:tavLst>
                                        <p:tav tm="0">
                                          <p:val>
                                            <p:fltVal val="0"/>
                                          </p:val>
                                        </p:tav>
                                        <p:tav tm="100000">
                                          <p:val>
                                            <p:strVal val="#ppt_w"/>
                                          </p:val>
                                        </p:tav>
                                      </p:tavLst>
                                    </p:anim>
                                    <p:anim calcmode="lin" valueType="num">
                                      <p:cBhvr>
                                        <p:cTn id="29" dur="1000" fill="hold"/>
                                        <p:tgtEl>
                                          <p:spTgt spid="10"/>
                                        </p:tgtEl>
                                        <p:attrNameLst>
                                          <p:attrName>ppt_h</p:attrName>
                                        </p:attrNameLst>
                                      </p:cBhvr>
                                      <p:tavLst>
                                        <p:tav tm="0">
                                          <p:val>
                                            <p:fltVal val="0"/>
                                          </p:val>
                                        </p:tav>
                                        <p:tav tm="100000">
                                          <p:val>
                                            <p:strVal val="#ppt_h"/>
                                          </p:val>
                                        </p:tav>
                                      </p:tavLst>
                                    </p:anim>
                                    <p:anim calcmode="lin" valueType="num">
                                      <p:cBhvr>
                                        <p:cTn id="30" dur="1000" fill="hold"/>
                                        <p:tgtEl>
                                          <p:spTgt spid="10"/>
                                        </p:tgtEl>
                                        <p:attrNameLst>
                                          <p:attrName>style.rotation</p:attrName>
                                        </p:attrNameLst>
                                      </p:cBhvr>
                                      <p:tavLst>
                                        <p:tav tm="0">
                                          <p:val>
                                            <p:fltVal val="90"/>
                                          </p:val>
                                        </p:tav>
                                        <p:tav tm="100000">
                                          <p:val>
                                            <p:fltVal val="0"/>
                                          </p:val>
                                        </p:tav>
                                      </p:tavLst>
                                    </p:anim>
                                    <p:animEffect transition="in" filter="fade">
                                      <p:cBhvr>
                                        <p:cTn id="31" dur="1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3">
                                            <p:txEl>
                                              <p:pRg st="2" end="2"/>
                                            </p:txEl>
                                          </p:spTgt>
                                        </p:tgtEl>
                                        <p:attrNameLst>
                                          <p:attrName>style.visibility</p:attrName>
                                        </p:attrNameLst>
                                      </p:cBhvr>
                                      <p:to>
                                        <p:strVal val="visible"/>
                                      </p:to>
                                    </p:set>
                                    <p:animEffect transition="in" filter="circle(in)">
                                      <p:cBhvr>
                                        <p:cTn id="36" dur="2000"/>
                                        <p:tgtEl>
                                          <p:spTgt spid="3">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6" presetClass="entr" presetSubtype="16" fill="hold" nodeType="clickEffect">
                                  <p:stCondLst>
                                    <p:cond delay="0"/>
                                  </p:stCondLst>
                                  <p:childTnLst>
                                    <p:set>
                                      <p:cBhvr>
                                        <p:cTn id="40" dur="1" fill="hold">
                                          <p:stCondLst>
                                            <p:cond delay="0"/>
                                          </p:stCondLst>
                                        </p:cTn>
                                        <p:tgtEl>
                                          <p:spTgt spid="3">
                                            <p:txEl>
                                              <p:pRg st="3" end="3"/>
                                            </p:txEl>
                                          </p:spTgt>
                                        </p:tgtEl>
                                        <p:attrNameLst>
                                          <p:attrName>style.visibility</p:attrName>
                                        </p:attrNameLst>
                                      </p:cBhvr>
                                      <p:to>
                                        <p:strVal val="visible"/>
                                      </p:to>
                                    </p:set>
                                    <p:animEffect transition="in" filter="circle(in)">
                                      <p:cBhvr>
                                        <p:cTn id="41" dur="2000"/>
                                        <p:tgtEl>
                                          <p:spTgt spid="3">
                                            <p:txEl>
                                              <p:pRg st="3" end="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1" presetClass="entr" presetSubtype="1"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heel(1)">
                                      <p:cBhvr>
                                        <p:cTn id="46" dur="20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nodeType="clickEffect">
                                  <p:stCondLst>
                                    <p:cond delay="0"/>
                                  </p:stCondLst>
                                  <p:childTnLst>
                                    <p:set>
                                      <p:cBhvr>
                                        <p:cTn id="50" dur="1" fill="hold">
                                          <p:stCondLst>
                                            <p:cond delay="0"/>
                                          </p:stCondLst>
                                        </p:cTn>
                                        <p:tgtEl>
                                          <p:spTgt spid="13">
                                            <p:txEl>
                                              <p:pRg st="0" end="0"/>
                                            </p:txEl>
                                          </p:spTgt>
                                        </p:tgtEl>
                                        <p:attrNameLst>
                                          <p:attrName>style.visibility</p:attrName>
                                        </p:attrNameLst>
                                      </p:cBhvr>
                                      <p:to>
                                        <p:strVal val="visible"/>
                                      </p:to>
                                    </p:set>
                                    <p:animEffect transition="in" filter="randombar(horizontal)">
                                      <p:cBhvr>
                                        <p:cTn id="51" dur="500"/>
                                        <p:tgtEl>
                                          <p:spTgt spid="13">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nodeType="clickEffect">
                                  <p:stCondLst>
                                    <p:cond delay="0"/>
                                  </p:stCondLst>
                                  <p:childTnLst>
                                    <p:set>
                                      <p:cBhvr>
                                        <p:cTn id="55" dur="1" fill="hold">
                                          <p:stCondLst>
                                            <p:cond delay="0"/>
                                          </p:stCondLst>
                                        </p:cTn>
                                        <p:tgtEl>
                                          <p:spTgt spid="3">
                                            <p:txEl>
                                              <p:pRg st="4" end="4"/>
                                            </p:txEl>
                                          </p:spTgt>
                                        </p:tgtEl>
                                        <p:attrNameLst>
                                          <p:attrName>style.visibility</p:attrName>
                                        </p:attrNameLst>
                                      </p:cBhvr>
                                      <p:to>
                                        <p:strVal val="visible"/>
                                      </p:to>
                                    </p:set>
                                    <p:animEffect transition="in" filter="circle(in)">
                                      <p:cBhvr>
                                        <p:cTn id="56" dur="2000"/>
                                        <p:tgtEl>
                                          <p:spTgt spid="3">
                                            <p:txEl>
                                              <p:pRg st="4" end="4"/>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1" presetClass="entr" presetSubtype="0" fill="hold" nodeType="clickEffect">
                                  <p:stCondLst>
                                    <p:cond delay="0"/>
                                  </p:stCondLst>
                                  <p:childTnLst>
                                    <p:set>
                                      <p:cBhvr>
                                        <p:cTn id="60" dur="1" fill="hold">
                                          <p:stCondLst>
                                            <p:cond delay="0"/>
                                          </p:stCondLst>
                                        </p:cTn>
                                        <p:tgtEl>
                                          <p:spTgt spid="3">
                                            <p:txEl>
                                              <p:pRg st="4" end="4"/>
                                            </p:txEl>
                                          </p:spTgt>
                                        </p:tgtEl>
                                        <p:attrNameLst>
                                          <p:attrName>style.visibility</p:attrName>
                                        </p:attrNameLst>
                                      </p:cBhvr>
                                      <p:to>
                                        <p:strVal val="visible"/>
                                      </p:to>
                                    </p:set>
                                    <p:anim calcmode="lin" valueType="num">
                                      <p:cBhvr>
                                        <p:cTn id="61"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62"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63"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64" dur="1000"/>
                                        <p:tgtEl>
                                          <p:spTgt spid="3">
                                            <p:txEl>
                                              <p:pRg st="4" end="4"/>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1" presetClass="entr" presetSubtype="0" fill="hold" nodeType="clickEffect">
                                  <p:stCondLst>
                                    <p:cond delay="0"/>
                                  </p:stCondLst>
                                  <p:childTnLst>
                                    <p:set>
                                      <p:cBhvr>
                                        <p:cTn id="68" dur="1" fill="hold">
                                          <p:stCondLst>
                                            <p:cond delay="0"/>
                                          </p:stCondLst>
                                        </p:cTn>
                                        <p:tgtEl>
                                          <p:spTgt spid="4"/>
                                        </p:tgtEl>
                                        <p:attrNameLst>
                                          <p:attrName>style.visibility</p:attrName>
                                        </p:attrNameLst>
                                      </p:cBhvr>
                                      <p:to>
                                        <p:strVal val="visible"/>
                                      </p:to>
                                    </p:set>
                                    <p:anim calcmode="lin" valueType="num">
                                      <p:cBhvr>
                                        <p:cTn id="69" dur="1000" fill="hold"/>
                                        <p:tgtEl>
                                          <p:spTgt spid="4"/>
                                        </p:tgtEl>
                                        <p:attrNameLst>
                                          <p:attrName>ppt_w</p:attrName>
                                        </p:attrNameLst>
                                      </p:cBhvr>
                                      <p:tavLst>
                                        <p:tav tm="0">
                                          <p:val>
                                            <p:fltVal val="0"/>
                                          </p:val>
                                        </p:tav>
                                        <p:tav tm="100000">
                                          <p:val>
                                            <p:strVal val="#ppt_w"/>
                                          </p:val>
                                        </p:tav>
                                      </p:tavLst>
                                    </p:anim>
                                    <p:anim calcmode="lin" valueType="num">
                                      <p:cBhvr>
                                        <p:cTn id="70" dur="1000" fill="hold"/>
                                        <p:tgtEl>
                                          <p:spTgt spid="4"/>
                                        </p:tgtEl>
                                        <p:attrNameLst>
                                          <p:attrName>ppt_h</p:attrName>
                                        </p:attrNameLst>
                                      </p:cBhvr>
                                      <p:tavLst>
                                        <p:tav tm="0">
                                          <p:val>
                                            <p:fltVal val="0"/>
                                          </p:val>
                                        </p:tav>
                                        <p:tav tm="100000">
                                          <p:val>
                                            <p:strVal val="#ppt_h"/>
                                          </p:val>
                                        </p:tav>
                                      </p:tavLst>
                                    </p:anim>
                                    <p:anim calcmode="lin" valueType="num">
                                      <p:cBhvr>
                                        <p:cTn id="71" dur="1000" fill="hold"/>
                                        <p:tgtEl>
                                          <p:spTgt spid="4"/>
                                        </p:tgtEl>
                                        <p:attrNameLst>
                                          <p:attrName>style.rotation</p:attrName>
                                        </p:attrNameLst>
                                      </p:cBhvr>
                                      <p:tavLst>
                                        <p:tav tm="0">
                                          <p:val>
                                            <p:fltVal val="90"/>
                                          </p:val>
                                        </p:tav>
                                        <p:tav tm="100000">
                                          <p:val>
                                            <p:fltVal val="0"/>
                                          </p:val>
                                        </p:tav>
                                      </p:tavLst>
                                    </p:anim>
                                    <p:animEffect transition="in" filter="fade">
                                      <p:cBhvr>
                                        <p:cTn id="72" dur="1000"/>
                                        <p:tgtEl>
                                          <p:spTgt spid="4"/>
                                        </p:tgtEl>
                                      </p:cBhvr>
                                    </p:animEffect>
                                  </p:childTnLst>
                                </p:cTn>
                              </p:par>
                            </p:childTnLst>
                          </p:cTn>
                        </p:par>
                      </p:childTnLst>
                    </p:cTn>
                  </p:par>
                  <p:par>
                    <p:cTn id="73" fill="hold">
                      <p:stCondLst>
                        <p:cond delay="indefinite"/>
                      </p:stCondLst>
                      <p:childTnLst>
                        <p:par>
                          <p:cTn id="74" fill="hold">
                            <p:stCondLst>
                              <p:cond delay="0"/>
                            </p:stCondLst>
                            <p:childTnLst>
                              <p:par>
                                <p:cTn id="75" presetID="31" presetClass="entr" presetSubtype="0" fill="hold" nodeType="clickEffect">
                                  <p:stCondLst>
                                    <p:cond delay="0"/>
                                  </p:stCondLst>
                                  <p:childTnLst>
                                    <p:set>
                                      <p:cBhvr>
                                        <p:cTn id="76" dur="1" fill="hold">
                                          <p:stCondLst>
                                            <p:cond delay="0"/>
                                          </p:stCondLst>
                                        </p:cTn>
                                        <p:tgtEl>
                                          <p:spTgt spid="9"/>
                                        </p:tgtEl>
                                        <p:attrNameLst>
                                          <p:attrName>style.visibility</p:attrName>
                                        </p:attrNameLst>
                                      </p:cBhvr>
                                      <p:to>
                                        <p:strVal val="visible"/>
                                      </p:to>
                                    </p:set>
                                    <p:anim calcmode="lin" valueType="num">
                                      <p:cBhvr>
                                        <p:cTn id="77" dur="1000" fill="hold"/>
                                        <p:tgtEl>
                                          <p:spTgt spid="9"/>
                                        </p:tgtEl>
                                        <p:attrNameLst>
                                          <p:attrName>ppt_w</p:attrName>
                                        </p:attrNameLst>
                                      </p:cBhvr>
                                      <p:tavLst>
                                        <p:tav tm="0">
                                          <p:val>
                                            <p:fltVal val="0"/>
                                          </p:val>
                                        </p:tav>
                                        <p:tav tm="100000">
                                          <p:val>
                                            <p:strVal val="#ppt_w"/>
                                          </p:val>
                                        </p:tav>
                                      </p:tavLst>
                                    </p:anim>
                                    <p:anim calcmode="lin" valueType="num">
                                      <p:cBhvr>
                                        <p:cTn id="78" dur="1000" fill="hold"/>
                                        <p:tgtEl>
                                          <p:spTgt spid="9"/>
                                        </p:tgtEl>
                                        <p:attrNameLst>
                                          <p:attrName>ppt_h</p:attrName>
                                        </p:attrNameLst>
                                      </p:cBhvr>
                                      <p:tavLst>
                                        <p:tav tm="0">
                                          <p:val>
                                            <p:fltVal val="0"/>
                                          </p:val>
                                        </p:tav>
                                        <p:tav tm="100000">
                                          <p:val>
                                            <p:strVal val="#ppt_h"/>
                                          </p:val>
                                        </p:tav>
                                      </p:tavLst>
                                    </p:anim>
                                    <p:anim calcmode="lin" valueType="num">
                                      <p:cBhvr>
                                        <p:cTn id="79" dur="1000" fill="hold"/>
                                        <p:tgtEl>
                                          <p:spTgt spid="9"/>
                                        </p:tgtEl>
                                        <p:attrNameLst>
                                          <p:attrName>style.rotation</p:attrName>
                                        </p:attrNameLst>
                                      </p:cBhvr>
                                      <p:tavLst>
                                        <p:tav tm="0">
                                          <p:val>
                                            <p:fltVal val="90"/>
                                          </p:val>
                                        </p:tav>
                                        <p:tav tm="100000">
                                          <p:val>
                                            <p:fltVal val="0"/>
                                          </p:val>
                                        </p:tav>
                                      </p:tavLst>
                                    </p:anim>
                                    <p:animEffect transition="in" filter="fade">
                                      <p:cBhvr>
                                        <p:cTn id="80" dur="1000"/>
                                        <p:tgtEl>
                                          <p:spTgt spid="9"/>
                                        </p:tgtEl>
                                      </p:cBhvr>
                                    </p:animEffect>
                                  </p:childTnLst>
                                </p:cTn>
                              </p:par>
                            </p:childTnLst>
                          </p:cTn>
                        </p:par>
                      </p:childTnLst>
                    </p:cTn>
                  </p:par>
                  <p:par>
                    <p:cTn id="81" fill="hold">
                      <p:stCondLst>
                        <p:cond delay="indefinite"/>
                      </p:stCondLst>
                      <p:childTnLst>
                        <p:par>
                          <p:cTn id="82" fill="hold">
                            <p:stCondLst>
                              <p:cond delay="0"/>
                            </p:stCondLst>
                            <p:childTnLst>
                              <p:par>
                                <p:cTn id="83" presetID="26" presetClass="entr" presetSubtype="0" fill="hold" nodeType="clickEffect">
                                  <p:stCondLst>
                                    <p:cond delay="0"/>
                                  </p:stCondLst>
                                  <p:childTnLst>
                                    <p:set>
                                      <p:cBhvr>
                                        <p:cTn id="84" dur="1" fill="hold">
                                          <p:stCondLst>
                                            <p:cond delay="0"/>
                                          </p:stCondLst>
                                        </p:cTn>
                                        <p:tgtEl>
                                          <p:spTgt spid="2">
                                            <p:txEl>
                                              <p:pRg st="0" end="0"/>
                                            </p:txEl>
                                          </p:spTgt>
                                        </p:tgtEl>
                                        <p:attrNameLst>
                                          <p:attrName>style.visibility</p:attrName>
                                        </p:attrNameLst>
                                      </p:cBhvr>
                                      <p:to>
                                        <p:strVal val="visible"/>
                                      </p:to>
                                    </p:set>
                                    <p:animEffect transition="in" filter="wipe(down)">
                                      <p:cBhvr>
                                        <p:cTn id="85" dur="580">
                                          <p:stCondLst>
                                            <p:cond delay="0"/>
                                          </p:stCondLst>
                                        </p:cTn>
                                        <p:tgtEl>
                                          <p:spTgt spid="2">
                                            <p:txEl>
                                              <p:pRg st="0" end="0"/>
                                            </p:txEl>
                                          </p:spTgt>
                                        </p:tgtEl>
                                      </p:cBhvr>
                                    </p:animEffect>
                                    <p:anim calcmode="lin" valueType="num">
                                      <p:cBhvr>
                                        <p:cTn id="86" dur="1822" tmFilter="0,0; 0.14,0.36; 0.43,0.73; 0.71,0.91; 1.0,1.0">
                                          <p:stCondLst>
                                            <p:cond delay="0"/>
                                          </p:stCondLst>
                                        </p:cTn>
                                        <p:tgtEl>
                                          <p:spTgt spid="2">
                                            <p:txEl>
                                              <p:pRg st="0" end="0"/>
                                            </p:txEl>
                                          </p:spTgt>
                                        </p:tgtEl>
                                        <p:attrNameLst>
                                          <p:attrName>ppt_x</p:attrName>
                                        </p:attrNameLst>
                                      </p:cBhvr>
                                      <p:tavLst>
                                        <p:tav tm="0">
                                          <p:val>
                                            <p:strVal val="#ppt_x-0.25"/>
                                          </p:val>
                                        </p:tav>
                                        <p:tav tm="100000">
                                          <p:val>
                                            <p:strVal val="#ppt_x"/>
                                          </p:val>
                                        </p:tav>
                                      </p:tavLst>
                                    </p:anim>
                                    <p:anim calcmode="lin" valueType="num">
                                      <p:cBhvr>
                                        <p:cTn id="87" dur="664" tmFilter="0.0,0.0; 0.25,0.07; 0.50,0.2; 0.75,0.467; 1.0,1.0">
                                          <p:stCondLst>
                                            <p:cond delay="0"/>
                                          </p:stCondLst>
                                        </p:cTn>
                                        <p:tgtEl>
                                          <p:spTgt spid="2">
                                            <p:txEl>
                                              <p:pRg st="0" end="0"/>
                                            </p:txEl>
                                          </p:spTgt>
                                        </p:tgtEl>
                                        <p:attrNameLst>
                                          <p:attrName>ppt_y</p:attrName>
                                        </p:attrNameLst>
                                      </p:cBhvr>
                                      <p:tavLst>
                                        <p:tav tm="0" fmla="#ppt_y-sin(pi*$)/3">
                                          <p:val>
                                            <p:fltVal val="0.5"/>
                                          </p:val>
                                        </p:tav>
                                        <p:tav tm="100000">
                                          <p:val>
                                            <p:fltVal val="1"/>
                                          </p:val>
                                        </p:tav>
                                      </p:tavLst>
                                    </p:anim>
                                    <p:anim calcmode="lin" valueType="num">
                                      <p:cBhvr>
                                        <p:cTn id="88" dur="664" tmFilter="0, 0; 0.125,0.2665; 0.25,0.4; 0.375,0.465; 0.5,0.5;  0.625,0.535; 0.75,0.6; 0.875,0.7335; 1,1">
                                          <p:stCondLst>
                                            <p:cond delay="664"/>
                                          </p:stCondLst>
                                        </p:cTn>
                                        <p:tgtEl>
                                          <p:spTgt spid="2">
                                            <p:txEl>
                                              <p:pRg st="0" end="0"/>
                                            </p:txEl>
                                          </p:spTgt>
                                        </p:tgtEl>
                                        <p:attrNameLst>
                                          <p:attrName>ppt_y</p:attrName>
                                        </p:attrNameLst>
                                      </p:cBhvr>
                                      <p:tavLst>
                                        <p:tav tm="0" fmla="#ppt_y-sin(pi*$)/9">
                                          <p:val>
                                            <p:fltVal val="0"/>
                                          </p:val>
                                        </p:tav>
                                        <p:tav tm="100000">
                                          <p:val>
                                            <p:fltVal val="1"/>
                                          </p:val>
                                        </p:tav>
                                      </p:tavLst>
                                    </p:anim>
                                    <p:anim calcmode="lin" valueType="num">
                                      <p:cBhvr>
                                        <p:cTn id="89" dur="332" tmFilter="0, 0; 0.125,0.2665; 0.25,0.4; 0.375,0.465; 0.5,0.5;  0.625,0.535; 0.75,0.6; 0.875,0.7335; 1,1">
                                          <p:stCondLst>
                                            <p:cond delay="1324"/>
                                          </p:stCondLst>
                                        </p:cTn>
                                        <p:tgtEl>
                                          <p:spTgt spid="2">
                                            <p:txEl>
                                              <p:pRg st="0" end="0"/>
                                            </p:txEl>
                                          </p:spTgt>
                                        </p:tgtEl>
                                        <p:attrNameLst>
                                          <p:attrName>ppt_y</p:attrName>
                                        </p:attrNameLst>
                                      </p:cBhvr>
                                      <p:tavLst>
                                        <p:tav tm="0" fmla="#ppt_y-sin(pi*$)/27">
                                          <p:val>
                                            <p:fltVal val="0"/>
                                          </p:val>
                                        </p:tav>
                                        <p:tav tm="100000">
                                          <p:val>
                                            <p:fltVal val="1"/>
                                          </p:val>
                                        </p:tav>
                                      </p:tavLst>
                                    </p:anim>
                                    <p:anim calcmode="lin" valueType="num">
                                      <p:cBhvr>
                                        <p:cTn id="90" dur="164" tmFilter="0, 0; 0.125,0.2665; 0.25,0.4; 0.375,0.465; 0.5,0.5;  0.625,0.535; 0.75,0.6; 0.875,0.7335; 1,1">
                                          <p:stCondLst>
                                            <p:cond delay="1656"/>
                                          </p:stCondLst>
                                        </p:cTn>
                                        <p:tgtEl>
                                          <p:spTgt spid="2">
                                            <p:txEl>
                                              <p:pRg st="0" end="0"/>
                                            </p:txEl>
                                          </p:spTgt>
                                        </p:tgtEl>
                                        <p:attrNameLst>
                                          <p:attrName>ppt_y</p:attrName>
                                        </p:attrNameLst>
                                      </p:cBhvr>
                                      <p:tavLst>
                                        <p:tav tm="0" fmla="#ppt_y-sin(pi*$)/81">
                                          <p:val>
                                            <p:fltVal val="0"/>
                                          </p:val>
                                        </p:tav>
                                        <p:tav tm="100000">
                                          <p:val>
                                            <p:fltVal val="1"/>
                                          </p:val>
                                        </p:tav>
                                      </p:tavLst>
                                    </p:anim>
                                    <p:animScale>
                                      <p:cBhvr>
                                        <p:cTn id="91" dur="26">
                                          <p:stCondLst>
                                            <p:cond delay="650"/>
                                          </p:stCondLst>
                                        </p:cTn>
                                        <p:tgtEl>
                                          <p:spTgt spid="2">
                                            <p:txEl>
                                              <p:pRg st="0" end="0"/>
                                            </p:txEl>
                                          </p:spTgt>
                                        </p:tgtEl>
                                      </p:cBhvr>
                                      <p:to x="100000" y="60000"/>
                                    </p:animScale>
                                    <p:animScale>
                                      <p:cBhvr>
                                        <p:cTn id="92" dur="166" decel="50000">
                                          <p:stCondLst>
                                            <p:cond delay="676"/>
                                          </p:stCondLst>
                                        </p:cTn>
                                        <p:tgtEl>
                                          <p:spTgt spid="2">
                                            <p:txEl>
                                              <p:pRg st="0" end="0"/>
                                            </p:txEl>
                                          </p:spTgt>
                                        </p:tgtEl>
                                      </p:cBhvr>
                                      <p:to x="100000" y="100000"/>
                                    </p:animScale>
                                    <p:animScale>
                                      <p:cBhvr>
                                        <p:cTn id="93" dur="26">
                                          <p:stCondLst>
                                            <p:cond delay="1312"/>
                                          </p:stCondLst>
                                        </p:cTn>
                                        <p:tgtEl>
                                          <p:spTgt spid="2">
                                            <p:txEl>
                                              <p:pRg st="0" end="0"/>
                                            </p:txEl>
                                          </p:spTgt>
                                        </p:tgtEl>
                                      </p:cBhvr>
                                      <p:to x="100000" y="80000"/>
                                    </p:animScale>
                                    <p:animScale>
                                      <p:cBhvr>
                                        <p:cTn id="94" dur="166" decel="50000">
                                          <p:stCondLst>
                                            <p:cond delay="1338"/>
                                          </p:stCondLst>
                                        </p:cTn>
                                        <p:tgtEl>
                                          <p:spTgt spid="2">
                                            <p:txEl>
                                              <p:pRg st="0" end="0"/>
                                            </p:txEl>
                                          </p:spTgt>
                                        </p:tgtEl>
                                      </p:cBhvr>
                                      <p:to x="100000" y="100000"/>
                                    </p:animScale>
                                    <p:animScale>
                                      <p:cBhvr>
                                        <p:cTn id="95" dur="26">
                                          <p:stCondLst>
                                            <p:cond delay="1642"/>
                                          </p:stCondLst>
                                        </p:cTn>
                                        <p:tgtEl>
                                          <p:spTgt spid="2">
                                            <p:txEl>
                                              <p:pRg st="0" end="0"/>
                                            </p:txEl>
                                          </p:spTgt>
                                        </p:tgtEl>
                                      </p:cBhvr>
                                      <p:to x="100000" y="90000"/>
                                    </p:animScale>
                                    <p:animScale>
                                      <p:cBhvr>
                                        <p:cTn id="96" dur="166" decel="50000">
                                          <p:stCondLst>
                                            <p:cond delay="1668"/>
                                          </p:stCondLst>
                                        </p:cTn>
                                        <p:tgtEl>
                                          <p:spTgt spid="2">
                                            <p:txEl>
                                              <p:pRg st="0" end="0"/>
                                            </p:txEl>
                                          </p:spTgt>
                                        </p:tgtEl>
                                      </p:cBhvr>
                                      <p:to x="100000" y="100000"/>
                                    </p:animScale>
                                    <p:animScale>
                                      <p:cBhvr>
                                        <p:cTn id="97" dur="26">
                                          <p:stCondLst>
                                            <p:cond delay="1808"/>
                                          </p:stCondLst>
                                        </p:cTn>
                                        <p:tgtEl>
                                          <p:spTgt spid="2">
                                            <p:txEl>
                                              <p:pRg st="0" end="0"/>
                                            </p:txEl>
                                          </p:spTgt>
                                        </p:tgtEl>
                                      </p:cBhvr>
                                      <p:to x="100000" y="95000"/>
                                    </p:animScale>
                                    <p:animScale>
                                      <p:cBhvr>
                                        <p:cTn id="98" dur="166" decel="50000">
                                          <p:stCondLst>
                                            <p:cond delay="1834"/>
                                          </p:stCondLst>
                                        </p:cTn>
                                        <p:tgtEl>
                                          <p:spTgt spid="2">
                                            <p:txEl>
                                              <p:pRg st="0" end="0"/>
                                            </p:txEl>
                                          </p:spTgt>
                                        </p:tgtEl>
                                      </p:cBhvr>
                                      <p:to x="100000" y="100000"/>
                                    </p:animScale>
                                  </p:childTnLst>
                                </p:cTn>
                              </p:par>
                            </p:childTnLst>
                          </p:cTn>
                        </p:par>
                      </p:childTnLst>
                    </p:cTn>
                  </p:par>
                  <p:par>
                    <p:cTn id="99" fill="hold">
                      <p:stCondLst>
                        <p:cond delay="indefinite"/>
                      </p:stCondLst>
                      <p:childTnLst>
                        <p:par>
                          <p:cTn id="100" fill="hold">
                            <p:stCondLst>
                              <p:cond delay="0"/>
                            </p:stCondLst>
                            <p:childTnLst>
                              <p:par>
                                <p:cTn id="101" presetID="6" presetClass="entr" presetSubtype="16" fill="hold" grpId="0" nodeType="clickEffect">
                                  <p:stCondLst>
                                    <p:cond delay="0"/>
                                  </p:stCondLst>
                                  <p:childTnLst>
                                    <p:set>
                                      <p:cBhvr>
                                        <p:cTn id="102" dur="1" fill="hold">
                                          <p:stCondLst>
                                            <p:cond delay="0"/>
                                          </p:stCondLst>
                                        </p:cTn>
                                        <p:tgtEl>
                                          <p:spTgt spid="5"/>
                                        </p:tgtEl>
                                        <p:attrNameLst>
                                          <p:attrName>style.visibility</p:attrName>
                                        </p:attrNameLst>
                                      </p:cBhvr>
                                      <p:to>
                                        <p:strVal val="visible"/>
                                      </p:to>
                                    </p:set>
                                    <p:animEffect transition="in" filter="circle(in)">
                                      <p:cBhvr>
                                        <p:cTn id="103" dur="2000"/>
                                        <p:tgtEl>
                                          <p:spTgt spid="5"/>
                                        </p:tgtEl>
                                      </p:cBhvr>
                                    </p:animEffect>
                                  </p:childTnLst>
                                </p:cTn>
                              </p:par>
                            </p:childTnLst>
                          </p:cTn>
                        </p:par>
                      </p:childTnLst>
                    </p:cTn>
                  </p:par>
                  <p:par>
                    <p:cTn id="104" fill="hold">
                      <p:stCondLst>
                        <p:cond delay="indefinite"/>
                      </p:stCondLst>
                      <p:childTnLst>
                        <p:par>
                          <p:cTn id="105" fill="hold">
                            <p:stCondLst>
                              <p:cond delay="0"/>
                            </p:stCondLst>
                            <p:childTnLst>
                              <p:par>
                                <p:cTn id="106" presetID="31" presetClass="entr" presetSubtype="0" fill="hold" nodeType="clickEffect">
                                  <p:stCondLst>
                                    <p:cond delay="0"/>
                                  </p:stCondLst>
                                  <p:childTnLst>
                                    <p:set>
                                      <p:cBhvr>
                                        <p:cTn id="107" dur="1" fill="hold">
                                          <p:stCondLst>
                                            <p:cond delay="0"/>
                                          </p:stCondLst>
                                        </p:cTn>
                                        <p:tgtEl>
                                          <p:spTgt spid="15"/>
                                        </p:tgtEl>
                                        <p:attrNameLst>
                                          <p:attrName>style.visibility</p:attrName>
                                        </p:attrNameLst>
                                      </p:cBhvr>
                                      <p:to>
                                        <p:strVal val="visible"/>
                                      </p:to>
                                    </p:set>
                                    <p:anim calcmode="lin" valueType="num">
                                      <p:cBhvr>
                                        <p:cTn id="108" dur="1000" fill="hold"/>
                                        <p:tgtEl>
                                          <p:spTgt spid="15"/>
                                        </p:tgtEl>
                                        <p:attrNameLst>
                                          <p:attrName>ppt_w</p:attrName>
                                        </p:attrNameLst>
                                      </p:cBhvr>
                                      <p:tavLst>
                                        <p:tav tm="0">
                                          <p:val>
                                            <p:fltVal val="0"/>
                                          </p:val>
                                        </p:tav>
                                        <p:tav tm="100000">
                                          <p:val>
                                            <p:strVal val="#ppt_w"/>
                                          </p:val>
                                        </p:tav>
                                      </p:tavLst>
                                    </p:anim>
                                    <p:anim calcmode="lin" valueType="num">
                                      <p:cBhvr>
                                        <p:cTn id="109" dur="1000" fill="hold"/>
                                        <p:tgtEl>
                                          <p:spTgt spid="15"/>
                                        </p:tgtEl>
                                        <p:attrNameLst>
                                          <p:attrName>ppt_h</p:attrName>
                                        </p:attrNameLst>
                                      </p:cBhvr>
                                      <p:tavLst>
                                        <p:tav tm="0">
                                          <p:val>
                                            <p:fltVal val="0"/>
                                          </p:val>
                                        </p:tav>
                                        <p:tav tm="100000">
                                          <p:val>
                                            <p:strVal val="#ppt_h"/>
                                          </p:val>
                                        </p:tav>
                                      </p:tavLst>
                                    </p:anim>
                                    <p:anim calcmode="lin" valueType="num">
                                      <p:cBhvr>
                                        <p:cTn id="110" dur="1000" fill="hold"/>
                                        <p:tgtEl>
                                          <p:spTgt spid="15"/>
                                        </p:tgtEl>
                                        <p:attrNameLst>
                                          <p:attrName>style.rotation</p:attrName>
                                        </p:attrNameLst>
                                      </p:cBhvr>
                                      <p:tavLst>
                                        <p:tav tm="0">
                                          <p:val>
                                            <p:fltVal val="90"/>
                                          </p:val>
                                        </p:tav>
                                        <p:tav tm="100000">
                                          <p:val>
                                            <p:fltVal val="0"/>
                                          </p:val>
                                        </p:tav>
                                      </p:tavLst>
                                    </p:anim>
                                    <p:animEffect transition="in" filter="fade">
                                      <p:cBhvr>
                                        <p:cTn id="111"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70195" y="-140711"/>
            <a:ext cx="10840914" cy="1260000"/>
          </a:xfrm>
        </p:spPr>
        <p:txBody>
          <a:bodyPr>
            <a:normAutofit fontScale="90000"/>
          </a:bodyPr>
          <a:lstStyle/>
          <a:p>
            <a:pPr algn="l"/>
            <a:br>
              <a:rPr lang="en-US" altLang="zh-CN" dirty="0"/>
            </a:br>
            <a:r>
              <a:rPr lang="zh-CN" altLang="en-US" sz="3100" b="1" dirty="0"/>
              <a:t>苏格拉底确立了新的“真正的统治者”概念</a:t>
            </a:r>
            <a:br>
              <a:rPr lang="en-US" altLang="zh-CN" sz="2200" dirty="0"/>
            </a:br>
            <a:endParaRPr lang="zh-CN" altLang="en-US" sz="2200" dirty="0"/>
          </a:p>
        </p:txBody>
      </p:sp>
      <p:sp>
        <p:nvSpPr>
          <p:cNvPr id="3" name="Content Placeholder 2"/>
          <p:cNvSpPr>
            <a:spLocks noGrp="1"/>
          </p:cNvSpPr>
          <p:nvPr>
            <p:ph sz="half" idx="4294967295"/>
          </p:nvPr>
        </p:nvSpPr>
        <p:spPr>
          <a:xfrm>
            <a:off x="0" y="1925638"/>
            <a:ext cx="6088063" cy="3921125"/>
          </a:xfrm>
        </p:spPr>
        <p:txBody>
          <a:bodyPr/>
          <a:lstStyle/>
          <a:p>
            <a:pPr marL="0" indent="0">
              <a:buNone/>
            </a:pPr>
            <a:r>
              <a:rPr lang="zh-CN" altLang="en-US" sz="2000" b="1" dirty="0"/>
              <a:t>特：强者</a:t>
            </a:r>
            <a:r>
              <a:rPr lang="en-US" altLang="zh-CN" sz="2000" b="1" dirty="0"/>
              <a:t>—</a:t>
            </a:r>
            <a:r>
              <a:rPr lang="zh-CN" altLang="en-US" sz="2000" b="1" dirty="0"/>
              <a:t>真正的统治者</a:t>
            </a:r>
            <a:r>
              <a:rPr lang="en-US" altLang="zh-CN" sz="2000" b="1" dirty="0"/>
              <a:t>—</a:t>
            </a:r>
            <a:r>
              <a:rPr lang="zh-CN" altLang="en-US" sz="2000" b="1" dirty="0"/>
              <a:t>为自己的利益而统治</a:t>
            </a:r>
            <a:endParaRPr lang="en-US" altLang="zh-CN" sz="2000" b="1" dirty="0"/>
          </a:p>
          <a:p>
            <a:endParaRPr lang="en-US" altLang="zh-CN" b="1" dirty="0"/>
          </a:p>
          <a:p>
            <a:pPr marL="0" indent="0">
              <a:buNone/>
            </a:pPr>
            <a:endParaRPr lang="en-US" altLang="zh-CN" b="1" dirty="0"/>
          </a:p>
          <a:p>
            <a:pPr marL="0" indent="0">
              <a:buNone/>
            </a:pPr>
            <a:r>
              <a:rPr lang="zh-CN" altLang="en-US" sz="2000" b="1" dirty="0"/>
              <a:t>苏：                       统治</a:t>
            </a:r>
          </a:p>
          <a:p>
            <a:pPr marL="0" indent="0">
              <a:buNone/>
            </a:pPr>
            <a:r>
              <a:rPr lang="zh-CN" altLang="en-US" sz="2000" b="1" dirty="0"/>
              <a:t>    统治技艺                      受雇取酬技艺   </a:t>
            </a:r>
            <a:endParaRPr lang="en-US" altLang="zh-CN" sz="2000" b="1" dirty="0"/>
          </a:p>
          <a:p>
            <a:pPr marL="0" indent="0">
              <a:buNone/>
            </a:pPr>
            <a:r>
              <a:rPr lang="zh-CN" altLang="en-US" sz="2000" b="1" dirty="0"/>
              <a:t>照看被统治者的利益     统治者要求报酬</a:t>
            </a:r>
            <a:endParaRPr lang="en-US" altLang="zh-CN" sz="2000" b="1" dirty="0"/>
          </a:p>
          <a:p>
            <a:pPr marL="0" indent="0">
              <a:buNone/>
            </a:pPr>
            <a:r>
              <a:rPr lang="en-US" altLang="zh-CN" sz="2000" b="1" dirty="0"/>
              <a:t>      </a:t>
            </a:r>
          </a:p>
          <a:p>
            <a:pPr marL="0" indent="0">
              <a:buNone/>
            </a:pPr>
            <a:r>
              <a:rPr lang="en-US" altLang="zh-CN" sz="2000" b="1" dirty="0"/>
              <a:t>       </a:t>
            </a:r>
            <a:endParaRPr lang="zh-CN" altLang="en-US" sz="2000" b="1" dirty="0"/>
          </a:p>
        </p:txBody>
      </p:sp>
      <p:cxnSp>
        <p:nvCxnSpPr>
          <p:cNvPr id="9" name="Straight Arrow Connector 8"/>
          <p:cNvCxnSpPr/>
          <p:nvPr/>
        </p:nvCxnSpPr>
        <p:spPr>
          <a:xfrm>
            <a:off x="1222218" y="4798337"/>
            <a:ext cx="1258432" cy="47983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2544024" y="4798337"/>
            <a:ext cx="1077362" cy="47983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606392" y="5511943"/>
            <a:ext cx="4697128" cy="400110"/>
          </a:xfrm>
          <a:prstGeom prst="rect">
            <a:avLst/>
          </a:prstGeom>
          <a:noFill/>
        </p:spPr>
        <p:txBody>
          <a:bodyPr wrap="square" rtlCol="0">
            <a:spAutoFit/>
          </a:bodyPr>
          <a:lstStyle/>
          <a:p>
            <a:r>
              <a:rPr lang="zh-CN" altLang="en-US" sz="2000" b="1" dirty="0"/>
              <a:t>真正的统治者</a:t>
            </a:r>
            <a:r>
              <a:rPr lang="en-US" altLang="zh-CN" sz="2000" b="1" dirty="0"/>
              <a:t>—</a:t>
            </a:r>
            <a:r>
              <a:rPr lang="zh-CN" altLang="en-US" sz="2000" b="1" dirty="0"/>
              <a:t>只谋求被统治者的利益</a:t>
            </a:r>
          </a:p>
        </p:txBody>
      </p:sp>
      <p:sp>
        <p:nvSpPr>
          <p:cNvPr id="14" name="Plus 13"/>
          <p:cNvSpPr/>
          <p:nvPr/>
        </p:nvSpPr>
        <p:spPr>
          <a:xfrm>
            <a:off x="2209044" y="3841193"/>
            <a:ext cx="334980" cy="325926"/>
          </a:xfrm>
          <a:prstGeom prst="mathPlus">
            <a:avLst/>
          </a:prstGeom>
          <a:solidFill>
            <a:srgbClr val="FF000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b="1"/>
          </a:p>
        </p:txBody>
      </p:sp>
      <p:sp>
        <p:nvSpPr>
          <p:cNvPr id="15" name="Left Brace 14"/>
          <p:cNvSpPr/>
          <p:nvPr/>
        </p:nvSpPr>
        <p:spPr>
          <a:xfrm>
            <a:off x="4906976" y="3939936"/>
            <a:ext cx="253497" cy="67901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4863" y="1370089"/>
            <a:ext cx="5748646" cy="2411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Box 15"/>
          <p:cNvSpPr txBox="1"/>
          <p:nvPr/>
        </p:nvSpPr>
        <p:spPr>
          <a:xfrm>
            <a:off x="5160473" y="3841193"/>
            <a:ext cx="834390" cy="1015663"/>
          </a:xfrm>
          <a:prstGeom prst="rect">
            <a:avLst/>
          </a:prstGeom>
          <a:noFill/>
        </p:spPr>
        <p:txBody>
          <a:bodyPr wrap="square" rtlCol="0">
            <a:spAutoFit/>
          </a:bodyPr>
          <a:lstStyle/>
          <a:p>
            <a:r>
              <a:rPr lang="zh-CN" altLang="en-US" sz="2000" b="1" dirty="0"/>
              <a:t>金钱</a:t>
            </a:r>
            <a:endParaRPr lang="en-US" altLang="zh-CN" sz="2000" b="1" dirty="0"/>
          </a:p>
          <a:p>
            <a:r>
              <a:rPr lang="zh-CN" altLang="en-US" sz="2000" b="1" dirty="0"/>
              <a:t>荣誉</a:t>
            </a:r>
            <a:endParaRPr lang="en-US" altLang="zh-CN" sz="2000" b="1" dirty="0"/>
          </a:p>
          <a:p>
            <a:r>
              <a:rPr lang="zh-CN" altLang="en-US" sz="2000" b="1" dirty="0"/>
              <a:t>惩罚</a:t>
            </a:r>
          </a:p>
        </p:txBody>
      </p:sp>
      <p:sp>
        <p:nvSpPr>
          <p:cNvPr id="17" name="Right Brace 16"/>
          <p:cNvSpPr/>
          <p:nvPr/>
        </p:nvSpPr>
        <p:spPr>
          <a:xfrm>
            <a:off x="5955674" y="4055943"/>
            <a:ext cx="296536" cy="34565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a:p>
        </p:txBody>
      </p:sp>
      <p:sp>
        <p:nvSpPr>
          <p:cNvPr id="19" name="TextBox 18"/>
          <p:cNvSpPr txBox="1"/>
          <p:nvPr/>
        </p:nvSpPr>
        <p:spPr>
          <a:xfrm>
            <a:off x="6355080" y="4032269"/>
            <a:ext cx="1188720" cy="400110"/>
          </a:xfrm>
          <a:prstGeom prst="rect">
            <a:avLst/>
          </a:prstGeom>
          <a:noFill/>
        </p:spPr>
        <p:txBody>
          <a:bodyPr wrap="square" rtlCol="0">
            <a:spAutoFit/>
          </a:bodyPr>
          <a:lstStyle/>
          <a:p>
            <a:r>
              <a:rPr lang="zh-CN" altLang="en-US" sz="2000" dirty="0"/>
              <a:t>耻辱</a:t>
            </a:r>
          </a:p>
        </p:txBody>
      </p:sp>
    </p:spTree>
    <p:extLst>
      <p:ext uri="{BB962C8B-B14F-4D97-AF65-F5344CB8AC3E}">
        <p14:creationId xmlns:p14="http://schemas.microsoft.com/office/powerpoint/2010/main" val="67062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circle(in)">
                                      <p:cBhvr>
                                        <p:cTn id="7" dur="20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iterate type="lt">
                                    <p:tmPct val="0"/>
                                  </p:iterate>
                                  <p:childTnLst>
                                    <p:set>
                                      <p:cBhvr>
                                        <p:cTn id="11" dur="1" fill="hold">
                                          <p:stCondLst>
                                            <p:cond delay="0"/>
                                          </p:stCondLst>
                                        </p:cTn>
                                        <p:tgtEl>
                                          <p:spTgt spid="5"/>
                                        </p:tgtEl>
                                        <p:attrNameLst>
                                          <p:attrName>style.visibility</p:attrName>
                                        </p:attrNameLst>
                                      </p:cBhvr>
                                      <p:to>
                                        <p:strVal val="visible"/>
                                      </p:to>
                                    </p:set>
                                    <p:animEffect transition="in" filter="circle(in)">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circle(in)">
                                      <p:cBhvr>
                                        <p:cTn id="17" dur="20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ircle(in)">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1"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p:cTn id="32" dur="1000" fill="hold"/>
                                        <p:tgtEl>
                                          <p:spTgt spid="14"/>
                                        </p:tgtEl>
                                        <p:attrNameLst>
                                          <p:attrName>ppt_w</p:attrName>
                                        </p:attrNameLst>
                                      </p:cBhvr>
                                      <p:tavLst>
                                        <p:tav tm="0">
                                          <p:val>
                                            <p:fltVal val="0"/>
                                          </p:val>
                                        </p:tav>
                                        <p:tav tm="100000">
                                          <p:val>
                                            <p:strVal val="#ppt_w"/>
                                          </p:val>
                                        </p:tav>
                                      </p:tavLst>
                                    </p:anim>
                                    <p:anim calcmode="lin" valueType="num">
                                      <p:cBhvr>
                                        <p:cTn id="33" dur="1000" fill="hold"/>
                                        <p:tgtEl>
                                          <p:spTgt spid="14"/>
                                        </p:tgtEl>
                                        <p:attrNameLst>
                                          <p:attrName>ppt_h</p:attrName>
                                        </p:attrNameLst>
                                      </p:cBhvr>
                                      <p:tavLst>
                                        <p:tav tm="0">
                                          <p:val>
                                            <p:fltVal val="0"/>
                                          </p:val>
                                        </p:tav>
                                        <p:tav tm="100000">
                                          <p:val>
                                            <p:strVal val="#ppt_h"/>
                                          </p:val>
                                        </p:tav>
                                      </p:tavLst>
                                    </p:anim>
                                    <p:anim calcmode="lin" valueType="num">
                                      <p:cBhvr>
                                        <p:cTn id="34" dur="1000" fill="hold"/>
                                        <p:tgtEl>
                                          <p:spTgt spid="14"/>
                                        </p:tgtEl>
                                        <p:attrNameLst>
                                          <p:attrName>style.rotation</p:attrName>
                                        </p:attrNameLst>
                                      </p:cBhvr>
                                      <p:tavLst>
                                        <p:tav tm="0">
                                          <p:val>
                                            <p:fltVal val="90"/>
                                          </p:val>
                                        </p:tav>
                                        <p:tav tm="100000">
                                          <p:val>
                                            <p:fltVal val="0"/>
                                          </p:val>
                                        </p:tav>
                                      </p:tavLst>
                                    </p:anim>
                                    <p:animEffect transition="in" filter="fade">
                                      <p:cBhvr>
                                        <p:cTn id="35" dur="10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circle(in)">
                                      <p:cBhvr>
                                        <p:cTn id="40" dur="2000"/>
                                        <p:tgtEl>
                                          <p:spTgt spid="3">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ntr" presetSubtype="16"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circle(in)">
                                      <p:cBhvr>
                                        <p:cTn id="45" dur="2000"/>
                                        <p:tgtEl>
                                          <p:spTgt spid="15"/>
                                        </p:tgtEl>
                                      </p:cBhvr>
                                    </p:animEffect>
                                  </p:childTnLst>
                                </p:cTn>
                              </p:par>
                            </p:childTnLst>
                          </p:cTn>
                        </p:par>
                      </p:childTnLst>
                    </p:cTn>
                  </p:par>
                  <p:par>
                    <p:cTn id="46" fill="hold">
                      <p:stCondLst>
                        <p:cond delay="indefinite"/>
                      </p:stCondLst>
                      <p:childTnLst>
                        <p:par>
                          <p:cTn id="47" fill="hold">
                            <p:stCondLst>
                              <p:cond delay="0"/>
                            </p:stCondLst>
                            <p:childTnLst>
                              <p:par>
                                <p:cTn id="48" presetID="6" presetClass="entr" presetSubtype="16" fill="hold" nodeType="clickEffect">
                                  <p:stCondLst>
                                    <p:cond delay="0"/>
                                  </p:stCondLst>
                                  <p:childTnLst>
                                    <p:set>
                                      <p:cBhvr>
                                        <p:cTn id="49" dur="1" fill="hold">
                                          <p:stCondLst>
                                            <p:cond delay="0"/>
                                          </p:stCondLst>
                                        </p:cTn>
                                        <p:tgtEl>
                                          <p:spTgt spid="16">
                                            <p:txEl>
                                              <p:pRg st="0" end="0"/>
                                            </p:txEl>
                                          </p:spTgt>
                                        </p:tgtEl>
                                        <p:attrNameLst>
                                          <p:attrName>style.visibility</p:attrName>
                                        </p:attrNameLst>
                                      </p:cBhvr>
                                      <p:to>
                                        <p:strVal val="visible"/>
                                      </p:to>
                                    </p:set>
                                    <p:animEffect transition="in" filter="circle(in)">
                                      <p:cBhvr>
                                        <p:cTn id="50" dur="2000"/>
                                        <p:tgtEl>
                                          <p:spTgt spid="16">
                                            <p:txEl>
                                              <p:pRg st="0" end="0"/>
                                            </p:txEl>
                                          </p:spTgt>
                                        </p:tgtEl>
                                      </p:cBhvr>
                                    </p:animEffect>
                                  </p:childTnLst>
                                </p:cTn>
                              </p:par>
                              <p:par>
                                <p:cTn id="51" presetID="6" presetClass="entr" presetSubtype="16" fill="hold" nodeType="withEffect">
                                  <p:stCondLst>
                                    <p:cond delay="0"/>
                                  </p:stCondLst>
                                  <p:childTnLst>
                                    <p:set>
                                      <p:cBhvr>
                                        <p:cTn id="52" dur="1" fill="hold">
                                          <p:stCondLst>
                                            <p:cond delay="0"/>
                                          </p:stCondLst>
                                        </p:cTn>
                                        <p:tgtEl>
                                          <p:spTgt spid="16">
                                            <p:txEl>
                                              <p:pRg st="1" end="1"/>
                                            </p:txEl>
                                          </p:spTgt>
                                        </p:tgtEl>
                                        <p:attrNameLst>
                                          <p:attrName>style.visibility</p:attrName>
                                        </p:attrNameLst>
                                      </p:cBhvr>
                                      <p:to>
                                        <p:strVal val="visible"/>
                                      </p:to>
                                    </p:set>
                                    <p:animEffect transition="in" filter="circle(in)">
                                      <p:cBhvr>
                                        <p:cTn id="53" dur="2000"/>
                                        <p:tgtEl>
                                          <p:spTgt spid="16">
                                            <p:txEl>
                                              <p:pRg st="1" end="1"/>
                                            </p:txEl>
                                          </p:spTgt>
                                        </p:tgtEl>
                                      </p:cBhvr>
                                    </p:animEffect>
                                  </p:childTnLst>
                                </p:cTn>
                              </p:par>
                              <p:par>
                                <p:cTn id="54" presetID="6" presetClass="entr" presetSubtype="16" fill="hold" nodeType="withEffect">
                                  <p:stCondLst>
                                    <p:cond delay="0"/>
                                  </p:stCondLst>
                                  <p:childTnLst>
                                    <p:set>
                                      <p:cBhvr>
                                        <p:cTn id="55" dur="1" fill="hold">
                                          <p:stCondLst>
                                            <p:cond delay="0"/>
                                          </p:stCondLst>
                                        </p:cTn>
                                        <p:tgtEl>
                                          <p:spTgt spid="16">
                                            <p:txEl>
                                              <p:pRg st="2" end="2"/>
                                            </p:txEl>
                                          </p:spTgt>
                                        </p:tgtEl>
                                        <p:attrNameLst>
                                          <p:attrName>style.visibility</p:attrName>
                                        </p:attrNameLst>
                                      </p:cBhvr>
                                      <p:to>
                                        <p:strVal val="visible"/>
                                      </p:to>
                                    </p:set>
                                    <p:animEffect transition="in" filter="circle(in)">
                                      <p:cBhvr>
                                        <p:cTn id="56" dur="2000"/>
                                        <p:tgtEl>
                                          <p:spTgt spid="16">
                                            <p:txEl>
                                              <p:pRg st="2" end="2"/>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6" presetClass="entr" presetSubtype="16"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circle(in)">
                                      <p:cBhvr>
                                        <p:cTn id="61" dur="2000"/>
                                        <p:tgtEl>
                                          <p:spTgt spid="17"/>
                                        </p:tgtEl>
                                      </p:cBhvr>
                                    </p:animEffect>
                                  </p:childTnLst>
                                </p:cTn>
                              </p:par>
                            </p:childTnLst>
                          </p:cTn>
                        </p:par>
                      </p:childTnLst>
                    </p:cTn>
                  </p:par>
                  <p:par>
                    <p:cTn id="62" fill="hold">
                      <p:stCondLst>
                        <p:cond delay="indefinite"/>
                      </p:stCondLst>
                      <p:childTnLst>
                        <p:par>
                          <p:cTn id="63" fill="hold">
                            <p:stCondLst>
                              <p:cond delay="0"/>
                            </p:stCondLst>
                            <p:childTnLst>
                              <p:par>
                                <p:cTn id="64" presetID="6" presetClass="entr" presetSubtype="16" fill="hold" nodeType="clickEffect">
                                  <p:stCondLst>
                                    <p:cond delay="0"/>
                                  </p:stCondLst>
                                  <p:childTnLst>
                                    <p:set>
                                      <p:cBhvr>
                                        <p:cTn id="65" dur="1" fill="hold">
                                          <p:stCondLst>
                                            <p:cond delay="0"/>
                                          </p:stCondLst>
                                        </p:cTn>
                                        <p:tgtEl>
                                          <p:spTgt spid="19">
                                            <p:txEl>
                                              <p:pRg st="0" end="0"/>
                                            </p:txEl>
                                          </p:spTgt>
                                        </p:tgtEl>
                                        <p:attrNameLst>
                                          <p:attrName>style.visibility</p:attrName>
                                        </p:attrNameLst>
                                      </p:cBhvr>
                                      <p:to>
                                        <p:strVal val="visible"/>
                                      </p:to>
                                    </p:set>
                                    <p:animEffect transition="in" filter="circle(in)">
                                      <p:cBhvr>
                                        <p:cTn id="66" dur="2000"/>
                                        <p:tgtEl>
                                          <p:spTgt spid="19">
                                            <p:txEl>
                                              <p:pRg st="0" end="0"/>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1" presetClass="entr" presetSubtype="0" fill="hold" nodeType="clickEffect">
                                  <p:stCondLst>
                                    <p:cond delay="0"/>
                                  </p:stCondLst>
                                  <p:childTnLst>
                                    <p:set>
                                      <p:cBhvr>
                                        <p:cTn id="70" dur="1" fill="hold">
                                          <p:stCondLst>
                                            <p:cond delay="0"/>
                                          </p:stCondLst>
                                        </p:cTn>
                                        <p:tgtEl>
                                          <p:spTgt spid="9"/>
                                        </p:tgtEl>
                                        <p:attrNameLst>
                                          <p:attrName>style.visibility</p:attrName>
                                        </p:attrNameLst>
                                      </p:cBhvr>
                                      <p:to>
                                        <p:strVal val="visible"/>
                                      </p:to>
                                    </p:set>
                                    <p:anim calcmode="lin" valueType="num">
                                      <p:cBhvr>
                                        <p:cTn id="71" dur="1000" fill="hold"/>
                                        <p:tgtEl>
                                          <p:spTgt spid="9"/>
                                        </p:tgtEl>
                                        <p:attrNameLst>
                                          <p:attrName>ppt_w</p:attrName>
                                        </p:attrNameLst>
                                      </p:cBhvr>
                                      <p:tavLst>
                                        <p:tav tm="0">
                                          <p:val>
                                            <p:fltVal val="0"/>
                                          </p:val>
                                        </p:tav>
                                        <p:tav tm="100000">
                                          <p:val>
                                            <p:strVal val="#ppt_w"/>
                                          </p:val>
                                        </p:tav>
                                      </p:tavLst>
                                    </p:anim>
                                    <p:anim calcmode="lin" valueType="num">
                                      <p:cBhvr>
                                        <p:cTn id="72" dur="1000" fill="hold"/>
                                        <p:tgtEl>
                                          <p:spTgt spid="9"/>
                                        </p:tgtEl>
                                        <p:attrNameLst>
                                          <p:attrName>ppt_h</p:attrName>
                                        </p:attrNameLst>
                                      </p:cBhvr>
                                      <p:tavLst>
                                        <p:tav tm="0">
                                          <p:val>
                                            <p:fltVal val="0"/>
                                          </p:val>
                                        </p:tav>
                                        <p:tav tm="100000">
                                          <p:val>
                                            <p:strVal val="#ppt_h"/>
                                          </p:val>
                                        </p:tav>
                                      </p:tavLst>
                                    </p:anim>
                                    <p:anim calcmode="lin" valueType="num">
                                      <p:cBhvr>
                                        <p:cTn id="73" dur="1000" fill="hold"/>
                                        <p:tgtEl>
                                          <p:spTgt spid="9"/>
                                        </p:tgtEl>
                                        <p:attrNameLst>
                                          <p:attrName>style.rotation</p:attrName>
                                        </p:attrNameLst>
                                      </p:cBhvr>
                                      <p:tavLst>
                                        <p:tav tm="0">
                                          <p:val>
                                            <p:fltVal val="90"/>
                                          </p:val>
                                        </p:tav>
                                        <p:tav tm="100000">
                                          <p:val>
                                            <p:fltVal val="0"/>
                                          </p:val>
                                        </p:tav>
                                      </p:tavLst>
                                    </p:anim>
                                    <p:animEffect transition="in" filter="fade">
                                      <p:cBhvr>
                                        <p:cTn id="74" dur="1000"/>
                                        <p:tgtEl>
                                          <p:spTgt spid="9"/>
                                        </p:tgtEl>
                                      </p:cBhvr>
                                    </p:animEffect>
                                  </p:childTnLst>
                                </p:cTn>
                              </p:par>
                            </p:childTnLst>
                          </p:cTn>
                        </p:par>
                      </p:childTnLst>
                    </p:cTn>
                  </p:par>
                  <p:par>
                    <p:cTn id="75" fill="hold">
                      <p:stCondLst>
                        <p:cond delay="indefinite"/>
                      </p:stCondLst>
                      <p:childTnLst>
                        <p:par>
                          <p:cTn id="76" fill="hold">
                            <p:stCondLst>
                              <p:cond delay="0"/>
                            </p:stCondLst>
                            <p:childTnLst>
                              <p:par>
                                <p:cTn id="77" presetID="31" presetClass="entr" presetSubtype="0" fill="hold" nodeType="clickEffect">
                                  <p:stCondLst>
                                    <p:cond delay="0"/>
                                  </p:stCondLst>
                                  <p:childTnLst>
                                    <p:set>
                                      <p:cBhvr>
                                        <p:cTn id="78" dur="1" fill="hold">
                                          <p:stCondLst>
                                            <p:cond delay="0"/>
                                          </p:stCondLst>
                                        </p:cTn>
                                        <p:tgtEl>
                                          <p:spTgt spid="12"/>
                                        </p:tgtEl>
                                        <p:attrNameLst>
                                          <p:attrName>style.visibility</p:attrName>
                                        </p:attrNameLst>
                                      </p:cBhvr>
                                      <p:to>
                                        <p:strVal val="visible"/>
                                      </p:to>
                                    </p:set>
                                    <p:anim calcmode="lin" valueType="num">
                                      <p:cBhvr>
                                        <p:cTn id="79" dur="1000" fill="hold"/>
                                        <p:tgtEl>
                                          <p:spTgt spid="12"/>
                                        </p:tgtEl>
                                        <p:attrNameLst>
                                          <p:attrName>ppt_w</p:attrName>
                                        </p:attrNameLst>
                                      </p:cBhvr>
                                      <p:tavLst>
                                        <p:tav tm="0">
                                          <p:val>
                                            <p:fltVal val="0"/>
                                          </p:val>
                                        </p:tav>
                                        <p:tav tm="100000">
                                          <p:val>
                                            <p:strVal val="#ppt_w"/>
                                          </p:val>
                                        </p:tav>
                                      </p:tavLst>
                                    </p:anim>
                                    <p:anim calcmode="lin" valueType="num">
                                      <p:cBhvr>
                                        <p:cTn id="80" dur="1000" fill="hold"/>
                                        <p:tgtEl>
                                          <p:spTgt spid="12"/>
                                        </p:tgtEl>
                                        <p:attrNameLst>
                                          <p:attrName>ppt_h</p:attrName>
                                        </p:attrNameLst>
                                      </p:cBhvr>
                                      <p:tavLst>
                                        <p:tav tm="0">
                                          <p:val>
                                            <p:fltVal val="0"/>
                                          </p:val>
                                        </p:tav>
                                        <p:tav tm="100000">
                                          <p:val>
                                            <p:strVal val="#ppt_h"/>
                                          </p:val>
                                        </p:tav>
                                      </p:tavLst>
                                    </p:anim>
                                    <p:anim calcmode="lin" valueType="num">
                                      <p:cBhvr>
                                        <p:cTn id="81" dur="1000" fill="hold"/>
                                        <p:tgtEl>
                                          <p:spTgt spid="12"/>
                                        </p:tgtEl>
                                        <p:attrNameLst>
                                          <p:attrName>style.rotation</p:attrName>
                                        </p:attrNameLst>
                                      </p:cBhvr>
                                      <p:tavLst>
                                        <p:tav tm="0">
                                          <p:val>
                                            <p:fltVal val="90"/>
                                          </p:val>
                                        </p:tav>
                                        <p:tav tm="100000">
                                          <p:val>
                                            <p:fltVal val="0"/>
                                          </p:val>
                                        </p:tav>
                                      </p:tavLst>
                                    </p:anim>
                                    <p:animEffect transition="in" filter="fade">
                                      <p:cBhvr>
                                        <p:cTn id="82" dur="1000"/>
                                        <p:tgtEl>
                                          <p:spTgt spid="12"/>
                                        </p:tgtEl>
                                      </p:cBhvr>
                                    </p:animEffect>
                                  </p:childTnLst>
                                </p:cTn>
                              </p:par>
                            </p:childTnLst>
                          </p:cTn>
                        </p:par>
                      </p:childTnLst>
                    </p:cTn>
                  </p:par>
                  <p:par>
                    <p:cTn id="83" fill="hold">
                      <p:stCondLst>
                        <p:cond delay="indefinite"/>
                      </p:stCondLst>
                      <p:childTnLst>
                        <p:par>
                          <p:cTn id="84" fill="hold">
                            <p:stCondLst>
                              <p:cond delay="0"/>
                            </p:stCondLst>
                            <p:childTnLst>
                              <p:par>
                                <p:cTn id="85" presetID="53" presetClass="entr" presetSubtype="16" fill="hold" nodeType="clickEffect">
                                  <p:stCondLst>
                                    <p:cond delay="0"/>
                                  </p:stCondLst>
                                  <p:childTnLst>
                                    <p:set>
                                      <p:cBhvr>
                                        <p:cTn id="86" dur="1" fill="hold">
                                          <p:stCondLst>
                                            <p:cond delay="0"/>
                                          </p:stCondLst>
                                        </p:cTn>
                                        <p:tgtEl>
                                          <p:spTgt spid="13">
                                            <p:txEl>
                                              <p:pRg st="0" end="0"/>
                                            </p:txEl>
                                          </p:spTgt>
                                        </p:tgtEl>
                                        <p:attrNameLst>
                                          <p:attrName>style.visibility</p:attrName>
                                        </p:attrNameLst>
                                      </p:cBhvr>
                                      <p:to>
                                        <p:strVal val="visible"/>
                                      </p:to>
                                    </p:set>
                                    <p:anim calcmode="lin" valueType="num">
                                      <p:cBhvr>
                                        <p:cTn id="87" dur="500" fill="hold"/>
                                        <p:tgtEl>
                                          <p:spTgt spid="13">
                                            <p:txEl>
                                              <p:pRg st="0" end="0"/>
                                            </p:txEl>
                                          </p:spTgt>
                                        </p:tgtEl>
                                        <p:attrNameLst>
                                          <p:attrName>ppt_w</p:attrName>
                                        </p:attrNameLst>
                                      </p:cBhvr>
                                      <p:tavLst>
                                        <p:tav tm="0">
                                          <p:val>
                                            <p:fltVal val="0"/>
                                          </p:val>
                                        </p:tav>
                                        <p:tav tm="100000">
                                          <p:val>
                                            <p:strVal val="#ppt_w"/>
                                          </p:val>
                                        </p:tav>
                                      </p:tavLst>
                                    </p:anim>
                                    <p:anim calcmode="lin" valueType="num">
                                      <p:cBhvr>
                                        <p:cTn id="88" dur="500" fill="hold"/>
                                        <p:tgtEl>
                                          <p:spTgt spid="13">
                                            <p:txEl>
                                              <p:pRg st="0" end="0"/>
                                            </p:txEl>
                                          </p:spTgt>
                                        </p:tgtEl>
                                        <p:attrNameLst>
                                          <p:attrName>ppt_h</p:attrName>
                                        </p:attrNameLst>
                                      </p:cBhvr>
                                      <p:tavLst>
                                        <p:tav tm="0">
                                          <p:val>
                                            <p:fltVal val="0"/>
                                          </p:val>
                                        </p:tav>
                                        <p:tav tm="100000">
                                          <p:val>
                                            <p:strVal val="#ppt_h"/>
                                          </p:val>
                                        </p:tav>
                                      </p:tavLst>
                                    </p:anim>
                                    <p:animEffect transition="in" filter="fade">
                                      <p:cBhvr>
                                        <p:cTn id="89" dur="500"/>
                                        <p:tgtEl>
                                          <p:spTgt spid="13">
                                            <p:txEl>
                                              <p:pRg st="0" end="0"/>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15" presetClass="emph" presetSubtype="0" grpId="1" nodeType="clickEffect">
                                  <p:stCondLst>
                                    <p:cond delay="0"/>
                                  </p:stCondLst>
                                  <p:iterate type="lt">
                                    <p:tmAbs val="25"/>
                                  </p:iterate>
                                  <p:childTnLst>
                                    <p:set>
                                      <p:cBhvr override="childStyle">
                                        <p:cTn id="93" dur="indefinite"/>
                                        <p:tgtEl>
                                          <p:spTgt spid="5"/>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14" grpId="0" animBg="1"/>
      <p:bldP spid="15" grpId="0" animBg="1"/>
      <p:bldP spid="1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br>
              <a:rPr lang="en-US" altLang="zh-CN" sz="1800" dirty="0"/>
            </a:br>
            <a:br>
              <a:rPr lang="en-US" altLang="zh-CN" sz="1800" dirty="0"/>
            </a:br>
            <a:endParaRPr lang="zh-CN" altLang="en-US" sz="18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674" y="304005"/>
            <a:ext cx="5145088"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731520" y="2366010"/>
            <a:ext cx="5154930" cy="369332"/>
          </a:xfrm>
          <a:prstGeom prst="rect">
            <a:avLst/>
          </a:prstGeom>
          <a:noFill/>
        </p:spPr>
        <p:txBody>
          <a:bodyPr wrap="square" rtlCol="0">
            <a:spAutoFit/>
          </a:bodyPr>
          <a:lstStyle/>
          <a:p>
            <a:endParaRPr lang="zh-CN" altLang="en-US"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1094" y="581024"/>
            <a:ext cx="5376862" cy="569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2526030" y="4023361"/>
            <a:ext cx="244602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7943850" y="3051810"/>
            <a:ext cx="2251710" cy="2286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8435340" y="4263390"/>
            <a:ext cx="282321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6709410" y="4526280"/>
            <a:ext cx="1577340" cy="1143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2263140" y="3177540"/>
            <a:ext cx="3017520" cy="1143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4930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randombar(horizontal)">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fltVal val="0"/>
                                          </p:val>
                                        </p:tav>
                                        <p:tav tm="100000">
                                          <p:val>
                                            <p:strVal val="#ppt_w"/>
                                          </p:val>
                                        </p:tav>
                                      </p:tavLst>
                                    </p:anim>
                                    <p:anim calcmode="lin" valueType="num">
                                      <p:cBhvr>
                                        <p:cTn id="13" dur="1000" fill="hold"/>
                                        <p:tgtEl>
                                          <p:spTgt spid="5"/>
                                        </p:tgtEl>
                                        <p:attrNameLst>
                                          <p:attrName>ppt_h</p:attrName>
                                        </p:attrNameLst>
                                      </p:cBhvr>
                                      <p:tavLst>
                                        <p:tav tm="0">
                                          <p:val>
                                            <p:fltVal val="0"/>
                                          </p:val>
                                        </p:tav>
                                        <p:tav tm="100000">
                                          <p:val>
                                            <p:strVal val="#ppt_h"/>
                                          </p:val>
                                        </p:tav>
                                      </p:tavLst>
                                    </p:anim>
                                    <p:anim calcmode="lin" valueType="num">
                                      <p:cBhvr>
                                        <p:cTn id="14" dur="1000" fill="hold"/>
                                        <p:tgtEl>
                                          <p:spTgt spid="5"/>
                                        </p:tgtEl>
                                        <p:attrNameLst>
                                          <p:attrName>style.rotation</p:attrName>
                                        </p:attrNameLst>
                                      </p:cBhvr>
                                      <p:tavLst>
                                        <p:tav tm="0">
                                          <p:val>
                                            <p:fltVal val="90"/>
                                          </p:val>
                                        </p:tav>
                                        <p:tav tm="100000">
                                          <p:val>
                                            <p:fltVal val="0"/>
                                          </p:val>
                                        </p:tav>
                                      </p:tavLst>
                                    </p:anim>
                                    <p:animEffect transition="in" filter="fade">
                                      <p:cBhvr>
                                        <p:cTn id="15" dur="1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1000" fill="hold"/>
                                        <p:tgtEl>
                                          <p:spTgt spid="6"/>
                                        </p:tgtEl>
                                        <p:attrNameLst>
                                          <p:attrName>ppt_w</p:attrName>
                                        </p:attrNameLst>
                                      </p:cBhvr>
                                      <p:tavLst>
                                        <p:tav tm="0">
                                          <p:val>
                                            <p:fltVal val="0"/>
                                          </p:val>
                                        </p:tav>
                                        <p:tav tm="100000">
                                          <p:val>
                                            <p:strVal val="#ppt_w"/>
                                          </p:val>
                                        </p:tav>
                                      </p:tavLst>
                                    </p:anim>
                                    <p:anim calcmode="lin" valueType="num">
                                      <p:cBhvr>
                                        <p:cTn id="21" dur="1000" fill="hold"/>
                                        <p:tgtEl>
                                          <p:spTgt spid="6"/>
                                        </p:tgtEl>
                                        <p:attrNameLst>
                                          <p:attrName>ppt_h</p:attrName>
                                        </p:attrNameLst>
                                      </p:cBhvr>
                                      <p:tavLst>
                                        <p:tav tm="0">
                                          <p:val>
                                            <p:fltVal val="0"/>
                                          </p:val>
                                        </p:tav>
                                        <p:tav tm="100000">
                                          <p:val>
                                            <p:strVal val="#ppt_h"/>
                                          </p:val>
                                        </p:tav>
                                      </p:tavLst>
                                    </p:anim>
                                    <p:anim calcmode="lin" valueType="num">
                                      <p:cBhvr>
                                        <p:cTn id="22" dur="1000" fill="hold"/>
                                        <p:tgtEl>
                                          <p:spTgt spid="6"/>
                                        </p:tgtEl>
                                        <p:attrNameLst>
                                          <p:attrName>style.rotation</p:attrName>
                                        </p:attrNameLst>
                                      </p:cBhvr>
                                      <p:tavLst>
                                        <p:tav tm="0">
                                          <p:val>
                                            <p:fltVal val="90"/>
                                          </p:val>
                                        </p:tav>
                                        <p:tav tm="100000">
                                          <p:val>
                                            <p:fltVal val="0"/>
                                          </p:val>
                                        </p:tav>
                                      </p:tavLst>
                                    </p:anim>
                                    <p:animEffect transition="in" filter="fade">
                                      <p:cBhvr>
                                        <p:cTn id="23" dur="10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2051"/>
                                        </p:tgtEl>
                                        <p:attrNameLst>
                                          <p:attrName>style.visibility</p:attrName>
                                        </p:attrNameLst>
                                      </p:cBhvr>
                                      <p:to>
                                        <p:strVal val="visible"/>
                                      </p:to>
                                    </p:set>
                                    <p:animEffect transition="in" filter="randombar(horizontal)">
                                      <p:cBhvr>
                                        <p:cTn id="28" dur="500"/>
                                        <p:tgtEl>
                                          <p:spTgt spid="2051"/>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p:cTn id="33" dur="1000" fill="hold"/>
                                        <p:tgtEl>
                                          <p:spTgt spid="8"/>
                                        </p:tgtEl>
                                        <p:attrNameLst>
                                          <p:attrName>ppt_w</p:attrName>
                                        </p:attrNameLst>
                                      </p:cBhvr>
                                      <p:tavLst>
                                        <p:tav tm="0">
                                          <p:val>
                                            <p:fltVal val="0"/>
                                          </p:val>
                                        </p:tav>
                                        <p:tav tm="100000">
                                          <p:val>
                                            <p:strVal val="#ppt_w"/>
                                          </p:val>
                                        </p:tav>
                                      </p:tavLst>
                                    </p:anim>
                                    <p:anim calcmode="lin" valueType="num">
                                      <p:cBhvr>
                                        <p:cTn id="34" dur="1000" fill="hold"/>
                                        <p:tgtEl>
                                          <p:spTgt spid="8"/>
                                        </p:tgtEl>
                                        <p:attrNameLst>
                                          <p:attrName>ppt_h</p:attrName>
                                        </p:attrNameLst>
                                      </p:cBhvr>
                                      <p:tavLst>
                                        <p:tav tm="0">
                                          <p:val>
                                            <p:fltVal val="0"/>
                                          </p:val>
                                        </p:tav>
                                        <p:tav tm="100000">
                                          <p:val>
                                            <p:strVal val="#ppt_h"/>
                                          </p:val>
                                        </p:tav>
                                      </p:tavLst>
                                    </p:anim>
                                    <p:anim calcmode="lin" valueType="num">
                                      <p:cBhvr>
                                        <p:cTn id="35" dur="1000" fill="hold"/>
                                        <p:tgtEl>
                                          <p:spTgt spid="8"/>
                                        </p:tgtEl>
                                        <p:attrNameLst>
                                          <p:attrName>style.rotation</p:attrName>
                                        </p:attrNameLst>
                                      </p:cBhvr>
                                      <p:tavLst>
                                        <p:tav tm="0">
                                          <p:val>
                                            <p:fltVal val="90"/>
                                          </p:val>
                                        </p:tav>
                                        <p:tav tm="100000">
                                          <p:val>
                                            <p:fltVal val="0"/>
                                          </p:val>
                                        </p:tav>
                                      </p:tavLst>
                                    </p:anim>
                                    <p:animEffect transition="in" filter="fade">
                                      <p:cBhvr>
                                        <p:cTn id="36" dur="10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p:cTn id="41" dur="1000" fill="hold"/>
                                        <p:tgtEl>
                                          <p:spTgt spid="10"/>
                                        </p:tgtEl>
                                        <p:attrNameLst>
                                          <p:attrName>ppt_w</p:attrName>
                                        </p:attrNameLst>
                                      </p:cBhvr>
                                      <p:tavLst>
                                        <p:tav tm="0">
                                          <p:val>
                                            <p:fltVal val="0"/>
                                          </p:val>
                                        </p:tav>
                                        <p:tav tm="100000">
                                          <p:val>
                                            <p:strVal val="#ppt_w"/>
                                          </p:val>
                                        </p:tav>
                                      </p:tavLst>
                                    </p:anim>
                                    <p:anim calcmode="lin" valueType="num">
                                      <p:cBhvr>
                                        <p:cTn id="42" dur="1000" fill="hold"/>
                                        <p:tgtEl>
                                          <p:spTgt spid="10"/>
                                        </p:tgtEl>
                                        <p:attrNameLst>
                                          <p:attrName>ppt_h</p:attrName>
                                        </p:attrNameLst>
                                      </p:cBhvr>
                                      <p:tavLst>
                                        <p:tav tm="0">
                                          <p:val>
                                            <p:fltVal val="0"/>
                                          </p:val>
                                        </p:tav>
                                        <p:tav tm="100000">
                                          <p:val>
                                            <p:strVal val="#ppt_h"/>
                                          </p:val>
                                        </p:tav>
                                      </p:tavLst>
                                    </p:anim>
                                    <p:anim calcmode="lin" valueType="num">
                                      <p:cBhvr>
                                        <p:cTn id="43" dur="1000" fill="hold"/>
                                        <p:tgtEl>
                                          <p:spTgt spid="10"/>
                                        </p:tgtEl>
                                        <p:attrNameLst>
                                          <p:attrName>style.rotation</p:attrName>
                                        </p:attrNameLst>
                                      </p:cBhvr>
                                      <p:tavLst>
                                        <p:tav tm="0">
                                          <p:val>
                                            <p:fltVal val="90"/>
                                          </p:val>
                                        </p:tav>
                                        <p:tav tm="100000">
                                          <p:val>
                                            <p:fltVal val="0"/>
                                          </p:val>
                                        </p:tav>
                                      </p:tavLst>
                                    </p:anim>
                                    <p:animEffect transition="in" filter="fade">
                                      <p:cBhvr>
                                        <p:cTn id="44" dur="1000"/>
                                        <p:tgtEl>
                                          <p:spTgt spid="10"/>
                                        </p:tgtEl>
                                      </p:cBhvr>
                                    </p:animEffect>
                                  </p:childTnLst>
                                </p:cTn>
                              </p:par>
                            </p:childTnLst>
                          </p:cTn>
                        </p:par>
                      </p:childTnLst>
                    </p:cTn>
                  </p:par>
                  <p:par>
                    <p:cTn id="45" fill="hold">
                      <p:stCondLst>
                        <p:cond delay="indefinite"/>
                      </p:stCondLst>
                      <p:childTnLst>
                        <p:par>
                          <p:cTn id="46" fill="hold">
                            <p:stCondLst>
                              <p:cond delay="0"/>
                            </p:stCondLst>
                            <p:childTnLst>
                              <p:par>
                                <p:cTn id="47" presetID="31"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p:cTn id="49" dur="1000" fill="hold"/>
                                        <p:tgtEl>
                                          <p:spTgt spid="13"/>
                                        </p:tgtEl>
                                        <p:attrNameLst>
                                          <p:attrName>ppt_w</p:attrName>
                                        </p:attrNameLst>
                                      </p:cBhvr>
                                      <p:tavLst>
                                        <p:tav tm="0">
                                          <p:val>
                                            <p:fltVal val="0"/>
                                          </p:val>
                                        </p:tav>
                                        <p:tav tm="100000">
                                          <p:val>
                                            <p:strVal val="#ppt_w"/>
                                          </p:val>
                                        </p:tav>
                                      </p:tavLst>
                                    </p:anim>
                                    <p:anim calcmode="lin" valueType="num">
                                      <p:cBhvr>
                                        <p:cTn id="50" dur="1000" fill="hold"/>
                                        <p:tgtEl>
                                          <p:spTgt spid="13"/>
                                        </p:tgtEl>
                                        <p:attrNameLst>
                                          <p:attrName>ppt_h</p:attrName>
                                        </p:attrNameLst>
                                      </p:cBhvr>
                                      <p:tavLst>
                                        <p:tav tm="0">
                                          <p:val>
                                            <p:fltVal val="0"/>
                                          </p:val>
                                        </p:tav>
                                        <p:tav tm="100000">
                                          <p:val>
                                            <p:strVal val="#ppt_h"/>
                                          </p:val>
                                        </p:tav>
                                      </p:tavLst>
                                    </p:anim>
                                    <p:anim calcmode="lin" valueType="num">
                                      <p:cBhvr>
                                        <p:cTn id="51" dur="1000" fill="hold"/>
                                        <p:tgtEl>
                                          <p:spTgt spid="13"/>
                                        </p:tgtEl>
                                        <p:attrNameLst>
                                          <p:attrName>style.rotation</p:attrName>
                                        </p:attrNameLst>
                                      </p:cBhvr>
                                      <p:tavLst>
                                        <p:tav tm="0">
                                          <p:val>
                                            <p:fltVal val="90"/>
                                          </p:val>
                                        </p:tav>
                                        <p:tav tm="100000">
                                          <p:val>
                                            <p:fltVal val="0"/>
                                          </p:val>
                                        </p:tav>
                                      </p:tavLst>
                                    </p:anim>
                                    <p:animEffect transition="in" filter="fade">
                                      <p:cBhvr>
                                        <p:cTn id="52"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5543" y="101520"/>
            <a:ext cx="10840914" cy="1260000"/>
          </a:xfrm>
        </p:spPr>
        <p:txBody>
          <a:bodyPr/>
          <a:lstStyle/>
          <a:p>
            <a:r>
              <a:rPr lang="zh-CN" altLang="en-US" dirty="0"/>
              <a:t>对话回合</a:t>
            </a:r>
            <a:r>
              <a:rPr lang="en-US" altLang="zh-CN" dirty="0"/>
              <a:t>3</a:t>
            </a:r>
            <a:br>
              <a:rPr lang="en-US" altLang="zh-CN" dirty="0"/>
            </a:br>
            <a:r>
              <a:rPr lang="zh-CN" altLang="en-US" dirty="0"/>
              <a:t>不正义比正义更快乐吗？</a:t>
            </a:r>
          </a:p>
        </p:txBody>
      </p:sp>
      <p:sp>
        <p:nvSpPr>
          <p:cNvPr id="3" name="Content Placeholder 2"/>
          <p:cNvSpPr>
            <a:spLocks noGrp="1"/>
          </p:cNvSpPr>
          <p:nvPr>
            <p:ph sz="half" idx="1"/>
          </p:nvPr>
        </p:nvSpPr>
        <p:spPr>
          <a:xfrm>
            <a:off x="685802" y="1745774"/>
            <a:ext cx="5040000" cy="4760904"/>
          </a:xfrm>
        </p:spPr>
        <p:txBody>
          <a:bodyPr>
            <a:noAutofit/>
          </a:bodyPr>
          <a:lstStyle/>
          <a:p>
            <a:pPr marL="0" indent="0">
              <a:buNone/>
            </a:pPr>
            <a:r>
              <a:rPr lang="zh-CN" altLang="en-US" sz="2200" b="1" dirty="0"/>
              <a:t>问题</a:t>
            </a:r>
            <a:r>
              <a:rPr lang="en-US" altLang="zh-CN" sz="2200" b="1" dirty="0"/>
              <a:t>1</a:t>
            </a:r>
            <a:r>
              <a:rPr lang="zh-CN" altLang="en-US" sz="2200" b="1" dirty="0"/>
              <a:t>：不正义是品德和智慧吗？</a:t>
            </a:r>
            <a:endParaRPr lang="en-US" altLang="zh-CN" sz="2200" b="1" dirty="0"/>
          </a:p>
          <a:p>
            <a:endParaRPr lang="en-US" altLang="zh-CN" sz="2200" b="1" dirty="0"/>
          </a:p>
          <a:p>
            <a:r>
              <a:rPr lang="zh-CN" altLang="en-US" sz="2200" b="1" dirty="0"/>
              <a:t>特拉需马科</a:t>
            </a:r>
            <a:endParaRPr lang="en-US" altLang="zh-CN" sz="2200" b="1" dirty="0"/>
          </a:p>
          <a:p>
            <a:pPr marL="0" indent="0">
              <a:buNone/>
            </a:pPr>
            <a:r>
              <a:rPr lang="zh-CN" altLang="en-US" sz="2200" b="1" dirty="0"/>
              <a:t>正义</a:t>
            </a:r>
            <a:r>
              <a:rPr lang="en-US" altLang="zh-CN" sz="2200" b="1" dirty="0"/>
              <a:t>—</a:t>
            </a:r>
            <a:r>
              <a:rPr lang="zh-CN" altLang="en-US" sz="2200" b="1" dirty="0"/>
              <a:t>头脑简单</a:t>
            </a:r>
            <a:endParaRPr lang="en-US" altLang="zh-CN" sz="2200" b="1" dirty="0"/>
          </a:p>
          <a:p>
            <a:pPr marL="0" indent="0">
              <a:buNone/>
            </a:pPr>
            <a:r>
              <a:rPr lang="zh-CN" altLang="en-US" sz="2200" b="1" dirty="0"/>
              <a:t>不正义</a:t>
            </a:r>
            <a:r>
              <a:rPr lang="en-US" altLang="zh-CN" sz="2200" b="1" dirty="0"/>
              <a:t>—</a:t>
            </a:r>
            <a:r>
              <a:rPr lang="zh-CN" altLang="en-US" sz="2200" b="1" dirty="0"/>
              <a:t>聪明有好主意</a:t>
            </a:r>
            <a:r>
              <a:rPr lang="en-US" altLang="zh-CN" sz="2200" b="1" dirty="0"/>
              <a:t>—</a:t>
            </a:r>
            <a:r>
              <a:rPr lang="zh-CN" altLang="en-US" sz="2200" b="1" dirty="0"/>
              <a:t>品德和智慧</a:t>
            </a:r>
            <a:endParaRPr lang="en-US" altLang="zh-CN" sz="2200" b="1" dirty="0"/>
          </a:p>
          <a:p>
            <a:pPr marL="0" indent="0">
              <a:buNone/>
            </a:pPr>
            <a:endParaRPr lang="en-US" altLang="zh-CN" sz="2200" b="1" dirty="0"/>
          </a:p>
          <a:p>
            <a:pPr marL="0" indent="0">
              <a:buNone/>
            </a:pPr>
            <a:r>
              <a:rPr lang="zh-CN" altLang="en-US" sz="2200" b="1" dirty="0"/>
              <a:t>特拉需马科将不正义与美德和智慧连在一起，不同于传统的对于不正义的看法。因为传统尽管认为不正义能带来更多好处，但不正义是恶与可耻的，</a:t>
            </a:r>
            <a:r>
              <a:rPr lang="en-US" altLang="zh-CN" sz="2200" b="1" dirty="0"/>
              <a:t>348e5-10</a:t>
            </a:r>
            <a:r>
              <a:rPr lang="zh-CN" altLang="en-US" sz="2200" b="1" dirty="0"/>
              <a:t>。这就使问题变得严重了。 </a:t>
            </a:r>
          </a:p>
          <a:p>
            <a:pPr marL="0" indent="0">
              <a:buNone/>
            </a:pPr>
            <a:endParaRPr lang="en-US" altLang="zh-CN" sz="2200" dirty="0"/>
          </a:p>
          <a:p>
            <a:pPr marL="0" indent="0">
              <a:buNone/>
            </a:pPr>
            <a:endParaRPr lang="zh-CN" altLang="en-US" sz="2200" dirty="0"/>
          </a:p>
        </p:txBody>
      </p:sp>
      <p:sp>
        <p:nvSpPr>
          <p:cNvPr id="4" name="Content Placeholder 3"/>
          <p:cNvSpPr>
            <a:spLocks noGrp="1"/>
          </p:cNvSpPr>
          <p:nvPr>
            <p:ph sz="half" idx="2"/>
          </p:nvPr>
        </p:nvSpPr>
        <p:spPr/>
        <p:txBody>
          <a:bodyPr>
            <a:normAutofit/>
          </a:bodyPr>
          <a:lstStyle/>
          <a:p>
            <a:endParaRPr lang="zh-CN" altLang="en-US"/>
          </a:p>
        </p:txBody>
      </p:sp>
      <p:pic>
        <p:nvPicPr>
          <p:cNvPr id="481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1662" y="485774"/>
            <a:ext cx="6276369" cy="621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8469630" y="731520"/>
            <a:ext cx="2080260" cy="3429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7120890" y="1268730"/>
            <a:ext cx="46863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932420" y="1531620"/>
            <a:ext cx="209169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8819846" y="3920490"/>
            <a:ext cx="2438704" cy="1143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755130" y="4171950"/>
            <a:ext cx="222313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9509760" y="4686300"/>
            <a:ext cx="1668780" cy="1143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2459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8130"/>
                                        </p:tgtEl>
                                        <p:attrNameLst>
                                          <p:attrName>style.visibility</p:attrName>
                                        </p:attrNameLst>
                                      </p:cBhvr>
                                      <p:to>
                                        <p:strVal val="visible"/>
                                      </p:to>
                                    </p:set>
                                    <p:animEffect transition="in" filter="randombar(horizontal)">
                                      <p:cBhvr>
                                        <p:cTn id="7" dur="500"/>
                                        <p:tgtEl>
                                          <p:spTgt spid="48130"/>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circle(in)">
                                      <p:cBhvr>
                                        <p:cTn id="17" dur="20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circle(in)">
                                      <p:cBhvr>
                                        <p:cTn id="22" dur="20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p:cTn id="27" dur="1000" fill="hold"/>
                                        <p:tgtEl>
                                          <p:spTgt spid="12"/>
                                        </p:tgtEl>
                                        <p:attrNameLst>
                                          <p:attrName>ppt_w</p:attrName>
                                        </p:attrNameLst>
                                      </p:cBhvr>
                                      <p:tavLst>
                                        <p:tav tm="0">
                                          <p:val>
                                            <p:fltVal val="0"/>
                                          </p:val>
                                        </p:tav>
                                        <p:tav tm="100000">
                                          <p:val>
                                            <p:strVal val="#ppt_w"/>
                                          </p:val>
                                        </p:tav>
                                      </p:tavLst>
                                    </p:anim>
                                    <p:anim calcmode="lin" valueType="num">
                                      <p:cBhvr>
                                        <p:cTn id="28" dur="1000" fill="hold"/>
                                        <p:tgtEl>
                                          <p:spTgt spid="12"/>
                                        </p:tgtEl>
                                        <p:attrNameLst>
                                          <p:attrName>ppt_h</p:attrName>
                                        </p:attrNameLst>
                                      </p:cBhvr>
                                      <p:tavLst>
                                        <p:tav tm="0">
                                          <p:val>
                                            <p:fltVal val="0"/>
                                          </p:val>
                                        </p:tav>
                                        <p:tav tm="100000">
                                          <p:val>
                                            <p:strVal val="#ppt_h"/>
                                          </p:val>
                                        </p:tav>
                                      </p:tavLst>
                                    </p:anim>
                                    <p:anim calcmode="lin" valueType="num">
                                      <p:cBhvr>
                                        <p:cTn id="29" dur="1000" fill="hold"/>
                                        <p:tgtEl>
                                          <p:spTgt spid="12"/>
                                        </p:tgtEl>
                                        <p:attrNameLst>
                                          <p:attrName>style.rotation</p:attrName>
                                        </p:attrNameLst>
                                      </p:cBhvr>
                                      <p:tavLst>
                                        <p:tav tm="0">
                                          <p:val>
                                            <p:fltVal val="90"/>
                                          </p:val>
                                        </p:tav>
                                        <p:tav tm="100000">
                                          <p:val>
                                            <p:fltVal val="0"/>
                                          </p:val>
                                        </p:tav>
                                      </p:tavLst>
                                    </p:anim>
                                    <p:animEffect transition="in" filter="fade">
                                      <p:cBhvr>
                                        <p:cTn id="30" dur="10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p:cTn id="35" dur="1000" fill="hold"/>
                                        <p:tgtEl>
                                          <p:spTgt spid="14"/>
                                        </p:tgtEl>
                                        <p:attrNameLst>
                                          <p:attrName>ppt_w</p:attrName>
                                        </p:attrNameLst>
                                      </p:cBhvr>
                                      <p:tavLst>
                                        <p:tav tm="0">
                                          <p:val>
                                            <p:fltVal val="0"/>
                                          </p:val>
                                        </p:tav>
                                        <p:tav tm="100000">
                                          <p:val>
                                            <p:strVal val="#ppt_w"/>
                                          </p:val>
                                        </p:tav>
                                      </p:tavLst>
                                    </p:anim>
                                    <p:anim calcmode="lin" valueType="num">
                                      <p:cBhvr>
                                        <p:cTn id="36" dur="1000" fill="hold"/>
                                        <p:tgtEl>
                                          <p:spTgt spid="14"/>
                                        </p:tgtEl>
                                        <p:attrNameLst>
                                          <p:attrName>ppt_h</p:attrName>
                                        </p:attrNameLst>
                                      </p:cBhvr>
                                      <p:tavLst>
                                        <p:tav tm="0">
                                          <p:val>
                                            <p:fltVal val="0"/>
                                          </p:val>
                                        </p:tav>
                                        <p:tav tm="100000">
                                          <p:val>
                                            <p:strVal val="#ppt_h"/>
                                          </p:val>
                                        </p:tav>
                                      </p:tavLst>
                                    </p:anim>
                                    <p:anim calcmode="lin" valueType="num">
                                      <p:cBhvr>
                                        <p:cTn id="37" dur="1000" fill="hold"/>
                                        <p:tgtEl>
                                          <p:spTgt spid="14"/>
                                        </p:tgtEl>
                                        <p:attrNameLst>
                                          <p:attrName>style.rotation</p:attrName>
                                        </p:attrNameLst>
                                      </p:cBhvr>
                                      <p:tavLst>
                                        <p:tav tm="0">
                                          <p:val>
                                            <p:fltVal val="90"/>
                                          </p:val>
                                        </p:tav>
                                        <p:tav tm="100000">
                                          <p:val>
                                            <p:fltVal val="0"/>
                                          </p:val>
                                        </p:tav>
                                      </p:tavLst>
                                    </p:anim>
                                    <p:animEffect transition="in" filter="fade">
                                      <p:cBhvr>
                                        <p:cTn id="38" dur="10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wheel(1)">
                                      <p:cBhvr>
                                        <p:cTn id="43" dur="2000"/>
                                        <p:tgtEl>
                                          <p:spTgt spid="3">
                                            <p:txEl>
                                              <p:pRg st="2" end="2"/>
                                            </p:txEl>
                                          </p:spTgt>
                                        </p:tgtEl>
                                      </p:cBhvr>
                                    </p:animEffect>
                                  </p:childTnLst>
                                </p:cTn>
                              </p:par>
                              <p:par>
                                <p:cTn id="44" presetID="21" presetClass="entr" presetSubtype="1" fill="hold" nodeType="withEffect">
                                  <p:stCondLst>
                                    <p:cond delay="0"/>
                                  </p:stCondLst>
                                  <p:childTnLst>
                                    <p:set>
                                      <p:cBhvr>
                                        <p:cTn id="45" dur="1" fill="hold">
                                          <p:stCondLst>
                                            <p:cond delay="0"/>
                                          </p:stCondLst>
                                        </p:cTn>
                                        <p:tgtEl>
                                          <p:spTgt spid="3">
                                            <p:txEl>
                                              <p:pRg st="3" end="3"/>
                                            </p:txEl>
                                          </p:spTgt>
                                        </p:tgtEl>
                                        <p:attrNameLst>
                                          <p:attrName>style.visibility</p:attrName>
                                        </p:attrNameLst>
                                      </p:cBhvr>
                                      <p:to>
                                        <p:strVal val="visible"/>
                                      </p:to>
                                    </p:set>
                                    <p:animEffect transition="in" filter="wheel(1)">
                                      <p:cBhvr>
                                        <p:cTn id="46" dur="2000"/>
                                        <p:tgtEl>
                                          <p:spTgt spid="3">
                                            <p:txEl>
                                              <p:pRg st="3" end="3"/>
                                            </p:txEl>
                                          </p:spTgt>
                                        </p:tgtEl>
                                      </p:cBhvr>
                                    </p:animEffect>
                                  </p:childTnLst>
                                </p:cTn>
                              </p:par>
                              <p:par>
                                <p:cTn id="47" presetID="21" presetClass="entr" presetSubtype="1" fill="hold" nodeType="withEffect">
                                  <p:stCondLst>
                                    <p:cond delay="0"/>
                                  </p:stCondLst>
                                  <p:childTnLst>
                                    <p:set>
                                      <p:cBhvr>
                                        <p:cTn id="48" dur="1" fill="hold">
                                          <p:stCondLst>
                                            <p:cond delay="0"/>
                                          </p:stCondLst>
                                        </p:cTn>
                                        <p:tgtEl>
                                          <p:spTgt spid="3">
                                            <p:txEl>
                                              <p:pRg st="4" end="4"/>
                                            </p:txEl>
                                          </p:spTgt>
                                        </p:tgtEl>
                                        <p:attrNameLst>
                                          <p:attrName>style.visibility</p:attrName>
                                        </p:attrNameLst>
                                      </p:cBhvr>
                                      <p:to>
                                        <p:strVal val="visible"/>
                                      </p:to>
                                    </p:set>
                                    <p:animEffect transition="in" filter="wheel(1)">
                                      <p:cBhvr>
                                        <p:cTn id="49" dur="2000"/>
                                        <p:tgtEl>
                                          <p:spTgt spid="3">
                                            <p:txEl>
                                              <p:pRg st="4" end="4"/>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1" presetClass="entr" presetSubtype="1" fill="hold" nodeType="clickEffect">
                                  <p:stCondLst>
                                    <p:cond delay="0"/>
                                  </p:stCondLst>
                                  <p:childTnLst>
                                    <p:set>
                                      <p:cBhvr>
                                        <p:cTn id="53" dur="1" fill="hold">
                                          <p:stCondLst>
                                            <p:cond delay="0"/>
                                          </p:stCondLst>
                                        </p:cTn>
                                        <p:tgtEl>
                                          <p:spTgt spid="3">
                                            <p:txEl>
                                              <p:pRg st="6" end="6"/>
                                            </p:txEl>
                                          </p:spTgt>
                                        </p:tgtEl>
                                        <p:attrNameLst>
                                          <p:attrName>style.visibility</p:attrName>
                                        </p:attrNameLst>
                                      </p:cBhvr>
                                      <p:to>
                                        <p:strVal val="visible"/>
                                      </p:to>
                                    </p:set>
                                    <p:animEffect transition="in" filter="wheel(1)">
                                      <p:cBhvr>
                                        <p:cTn id="54" dur="2000"/>
                                        <p:tgtEl>
                                          <p:spTgt spid="3">
                                            <p:txEl>
                                              <p:pRg st="6" end="6"/>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1" presetClass="entr" presetSubtype="0" fill="hold" nodeType="click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p:cTn id="59" dur="1000" fill="hold"/>
                                        <p:tgtEl>
                                          <p:spTgt spid="16"/>
                                        </p:tgtEl>
                                        <p:attrNameLst>
                                          <p:attrName>ppt_w</p:attrName>
                                        </p:attrNameLst>
                                      </p:cBhvr>
                                      <p:tavLst>
                                        <p:tav tm="0">
                                          <p:val>
                                            <p:fltVal val="0"/>
                                          </p:val>
                                        </p:tav>
                                        <p:tav tm="100000">
                                          <p:val>
                                            <p:strVal val="#ppt_w"/>
                                          </p:val>
                                        </p:tav>
                                      </p:tavLst>
                                    </p:anim>
                                    <p:anim calcmode="lin" valueType="num">
                                      <p:cBhvr>
                                        <p:cTn id="60" dur="1000" fill="hold"/>
                                        <p:tgtEl>
                                          <p:spTgt spid="16"/>
                                        </p:tgtEl>
                                        <p:attrNameLst>
                                          <p:attrName>ppt_h</p:attrName>
                                        </p:attrNameLst>
                                      </p:cBhvr>
                                      <p:tavLst>
                                        <p:tav tm="0">
                                          <p:val>
                                            <p:fltVal val="0"/>
                                          </p:val>
                                        </p:tav>
                                        <p:tav tm="100000">
                                          <p:val>
                                            <p:strVal val="#ppt_h"/>
                                          </p:val>
                                        </p:tav>
                                      </p:tavLst>
                                    </p:anim>
                                    <p:anim calcmode="lin" valueType="num">
                                      <p:cBhvr>
                                        <p:cTn id="61" dur="1000" fill="hold"/>
                                        <p:tgtEl>
                                          <p:spTgt spid="16"/>
                                        </p:tgtEl>
                                        <p:attrNameLst>
                                          <p:attrName>style.rotation</p:attrName>
                                        </p:attrNameLst>
                                      </p:cBhvr>
                                      <p:tavLst>
                                        <p:tav tm="0">
                                          <p:val>
                                            <p:fltVal val="90"/>
                                          </p:val>
                                        </p:tav>
                                        <p:tav tm="100000">
                                          <p:val>
                                            <p:fltVal val="0"/>
                                          </p:val>
                                        </p:tav>
                                      </p:tavLst>
                                    </p:anim>
                                    <p:animEffect transition="in" filter="fade">
                                      <p:cBhvr>
                                        <p:cTn id="62" dur="10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6" presetClass="entr" presetSubtype="16" fill="hold" nodeType="clickEffect">
                                  <p:stCondLst>
                                    <p:cond delay="0"/>
                                  </p:stCondLst>
                                  <p:childTnLst>
                                    <p:set>
                                      <p:cBhvr>
                                        <p:cTn id="66" dur="1" fill="hold">
                                          <p:stCondLst>
                                            <p:cond delay="0"/>
                                          </p:stCondLst>
                                        </p:cTn>
                                        <p:tgtEl>
                                          <p:spTgt spid="3">
                                            <p:txEl>
                                              <p:pRg st="0" end="0"/>
                                            </p:txEl>
                                          </p:spTgt>
                                        </p:tgtEl>
                                        <p:attrNameLst>
                                          <p:attrName>style.visibility</p:attrName>
                                        </p:attrNameLst>
                                      </p:cBhvr>
                                      <p:to>
                                        <p:strVal val="visible"/>
                                      </p:to>
                                    </p:set>
                                    <p:animEffect transition="in" filter="circle(in)">
                                      <p:cBhvr>
                                        <p:cTn id="6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r>
              <a:rPr lang="zh-CN" altLang="en-US" sz="2000" b="1" dirty="0"/>
              <a:t>苏格拉底必须证明，特拉需马科的所谓“真理”观念不是知识，而是谬误。</a:t>
            </a:r>
            <a:endParaRPr lang="en-US" altLang="zh-CN" sz="2000" b="1" dirty="0"/>
          </a:p>
          <a:p>
            <a:endParaRPr lang="en-US" altLang="zh-CN" sz="2000" b="1" dirty="0"/>
          </a:p>
          <a:p>
            <a:pPr marL="0" indent="0">
              <a:buNone/>
            </a:pPr>
            <a:r>
              <a:rPr lang="zh-CN" altLang="en-US" sz="2000" b="1" dirty="0"/>
              <a:t>苏格拉底的反驳</a:t>
            </a:r>
            <a:r>
              <a:rPr lang="en-US" altLang="zh-CN" sz="2000" b="1" dirty="0"/>
              <a:t>3</a:t>
            </a:r>
            <a:r>
              <a:rPr lang="zh-CN" altLang="en-US" sz="2000" b="1" dirty="0"/>
              <a:t>：</a:t>
            </a:r>
            <a:endParaRPr lang="en-US" altLang="zh-CN" sz="2000" b="1" dirty="0"/>
          </a:p>
          <a:p>
            <a:r>
              <a:rPr lang="zh-CN" altLang="en-US" sz="2000" b="1" dirty="0"/>
              <a:t>僭越（英译为</a:t>
            </a:r>
            <a:r>
              <a:rPr lang="en-US" altLang="zh-CN" sz="2000" b="1" dirty="0"/>
              <a:t>do better</a:t>
            </a:r>
            <a:r>
              <a:rPr lang="zh-CN" altLang="en-US" sz="2000" b="1" dirty="0"/>
              <a:t>）</a:t>
            </a:r>
            <a:r>
              <a:rPr lang="en-US" altLang="zh-CN" sz="2000" b="1" dirty="0"/>
              <a:t>,</a:t>
            </a:r>
            <a:r>
              <a:rPr lang="zh-CN" altLang="en-US" sz="2000" b="1" dirty="0"/>
              <a:t>在古希腊语里，有不正当地胜过之意。</a:t>
            </a:r>
          </a:p>
          <a:p>
            <a:endParaRPr lang="zh-CN" altLang="en-US" dirty="0"/>
          </a:p>
        </p:txBody>
      </p:sp>
      <p:sp>
        <p:nvSpPr>
          <p:cNvPr id="4" name="Content Placeholder 3"/>
          <p:cNvSpPr>
            <a:spLocks noGrp="1"/>
          </p:cNvSpPr>
          <p:nvPr>
            <p:ph sz="half" idx="2"/>
          </p:nvPr>
        </p:nvSpPr>
        <p:spPr/>
        <p:txBody>
          <a:bodyPr/>
          <a:lstStyle/>
          <a:p>
            <a:endParaRPr lang="zh-CN" altLang="en-US"/>
          </a:p>
        </p:txBody>
      </p:sp>
      <p:pic>
        <p:nvPicPr>
          <p:cNvPr id="491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2763" y="171450"/>
            <a:ext cx="5095875" cy="651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flipV="1">
            <a:off x="9178290" y="651510"/>
            <a:ext cx="1943100" cy="1143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7086600" y="857250"/>
            <a:ext cx="209169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8812530" y="1303020"/>
            <a:ext cx="2171700" cy="1143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8698230" y="2160270"/>
            <a:ext cx="2423160" cy="2286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7086600" y="2434590"/>
            <a:ext cx="281178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Right Brace 4"/>
          <p:cNvSpPr/>
          <p:nvPr/>
        </p:nvSpPr>
        <p:spPr>
          <a:xfrm>
            <a:off x="11121390" y="3509010"/>
            <a:ext cx="342900" cy="130302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TextBox 6"/>
          <p:cNvSpPr txBox="1"/>
          <p:nvPr/>
        </p:nvSpPr>
        <p:spPr>
          <a:xfrm>
            <a:off x="11464290" y="3989070"/>
            <a:ext cx="494348" cy="377190"/>
          </a:xfrm>
          <a:prstGeom prst="rect">
            <a:avLst/>
          </a:prstGeom>
          <a:noFill/>
        </p:spPr>
        <p:txBody>
          <a:bodyPr wrap="square" rtlCol="0">
            <a:spAutoFit/>
          </a:bodyPr>
          <a:lstStyle/>
          <a:p>
            <a:r>
              <a:rPr lang="en-US" altLang="zh-CN" dirty="0">
                <a:solidFill>
                  <a:srgbClr val="FF0000"/>
                </a:solidFill>
              </a:rPr>
              <a:t>1</a:t>
            </a:r>
            <a:endParaRPr lang="zh-CN" altLang="en-US" dirty="0">
              <a:solidFill>
                <a:srgbClr val="FF0000"/>
              </a:solidFill>
            </a:endParaRPr>
          </a:p>
        </p:txBody>
      </p:sp>
    </p:spTree>
    <p:extLst>
      <p:ext uri="{BB962C8B-B14F-4D97-AF65-F5344CB8AC3E}">
        <p14:creationId xmlns:p14="http://schemas.microsoft.com/office/powerpoint/2010/main" val="2957649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9154"/>
                                        </p:tgtEl>
                                        <p:attrNameLst>
                                          <p:attrName>style.visibility</p:attrName>
                                        </p:attrNameLst>
                                      </p:cBhvr>
                                      <p:to>
                                        <p:strVal val="visible"/>
                                      </p:to>
                                    </p:set>
                                    <p:animEffect transition="in" filter="circle(in)">
                                      <p:cBhvr>
                                        <p:cTn id="7" dur="2000"/>
                                        <p:tgtEl>
                                          <p:spTgt spid="49154"/>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1000" fill="hold"/>
                                        <p:tgtEl>
                                          <p:spTgt spid="14"/>
                                        </p:tgtEl>
                                        <p:attrNameLst>
                                          <p:attrName>ppt_w</p:attrName>
                                        </p:attrNameLst>
                                      </p:cBhvr>
                                      <p:tavLst>
                                        <p:tav tm="0">
                                          <p:val>
                                            <p:fltVal val="0"/>
                                          </p:val>
                                        </p:tav>
                                        <p:tav tm="100000">
                                          <p:val>
                                            <p:strVal val="#ppt_w"/>
                                          </p:val>
                                        </p:tav>
                                      </p:tavLst>
                                    </p:anim>
                                    <p:anim calcmode="lin" valueType="num">
                                      <p:cBhvr>
                                        <p:cTn id="29" dur="1000" fill="hold"/>
                                        <p:tgtEl>
                                          <p:spTgt spid="14"/>
                                        </p:tgtEl>
                                        <p:attrNameLst>
                                          <p:attrName>ppt_h</p:attrName>
                                        </p:attrNameLst>
                                      </p:cBhvr>
                                      <p:tavLst>
                                        <p:tav tm="0">
                                          <p:val>
                                            <p:fltVal val="0"/>
                                          </p:val>
                                        </p:tav>
                                        <p:tav tm="100000">
                                          <p:val>
                                            <p:strVal val="#ppt_h"/>
                                          </p:val>
                                        </p:tav>
                                      </p:tavLst>
                                    </p:anim>
                                    <p:anim calcmode="lin" valueType="num">
                                      <p:cBhvr>
                                        <p:cTn id="30" dur="1000" fill="hold"/>
                                        <p:tgtEl>
                                          <p:spTgt spid="14"/>
                                        </p:tgtEl>
                                        <p:attrNameLst>
                                          <p:attrName>style.rotation</p:attrName>
                                        </p:attrNameLst>
                                      </p:cBhvr>
                                      <p:tavLst>
                                        <p:tav tm="0">
                                          <p:val>
                                            <p:fltVal val="90"/>
                                          </p:val>
                                        </p:tav>
                                        <p:tav tm="100000">
                                          <p:val>
                                            <p:fltVal val="0"/>
                                          </p:val>
                                        </p:tav>
                                      </p:tavLst>
                                    </p:anim>
                                    <p:animEffect transition="in" filter="fade">
                                      <p:cBhvr>
                                        <p:cTn id="31" dur="10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3">
                                            <p:txEl>
                                              <p:pRg st="0" end="0"/>
                                            </p:txEl>
                                          </p:spTgt>
                                        </p:tgtEl>
                                        <p:attrNameLst>
                                          <p:attrName>style.visibility</p:attrName>
                                        </p:attrNameLst>
                                      </p:cBhvr>
                                      <p:to>
                                        <p:strVal val="visible"/>
                                      </p:to>
                                    </p:set>
                                    <p:anim calcmode="lin" valueType="num">
                                      <p:cBhvr>
                                        <p:cTn id="36"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37"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38"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39" dur="1000"/>
                                        <p:tgtEl>
                                          <p:spTgt spid="3">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6" presetClass="entr" presetSubtype="16" fill="hold" nodeType="clickEffect">
                                  <p:stCondLst>
                                    <p:cond delay="0"/>
                                  </p:stCondLst>
                                  <p:childTnLst>
                                    <p:set>
                                      <p:cBhvr>
                                        <p:cTn id="43" dur="1" fill="hold">
                                          <p:stCondLst>
                                            <p:cond delay="0"/>
                                          </p:stCondLst>
                                        </p:cTn>
                                        <p:tgtEl>
                                          <p:spTgt spid="3">
                                            <p:txEl>
                                              <p:pRg st="2" end="2"/>
                                            </p:txEl>
                                          </p:spTgt>
                                        </p:tgtEl>
                                        <p:attrNameLst>
                                          <p:attrName>style.visibility</p:attrName>
                                        </p:attrNameLst>
                                      </p:cBhvr>
                                      <p:to>
                                        <p:strVal val="visible"/>
                                      </p:to>
                                    </p:set>
                                    <p:animEffect transition="in" filter="circle(in)">
                                      <p:cBhvr>
                                        <p:cTn id="44" dur="2000"/>
                                        <p:tgtEl>
                                          <p:spTgt spid="3">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1" presetClass="entr" presetSubtype="0"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p:cTn id="49" dur="1000" fill="hold"/>
                                        <p:tgtEl>
                                          <p:spTgt spid="17"/>
                                        </p:tgtEl>
                                        <p:attrNameLst>
                                          <p:attrName>ppt_w</p:attrName>
                                        </p:attrNameLst>
                                      </p:cBhvr>
                                      <p:tavLst>
                                        <p:tav tm="0">
                                          <p:val>
                                            <p:fltVal val="0"/>
                                          </p:val>
                                        </p:tav>
                                        <p:tav tm="100000">
                                          <p:val>
                                            <p:strVal val="#ppt_w"/>
                                          </p:val>
                                        </p:tav>
                                      </p:tavLst>
                                    </p:anim>
                                    <p:anim calcmode="lin" valueType="num">
                                      <p:cBhvr>
                                        <p:cTn id="50" dur="1000" fill="hold"/>
                                        <p:tgtEl>
                                          <p:spTgt spid="17"/>
                                        </p:tgtEl>
                                        <p:attrNameLst>
                                          <p:attrName>ppt_h</p:attrName>
                                        </p:attrNameLst>
                                      </p:cBhvr>
                                      <p:tavLst>
                                        <p:tav tm="0">
                                          <p:val>
                                            <p:fltVal val="0"/>
                                          </p:val>
                                        </p:tav>
                                        <p:tav tm="100000">
                                          <p:val>
                                            <p:strVal val="#ppt_h"/>
                                          </p:val>
                                        </p:tav>
                                      </p:tavLst>
                                    </p:anim>
                                    <p:anim calcmode="lin" valueType="num">
                                      <p:cBhvr>
                                        <p:cTn id="51" dur="1000" fill="hold"/>
                                        <p:tgtEl>
                                          <p:spTgt spid="17"/>
                                        </p:tgtEl>
                                        <p:attrNameLst>
                                          <p:attrName>style.rotation</p:attrName>
                                        </p:attrNameLst>
                                      </p:cBhvr>
                                      <p:tavLst>
                                        <p:tav tm="0">
                                          <p:val>
                                            <p:fltVal val="90"/>
                                          </p:val>
                                        </p:tav>
                                        <p:tav tm="100000">
                                          <p:val>
                                            <p:fltVal val="0"/>
                                          </p:val>
                                        </p:tav>
                                      </p:tavLst>
                                    </p:anim>
                                    <p:animEffect transition="in" filter="fade">
                                      <p:cBhvr>
                                        <p:cTn id="52" dur="10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31" presetClass="entr" presetSubtype="0" fill="hold" nodeType="clickEffect">
                                  <p:stCondLst>
                                    <p:cond delay="0"/>
                                  </p:stCondLst>
                                  <p:childTnLst>
                                    <p:set>
                                      <p:cBhvr>
                                        <p:cTn id="56" dur="1" fill="hold">
                                          <p:stCondLst>
                                            <p:cond delay="0"/>
                                          </p:stCondLst>
                                        </p:cTn>
                                        <p:tgtEl>
                                          <p:spTgt spid="19"/>
                                        </p:tgtEl>
                                        <p:attrNameLst>
                                          <p:attrName>style.visibility</p:attrName>
                                        </p:attrNameLst>
                                      </p:cBhvr>
                                      <p:to>
                                        <p:strVal val="visible"/>
                                      </p:to>
                                    </p:set>
                                    <p:anim calcmode="lin" valueType="num">
                                      <p:cBhvr>
                                        <p:cTn id="57" dur="1000" fill="hold"/>
                                        <p:tgtEl>
                                          <p:spTgt spid="19"/>
                                        </p:tgtEl>
                                        <p:attrNameLst>
                                          <p:attrName>ppt_w</p:attrName>
                                        </p:attrNameLst>
                                      </p:cBhvr>
                                      <p:tavLst>
                                        <p:tav tm="0">
                                          <p:val>
                                            <p:fltVal val="0"/>
                                          </p:val>
                                        </p:tav>
                                        <p:tav tm="100000">
                                          <p:val>
                                            <p:strVal val="#ppt_w"/>
                                          </p:val>
                                        </p:tav>
                                      </p:tavLst>
                                    </p:anim>
                                    <p:anim calcmode="lin" valueType="num">
                                      <p:cBhvr>
                                        <p:cTn id="58" dur="1000" fill="hold"/>
                                        <p:tgtEl>
                                          <p:spTgt spid="19"/>
                                        </p:tgtEl>
                                        <p:attrNameLst>
                                          <p:attrName>ppt_h</p:attrName>
                                        </p:attrNameLst>
                                      </p:cBhvr>
                                      <p:tavLst>
                                        <p:tav tm="0">
                                          <p:val>
                                            <p:fltVal val="0"/>
                                          </p:val>
                                        </p:tav>
                                        <p:tav tm="100000">
                                          <p:val>
                                            <p:strVal val="#ppt_h"/>
                                          </p:val>
                                        </p:tav>
                                      </p:tavLst>
                                    </p:anim>
                                    <p:anim calcmode="lin" valueType="num">
                                      <p:cBhvr>
                                        <p:cTn id="59" dur="1000" fill="hold"/>
                                        <p:tgtEl>
                                          <p:spTgt spid="19"/>
                                        </p:tgtEl>
                                        <p:attrNameLst>
                                          <p:attrName>style.rotation</p:attrName>
                                        </p:attrNameLst>
                                      </p:cBhvr>
                                      <p:tavLst>
                                        <p:tav tm="0">
                                          <p:val>
                                            <p:fltVal val="90"/>
                                          </p:val>
                                        </p:tav>
                                        <p:tav tm="100000">
                                          <p:val>
                                            <p:fltVal val="0"/>
                                          </p:val>
                                        </p:tav>
                                      </p:tavLst>
                                    </p:anim>
                                    <p:animEffect transition="in" filter="fade">
                                      <p:cBhvr>
                                        <p:cTn id="60" dur="1000"/>
                                        <p:tgtEl>
                                          <p:spTgt spid="19"/>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3">
                                            <p:txEl>
                                              <p:pRg st="3" end="3"/>
                                            </p:txEl>
                                          </p:spTgt>
                                        </p:tgtEl>
                                        <p:attrNameLst>
                                          <p:attrName>style.visibility</p:attrName>
                                        </p:attrNameLst>
                                      </p:cBhvr>
                                      <p:to>
                                        <p:strVal val="visible"/>
                                      </p:to>
                                    </p:set>
                                    <p:anim calcmode="lin" valueType="num">
                                      <p:cBhvr additive="base">
                                        <p:cTn id="6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6" presetClass="entr" presetSubtype="16" fill="hold" grpId="0" nodeType="clickEffect">
                                  <p:stCondLst>
                                    <p:cond delay="0"/>
                                  </p:stCondLst>
                                  <p:childTnLst>
                                    <p:set>
                                      <p:cBhvr>
                                        <p:cTn id="70" dur="1" fill="hold">
                                          <p:stCondLst>
                                            <p:cond delay="0"/>
                                          </p:stCondLst>
                                        </p:cTn>
                                        <p:tgtEl>
                                          <p:spTgt spid="5"/>
                                        </p:tgtEl>
                                        <p:attrNameLst>
                                          <p:attrName>style.visibility</p:attrName>
                                        </p:attrNameLst>
                                      </p:cBhvr>
                                      <p:to>
                                        <p:strVal val="visible"/>
                                      </p:to>
                                    </p:set>
                                    <p:animEffect transition="in" filter="circle(in)">
                                      <p:cBhvr>
                                        <p:cTn id="71" dur="2000"/>
                                        <p:tgtEl>
                                          <p:spTgt spid="5"/>
                                        </p:tgtEl>
                                      </p:cBhvr>
                                    </p:animEffect>
                                  </p:childTnLst>
                                </p:cTn>
                              </p:par>
                            </p:childTnLst>
                          </p:cTn>
                        </p:par>
                      </p:childTnLst>
                    </p:cTn>
                  </p:par>
                  <p:par>
                    <p:cTn id="72" fill="hold">
                      <p:stCondLst>
                        <p:cond delay="indefinite"/>
                      </p:stCondLst>
                      <p:childTnLst>
                        <p:par>
                          <p:cTn id="73" fill="hold">
                            <p:stCondLst>
                              <p:cond delay="0"/>
                            </p:stCondLst>
                            <p:childTnLst>
                              <p:par>
                                <p:cTn id="74" presetID="31" presetClass="entr" presetSubtype="0" fill="hold" nodeType="clickEffect">
                                  <p:stCondLst>
                                    <p:cond delay="0"/>
                                  </p:stCondLst>
                                  <p:childTnLst>
                                    <p:set>
                                      <p:cBhvr>
                                        <p:cTn id="75" dur="1" fill="hold">
                                          <p:stCondLst>
                                            <p:cond delay="0"/>
                                          </p:stCondLst>
                                        </p:cTn>
                                        <p:tgtEl>
                                          <p:spTgt spid="7">
                                            <p:txEl>
                                              <p:pRg st="0" end="0"/>
                                            </p:txEl>
                                          </p:spTgt>
                                        </p:tgtEl>
                                        <p:attrNameLst>
                                          <p:attrName>style.visibility</p:attrName>
                                        </p:attrNameLst>
                                      </p:cBhvr>
                                      <p:to>
                                        <p:strVal val="visible"/>
                                      </p:to>
                                    </p:set>
                                    <p:anim calcmode="lin" valueType="num">
                                      <p:cBhvr>
                                        <p:cTn id="76" dur="1000" fill="hold"/>
                                        <p:tgtEl>
                                          <p:spTgt spid="7">
                                            <p:txEl>
                                              <p:pRg st="0" end="0"/>
                                            </p:txEl>
                                          </p:spTgt>
                                        </p:tgtEl>
                                        <p:attrNameLst>
                                          <p:attrName>ppt_w</p:attrName>
                                        </p:attrNameLst>
                                      </p:cBhvr>
                                      <p:tavLst>
                                        <p:tav tm="0">
                                          <p:val>
                                            <p:fltVal val="0"/>
                                          </p:val>
                                        </p:tav>
                                        <p:tav tm="100000">
                                          <p:val>
                                            <p:strVal val="#ppt_w"/>
                                          </p:val>
                                        </p:tav>
                                      </p:tavLst>
                                    </p:anim>
                                    <p:anim calcmode="lin" valueType="num">
                                      <p:cBhvr>
                                        <p:cTn id="77" dur="1000" fill="hold"/>
                                        <p:tgtEl>
                                          <p:spTgt spid="7">
                                            <p:txEl>
                                              <p:pRg st="0" end="0"/>
                                            </p:txEl>
                                          </p:spTgt>
                                        </p:tgtEl>
                                        <p:attrNameLst>
                                          <p:attrName>ppt_h</p:attrName>
                                        </p:attrNameLst>
                                      </p:cBhvr>
                                      <p:tavLst>
                                        <p:tav tm="0">
                                          <p:val>
                                            <p:fltVal val="0"/>
                                          </p:val>
                                        </p:tav>
                                        <p:tav tm="100000">
                                          <p:val>
                                            <p:strVal val="#ppt_h"/>
                                          </p:val>
                                        </p:tav>
                                      </p:tavLst>
                                    </p:anim>
                                    <p:anim calcmode="lin" valueType="num">
                                      <p:cBhvr>
                                        <p:cTn id="78" dur="1000" fill="hold"/>
                                        <p:tgtEl>
                                          <p:spTgt spid="7">
                                            <p:txEl>
                                              <p:pRg st="0" end="0"/>
                                            </p:txEl>
                                          </p:spTgt>
                                        </p:tgtEl>
                                        <p:attrNameLst>
                                          <p:attrName>style.rotation</p:attrName>
                                        </p:attrNameLst>
                                      </p:cBhvr>
                                      <p:tavLst>
                                        <p:tav tm="0">
                                          <p:val>
                                            <p:fltVal val="90"/>
                                          </p:val>
                                        </p:tav>
                                        <p:tav tm="100000">
                                          <p:val>
                                            <p:fltVal val="0"/>
                                          </p:val>
                                        </p:tav>
                                      </p:tavLst>
                                    </p:anim>
                                    <p:animEffect transition="in" filter="fade">
                                      <p:cBhvr>
                                        <p:cTn id="79" dur="1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lstStyle/>
          <a:p>
            <a:endParaRPr lang="zh-CN" altLang="en-US"/>
          </a:p>
        </p:txBody>
      </p:sp>
      <p:pic>
        <p:nvPicPr>
          <p:cNvPr id="501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795" y="242888"/>
            <a:ext cx="5271745" cy="6424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8353" y="242888"/>
            <a:ext cx="6011862" cy="581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Left Brace 4"/>
          <p:cNvSpPr/>
          <p:nvPr/>
        </p:nvSpPr>
        <p:spPr>
          <a:xfrm>
            <a:off x="857250" y="720090"/>
            <a:ext cx="262890" cy="1097280"/>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TextBox 5"/>
          <p:cNvSpPr txBox="1"/>
          <p:nvPr/>
        </p:nvSpPr>
        <p:spPr>
          <a:xfrm>
            <a:off x="514827" y="1085850"/>
            <a:ext cx="342423" cy="365760"/>
          </a:xfrm>
          <a:prstGeom prst="rect">
            <a:avLst/>
          </a:prstGeom>
          <a:noFill/>
        </p:spPr>
        <p:txBody>
          <a:bodyPr wrap="square" rtlCol="0">
            <a:spAutoFit/>
          </a:bodyPr>
          <a:lstStyle/>
          <a:p>
            <a:r>
              <a:rPr lang="en-US" altLang="zh-CN" dirty="0">
                <a:solidFill>
                  <a:srgbClr val="FF0000"/>
                </a:solidFill>
              </a:rPr>
              <a:t>1</a:t>
            </a:r>
            <a:endParaRPr lang="zh-CN" altLang="en-US" dirty="0">
              <a:solidFill>
                <a:srgbClr val="FF0000"/>
              </a:solidFill>
            </a:endParaRPr>
          </a:p>
        </p:txBody>
      </p:sp>
      <p:sp>
        <p:nvSpPr>
          <p:cNvPr id="7" name="Left Brace 6"/>
          <p:cNvSpPr/>
          <p:nvPr/>
        </p:nvSpPr>
        <p:spPr>
          <a:xfrm>
            <a:off x="777240" y="2743200"/>
            <a:ext cx="342900" cy="594360"/>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TextBox 7"/>
          <p:cNvSpPr txBox="1"/>
          <p:nvPr/>
        </p:nvSpPr>
        <p:spPr>
          <a:xfrm>
            <a:off x="562795" y="2812971"/>
            <a:ext cx="214445" cy="369332"/>
          </a:xfrm>
          <a:prstGeom prst="rect">
            <a:avLst/>
          </a:prstGeom>
          <a:noFill/>
        </p:spPr>
        <p:txBody>
          <a:bodyPr wrap="square" rtlCol="0">
            <a:spAutoFit/>
          </a:bodyPr>
          <a:lstStyle/>
          <a:p>
            <a:r>
              <a:rPr lang="en-US" altLang="zh-CN" dirty="0">
                <a:solidFill>
                  <a:srgbClr val="FF0000"/>
                </a:solidFill>
              </a:rPr>
              <a:t>2</a:t>
            </a:r>
            <a:endParaRPr lang="zh-CN" altLang="en-US" dirty="0">
              <a:solidFill>
                <a:srgbClr val="FF0000"/>
              </a:solidFill>
            </a:endParaRPr>
          </a:p>
        </p:txBody>
      </p:sp>
    </p:spTree>
    <p:extLst>
      <p:ext uri="{BB962C8B-B14F-4D97-AF65-F5344CB8AC3E}">
        <p14:creationId xmlns:p14="http://schemas.microsoft.com/office/powerpoint/2010/main" val="205814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0178"/>
                                        </p:tgtEl>
                                        <p:attrNameLst>
                                          <p:attrName>style.visibility</p:attrName>
                                        </p:attrNameLst>
                                      </p:cBhvr>
                                      <p:to>
                                        <p:strVal val="visible"/>
                                      </p:to>
                                    </p:set>
                                    <p:animEffect transition="in" filter="randombar(horizontal)">
                                      <p:cBhvr>
                                        <p:cTn id="7" dur="500"/>
                                        <p:tgtEl>
                                          <p:spTgt spid="50178"/>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fltVal val="0"/>
                                          </p:val>
                                        </p:tav>
                                        <p:tav tm="100000">
                                          <p:val>
                                            <p:strVal val="#ppt_w"/>
                                          </p:val>
                                        </p:tav>
                                      </p:tavLst>
                                    </p:anim>
                                    <p:anim calcmode="lin" valueType="num">
                                      <p:cBhvr>
                                        <p:cTn id="13" dur="1000" fill="hold"/>
                                        <p:tgtEl>
                                          <p:spTgt spid="5"/>
                                        </p:tgtEl>
                                        <p:attrNameLst>
                                          <p:attrName>ppt_h</p:attrName>
                                        </p:attrNameLst>
                                      </p:cBhvr>
                                      <p:tavLst>
                                        <p:tav tm="0">
                                          <p:val>
                                            <p:fltVal val="0"/>
                                          </p:val>
                                        </p:tav>
                                        <p:tav tm="100000">
                                          <p:val>
                                            <p:strVal val="#ppt_h"/>
                                          </p:val>
                                        </p:tav>
                                      </p:tavLst>
                                    </p:anim>
                                    <p:anim calcmode="lin" valueType="num">
                                      <p:cBhvr>
                                        <p:cTn id="14" dur="1000" fill="hold"/>
                                        <p:tgtEl>
                                          <p:spTgt spid="5"/>
                                        </p:tgtEl>
                                        <p:attrNameLst>
                                          <p:attrName>style.rotation</p:attrName>
                                        </p:attrNameLst>
                                      </p:cBhvr>
                                      <p:tavLst>
                                        <p:tav tm="0">
                                          <p:val>
                                            <p:fltVal val="90"/>
                                          </p:val>
                                        </p:tav>
                                        <p:tav tm="100000">
                                          <p:val>
                                            <p:fltVal val="0"/>
                                          </p:val>
                                        </p:tav>
                                      </p:tavLst>
                                    </p:anim>
                                    <p:animEffect transition="in" filter="fade">
                                      <p:cBhvr>
                                        <p:cTn id="15" dur="1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down)">
                                      <p:cBhvr>
                                        <p:cTn id="20" dur="580">
                                          <p:stCondLst>
                                            <p:cond delay="0"/>
                                          </p:stCondLst>
                                        </p:cTn>
                                        <p:tgtEl>
                                          <p:spTgt spid="6"/>
                                        </p:tgtEl>
                                      </p:cBhvr>
                                    </p:animEffect>
                                    <p:anim calcmode="lin" valueType="num">
                                      <p:cBhvr>
                                        <p:cTn id="21"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26" dur="26">
                                          <p:stCondLst>
                                            <p:cond delay="650"/>
                                          </p:stCondLst>
                                        </p:cTn>
                                        <p:tgtEl>
                                          <p:spTgt spid="6"/>
                                        </p:tgtEl>
                                      </p:cBhvr>
                                      <p:to x="100000" y="60000"/>
                                    </p:animScale>
                                    <p:animScale>
                                      <p:cBhvr>
                                        <p:cTn id="27" dur="166" decel="50000">
                                          <p:stCondLst>
                                            <p:cond delay="676"/>
                                          </p:stCondLst>
                                        </p:cTn>
                                        <p:tgtEl>
                                          <p:spTgt spid="6"/>
                                        </p:tgtEl>
                                      </p:cBhvr>
                                      <p:to x="100000" y="100000"/>
                                    </p:animScale>
                                    <p:animScale>
                                      <p:cBhvr>
                                        <p:cTn id="28" dur="26">
                                          <p:stCondLst>
                                            <p:cond delay="1312"/>
                                          </p:stCondLst>
                                        </p:cTn>
                                        <p:tgtEl>
                                          <p:spTgt spid="6"/>
                                        </p:tgtEl>
                                      </p:cBhvr>
                                      <p:to x="100000" y="80000"/>
                                    </p:animScale>
                                    <p:animScale>
                                      <p:cBhvr>
                                        <p:cTn id="29" dur="166" decel="50000">
                                          <p:stCondLst>
                                            <p:cond delay="1338"/>
                                          </p:stCondLst>
                                        </p:cTn>
                                        <p:tgtEl>
                                          <p:spTgt spid="6"/>
                                        </p:tgtEl>
                                      </p:cBhvr>
                                      <p:to x="100000" y="100000"/>
                                    </p:animScale>
                                    <p:animScale>
                                      <p:cBhvr>
                                        <p:cTn id="30" dur="26">
                                          <p:stCondLst>
                                            <p:cond delay="1642"/>
                                          </p:stCondLst>
                                        </p:cTn>
                                        <p:tgtEl>
                                          <p:spTgt spid="6"/>
                                        </p:tgtEl>
                                      </p:cBhvr>
                                      <p:to x="100000" y="90000"/>
                                    </p:animScale>
                                    <p:animScale>
                                      <p:cBhvr>
                                        <p:cTn id="31" dur="166" decel="50000">
                                          <p:stCondLst>
                                            <p:cond delay="1668"/>
                                          </p:stCondLst>
                                        </p:cTn>
                                        <p:tgtEl>
                                          <p:spTgt spid="6"/>
                                        </p:tgtEl>
                                      </p:cBhvr>
                                      <p:to x="100000" y="100000"/>
                                    </p:animScale>
                                    <p:animScale>
                                      <p:cBhvr>
                                        <p:cTn id="32" dur="26">
                                          <p:stCondLst>
                                            <p:cond delay="1808"/>
                                          </p:stCondLst>
                                        </p:cTn>
                                        <p:tgtEl>
                                          <p:spTgt spid="6"/>
                                        </p:tgtEl>
                                      </p:cBhvr>
                                      <p:to x="100000" y="95000"/>
                                    </p:animScale>
                                    <p:animScale>
                                      <p:cBhvr>
                                        <p:cTn id="33" dur="166" decel="50000">
                                          <p:stCondLst>
                                            <p:cond delay="1834"/>
                                          </p:stCondLst>
                                        </p:cTn>
                                        <p:tgtEl>
                                          <p:spTgt spid="6"/>
                                        </p:tgtEl>
                                      </p:cBhvr>
                                      <p:to x="100000" y="100000"/>
                                    </p:animScale>
                                  </p:childTnLst>
                                </p:cTn>
                              </p:par>
                            </p:childTnLst>
                          </p:cTn>
                        </p:par>
                      </p:childTnLst>
                    </p:cTn>
                  </p:par>
                  <p:par>
                    <p:cTn id="34" fill="hold">
                      <p:stCondLst>
                        <p:cond delay="indefinite"/>
                      </p:stCondLst>
                      <p:childTnLst>
                        <p:par>
                          <p:cTn id="35" fill="hold">
                            <p:stCondLst>
                              <p:cond delay="0"/>
                            </p:stCondLst>
                            <p:childTnLst>
                              <p:par>
                                <p:cTn id="36" presetID="31" presetClass="entr" presetSubtype="0"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p:cTn id="38" dur="1000" fill="hold"/>
                                        <p:tgtEl>
                                          <p:spTgt spid="7"/>
                                        </p:tgtEl>
                                        <p:attrNameLst>
                                          <p:attrName>ppt_w</p:attrName>
                                        </p:attrNameLst>
                                      </p:cBhvr>
                                      <p:tavLst>
                                        <p:tav tm="0">
                                          <p:val>
                                            <p:fltVal val="0"/>
                                          </p:val>
                                        </p:tav>
                                        <p:tav tm="100000">
                                          <p:val>
                                            <p:strVal val="#ppt_w"/>
                                          </p:val>
                                        </p:tav>
                                      </p:tavLst>
                                    </p:anim>
                                    <p:anim calcmode="lin" valueType="num">
                                      <p:cBhvr>
                                        <p:cTn id="39" dur="1000" fill="hold"/>
                                        <p:tgtEl>
                                          <p:spTgt spid="7"/>
                                        </p:tgtEl>
                                        <p:attrNameLst>
                                          <p:attrName>ppt_h</p:attrName>
                                        </p:attrNameLst>
                                      </p:cBhvr>
                                      <p:tavLst>
                                        <p:tav tm="0">
                                          <p:val>
                                            <p:fltVal val="0"/>
                                          </p:val>
                                        </p:tav>
                                        <p:tav tm="100000">
                                          <p:val>
                                            <p:strVal val="#ppt_h"/>
                                          </p:val>
                                        </p:tav>
                                      </p:tavLst>
                                    </p:anim>
                                    <p:anim calcmode="lin" valueType="num">
                                      <p:cBhvr>
                                        <p:cTn id="40" dur="1000" fill="hold"/>
                                        <p:tgtEl>
                                          <p:spTgt spid="7"/>
                                        </p:tgtEl>
                                        <p:attrNameLst>
                                          <p:attrName>style.rotation</p:attrName>
                                        </p:attrNameLst>
                                      </p:cBhvr>
                                      <p:tavLst>
                                        <p:tav tm="0">
                                          <p:val>
                                            <p:fltVal val="90"/>
                                          </p:val>
                                        </p:tav>
                                        <p:tav tm="100000">
                                          <p:val>
                                            <p:fltVal val="0"/>
                                          </p:val>
                                        </p:tav>
                                      </p:tavLst>
                                    </p:anim>
                                    <p:animEffect transition="in" filter="fade">
                                      <p:cBhvr>
                                        <p:cTn id="41" dur="10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26" presetClass="entr" presetSubtype="0" fill="hold" grpId="0" nodeType="click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wipe(down)">
                                      <p:cBhvr>
                                        <p:cTn id="46" dur="580">
                                          <p:stCondLst>
                                            <p:cond delay="0"/>
                                          </p:stCondLst>
                                        </p:cTn>
                                        <p:tgtEl>
                                          <p:spTgt spid="8"/>
                                        </p:tgtEl>
                                      </p:cBhvr>
                                    </p:animEffect>
                                    <p:anim calcmode="lin" valueType="num">
                                      <p:cBhvr>
                                        <p:cTn id="47"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48"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49"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50"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51"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52" dur="26">
                                          <p:stCondLst>
                                            <p:cond delay="650"/>
                                          </p:stCondLst>
                                        </p:cTn>
                                        <p:tgtEl>
                                          <p:spTgt spid="8"/>
                                        </p:tgtEl>
                                      </p:cBhvr>
                                      <p:to x="100000" y="60000"/>
                                    </p:animScale>
                                    <p:animScale>
                                      <p:cBhvr>
                                        <p:cTn id="53" dur="166" decel="50000">
                                          <p:stCondLst>
                                            <p:cond delay="676"/>
                                          </p:stCondLst>
                                        </p:cTn>
                                        <p:tgtEl>
                                          <p:spTgt spid="8"/>
                                        </p:tgtEl>
                                      </p:cBhvr>
                                      <p:to x="100000" y="100000"/>
                                    </p:animScale>
                                    <p:animScale>
                                      <p:cBhvr>
                                        <p:cTn id="54" dur="26">
                                          <p:stCondLst>
                                            <p:cond delay="1312"/>
                                          </p:stCondLst>
                                        </p:cTn>
                                        <p:tgtEl>
                                          <p:spTgt spid="8"/>
                                        </p:tgtEl>
                                      </p:cBhvr>
                                      <p:to x="100000" y="80000"/>
                                    </p:animScale>
                                    <p:animScale>
                                      <p:cBhvr>
                                        <p:cTn id="55" dur="166" decel="50000">
                                          <p:stCondLst>
                                            <p:cond delay="1338"/>
                                          </p:stCondLst>
                                        </p:cTn>
                                        <p:tgtEl>
                                          <p:spTgt spid="8"/>
                                        </p:tgtEl>
                                      </p:cBhvr>
                                      <p:to x="100000" y="100000"/>
                                    </p:animScale>
                                    <p:animScale>
                                      <p:cBhvr>
                                        <p:cTn id="56" dur="26">
                                          <p:stCondLst>
                                            <p:cond delay="1642"/>
                                          </p:stCondLst>
                                        </p:cTn>
                                        <p:tgtEl>
                                          <p:spTgt spid="8"/>
                                        </p:tgtEl>
                                      </p:cBhvr>
                                      <p:to x="100000" y="90000"/>
                                    </p:animScale>
                                    <p:animScale>
                                      <p:cBhvr>
                                        <p:cTn id="57" dur="166" decel="50000">
                                          <p:stCondLst>
                                            <p:cond delay="1668"/>
                                          </p:stCondLst>
                                        </p:cTn>
                                        <p:tgtEl>
                                          <p:spTgt spid="8"/>
                                        </p:tgtEl>
                                      </p:cBhvr>
                                      <p:to x="100000" y="100000"/>
                                    </p:animScale>
                                    <p:animScale>
                                      <p:cBhvr>
                                        <p:cTn id="58" dur="26">
                                          <p:stCondLst>
                                            <p:cond delay="1808"/>
                                          </p:stCondLst>
                                        </p:cTn>
                                        <p:tgtEl>
                                          <p:spTgt spid="8"/>
                                        </p:tgtEl>
                                      </p:cBhvr>
                                      <p:to x="100000" y="95000"/>
                                    </p:animScale>
                                    <p:animScale>
                                      <p:cBhvr>
                                        <p:cTn id="59" dur="166" decel="50000">
                                          <p:stCondLst>
                                            <p:cond delay="1834"/>
                                          </p:stCondLst>
                                        </p:cTn>
                                        <p:tgtEl>
                                          <p:spTgt spid="8"/>
                                        </p:tgtEl>
                                      </p:cBhvr>
                                      <p:to x="100000" y="100000"/>
                                    </p:animScale>
                                  </p:childTnLst>
                                </p:cTn>
                              </p:par>
                            </p:childTnLst>
                          </p:cTn>
                        </p:par>
                      </p:childTnLst>
                    </p:cTn>
                  </p:par>
                  <p:par>
                    <p:cTn id="60" fill="hold">
                      <p:stCondLst>
                        <p:cond delay="indefinite"/>
                      </p:stCondLst>
                      <p:childTnLst>
                        <p:par>
                          <p:cTn id="61" fill="hold">
                            <p:stCondLst>
                              <p:cond delay="0"/>
                            </p:stCondLst>
                            <p:childTnLst>
                              <p:par>
                                <p:cTn id="62" presetID="14" presetClass="entr" presetSubtype="10" fill="hold" nodeType="clickEffect">
                                  <p:stCondLst>
                                    <p:cond delay="0"/>
                                  </p:stCondLst>
                                  <p:childTnLst>
                                    <p:set>
                                      <p:cBhvr>
                                        <p:cTn id="63" dur="1" fill="hold">
                                          <p:stCondLst>
                                            <p:cond delay="0"/>
                                          </p:stCondLst>
                                        </p:cTn>
                                        <p:tgtEl>
                                          <p:spTgt spid="3074"/>
                                        </p:tgtEl>
                                        <p:attrNameLst>
                                          <p:attrName>style.visibility</p:attrName>
                                        </p:attrNameLst>
                                      </p:cBhvr>
                                      <p:to>
                                        <p:strVal val="visible"/>
                                      </p:to>
                                    </p:set>
                                    <p:animEffect transition="in" filter="randombar(horizontal)">
                                      <p:cBhvr>
                                        <p:cTn id="64"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normAutofit fontScale="70000" lnSpcReduction="20000"/>
          </a:bodyPr>
          <a:lstStyle/>
          <a:p>
            <a:endParaRPr lang="zh-CN" altLang="en-US" dirty="0"/>
          </a:p>
        </p:txBody>
      </p:sp>
      <p:sp>
        <p:nvSpPr>
          <p:cNvPr id="4" name="Content Placeholder 3"/>
          <p:cNvSpPr>
            <a:spLocks noGrp="1"/>
          </p:cNvSpPr>
          <p:nvPr>
            <p:ph sz="half" idx="2"/>
          </p:nvPr>
        </p:nvSpPr>
        <p:spPr>
          <a:xfrm>
            <a:off x="6217920" y="1869601"/>
            <a:ext cx="5875020" cy="3921600"/>
          </a:xfrm>
        </p:spPr>
        <p:txBody>
          <a:bodyPr>
            <a:normAutofit fontScale="70000" lnSpcReduction="20000"/>
          </a:bodyPr>
          <a:lstStyle/>
          <a:p>
            <a:pPr marL="0" indent="0">
              <a:buNone/>
            </a:pPr>
            <a:r>
              <a:rPr lang="zh-CN" altLang="en-US" b="1" dirty="0"/>
              <a:t>苏格拉底的反驳</a:t>
            </a:r>
            <a:r>
              <a:rPr lang="en-US" altLang="zh-CN" b="1" dirty="0"/>
              <a:t>3</a:t>
            </a:r>
            <a:r>
              <a:rPr lang="zh-CN" altLang="en-US" b="1" dirty="0"/>
              <a:t>：</a:t>
            </a:r>
          </a:p>
          <a:p>
            <a:pPr marL="0" indent="0">
              <a:buNone/>
            </a:pPr>
            <a:r>
              <a:rPr lang="en-US" altLang="zh-CN" b="1" dirty="0"/>
              <a:t>1</a:t>
            </a:r>
            <a:r>
              <a:rPr lang="zh-CN" altLang="en-US" b="1" dirty="0"/>
              <a:t>，正义者不想胜过（</a:t>
            </a:r>
            <a:r>
              <a:rPr lang="en-US" altLang="zh-CN" b="1" dirty="0"/>
              <a:t>do better</a:t>
            </a:r>
            <a:r>
              <a:rPr lang="zh-CN" altLang="en-US" b="1" dirty="0"/>
              <a:t>）别的正义者，正义者只想胜过不正义者；</a:t>
            </a:r>
          </a:p>
          <a:p>
            <a:pPr marL="0" indent="0">
              <a:buNone/>
            </a:pPr>
            <a:r>
              <a:rPr lang="zh-CN" altLang="en-US" b="1" dirty="0"/>
              <a:t>      而不正义者想胜过正义者和其他不正义者。</a:t>
            </a:r>
          </a:p>
          <a:p>
            <a:pPr marL="0" indent="0">
              <a:buNone/>
            </a:pPr>
            <a:r>
              <a:rPr lang="en-US" altLang="zh-CN" b="1" dirty="0"/>
              <a:t>2</a:t>
            </a:r>
            <a:r>
              <a:rPr lang="zh-CN" altLang="en-US" b="1" dirty="0"/>
              <a:t>，正义者只想胜过异类，不正义者胜过同类异类</a:t>
            </a:r>
            <a:r>
              <a:rPr lang="en-US" altLang="zh-CN" b="1" dirty="0"/>
              <a:t>349d</a:t>
            </a:r>
            <a:r>
              <a:rPr lang="zh-CN" altLang="en-US" b="1" dirty="0"/>
              <a:t>。</a:t>
            </a:r>
            <a:endParaRPr lang="en-US" altLang="zh-CN" b="1" dirty="0"/>
          </a:p>
          <a:p>
            <a:pPr marL="0" indent="0">
              <a:buNone/>
            </a:pPr>
            <a:r>
              <a:rPr lang="en-US" altLang="zh-CN" b="1" dirty="0"/>
              <a:t>3</a:t>
            </a:r>
            <a:r>
              <a:rPr lang="zh-CN" altLang="en-US" b="1" dirty="0"/>
              <a:t>，有知识的人不想超过别的有知识的人，而是言行要彼此相似 （只想胜过异类）</a:t>
            </a:r>
            <a:r>
              <a:rPr lang="en-US" altLang="zh-CN" b="1" dirty="0"/>
              <a:t>350a</a:t>
            </a:r>
            <a:r>
              <a:rPr lang="zh-CN" altLang="en-US" b="1" dirty="0"/>
              <a:t>。</a:t>
            </a:r>
          </a:p>
          <a:p>
            <a:pPr marL="0" indent="0">
              <a:buNone/>
            </a:pPr>
            <a:r>
              <a:rPr lang="en-US" altLang="zh-CN" b="1" dirty="0"/>
              <a:t>4</a:t>
            </a:r>
            <a:r>
              <a:rPr lang="zh-CN" altLang="en-US" b="1" dirty="0"/>
              <a:t>，无知者想胜过有知者人和无知者（想胜过同类异类）。</a:t>
            </a:r>
          </a:p>
          <a:p>
            <a:pPr marL="0" indent="0">
              <a:buNone/>
            </a:pPr>
            <a:r>
              <a:rPr lang="en-US" altLang="zh-CN" b="1" dirty="0"/>
              <a:t>5</a:t>
            </a:r>
            <a:r>
              <a:rPr lang="zh-CN" altLang="en-US" b="1" dirty="0"/>
              <a:t>，结论：正义者和聪明人，好人相似</a:t>
            </a:r>
            <a:r>
              <a:rPr lang="en-US" altLang="zh-CN" b="1" dirty="0"/>
              <a:t>350c</a:t>
            </a:r>
            <a:r>
              <a:rPr lang="zh-CN" altLang="en-US" b="1" dirty="0"/>
              <a:t>，而不正义者与无知，低劣者相似，因此，正义者更强有力。</a:t>
            </a:r>
          </a:p>
          <a:p>
            <a:endParaRPr lang="zh-CN" alt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888" y="245110"/>
            <a:ext cx="4932362" cy="6407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5563" y="245110"/>
            <a:ext cx="4978717" cy="1267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Left Brace 4"/>
          <p:cNvSpPr/>
          <p:nvPr/>
        </p:nvSpPr>
        <p:spPr>
          <a:xfrm>
            <a:off x="857249" y="307174"/>
            <a:ext cx="171450" cy="571500"/>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TextBox 5"/>
          <p:cNvSpPr txBox="1"/>
          <p:nvPr/>
        </p:nvSpPr>
        <p:spPr>
          <a:xfrm>
            <a:off x="579596" y="350758"/>
            <a:ext cx="277653" cy="369332"/>
          </a:xfrm>
          <a:prstGeom prst="rect">
            <a:avLst/>
          </a:prstGeom>
          <a:noFill/>
        </p:spPr>
        <p:txBody>
          <a:bodyPr wrap="square" rtlCol="0">
            <a:spAutoFit/>
          </a:bodyPr>
          <a:lstStyle/>
          <a:p>
            <a:r>
              <a:rPr lang="en-US" altLang="zh-CN" dirty="0">
                <a:solidFill>
                  <a:srgbClr val="FF0000"/>
                </a:solidFill>
              </a:rPr>
              <a:t>3</a:t>
            </a:r>
            <a:endParaRPr lang="zh-CN" altLang="en-US" dirty="0">
              <a:solidFill>
                <a:srgbClr val="FF0000"/>
              </a:solidFill>
            </a:endParaRPr>
          </a:p>
        </p:txBody>
      </p:sp>
      <p:sp>
        <p:nvSpPr>
          <p:cNvPr id="7" name="Left Brace 6"/>
          <p:cNvSpPr/>
          <p:nvPr/>
        </p:nvSpPr>
        <p:spPr>
          <a:xfrm>
            <a:off x="942975" y="1097280"/>
            <a:ext cx="131444" cy="560070"/>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TextBox 7"/>
          <p:cNvSpPr txBox="1"/>
          <p:nvPr/>
        </p:nvSpPr>
        <p:spPr>
          <a:xfrm>
            <a:off x="579596" y="1097280"/>
            <a:ext cx="363378" cy="369332"/>
          </a:xfrm>
          <a:prstGeom prst="rect">
            <a:avLst/>
          </a:prstGeom>
          <a:noFill/>
        </p:spPr>
        <p:txBody>
          <a:bodyPr wrap="square" rtlCol="0">
            <a:spAutoFit/>
          </a:bodyPr>
          <a:lstStyle/>
          <a:p>
            <a:r>
              <a:rPr lang="en-US" altLang="zh-CN" dirty="0">
                <a:solidFill>
                  <a:srgbClr val="FF0000"/>
                </a:solidFill>
              </a:rPr>
              <a:t>4</a:t>
            </a:r>
            <a:endParaRPr lang="zh-CN" altLang="en-US" dirty="0">
              <a:solidFill>
                <a:srgbClr val="FF0000"/>
              </a:solidFill>
            </a:endParaRPr>
          </a:p>
        </p:txBody>
      </p:sp>
      <p:sp>
        <p:nvSpPr>
          <p:cNvPr id="9" name="Left Brace 8"/>
          <p:cNvSpPr/>
          <p:nvPr/>
        </p:nvSpPr>
        <p:spPr>
          <a:xfrm>
            <a:off x="761285" y="2731770"/>
            <a:ext cx="313134" cy="3303270"/>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TextBox 9"/>
          <p:cNvSpPr txBox="1"/>
          <p:nvPr/>
        </p:nvSpPr>
        <p:spPr>
          <a:xfrm>
            <a:off x="496888" y="4251960"/>
            <a:ext cx="221534" cy="369332"/>
          </a:xfrm>
          <a:prstGeom prst="rect">
            <a:avLst/>
          </a:prstGeom>
          <a:noFill/>
        </p:spPr>
        <p:txBody>
          <a:bodyPr wrap="square" rtlCol="0">
            <a:spAutoFit/>
          </a:bodyPr>
          <a:lstStyle/>
          <a:p>
            <a:r>
              <a:rPr lang="en-US" altLang="zh-CN" dirty="0">
                <a:solidFill>
                  <a:srgbClr val="FF0000"/>
                </a:solidFill>
              </a:rPr>
              <a:t>5</a:t>
            </a:r>
            <a:endParaRPr lang="zh-CN" altLang="en-US" dirty="0">
              <a:solidFill>
                <a:srgbClr val="FF0000"/>
              </a:solidFill>
            </a:endParaRPr>
          </a:p>
        </p:txBody>
      </p:sp>
      <p:cxnSp>
        <p:nvCxnSpPr>
          <p:cNvPr id="12" name="Straight Connector 11"/>
          <p:cNvCxnSpPr/>
          <p:nvPr/>
        </p:nvCxnSpPr>
        <p:spPr>
          <a:xfrm>
            <a:off x="8345714" y="1097280"/>
            <a:ext cx="252548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633029" y="1377315"/>
            <a:ext cx="226189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9914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099"/>
                                        </p:tgtEl>
                                        <p:attrNameLst>
                                          <p:attrName>style.visibility</p:attrName>
                                        </p:attrNameLst>
                                      </p:cBhvr>
                                      <p:to>
                                        <p:strVal val="visible"/>
                                      </p:to>
                                    </p:set>
                                    <p:animEffect transition="in" filter="randombar(horizontal)">
                                      <p:cBhvr>
                                        <p:cTn id="12" dur="500"/>
                                        <p:tgtEl>
                                          <p:spTgt spid="4099"/>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1000" fill="hold"/>
                                        <p:tgtEl>
                                          <p:spTgt spid="5"/>
                                        </p:tgtEl>
                                        <p:attrNameLst>
                                          <p:attrName>ppt_w</p:attrName>
                                        </p:attrNameLst>
                                      </p:cBhvr>
                                      <p:tavLst>
                                        <p:tav tm="0">
                                          <p:val>
                                            <p:fltVal val="0"/>
                                          </p:val>
                                        </p:tav>
                                        <p:tav tm="100000">
                                          <p:val>
                                            <p:strVal val="#ppt_w"/>
                                          </p:val>
                                        </p:tav>
                                      </p:tavLst>
                                    </p:anim>
                                    <p:anim calcmode="lin" valueType="num">
                                      <p:cBhvr>
                                        <p:cTn id="18" dur="1000" fill="hold"/>
                                        <p:tgtEl>
                                          <p:spTgt spid="5"/>
                                        </p:tgtEl>
                                        <p:attrNameLst>
                                          <p:attrName>ppt_h</p:attrName>
                                        </p:attrNameLst>
                                      </p:cBhvr>
                                      <p:tavLst>
                                        <p:tav tm="0">
                                          <p:val>
                                            <p:fltVal val="0"/>
                                          </p:val>
                                        </p:tav>
                                        <p:tav tm="100000">
                                          <p:val>
                                            <p:strVal val="#ppt_h"/>
                                          </p:val>
                                        </p:tav>
                                      </p:tavLst>
                                    </p:anim>
                                    <p:anim calcmode="lin" valueType="num">
                                      <p:cBhvr>
                                        <p:cTn id="19" dur="1000" fill="hold"/>
                                        <p:tgtEl>
                                          <p:spTgt spid="5"/>
                                        </p:tgtEl>
                                        <p:attrNameLst>
                                          <p:attrName>style.rotation</p:attrName>
                                        </p:attrNameLst>
                                      </p:cBhvr>
                                      <p:tavLst>
                                        <p:tav tm="0">
                                          <p:val>
                                            <p:fltVal val="90"/>
                                          </p:val>
                                        </p:tav>
                                        <p:tav tm="100000">
                                          <p:val>
                                            <p:fltVal val="0"/>
                                          </p:val>
                                        </p:tav>
                                      </p:tavLst>
                                    </p:anim>
                                    <p:animEffect transition="in" filter="fade">
                                      <p:cBhvr>
                                        <p:cTn id="20" dur="10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80">
                                          <p:stCondLst>
                                            <p:cond delay="0"/>
                                          </p:stCondLst>
                                        </p:cTn>
                                        <p:tgtEl>
                                          <p:spTgt spid="6"/>
                                        </p:tgtEl>
                                      </p:cBhvr>
                                    </p:animEffect>
                                    <p:anim calcmode="lin" valueType="num">
                                      <p:cBhvr>
                                        <p:cTn id="26"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1" dur="26">
                                          <p:stCondLst>
                                            <p:cond delay="650"/>
                                          </p:stCondLst>
                                        </p:cTn>
                                        <p:tgtEl>
                                          <p:spTgt spid="6"/>
                                        </p:tgtEl>
                                      </p:cBhvr>
                                      <p:to x="100000" y="60000"/>
                                    </p:animScale>
                                    <p:animScale>
                                      <p:cBhvr>
                                        <p:cTn id="32" dur="166" decel="50000">
                                          <p:stCondLst>
                                            <p:cond delay="676"/>
                                          </p:stCondLst>
                                        </p:cTn>
                                        <p:tgtEl>
                                          <p:spTgt spid="6"/>
                                        </p:tgtEl>
                                      </p:cBhvr>
                                      <p:to x="100000" y="100000"/>
                                    </p:animScale>
                                    <p:animScale>
                                      <p:cBhvr>
                                        <p:cTn id="33" dur="26">
                                          <p:stCondLst>
                                            <p:cond delay="1312"/>
                                          </p:stCondLst>
                                        </p:cTn>
                                        <p:tgtEl>
                                          <p:spTgt spid="6"/>
                                        </p:tgtEl>
                                      </p:cBhvr>
                                      <p:to x="100000" y="80000"/>
                                    </p:animScale>
                                    <p:animScale>
                                      <p:cBhvr>
                                        <p:cTn id="34" dur="166" decel="50000">
                                          <p:stCondLst>
                                            <p:cond delay="1338"/>
                                          </p:stCondLst>
                                        </p:cTn>
                                        <p:tgtEl>
                                          <p:spTgt spid="6"/>
                                        </p:tgtEl>
                                      </p:cBhvr>
                                      <p:to x="100000" y="100000"/>
                                    </p:animScale>
                                    <p:animScale>
                                      <p:cBhvr>
                                        <p:cTn id="35" dur="26">
                                          <p:stCondLst>
                                            <p:cond delay="1642"/>
                                          </p:stCondLst>
                                        </p:cTn>
                                        <p:tgtEl>
                                          <p:spTgt spid="6"/>
                                        </p:tgtEl>
                                      </p:cBhvr>
                                      <p:to x="100000" y="90000"/>
                                    </p:animScale>
                                    <p:animScale>
                                      <p:cBhvr>
                                        <p:cTn id="36" dur="166" decel="50000">
                                          <p:stCondLst>
                                            <p:cond delay="1668"/>
                                          </p:stCondLst>
                                        </p:cTn>
                                        <p:tgtEl>
                                          <p:spTgt spid="6"/>
                                        </p:tgtEl>
                                      </p:cBhvr>
                                      <p:to x="100000" y="100000"/>
                                    </p:animScale>
                                    <p:animScale>
                                      <p:cBhvr>
                                        <p:cTn id="37" dur="26">
                                          <p:stCondLst>
                                            <p:cond delay="1808"/>
                                          </p:stCondLst>
                                        </p:cTn>
                                        <p:tgtEl>
                                          <p:spTgt spid="6"/>
                                        </p:tgtEl>
                                      </p:cBhvr>
                                      <p:to x="100000" y="95000"/>
                                    </p:animScale>
                                    <p:animScale>
                                      <p:cBhvr>
                                        <p:cTn id="38" dur="166" decel="50000">
                                          <p:stCondLst>
                                            <p:cond delay="1834"/>
                                          </p:stCondLst>
                                        </p:cTn>
                                        <p:tgtEl>
                                          <p:spTgt spid="6"/>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1"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down)">
                                      <p:cBhvr>
                                        <p:cTn id="43" dur="580">
                                          <p:stCondLst>
                                            <p:cond delay="0"/>
                                          </p:stCondLst>
                                        </p:cTn>
                                        <p:tgtEl>
                                          <p:spTgt spid="7"/>
                                        </p:tgtEl>
                                      </p:cBhvr>
                                    </p:animEffect>
                                    <p:anim calcmode="lin" valueType="num">
                                      <p:cBhvr>
                                        <p:cTn id="44"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49" dur="26">
                                          <p:stCondLst>
                                            <p:cond delay="650"/>
                                          </p:stCondLst>
                                        </p:cTn>
                                        <p:tgtEl>
                                          <p:spTgt spid="7"/>
                                        </p:tgtEl>
                                      </p:cBhvr>
                                      <p:to x="100000" y="60000"/>
                                    </p:animScale>
                                    <p:animScale>
                                      <p:cBhvr>
                                        <p:cTn id="50" dur="166" decel="50000">
                                          <p:stCondLst>
                                            <p:cond delay="676"/>
                                          </p:stCondLst>
                                        </p:cTn>
                                        <p:tgtEl>
                                          <p:spTgt spid="7"/>
                                        </p:tgtEl>
                                      </p:cBhvr>
                                      <p:to x="100000" y="100000"/>
                                    </p:animScale>
                                    <p:animScale>
                                      <p:cBhvr>
                                        <p:cTn id="51" dur="26">
                                          <p:stCondLst>
                                            <p:cond delay="1312"/>
                                          </p:stCondLst>
                                        </p:cTn>
                                        <p:tgtEl>
                                          <p:spTgt spid="7"/>
                                        </p:tgtEl>
                                      </p:cBhvr>
                                      <p:to x="100000" y="80000"/>
                                    </p:animScale>
                                    <p:animScale>
                                      <p:cBhvr>
                                        <p:cTn id="52" dur="166" decel="50000">
                                          <p:stCondLst>
                                            <p:cond delay="1338"/>
                                          </p:stCondLst>
                                        </p:cTn>
                                        <p:tgtEl>
                                          <p:spTgt spid="7"/>
                                        </p:tgtEl>
                                      </p:cBhvr>
                                      <p:to x="100000" y="100000"/>
                                    </p:animScale>
                                    <p:animScale>
                                      <p:cBhvr>
                                        <p:cTn id="53" dur="26">
                                          <p:stCondLst>
                                            <p:cond delay="1642"/>
                                          </p:stCondLst>
                                        </p:cTn>
                                        <p:tgtEl>
                                          <p:spTgt spid="7"/>
                                        </p:tgtEl>
                                      </p:cBhvr>
                                      <p:to x="100000" y="90000"/>
                                    </p:animScale>
                                    <p:animScale>
                                      <p:cBhvr>
                                        <p:cTn id="54" dur="166" decel="50000">
                                          <p:stCondLst>
                                            <p:cond delay="1668"/>
                                          </p:stCondLst>
                                        </p:cTn>
                                        <p:tgtEl>
                                          <p:spTgt spid="7"/>
                                        </p:tgtEl>
                                      </p:cBhvr>
                                      <p:to x="100000" y="100000"/>
                                    </p:animScale>
                                    <p:animScale>
                                      <p:cBhvr>
                                        <p:cTn id="55" dur="26">
                                          <p:stCondLst>
                                            <p:cond delay="1808"/>
                                          </p:stCondLst>
                                        </p:cTn>
                                        <p:tgtEl>
                                          <p:spTgt spid="7"/>
                                        </p:tgtEl>
                                      </p:cBhvr>
                                      <p:to x="100000" y="95000"/>
                                    </p:animScale>
                                    <p:animScale>
                                      <p:cBhvr>
                                        <p:cTn id="56" dur="166" decel="50000">
                                          <p:stCondLst>
                                            <p:cond delay="1834"/>
                                          </p:stCondLst>
                                        </p:cTn>
                                        <p:tgtEl>
                                          <p:spTgt spid="7"/>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6" presetClass="entr" presetSubtype="16" fill="hold" grpId="0" nodeType="click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circle(in)">
                                      <p:cBhvr>
                                        <p:cTn id="61" dur="2000"/>
                                        <p:tgtEl>
                                          <p:spTgt spid="8"/>
                                        </p:tgtEl>
                                      </p:cBhvr>
                                    </p:animEffect>
                                  </p:childTnLst>
                                </p:cTn>
                              </p:par>
                            </p:childTnLst>
                          </p:cTn>
                        </p:par>
                      </p:childTnLst>
                    </p:cTn>
                  </p:par>
                  <p:par>
                    <p:cTn id="62" fill="hold">
                      <p:stCondLst>
                        <p:cond delay="indefinite"/>
                      </p:stCondLst>
                      <p:childTnLst>
                        <p:par>
                          <p:cTn id="63" fill="hold">
                            <p:stCondLst>
                              <p:cond delay="0"/>
                            </p:stCondLst>
                            <p:childTnLst>
                              <p:par>
                                <p:cTn id="64" presetID="31" presetClass="entr" presetSubtype="0" fill="hold" grpId="0" nodeType="clickEffect">
                                  <p:stCondLst>
                                    <p:cond delay="0"/>
                                  </p:stCondLst>
                                  <p:childTnLst>
                                    <p:set>
                                      <p:cBhvr>
                                        <p:cTn id="65" dur="1" fill="hold">
                                          <p:stCondLst>
                                            <p:cond delay="0"/>
                                          </p:stCondLst>
                                        </p:cTn>
                                        <p:tgtEl>
                                          <p:spTgt spid="9"/>
                                        </p:tgtEl>
                                        <p:attrNameLst>
                                          <p:attrName>style.visibility</p:attrName>
                                        </p:attrNameLst>
                                      </p:cBhvr>
                                      <p:to>
                                        <p:strVal val="visible"/>
                                      </p:to>
                                    </p:set>
                                    <p:anim calcmode="lin" valueType="num">
                                      <p:cBhvr>
                                        <p:cTn id="66" dur="1000" fill="hold"/>
                                        <p:tgtEl>
                                          <p:spTgt spid="9"/>
                                        </p:tgtEl>
                                        <p:attrNameLst>
                                          <p:attrName>ppt_w</p:attrName>
                                        </p:attrNameLst>
                                      </p:cBhvr>
                                      <p:tavLst>
                                        <p:tav tm="0">
                                          <p:val>
                                            <p:fltVal val="0"/>
                                          </p:val>
                                        </p:tav>
                                        <p:tav tm="100000">
                                          <p:val>
                                            <p:strVal val="#ppt_w"/>
                                          </p:val>
                                        </p:tav>
                                      </p:tavLst>
                                    </p:anim>
                                    <p:anim calcmode="lin" valueType="num">
                                      <p:cBhvr>
                                        <p:cTn id="67" dur="1000" fill="hold"/>
                                        <p:tgtEl>
                                          <p:spTgt spid="9"/>
                                        </p:tgtEl>
                                        <p:attrNameLst>
                                          <p:attrName>ppt_h</p:attrName>
                                        </p:attrNameLst>
                                      </p:cBhvr>
                                      <p:tavLst>
                                        <p:tav tm="0">
                                          <p:val>
                                            <p:fltVal val="0"/>
                                          </p:val>
                                        </p:tav>
                                        <p:tav tm="100000">
                                          <p:val>
                                            <p:strVal val="#ppt_h"/>
                                          </p:val>
                                        </p:tav>
                                      </p:tavLst>
                                    </p:anim>
                                    <p:anim calcmode="lin" valueType="num">
                                      <p:cBhvr>
                                        <p:cTn id="68" dur="1000" fill="hold"/>
                                        <p:tgtEl>
                                          <p:spTgt spid="9"/>
                                        </p:tgtEl>
                                        <p:attrNameLst>
                                          <p:attrName>style.rotation</p:attrName>
                                        </p:attrNameLst>
                                      </p:cBhvr>
                                      <p:tavLst>
                                        <p:tav tm="0">
                                          <p:val>
                                            <p:fltVal val="90"/>
                                          </p:val>
                                        </p:tav>
                                        <p:tav tm="100000">
                                          <p:val>
                                            <p:fltVal val="0"/>
                                          </p:val>
                                        </p:tav>
                                      </p:tavLst>
                                    </p:anim>
                                    <p:animEffect transition="in" filter="fade">
                                      <p:cBhvr>
                                        <p:cTn id="69" dur="1000"/>
                                        <p:tgtEl>
                                          <p:spTgt spid="9"/>
                                        </p:tgtEl>
                                      </p:cBhvr>
                                    </p:animEffect>
                                  </p:childTnLst>
                                </p:cTn>
                              </p:par>
                            </p:childTnLst>
                          </p:cTn>
                        </p:par>
                      </p:childTnLst>
                    </p:cTn>
                  </p:par>
                  <p:par>
                    <p:cTn id="70" fill="hold">
                      <p:stCondLst>
                        <p:cond delay="indefinite"/>
                      </p:stCondLst>
                      <p:childTnLst>
                        <p:par>
                          <p:cTn id="71" fill="hold">
                            <p:stCondLst>
                              <p:cond delay="0"/>
                            </p:stCondLst>
                            <p:childTnLst>
                              <p:par>
                                <p:cTn id="72" presetID="26" presetClass="entr" presetSubtype="0" fill="hold" grpId="0" nodeType="clickEffect">
                                  <p:stCondLst>
                                    <p:cond delay="0"/>
                                  </p:stCondLst>
                                  <p:childTnLst>
                                    <p:set>
                                      <p:cBhvr>
                                        <p:cTn id="73" dur="1" fill="hold">
                                          <p:stCondLst>
                                            <p:cond delay="0"/>
                                          </p:stCondLst>
                                        </p:cTn>
                                        <p:tgtEl>
                                          <p:spTgt spid="10"/>
                                        </p:tgtEl>
                                        <p:attrNameLst>
                                          <p:attrName>style.visibility</p:attrName>
                                        </p:attrNameLst>
                                      </p:cBhvr>
                                      <p:to>
                                        <p:strVal val="visible"/>
                                      </p:to>
                                    </p:set>
                                    <p:animEffect transition="in" filter="wipe(down)">
                                      <p:cBhvr>
                                        <p:cTn id="74" dur="580">
                                          <p:stCondLst>
                                            <p:cond delay="0"/>
                                          </p:stCondLst>
                                        </p:cTn>
                                        <p:tgtEl>
                                          <p:spTgt spid="10"/>
                                        </p:tgtEl>
                                      </p:cBhvr>
                                    </p:animEffect>
                                    <p:anim calcmode="lin" valueType="num">
                                      <p:cBhvr>
                                        <p:cTn id="75"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76"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77"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78"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79"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80" dur="26">
                                          <p:stCondLst>
                                            <p:cond delay="650"/>
                                          </p:stCondLst>
                                        </p:cTn>
                                        <p:tgtEl>
                                          <p:spTgt spid="10"/>
                                        </p:tgtEl>
                                      </p:cBhvr>
                                      <p:to x="100000" y="60000"/>
                                    </p:animScale>
                                    <p:animScale>
                                      <p:cBhvr>
                                        <p:cTn id="81" dur="166" decel="50000">
                                          <p:stCondLst>
                                            <p:cond delay="676"/>
                                          </p:stCondLst>
                                        </p:cTn>
                                        <p:tgtEl>
                                          <p:spTgt spid="10"/>
                                        </p:tgtEl>
                                      </p:cBhvr>
                                      <p:to x="100000" y="100000"/>
                                    </p:animScale>
                                    <p:animScale>
                                      <p:cBhvr>
                                        <p:cTn id="82" dur="26">
                                          <p:stCondLst>
                                            <p:cond delay="1312"/>
                                          </p:stCondLst>
                                        </p:cTn>
                                        <p:tgtEl>
                                          <p:spTgt spid="10"/>
                                        </p:tgtEl>
                                      </p:cBhvr>
                                      <p:to x="100000" y="80000"/>
                                    </p:animScale>
                                    <p:animScale>
                                      <p:cBhvr>
                                        <p:cTn id="83" dur="166" decel="50000">
                                          <p:stCondLst>
                                            <p:cond delay="1338"/>
                                          </p:stCondLst>
                                        </p:cTn>
                                        <p:tgtEl>
                                          <p:spTgt spid="10"/>
                                        </p:tgtEl>
                                      </p:cBhvr>
                                      <p:to x="100000" y="100000"/>
                                    </p:animScale>
                                    <p:animScale>
                                      <p:cBhvr>
                                        <p:cTn id="84" dur="26">
                                          <p:stCondLst>
                                            <p:cond delay="1642"/>
                                          </p:stCondLst>
                                        </p:cTn>
                                        <p:tgtEl>
                                          <p:spTgt spid="10"/>
                                        </p:tgtEl>
                                      </p:cBhvr>
                                      <p:to x="100000" y="90000"/>
                                    </p:animScale>
                                    <p:animScale>
                                      <p:cBhvr>
                                        <p:cTn id="85" dur="166" decel="50000">
                                          <p:stCondLst>
                                            <p:cond delay="1668"/>
                                          </p:stCondLst>
                                        </p:cTn>
                                        <p:tgtEl>
                                          <p:spTgt spid="10"/>
                                        </p:tgtEl>
                                      </p:cBhvr>
                                      <p:to x="100000" y="100000"/>
                                    </p:animScale>
                                    <p:animScale>
                                      <p:cBhvr>
                                        <p:cTn id="86" dur="26">
                                          <p:stCondLst>
                                            <p:cond delay="1808"/>
                                          </p:stCondLst>
                                        </p:cTn>
                                        <p:tgtEl>
                                          <p:spTgt spid="10"/>
                                        </p:tgtEl>
                                      </p:cBhvr>
                                      <p:to x="100000" y="95000"/>
                                    </p:animScale>
                                    <p:animScale>
                                      <p:cBhvr>
                                        <p:cTn id="87" dur="166" decel="50000">
                                          <p:stCondLst>
                                            <p:cond delay="1834"/>
                                          </p:stCondLst>
                                        </p:cTn>
                                        <p:tgtEl>
                                          <p:spTgt spid="10"/>
                                        </p:tgtEl>
                                      </p:cBhvr>
                                      <p:to x="100000" y="100000"/>
                                    </p:animScale>
                                  </p:childTnLst>
                                </p:cTn>
                              </p:par>
                            </p:childTnLst>
                          </p:cTn>
                        </p:par>
                      </p:childTnLst>
                    </p:cTn>
                  </p:par>
                  <p:par>
                    <p:cTn id="88" fill="hold">
                      <p:stCondLst>
                        <p:cond delay="indefinite"/>
                      </p:stCondLst>
                      <p:childTnLst>
                        <p:par>
                          <p:cTn id="89" fill="hold">
                            <p:stCondLst>
                              <p:cond delay="0"/>
                            </p:stCondLst>
                            <p:childTnLst>
                              <p:par>
                                <p:cTn id="90" presetID="6" presetClass="entr" presetSubtype="16" fill="hold" nodeType="clickEffect">
                                  <p:stCondLst>
                                    <p:cond delay="0"/>
                                  </p:stCondLst>
                                  <p:childTnLst>
                                    <p:set>
                                      <p:cBhvr>
                                        <p:cTn id="91" dur="1" fill="hold">
                                          <p:stCondLst>
                                            <p:cond delay="0"/>
                                          </p:stCondLst>
                                        </p:cTn>
                                        <p:tgtEl>
                                          <p:spTgt spid="4">
                                            <p:txEl>
                                              <p:pRg st="1" end="1"/>
                                            </p:txEl>
                                          </p:spTgt>
                                        </p:tgtEl>
                                        <p:attrNameLst>
                                          <p:attrName>style.visibility</p:attrName>
                                        </p:attrNameLst>
                                      </p:cBhvr>
                                      <p:to>
                                        <p:strVal val="visible"/>
                                      </p:to>
                                    </p:set>
                                    <p:animEffect transition="in" filter="circle(in)">
                                      <p:cBhvr>
                                        <p:cTn id="92" dur="2000"/>
                                        <p:tgtEl>
                                          <p:spTgt spid="4">
                                            <p:txEl>
                                              <p:pRg st="1" end="1"/>
                                            </p:txEl>
                                          </p:spTgt>
                                        </p:tgtEl>
                                      </p:cBhvr>
                                    </p:animEffect>
                                  </p:childTnLst>
                                </p:cTn>
                              </p:par>
                              <p:par>
                                <p:cTn id="93" presetID="6" presetClass="entr" presetSubtype="16" fill="hold" nodeType="withEffect">
                                  <p:stCondLst>
                                    <p:cond delay="0"/>
                                  </p:stCondLst>
                                  <p:childTnLst>
                                    <p:set>
                                      <p:cBhvr>
                                        <p:cTn id="94" dur="1" fill="hold">
                                          <p:stCondLst>
                                            <p:cond delay="0"/>
                                          </p:stCondLst>
                                        </p:cTn>
                                        <p:tgtEl>
                                          <p:spTgt spid="4">
                                            <p:txEl>
                                              <p:pRg st="2" end="2"/>
                                            </p:txEl>
                                          </p:spTgt>
                                        </p:tgtEl>
                                        <p:attrNameLst>
                                          <p:attrName>style.visibility</p:attrName>
                                        </p:attrNameLst>
                                      </p:cBhvr>
                                      <p:to>
                                        <p:strVal val="visible"/>
                                      </p:to>
                                    </p:set>
                                    <p:animEffect transition="in" filter="circle(in)">
                                      <p:cBhvr>
                                        <p:cTn id="95" dur="2000"/>
                                        <p:tgtEl>
                                          <p:spTgt spid="4">
                                            <p:txEl>
                                              <p:pRg st="2" end="2"/>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6" presetClass="entr" presetSubtype="16" fill="hold" nodeType="clickEffect">
                                  <p:stCondLst>
                                    <p:cond delay="0"/>
                                  </p:stCondLst>
                                  <p:childTnLst>
                                    <p:set>
                                      <p:cBhvr>
                                        <p:cTn id="99" dur="1" fill="hold">
                                          <p:stCondLst>
                                            <p:cond delay="0"/>
                                          </p:stCondLst>
                                        </p:cTn>
                                        <p:tgtEl>
                                          <p:spTgt spid="4">
                                            <p:txEl>
                                              <p:pRg st="3" end="3"/>
                                            </p:txEl>
                                          </p:spTgt>
                                        </p:tgtEl>
                                        <p:attrNameLst>
                                          <p:attrName>style.visibility</p:attrName>
                                        </p:attrNameLst>
                                      </p:cBhvr>
                                      <p:to>
                                        <p:strVal val="visible"/>
                                      </p:to>
                                    </p:set>
                                    <p:animEffect transition="in" filter="circle(in)">
                                      <p:cBhvr>
                                        <p:cTn id="100" dur="2000"/>
                                        <p:tgtEl>
                                          <p:spTgt spid="4">
                                            <p:txEl>
                                              <p:pRg st="3" end="3"/>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6" presetClass="entr" presetSubtype="16" fill="hold" nodeType="clickEffect">
                                  <p:stCondLst>
                                    <p:cond delay="0"/>
                                  </p:stCondLst>
                                  <p:childTnLst>
                                    <p:set>
                                      <p:cBhvr>
                                        <p:cTn id="104" dur="1" fill="hold">
                                          <p:stCondLst>
                                            <p:cond delay="0"/>
                                          </p:stCondLst>
                                        </p:cTn>
                                        <p:tgtEl>
                                          <p:spTgt spid="4">
                                            <p:txEl>
                                              <p:pRg st="4" end="4"/>
                                            </p:txEl>
                                          </p:spTgt>
                                        </p:tgtEl>
                                        <p:attrNameLst>
                                          <p:attrName>style.visibility</p:attrName>
                                        </p:attrNameLst>
                                      </p:cBhvr>
                                      <p:to>
                                        <p:strVal val="visible"/>
                                      </p:to>
                                    </p:set>
                                    <p:animEffect transition="in" filter="circle(in)">
                                      <p:cBhvr>
                                        <p:cTn id="105" dur="2000"/>
                                        <p:tgtEl>
                                          <p:spTgt spid="4">
                                            <p:txEl>
                                              <p:pRg st="4" end="4"/>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6" presetClass="entr" presetSubtype="16" fill="hold" nodeType="clickEffect">
                                  <p:stCondLst>
                                    <p:cond delay="0"/>
                                  </p:stCondLst>
                                  <p:childTnLst>
                                    <p:set>
                                      <p:cBhvr>
                                        <p:cTn id="109" dur="1" fill="hold">
                                          <p:stCondLst>
                                            <p:cond delay="0"/>
                                          </p:stCondLst>
                                        </p:cTn>
                                        <p:tgtEl>
                                          <p:spTgt spid="4">
                                            <p:txEl>
                                              <p:pRg st="5" end="5"/>
                                            </p:txEl>
                                          </p:spTgt>
                                        </p:tgtEl>
                                        <p:attrNameLst>
                                          <p:attrName>style.visibility</p:attrName>
                                        </p:attrNameLst>
                                      </p:cBhvr>
                                      <p:to>
                                        <p:strVal val="visible"/>
                                      </p:to>
                                    </p:set>
                                    <p:animEffect transition="in" filter="circle(in)">
                                      <p:cBhvr>
                                        <p:cTn id="110" dur="2000"/>
                                        <p:tgtEl>
                                          <p:spTgt spid="4">
                                            <p:txEl>
                                              <p:pRg st="5" end="5"/>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6" presetClass="entr" presetSubtype="16" fill="hold" nodeType="clickEffect">
                                  <p:stCondLst>
                                    <p:cond delay="0"/>
                                  </p:stCondLst>
                                  <p:childTnLst>
                                    <p:set>
                                      <p:cBhvr>
                                        <p:cTn id="114" dur="1" fill="hold">
                                          <p:stCondLst>
                                            <p:cond delay="0"/>
                                          </p:stCondLst>
                                        </p:cTn>
                                        <p:tgtEl>
                                          <p:spTgt spid="4">
                                            <p:txEl>
                                              <p:pRg st="6" end="6"/>
                                            </p:txEl>
                                          </p:spTgt>
                                        </p:tgtEl>
                                        <p:attrNameLst>
                                          <p:attrName>style.visibility</p:attrName>
                                        </p:attrNameLst>
                                      </p:cBhvr>
                                      <p:to>
                                        <p:strVal val="visible"/>
                                      </p:to>
                                    </p:set>
                                    <p:animEffect transition="in" filter="circle(in)">
                                      <p:cBhvr>
                                        <p:cTn id="115" dur="2000"/>
                                        <p:tgtEl>
                                          <p:spTgt spid="4">
                                            <p:txEl>
                                              <p:pRg st="6" end="6"/>
                                            </p:txEl>
                                          </p:spTgt>
                                        </p:tgtEl>
                                      </p:cBhvr>
                                    </p:animEffect>
                                  </p:childTnLst>
                                </p:cTn>
                              </p:par>
                            </p:childTnLst>
                          </p:cTn>
                        </p:par>
                      </p:childTnLst>
                    </p:cTn>
                  </p:par>
                  <p:par>
                    <p:cTn id="116" fill="hold">
                      <p:stCondLst>
                        <p:cond delay="indefinite"/>
                      </p:stCondLst>
                      <p:childTnLst>
                        <p:par>
                          <p:cTn id="117" fill="hold">
                            <p:stCondLst>
                              <p:cond delay="0"/>
                            </p:stCondLst>
                            <p:childTnLst>
                              <p:par>
                                <p:cTn id="118" presetID="31" presetClass="entr" presetSubtype="0" fill="hold" nodeType="clickEffect">
                                  <p:stCondLst>
                                    <p:cond delay="0"/>
                                  </p:stCondLst>
                                  <p:childTnLst>
                                    <p:set>
                                      <p:cBhvr>
                                        <p:cTn id="119" dur="1" fill="hold">
                                          <p:stCondLst>
                                            <p:cond delay="0"/>
                                          </p:stCondLst>
                                        </p:cTn>
                                        <p:tgtEl>
                                          <p:spTgt spid="12"/>
                                        </p:tgtEl>
                                        <p:attrNameLst>
                                          <p:attrName>style.visibility</p:attrName>
                                        </p:attrNameLst>
                                      </p:cBhvr>
                                      <p:to>
                                        <p:strVal val="visible"/>
                                      </p:to>
                                    </p:set>
                                    <p:anim calcmode="lin" valueType="num">
                                      <p:cBhvr>
                                        <p:cTn id="120" dur="1000" fill="hold"/>
                                        <p:tgtEl>
                                          <p:spTgt spid="12"/>
                                        </p:tgtEl>
                                        <p:attrNameLst>
                                          <p:attrName>ppt_w</p:attrName>
                                        </p:attrNameLst>
                                      </p:cBhvr>
                                      <p:tavLst>
                                        <p:tav tm="0">
                                          <p:val>
                                            <p:fltVal val="0"/>
                                          </p:val>
                                        </p:tav>
                                        <p:tav tm="100000">
                                          <p:val>
                                            <p:strVal val="#ppt_w"/>
                                          </p:val>
                                        </p:tav>
                                      </p:tavLst>
                                    </p:anim>
                                    <p:anim calcmode="lin" valueType="num">
                                      <p:cBhvr>
                                        <p:cTn id="121" dur="1000" fill="hold"/>
                                        <p:tgtEl>
                                          <p:spTgt spid="12"/>
                                        </p:tgtEl>
                                        <p:attrNameLst>
                                          <p:attrName>ppt_h</p:attrName>
                                        </p:attrNameLst>
                                      </p:cBhvr>
                                      <p:tavLst>
                                        <p:tav tm="0">
                                          <p:val>
                                            <p:fltVal val="0"/>
                                          </p:val>
                                        </p:tav>
                                        <p:tav tm="100000">
                                          <p:val>
                                            <p:strVal val="#ppt_h"/>
                                          </p:val>
                                        </p:tav>
                                      </p:tavLst>
                                    </p:anim>
                                    <p:anim calcmode="lin" valueType="num">
                                      <p:cBhvr>
                                        <p:cTn id="122" dur="1000" fill="hold"/>
                                        <p:tgtEl>
                                          <p:spTgt spid="12"/>
                                        </p:tgtEl>
                                        <p:attrNameLst>
                                          <p:attrName>style.rotation</p:attrName>
                                        </p:attrNameLst>
                                      </p:cBhvr>
                                      <p:tavLst>
                                        <p:tav tm="0">
                                          <p:val>
                                            <p:fltVal val="90"/>
                                          </p:val>
                                        </p:tav>
                                        <p:tav tm="100000">
                                          <p:val>
                                            <p:fltVal val="0"/>
                                          </p:val>
                                        </p:tav>
                                      </p:tavLst>
                                    </p:anim>
                                    <p:animEffect transition="in" filter="fade">
                                      <p:cBhvr>
                                        <p:cTn id="123" dur="1000"/>
                                        <p:tgtEl>
                                          <p:spTgt spid="12"/>
                                        </p:tgtEl>
                                      </p:cBhvr>
                                    </p:animEffect>
                                  </p:childTnLst>
                                </p:cTn>
                              </p:par>
                            </p:childTnLst>
                          </p:cTn>
                        </p:par>
                      </p:childTnLst>
                    </p:cTn>
                  </p:par>
                  <p:par>
                    <p:cTn id="124" fill="hold">
                      <p:stCondLst>
                        <p:cond delay="indefinite"/>
                      </p:stCondLst>
                      <p:childTnLst>
                        <p:par>
                          <p:cTn id="125" fill="hold">
                            <p:stCondLst>
                              <p:cond delay="0"/>
                            </p:stCondLst>
                            <p:childTnLst>
                              <p:par>
                                <p:cTn id="126" presetID="31" presetClass="entr" presetSubtype="0" fill="hold" nodeType="clickEffect">
                                  <p:stCondLst>
                                    <p:cond delay="0"/>
                                  </p:stCondLst>
                                  <p:childTnLst>
                                    <p:set>
                                      <p:cBhvr>
                                        <p:cTn id="127" dur="1" fill="hold">
                                          <p:stCondLst>
                                            <p:cond delay="0"/>
                                          </p:stCondLst>
                                        </p:cTn>
                                        <p:tgtEl>
                                          <p:spTgt spid="14"/>
                                        </p:tgtEl>
                                        <p:attrNameLst>
                                          <p:attrName>style.visibility</p:attrName>
                                        </p:attrNameLst>
                                      </p:cBhvr>
                                      <p:to>
                                        <p:strVal val="visible"/>
                                      </p:to>
                                    </p:set>
                                    <p:anim calcmode="lin" valueType="num">
                                      <p:cBhvr>
                                        <p:cTn id="128" dur="1000" fill="hold"/>
                                        <p:tgtEl>
                                          <p:spTgt spid="14"/>
                                        </p:tgtEl>
                                        <p:attrNameLst>
                                          <p:attrName>ppt_w</p:attrName>
                                        </p:attrNameLst>
                                      </p:cBhvr>
                                      <p:tavLst>
                                        <p:tav tm="0">
                                          <p:val>
                                            <p:fltVal val="0"/>
                                          </p:val>
                                        </p:tav>
                                        <p:tav tm="100000">
                                          <p:val>
                                            <p:strVal val="#ppt_w"/>
                                          </p:val>
                                        </p:tav>
                                      </p:tavLst>
                                    </p:anim>
                                    <p:anim calcmode="lin" valueType="num">
                                      <p:cBhvr>
                                        <p:cTn id="129" dur="1000" fill="hold"/>
                                        <p:tgtEl>
                                          <p:spTgt spid="14"/>
                                        </p:tgtEl>
                                        <p:attrNameLst>
                                          <p:attrName>ppt_h</p:attrName>
                                        </p:attrNameLst>
                                      </p:cBhvr>
                                      <p:tavLst>
                                        <p:tav tm="0">
                                          <p:val>
                                            <p:fltVal val="0"/>
                                          </p:val>
                                        </p:tav>
                                        <p:tav tm="100000">
                                          <p:val>
                                            <p:strVal val="#ppt_h"/>
                                          </p:val>
                                        </p:tav>
                                      </p:tavLst>
                                    </p:anim>
                                    <p:anim calcmode="lin" valueType="num">
                                      <p:cBhvr>
                                        <p:cTn id="130" dur="1000" fill="hold"/>
                                        <p:tgtEl>
                                          <p:spTgt spid="14"/>
                                        </p:tgtEl>
                                        <p:attrNameLst>
                                          <p:attrName>style.rotation</p:attrName>
                                        </p:attrNameLst>
                                      </p:cBhvr>
                                      <p:tavLst>
                                        <p:tav tm="0">
                                          <p:val>
                                            <p:fltVal val="90"/>
                                          </p:val>
                                        </p:tav>
                                        <p:tav tm="100000">
                                          <p:val>
                                            <p:fltVal val="0"/>
                                          </p:val>
                                        </p:tav>
                                      </p:tavLst>
                                    </p:anim>
                                    <p:animEffect transition="in" filter="fade">
                                      <p:cBhvr>
                                        <p:cTn id="131"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1" animBg="1"/>
      <p:bldP spid="8" grpId="0"/>
      <p:bldP spid="9" grpId="0" animBg="1"/>
      <p:bldP spid="10"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6"/>
          <p:cNvSpPr/>
          <p:nvPr/>
        </p:nvSpPr>
        <p:spPr>
          <a:xfrm>
            <a:off x="942110" y="932871"/>
            <a:ext cx="1163782" cy="822037"/>
          </a:xfrm>
          <a:prstGeom prst="ellipse">
            <a:avLst/>
          </a:prstGeom>
          <a:solidFill>
            <a:srgbClr val="00B0F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8" name="Oval 7"/>
          <p:cNvSpPr/>
          <p:nvPr/>
        </p:nvSpPr>
        <p:spPr>
          <a:xfrm>
            <a:off x="3075707" y="932871"/>
            <a:ext cx="1163783" cy="822037"/>
          </a:xfrm>
          <a:prstGeom prst="ellipse">
            <a:avLst/>
          </a:prstGeom>
          <a:solidFill>
            <a:srgbClr val="00B0F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0" name="Oval 9"/>
          <p:cNvSpPr/>
          <p:nvPr/>
        </p:nvSpPr>
        <p:spPr>
          <a:xfrm>
            <a:off x="942111" y="2609273"/>
            <a:ext cx="1163782" cy="789710"/>
          </a:xfrm>
          <a:prstGeom prst="ellipse">
            <a:avLst/>
          </a:prstGeom>
          <a:solidFill>
            <a:srgbClr val="92D05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6217" y="1902911"/>
            <a:ext cx="635566" cy="4838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0239" y="1199860"/>
            <a:ext cx="584913" cy="3977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Oval 10"/>
          <p:cNvSpPr/>
          <p:nvPr/>
        </p:nvSpPr>
        <p:spPr>
          <a:xfrm>
            <a:off x="1653660" y="4131396"/>
            <a:ext cx="1283504" cy="794328"/>
          </a:xfrm>
          <a:prstGeom prst="ellipse">
            <a:avLst/>
          </a:prstGeom>
          <a:solidFill>
            <a:srgbClr val="92D05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2" name="Oval 11"/>
          <p:cNvSpPr/>
          <p:nvPr/>
        </p:nvSpPr>
        <p:spPr>
          <a:xfrm>
            <a:off x="2425971" y="5458692"/>
            <a:ext cx="1231627" cy="794328"/>
          </a:xfrm>
          <a:prstGeom prst="ellipse">
            <a:avLst/>
          </a:prstGeom>
          <a:solidFill>
            <a:srgbClr val="92D05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44824" y="1145451"/>
            <a:ext cx="5857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Oval 12"/>
          <p:cNvSpPr/>
          <p:nvPr/>
        </p:nvSpPr>
        <p:spPr>
          <a:xfrm>
            <a:off x="942111" y="5458692"/>
            <a:ext cx="1163781" cy="794328"/>
          </a:xfrm>
          <a:prstGeom prst="ellipse">
            <a:avLst/>
          </a:prstGeom>
          <a:solidFill>
            <a:srgbClr val="00B0F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pic>
        <p:nvPicPr>
          <p:cNvPr id="103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8845" y="4977679"/>
            <a:ext cx="633413"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Oval 13"/>
          <p:cNvSpPr/>
          <p:nvPr/>
        </p:nvSpPr>
        <p:spPr>
          <a:xfrm>
            <a:off x="7352146" y="932871"/>
            <a:ext cx="1219200" cy="822037"/>
          </a:xfrm>
          <a:prstGeom prst="ellipse">
            <a:avLst/>
          </a:prstGeom>
          <a:solidFill>
            <a:schemeClr val="tx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5" name="Oval 14"/>
          <p:cNvSpPr/>
          <p:nvPr/>
        </p:nvSpPr>
        <p:spPr>
          <a:xfrm>
            <a:off x="9642765" y="932872"/>
            <a:ext cx="1200726" cy="853896"/>
          </a:xfrm>
          <a:prstGeom prst="ellipse">
            <a:avLst/>
          </a:prstGeom>
          <a:solidFill>
            <a:schemeClr val="tx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p>
        </p:txBody>
      </p:sp>
      <p:sp>
        <p:nvSpPr>
          <p:cNvPr id="16" name="Oval 15"/>
          <p:cNvSpPr/>
          <p:nvPr/>
        </p:nvSpPr>
        <p:spPr>
          <a:xfrm>
            <a:off x="7353011" y="2609274"/>
            <a:ext cx="1218336" cy="789710"/>
          </a:xfrm>
          <a:prstGeom prst="ellipse">
            <a:avLst/>
          </a:prstGeom>
          <a:solidFill>
            <a:schemeClr val="accent6">
              <a:lumMod val="40000"/>
              <a:lumOff val="6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p>
        </p:txBody>
      </p:sp>
      <p:pic>
        <p:nvPicPr>
          <p:cNvPr id="103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72220" y="3968172"/>
            <a:ext cx="1292225"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38789" y="5444693"/>
            <a:ext cx="1292225"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3"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53010" y="5444693"/>
            <a:ext cx="12922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 name="Picture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81984" y="1894899"/>
            <a:ext cx="633413" cy="48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5" name="Picture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01627" y="4898881"/>
            <a:ext cx="633413" cy="48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Box 16"/>
          <p:cNvSpPr txBox="1"/>
          <p:nvPr/>
        </p:nvSpPr>
        <p:spPr>
          <a:xfrm>
            <a:off x="1108363" y="1145451"/>
            <a:ext cx="895928" cy="369332"/>
          </a:xfrm>
          <a:prstGeom prst="rect">
            <a:avLst/>
          </a:prstGeom>
          <a:noFill/>
        </p:spPr>
        <p:txBody>
          <a:bodyPr wrap="square" rtlCol="0">
            <a:spAutoFit/>
          </a:bodyPr>
          <a:lstStyle/>
          <a:p>
            <a:r>
              <a:rPr lang="zh-CN" altLang="en-US" b="1" dirty="0"/>
              <a:t>正义者</a:t>
            </a:r>
          </a:p>
        </p:txBody>
      </p:sp>
      <p:sp>
        <p:nvSpPr>
          <p:cNvPr id="18" name="TextBox 17"/>
          <p:cNvSpPr txBox="1"/>
          <p:nvPr/>
        </p:nvSpPr>
        <p:spPr>
          <a:xfrm>
            <a:off x="3241964" y="1199860"/>
            <a:ext cx="914400" cy="369332"/>
          </a:xfrm>
          <a:prstGeom prst="rect">
            <a:avLst/>
          </a:prstGeom>
          <a:noFill/>
        </p:spPr>
        <p:txBody>
          <a:bodyPr wrap="square" rtlCol="0">
            <a:spAutoFit/>
          </a:bodyPr>
          <a:lstStyle/>
          <a:p>
            <a:r>
              <a:rPr lang="zh-CN" altLang="en-US" b="1" dirty="0"/>
              <a:t>正义者</a:t>
            </a:r>
          </a:p>
        </p:txBody>
      </p:sp>
      <p:sp>
        <p:nvSpPr>
          <p:cNvPr id="19" name="TextBox 18"/>
          <p:cNvSpPr txBox="1"/>
          <p:nvPr/>
        </p:nvSpPr>
        <p:spPr>
          <a:xfrm>
            <a:off x="942111" y="2844800"/>
            <a:ext cx="1163781" cy="369332"/>
          </a:xfrm>
          <a:prstGeom prst="rect">
            <a:avLst/>
          </a:prstGeom>
          <a:noFill/>
        </p:spPr>
        <p:txBody>
          <a:bodyPr wrap="square" rtlCol="0">
            <a:spAutoFit/>
          </a:bodyPr>
          <a:lstStyle/>
          <a:p>
            <a:r>
              <a:rPr lang="zh-CN" altLang="en-US" b="1" dirty="0"/>
              <a:t>不正义者</a:t>
            </a:r>
          </a:p>
        </p:txBody>
      </p:sp>
      <p:sp>
        <p:nvSpPr>
          <p:cNvPr id="20" name="TextBox 19"/>
          <p:cNvSpPr txBox="1"/>
          <p:nvPr/>
        </p:nvSpPr>
        <p:spPr>
          <a:xfrm>
            <a:off x="1754909" y="4364253"/>
            <a:ext cx="1182255" cy="369332"/>
          </a:xfrm>
          <a:prstGeom prst="rect">
            <a:avLst/>
          </a:prstGeom>
          <a:noFill/>
        </p:spPr>
        <p:txBody>
          <a:bodyPr wrap="square" rtlCol="0">
            <a:spAutoFit/>
          </a:bodyPr>
          <a:lstStyle/>
          <a:p>
            <a:r>
              <a:rPr lang="zh-CN" altLang="en-US" b="1" dirty="0"/>
              <a:t>不正义者</a:t>
            </a:r>
          </a:p>
        </p:txBody>
      </p:sp>
      <p:sp>
        <p:nvSpPr>
          <p:cNvPr id="21" name="TextBox 20"/>
          <p:cNvSpPr txBox="1"/>
          <p:nvPr/>
        </p:nvSpPr>
        <p:spPr>
          <a:xfrm>
            <a:off x="1108363" y="5726545"/>
            <a:ext cx="895928" cy="369332"/>
          </a:xfrm>
          <a:prstGeom prst="rect">
            <a:avLst/>
          </a:prstGeom>
          <a:noFill/>
        </p:spPr>
        <p:txBody>
          <a:bodyPr wrap="square" rtlCol="0">
            <a:spAutoFit/>
          </a:bodyPr>
          <a:lstStyle/>
          <a:p>
            <a:r>
              <a:rPr lang="zh-CN" altLang="en-US" b="1" dirty="0"/>
              <a:t>正义者</a:t>
            </a:r>
          </a:p>
        </p:txBody>
      </p:sp>
      <p:sp>
        <p:nvSpPr>
          <p:cNvPr id="22" name="TextBox 21"/>
          <p:cNvSpPr txBox="1"/>
          <p:nvPr/>
        </p:nvSpPr>
        <p:spPr>
          <a:xfrm>
            <a:off x="2457651" y="5717464"/>
            <a:ext cx="1168266" cy="369332"/>
          </a:xfrm>
          <a:prstGeom prst="rect">
            <a:avLst/>
          </a:prstGeom>
          <a:noFill/>
        </p:spPr>
        <p:txBody>
          <a:bodyPr wrap="square" rtlCol="0">
            <a:spAutoFit/>
          </a:bodyPr>
          <a:lstStyle/>
          <a:p>
            <a:r>
              <a:rPr lang="zh-CN" altLang="en-US" b="1" dirty="0"/>
              <a:t>不正义者</a:t>
            </a:r>
          </a:p>
        </p:txBody>
      </p:sp>
      <p:sp>
        <p:nvSpPr>
          <p:cNvPr id="23" name="TextBox 22"/>
          <p:cNvSpPr txBox="1"/>
          <p:nvPr/>
        </p:nvSpPr>
        <p:spPr>
          <a:xfrm>
            <a:off x="7555345" y="1145451"/>
            <a:ext cx="914400" cy="369332"/>
          </a:xfrm>
          <a:prstGeom prst="rect">
            <a:avLst/>
          </a:prstGeom>
          <a:noFill/>
        </p:spPr>
        <p:txBody>
          <a:bodyPr wrap="square" rtlCol="0">
            <a:spAutoFit/>
          </a:bodyPr>
          <a:lstStyle/>
          <a:p>
            <a:r>
              <a:rPr lang="zh-CN" altLang="en-US" b="1" dirty="0">
                <a:solidFill>
                  <a:schemeClr val="bg1"/>
                </a:solidFill>
              </a:rPr>
              <a:t>有知者</a:t>
            </a:r>
          </a:p>
        </p:txBody>
      </p:sp>
      <p:sp>
        <p:nvSpPr>
          <p:cNvPr id="24" name="TextBox 23"/>
          <p:cNvSpPr txBox="1"/>
          <p:nvPr/>
        </p:nvSpPr>
        <p:spPr>
          <a:xfrm>
            <a:off x="9809019" y="1163900"/>
            <a:ext cx="997527" cy="369332"/>
          </a:xfrm>
          <a:prstGeom prst="rect">
            <a:avLst/>
          </a:prstGeom>
          <a:noFill/>
        </p:spPr>
        <p:txBody>
          <a:bodyPr wrap="square" rtlCol="0">
            <a:spAutoFit/>
          </a:bodyPr>
          <a:lstStyle/>
          <a:p>
            <a:r>
              <a:rPr lang="zh-CN" altLang="en-US" b="1" dirty="0">
                <a:solidFill>
                  <a:schemeClr val="bg1"/>
                </a:solidFill>
              </a:rPr>
              <a:t>有知者</a:t>
            </a:r>
          </a:p>
        </p:txBody>
      </p:sp>
      <p:sp>
        <p:nvSpPr>
          <p:cNvPr id="25" name="TextBox 24"/>
          <p:cNvSpPr txBox="1"/>
          <p:nvPr/>
        </p:nvSpPr>
        <p:spPr>
          <a:xfrm>
            <a:off x="7555345" y="2844800"/>
            <a:ext cx="914400" cy="369332"/>
          </a:xfrm>
          <a:prstGeom prst="rect">
            <a:avLst/>
          </a:prstGeom>
          <a:noFill/>
        </p:spPr>
        <p:txBody>
          <a:bodyPr wrap="square" rtlCol="0">
            <a:spAutoFit/>
          </a:bodyPr>
          <a:lstStyle/>
          <a:p>
            <a:r>
              <a:rPr lang="zh-CN" altLang="en-US" b="1" dirty="0"/>
              <a:t>无知者</a:t>
            </a:r>
          </a:p>
        </p:txBody>
      </p:sp>
      <p:sp>
        <p:nvSpPr>
          <p:cNvPr id="26" name="TextBox 25"/>
          <p:cNvSpPr txBox="1"/>
          <p:nvPr/>
        </p:nvSpPr>
        <p:spPr>
          <a:xfrm>
            <a:off x="8238836" y="4200801"/>
            <a:ext cx="946869" cy="369332"/>
          </a:xfrm>
          <a:prstGeom prst="rect">
            <a:avLst/>
          </a:prstGeom>
          <a:noFill/>
        </p:spPr>
        <p:txBody>
          <a:bodyPr wrap="square" rtlCol="0">
            <a:spAutoFit/>
          </a:bodyPr>
          <a:lstStyle/>
          <a:p>
            <a:r>
              <a:rPr lang="zh-CN" altLang="en-US" b="1" dirty="0"/>
              <a:t>无知者</a:t>
            </a:r>
          </a:p>
        </p:txBody>
      </p:sp>
      <p:sp>
        <p:nvSpPr>
          <p:cNvPr id="27" name="TextBox 26"/>
          <p:cNvSpPr txBox="1"/>
          <p:nvPr/>
        </p:nvSpPr>
        <p:spPr>
          <a:xfrm>
            <a:off x="7555344" y="5726545"/>
            <a:ext cx="1016001" cy="369332"/>
          </a:xfrm>
          <a:prstGeom prst="rect">
            <a:avLst/>
          </a:prstGeom>
          <a:noFill/>
        </p:spPr>
        <p:txBody>
          <a:bodyPr wrap="square" rtlCol="0">
            <a:spAutoFit/>
          </a:bodyPr>
          <a:lstStyle/>
          <a:p>
            <a:r>
              <a:rPr lang="zh-CN" altLang="en-US" dirty="0">
                <a:solidFill>
                  <a:schemeClr val="bg1"/>
                </a:solidFill>
              </a:rPr>
              <a:t>有知者</a:t>
            </a:r>
          </a:p>
        </p:txBody>
      </p:sp>
      <p:sp>
        <p:nvSpPr>
          <p:cNvPr id="28" name="TextBox 27"/>
          <p:cNvSpPr txBox="1"/>
          <p:nvPr/>
        </p:nvSpPr>
        <p:spPr>
          <a:xfrm>
            <a:off x="9269770" y="5671190"/>
            <a:ext cx="973358" cy="369332"/>
          </a:xfrm>
          <a:prstGeom prst="rect">
            <a:avLst/>
          </a:prstGeom>
          <a:noFill/>
        </p:spPr>
        <p:txBody>
          <a:bodyPr wrap="square" rtlCol="0">
            <a:spAutoFit/>
          </a:bodyPr>
          <a:lstStyle/>
          <a:p>
            <a:r>
              <a:rPr lang="zh-CN" altLang="en-US" b="1" dirty="0"/>
              <a:t>无知者</a:t>
            </a:r>
          </a:p>
        </p:txBody>
      </p:sp>
    </p:spTree>
    <p:extLst>
      <p:ext uri="{BB962C8B-B14F-4D97-AF65-F5344CB8AC3E}">
        <p14:creationId xmlns:p14="http://schemas.microsoft.com/office/powerpoint/2010/main" val="2064076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 calcmode="lin" valueType="num">
                                      <p:cBhvr additive="base">
                                        <p:cTn id="12"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circle(in)">
                                      <p:cBhvr>
                                        <p:cTn id="18" dur="20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8">
                                            <p:txEl>
                                              <p:pRg st="0" end="0"/>
                                            </p:txEl>
                                          </p:spTgt>
                                        </p:tgtEl>
                                        <p:attrNameLst>
                                          <p:attrName>style.visibility</p:attrName>
                                        </p:attrNameLst>
                                      </p:cBhvr>
                                      <p:to>
                                        <p:strVal val="visible"/>
                                      </p:to>
                                    </p:set>
                                    <p:anim calcmode="lin" valueType="num">
                                      <p:cBhvr additive="base">
                                        <p:cTn id="23"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028"/>
                                        </p:tgtEl>
                                        <p:attrNameLst>
                                          <p:attrName>style.visibility</p:attrName>
                                        </p:attrNameLst>
                                      </p:cBhvr>
                                      <p:to>
                                        <p:strVal val="visible"/>
                                      </p:to>
                                    </p:set>
                                    <p:animEffect transition="in" filter="fade">
                                      <p:cBhvr>
                                        <p:cTn id="29" dur="1000"/>
                                        <p:tgtEl>
                                          <p:spTgt spid="1028"/>
                                        </p:tgtEl>
                                      </p:cBhvr>
                                    </p:animEffect>
                                    <p:anim calcmode="lin" valueType="num">
                                      <p:cBhvr>
                                        <p:cTn id="30" dur="1000" fill="hold"/>
                                        <p:tgtEl>
                                          <p:spTgt spid="1028"/>
                                        </p:tgtEl>
                                        <p:attrNameLst>
                                          <p:attrName>ppt_x</p:attrName>
                                        </p:attrNameLst>
                                      </p:cBhvr>
                                      <p:tavLst>
                                        <p:tav tm="0">
                                          <p:val>
                                            <p:strVal val="#ppt_x"/>
                                          </p:val>
                                        </p:tav>
                                        <p:tav tm="100000">
                                          <p:val>
                                            <p:strVal val="#ppt_x"/>
                                          </p:val>
                                        </p:tav>
                                      </p:tavLst>
                                    </p:anim>
                                    <p:anim calcmode="lin" valueType="num">
                                      <p:cBhvr>
                                        <p:cTn id="31" dur="1000" fill="hold"/>
                                        <p:tgtEl>
                                          <p:spTgt spid="1028"/>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circle(in)">
                                      <p:cBhvr>
                                        <p:cTn id="36" dur="20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9">
                                            <p:txEl>
                                              <p:pRg st="0" end="0"/>
                                            </p:txEl>
                                          </p:spTgt>
                                        </p:tgtEl>
                                        <p:attrNameLst>
                                          <p:attrName>style.visibility</p:attrName>
                                        </p:attrNameLst>
                                      </p:cBhvr>
                                      <p:to>
                                        <p:strVal val="visible"/>
                                      </p:to>
                                    </p:set>
                                    <p:anim calcmode="lin" valueType="num">
                                      <p:cBhvr additive="base">
                                        <p:cTn id="41"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6" presetClass="entr" presetSubtype="0" fill="hold" nodeType="clickEffect">
                                  <p:stCondLst>
                                    <p:cond delay="0"/>
                                  </p:stCondLst>
                                  <p:childTnLst>
                                    <p:set>
                                      <p:cBhvr>
                                        <p:cTn id="46" dur="1" fill="hold">
                                          <p:stCondLst>
                                            <p:cond delay="0"/>
                                          </p:stCondLst>
                                        </p:cTn>
                                        <p:tgtEl>
                                          <p:spTgt spid="1027"/>
                                        </p:tgtEl>
                                        <p:attrNameLst>
                                          <p:attrName>style.visibility</p:attrName>
                                        </p:attrNameLst>
                                      </p:cBhvr>
                                      <p:to>
                                        <p:strVal val="visible"/>
                                      </p:to>
                                    </p:set>
                                    <p:animEffect transition="in" filter="wipe(down)">
                                      <p:cBhvr>
                                        <p:cTn id="47" dur="580">
                                          <p:stCondLst>
                                            <p:cond delay="0"/>
                                          </p:stCondLst>
                                        </p:cTn>
                                        <p:tgtEl>
                                          <p:spTgt spid="1027"/>
                                        </p:tgtEl>
                                      </p:cBhvr>
                                    </p:animEffect>
                                    <p:anim calcmode="lin" valueType="num">
                                      <p:cBhvr>
                                        <p:cTn id="48" dur="1822" tmFilter="0,0; 0.14,0.36; 0.43,0.73; 0.71,0.91; 1.0,1.0">
                                          <p:stCondLst>
                                            <p:cond delay="0"/>
                                          </p:stCondLst>
                                        </p:cTn>
                                        <p:tgtEl>
                                          <p:spTgt spid="1027"/>
                                        </p:tgtEl>
                                        <p:attrNameLst>
                                          <p:attrName>ppt_x</p:attrName>
                                        </p:attrNameLst>
                                      </p:cBhvr>
                                      <p:tavLst>
                                        <p:tav tm="0">
                                          <p:val>
                                            <p:strVal val="#ppt_x-0.25"/>
                                          </p:val>
                                        </p:tav>
                                        <p:tav tm="100000">
                                          <p:val>
                                            <p:strVal val="#ppt_x"/>
                                          </p:val>
                                        </p:tav>
                                      </p:tavLst>
                                    </p:anim>
                                    <p:anim calcmode="lin" valueType="num">
                                      <p:cBhvr>
                                        <p:cTn id="49" dur="664" tmFilter="0.0,0.0; 0.25,0.07; 0.50,0.2; 0.75,0.467; 1.0,1.0">
                                          <p:stCondLst>
                                            <p:cond delay="0"/>
                                          </p:stCondLst>
                                        </p:cTn>
                                        <p:tgtEl>
                                          <p:spTgt spid="1027"/>
                                        </p:tgtEl>
                                        <p:attrNameLst>
                                          <p:attrName>ppt_y</p:attrName>
                                        </p:attrNameLst>
                                      </p:cBhvr>
                                      <p:tavLst>
                                        <p:tav tm="0" fmla="#ppt_y-sin(pi*$)/3">
                                          <p:val>
                                            <p:fltVal val="0.5"/>
                                          </p:val>
                                        </p:tav>
                                        <p:tav tm="100000">
                                          <p:val>
                                            <p:fltVal val="1"/>
                                          </p:val>
                                        </p:tav>
                                      </p:tavLst>
                                    </p:anim>
                                    <p:anim calcmode="lin" valueType="num">
                                      <p:cBhvr>
                                        <p:cTn id="50" dur="664" tmFilter="0, 0; 0.125,0.2665; 0.25,0.4; 0.375,0.465; 0.5,0.5;  0.625,0.535; 0.75,0.6; 0.875,0.7335; 1,1">
                                          <p:stCondLst>
                                            <p:cond delay="664"/>
                                          </p:stCondLst>
                                        </p:cTn>
                                        <p:tgtEl>
                                          <p:spTgt spid="1027"/>
                                        </p:tgtEl>
                                        <p:attrNameLst>
                                          <p:attrName>ppt_y</p:attrName>
                                        </p:attrNameLst>
                                      </p:cBhvr>
                                      <p:tavLst>
                                        <p:tav tm="0" fmla="#ppt_y-sin(pi*$)/9">
                                          <p:val>
                                            <p:fltVal val="0"/>
                                          </p:val>
                                        </p:tav>
                                        <p:tav tm="100000">
                                          <p:val>
                                            <p:fltVal val="1"/>
                                          </p:val>
                                        </p:tav>
                                      </p:tavLst>
                                    </p:anim>
                                    <p:anim calcmode="lin" valueType="num">
                                      <p:cBhvr>
                                        <p:cTn id="51" dur="332" tmFilter="0, 0; 0.125,0.2665; 0.25,0.4; 0.375,0.465; 0.5,0.5;  0.625,0.535; 0.75,0.6; 0.875,0.7335; 1,1">
                                          <p:stCondLst>
                                            <p:cond delay="1324"/>
                                          </p:stCondLst>
                                        </p:cTn>
                                        <p:tgtEl>
                                          <p:spTgt spid="1027"/>
                                        </p:tgtEl>
                                        <p:attrNameLst>
                                          <p:attrName>ppt_y</p:attrName>
                                        </p:attrNameLst>
                                      </p:cBhvr>
                                      <p:tavLst>
                                        <p:tav tm="0" fmla="#ppt_y-sin(pi*$)/27">
                                          <p:val>
                                            <p:fltVal val="0"/>
                                          </p:val>
                                        </p:tav>
                                        <p:tav tm="100000">
                                          <p:val>
                                            <p:fltVal val="1"/>
                                          </p:val>
                                        </p:tav>
                                      </p:tavLst>
                                    </p:anim>
                                    <p:anim calcmode="lin" valueType="num">
                                      <p:cBhvr>
                                        <p:cTn id="52" dur="164" tmFilter="0, 0; 0.125,0.2665; 0.25,0.4; 0.375,0.465; 0.5,0.5;  0.625,0.535; 0.75,0.6; 0.875,0.7335; 1,1">
                                          <p:stCondLst>
                                            <p:cond delay="1656"/>
                                          </p:stCondLst>
                                        </p:cTn>
                                        <p:tgtEl>
                                          <p:spTgt spid="1027"/>
                                        </p:tgtEl>
                                        <p:attrNameLst>
                                          <p:attrName>ppt_y</p:attrName>
                                        </p:attrNameLst>
                                      </p:cBhvr>
                                      <p:tavLst>
                                        <p:tav tm="0" fmla="#ppt_y-sin(pi*$)/81">
                                          <p:val>
                                            <p:fltVal val="0"/>
                                          </p:val>
                                        </p:tav>
                                        <p:tav tm="100000">
                                          <p:val>
                                            <p:fltVal val="1"/>
                                          </p:val>
                                        </p:tav>
                                      </p:tavLst>
                                    </p:anim>
                                    <p:animScale>
                                      <p:cBhvr>
                                        <p:cTn id="53" dur="26">
                                          <p:stCondLst>
                                            <p:cond delay="650"/>
                                          </p:stCondLst>
                                        </p:cTn>
                                        <p:tgtEl>
                                          <p:spTgt spid="1027"/>
                                        </p:tgtEl>
                                      </p:cBhvr>
                                      <p:to x="100000" y="60000"/>
                                    </p:animScale>
                                    <p:animScale>
                                      <p:cBhvr>
                                        <p:cTn id="54" dur="166" decel="50000">
                                          <p:stCondLst>
                                            <p:cond delay="676"/>
                                          </p:stCondLst>
                                        </p:cTn>
                                        <p:tgtEl>
                                          <p:spTgt spid="1027"/>
                                        </p:tgtEl>
                                      </p:cBhvr>
                                      <p:to x="100000" y="100000"/>
                                    </p:animScale>
                                    <p:animScale>
                                      <p:cBhvr>
                                        <p:cTn id="55" dur="26">
                                          <p:stCondLst>
                                            <p:cond delay="1312"/>
                                          </p:stCondLst>
                                        </p:cTn>
                                        <p:tgtEl>
                                          <p:spTgt spid="1027"/>
                                        </p:tgtEl>
                                      </p:cBhvr>
                                      <p:to x="100000" y="80000"/>
                                    </p:animScale>
                                    <p:animScale>
                                      <p:cBhvr>
                                        <p:cTn id="56" dur="166" decel="50000">
                                          <p:stCondLst>
                                            <p:cond delay="1338"/>
                                          </p:stCondLst>
                                        </p:cTn>
                                        <p:tgtEl>
                                          <p:spTgt spid="1027"/>
                                        </p:tgtEl>
                                      </p:cBhvr>
                                      <p:to x="100000" y="100000"/>
                                    </p:animScale>
                                    <p:animScale>
                                      <p:cBhvr>
                                        <p:cTn id="57" dur="26">
                                          <p:stCondLst>
                                            <p:cond delay="1642"/>
                                          </p:stCondLst>
                                        </p:cTn>
                                        <p:tgtEl>
                                          <p:spTgt spid="1027"/>
                                        </p:tgtEl>
                                      </p:cBhvr>
                                      <p:to x="100000" y="90000"/>
                                    </p:animScale>
                                    <p:animScale>
                                      <p:cBhvr>
                                        <p:cTn id="58" dur="166" decel="50000">
                                          <p:stCondLst>
                                            <p:cond delay="1668"/>
                                          </p:stCondLst>
                                        </p:cTn>
                                        <p:tgtEl>
                                          <p:spTgt spid="1027"/>
                                        </p:tgtEl>
                                      </p:cBhvr>
                                      <p:to x="100000" y="100000"/>
                                    </p:animScale>
                                    <p:animScale>
                                      <p:cBhvr>
                                        <p:cTn id="59" dur="26">
                                          <p:stCondLst>
                                            <p:cond delay="1808"/>
                                          </p:stCondLst>
                                        </p:cTn>
                                        <p:tgtEl>
                                          <p:spTgt spid="1027"/>
                                        </p:tgtEl>
                                      </p:cBhvr>
                                      <p:to x="100000" y="95000"/>
                                    </p:animScale>
                                    <p:animScale>
                                      <p:cBhvr>
                                        <p:cTn id="60" dur="166" decel="50000">
                                          <p:stCondLst>
                                            <p:cond delay="1834"/>
                                          </p:stCondLst>
                                        </p:cTn>
                                        <p:tgtEl>
                                          <p:spTgt spid="1027"/>
                                        </p:tgtEl>
                                      </p:cBhvr>
                                      <p:to x="100000" y="100000"/>
                                    </p:animScale>
                                  </p:childTnLst>
                                </p:cTn>
                              </p:par>
                            </p:childTnLst>
                          </p:cTn>
                        </p:par>
                      </p:childTnLst>
                    </p:cTn>
                  </p:par>
                  <p:par>
                    <p:cTn id="61" fill="hold">
                      <p:stCondLst>
                        <p:cond delay="indefinite"/>
                      </p:stCondLst>
                      <p:childTnLst>
                        <p:par>
                          <p:cTn id="62" fill="hold">
                            <p:stCondLst>
                              <p:cond delay="0"/>
                            </p:stCondLst>
                            <p:childTnLst>
                              <p:par>
                                <p:cTn id="63" presetID="6" presetClass="entr" presetSubtype="16" fill="hold" grpId="0" nodeType="clickEffect">
                                  <p:stCondLst>
                                    <p:cond delay="0"/>
                                  </p:stCondLst>
                                  <p:childTnLst>
                                    <p:set>
                                      <p:cBhvr>
                                        <p:cTn id="64" dur="1" fill="hold">
                                          <p:stCondLst>
                                            <p:cond delay="0"/>
                                          </p:stCondLst>
                                        </p:cTn>
                                        <p:tgtEl>
                                          <p:spTgt spid="11"/>
                                        </p:tgtEl>
                                        <p:attrNameLst>
                                          <p:attrName>style.visibility</p:attrName>
                                        </p:attrNameLst>
                                      </p:cBhvr>
                                      <p:to>
                                        <p:strVal val="visible"/>
                                      </p:to>
                                    </p:set>
                                    <p:animEffect transition="in" filter="circle(in)">
                                      <p:cBhvr>
                                        <p:cTn id="65" dur="2000"/>
                                        <p:tgtEl>
                                          <p:spTgt spid="11"/>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nodeType="clickEffect">
                                  <p:stCondLst>
                                    <p:cond delay="0"/>
                                  </p:stCondLst>
                                  <p:childTnLst>
                                    <p:set>
                                      <p:cBhvr>
                                        <p:cTn id="69" dur="1" fill="hold">
                                          <p:stCondLst>
                                            <p:cond delay="0"/>
                                          </p:stCondLst>
                                        </p:cTn>
                                        <p:tgtEl>
                                          <p:spTgt spid="20">
                                            <p:txEl>
                                              <p:pRg st="0" end="0"/>
                                            </p:txEl>
                                          </p:spTgt>
                                        </p:tgtEl>
                                        <p:attrNameLst>
                                          <p:attrName>style.visibility</p:attrName>
                                        </p:attrNameLst>
                                      </p:cBhvr>
                                      <p:to>
                                        <p:strVal val="visible"/>
                                      </p:to>
                                    </p:set>
                                    <p:anim calcmode="lin" valueType="num">
                                      <p:cBhvr additive="base">
                                        <p:cTn id="70"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2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6" presetClass="entr" presetSubtype="16" fill="hold" grpId="0" nodeType="clickEffect">
                                  <p:stCondLst>
                                    <p:cond delay="0"/>
                                  </p:stCondLst>
                                  <p:childTnLst>
                                    <p:set>
                                      <p:cBhvr>
                                        <p:cTn id="75" dur="1" fill="hold">
                                          <p:stCondLst>
                                            <p:cond delay="0"/>
                                          </p:stCondLst>
                                        </p:cTn>
                                        <p:tgtEl>
                                          <p:spTgt spid="13"/>
                                        </p:tgtEl>
                                        <p:attrNameLst>
                                          <p:attrName>style.visibility</p:attrName>
                                        </p:attrNameLst>
                                      </p:cBhvr>
                                      <p:to>
                                        <p:strVal val="visible"/>
                                      </p:to>
                                    </p:set>
                                    <p:animEffect transition="in" filter="circle(in)">
                                      <p:cBhvr>
                                        <p:cTn id="76" dur="2000"/>
                                        <p:tgtEl>
                                          <p:spTgt spid="13"/>
                                        </p:tgtEl>
                                      </p:cBhvr>
                                    </p:animEffect>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21">
                                            <p:txEl>
                                              <p:pRg st="0" end="0"/>
                                            </p:txEl>
                                          </p:spTgt>
                                        </p:tgtEl>
                                        <p:attrNameLst>
                                          <p:attrName>style.visibility</p:attrName>
                                        </p:attrNameLst>
                                      </p:cBhvr>
                                      <p:to>
                                        <p:strVal val="visible"/>
                                      </p:to>
                                    </p:set>
                                    <p:anim calcmode="lin" valueType="num">
                                      <p:cBhvr additive="base">
                                        <p:cTn id="81"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2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6" presetClass="entr" presetSubtype="0" fill="hold" nodeType="clickEffect">
                                  <p:stCondLst>
                                    <p:cond delay="0"/>
                                  </p:stCondLst>
                                  <p:childTnLst>
                                    <p:set>
                                      <p:cBhvr>
                                        <p:cTn id="86" dur="1" fill="hold">
                                          <p:stCondLst>
                                            <p:cond delay="0"/>
                                          </p:stCondLst>
                                        </p:cTn>
                                        <p:tgtEl>
                                          <p:spTgt spid="1030"/>
                                        </p:tgtEl>
                                        <p:attrNameLst>
                                          <p:attrName>style.visibility</p:attrName>
                                        </p:attrNameLst>
                                      </p:cBhvr>
                                      <p:to>
                                        <p:strVal val="visible"/>
                                      </p:to>
                                    </p:set>
                                    <p:animEffect transition="in" filter="wipe(down)">
                                      <p:cBhvr>
                                        <p:cTn id="87" dur="580">
                                          <p:stCondLst>
                                            <p:cond delay="0"/>
                                          </p:stCondLst>
                                        </p:cTn>
                                        <p:tgtEl>
                                          <p:spTgt spid="1030"/>
                                        </p:tgtEl>
                                      </p:cBhvr>
                                    </p:animEffect>
                                    <p:anim calcmode="lin" valueType="num">
                                      <p:cBhvr>
                                        <p:cTn id="88" dur="1822" tmFilter="0,0; 0.14,0.36; 0.43,0.73; 0.71,0.91; 1.0,1.0">
                                          <p:stCondLst>
                                            <p:cond delay="0"/>
                                          </p:stCondLst>
                                        </p:cTn>
                                        <p:tgtEl>
                                          <p:spTgt spid="1030"/>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1030"/>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1030"/>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1030"/>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1030"/>
                                        </p:tgtEl>
                                        <p:attrNameLst>
                                          <p:attrName>ppt_y</p:attrName>
                                        </p:attrNameLst>
                                      </p:cBhvr>
                                      <p:tavLst>
                                        <p:tav tm="0" fmla="#ppt_y-sin(pi*$)/81">
                                          <p:val>
                                            <p:fltVal val="0"/>
                                          </p:val>
                                        </p:tav>
                                        <p:tav tm="100000">
                                          <p:val>
                                            <p:fltVal val="1"/>
                                          </p:val>
                                        </p:tav>
                                      </p:tavLst>
                                    </p:anim>
                                    <p:animScale>
                                      <p:cBhvr>
                                        <p:cTn id="93" dur="26">
                                          <p:stCondLst>
                                            <p:cond delay="650"/>
                                          </p:stCondLst>
                                        </p:cTn>
                                        <p:tgtEl>
                                          <p:spTgt spid="1030"/>
                                        </p:tgtEl>
                                      </p:cBhvr>
                                      <p:to x="100000" y="60000"/>
                                    </p:animScale>
                                    <p:animScale>
                                      <p:cBhvr>
                                        <p:cTn id="94" dur="166" decel="50000">
                                          <p:stCondLst>
                                            <p:cond delay="676"/>
                                          </p:stCondLst>
                                        </p:cTn>
                                        <p:tgtEl>
                                          <p:spTgt spid="1030"/>
                                        </p:tgtEl>
                                      </p:cBhvr>
                                      <p:to x="100000" y="100000"/>
                                    </p:animScale>
                                    <p:animScale>
                                      <p:cBhvr>
                                        <p:cTn id="95" dur="26">
                                          <p:stCondLst>
                                            <p:cond delay="1312"/>
                                          </p:stCondLst>
                                        </p:cTn>
                                        <p:tgtEl>
                                          <p:spTgt spid="1030"/>
                                        </p:tgtEl>
                                      </p:cBhvr>
                                      <p:to x="100000" y="80000"/>
                                    </p:animScale>
                                    <p:animScale>
                                      <p:cBhvr>
                                        <p:cTn id="96" dur="166" decel="50000">
                                          <p:stCondLst>
                                            <p:cond delay="1338"/>
                                          </p:stCondLst>
                                        </p:cTn>
                                        <p:tgtEl>
                                          <p:spTgt spid="1030"/>
                                        </p:tgtEl>
                                      </p:cBhvr>
                                      <p:to x="100000" y="100000"/>
                                    </p:animScale>
                                    <p:animScale>
                                      <p:cBhvr>
                                        <p:cTn id="97" dur="26">
                                          <p:stCondLst>
                                            <p:cond delay="1642"/>
                                          </p:stCondLst>
                                        </p:cTn>
                                        <p:tgtEl>
                                          <p:spTgt spid="1030"/>
                                        </p:tgtEl>
                                      </p:cBhvr>
                                      <p:to x="100000" y="90000"/>
                                    </p:animScale>
                                    <p:animScale>
                                      <p:cBhvr>
                                        <p:cTn id="98" dur="166" decel="50000">
                                          <p:stCondLst>
                                            <p:cond delay="1668"/>
                                          </p:stCondLst>
                                        </p:cTn>
                                        <p:tgtEl>
                                          <p:spTgt spid="1030"/>
                                        </p:tgtEl>
                                      </p:cBhvr>
                                      <p:to x="100000" y="100000"/>
                                    </p:animScale>
                                    <p:animScale>
                                      <p:cBhvr>
                                        <p:cTn id="99" dur="26">
                                          <p:stCondLst>
                                            <p:cond delay="1808"/>
                                          </p:stCondLst>
                                        </p:cTn>
                                        <p:tgtEl>
                                          <p:spTgt spid="1030"/>
                                        </p:tgtEl>
                                      </p:cBhvr>
                                      <p:to x="100000" y="95000"/>
                                    </p:animScale>
                                    <p:animScale>
                                      <p:cBhvr>
                                        <p:cTn id="100" dur="166" decel="50000">
                                          <p:stCondLst>
                                            <p:cond delay="1834"/>
                                          </p:stCondLst>
                                        </p:cTn>
                                        <p:tgtEl>
                                          <p:spTgt spid="1030"/>
                                        </p:tgtEl>
                                      </p:cBhvr>
                                      <p:to x="100000" y="100000"/>
                                    </p:animScale>
                                  </p:childTnLst>
                                </p:cTn>
                              </p:par>
                            </p:childTnLst>
                          </p:cTn>
                        </p:par>
                      </p:childTnLst>
                    </p:cTn>
                  </p:par>
                  <p:par>
                    <p:cTn id="101" fill="hold">
                      <p:stCondLst>
                        <p:cond delay="indefinite"/>
                      </p:stCondLst>
                      <p:childTnLst>
                        <p:par>
                          <p:cTn id="102" fill="hold">
                            <p:stCondLst>
                              <p:cond delay="0"/>
                            </p:stCondLst>
                            <p:childTnLst>
                              <p:par>
                                <p:cTn id="103" presetID="6" presetClass="entr" presetSubtype="16" fill="hold" grpId="0" nodeType="clickEffect">
                                  <p:stCondLst>
                                    <p:cond delay="0"/>
                                  </p:stCondLst>
                                  <p:childTnLst>
                                    <p:set>
                                      <p:cBhvr>
                                        <p:cTn id="104" dur="1" fill="hold">
                                          <p:stCondLst>
                                            <p:cond delay="0"/>
                                          </p:stCondLst>
                                        </p:cTn>
                                        <p:tgtEl>
                                          <p:spTgt spid="12"/>
                                        </p:tgtEl>
                                        <p:attrNameLst>
                                          <p:attrName>style.visibility</p:attrName>
                                        </p:attrNameLst>
                                      </p:cBhvr>
                                      <p:to>
                                        <p:strVal val="visible"/>
                                      </p:to>
                                    </p:set>
                                    <p:animEffect transition="in" filter="circle(in)">
                                      <p:cBhvr>
                                        <p:cTn id="105" dur="2000"/>
                                        <p:tgtEl>
                                          <p:spTgt spid="12"/>
                                        </p:tgtEl>
                                      </p:cBhvr>
                                    </p:animEffect>
                                  </p:childTnLst>
                                </p:cTn>
                              </p:par>
                            </p:childTnLst>
                          </p:cTn>
                        </p:par>
                      </p:childTnLst>
                    </p:cTn>
                  </p:par>
                  <p:par>
                    <p:cTn id="106" fill="hold">
                      <p:stCondLst>
                        <p:cond delay="indefinite"/>
                      </p:stCondLst>
                      <p:childTnLst>
                        <p:par>
                          <p:cTn id="107" fill="hold">
                            <p:stCondLst>
                              <p:cond delay="0"/>
                            </p:stCondLst>
                            <p:childTnLst>
                              <p:par>
                                <p:cTn id="108" presetID="2" presetClass="entr" presetSubtype="4" fill="hold" nodeType="clickEffect">
                                  <p:stCondLst>
                                    <p:cond delay="0"/>
                                  </p:stCondLst>
                                  <p:childTnLst>
                                    <p:set>
                                      <p:cBhvr>
                                        <p:cTn id="109" dur="1" fill="hold">
                                          <p:stCondLst>
                                            <p:cond delay="0"/>
                                          </p:stCondLst>
                                        </p:cTn>
                                        <p:tgtEl>
                                          <p:spTgt spid="22">
                                            <p:txEl>
                                              <p:pRg st="0" end="0"/>
                                            </p:txEl>
                                          </p:spTgt>
                                        </p:tgtEl>
                                        <p:attrNameLst>
                                          <p:attrName>style.visibility</p:attrName>
                                        </p:attrNameLst>
                                      </p:cBhvr>
                                      <p:to>
                                        <p:strVal val="visible"/>
                                      </p:to>
                                    </p:set>
                                    <p:anim calcmode="lin" valueType="num">
                                      <p:cBhvr additive="base">
                                        <p:cTn id="110"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111" dur="500" fill="hold"/>
                                        <p:tgtEl>
                                          <p:spTgt spid="2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6" presetClass="entr" presetSubtype="16" fill="hold" grpId="0" nodeType="clickEffect">
                                  <p:stCondLst>
                                    <p:cond delay="0"/>
                                  </p:stCondLst>
                                  <p:childTnLst>
                                    <p:set>
                                      <p:cBhvr>
                                        <p:cTn id="115" dur="1" fill="hold">
                                          <p:stCondLst>
                                            <p:cond delay="0"/>
                                          </p:stCondLst>
                                        </p:cTn>
                                        <p:tgtEl>
                                          <p:spTgt spid="14"/>
                                        </p:tgtEl>
                                        <p:attrNameLst>
                                          <p:attrName>style.visibility</p:attrName>
                                        </p:attrNameLst>
                                      </p:cBhvr>
                                      <p:to>
                                        <p:strVal val="visible"/>
                                      </p:to>
                                    </p:set>
                                    <p:animEffect transition="in" filter="circle(in)">
                                      <p:cBhvr>
                                        <p:cTn id="116" dur="2000"/>
                                        <p:tgtEl>
                                          <p:spTgt spid="14"/>
                                        </p:tgtEl>
                                      </p:cBhvr>
                                    </p:animEffect>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23">
                                            <p:txEl>
                                              <p:pRg st="0" end="0"/>
                                            </p:txEl>
                                          </p:spTgt>
                                        </p:tgtEl>
                                        <p:attrNameLst>
                                          <p:attrName>style.visibility</p:attrName>
                                        </p:attrNameLst>
                                      </p:cBhvr>
                                      <p:to>
                                        <p:strVal val="visible"/>
                                      </p:to>
                                    </p:set>
                                    <p:anim calcmode="lin" valueType="num">
                                      <p:cBhvr additive="base">
                                        <p:cTn id="121"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6" presetClass="entr" presetSubtype="16" fill="hold" grpId="0" nodeType="clickEffect">
                                  <p:stCondLst>
                                    <p:cond delay="0"/>
                                  </p:stCondLst>
                                  <p:childTnLst>
                                    <p:set>
                                      <p:cBhvr>
                                        <p:cTn id="126" dur="1" fill="hold">
                                          <p:stCondLst>
                                            <p:cond delay="0"/>
                                          </p:stCondLst>
                                        </p:cTn>
                                        <p:tgtEl>
                                          <p:spTgt spid="15"/>
                                        </p:tgtEl>
                                        <p:attrNameLst>
                                          <p:attrName>style.visibility</p:attrName>
                                        </p:attrNameLst>
                                      </p:cBhvr>
                                      <p:to>
                                        <p:strVal val="visible"/>
                                      </p:to>
                                    </p:set>
                                    <p:animEffect transition="in" filter="circle(in)">
                                      <p:cBhvr>
                                        <p:cTn id="127" dur="2000"/>
                                        <p:tgtEl>
                                          <p:spTgt spid="15"/>
                                        </p:tgtEl>
                                      </p:cBhvr>
                                    </p:animEffect>
                                  </p:childTnLst>
                                </p:cTn>
                              </p:par>
                            </p:childTnLst>
                          </p:cTn>
                        </p:par>
                      </p:childTnLst>
                    </p:cTn>
                  </p:par>
                  <p:par>
                    <p:cTn id="128" fill="hold">
                      <p:stCondLst>
                        <p:cond delay="indefinite"/>
                      </p:stCondLst>
                      <p:childTnLst>
                        <p:par>
                          <p:cTn id="129" fill="hold">
                            <p:stCondLst>
                              <p:cond delay="0"/>
                            </p:stCondLst>
                            <p:childTnLst>
                              <p:par>
                                <p:cTn id="130" presetID="2" presetClass="entr" presetSubtype="4" fill="hold" nodeType="clickEffect">
                                  <p:stCondLst>
                                    <p:cond delay="0"/>
                                  </p:stCondLst>
                                  <p:childTnLst>
                                    <p:set>
                                      <p:cBhvr>
                                        <p:cTn id="131" dur="1" fill="hold">
                                          <p:stCondLst>
                                            <p:cond delay="0"/>
                                          </p:stCondLst>
                                        </p:cTn>
                                        <p:tgtEl>
                                          <p:spTgt spid="24">
                                            <p:txEl>
                                              <p:pRg st="0" end="0"/>
                                            </p:txEl>
                                          </p:spTgt>
                                        </p:tgtEl>
                                        <p:attrNameLst>
                                          <p:attrName>style.visibility</p:attrName>
                                        </p:attrNameLst>
                                      </p:cBhvr>
                                      <p:to>
                                        <p:strVal val="visible"/>
                                      </p:to>
                                    </p:set>
                                    <p:anim calcmode="lin" valueType="num">
                                      <p:cBhvr additive="base">
                                        <p:cTn id="132"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133"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6" presetID="42" presetClass="entr" presetSubtype="0" fill="hold" nodeType="clickEffect">
                                  <p:stCondLst>
                                    <p:cond delay="0"/>
                                  </p:stCondLst>
                                  <p:childTnLst>
                                    <p:set>
                                      <p:cBhvr>
                                        <p:cTn id="137" dur="1" fill="hold">
                                          <p:stCondLst>
                                            <p:cond delay="0"/>
                                          </p:stCondLst>
                                        </p:cTn>
                                        <p:tgtEl>
                                          <p:spTgt spid="1029"/>
                                        </p:tgtEl>
                                        <p:attrNameLst>
                                          <p:attrName>style.visibility</p:attrName>
                                        </p:attrNameLst>
                                      </p:cBhvr>
                                      <p:to>
                                        <p:strVal val="visible"/>
                                      </p:to>
                                    </p:set>
                                    <p:animEffect transition="in" filter="fade">
                                      <p:cBhvr>
                                        <p:cTn id="138" dur="1000"/>
                                        <p:tgtEl>
                                          <p:spTgt spid="1029"/>
                                        </p:tgtEl>
                                      </p:cBhvr>
                                    </p:animEffect>
                                    <p:anim calcmode="lin" valueType="num">
                                      <p:cBhvr>
                                        <p:cTn id="139" dur="1000" fill="hold"/>
                                        <p:tgtEl>
                                          <p:spTgt spid="1029"/>
                                        </p:tgtEl>
                                        <p:attrNameLst>
                                          <p:attrName>ppt_x</p:attrName>
                                        </p:attrNameLst>
                                      </p:cBhvr>
                                      <p:tavLst>
                                        <p:tav tm="0">
                                          <p:val>
                                            <p:strVal val="#ppt_x"/>
                                          </p:val>
                                        </p:tav>
                                        <p:tav tm="100000">
                                          <p:val>
                                            <p:strVal val="#ppt_x"/>
                                          </p:val>
                                        </p:tav>
                                      </p:tavLst>
                                    </p:anim>
                                    <p:anim calcmode="lin" valueType="num">
                                      <p:cBhvr>
                                        <p:cTn id="140" dur="1000" fill="hold"/>
                                        <p:tgtEl>
                                          <p:spTgt spid="1029"/>
                                        </p:tgtEl>
                                        <p:attrNameLst>
                                          <p:attrName>ppt_y</p:attrName>
                                        </p:attrNameLst>
                                      </p:cBhvr>
                                      <p:tavLst>
                                        <p:tav tm="0">
                                          <p:val>
                                            <p:strVal val="#ppt_y+.1"/>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6" presetClass="entr" presetSubtype="16" fill="hold" grpId="0" nodeType="clickEffect">
                                  <p:stCondLst>
                                    <p:cond delay="0"/>
                                  </p:stCondLst>
                                  <p:childTnLst>
                                    <p:set>
                                      <p:cBhvr>
                                        <p:cTn id="144" dur="1" fill="hold">
                                          <p:stCondLst>
                                            <p:cond delay="0"/>
                                          </p:stCondLst>
                                        </p:cTn>
                                        <p:tgtEl>
                                          <p:spTgt spid="16"/>
                                        </p:tgtEl>
                                        <p:attrNameLst>
                                          <p:attrName>style.visibility</p:attrName>
                                        </p:attrNameLst>
                                      </p:cBhvr>
                                      <p:to>
                                        <p:strVal val="visible"/>
                                      </p:to>
                                    </p:set>
                                    <p:animEffect transition="in" filter="circle(in)">
                                      <p:cBhvr>
                                        <p:cTn id="145" dur="2000"/>
                                        <p:tgtEl>
                                          <p:spTgt spid="16"/>
                                        </p:tgtEl>
                                      </p:cBhvr>
                                    </p:animEffect>
                                  </p:childTnLst>
                                </p:cTn>
                              </p:par>
                            </p:childTnLst>
                          </p:cTn>
                        </p:par>
                      </p:childTnLst>
                    </p:cTn>
                  </p:par>
                  <p:par>
                    <p:cTn id="146" fill="hold">
                      <p:stCondLst>
                        <p:cond delay="indefinite"/>
                      </p:stCondLst>
                      <p:childTnLst>
                        <p:par>
                          <p:cTn id="147" fill="hold">
                            <p:stCondLst>
                              <p:cond delay="0"/>
                            </p:stCondLst>
                            <p:childTnLst>
                              <p:par>
                                <p:cTn id="148" presetID="2" presetClass="entr" presetSubtype="4" fill="hold" nodeType="clickEffect">
                                  <p:stCondLst>
                                    <p:cond delay="0"/>
                                  </p:stCondLst>
                                  <p:childTnLst>
                                    <p:set>
                                      <p:cBhvr>
                                        <p:cTn id="149" dur="1" fill="hold">
                                          <p:stCondLst>
                                            <p:cond delay="0"/>
                                          </p:stCondLst>
                                        </p:cTn>
                                        <p:tgtEl>
                                          <p:spTgt spid="25">
                                            <p:txEl>
                                              <p:pRg st="0" end="0"/>
                                            </p:txEl>
                                          </p:spTgt>
                                        </p:tgtEl>
                                        <p:attrNameLst>
                                          <p:attrName>style.visibility</p:attrName>
                                        </p:attrNameLst>
                                      </p:cBhvr>
                                      <p:to>
                                        <p:strVal val="visible"/>
                                      </p:to>
                                    </p:set>
                                    <p:anim calcmode="lin" valueType="num">
                                      <p:cBhvr additive="base">
                                        <p:cTn id="150"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151" dur="500" fill="hold"/>
                                        <p:tgtEl>
                                          <p:spTgt spid="2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2" fill="hold">
                      <p:stCondLst>
                        <p:cond delay="indefinite"/>
                      </p:stCondLst>
                      <p:childTnLst>
                        <p:par>
                          <p:cTn id="153" fill="hold">
                            <p:stCondLst>
                              <p:cond delay="0"/>
                            </p:stCondLst>
                            <p:childTnLst>
                              <p:par>
                                <p:cTn id="154" presetID="26" presetClass="entr" presetSubtype="0" fill="hold" nodeType="clickEffect">
                                  <p:stCondLst>
                                    <p:cond delay="0"/>
                                  </p:stCondLst>
                                  <p:childTnLst>
                                    <p:set>
                                      <p:cBhvr>
                                        <p:cTn id="155" dur="1" fill="hold">
                                          <p:stCondLst>
                                            <p:cond delay="0"/>
                                          </p:stCondLst>
                                        </p:cTn>
                                        <p:tgtEl>
                                          <p:spTgt spid="1034"/>
                                        </p:tgtEl>
                                        <p:attrNameLst>
                                          <p:attrName>style.visibility</p:attrName>
                                        </p:attrNameLst>
                                      </p:cBhvr>
                                      <p:to>
                                        <p:strVal val="visible"/>
                                      </p:to>
                                    </p:set>
                                    <p:animEffect transition="in" filter="wipe(down)">
                                      <p:cBhvr>
                                        <p:cTn id="156" dur="580">
                                          <p:stCondLst>
                                            <p:cond delay="0"/>
                                          </p:stCondLst>
                                        </p:cTn>
                                        <p:tgtEl>
                                          <p:spTgt spid="1034"/>
                                        </p:tgtEl>
                                      </p:cBhvr>
                                    </p:animEffect>
                                    <p:anim calcmode="lin" valueType="num">
                                      <p:cBhvr>
                                        <p:cTn id="157" dur="1822" tmFilter="0,0; 0.14,0.36; 0.43,0.73; 0.71,0.91; 1.0,1.0">
                                          <p:stCondLst>
                                            <p:cond delay="0"/>
                                          </p:stCondLst>
                                        </p:cTn>
                                        <p:tgtEl>
                                          <p:spTgt spid="1034"/>
                                        </p:tgtEl>
                                        <p:attrNameLst>
                                          <p:attrName>ppt_x</p:attrName>
                                        </p:attrNameLst>
                                      </p:cBhvr>
                                      <p:tavLst>
                                        <p:tav tm="0">
                                          <p:val>
                                            <p:strVal val="#ppt_x-0.25"/>
                                          </p:val>
                                        </p:tav>
                                        <p:tav tm="100000">
                                          <p:val>
                                            <p:strVal val="#ppt_x"/>
                                          </p:val>
                                        </p:tav>
                                      </p:tavLst>
                                    </p:anim>
                                    <p:anim calcmode="lin" valueType="num">
                                      <p:cBhvr>
                                        <p:cTn id="158" dur="664" tmFilter="0.0,0.0; 0.25,0.07; 0.50,0.2; 0.75,0.467; 1.0,1.0">
                                          <p:stCondLst>
                                            <p:cond delay="0"/>
                                          </p:stCondLst>
                                        </p:cTn>
                                        <p:tgtEl>
                                          <p:spTgt spid="1034"/>
                                        </p:tgtEl>
                                        <p:attrNameLst>
                                          <p:attrName>ppt_y</p:attrName>
                                        </p:attrNameLst>
                                      </p:cBhvr>
                                      <p:tavLst>
                                        <p:tav tm="0" fmla="#ppt_y-sin(pi*$)/3">
                                          <p:val>
                                            <p:fltVal val="0.5"/>
                                          </p:val>
                                        </p:tav>
                                        <p:tav tm="100000">
                                          <p:val>
                                            <p:fltVal val="1"/>
                                          </p:val>
                                        </p:tav>
                                      </p:tavLst>
                                    </p:anim>
                                    <p:anim calcmode="lin" valueType="num">
                                      <p:cBhvr>
                                        <p:cTn id="159" dur="664" tmFilter="0, 0; 0.125,0.2665; 0.25,0.4; 0.375,0.465; 0.5,0.5;  0.625,0.535; 0.75,0.6; 0.875,0.7335; 1,1">
                                          <p:stCondLst>
                                            <p:cond delay="664"/>
                                          </p:stCondLst>
                                        </p:cTn>
                                        <p:tgtEl>
                                          <p:spTgt spid="1034"/>
                                        </p:tgtEl>
                                        <p:attrNameLst>
                                          <p:attrName>ppt_y</p:attrName>
                                        </p:attrNameLst>
                                      </p:cBhvr>
                                      <p:tavLst>
                                        <p:tav tm="0" fmla="#ppt_y-sin(pi*$)/9">
                                          <p:val>
                                            <p:fltVal val="0"/>
                                          </p:val>
                                        </p:tav>
                                        <p:tav tm="100000">
                                          <p:val>
                                            <p:fltVal val="1"/>
                                          </p:val>
                                        </p:tav>
                                      </p:tavLst>
                                    </p:anim>
                                    <p:anim calcmode="lin" valueType="num">
                                      <p:cBhvr>
                                        <p:cTn id="160" dur="332" tmFilter="0, 0; 0.125,0.2665; 0.25,0.4; 0.375,0.465; 0.5,0.5;  0.625,0.535; 0.75,0.6; 0.875,0.7335; 1,1">
                                          <p:stCondLst>
                                            <p:cond delay="1324"/>
                                          </p:stCondLst>
                                        </p:cTn>
                                        <p:tgtEl>
                                          <p:spTgt spid="1034"/>
                                        </p:tgtEl>
                                        <p:attrNameLst>
                                          <p:attrName>ppt_y</p:attrName>
                                        </p:attrNameLst>
                                      </p:cBhvr>
                                      <p:tavLst>
                                        <p:tav tm="0" fmla="#ppt_y-sin(pi*$)/27">
                                          <p:val>
                                            <p:fltVal val="0"/>
                                          </p:val>
                                        </p:tav>
                                        <p:tav tm="100000">
                                          <p:val>
                                            <p:fltVal val="1"/>
                                          </p:val>
                                        </p:tav>
                                      </p:tavLst>
                                    </p:anim>
                                    <p:anim calcmode="lin" valueType="num">
                                      <p:cBhvr>
                                        <p:cTn id="161" dur="164" tmFilter="0, 0; 0.125,0.2665; 0.25,0.4; 0.375,0.465; 0.5,0.5;  0.625,0.535; 0.75,0.6; 0.875,0.7335; 1,1">
                                          <p:stCondLst>
                                            <p:cond delay="1656"/>
                                          </p:stCondLst>
                                        </p:cTn>
                                        <p:tgtEl>
                                          <p:spTgt spid="1034"/>
                                        </p:tgtEl>
                                        <p:attrNameLst>
                                          <p:attrName>ppt_y</p:attrName>
                                        </p:attrNameLst>
                                      </p:cBhvr>
                                      <p:tavLst>
                                        <p:tav tm="0" fmla="#ppt_y-sin(pi*$)/81">
                                          <p:val>
                                            <p:fltVal val="0"/>
                                          </p:val>
                                        </p:tav>
                                        <p:tav tm="100000">
                                          <p:val>
                                            <p:fltVal val="1"/>
                                          </p:val>
                                        </p:tav>
                                      </p:tavLst>
                                    </p:anim>
                                    <p:animScale>
                                      <p:cBhvr>
                                        <p:cTn id="162" dur="26">
                                          <p:stCondLst>
                                            <p:cond delay="650"/>
                                          </p:stCondLst>
                                        </p:cTn>
                                        <p:tgtEl>
                                          <p:spTgt spid="1034"/>
                                        </p:tgtEl>
                                      </p:cBhvr>
                                      <p:to x="100000" y="60000"/>
                                    </p:animScale>
                                    <p:animScale>
                                      <p:cBhvr>
                                        <p:cTn id="163" dur="166" decel="50000">
                                          <p:stCondLst>
                                            <p:cond delay="676"/>
                                          </p:stCondLst>
                                        </p:cTn>
                                        <p:tgtEl>
                                          <p:spTgt spid="1034"/>
                                        </p:tgtEl>
                                      </p:cBhvr>
                                      <p:to x="100000" y="100000"/>
                                    </p:animScale>
                                    <p:animScale>
                                      <p:cBhvr>
                                        <p:cTn id="164" dur="26">
                                          <p:stCondLst>
                                            <p:cond delay="1312"/>
                                          </p:stCondLst>
                                        </p:cTn>
                                        <p:tgtEl>
                                          <p:spTgt spid="1034"/>
                                        </p:tgtEl>
                                      </p:cBhvr>
                                      <p:to x="100000" y="80000"/>
                                    </p:animScale>
                                    <p:animScale>
                                      <p:cBhvr>
                                        <p:cTn id="165" dur="166" decel="50000">
                                          <p:stCondLst>
                                            <p:cond delay="1338"/>
                                          </p:stCondLst>
                                        </p:cTn>
                                        <p:tgtEl>
                                          <p:spTgt spid="1034"/>
                                        </p:tgtEl>
                                      </p:cBhvr>
                                      <p:to x="100000" y="100000"/>
                                    </p:animScale>
                                    <p:animScale>
                                      <p:cBhvr>
                                        <p:cTn id="166" dur="26">
                                          <p:stCondLst>
                                            <p:cond delay="1642"/>
                                          </p:stCondLst>
                                        </p:cTn>
                                        <p:tgtEl>
                                          <p:spTgt spid="1034"/>
                                        </p:tgtEl>
                                      </p:cBhvr>
                                      <p:to x="100000" y="90000"/>
                                    </p:animScale>
                                    <p:animScale>
                                      <p:cBhvr>
                                        <p:cTn id="167" dur="166" decel="50000">
                                          <p:stCondLst>
                                            <p:cond delay="1668"/>
                                          </p:stCondLst>
                                        </p:cTn>
                                        <p:tgtEl>
                                          <p:spTgt spid="1034"/>
                                        </p:tgtEl>
                                      </p:cBhvr>
                                      <p:to x="100000" y="100000"/>
                                    </p:animScale>
                                    <p:animScale>
                                      <p:cBhvr>
                                        <p:cTn id="168" dur="26">
                                          <p:stCondLst>
                                            <p:cond delay="1808"/>
                                          </p:stCondLst>
                                        </p:cTn>
                                        <p:tgtEl>
                                          <p:spTgt spid="1034"/>
                                        </p:tgtEl>
                                      </p:cBhvr>
                                      <p:to x="100000" y="95000"/>
                                    </p:animScale>
                                    <p:animScale>
                                      <p:cBhvr>
                                        <p:cTn id="169" dur="166" decel="50000">
                                          <p:stCondLst>
                                            <p:cond delay="1834"/>
                                          </p:stCondLst>
                                        </p:cTn>
                                        <p:tgtEl>
                                          <p:spTgt spid="1034"/>
                                        </p:tgtEl>
                                      </p:cBhvr>
                                      <p:to x="100000" y="100000"/>
                                    </p:animScale>
                                  </p:childTnLst>
                                </p:cTn>
                              </p:par>
                            </p:childTnLst>
                          </p:cTn>
                        </p:par>
                      </p:childTnLst>
                    </p:cTn>
                  </p:par>
                  <p:par>
                    <p:cTn id="170" fill="hold">
                      <p:stCondLst>
                        <p:cond delay="indefinite"/>
                      </p:stCondLst>
                      <p:childTnLst>
                        <p:par>
                          <p:cTn id="171" fill="hold">
                            <p:stCondLst>
                              <p:cond delay="0"/>
                            </p:stCondLst>
                            <p:childTnLst>
                              <p:par>
                                <p:cTn id="172" presetID="6" presetClass="entr" presetSubtype="16" fill="hold" nodeType="clickEffect">
                                  <p:stCondLst>
                                    <p:cond delay="0"/>
                                  </p:stCondLst>
                                  <p:childTnLst>
                                    <p:set>
                                      <p:cBhvr>
                                        <p:cTn id="173" dur="1" fill="hold">
                                          <p:stCondLst>
                                            <p:cond delay="0"/>
                                          </p:stCondLst>
                                        </p:cTn>
                                        <p:tgtEl>
                                          <p:spTgt spid="1031"/>
                                        </p:tgtEl>
                                        <p:attrNameLst>
                                          <p:attrName>style.visibility</p:attrName>
                                        </p:attrNameLst>
                                      </p:cBhvr>
                                      <p:to>
                                        <p:strVal val="visible"/>
                                      </p:to>
                                    </p:set>
                                    <p:animEffect transition="in" filter="circle(in)">
                                      <p:cBhvr>
                                        <p:cTn id="174" dur="2000"/>
                                        <p:tgtEl>
                                          <p:spTgt spid="1031"/>
                                        </p:tgtEl>
                                      </p:cBhvr>
                                    </p:animEffect>
                                  </p:childTnLst>
                                </p:cTn>
                              </p:par>
                            </p:childTnLst>
                          </p:cTn>
                        </p:par>
                      </p:childTnLst>
                    </p:cTn>
                  </p:par>
                  <p:par>
                    <p:cTn id="175" fill="hold">
                      <p:stCondLst>
                        <p:cond delay="indefinite"/>
                      </p:stCondLst>
                      <p:childTnLst>
                        <p:par>
                          <p:cTn id="176" fill="hold">
                            <p:stCondLst>
                              <p:cond delay="0"/>
                            </p:stCondLst>
                            <p:childTnLst>
                              <p:par>
                                <p:cTn id="177" presetID="2" presetClass="entr" presetSubtype="4" fill="hold" nodeType="clickEffect">
                                  <p:stCondLst>
                                    <p:cond delay="0"/>
                                  </p:stCondLst>
                                  <p:childTnLst>
                                    <p:set>
                                      <p:cBhvr>
                                        <p:cTn id="178" dur="1" fill="hold">
                                          <p:stCondLst>
                                            <p:cond delay="0"/>
                                          </p:stCondLst>
                                        </p:cTn>
                                        <p:tgtEl>
                                          <p:spTgt spid="26">
                                            <p:txEl>
                                              <p:pRg st="0" end="0"/>
                                            </p:txEl>
                                          </p:spTgt>
                                        </p:tgtEl>
                                        <p:attrNameLst>
                                          <p:attrName>style.visibility</p:attrName>
                                        </p:attrNameLst>
                                      </p:cBhvr>
                                      <p:to>
                                        <p:strVal val="visible"/>
                                      </p:to>
                                    </p:set>
                                    <p:anim calcmode="lin" valueType="num">
                                      <p:cBhvr additive="base">
                                        <p:cTn id="179"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180" dur="500" fill="hold"/>
                                        <p:tgtEl>
                                          <p:spTgt spid="2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81" fill="hold">
                      <p:stCondLst>
                        <p:cond delay="indefinite"/>
                      </p:stCondLst>
                      <p:childTnLst>
                        <p:par>
                          <p:cTn id="182" fill="hold">
                            <p:stCondLst>
                              <p:cond delay="0"/>
                            </p:stCondLst>
                            <p:childTnLst>
                              <p:par>
                                <p:cTn id="183" presetID="6" presetClass="entr" presetSubtype="16" fill="hold" nodeType="clickEffect">
                                  <p:stCondLst>
                                    <p:cond delay="0"/>
                                  </p:stCondLst>
                                  <p:childTnLst>
                                    <p:set>
                                      <p:cBhvr>
                                        <p:cTn id="184" dur="1" fill="hold">
                                          <p:stCondLst>
                                            <p:cond delay="0"/>
                                          </p:stCondLst>
                                        </p:cTn>
                                        <p:tgtEl>
                                          <p:spTgt spid="1033"/>
                                        </p:tgtEl>
                                        <p:attrNameLst>
                                          <p:attrName>style.visibility</p:attrName>
                                        </p:attrNameLst>
                                      </p:cBhvr>
                                      <p:to>
                                        <p:strVal val="visible"/>
                                      </p:to>
                                    </p:set>
                                    <p:animEffect transition="in" filter="circle(in)">
                                      <p:cBhvr>
                                        <p:cTn id="185" dur="2000"/>
                                        <p:tgtEl>
                                          <p:spTgt spid="1033"/>
                                        </p:tgtEl>
                                      </p:cBhvr>
                                    </p:animEffect>
                                  </p:childTnLst>
                                </p:cTn>
                              </p:par>
                            </p:childTnLst>
                          </p:cTn>
                        </p:par>
                      </p:childTnLst>
                    </p:cTn>
                  </p:par>
                  <p:par>
                    <p:cTn id="186" fill="hold">
                      <p:stCondLst>
                        <p:cond delay="indefinite"/>
                      </p:stCondLst>
                      <p:childTnLst>
                        <p:par>
                          <p:cTn id="187" fill="hold">
                            <p:stCondLst>
                              <p:cond delay="0"/>
                            </p:stCondLst>
                            <p:childTnLst>
                              <p:par>
                                <p:cTn id="188" presetID="2" presetClass="entr" presetSubtype="4" fill="hold" nodeType="clickEffect">
                                  <p:stCondLst>
                                    <p:cond delay="0"/>
                                  </p:stCondLst>
                                  <p:childTnLst>
                                    <p:set>
                                      <p:cBhvr>
                                        <p:cTn id="189" dur="1" fill="hold">
                                          <p:stCondLst>
                                            <p:cond delay="0"/>
                                          </p:stCondLst>
                                        </p:cTn>
                                        <p:tgtEl>
                                          <p:spTgt spid="27">
                                            <p:txEl>
                                              <p:pRg st="0" end="0"/>
                                            </p:txEl>
                                          </p:spTgt>
                                        </p:tgtEl>
                                        <p:attrNameLst>
                                          <p:attrName>style.visibility</p:attrName>
                                        </p:attrNameLst>
                                      </p:cBhvr>
                                      <p:to>
                                        <p:strVal val="visible"/>
                                      </p:to>
                                    </p:set>
                                    <p:anim calcmode="lin" valueType="num">
                                      <p:cBhvr additive="base">
                                        <p:cTn id="190"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191" dur="500" fill="hold"/>
                                        <p:tgtEl>
                                          <p:spTgt spid="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2" fill="hold">
                      <p:stCondLst>
                        <p:cond delay="indefinite"/>
                      </p:stCondLst>
                      <p:childTnLst>
                        <p:par>
                          <p:cTn id="193" fill="hold">
                            <p:stCondLst>
                              <p:cond delay="0"/>
                            </p:stCondLst>
                            <p:childTnLst>
                              <p:par>
                                <p:cTn id="194" presetID="6" presetClass="entr" presetSubtype="16" fill="hold" nodeType="clickEffect">
                                  <p:stCondLst>
                                    <p:cond delay="0"/>
                                  </p:stCondLst>
                                  <p:childTnLst>
                                    <p:set>
                                      <p:cBhvr>
                                        <p:cTn id="195" dur="1" fill="hold">
                                          <p:stCondLst>
                                            <p:cond delay="0"/>
                                          </p:stCondLst>
                                        </p:cTn>
                                        <p:tgtEl>
                                          <p:spTgt spid="1032"/>
                                        </p:tgtEl>
                                        <p:attrNameLst>
                                          <p:attrName>style.visibility</p:attrName>
                                        </p:attrNameLst>
                                      </p:cBhvr>
                                      <p:to>
                                        <p:strVal val="visible"/>
                                      </p:to>
                                    </p:set>
                                    <p:animEffect transition="in" filter="circle(in)">
                                      <p:cBhvr>
                                        <p:cTn id="196" dur="2000"/>
                                        <p:tgtEl>
                                          <p:spTgt spid="1032"/>
                                        </p:tgtEl>
                                      </p:cBhvr>
                                    </p:animEffect>
                                  </p:childTnLst>
                                </p:cTn>
                              </p:par>
                            </p:childTnLst>
                          </p:cTn>
                        </p:par>
                      </p:childTnLst>
                    </p:cTn>
                  </p:par>
                  <p:par>
                    <p:cTn id="197" fill="hold">
                      <p:stCondLst>
                        <p:cond delay="indefinite"/>
                      </p:stCondLst>
                      <p:childTnLst>
                        <p:par>
                          <p:cTn id="198" fill="hold">
                            <p:stCondLst>
                              <p:cond delay="0"/>
                            </p:stCondLst>
                            <p:childTnLst>
                              <p:par>
                                <p:cTn id="199" presetID="2" presetClass="entr" presetSubtype="4" fill="hold" grpId="0" nodeType="clickEffect">
                                  <p:stCondLst>
                                    <p:cond delay="0"/>
                                  </p:stCondLst>
                                  <p:childTnLst>
                                    <p:set>
                                      <p:cBhvr>
                                        <p:cTn id="200" dur="1" fill="hold">
                                          <p:stCondLst>
                                            <p:cond delay="0"/>
                                          </p:stCondLst>
                                        </p:cTn>
                                        <p:tgtEl>
                                          <p:spTgt spid="28"/>
                                        </p:tgtEl>
                                        <p:attrNameLst>
                                          <p:attrName>style.visibility</p:attrName>
                                        </p:attrNameLst>
                                      </p:cBhvr>
                                      <p:to>
                                        <p:strVal val="visible"/>
                                      </p:to>
                                    </p:set>
                                    <p:anim calcmode="lin" valueType="num">
                                      <p:cBhvr additive="base">
                                        <p:cTn id="201" dur="500" fill="hold"/>
                                        <p:tgtEl>
                                          <p:spTgt spid="28"/>
                                        </p:tgtEl>
                                        <p:attrNameLst>
                                          <p:attrName>ppt_x</p:attrName>
                                        </p:attrNameLst>
                                      </p:cBhvr>
                                      <p:tavLst>
                                        <p:tav tm="0">
                                          <p:val>
                                            <p:strVal val="#ppt_x"/>
                                          </p:val>
                                        </p:tav>
                                        <p:tav tm="100000">
                                          <p:val>
                                            <p:strVal val="#ppt_x"/>
                                          </p:val>
                                        </p:tav>
                                      </p:tavLst>
                                    </p:anim>
                                    <p:anim calcmode="lin" valueType="num">
                                      <p:cBhvr additive="base">
                                        <p:cTn id="20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203" fill="hold">
                      <p:stCondLst>
                        <p:cond delay="indefinite"/>
                      </p:stCondLst>
                      <p:childTnLst>
                        <p:par>
                          <p:cTn id="204" fill="hold">
                            <p:stCondLst>
                              <p:cond delay="0"/>
                            </p:stCondLst>
                            <p:childTnLst>
                              <p:par>
                                <p:cTn id="205" presetID="26" presetClass="entr" presetSubtype="0" fill="hold" nodeType="clickEffect">
                                  <p:stCondLst>
                                    <p:cond delay="0"/>
                                  </p:stCondLst>
                                  <p:childTnLst>
                                    <p:set>
                                      <p:cBhvr>
                                        <p:cTn id="206" dur="1" fill="hold">
                                          <p:stCondLst>
                                            <p:cond delay="0"/>
                                          </p:stCondLst>
                                        </p:cTn>
                                        <p:tgtEl>
                                          <p:spTgt spid="1035"/>
                                        </p:tgtEl>
                                        <p:attrNameLst>
                                          <p:attrName>style.visibility</p:attrName>
                                        </p:attrNameLst>
                                      </p:cBhvr>
                                      <p:to>
                                        <p:strVal val="visible"/>
                                      </p:to>
                                    </p:set>
                                    <p:animEffect transition="in" filter="wipe(down)">
                                      <p:cBhvr>
                                        <p:cTn id="207" dur="580">
                                          <p:stCondLst>
                                            <p:cond delay="0"/>
                                          </p:stCondLst>
                                        </p:cTn>
                                        <p:tgtEl>
                                          <p:spTgt spid="1035"/>
                                        </p:tgtEl>
                                      </p:cBhvr>
                                    </p:animEffect>
                                    <p:anim calcmode="lin" valueType="num">
                                      <p:cBhvr>
                                        <p:cTn id="208" dur="1822" tmFilter="0,0; 0.14,0.36; 0.43,0.73; 0.71,0.91; 1.0,1.0">
                                          <p:stCondLst>
                                            <p:cond delay="0"/>
                                          </p:stCondLst>
                                        </p:cTn>
                                        <p:tgtEl>
                                          <p:spTgt spid="1035"/>
                                        </p:tgtEl>
                                        <p:attrNameLst>
                                          <p:attrName>ppt_x</p:attrName>
                                        </p:attrNameLst>
                                      </p:cBhvr>
                                      <p:tavLst>
                                        <p:tav tm="0">
                                          <p:val>
                                            <p:strVal val="#ppt_x-0.25"/>
                                          </p:val>
                                        </p:tav>
                                        <p:tav tm="100000">
                                          <p:val>
                                            <p:strVal val="#ppt_x"/>
                                          </p:val>
                                        </p:tav>
                                      </p:tavLst>
                                    </p:anim>
                                    <p:anim calcmode="lin" valueType="num">
                                      <p:cBhvr>
                                        <p:cTn id="209" dur="664" tmFilter="0.0,0.0; 0.25,0.07; 0.50,0.2; 0.75,0.467; 1.0,1.0">
                                          <p:stCondLst>
                                            <p:cond delay="0"/>
                                          </p:stCondLst>
                                        </p:cTn>
                                        <p:tgtEl>
                                          <p:spTgt spid="1035"/>
                                        </p:tgtEl>
                                        <p:attrNameLst>
                                          <p:attrName>ppt_y</p:attrName>
                                        </p:attrNameLst>
                                      </p:cBhvr>
                                      <p:tavLst>
                                        <p:tav tm="0" fmla="#ppt_y-sin(pi*$)/3">
                                          <p:val>
                                            <p:fltVal val="0.5"/>
                                          </p:val>
                                        </p:tav>
                                        <p:tav tm="100000">
                                          <p:val>
                                            <p:fltVal val="1"/>
                                          </p:val>
                                        </p:tav>
                                      </p:tavLst>
                                    </p:anim>
                                    <p:anim calcmode="lin" valueType="num">
                                      <p:cBhvr>
                                        <p:cTn id="210" dur="664" tmFilter="0, 0; 0.125,0.2665; 0.25,0.4; 0.375,0.465; 0.5,0.5;  0.625,0.535; 0.75,0.6; 0.875,0.7335; 1,1">
                                          <p:stCondLst>
                                            <p:cond delay="664"/>
                                          </p:stCondLst>
                                        </p:cTn>
                                        <p:tgtEl>
                                          <p:spTgt spid="1035"/>
                                        </p:tgtEl>
                                        <p:attrNameLst>
                                          <p:attrName>ppt_y</p:attrName>
                                        </p:attrNameLst>
                                      </p:cBhvr>
                                      <p:tavLst>
                                        <p:tav tm="0" fmla="#ppt_y-sin(pi*$)/9">
                                          <p:val>
                                            <p:fltVal val="0"/>
                                          </p:val>
                                        </p:tav>
                                        <p:tav tm="100000">
                                          <p:val>
                                            <p:fltVal val="1"/>
                                          </p:val>
                                        </p:tav>
                                      </p:tavLst>
                                    </p:anim>
                                    <p:anim calcmode="lin" valueType="num">
                                      <p:cBhvr>
                                        <p:cTn id="211" dur="332" tmFilter="0, 0; 0.125,0.2665; 0.25,0.4; 0.375,0.465; 0.5,0.5;  0.625,0.535; 0.75,0.6; 0.875,0.7335; 1,1">
                                          <p:stCondLst>
                                            <p:cond delay="1324"/>
                                          </p:stCondLst>
                                        </p:cTn>
                                        <p:tgtEl>
                                          <p:spTgt spid="1035"/>
                                        </p:tgtEl>
                                        <p:attrNameLst>
                                          <p:attrName>ppt_y</p:attrName>
                                        </p:attrNameLst>
                                      </p:cBhvr>
                                      <p:tavLst>
                                        <p:tav tm="0" fmla="#ppt_y-sin(pi*$)/27">
                                          <p:val>
                                            <p:fltVal val="0"/>
                                          </p:val>
                                        </p:tav>
                                        <p:tav tm="100000">
                                          <p:val>
                                            <p:fltVal val="1"/>
                                          </p:val>
                                        </p:tav>
                                      </p:tavLst>
                                    </p:anim>
                                    <p:anim calcmode="lin" valueType="num">
                                      <p:cBhvr>
                                        <p:cTn id="212" dur="164" tmFilter="0, 0; 0.125,0.2665; 0.25,0.4; 0.375,0.465; 0.5,0.5;  0.625,0.535; 0.75,0.6; 0.875,0.7335; 1,1">
                                          <p:stCondLst>
                                            <p:cond delay="1656"/>
                                          </p:stCondLst>
                                        </p:cTn>
                                        <p:tgtEl>
                                          <p:spTgt spid="1035"/>
                                        </p:tgtEl>
                                        <p:attrNameLst>
                                          <p:attrName>ppt_y</p:attrName>
                                        </p:attrNameLst>
                                      </p:cBhvr>
                                      <p:tavLst>
                                        <p:tav tm="0" fmla="#ppt_y-sin(pi*$)/81">
                                          <p:val>
                                            <p:fltVal val="0"/>
                                          </p:val>
                                        </p:tav>
                                        <p:tav tm="100000">
                                          <p:val>
                                            <p:fltVal val="1"/>
                                          </p:val>
                                        </p:tav>
                                      </p:tavLst>
                                    </p:anim>
                                    <p:animScale>
                                      <p:cBhvr>
                                        <p:cTn id="213" dur="26">
                                          <p:stCondLst>
                                            <p:cond delay="650"/>
                                          </p:stCondLst>
                                        </p:cTn>
                                        <p:tgtEl>
                                          <p:spTgt spid="1035"/>
                                        </p:tgtEl>
                                      </p:cBhvr>
                                      <p:to x="100000" y="60000"/>
                                    </p:animScale>
                                    <p:animScale>
                                      <p:cBhvr>
                                        <p:cTn id="214" dur="166" decel="50000">
                                          <p:stCondLst>
                                            <p:cond delay="676"/>
                                          </p:stCondLst>
                                        </p:cTn>
                                        <p:tgtEl>
                                          <p:spTgt spid="1035"/>
                                        </p:tgtEl>
                                      </p:cBhvr>
                                      <p:to x="100000" y="100000"/>
                                    </p:animScale>
                                    <p:animScale>
                                      <p:cBhvr>
                                        <p:cTn id="215" dur="26">
                                          <p:stCondLst>
                                            <p:cond delay="1312"/>
                                          </p:stCondLst>
                                        </p:cTn>
                                        <p:tgtEl>
                                          <p:spTgt spid="1035"/>
                                        </p:tgtEl>
                                      </p:cBhvr>
                                      <p:to x="100000" y="80000"/>
                                    </p:animScale>
                                    <p:animScale>
                                      <p:cBhvr>
                                        <p:cTn id="216" dur="166" decel="50000">
                                          <p:stCondLst>
                                            <p:cond delay="1338"/>
                                          </p:stCondLst>
                                        </p:cTn>
                                        <p:tgtEl>
                                          <p:spTgt spid="1035"/>
                                        </p:tgtEl>
                                      </p:cBhvr>
                                      <p:to x="100000" y="100000"/>
                                    </p:animScale>
                                    <p:animScale>
                                      <p:cBhvr>
                                        <p:cTn id="217" dur="26">
                                          <p:stCondLst>
                                            <p:cond delay="1642"/>
                                          </p:stCondLst>
                                        </p:cTn>
                                        <p:tgtEl>
                                          <p:spTgt spid="1035"/>
                                        </p:tgtEl>
                                      </p:cBhvr>
                                      <p:to x="100000" y="90000"/>
                                    </p:animScale>
                                    <p:animScale>
                                      <p:cBhvr>
                                        <p:cTn id="218" dur="166" decel="50000">
                                          <p:stCondLst>
                                            <p:cond delay="1668"/>
                                          </p:stCondLst>
                                        </p:cTn>
                                        <p:tgtEl>
                                          <p:spTgt spid="1035"/>
                                        </p:tgtEl>
                                      </p:cBhvr>
                                      <p:to x="100000" y="100000"/>
                                    </p:animScale>
                                    <p:animScale>
                                      <p:cBhvr>
                                        <p:cTn id="219" dur="26">
                                          <p:stCondLst>
                                            <p:cond delay="1808"/>
                                          </p:stCondLst>
                                        </p:cTn>
                                        <p:tgtEl>
                                          <p:spTgt spid="1035"/>
                                        </p:tgtEl>
                                      </p:cBhvr>
                                      <p:to x="100000" y="95000"/>
                                    </p:animScale>
                                    <p:animScale>
                                      <p:cBhvr>
                                        <p:cTn id="220" dur="166" decel="50000">
                                          <p:stCondLst>
                                            <p:cond delay="1834"/>
                                          </p:stCondLst>
                                        </p:cTn>
                                        <p:tgtEl>
                                          <p:spTgt spid="103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P spid="13" grpId="0" animBg="1"/>
      <p:bldP spid="14" grpId="0" animBg="1"/>
      <p:bldP spid="15" grpId="0" animBg="1"/>
      <p:bldP spid="16" grpId="0" animBg="1"/>
      <p:bldP spid="2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dirty="0"/>
          </a:p>
        </p:txBody>
      </p:sp>
      <p:sp>
        <p:nvSpPr>
          <p:cNvPr id="4" name="Content Placeholder 3"/>
          <p:cNvSpPr>
            <a:spLocks noGrp="1"/>
          </p:cNvSpPr>
          <p:nvPr>
            <p:ph sz="half" idx="2"/>
          </p:nvPr>
        </p:nvSpPr>
        <p:spPr/>
        <p:txBody>
          <a:bodyPr/>
          <a:lstStyle/>
          <a:p>
            <a:endParaRPr lang="zh-CN" altLang="en-US"/>
          </a:p>
        </p:txBody>
      </p:sp>
      <p:pic>
        <p:nvPicPr>
          <p:cNvPr id="532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8056"/>
            <a:ext cx="5772150" cy="6689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4627" y="168056"/>
            <a:ext cx="4897455" cy="6324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 name="Straight Connector 6"/>
          <p:cNvCxnSpPr/>
          <p:nvPr/>
        </p:nvCxnSpPr>
        <p:spPr>
          <a:xfrm flipV="1">
            <a:off x="1714500" y="5200650"/>
            <a:ext cx="3337560" cy="3429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10" name="Left Brace 9"/>
          <p:cNvSpPr/>
          <p:nvPr/>
        </p:nvSpPr>
        <p:spPr>
          <a:xfrm>
            <a:off x="6743700" y="2125980"/>
            <a:ext cx="251460" cy="948690"/>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FF0000"/>
              </a:solidFill>
            </a:endParaRPr>
          </a:p>
        </p:txBody>
      </p:sp>
      <p:cxnSp>
        <p:nvCxnSpPr>
          <p:cNvPr id="12" name="Straight Connector 11"/>
          <p:cNvCxnSpPr/>
          <p:nvPr/>
        </p:nvCxnSpPr>
        <p:spPr>
          <a:xfrm>
            <a:off x="7349490" y="4171950"/>
            <a:ext cx="902970" cy="2286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5351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3250"/>
                                        </p:tgtEl>
                                        <p:attrNameLst>
                                          <p:attrName>style.visibility</p:attrName>
                                        </p:attrNameLst>
                                      </p:cBhvr>
                                      <p:to>
                                        <p:strVal val="visible"/>
                                      </p:to>
                                    </p:set>
                                    <p:animEffect transition="in" filter="randombar(horizontal)">
                                      <p:cBhvr>
                                        <p:cTn id="7" dur="500"/>
                                        <p:tgtEl>
                                          <p:spTgt spid="53250"/>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ppt_w</p:attrName>
                                        </p:attrNameLst>
                                      </p:cBhvr>
                                      <p:tavLst>
                                        <p:tav tm="0">
                                          <p:val>
                                            <p:fltVal val="0"/>
                                          </p:val>
                                        </p:tav>
                                        <p:tav tm="100000">
                                          <p:val>
                                            <p:strVal val="#ppt_w"/>
                                          </p:val>
                                        </p:tav>
                                      </p:tavLst>
                                    </p:anim>
                                    <p:anim calcmode="lin" valueType="num">
                                      <p:cBhvr>
                                        <p:cTn id="13" dur="1000" fill="hold"/>
                                        <p:tgtEl>
                                          <p:spTgt spid="7"/>
                                        </p:tgtEl>
                                        <p:attrNameLst>
                                          <p:attrName>ppt_h</p:attrName>
                                        </p:attrNameLst>
                                      </p:cBhvr>
                                      <p:tavLst>
                                        <p:tav tm="0">
                                          <p:val>
                                            <p:fltVal val="0"/>
                                          </p:val>
                                        </p:tav>
                                        <p:tav tm="100000">
                                          <p:val>
                                            <p:strVal val="#ppt_h"/>
                                          </p:val>
                                        </p:tav>
                                      </p:tavLst>
                                    </p:anim>
                                    <p:anim calcmode="lin" valueType="num">
                                      <p:cBhvr>
                                        <p:cTn id="14" dur="1000" fill="hold"/>
                                        <p:tgtEl>
                                          <p:spTgt spid="7"/>
                                        </p:tgtEl>
                                        <p:attrNameLst>
                                          <p:attrName>style.rotation</p:attrName>
                                        </p:attrNameLst>
                                      </p:cBhvr>
                                      <p:tavLst>
                                        <p:tav tm="0">
                                          <p:val>
                                            <p:fltVal val="90"/>
                                          </p:val>
                                        </p:tav>
                                        <p:tav tm="100000">
                                          <p:val>
                                            <p:fltVal val="0"/>
                                          </p:val>
                                        </p:tav>
                                      </p:tavLst>
                                    </p:anim>
                                    <p:animEffect transition="in" filter="fade">
                                      <p:cBhvr>
                                        <p:cTn id="15" dur="10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5122"/>
                                        </p:tgtEl>
                                        <p:attrNameLst>
                                          <p:attrName>style.visibility</p:attrName>
                                        </p:attrNameLst>
                                      </p:cBhvr>
                                      <p:to>
                                        <p:strVal val="visible"/>
                                      </p:to>
                                    </p:set>
                                    <p:animEffect transition="in" filter="randombar(horizontal)">
                                      <p:cBhvr>
                                        <p:cTn id="20" dur="500"/>
                                        <p:tgtEl>
                                          <p:spTgt spid="5122"/>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1000" fill="hold"/>
                                        <p:tgtEl>
                                          <p:spTgt spid="10"/>
                                        </p:tgtEl>
                                        <p:attrNameLst>
                                          <p:attrName>ppt_w</p:attrName>
                                        </p:attrNameLst>
                                      </p:cBhvr>
                                      <p:tavLst>
                                        <p:tav tm="0">
                                          <p:val>
                                            <p:fltVal val="0"/>
                                          </p:val>
                                        </p:tav>
                                        <p:tav tm="100000">
                                          <p:val>
                                            <p:strVal val="#ppt_w"/>
                                          </p:val>
                                        </p:tav>
                                      </p:tavLst>
                                    </p:anim>
                                    <p:anim calcmode="lin" valueType="num">
                                      <p:cBhvr>
                                        <p:cTn id="26" dur="1000" fill="hold"/>
                                        <p:tgtEl>
                                          <p:spTgt spid="10"/>
                                        </p:tgtEl>
                                        <p:attrNameLst>
                                          <p:attrName>ppt_h</p:attrName>
                                        </p:attrNameLst>
                                      </p:cBhvr>
                                      <p:tavLst>
                                        <p:tav tm="0">
                                          <p:val>
                                            <p:fltVal val="0"/>
                                          </p:val>
                                        </p:tav>
                                        <p:tav tm="100000">
                                          <p:val>
                                            <p:strVal val="#ppt_h"/>
                                          </p:val>
                                        </p:tav>
                                      </p:tavLst>
                                    </p:anim>
                                    <p:anim calcmode="lin" valueType="num">
                                      <p:cBhvr>
                                        <p:cTn id="27" dur="1000" fill="hold"/>
                                        <p:tgtEl>
                                          <p:spTgt spid="10"/>
                                        </p:tgtEl>
                                        <p:attrNameLst>
                                          <p:attrName>style.rotation</p:attrName>
                                        </p:attrNameLst>
                                      </p:cBhvr>
                                      <p:tavLst>
                                        <p:tav tm="0">
                                          <p:val>
                                            <p:fltVal val="90"/>
                                          </p:val>
                                        </p:tav>
                                        <p:tav tm="100000">
                                          <p:val>
                                            <p:fltVal val="0"/>
                                          </p:val>
                                        </p:tav>
                                      </p:tavLst>
                                    </p:anim>
                                    <p:animEffect transition="in" filter="fade">
                                      <p:cBhvr>
                                        <p:cTn id="28" dur="10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p:cTn id="33" dur="1000" fill="hold"/>
                                        <p:tgtEl>
                                          <p:spTgt spid="12"/>
                                        </p:tgtEl>
                                        <p:attrNameLst>
                                          <p:attrName>ppt_w</p:attrName>
                                        </p:attrNameLst>
                                      </p:cBhvr>
                                      <p:tavLst>
                                        <p:tav tm="0">
                                          <p:val>
                                            <p:fltVal val="0"/>
                                          </p:val>
                                        </p:tav>
                                        <p:tav tm="100000">
                                          <p:val>
                                            <p:strVal val="#ppt_w"/>
                                          </p:val>
                                        </p:tav>
                                      </p:tavLst>
                                    </p:anim>
                                    <p:anim calcmode="lin" valueType="num">
                                      <p:cBhvr>
                                        <p:cTn id="34" dur="1000" fill="hold"/>
                                        <p:tgtEl>
                                          <p:spTgt spid="12"/>
                                        </p:tgtEl>
                                        <p:attrNameLst>
                                          <p:attrName>ppt_h</p:attrName>
                                        </p:attrNameLst>
                                      </p:cBhvr>
                                      <p:tavLst>
                                        <p:tav tm="0">
                                          <p:val>
                                            <p:fltVal val="0"/>
                                          </p:val>
                                        </p:tav>
                                        <p:tav tm="100000">
                                          <p:val>
                                            <p:strVal val="#ppt_h"/>
                                          </p:val>
                                        </p:tav>
                                      </p:tavLst>
                                    </p:anim>
                                    <p:anim calcmode="lin" valueType="num">
                                      <p:cBhvr>
                                        <p:cTn id="35" dur="1000" fill="hold"/>
                                        <p:tgtEl>
                                          <p:spTgt spid="12"/>
                                        </p:tgtEl>
                                        <p:attrNameLst>
                                          <p:attrName>style.rotation</p:attrName>
                                        </p:attrNameLst>
                                      </p:cBhvr>
                                      <p:tavLst>
                                        <p:tav tm="0">
                                          <p:val>
                                            <p:fltVal val="90"/>
                                          </p:val>
                                        </p:tav>
                                        <p:tav tm="100000">
                                          <p:val>
                                            <p:fltVal val="0"/>
                                          </p:val>
                                        </p:tav>
                                      </p:tavLst>
                                    </p:anim>
                                    <p:animEffect transition="in" filter="fade">
                                      <p:cBhvr>
                                        <p:cTn id="36"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pPr marL="0" indent="0">
              <a:buNone/>
            </a:pPr>
            <a:r>
              <a:rPr lang="zh-CN" altLang="en-US" dirty="0"/>
              <a:t>问题</a:t>
            </a:r>
            <a:r>
              <a:rPr lang="en-US" altLang="zh-CN" dirty="0"/>
              <a:t>2</a:t>
            </a:r>
            <a:r>
              <a:rPr lang="zh-CN" altLang="en-US" dirty="0"/>
              <a:t>：正义和不正义（作为人们之间的关系）的作用究竟是什么？</a:t>
            </a:r>
            <a:endParaRPr lang="en-US" altLang="zh-CN" dirty="0"/>
          </a:p>
          <a:p>
            <a:pPr marL="0" indent="0">
              <a:buNone/>
            </a:pPr>
            <a:endParaRPr lang="en-US" altLang="zh-CN" dirty="0"/>
          </a:p>
          <a:p>
            <a:pPr marL="0" indent="0">
              <a:buNone/>
            </a:pPr>
            <a:endParaRPr lang="en-US" altLang="zh-CN" dirty="0"/>
          </a:p>
          <a:p>
            <a:endParaRPr lang="en-US" altLang="zh-CN" dirty="0"/>
          </a:p>
          <a:p>
            <a:r>
              <a:rPr lang="zh-CN" altLang="en-US" dirty="0"/>
              <a:t>不正义会在人们之间造成分裂，让他们无法行动</a:t>
            </a:r>
            <a:r>
              <a:rPr lang="en-US" altLang="zh-CN" dirty="0"/>
              <a:t>351d5,352a</a:t>
            </a:r>
            <a:r>
              <a:rPr lang="zh-CN" altLang="en-US" dirty="0"/>
              <a:t>。</a:t>
            </a:r>
          </a:p>
        </p:txBody>
      </p:sp>
      <p:sp>
        <p:nvSpPr>
          <p:cNvPr id="4" name="Content Placeholder 3"/>
          <p:cNvSpPr>
            <a:spLocks noGrp="1"/>
          </p:cNvSpPr>
          <p:nvPr>
            <p:ph sz="half" idx="2"/>
          </p:nvPr>
        </p:nvSpPr>
        <p:spPr/>
        <p:txBody>
          <a:bodyPr/>
          <a:lstStyle/>
          <a:p>
            <a:endParaRPr lang="zh-CN" alt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342" y="3547526"/>
            <a:ext cx="5713058" cy="982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7587" y="469265"/>
            <a:ext cx="5407025" cy="6102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flipV="1">
            <a:off x="8229600" y="2326741"/>
            <a:ext cx="571499" cy="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6310265" y="2607398"/>
            <a:ext cx="2607398" cy="1810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473228" y="3520440"/>
            <a:ext cx="281562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6310265" y="4010685"/>
            <a:ext cx="1819747" cy="905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6210677" y="5857592"/>
            <a:ext cx="0" cy="51604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3798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146"/>
                                        </p:tgtEl>
                                        <p:attrNameLst>
                                          <p:attrName>style.visibility</p:attrName>
                                        </p:attrNameLst>
                                      </p:cBhvr>
                                      <p:to>
                                        <p:strVal val="visible"/>
                                      </p:to>
                                    </p:set>
                                    <p:animEffect transition="in" filter="randombar(horizontal)">
                                      <p:cBhvr>
                                        <p:cTn id="12" dur="500"/>
                                        <p:tgtEl>
                                          <p:spTgt spid="614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6147"/>
                                        </p:tgtEl>
                                        <p:attrNameLst>
                                          <p:attrName>style.visibility</p:attrName>
                                        </p:attrNameLst>
                                      </p:cBhvr>
                                      <p:to>
                                        <p:strVal val="visible"/>
                                      </p:to>
                                    </p:set>
                                    <p:animEffect transition="in" filter="randombar(horizontal)">
                                      <p:cBhvr>
                                        <p:cTn id="17" dur="500"/>
                                        <p:tgtEl>
                                          <p:spTgt spid="6147"/>
                                        </p:tgtEl>
                                      </p:cBhvr>
                                    </p:animEffect>
                                  </p:childTnLst>
                                </p:cTn>
                              </p:par>
                            </p:childTnLst>
                          </p:cTn>
                        </p:par>
                      </p:childTnLst>
                    </p:cTn>
                  </p:par>
                  <p:par>
                    <p:cTn id="18" fill="hold">
                      <p:stCondLst>
                        <p:cond delay="indefinite"/>
                      </p:stCondLst>
                      <p:childTnLst>
                        <p:par>
                          <p:cTn id="19" fill="hold">
                            <p:stCondLst>
                              <p:cond delay="0"/>
                            </p:stCondLst>
                            <p:childTnLst>
                              <p:par>
                                <p:cTn id="20" presetID="3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1000" fill="hold"/>
                                        <p:tgtEl>
                                          <p:spTgt spid="6"/>
                                        </p:tgtEl>
                                        <p:attrNameLst>
                                          <p:attrName>ppt_w</p:attrName>
                                        </p:attrNameLst>
                                      </p:cBhvr>
                                      <p:tavLst>
                                        <p:tav tm="0">
                                          <p:val>
                                            <p:fltVal val="0"/>
                                          </p:val>
                                        </p:tav>
                                        <p:tav tm="100000">
                                          <p:val>
                                            <p:strVal val="#ppt_w"/>
                                          </p:val>
                                        </p:tav>
                                      </p:tavLst>
                                    </p:anim>
                                    <p:anim calcmode="lin" valueType="num">
                                      <p:cBhvr>
                                        <p:cTn id="23" dur="1000" fill="hold"/>
                                        <p:tgtEl>
                                          <p:spTgt spid="6"/>
                                        </p:tgtEl>
                                        <p:attrNameLst>
                                          <p:attrName>ppt_h</p:attrName>
                                        </p:attrNameLst>
                                      </p:cBhvr>
                                      <p:tavLst>
                                        <p:tav tm="0">
                                          <p:val>
                                            <p:fltVal val="0"/>
                                          </p:val>
                                        </p:tav>
                                        <p:tav tm="100000">
                                          <p:val>
                                            <p:strVal val="#ppt_h"/>
                                          </p:val>
                                        </p:tav>
                                      </p:tavLst>
                                    </p:anim>
                                    <p:anim calcmode="lin" valueType="num">
                                      <p:cBhvr>
                                        <p:cTn id="24" dur="1000" fill="hold"/>
                                        <p:tgtEl>
                                          <p:spTgt spid="6"/>
                                        </p:tgtEl>
                                        <p:attrNameLst>
                                          <p:attrName>style.rotation</p:attrName>
                                        </p:attrNameLst>
                                      </p:cBhvr>
                                      <p:tavLst>
                                        <p:tav tm="0">
                                          <p:val>
                                            <p:fltVal val="90"/>
                                          </p:val>
                                        </p:tav>
                                        <p:tav tm="100000">
                                          <p:val>
                                            <p:fltVal val="0"/>
                                          </p:val>
                                        </p:tav>
                                      </p:tavLst>
                                    </p:anim>
                                    <p:animEffect transition="in" filter="fade">
                                      <p:cBhvr>
                                        <p:cTn id="25" dur="10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p:cTn id="30" dur="1000" fill="hold"/>
                                        <p:tgtEl>
                                          <p:spTgt spid="9"/>
                                        </p:tgtEl>
                                        <p:attrNameLst>
                                          <p:attrName>ppt_w</p:attrName>
                                        </p:attrNameLst>
                                      </p:cBhvr>
                                      <p:tavLst>
                                        <p:tav tm="0">
                                          <p:val>
                                            <p:fltVal val="0"/>
                                          </p:val>
                                        </p:tav>
                                        <p:tav tm="100000">
                                          <p:val>
                                            <p:strVal val="#ppt_w"/>
                                          </p:val>
                                        </p:tav>
                                      </p:tavLst>
                                    </p:anim>
                                    <p:anim calcmode="lin" valueType="num">
                                      <p:cBhvr>
                                        <p:cTn id="31" dur="1000" fill="hold"/>
                                        <p:tgtEl>
                                          <p:spTgt spid="9"/>
                                        </p:tgtEl>
                                        <p:attrNameLst>
                                          <p:attrName>ppt_h</p:attrName>
                                        </p:attrNameLst>
                                      </p:cBhvr>
                                      <p:tavLst>
                                        <p:tav tm="0">
                                          <p:val>
                                            <p:fltVal val="0"/>
                                          </p:val>
                                        </p:tav>
                                        <p:tav tm="100000">
                                          <p:val>
                                            <p:strVal val="#ppt_h"/>
                                          </p:val>
                                        </p:tav>
                                      </p:tavLst>
                                    </p:anim>
                                    <p:anim calcmode="lin" valueType="num">
                                      <p:cBhvr>
                                        <p:cTn id="32" dur="1000" fill="hold"/>
                                        <p:tgtEl>
                                          <p:spTgt spid="9"/>
                                        </p:tgtEl>
                                        <p:attrNameLst>
                                          <p:attrName>style.rotation</p:attrName>
                                        </p:attrNameLst>
                                      </p:cBhvr>
                                      <p:tavLst>
                                        <p:tav tm="0">
                                          <p:val>
                                            <p:fltVal val="90"/>
                                          </p:val>
                                        </p:tav>
                                        <p:tav tm="100000">
                                          <p:val>
                                            <p:fltVal val="0"/>
                                          </p:val>
                                        </p:tav>
                                      </p:tavLst>
                                    </p:anim>
                                    <p:animEffect transition="in" filter="fade">
                                      <p:cBhvr>
                                        <p:cTn id="33" dur="10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31" presetClass="entr" presetSubtype="0"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p:cTn id="38" dur="1000" fill="hold"/>
                                        <p:tgtEl>
                                          <p:spTgt spid="11"/>
                                        </p:tgtEl>
                                        <p:attrNameLst>
                                          <p:attrName>ppt_w</p:attrName>
                                        </p:attrNameLst>
                                      </p:cBhvr>
                                      <p:tavLst>
                                        <p:tav tm="0">
                                          <p:val>
                                            <p:fltVal val="0"/>
                                          </p:val>
                                        </p:tav>
                                        <p:tav tm="100000">
                                          <p:val>
                                            <p:strVal val="#ppt_w"/>
                                          </p:val>
                                        </p:tav>
                                      </p:tavLst>
                                    </p:anim>
                                    <p:anim calcmode="lin" valueType="num">
                                      <p:cBhvr>
                                        <p:cTn id="39" dur="1000" fill="hold"/>
                                        <p:tgtEl>
                                          <p:spTgt spid="11"/>
                                        </p:tgtEl>
                                        <p:attrNameLst>
                                          <p:attrName>ppt_h</p:attrName>
                                        </p:attrNameLst>
                                      </p:cBhvr>
                                      <p:tavLst>
                                        <p:tav tm="0">
                                          <p:val>
                                            <p:fltVal val="0"/>
                                          </p:val>
                                        </p:tav>
                                        <p:tav tm="100000">
                                          <p:val>
                                            <p:strVal val="#ppt_h"/>
                                          </p:val>
                                        </p:tav>
                                      </p:tavLst>
                                    </p:anim>
                                    <p:anim calcmode="lin" valueType="num">
                                      <p:cBhvr>
                                        <p:cTn id="40" dur="1000" fill="hold"/>
                                        <p:tgtEl>
                                          <p:spTgt spid="11"/>
                                        </p:tgtEl>
                                        <p:attrNameLst>
                                          <p:attrName>style.rotation</p:attrName>
                                        </p:attrNameLst>
                                      </p:cBhvr>
                                      <p:tavLst>
                                        <p:tav tm="0">
                                          <p:val>
                                            <p:fltVal val="90"/>
                                          </p:val>
                                        </p:tav>
                                        <p:tav tm="100000">
                                          <p:val>
                                            <p:fltVal val="0"/>
                                          </p:val>
                                        </p:tav>
                                      </p:tavLst>
                                    </p:anim>
                                    <p:animEffect transition="in" filter="fade">
                                      <p:cBhvr>
                                        <p:cTn id="41" dur="10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31" presetClass="entr" presetSubtype="0" fill="hold" nodeType="click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p:cTn id="46" dur="1000" fill="hold"/>
                                        <p:tgtEl>
                                          <p:spTgt spid="13"/>
                                        </p:tgtEl>
                                        <p:attrNameLst>
                                          <p:attrName>ppt_w</p:attrName>
                                        </p:attrNameLst>
                                      </p:cBhvr>
                                      <p:tavLst>
                                        <p:tav tm="0">
                                          <p:val>
                                            <p:fltVal val="0"/>
                                          </p:val>
                                        </p:tav>
                                        <p:tav tm="100000">
                                          <p:val>
                                            <p:strVal val="#ppt_w"/>
                                          </p:val>
                                        </p:tav>
                                      </p:tavLst>
                                    </p:anim>
                                    <p:anim calcmode="lin" valueType="num">
                                      <p:cBhvr>
                                        <p:cTn id="47" dur="1000" fill="hold"/>
                                        <p:tgtEl>
                                          <p:spTgt spid="13"/>
                                        </p:tgtEl>
                                        <p:attrNameLst>
                                          <p:attrName>ppt_h</p:attrName>
                                        </p:attrNameLst>
                                      </p:cBhvr>
                                      <p:tavLst>
                                        <p:tav tm="0">
                                          <p:val>
                                            <p:fltVal val="0"/>
                                          </p:val>
                                        </p:tav>
                                        <p:tav tm="100000">
                                          <p:val>
                                            <p:strVal val="#ppt_h"/>
                                          </p:val>
                                        </p:tav>
                                      </p:tavLst>
                                    </p:anim>
                                    <p:anim calcmode="lin" valueType="num">
                                      <p:cBhvr>
                                        <p:cTn id="48" dur="1000" fill="hold"/>
                                        <p:tgtEl>
                                          <p:spTgt spid="13"/>
                                        </p:tgtEl>
                                        <p:attrNameLst>
                                          <p:attrName>style.rotation</p:attrName>
                                        </p:attrNameLst>
                                      </p:cBhvr>
                                      <p:tavLst>
                                        <p:tav tm="0">
                                          <p:val>
                                            <p:fltVal val="90"/>
                                          </p:val>
                                        </p:tav>
                                        <p:tav tm="100000">
                                          <p:val>
                                            <p:fltVal val="0"/>
                                          </p:val>
                                        </p:tav>
                                      </p:tavLst>
                                    </p:anim>
                                    <p:animEffect transition="in" filter="fade">
                                      <p:cBhvr>
                                        <p:cTn id="49" dur="1000"/>
                                        <p:tgtEl>
                                          <p:spTgt spid="13"/>
                                        </p:tgtEl>
                                      </p:cBhvr>
                                    </p:animEffect>
                                  </p:childTnLst>
                                </p:cTn>
                              </p:par>
                            </p:childTnLst>
                          </p:cTn>
                        </p:par>
                      </p:childTnLst>
                    </p:cTn>
                  </p:par>
                  <p:par>
                    <p:cTn id="50" fill="hold">
                      <p:stCondLst>
                        <p:cond delay="indefinite"/>
                      </p:stCondLst>
                      <p:childTnLst>
                        <p:par>
                          <p:cTn id="51" fill="hold">
                            <p:stCondLst>
                              <p:cond delay="0"/>
                            </p:stCondLst>
                            <p:childTnLst>
                              <p:par>
                                <p:cTn id="52" presetID="31" presetClass="entr" presetSubtype="0" fill="hold" nodeType="clickEffect">
                                  <p:stCondLst>
                                    <p:cond delay="0"/>
                                  </p:stCondLst>
                                  <p:childTnLst>
                                    <p:set>
                                      <p:cBhvr>
                                        <p:cTn id="53" dur="1" fill="hold">
                                          <p:stCondLst>
                                            <p:cond delay="0"/>
                                          </p:stCondLst>
                                        </p:cTn>
                                        <p:tgtEl>
                                          <p:spTgt spid="15"/>
                                        </p:tgtEl>
                                        <p:attrNameLst>
                                          <p:attrName>style.visibility</p:attrName>
                                        </p:attrNameLst>
                                      </p:cBhvr>
                                      <p:to>
                                        <p:strVal val="visible"/>
                                      </p:to>
                                    </p:set>
                                    <p:anim calcmode="lin" valueType="num">
                                      <p:cBhvr>
                                        <p:cTn id="54" dur="1000" fill="hold"/>
                                        <p:tgtEl>
                                          <p:spTgt spid="15"/>
                                        </p:tgtEl>
                                        <p:attrNameLst>
                                          <p:attrName>ppt_w</p:attrName>
                                        </p:attrNameLst>
                                      </p:cBhvr>
                                      <p:tavLst>
                                        <p:tav tm="0">
                                          <p:val>
                                            <p:fltVal val="0"/>
                                          </p:val>
                                        </p:tav>
                                        <p:tav tm="100000">
                                          <p:val>
                                            <p:strVal val="#ppt_w"/>
                                          </p:val>
                                        </p:tav>
                                      </p:tavLst>
                                    </p:anim>
                                    <p:anim calcmode="lin" valueType="num">
                                      <p:cBhvr>
                                        <p:cTn id="55" dur="1000" fill="hold"/>
                                        <p:tgtEl>
                                          <p:spTgt spid="15"/>
                                        </p:tgtEl>
                                        <p:attrNameLst>
                                          <p:attrName>ppt_h</p:attrName>
                                        </p:attrNameLst>
                                      </p:cBhvr>
                                      <p:tavLst>
                                        <p:tav tm="0">
                                          <p:val>
                                            <p:fltVal val="0"/>
                                          </p:val>
                                        </p:tav>
                                        <p:tav tm="100000">
                                          <p:val>
                                            <p:strVal val="#ppt_h"/>
                                          </p:val>
                                        </p:tav>
                                      </p:tavLst>
                                    </p:anim>
                                    <p:anim calcmode="lin" valueType="num">
                                      <p:cBhvr>
                                        <p:cTn id="56" dur="1000" fill="hold"/>
                                        <p:tgtEl>
                                          <p:spTgt spid="15"/>
                                        </p:tgtEl>
                                        <p:attrNameLst>
                                          <p:attrName>style.rotation</p:attrName>
                                        </p:attrNameLst>
                                      </p:cBhvr>
                                      <p:tavLst>
                                        <p:tav tm="0">
                                          <p:val>
                                            <p:fltVal val="90"/>
                                          </p:val>
                                        </p:tav>
                                        <p:tav tm="100000">
                                          <p:val>
                                            <p:fltVal val="0"/>
                                          </p:val>
                                        </p:tav>
                                      </p:tavLst>
                                    </p:anim>
                                    <p:animEffect transition="in" filter="fade">
                                      <p:cBhvr>
                                        <p:cTn id="57" dur="10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6" presetClass="entr" presetSubtype="16" fill="hold" nodeType="clickEffect">
                                  <p:stCondLst>
                                    <p:cond delay="0"/>
                                  </p:stCondLst>
                                  <p:childTnLst>
                                    <p:set>
                                      <p:cBhvr>
                                        <p:cTn id="61" dur="1" fill="hold">
                                          <p:stCondLst>
                                            <p:cond delay="0"/>
                                          </p:stCondLst>
                                        </p:cTn>
                                        <p:tgtEl>
                                          <p:spTgt spid="3">
                                            <p:txEl>
                                              <p:pRg st="4" end="4"/>
                                            </p:txEl>
                                          </p:spTgt>
                                        </p:tgtEl>
                                        <p:attrNameLst>
                                          <p:attrName>style.visibility</p:attrName>
                                        </p:attrNameLst>
                                      </p:cBhvr>
                                      <p:to>
                                        <p:strVal val="visible"/>
                                      </p:to>
                                    </p:set>
                                    <p:animEffect transition="in" filter="circle(in)">
                                      <p:cBhvr>
                                        <p:cTn id="62"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normAutofit fontScale="77500" lnSpcReduction="20000"/>
          </a:bodyPr>
          <a:lstStyle/>
          <a:p>
            <a:endParaRPr lang="zh-CN" altLang="en-US"/>
          </a:p>
        </p:txBody>
      </p:sp>
      <p:sp>
        <p:nvSpPr>
          <p:cNvPr id="4" name="Content Placeholder 3"/>
          <p:cNvSpPr>
            <a:spLocks noGrp="1"/>
          </p:cNvSpPr>
          <p:nvPr>
            <p:ph sz="half" idx="2"/>
          </p:nvPr>
        </p:nvSpPr>
        <p:spPr>
          <a:xfrm>
            <a:off x="5953125" y="2556387"/>
            <a:ext cx="5335037" cy="4019446"/>
          </a:xfrm>
        </p:spPr>
        <p:txBody>
          <a:bodyPr>
            <a:normAutofit fontScale="77500" lnSpcReduction="20000"/>
          </a:bodyPr>
          <a:lstStyle/>
          <a:p>
            <a:endParaRPr lang="en-US" altLang="zh-CN" dirty="0"/>
          </a:p>
          <a:p>
            <a:endParaRPr lang="en-US" altLang="zh-CN" dirty="0"/>
          </a:p>
          <a:p>
            <a:endParaRPr lang="en-US" altLang="zh-CN" dirty="0"/>
          </a:p>
          <a:p>
            <a:endParaRPr lang="en-US" altLang="zh-CN" dirty="0"/>
          </a:p>
          <a:p>
            <a:endParaRPr lang="en-US" altLang="zh-CN" dirty="0"/>
          </a:p>
          <a:p>
            <a:pPr>
              <a:lnSpc>
                <a:spcPct val="120000"/>
              </a:lnSpc>
            </a:pPr>
            <a:r>
              <a:rPr lang="zh-CN" altLang="en-US" sz="2400" b="1" dirty="0"/>
              <a:t>任何集团，如果想共同做不正义的事情，但彼此相处也毫不正义，就无法成功。不正义在个人同样会发挥全部本能：使人自相矛盾，相互冲突，拿不出主见，不能行动，其次使他和自己为敌，并和正义者为敌</a:t>
            </a:r>
            <a:r>
              <a:rPr lang="en-US" altLang="zh-CN" sz="2400" b="1" dirty="0"/>
              <a:t>352a</a:t>
            </a:r>
            <a:r>
              <a:rPr lang="zh-CN" altLang="en-US" sz="2400" b="1" dirty="0"/>
              <a:t>。不正义的人根本不能合作</a:t>
            </a:r>
            <a:r>
              <a:rPr lang="en-US" altLang="zh-CN" sz="2400" b="1" dirty="0"/>
              <a:t>352b</a:t>
            </a:r>
          </a:p>
          <a:p>
            <a:pPr>
              <a:lnSpc>
                <a:spcPct val="120000"/>
              </a:lnSpc>
            </a:pPr>
            <a:r>
              <a:rPr lang="zh-CN" altLang="en-US" sz="2400" b="1" dirty="0"/>
              <a:t>正义是人们共同生活的基础。</a:t>
            </a:r>
            <a:endParaRPr lang="en-US" altLang="zh-CN" sz="2400" b="1" dirty="0"/>
          </a:p>
          <a:p>
            <a:endParaRPr lang="zh-CN" altLang="en-US" dirty="0"/>
          </a:p>
        </p:txBody>
      </p:sp>
      <p:pic>
        <p:nvPicPr>
          <p:cNvPr id="563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079" y="338138"/>
            <a:ext cx="5600046" cy="528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4074059" y="1810693"/>
            <a:ext cx="1692998" cy="3621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023042" y="2082297"/>
            <a:ext cx="4744015" cy="3621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023042" y="2353901"/>
            <a:ext cx="330451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3607" y="338138"/>
            <a:ext cx="5200650" cy="337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7489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6322"/>
                                        </p:tgtEl>
                                        <p:attrNameLst>
                                          <p:attrName>style.visibility</p:attrName>
                                        </p:attrNameLst>
                                      </p:cBhvr>
                                      <p:to>
                                        <p:strVal val="visible"/>
                                      </p:to>
                                    </p:set>
                                    <p:animEffect transition="in" filter="randombar(horizontal)">
                                      <p:cBhvr>
                                        <p:cTn id="7" dur="500"/>
                                        <p:tgtEl>
                                          <p:spTgt spid="56322"/>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1000" fill="hold"/>
                                        <p:tgtEl>
                                          <p:spTgt spid="11"/>
                                        </p:tgtEl>
                                        <p:attrNameLst>
                                          <p:attrName>ppt_w</p:attrName>
                                        </p:attrNameLst>
                                      </p:cBhvr>
                                      <p:tavLst>
                                        <p:tav tm="0">
                                          <p:val>
                                            <p:fltVal val="0"/>
                                          </p:val>
                                        </p:tav>
                                        <p:tav tm="100000">
                                          <p:val>
                                            <p:strVal val="#ppt_w"/>
                                          </p:val>
                                        </p:tav>
                                      </p:tavLst>
                                    </p:anim>
                                    <p:anim calcmode="lin" valueType="num">
                                      <p:cBhvr>
                                        <p:cTn id="29" dur="1000" fill="hold"/>
                                        <p:tgtEl>
                                          <p:spTgt spid="11"/>
                                        </p:tgtEl>
                                        <p:attrNameLst>
                                          <p:attrName>ppt_h</p:attrName>
                                        </p:attrNameLst>
                                      </p:cBhvr>
                                      <p:tavLst>
                                        <p:tav tm="0">
                                          <p:val>
                                            <p:fltVal val="0"/>
                                          </p:val>
                                        </p:tav>
                                        <p:tav tm="100000">
                                          <p:val>
                                            <p:strVal val="#ppt_h"/>
                                          </p:val>
                                        </p:tav>
                                      </p:tavLst>
                                    </p:anim>
                                    <p:anim calcmode="lin" valueType="num">
                                      <p:cBhvr>
                                        <p:cTn id="30" dur="1000" fill="hold"/>
                                        <p:tgtEl>
                                          <p:spTgt spid="11"/>
                                        </p:tgtEl>
                                        <p:attrNameLst>
                                          <p:attrName>style.rotation</p:attrName>
                                        </p:attrNameLst>
                                      </p:cBhvr>
                                      <p:tavLst>
                                        <p:tav tm="0">
                                          <p:val>
                                            <p:fltVal val="90"/>
                                          </p:val>
                                        </p:tav>
                                        <p:tav tm="100000">
                                          <p:val>
                                            <p:fltVal val="0"/>
                                          </p:val>
                                        </p:tav>
                                      </p:tavLst>
                                    </p:anim>
                                    <p:animEffect transition="in" filter="fade">
                                      <p:cBhvr>
                                        <p:cTn id="31" dur="10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nodeType="clickEffect">
                                  <p:stCondLst>
                                    <p:cond delay="0"/>
                                  </p:stCondLst>
                                  <p:childTnLst>
                                    <p:set>
                                      <p:cBhvr>
                                        <p:cTn id="35" dur="1" fill="hold">
                                          <p:stCondLst>
                                            <p:cond delay="0"/>
                                          </p:stCondLst>
                                        </p:cTn>
                                        <p:tgtEl>
                                          <p:spTgt spid="1027"/>
                                        </p:tgtEl>
                                        <p:attrNameLst>
                                          <p:attrName>style.visibility</p:attrName>
                                        </p:attrNameLst>
                                      </p:cBhvr>
                                      <p:to>
                                        <p:strVal val="visible"/>
                                      </p:to>
                                    </p:set>
                                    <p:animEffect transition="in" filter="randombar(horizontal)">
                                      <p:cBhvr>
                                        <p:cTn id="36" dur="500"/>
                                        <p:tgtEl>
                                          <p:spTgt spid="1027"/>
                                        </p:tgtEl>
                                      </p:cBhvr>
                                    </p:animEffect>
                                  </p:childTnLst>
                                </p:cTn>
                              </p:par>
                            </p:childTnLst>
                          </p:cTn>
                        </p:par>
                      </p:childTnLst>
                    </p:cTn>
                  </p:par>
                  <p:par>
                    <p:cTn id="37" fill="hold">
                      <p:stCondLst>
                        <p:cond delay="indefinite"/>
                      </p:stCondLst>
                      <p:childTnLst>
                        <p:par>
                          <p:cTn id="38" fill="hold">
                            <p:stCondLst>
                              <p:cond delay="0"/>
                            </p:stCondLst>
                            <p:childTnLst>
                              <p:par>
                                <p:cTn id="39" presetID="6" presetClass="entr" presetSubtype="16" fill="hold" nodeType="clickEffect">
                                  <p:stCondLst>
                                    <p:cond delay="0"/>
                                  </p:stCondLst>
                                  <p:childTnLst>
                                    <p:set>
                                      <p:cBhvr>
                                        <p:cTn id="40" dur="1" fill="hold">
                                          <p:stCondLst>
                                            <p:cond delay="0"/>
                                          </p:stCondLst>
                                        </p:cTn>
                                        <p:tgtEl>
                                          <p:spTgt spid="4">
                                            <p:txEl>
                                              <p:pRg st="5" end="5"/>
                                            </p:txEl>
                                          </p:spTgt>
                                        </p:tgtEl>
                                        <p:attrNameLst>
                                          <p:attrName>style.visibility</p:attrName>
                                        </p:attrNameLst>
                                      </p:cBhvr>
                                      <p:to>
                                        <p:strVal val="visible"/>
                                      </p:to>
                                    </p:set>
                                    <p:animEffect transition="in" filter="circle(in)">
                                      <p:cBhvr>
                                        <p:cTn id="41" dur="2000"/>
                                        <p:tgtEl>
                                          <p:spTgt spid="4">
                                            <p:txEl>
                                              <p:pRg st="5" end="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6" presetClass="entr" presetSubtype="16" fill="hold" nodeType="clickEffect">
                                  <p:stCondLst>
                                    <p:cond delay="0"/>
                                  </p:stCondLst>
                                  <p:childTnLst>
                                    <p:set>
                                      <p:cBhvr>
                                        <p:cTn id="45" dur="1" fill="hold">
                                          <p:stCondLst>
                                            <p:cond delay="0"/>
                                          </p:stCondLst>
                                        </p:cTn>
                                        <p:tgtEl>
                                          <p:spTgt spid="4">
                                            <p:txEl>
                                              <p:pRg st="6" end="6"/>
                                            </p:txEl>
                                          </p:spTgt>
                                        </p:tgtEl>
                                        <p:attrNameLst>
                                          <p:attrName>style.visibility</p:attrName>
                                        </p:attrNameLst>
                                      </p:cBhvr>
                                      <p:to>
                                        <p:strVal val="visible"/>
                                      </p:to>
                                    </p:set>
                                    <p:animEffect transition="in" filter="circle(in)">
                                      <p:cBhvr>
                                        <p:cTn id="46" dur="2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a:xfrm>
            <a:off x="761543" y="1449942"/>
            <a:ext cx="5486492" cy="3921601"/>
          </a:xfrm>
        </p:spPr>
        <p:txBody>
          <a:bodyPr/>
          <a:lstStyle/>
          <a:p>
            <a:pPr marL="0" indent="0">
              <a:buNone/>
            </a:pPr>
            <a:r>
              <a:rPr lang="zh-CN" altLang="en-US" sz="2200" b="1" dirty="0"/>
              <a:t>问题</a:t>
            </a:r>
            <a:r>
              <a:rPr lang="en-US" altLang="zh-CN" sz="2200" b="1" dirty="0"/>
              <a:t>3</a:t>
            </a:r>
            <a:r>
              <a:rPr lang="zh-CN" altLang="en-US" sz="2200" b="1" dirty="0"/>
              <a:t>：正义和不正义对于生活的功能是什么？</a:t>
            </a:r>
          </a:p>
          <a:p>
            <a:r>
              <a:rPr lang="en-US" altLang="zh-CN" sz="2200" b="1" dirty="0"/>
              <a:t>1</a:t>
            </a:r>
            <a:r>
              <a:rPr lang="zh-CN" altLang="en-US" sz="2200" b="1" dirty="0"/>
              <a:t>、每个事物都有非它不能完成的功能</a:t>
            </a:r>
            <a:r>
              <a:rPr lang="en-US" altLang="zh-CN" sz="2200" b="1" dirty="0"/>
              <a:t>353a5-10</a:t>
            </a:r>
            <a:r>
              <a:rPr lang="zh-CN" altLang="en-US" sz="2200" b="1" dirty="0"/>
              <a:t>；</a:t>
            </a:r>
          </a:p>
          <a:p>
            <a:endParaRPr lang="zh-CN" altLang="en-US" dirty="0"/>
          </a:p>
        </p:txBody>
      </p:sp>
      <p:sp>
        <p:nvSpPr>
          <p:cNvPr id="4" name="Content Placeholder 3"/>
          <p:cNvSpPr>
            <a:spLocks noGrp="1"/>
          </p:cNvSpPr>
          <p:nvPr>
            <p:ph sz="half" idx="2"/>
          </p:nvPr>
        </p:nvSpPr>
        <p:spPr/>
        <p:txBody>
          <a:bodyPr/>
          <a:lstStyle/>
          <a:p>
            <a:endParaRPr lang="zh-CN"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5444" y="3257786"/>
            <a:ext cx="5276850" cy="307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3582" y="0"/>
            <a:ext cx="5004359" cy="6821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9216428" y="4562947"/>
            <a:ext cx="200081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7088863" y="4796073"/>
            <a:ext cx="224526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6244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randombar(horizontal)">
                                      <p:cBhvr>
                                        <p:cTn id="12" dur="500"/>
                                        <p:tgtEl>
                                          <p:spTgt spid="2050"/>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051"/>
                                        </p:tgtEl>
                                        <p:attrNameLst>
                                          <p:attrName>style.visibility</p:attrName>
                                        </p:attrNameLst>
                                      </p:cBhvr>
                                      <p:to>
                                        <p:strVal val="visible"/>
                                      </p:to>
                                    </p:set>
                                    <p:animEffect transition="in" filter="randombar(horizontal)">
                                      <p:cBhvr>
                                        <p:cTn id="17" dur="500"/>
                                        <p:tgtEl>
                                          <p:spTgt spid="2051"/>
                                        </p:tgtEl>
                                      </p:cBhvr>
                                    </p:animEffect>
                                  </p:childTnLst>
                                </p:cTn>
                              </p:par>
                            </p:childTnLst>
                          </p:cTn>
                        </p:par>
                      </p:childTnLst>
                    </p:cTn>
                  </p:par>
                  <p:par>
                    <p:cTn id="18" fill="hold">
                      <p:stCondLst>
                        <p:cond delay="indefinite"/>
                      </p:stCondLst>
                      <p:childTnLst>
                        <p:par>
                          <p:cTn id="19" fill="hold">
                            <p:stCondLst>
                              <p:cond delay="0"/>
                            </p:stCondLst>
                            <p:childTnLst>
                              <p:par>
                                <p:cTn id="20" presetID="3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1000" fill="hold"/>
                                        <p:tgtEl>
                                          <p:spTgt spid="6"/>
                                        </p:tgtEl>
                                        <p:attrNameLst>
                                          <p:attrName>ppt_w</p:attrName>
                                        </p:attrNameLst>
                                      </p:cBhvr>
                                      <p:tavLst>
                                        <p:tav tm="0">
                                          <p:val>
                                            <p:fltVal val="0"/>
                                          </p:val>
                                        </p:tav>
                                        <p:tav tm="100000">
                                          <p:val>
                                            <p:strVal val="#ppt_w"/>
                                          </p:val>
                                        </p:tav>
                                      </p:tavLst>
                                    </p:anim>
                                    <p:anim calcmode="lin" valueType="num">
                                      <p:cBhvr>
                                        <p:cTn id="23" dur="1000" fill="hold"/>
                                        <p:tgtEl>
                                          <p:spTgt spid="6"/>
                                        </p:tgtEl>
                                        <p:attrNameLst>
                                          <p:attrName>ppt_h</p:attrName>
                                        </p:attrNameLst>
                                      </p:cBhvr>
                                      <p:tavLst>
                                        <p:tav tm="0">
                                          <p:val>
                                            <p:fltVal val="0"/>
                                          </p:val>
                                        </p:tav>
                                        <p:tav tm="100000">
                                          <p:val>
                                            <p:strVal val="#ppt_h"/>
                                          </p:val>
                                        </p:tav>
                                      </p:tavLst>
                                    </p:anim>
                                    <p:anim calcmode="lin" valueType="num">
                                      <p:cBhvr>
                                        <p:cTn id="24" dur="1000" fill="hold"/>
                                        <p:tgtEl>
                                          <p:spTgt spid="6"/>
                                        </p:tgtEl>
                                        <p:attrNameLst>
                                          <p:attrName>style.rotation</p:attrName>
                                        </p:attrNameLst>
                                      </p:cBhvr>
                                      <p:tavLst>
                                        <p:tav tm="0">
                                          <p:val>
                                            <p:fltVal val="90"/>
                                          </p:val>
                                        </p:tav>
                                        <p:tav tm="100000">
                                          <p:val>
                                            <p:fltVal val="0"/>
                                          </p:val>
                                        </p:tav>
                                      </p:tavLst>
                                    </p:anim>
                                    <p:animEffect transition="in" filter="fade">
                                      <p:cBhvr>
                                        <p:cTn id="25" dur="10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p:cTn id="30" dur="1000" fill="hold"/>
                                        <p:tgtEl>
                                          <p:spTgt spid="8"/>
                                        </p:tgtEl>
                                        <p:attrNameLst>
                                          <p:attrName>ppt_w</p:attrName>
                                        </p:attrNameLst>
                                      </p:cBhvr>
                                      <p:tavLst>
                                        <p:tav tm="0">
                                          <p:val>
                                            <p:fltVal val="0"/>
                                          </p:val>
                                        </p:tav>
                                        <p:tav tm="100000">
                                          <p:val>
                                            <p:strVal val="#ppt_w"/>
                                          </p:val>
                                        </p:tav>
                                      </p:tavLst>
                                    </p:anim>
                                    <p:anim calcmode="lin" valueType="num">
                                      <p:cBhvr>
                                        <p:cTn id="31" dur="1000" fill="hold"/>
                                        <p:tgtEl>
                                          <p:spTgt spid="8"/>
                                        </p:tgtEl>
                                        <p:attrNameLst>
                                          <p:attrName>ppt_h</p:attrName>
                                        </p:attrNameLst>
                                      </p:cBhvr>
                                      <p:tavLst>
                                        <p:tav tm="0">
                                          <p:val>
                                            <p:fltVal val="0"/>
                                          </p:val>
                                        </p:tav>
                                        <p:tav tm="100000">
                                          <p:val>
                                            <p:strVal val="#ppt_h"/>
                                          </p:val>
                                        </p:tav>
                                      </p:tavLst>
                                    </p:anim>
                                    <p:anim calcmode="lin" valueType="num">
                                      <p:cBhvr>
                                        <p:cTn id="32" dur="1000" fill="hold"/>
                                        <p:tgtEl>
                                          <p:spTgt spid="8"/>
                                        </p:tgtEl>
                                        <p:attrNameLst>
                                          <p:attrName>style.rotation</p:attrName>
                                        </p:attrNameLst>
                                      </p:cBhvr>
                                      <p:tavLst>
                                        <p:tav tm="0">
                                          <p:val>
                                            <p:fltVal val="90"/>
                                          </p:val>
                                        </p:tav>
                                        <p:tav tm="100000">
                                          <p:val>
                                            <p:fltVal val="0"/>
                                          </p:val>
                                        </p:tav>
                                      </p:tavLst>
                                    </p:anim>
                                    <p:animEffect transition="in" filter="fade">
                                      <p:cBhvr>
                                        <p:cTn id="33" dur="10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nodeType="clickEffect">
                                  <p:stCondLst>
                                    <p:cond delay="0"/>
                                  </p:stCondLst>
                                  <p:childTnLst>
                                    <p:set>
                                      <p:cBhvr>
                                        <p:cTn id="37" dur="1" fill="hold">
                                          <p:stCondLst>
                                            <p:cond delay="0"/>
                                          </p:stCondLst>
                                        </p:cTn>
                                        <p:tgtEl>
                                          <p:spTgt spid="3">
                                            <p:txEl>
                                              <p:pRg st="1" end="1"/>
                                            </p:txEl>
                                          </p:spTgt>
                                        </p:tgtEl>
                                        <p:attrNameLst>
                                          <p:attrName>style.visibility</p:attrName>
                                        </p:attrNameLst>
                                      </p:cBhvr>
                                      <p:to>
                                        <p:strVal val="visible"/>
                                      </p:to>
                                    </p:set>
                                    <p:animEffect transition="in" filter="circle(in)">
                                      <p:cBhvr>
                                        <p:cTn id="38"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r>
              <a:rPr lang="en-US" altLang="zh-CN" sz="2000" b="1" dirty="0"/>
              <a:t>2</a:t>
            </a:r>
            <a:r>
              <a:rPr lang="zh-CN" altLang="en-US" sz="2000" b="1" dirty="0"/>
              <a:t>、每个功能都有它自己的德性，</a:t>
            </a:r>
            <a:r>
              <a:rPr lang="en-US" altLang="zh-CN" sz="2000" b="1" dirty="0" err="1"/>
              <a:t>arete</a:t>
            </a:r>
            <a:r>
              <a:rPr lang="en-US" altLang="zh-CN" sz="2000" b="1" dirty="0"/>
              <a:t>(virtue)</a:t>
            </a:r>
            <a:r>
              <a:rPr lang="zh-CN" altLang="en-US" sz="2000" b="1" dirty="0"/>
              <a:t>，如果事物丧失德性，就不能发挥功能；</a:t>
            </a:r>
          </a:p>
          <a:p>
            <a:r>
              <a:rPr lang="en-US" altLang="zh-CN" sz="2000" b="1" dirty="0"/>
              <a:t>3</a:t>
            </a:r>
            <a:r>
              <a:rPr lang="zh-CN" altLang="en-US" sz="2000" b="1" dirty="0"/>
              <a:t>、人的灵魂也有非它不能完成的功能，就是管理、思想，统治。 它的品德就是正义。</a:t>
            </a:r>
          </a:p>
          <a:p>
            <a:endParaRPr lang="zh-CN" altLang="en-US" dirty="0"/>
          </a:p>
        </p:txBody>
      </p:sp>
      <p:sp>
        <p:nvSpPr>
          <p:cNvPr id="4" name="Content Placeholder 3"/>
          <p:cNvSpPr>
            <a:spLocks noGrp="1"/>
          </p:cNvSpPr>
          <p:nvPr>
            <p:ph sz="half" idx="2"/>
          </p:nvPr>
        </p:nvSpPr>
        <p:spPr/>
        <p:txBody>
          <a:bodyPr/>
          <a:lstStyle/>
          <a:p>
            <a:endParaRPr lang="zh-CN" altLang="en-US"/>
          </a:p>
        </p:txBody>
      </p:sp>
      <p:pic>
        <p:nvPicPr>
          <p:cNvPr id="593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1313" y="282634"/>
            <a:ext cx="4943475" cy="6094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flipV="1">
            <a:off x="9632887" y="4843604"/>
            <a:ext cx="1430448" cy="1810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6944008" y="5033727"/>
            <a:ext cx="4237022" cy="4526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6944008" y="5287224"/>
            <a:ext cx="3186820" cy="905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7976103" y="6156356"/>
            <a:ext cx="2743200" cy="2716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6483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9394"/>
                                        </p:tgtEl>
                                        <p:attrNameLst>
                                          <p:attrName>style.visibility</p:attrName>
                                        </p:attrNameLst>
                                      </p:cBhvr>
                                      <p:to>
                                        <p:strVal val="visible"/>
                                      </p:to>
                                    </p:set>
                                    <p:animEffect transition="in" filter="randombar(horizontal)">
                                      <p:cBhvr>
                                        <p:cTn id="7" dur="500"/>
                                        <p:tgtEl>
                                          <p:spTgt spid="5939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1000" fill="hold"/>
                                        <p:tgtEl>
                                          <p:spTgt spid="6"/>
                                        </p:tgtEl>
                                        <p:attrNameLst>
                                          <p:attrName>ppt_w</p:attrName>
                                        </p:attrNameLst>
                                      </p:cBhvr>
                                      <p:tavLst>
                                        <p:tav tm="0">
                                          <p:val>
                                            <p:fltVal val="0"/>
                                          </p:val>
                                        </p:tav>
                                        <p:tav tm="100000">
                                          <p:val>
                                            <p:strVal val="#ppt_w"/>
                                          </p:val>
                                        </p:tav>
                                      </p:tavLst>
                                    </p:anim>
                                    <p:anim calcmode="lin" valueType="num">
                                      <p:cBhvr>
                                        <p:cTn id="18" dur="1000" fill="hold"/>
                                        <p:tgtEl>
                                          <p:spTgt spid="6"/>
                                        </p:tgtEl>
                                        <p:attrNameLst>
                                          <p:attrName>ppt_h</p:attrName>
                                        </p:attrNameLst>
                                      </p:cBhvr>
                                      <p:tavLst>
                                        <p:tav tm="0">
                                          <p:val>
                                            <p:fltVal val="0"/>
                                          </p:val>
                                        </p:tav>
                                        <p:tav tm="100000">
                                          <p:val>
                                            <p:strVal val="#ppt_h"/>
                                          </p:val>
                                        </p:tav>
                                      </p:tavLst>
                                    </p:anim>
                                    <p:anim calcmode="lin" valueType="num">
                                      <p:cBhvr>
                                        <p:cTn id="19" dur="1000" fill="hold"/>
                                        <p:tgtEl>
                                          <p:spTgt spid="6"/>
                                        </p:tgtEl>
                                        <p:attrNameLst>
                                          <p:attrName>style.rotation</p:attrName>
                                        </p:attrNameLst>
                                      </p:cBhvr>
                                      <p:tavLst>
                                        <p:tav tm="0">
                                          <p:val>
                                            <p:fltVal val="90"/>
                                          </p:val>
                                        </p:tav>
                                        <p:tav tm="100000">
                                          <p:val>
                                            <p:fltVal val="0"/>
                                          </p:val>
                                        </p:tav>
                                      </p:tavLst>
                                    </p:anim>
                                    <p:animEffect transition="in" filter="fade">
                                      <p:cBhvr>
                                        <p:cTn id="20" dur="10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1000" fill="hold"/>
                                        <p:tgtEl>
                                          <p:spTgt spid="8"/>
                                        </p:tgtEl>
                                        <p:attrNameLst>
                                          <p:attrName>ppt_w</p:attrName>
                                        </p:attrNameLst>
                                      </p:cBhvr>
                                      <p:tavLst>
                                        <p:tav tm="0">
                                          <p:val>
                                            <p:fltVal val="0"/>
                                          </p:val>
                                        </p:tav>
                                        <p:tav tm="100000">
                                          <p:val>
                                            <p:strVal val="#ppt_w"/>
                                          </p:val>
                                        </p:tav>
                                      </p:tavLst>
                                    </p:anim>
                                    <p:anim calcmode="lin" valueType="num">
                                      <p:cBhvr>
                                        <p:cTn id="26" dur="1000" fill="hold"/>
                                        <p:tgtEl>
                                          <p:spTgt spid="8"/>
                                        </p:tgtEl>
                                        <p:attrNameLst>
                                          <p:attrName>ppt_h</p:attrName>
                                        </p:attrNameLst>
                                      </p:cBhvr>
                                      <p:tavLst>
                                        <p:tav tm="0">
                                          <p:val>
                                            <p:fltVal val="0"/>
                                          </p:val>
                                        </p:tav>
                                        <p:tav tm="100000">
                                          <p:val>
                                            <p:strVal val="#ppt_h"/>
                                          </p:val>
                                        </p:tav>
                                      </p:tavLst>
                                    </p:anim>
                                    <p:anim calcmode="lin" valueType="num">
                                      <p:cBhvr>
                                        <p:cTn id="27" dur="1000" fill="hold"/>
                                        <p:tgtEl>
                                          <p:spTgt spid="8"/>
                                        </p:tgtEl>
                                        <p:attrNameLst>
                                          <p:attrName>style.rotation</p:attrName>
                                        </p:attrNameLst>
                                      </p:cBhvr>
                                      <p:tavLst>
                                        <p:tav tm="0">
                                          <p:val>
                                            <p:fltVal val="90"/>
                                          </p:val>
                                        </p:tav>
                                        <p:tav tm="100000">
                                          <p:val>
                                            <p:fltVal val="0"/>
                                          </p:val>
                                        </p:tav>
                                      </p:tavLst>
                                    </p:anim>
                                    <p:animEffect transition="in" filter="fade">
                                      <p:cBhvr>
                                        <p:cTn id="28" dur="10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p:cTn id="33" dur="1000" fill="hold"/>
                                        <p:tgtEl>
                                          <p:spTgt spid="10"/>
                                        </p:tgtEl>
                                        <p:attrNameLst>
                                          <p:attrName>ppt_w</p:attrName>
                                        </p:attrNameLst>
                                      </p:cBhvr>
                                      <p:tavLst>
                                        <p:tav tm="0">
                                          <p:val>
                                            <p:fltVal val="0"/>
                                          </p:val>
                                        </p:tav>
                                        <p:tav tm="100000">
                                          <p:val>
                                            <p:strVal val="#ppt_w"/>
                                          </p:val>
                                        </p:tav>
                                      </p:tavLst>
                                    </p:anim>
                                    <p:anim calcmode="lin" valueType="num">
                                      <p:cBhvr>
                                        <p:cTn id="34" dur="1000" fill="hold"/>
                                        <p:tgtEl>
                                          <p:spTgt spid="10"/>
                                        </p:tgtEl>
                                        <p:attrNameLst>
                                          <p:attrName>ppt_h</p:attrName>
                                        </p:attrNameLst>
                                      </p:cBhvr>
                                      <p:tavLst>
                                        <p:tav tm="0">
                                          <p:val>
                                            <p:fltVal val="0"/>
                                          </p:val>
                                        </p:tav>
                                        <p:tav tm="100000">
                                          <p:val>
                                            <p:strVal val="#ppt_h"/>
                                          </p:val>
                                        </p:tav>
                                      </p:tavLst>
                                    </p:anim>
                                    <p:anim calcmode="lin" valueType="num">
                                      <p:cBhvr>
                                        <p:cTn id="35" dur="1000" fill="hold"/>
                                        <p:tgtEl>
                                          <p:spTgt spid="10"/>
                                        </p:tgtEl>
                                        <p:attrNameLst>
                                          <p:attrName>style.rotation</p:attrName>
                                        </p:attrNameLst>
                                      </p:cBhvr>
                                      <p:tavLst>
                                        <p:tav tm="0">
                                          <p:val>
                                            <p:fltVal val="90"/>
                                          </p:val>
                                        </p:tav>
                                        <p:tav tm="100000">
                                          <p:val>
                                            <p:fltVal val="0"/>
                                          </p:val>
                                        </p:tav>
                                      </p:tavLst>
                                    </p:anim>
                                    <p:animEffect transition="in" filter="fade">
                                      <p:cBhvr>
                                        <p:cTn id="36" dur="10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6" presetClass="entr" presetSubtype="16" fill="hold" nodeType="clickEffect">
                                  <p:stCondLst>
                                    <p:cond delay="0"/>
                                  </p:stCondLst>
                                  <p:childTnLst>
                                    <p:set>
                                      <p:cBhvr>
                                        <p:cTn id="40" dur="1" fill="hold">
                                          <p:stCondLst>
                                            <p:cond delay="0"/>
                                          </p:stCondLst>
                                        </p:cTn>
                                        <p:tgtEl>
                                          <p:spTgt spid="3">
                                            <p:txEl>
                                              <p:pRg st="1" end="1"/>
                                            </p:txEl>
                                          </p:spTgt>
                                        </p:tgtEl>
                                        <p:attrNameLst>
                                          <p:attrName>style.visibility</p:attrName>
                                        </p:attrNameLst>
                                      </p:cBhvr>
                                      <p:to>
                                        <p:strVal val="visible"/>
                                      </p:to>
                                    </p:set>
                                    <p:animEffect transition="in" filter="circle(in)">
                                      <p:cBhvr>
                                        <p:cTn id="41" dur="2000"/>
                                        <p:tgtEl>
                                          <p:spTgt spid="3">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1" presetClass="entr" presetSubtype="0"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p:cTn id="46" dur="1000" fill="hold"/>
                                        <p:tgtEl>
                                          <p:spTgt spid="12"/>
                                        </p:tgtEl>
                                        <p:attrNameLst>
                                          <p:attrName>ppt_w</p:attrName>
                                        </p:attrNameLst>
                                      </p:cBhvr>
                                      <p:tavLst>
                                        <p:tav tm="0">
                                          <p:val>
                                            <p:fltVal val="0"/>
                                          </p:val>
                                        </p:tav>
                                        <p:tav tm="100000">
                                          <p:val>
                                            <p:strVal val="#ppt_w"/>
                                          </p:val>
                                        </p:tav>
                                      </p:tavLst>
                                    </p:anim>
                                    <p:anim calcmode="lin" valueType="num">
                                      <p:cBhvr>
                                        <p:cTn id="47" dur="1000" fill="hold"/>
                                        <p:tgtEl>
                                          <p:spTgt spid="12"/>
                                        </p:tgtEl>
                                        <p:attrNameLst>
                                          <p:attrName>ppt_h</p:attrName>
                                        </p:attrNameLst>
                                      </p:cBhvr>
                                      <p:tavLst>
                                        <p:tav tm="0">
                                          <p:val>
                                            <p:fltVal val="0"/>
                                          </p:val>
                                        </p:tav>
                                        <p:tav tm="100000">
                                          <p:val>
                                            <p:strVal val="#ppt_h"/>
                                          </p:val>
                                        </p:tav>
                                      </p:tavLst>
                                    </p:anim>
                                    <p:anim calcmode="lin" valueType="num">
                                      <p:cBhvr>
                                        <p:cTn id="48" dur="1000" fill="hold"/>
                                        <p:tgtEl>
                                          <p:spTgt spid="12"/>
                                        </p:tgtEl>
                                        <p:attrNameLst>
                                          <p:attrName>style.rotation</p:attrName>
                                        </p:attrNameLst>
                                      </p:cBhvr>
                                      <p:tavLst>
                                        <p:tav tm="0">
                                          <p:val>
                                            <p:fltVal val="90"/>
                                          </p:val>
                                        </p:tav>
                                        <p:tav tm="100000">
                                          <p:val>
                                            <p:fltVal val="0"/>
                                          </p:val>
                                        </p:tav>
                                      </p:tavLst>
                                    </p:anim>
                                    <p:animEffect transition="in" filter="fade">
                                      <p:cBhvr>
                                        <p:cTn id="49"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lstStyle/>
          <a:p>
            <a:r>
              <a:rPr lang="zh-CN" altLang="en-US" sz="2000" b="1" dirty="0"/>
              <a:t>活（</a:t>
            </a:r>
            <a:r>
              <a:rPr lang="en-US" altLang="zh-CN" sz="2000" b="1" dirty="0"/>
              <a:t>living</a:t>
            </a:r>
            <a:r>
              <a:rPr lang="zh-CN" altLang="en-US" sz="2000" b="1" dirty="0"/>
              <a:t>）也是心灵的一种功能，人的心灵有一种德性，好的心灵把人的生活照看得好，坏的心灵把人的生活照看得不好</a:t>
            </a:r>
            <a:r>
              <a:rPr lang="en-US" altLang="zh-CN" sz="2000" b="1" dirty="0"/>
              <a:t>353d8-e5</a:t>
            </a:r>
            <a:r>
              <a:rPr lang="zh-CN" altLang="en-US" sz="2000" b="1" dirty="0"/>
              <a:t>。由于已经同意正义是灵魂的德性而不正义是灵魂的邪恶</a:t>
            </a:r>
            <a:r>
              <a:rPr lang="en-US" altLang="zh-CN" sz="2000" b="1" dirty="0"/>
              <a:t>, </a:t>
            </a:r>
            <a:r>
              <a:rPr lang="zh-CN" altLang="en-US" sz="2000" b="1" dirty="0"/>
              <a:t>所以正义的灵魂，正义的人活得好，不正义的灵魂，不正义的人活得不好</a:t>
            </a:r>
            <a:r>
              <a:rPr lang="en-US" altLang="zh-CN" sz="2000" b="1" dirty="0"/>
              <a:t>353e10</a:t>
            </a:r>
            <a:r>
              <a:rPr lang="zh-CN" altLang="en-US" sz="2000" b="1" dirty="0"/>
              <a:t>。</a:t>
            </a:r>
          </a:p>
          <a:p>
            <a:r>
              <a:rPr lang="zh-CN" altLang="en-US" sz="2000" b="1" dirty="0"/>
              <a:t>心灵的功能就是管理好自己。管理就意味着各方面的协调，也就是正义。这样，苏格拉底就把功能、德性、正义、幸福联系在一起。</a:t>
            </a:r>
          </a:p>
          <a:p>
            <a:endParaRPr lang="zh-CN" altLang="en-US" dirty="0"/>
          </a:p>
        </p:txBody>
      </p:sp>
      <p:pic>
        <p:nvPicPr>
          <p:cNvPr id="604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407" y="215382"/>
            <a:ext cx="5462587" cy="6198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2797521" y="2118511"/>
            <a:ext cx="268887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995881" y="2362954"/>
            <a:ext cx="339505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693406" y="2824681"/>
            <a:ext cx="279299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792586" y="3530851"/>
            <a:ext cx="3693814" cy="1810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995881" y="3784349"/>
            <a:ext cx="642796" cy="1810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5281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0418"/>
                                        </p:tgtEl>
                                        <p:attrNameLst>
                                          <p:attrName>style.visibility</p:attrName>
                                        </p:attrNameLst>
                                      </p:cBhvr>
                                      <p:to>
                                        <p:strVal val="visible"/>
                                      </p:to>
                                    </p:set>
                                    <p:animEffect transition="in" filter="circle(in)">
                                      <p:cBhvr>
                                        <p:cTn id="7" dur="2000"/>
                                        <p:tgtEl>
                                          <p:spTgt spid="60418"/>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ppt_w</p:attrName>
                                        </p:attrNameLst>
                                      </p:cBhvr>
                                      <p:tavLst>
                                        <p:tav tm="0">
                                          <p:val>
                                            <p:fltVal val="0"/>
                                          </p:val>
                                        </p:tav>
                                        <p:tav tm="100000">
                                          <p:val>
                                            <p:strVal val="#ppt_w"/>
                                          </p:val>
                                        </p:tav>
                                      </p:tavLst>
                                    </p:anim>
                                    <p:anim calcmode="lin" valueType="num">
                                      <p:cBhvr>
                                        <p:cTn id="21" dur="1000" fill="hold"/>
                                        <p:tgtEl>
                                          <p:spTgt spid="8"/>
                                        </p:tgtEl>
                                        <p:attrNameLst>
                                          <p:attrName>ppt_h</p:attrName>
                                        </p:attrNameLst>
                                      </p:cBhvr>
                                      <p:tavLst>
                                        <p:tav tm="0">
                                          <p:val>
                                            <p:fltVal val="0"/>
                                          </p:val>
                                        </p:tav>
                                        <p:tav tm="100000">
                                          <p:val>
                                            <p:strVal val="#ppt_h"/>
                                          </p:val>
                                        </p:tav>
                                      </p:tavLst>
                                    </p:anim>
                                    <p:anim calcmode="lin" valueType="num">
                                      <p:cBhvr>
                                        <p:cTn id="22" dur="1000" fill="hold"/>
                                        <p:tgtEl>
                                          <p:spTgt spid="8"/>
                                        </p:tgtEl>
                                        <p:attrNameLst>
                                          <p:attrName>style.rotation</p:attrName>
                                        </p:attrNameLst>
                                      </p:cBhvr>
                                      <p:tavLst>
                                        <p:tav tm="0">
                                          <p:val>
                                            <p:fltVal val="90"/>
                                          </p:val>
                                        </p:tav>
                                        <p:tav tm="100000">
                                          <p:val>
                                            <p:fltVal val="0"/>
                                          </p:val>
                                        </p:tav>
                                      </p:tavLst>
                                    </p:anim>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1000" fill="hold"/>
                                        <p:tgtEl>
                                          <p:spTgt spid="10"/>
                                        </p:tgtEl>
                                        <p:attrNameLst>
                                          <p:attrName>ppt_w</p:attrName>
                                        </p:attrNameLst>
                                      </p:cBhvr>
                                      <p:tavLst>
                                        <p:tav tm="0">
                                          <p:val>
                                            <p:fltVal val="0"/>
                                          </p:val>
                                        </p:tav>
                                        <p:tav tm="100000">
                                          <p:val>
                                            <p:strVal val="#ppt_w"/>
                                          </p:val>
                                        </p:tav>
                                      </p:tavLst>
                                    </p:anim>
                                    <p:anim calcmode="lin" valueType="num">
                                      <p:cBhvr>
                                        <p:cTn id="29" dur="1000" fill="hold"/>
                                        <p:tgtEl>
                                          <p:spTgt spid="10"/>
                                        </p:tgtEl>
                                        <p:attrNameLst>
                                          <p:attrName>ppt_h</p:attrName>
                                        </p:attrNameLst>
                                      </p:cBhvr>
                                      <p:tavLst>
                                        <p:tav tm="0">
                                          <p:val>
                                            <p:fltVal val="0"/>
                                          </p:val>
                                        </p:tav>
                                        <p:tav tm="100000">
                                          <p:val>
                                            <p:strVal val="#ppt_h"/>
                                          </p:val>
                                        </p:tav>
                                      </p:tavLst>
                                    </p:anim>
                                    <p:anim calcmode="lin" valueType="num">
                                      <p:cBhvr>
                                        <p:cTn id="30" dur="1000" fill="hold"/>
                                        <p:tgtEl>
                                          <p:spTgt spid="10"/>
                                        </p:tgtEl>
                                        <p:attrNameLst>
                                          <p:attrName>style.rotation</p:attrName>
                                        </p:attrNameLst>
                                      </p:cBhvr>
                                      <p:tavLst>
                                        <p:tav tm="0">
                                          <p:val>
                                            <p:fltVal val="90"/>
                                          </p:val>
                                        </p:tav>
                                        <p:tav tm="100000">
                                          <p:val>
                                            <p:fltVal val="0"/>
                                          </p:val>
                                        </p:tav>
                                      </p:tavLst>
                                    </p:anim>
                                    <p:animEffect transition="in" filter="fade">
                                      <p:cBhvr>
                                        <p:cTn id="31" dur="1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1000" fill="hold"/>
                                        <p:tgtEl>
                                          <p:spTgt spid="12"/>
                                        </p:tgtEl>
                                        <p:attrNameLst>
                                          <p:attrName>ppt_w</p:attrName>
                                        </p:attrNameLst>
                                      </p:cBhvr>
                                      <p:tavLst>
                                        <p:tav tm="0">
                                          <p:val>
                                            <p:fltVal val="0"/>
                                          </p:val>
                                        </p:tav>
                                        <p:tav tm="100000">
                                          <p:val>
                                            <p:strVal val="#ppt_w"/>
                                          </p:val>
                                        </p:tav>
                                      </p:tavLst>
                                    </p:anim>
                                    <p:anim calcmode="lin" valueType="num">
                                      <p:cBhvr>
                                        <p:cTn id="37" dur="1000" fill="hold"/>
                                        <p:tgtEl>
                                          <p:spTgt spid="12"/>
                                        </p:tgtEl>
                                        <p:attrNameLst>
                                          <p:attrName>ppt_h</p:attrName>
                                        </p:attrNameLst>
                                      </p:cBhvr>
                                      <p:tavLst>
                                        <p:tav tm="0">
                                          <p:val>
                                            <p:fltVal val="0"/>
                                          </p:val>
                                        </p:tav>
                                        <p:tav tm="100000">
                                          <p:val>
                                            <p:strVal val="#ppt_h"/>
                                          </p:val>
                                        </p:tav>
                                      </p:tavLst>
                                    </p:anim>
                                    <p:anim calcmode="lin" valueType="num">
                                      <p:cBhvr>
                                        <p:cTn id="38" dur="1000" fill="hold"/>
                                        <p:tgtEl>
                                          <p:spTgt spid="12"/>
                                        </p:tgtEl>
                                        <p:attrNameLst>
                                          <p:attrName>style.rotation</p:attrName>
                                        </p:attrNameLst>
                                      </p:cBhvr>
                                      <p:tavLst>
                                        <p:tav tm="0">
                                          <p:val>
                                            <p:fltVal val="90"/>
                                          </p:val>
                                        </p:tav>
                                        <p:tav tm="100000">
                                          <p:val>
                                            <p:fltVal val="0"/>
                                          </p:val>
                                        </p:tav>
                                      </p:tavLst>
                                    </p:anim>
                                    <p:animEffect transition="in" filter="fade">
                                      <p:cBhvr>
                                        <p:cTn id="39" dur="10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31" presetClass="entr" presetSubtype="0" fill="hold" nodeType="click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p:cTn id="44" dur="1000" fill="hold"/>
                                        <p:tgtEl>
                                          <p:spTgt spid="14"/>
                                        </p:tgtEl>
                                        <p:attrNameLst>
                                          <p:attrName>ppt_w</p:attrName>
                                        </p:attrNameLst>
                                      </p:cBhvr>
                                      <p:tavLst>
                                        <p:tav tm="0">
                                          <p:val>
                                            <p:fltVal val="0"/>
                                          </p:val>
                                        </p:tav>
                                        <p:tav tm="100000">
                                          <p:val>
                                            <p:strVal val="#ppt_w"/>
                                          </p:val>
                                        </p:tav>
                                      </p:tavLst>
                                    </p:anim>
                                    <p:anim calcmode="lin" valueType="num">
                                      <p:cBhvr>
                                        <p:cTn id="45" dur="1000" fill="hold"/>
                                        <p:tgtEl>
                                          <p:spTgt spid="14"/>
                                        </p:tgtEl>
                                        <p:attrNameLst>
                                          <p:attrName>ppt_h</p:attrName>
                                        </p:attrNameLst>
                                      </p:cBhvr>
                                      <p:tavLst>
                                        <p:tav tm="0">
                                          <p:val>
                                            <p:fltVal val="0"/>
                                          </p:val>
                                        </p:tav>
                                        <p:tav tm="100000">
                                          <p:val>
                                            <p:strVal val="#ppt_h"/>
                                          </p:val>
                                        </p:tav>
                                      </p:tavLst>
                                    </p:anim>
                                    <p:anim calcmode="lin" valueType="num">
                                      <p:cBhvr>
                                        <p:cTn id="46" dur="1000" fill="hold"/>
                                        <p:tgtEl>
                                          <p:spTgt spid="14"/>
                                        </p:tgtEl>
                                        <p:attrNameLst>
                                          <p:attrName>style.rotation</p:attrName>
                                        </p:attrNameLst>
                                      </p:cBhvr>
                                      <p:tavLst>
                                        <p:tav tm="0">
                                          <p:val>
                                            <p:fltVal val="90"/>
                                          </p:val>
                                        </p:tav>
                                        <p:tav tm="100000">
                                          <p:val>
                                            <p:fltVal val="0"/>
                                          </p:val>
                                        </p:tav>
                                      </p:tavLst>
                                    </p:anim>
                                    <p:animEffect transition="in" filter="fade">
                                      <p:cBhvr>
                                        <p:cTn id="47" dur="10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nodeType="clickEffect">
                                  <p:stCondLst>
                                    <p:cond delay="0"/>
                                  </p:stCondLst>
                                  <p:childTnLst>
                                    <p:set>
                                      <p:cBhvr>
                                        <p:cTn id="51" dur="1" fill="hold">
                                          <p:stCondLst>
                                            <p:cond delay="0"/>
                                          </p:stCondLst>
                                        </p:cTn>
                                        <p:tgtEl>
                                          <p:spTgt spid="4">
                                            <p:txEl>
                                              <p:pRg st="0" end="0"/>
                                            </p:txEl>
                                          </p:spTgt>
                                        </p:tgtEl>
                                        <p:attrNameLst>
                                          <p:attrName>style.visibility</p:attrName>
                                        </p:attrNameLst>
                                      </p:cBhvr>
                                      <p:to>
                                        <p:strVal val="visible"/>
                                      </p:to>
                                    </p:set>
                                    <p:animEffect transition="in" filter="circle(in)">
                                      <p:cBhvr>
                                        <p:cTn id="52" dur="2000"/>
                                        <p:tgtEl>
                                          <p:spTgt spid="4">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nodeType="clickEffect">
                                  <p:stCondLst>
                                    <p:cond delay="0"/>
                                  </p:stCondLst>
                                  <p:childTnLst>
                                    <p:set>
                                      <p:cBhvr>
                                        <p:cTn id="56" dur="1" fill="hold">
                                          <p:stCondLst>
                                            <p:cond delay="0"/>
                                          </p:stCondLst>
                                        </p:cTn>
                                        <p:tgtEl>
                                          <p:spTgt spid="4">
                                            <p:txEl>
                                              <p:pRg st="1" end="1"/>
                                            </p:txEl>
                                          </p:spTgt>
                                        </p:tgtEl>
                                        <p:attrNameLst>
                                          <p:attrName>style.visibility</p:attrName>
                                        </p:attrNameLst>
                                      </p:cBhvr>
                                      <p:to>
                                        <p:strVal val="visible"/>
                                      </p:to>
                                    </p:set>
                                    <p:animEffect transition="in" filter="circle(in)">
                                      <p:cBhvr>
                                        <p:cTn id="57"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sz="half" idx="1"/>
          </p:nvPr>
        </p:nvSpPr>
        <p:spPr/>
        <p:txBody>
          <a:bodyPr/>
          <a:lstStyle/>
          <a:p>
            <a:endParaRPr lang="zh-CN" altLang="en-US"/>
          </a:p>
        </p:txBody>
      </p:sp>
      <p:sp>
        <p:nvSpPr>
          <p:cNvPr id="4" name="Content Placeholder 3"/>
          <p:cNvSpPr>
            <a:spLocks noGrp="1"/>
          </p:cNvSpPr>
          <p:nvPr>
            <p:ph sz="half" idx="2"/>
          </p:nvPr>
        </p:nvSpPr>
        <p:spPr/>
        <p:txBody>
          <a:bodyPr/>
          <a:lstStyle/>
          <a:p>
            <a:r>
              <a:rPr lang="zh-CN" altLang="en-US" sz="2000" b="1" dirty="0"/>
              <a:t>但是，苏格拉底仍然没有找到“什么是正义”这个问题的答案。所以最后他承认自己对正义仍一无所知。</a:t>
            </a:r>
          </a:p>
          <a:p>
            <a:endParaRPr lang="zh-CN" alt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127" y="1469400"/>
            <a:ext cx="6016625" cy="443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3105338" y="5160815"/>
            <a:ext cx="130369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1118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animEffect transition="in" filter="circle(in)">
                                      <p:cBhvr>
                                        <p:cTn id="20"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0227" y="241897"/>
            <a:ext cx="10840914" cy="1260000"/>
          </a:xfrm>
        </p:spPr>
        <p:txBody>
          <a:bodyPr/>
          <a:lstStyle/>
          <a:p>
            <a:r>
              <a:rPr lang="zh-CN" altLang="en-US" dirty="0"/>
              <a:t>苏格拉底与特拉需马科的对话论证思路总结</a:t>
            </a:r>
          </a:p>
        </p:txBody>
      </p:sp>
      <p:sp>
        <p:nvSpPr>
          <p:cNvPr id="8" name="TextBox 7"/>
          <p:cNvSpPr txBox="1"/>
          <p:nvPr/>
        </p:nvSpPr>
        <p:spPr>
          <a:xfrm>
            <a:off x="758559" y="1584157"/>
            <a:ext cx="5196114" cy="400110"/>
          </a:xfrm>
          <a:prstGeom prst="rect">
            <a:avLst/>
          </a:prstGeom>
          <a:noFill/>
        </p:spPr>
        <p:txBody>
          <a:bodyPr wrap="square" rtlCol="0">
            <a:spAutoFit/>
          </a:bodyPr>
          <a:lstStyle/>
          <a:p>
            <a:r>
              <a:rPr lang="zh-CN" altLang="en-US" sz="2000" b="1" dirty="0"/>
              <a:t>人们应该选择正义的生活还是不正义的生活？</a:t>
            </a:r>
          </a:p>
        </p:txBody>
      </p:sp>
      <p:sp>
        <p:nvSpPr>
          <p:cNvPr id="9" name="TextBox 8"/>
          <p:cNvSpPr txBox="1"/>
          <p:nvPr/>
        </p:nvSpPr>
        <p:spPr>
          <a:xfrm>
            <a:off x="758559" y="2145313"/>
            <a:ext cx="7191908" cy="1015663"/>
          </a:xfrm>
          <a:prstGeom prst="rect">
            <a:avLst/>
          </a:prstGeom>
          <a:noFill/>
        </p:spPr>
        <p:txBody>
          <a:bodyPr wrap="square" rtlCol="0">
            <a:spAutoFit/>
          </a:bodyPr>
          <a:lstStyle/>
          <a:p>
            <a:r>
              <a:rPr lang="zh-CN" altLang="en-US" sz="2000" b="1" dirty="0"/>
              <a:t>问题</a:t>
            </a:r>
            <a:r>
              <a:rPr lang="en-US" altLang="zh-CN" sz="2000" b="1" dirty="0"/>
              <a:t>1</a:t>
            </a:r>
            <a:r>
              <a:rPr lang="zh-CN" altLang="en-US" sz="2000" b="1" dirty="0"/>
              <a:t>：正义和不正义，哪一个才是智慧和美德？</a:t>
            </a:r>
            <a:endParaRPr lang="en-US" altLang="zh-CN" sz="2000" b="1" dirty="0"/>
          </a:p>
          <a:p>
            <a:r>
              <a:rPr lang="zh-CN" altLang="en-US" sz="2000" b="1" dirty="0"/>
              <a:t>特：正义是天真，不正义是智慧和美德</a:t>
            </a:r>
            <a:endParaRPr lang="en-US" altLang="zh-CN" sz="2000" b="1" dirty="0"/>
          </a:p>
          <a:p>
            <a:r>
              <a:rPr lang="zh-CN" altLang="en-US" sz="2000" b="1" dirty="0"/>
              <a:t>苏：正义的人是有知识的好人，不正义的人是无知低劣的人</a:t>
            </a:r>
            <a:endParaRPr lang="en-US" altLang="zh-CN" sz="2000" b="1" dirty="0"/>
          </a:p>
        </p:txBody>
      </p:sp>
      <p:sp>
        <p:nvSpPr>
          <p:cNvPr id="11" name="TextBox 10"/>
          <p:cNvSpPr txBox="1"/>
          <p:nvPr/>
        </p:nvSpPr>
        <p:spPr>
          <a:xfrm>
            <a:off x="758559" y="3429000"/>
            <a:ext cx="9627100" cy="1015663"/>
          </a:xfrm>
          <a:prstGeom prst="rect">
            <a:avLst/>
          </a:prstGeom>
          <a:noFill/>
        </p:spPr>
        <p:txBody>
          <a:bodyPr wrap="square" rtlCol="0">
            <a:spAutoFit/>
          </a:bodyPr>
          <a:lstStyle/>
          <a:p>
            <a:r>
              <a:rPr lang="zh-CN" altLang="en-US" sz="2000" b="1" dirty="0"/>
              <a:t>问题</a:t>
            </a:r>
            <a:r>
              <a:rPr lang="en-US" altLang="zh-CN" sz="2000" b="1" dirty="0"/>
              <a:t>2</a:t>
            </a:r>
            <a:r>
              <a:rPr lang="zh-CN" altLang="en-US" sz="2000" b="1" dirty="0"/>
              <a:t>：正义和不正义（作为关系）在人们中间的作用是什么？</a:t>
            </a:r>
            <a:endParaRPr lang="en-US" altLang="zh-CN" sz="2000" b="1" dirty="0"/>
          </a:p>
          <a:p>
            <a:r>
              <a:rPr lang="zh-CN" altLang="en-US" sz="2000" b="1" dirty="0"/>
              <a:t>特：不正义的极致是凌驾于一切之上奴役一切的强大城邦。</a:t>
            </a:r>
            <a:endParaRPr lang="en-US" altLang="zh-CN" sz="2000" b="1" dirty="0"/>
          </a:p>
          <a:p>
            <a:r>
              <a:rPr lang="zh-CN" altLang="en-US" sz="2000" b="1" dirty="0"/>
              <a:t>苏：正义把人们联合在一起，而不正义让人们分裂，让个人分裂，不能完成任何事。</a:t>
            </a:r>
          </a:p>
        </p:txBody>
      </p:sp>
      <p:sp>
        <p:nvSpPr>
          <p:cNvPr id="12" name="TextBox 11"/>
          <p:cNvSpPr txBox="1"/>
          <p:nvPr/>
        </p:nvSpPr>
        <p:spPr>
          <a:xfrm>
            <a:off x="758559" y="4740349"/>
            <a:ext cx="10914742" cy="1292662"/>
          </a:xfrm>
          <a:prstGeom prst="rect">
            <a:avLst/>
          </a:prstGeom>
          <a:noFill/>
        </p:spPr>
        <p:txBody>
          <a:bodyPr wrap="square" rtlCol="0">
            <a:spAutoFit/>
          </a:bodyPr>
          <a:lstStyle/>
          <a:p>
            <a:r>
              <a:rPr lang="zh-CN" altLang="en-US" sz="2000" b="1" dirty="0"/>
              <a:t>问题</a:t>
            </a:r>
            <a:r>
              <a:rPr lang="en-US" altLang="zh-CN" sz="2000" b="1" dirty="0"/>
              <a:t>3</a:t>
            </a:r>
            <a:r>
              <a:rPr lang="zh-CN" altLang="en-US" sz="2000" b="1" dirty="0"/>
              <a:t>：正义和不正义对于生活的功能是什么？</a:t>
            </a:r>
            <a:endParaRPr lang="en-US" altLang="zh-CN" sz="2000" b="1" dirty="0"/>
          </a:p>
          <a:p>
            <a:r>
              <a:rPr lang="zh-CN" altLang="en-US" sz="2000" b="1" dirty="0"/>
              <a:t>苏：正义是灵魂的品德，而灵魂的功能是管理生活，让人生活得好。所以，正义的人就是灵魂功能完善的人，而不正义的人就是灵魂功能败坏的人。</a:t>
            </a:r>
            <a:endParaRPr lang="en-US" altLang="zh-CN" sz="2000" b="1" dirty="0"/>
          </a:p>
          <a:p>
            <a:endParaRPr lang="zh-CN" altLang="en-US" b="1" dirty="0"/>
          </a:p>
        </p:txBody>
      </p:sp>
      <p:sp>
        <p:nvSpPr>
          <p:cNvPr id="13" name="TextBox 12"/>
          <p:cNvSpPr txBox="1"/>
          <p:nvPr/>
        </p:nvSpPr>
        <p:spPr>
          <a:xfrm>
            <a:off x="758559" y="5999318"/>
            <a:ext cx="8314850" cy="400110"/>
          </a:xfrm>
          <a:prstGeom prst="rect">
            <a:avLst/>
          </a:prstGeom>
          <a:noFill/>
        </p:spPr>
        <p:txBody>
          <a:bodyPr wrap="square" rtlCol="0">
            <a:spAutoFit/>
          </a:bodyPr>
          <a:lstStyle/>
          <a:p>
            <a:r>
              <a:rPr lang="zh-CN" altLang="en-US" sz="2000" b="1" dirty="0"/>
              <a:t>结论：正义的人生活得更好。</a:t>
            </a:r>
          </a:p>
        </p:txBody>
      </p:sp>
    </p:spTree>
    <p:extLst>
      <p:ext uri="{BB962C8B-B14F-4D97-AF65-F5344CB8AC3E}">
        <p14:creationId xmlns:p14="http://schemas.microsoft.com/office/powerpoint/2010/main" val="524854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circle(in)">
                                      <p:cBhvr>
                                        <p:cTn id="7" dur="2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circle(in)">
                                      <p:cBhvr>
                                        <p:cTn id="12" dur="2000"/>
                                        <p:tgtEl>
                                          <p:spTgt spid="9">
                                            <p:txEl>
                                              <p:pRg st="0" end="0"/>
                                            </p:txEl>
                                          </p:spTgt>
                                        </p:tgtEl>
                                      </p:cBhvr>
                                    </p:animEffect>
                                  </p:childTnLst>
                                </p:cTn>
                              </p:par>
                              <p:par>
                                <p:cTn id="13" presetID="6" presetClass="entr" presetSubtype="16" fill="hold" nodeType="with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animEffect transition="in" filter="circle(in)">
                                      <p:cBhvr>
                                        <p:cTn id="15" dur="2000"/>
                                        <p:tgtEl>
                                          <p:spTgt spid="9">
                                            <p:txEl>
                                              <p:pRg st="1" end="1"/>
                                            </p:txEl>
                                          </p:spTgt>
                                        </p:tgtEl>
                                      </p:cBhvr>
                                    </p:animEffect>
                                  </p:childTnLst>
                                </p:cTn>
                              </p:par>
                              <p:par>
                                <p:cTn id="16" presetID="6" presetClass="entr" presetSubtype="16" fill="hold" nodeType="with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circle(in)">
                                      <p:cBhvr>
                                        <p:cTn id="18" dur="20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animEffect transition="in" filter="circle(in)">
                                      <p:cBhvr>
                                        <p:cTn id="23" dur="2000"/>
                                        <p:tgtEl>
                                          <p:spTgt spid="11">
                                            <p:txEl>
                                              <p:pRg st="0" end="0"/>
                                            </p:txEl>
                                          </p:spTgt>
                                        </p:tgtEl>
                                      </p:cBhvr>
                                    </p:animEffect>
                                  </p:childTnLst>
                                </p:cTn>
                              </p:par>
                              <p:par>
                                <p:cTn id="24" presetID="6" presetClass="entr" presetSubtype="16" fill="hold" nodeType="withEffect">
                                  <p:stCondLst>
                                    <p:cond delay="0"/>
                                  </p:stCondLst>
                                  <p:childTnLst>
                                    <p:set>
                                      <p:cBhvr>
                                        <p:cTn id="25" dur="1" fill="hold">
                                          <p:stCondLst>
                                            <p:cond delay="0"/>
                                          </p:stCondLst>
                                        </p:cTn>
                                        <p:tgtEl>
                                          <p:spTgt spid="11">
                                            <p:txEl>
                                              <p:pRg st="1" end="1"/>
                                            </p:txEl>
                                          </p:spTgt>
                                        </p:tgtEl>
                                        <p:attrNameLst>
                                          <p:attrName>style.visibility</p:attrName>
                                        </p:attrNameLst>
                                      </p:cBhvr>
                                      <p:to>
                                        <p:strVal val="visible"/>
                                      </p:to>
                                    </p:set>
                                    <p:animEffect transition="in" filter="circle(in)">
                                      <p:cBhvr>
                                        <p:cTn id="26" dur="2000"/>
                                        <p:tgtEl>
                                          <p:spTgt spid="11">
                                            <p:txEl>
                                              <p:pRg st="1" end="1"/>
                                            </p:txEl>
                                          </p:spTgt>
                                        </p:tgtEl>
                                      </p:cBhvr>
                                    </p:animEffect>
                                  </p:childTnLst>
                                </p:cTn>
                              </p:par>
                              <p:par>
                                <p:cTn id="27" presetID="6" presetClass="entr" presetSubtype="16" fill="hold" nodeType="withEffect">
                                  <p:stCondLst>
                                    <p:cond delay="0"/>
                                  </p:stCondLst>
                                  <p:childTnLst>
                                    <p:set>
                                      <p:cBhvr>
                                        <p:cTn id="28" dur="1" fill="hold">
                                          <p:stCondLst>
                                            <p:cond delay="0"/>
                                          </p:stCondLst>
                                        </p:cTn>
                                        <p:tgtEl>
                                          <p:spTgt spid="11">
                                            <p:txEl>
                                              <p:pRg st="2" end="2"/>
                                            </p:txEl>
                                          </p:spTgt>
                                        </p:tgtEl>
                                        <p:attrNameLst>
                                          <p:attrName>style.visibility</p:attrName>
                                        </p:attrNameLst>
                                      </p:cBhvr>
                                      <p:to>
                                        <p:strVal val="visible"/>
                                      </p:to>
                                    </p:set>
                                    <p:animEffect transition="in" filter="circle(in)">
                                      <p:cBhvr>
                                        <p:cTn id="29" dur="2000"/>
                                        <p:tgtEl>
                                          <p:spTgt spid="11">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nodeType="clickEffect">
                                  <p:stCondLst>
                                    <p:cond delay="0"/>
                                  </p:stCondLst>
                                  <p:childTnLst>
                                    <p:set>
                                      <p:cBhvr>
                                        <p:cTn id="33" dur="1" fill="hold">
                                          <p:stCondLst>
                                            <p:cond delay="0"/>
                                          </p:stCondLst>
                                        </p:cTn>
                                        <p:tgtEl>
                                          <p:spTgt spid="12">
                                            <p:txEl>
                                              <p:pRg st="0" end="0"/>
                                            </p:txEl>
                                          </p:spTgt>
                                        </p:tgtEl>
                                        <p:attrNameLst>
                                          <p:attrName>style.visibility</p:attrName>
                                        </p:attrNameLst>
                                      </p:cBhvr>
                                      <p:to>
                                        <p:strVal val="visible"/>
                                      </p:to>
                                    </p:set>
                                    <p:animEffect transition="in" filter="circle(in)">
                                      <p:cBhvr>
                                        <p:cTn id="34" dur="2000"/>
                                        <p:tgtEl>
                                          <p:spTgt spid="12">
                                            <p:txEl>
                                              <p:pRg st="0" end="0"/>
                                            </p:txEl>
                                          </p:spTgt>
                                        </p:tgtEl>
                                      </p:cBhvr>
                                    </p:animEffect>
                                  </p:childTnLst>
                                </p:cTn>
                              </p:par>
                              <p:par>
                                <p:cTn id="35" presetID="6" presetClass="entr" presetSubtype="16" fill="hold" nodeType="withEffect">
                                  <p:stCondLst>
                                    <p:cond delay="0"/>
                                  </p:stCondLst>
                                  <p:childTnLst>
                                    <p:set>
                                      <p:cBhvr>
                                        <p:cTn id="36" dur="1" fill="hold">
                                          <p:stCondLst>
                                            <p:cond delay="0"/>
                                          </p:stCondLst>
                                        </p:cTn>
                                        <p:tgtEl>
                                          <p:spTgt spid="12">
                                            <p:txEl>
                                              <p:pRg st="1" end="1"/>
                                            </p:txEl>
                                          </p:spTgt>
                                        </p:tgtEl>
                                        <p:attrNameLst>
                                          <p:attrName>style.visibility</p:attrName>
                                        </p:attrNameLst>
                                      </p:cBhvr>
                                      <p:to>
                                        <p:strVal val="visible"/>
                                      </p:to>
                                    </p:set>
                                    <p:animEffect transition="in" filter="circle(in)">
                                      <p:cBhvr>
                                        <p:cTn id="37" dur="2000"/>
                                        <p:tgtEl>
                                          <p:spTgt spid="1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nodeType="clickEffect">
                                  <p:stCondLst>
                                    <p:cond delay="0"/>
                                  </p:stCondLst>
                                  <p:childTnLst>
                                    <p:set>
                                      <p:cBhvr>
                                        <p:cTn id="41" dur="1" fill="hold">
                                          <p:stCondLst>
                                            <p:cond delay="0"/>
                                          </p:stCondLst>
                                        </p:cTn>
                                        <p:tgtEl>
                                          <p:spTgt spid="13">
                                            <p:txEl>
                                              <p:pRg st="0" end="0"/>
                                            </p:txEl>
                                          </p:spTgt>
                                        </p:tgtEl>
                                        <p:attrNameLst>
                                          <p:attrName>style.visibility</p:attrName>
                                        </p:attrNameLst>
                                      </p:cBhvr>
                                      <p:to>
                                        <p:strVal val="visible"/>
                                      </p:to>
                                    </p:set>
                                    <p:animEffect transition="in" filter="circle(in)">
                                      <p:cBhvr>
                                        <p:cTn id="42" dur="20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第一卷总结</a:t>
            </a:r>
          </a:p>
        </p:txBody>
      </p:sp>
      <p:sp>
        <p:nvSpPr>
          <p:cNvPr id="3" name="Content Placeholder 2"/>
          <p:cNvSpPr>
            <a:spLocks noGrp="1"/>
          </p:cNvSpPr>
          <p:nvPr>
            <p:ph sz="half" idx="1"/>
          </p:nvPr>
        </p:nvSpPr>
        <p:spPr>
          <a:xfrm>
            <a:off x="685802" y="1869600"/>
            <a:ext cx="5002729" cy="3921601"/>
          </a:xfrm>
        </p:spPr>
        <p:txBody>
          <a:bodyPr>
            <a:normAutofit/>
          </a:bodyPr>
          <a:lstStyle/>
          <a:p>
            <a:pPr marL="0" indent="0">
              <a:buNone/>
            </a:pPr>
            <a:r>
              <a:rPr lang="zh-CN" altLang="en-US" sz="2200" b="1" dirty="0"/>
              <a:t>第一卷的讨论以特拉需马科的消极不回应，苏格拉底自称“无知”结束，这意味着什么？</a:t>
            </a:r>
            <a:endParaRPr lang="en-US" altLang="zh-CN" sz="2200" b="1" dirty="0"/>
          </a:p>
          <a:p>
            <a:pPr marL="0" indent="0">
              <a:buNone/>
            </a:pPr>
            <a:endParaRPr lang="zh-CN" altLang="en-US" sz="2200" b="1" dirty="0"/>
          </a:p>
          <a:p>
            <a:pPr marL="0" indent="0">
              <a:buNone/>
            </a:pPr>
            <a:r>
              <a:rPr lang="zh-CN" altLang="en-US" sz="2200" b="1" dirty="0"/>
              <a:t>第一卷曾被认为并非</a:t>
            </a:r>
            <a:r>
              <a:rPr lang="en-US" altLang="zh-CN" sz="2200" b="1" dirty="0"/>
              <a:t>《</a:t>
            </a:r>
            <a:r>
              <a:rPr lang="zh-CN" altLang="en-US" sz="2200" b="1" dirty="0"/>
              <a:t>理想国</a:t>
            </a:r>
            <a:r>
              <a:rPr lang="en-US" altLang="zh-CN" sz="2200" b="1" dirty="0"/>
              <a:t>》</a:t>
            </a:r>
            <a:r>
              <a:rPr lang="zh-CN" altLang="en-US" sz="2200" b="1" dirty="0"/>
              <a:t>真正的导论，而是柏拉图早期的“苏格拉底”对话。</a:t>
            </a:r>
          </a:p>
          <a:p>
            <a:pPr marL="0" indent="0">
              <a:buNone/>
            </a:pPr>
            <a:endParaRPr lang="en-US" altLang="zh-CN" sz="2200" b="1" dirty="0"/>
          </a:p>
          <a:p>
            <a:pPr marL="0" indent="0">
              <a:buNone/>
            </a:pPr>
            <a:r>
              <a:rPr lang="zh-CN" altLang="en-US" sz="2200" b="1" dirty="0"/>
              <a:t>但实际上，柏拉图是有意用“苏格拉底”对话的方式，展现问答法的缺陷。</a:t>
            </a:r>
          </a:p>
          <a:p>
            <a:endParaRPr lang="zh-CN" altLang="en-US" dirty="0"/>
          </a:p>
        </p:txBody>
      </p:sp>
      <p:sp>
        <p:nvSpPr>
          <p:cNvPr id="4" name="Content Placeholder 3"/>
          <p:cNvSpPr>
            <a:spLocks noGrp="1"/>
          </p:cNvSpPr>
          <p:nvPr>
            <p:ph sz="half" idx="2"/>
          </p:nvPr>
        </p:nvSpPr>
        <p:spPr>
          <a:xfrm>
            <a:off x="6294922" y="1732548"/>
            <a:ext cx="5399773" cy="4668252"/>
          </a:xfrm>
        </p:spPr>
        <p:txBody>
          <a:bodyPr>
            <a:normAutofit/>
          </a:bodyPr>
          <a:lstStyle/>
          <a:p>
            <a:pPr marL="0" indent="0">
              <a:lnSpc>
                <a:spcPct val="110000"/>
              </a:lnSpc>
              <a:buNone/>
            </a:pPr>
            <a:r>
              <a:rPr lang="en-US" altLang="zh-CN" sz="2200" b="1" dirty="0"/>
              <a:t>1</a:t>
            </a:r>
            <a:r>
              <a:rPr lang="zh-CN" altLang="en-US" sz="2200" b="1" dirty="0"/>
              <a:t>，问答法以揭示对话者观念的自相矛盾来使对方认识到自己观念的局限性，从而放弃原有观念。但特拉需马科与苏格拉底却是立场的不同，所以问答法无用。</a:t>
            </a:r>
          </a:p>
          <a:p>
            <a:pPr marL="0" indent="0">
              <a:lnSpc>
                <a:spcPct val="110000"/>
              </a:lnSpc>
              <a:buNone/>
            </a:pPr>
            <a:r>
              <a:rPr lang="en-US" altLang="zh-CN" sz="2200" b="1" dirty="0"/>
              <a:t>2</a:t>
            </a:r>
            <a:r>
              <a:rPr lang="zh-CN" altLang="en-US" sz="2200" b="1" dirty="0"/>
              <a:t>，问答法不能让苏格拉底明确说出自己的观念并说服对话者接受；而对话者自身的态度是否真诚也非常重要。</a:t>
            </a:r>
            <a:endParaRPr lang="en-US" altLang="zh-CN" sz="2200" b="1" dirty="0"/>
          </a:p>
          <a:p>
            <a:pPr marL="0" indent="0">
              <a:lnSpc>
                <a:spcPct val="110000"/>
              </a:lnSpc>
              <a:buNone/>
            </a:pPr>
            <a:r>
              <a:rPr lang="en-US" altLang="zh-CN" sz="2200" b="1" dirty="0"/>
              <a:t>3</a:t>
            </a:r>
            <a:r>
              <a:rPr lang="zh-CN" altLang="en-US" sz="2200" b="1" dirty="0"/>
              <a:t>，苏格拉底尽管在言辞上“战胜”了特拉需马科，却不能让特拉需马科信服。</a:t>
            </a:r>
          </a:p>
          <a:p>
            <a:pPr marL="0" indent="0">
              <a:lnSpc>
                <a:spcPct val="110000"/>
              </a:lnSpc>
              <a:buNone/>
            </a:pPr>
            <a:r>
              <a:rPr lang="zh-CN" altLang="en-US" sz="2200" b="1" dirty="0"/>
              <a:t>这意味着，柏拉图必须寻找新的方法来寻找正义。</a:t>
            </a:r>
          </a:p>
          <a:p>
            <a:pPr marL="0" indent="0">
              <a:buNone/>
            </a:pPr>
            <a:endParaRPr lang="zh-CN" altLang="en-US" dirty="0"/>
          </a:p>
        </p:txBody>
      </p:sp>
    </p:spTree>
    <p:extLst>
      <p:ext uri="{BB962C8B-B14F-4D97-AF65-F5344CB8AC3E}">
        <p14:creationId xmlns:p14="http://schemas.microsoft.com/office/powerpoint/2010/main" val="3029727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ircle(in)">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circle(in)">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circle(in)">
                                      <p:cBhvr>
                                        <p:cTn id="22" dur="2000"/>
                                        <p:tgtEl>
                                          <p:spTgt spid="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Effect transition="in" filter="circle(in)">
                                      <p:cBhvr>
                                        <p:cTn id="27" dur="2000"/>
                                        <p:tgtEl>
                                          <p:spTgt spid="4">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4">
                                            <p:txEl>
                                              <p:pRg st="2" end="2"/>
                                            </p:txEl>
                                          </p:spTgt>
                                        </p:tgtEl>
                                        <p:attrNameLst>
                                          <p:attrName>style.visibility</p:attrName>
                                        </p:attrNameLst>
                                      </p:cBhvr>
                                      <p:to>
                                        <p:strVal val="visible"/>
                                      </p:to>
                                    </p:set>
                                    <p:animEffect transition="in" filter="circle(in)">
                                      <p:cBhvr>
                                        <p:cTn id="32" dur="2000"/>
                                        <p:tgtEl>
                                          <p:spTgt spid="4">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animEffect transition="in" filter="circle(in)">
                                      <p:cBhvr>
                                        <p:cTn id="37" dur="2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10" ma:contentTypeDescription="Create a new document." ma:contentTypeScope="" ma:versionID="e3b47856d4cf355c0dacb39e1084d14f">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845a615265fdb1f7b12cc65ac20ecbd"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element ref="ns2: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7" nillable="true" ma:displayName="MediaServiceAutoTags" ma:internalName="MediaServiceAutoTag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3EBF972C-B81A-46A3-BFB2-A01F0B5DBC70}">
  <ds:schemaRefs>
    <ds:schemaRef ds:uri="http://schemas.microsoft.com/sharepoint/v3/contenttype/forms"/>
  </ds:schemaRefs>
</ds:datastoreItem>
</file>

<file path=customXml/itemProps2.xml><?xml version="1.0" encoding="utf-8"?>
<ds:datastoreItem xmlns:ds="http://schemas.openxmlformats.org/officeDocument/2006/customXml" ds:itemID="{063CD11F-9FDB-4628-B708-63BFB2D681D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83E21D3-7788-4819-8437-C5C4B0C5D46D}">
  <ds:schemaRefs>
    <ds:schemaRef ds:uri="http://schemas.openxmlformats.org/package/2006/metadata/core-properties"/>
    <ds:schemaRef ds:uri="6dc4bcd6-49db-4c07-9060-8acfc67cef9f"/>
    <ds:schemaRef ds:uri="http://purl.org/dc/dcmitype/"/>
    <ds:schemaRef ds:uri="http://schemas.microsoft.com/office/infopath/2007/PartnerControls"/>
    <ds:schemaRef ds:uri="http://purl.org/dc/terms/"/>
    <ds:schemaRef ds:uri="fb0879af-3eba-417a-a55a-ffe6dcd6ca77"/>
    <ds:schemaRef ds:uri="http://schemas.microsoft.com/office/2006/documentManagement/types"/>
    <ds:schemaRef ds:uri="http://schemas.microsoft.com/sharepoint/v3"/>
    <ds:schemaRef ds:uri="http://schemas.microsoft.com/office/2006/metadata/propertie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0</TotalTime>
  <Words>4605</Words>
  <Application>Microsoft Office PowerPoint</Application>
  <PresentationFormat>宽屏</PresentationFormat>
  <Paragraphs>302</Paragraphs>
  <Slides>67</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67</vt:i4>
      </vt:variant>
    </vt:vector>
  </HeadingPairs>
  <TitlesOfParts>
    <vt:vector size="72" baseType="lpstr">
      <vt:lpstr>Microsoft YaHei UI</vt:lpstr>
      <vt:lpstr>楷体</vt:lpstr>
      <vt:lpstr>Corbel</vt:lpstr>
      <vt:lpstr>Times New Roman</vt:lpstr>
      <vt:lpstr>Default Design</vt:lpstr>
      <vt:lpstr>如何使用此模板</vt:lpstr>
      <vt:lpstr>二、 理想国导读</vt:lpstr>
      <vt:lpstr>PowerPoint 演示文稿</vt:lpstr>
      <vt:lpstr>PowerPoint 演示文稿</vt:lpstr>
      <vt:lpstr>PowerPoint 演示文稿</vt:lpstr>
      <vt:lpstr>PowerPoint 演示文稿</vt:lpstr>
      <vt:lpstr>卷一的结构</vt:lpstr>
      <vt:lpstr>PowerPoint 演示文稿</vt:lpstr>
      <vt:lpstr>PowerPoint 演示文稿</vt:lpstr>
      <vt:lpstr>PowerPoint 演示文稿</vt:lpstr>
      <vt:lpstr>PowerPoint 演示文稿</vt:lpstr>
      <vt:lpstr>PowerPoint 演示文稿</vt:lpstr>
      <vt:lpstr>小结</vt:lpstr>
      <vt:lpstr>苏格拉底的方法</vt:lpstr>
      <vt:lpstr>问答法的优点与缺点</vt:lpstr>
      <vt:lpstr>何谓智者？ </vt:lpstr>
      <vt:lpstr>苏格拉底和波策马尔科的对话</vt:lpstr>
      <vt:lpstr>PowerPoint 演示文稿</vt:lpstr>
      <vt:lpstr>PowerPoint 演示文稿</vt:lpstr>
      <vt:lpstr>技艺与技艺论证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理想国第一卷 </vt:lpstr>
      <vt:lpstr>苏格拉底与特拉需马科的对话 </vt:lpstr>
      <vt:lpstr>PowerPoint 演示文稿</vt:lpstr>
      <vt:lpstr> 对话回合1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论证思路整理</vt:lpstr>
      <vt:lpstr>对话回合2</vt:lpstr>
      <vt:lpstr>PowerPoint 演示文稿</vt:lpstr>
      <vt:lpstr>PowerPoint 演示文稿</vt:lpstr>
      <vt:lpstr>PowerPoint 演示文稿</vt:lpstr>
      <vt:lpstr>PowerPoint 演示文稿</vt:lpstr>
      <vt:lpstr>PowerPoint 演示文稿</vt:lpstr>
      <vt:lpstr>苏格拉底的反驳</vt:lpstr>
      <vt:lpstr>PowerPoint 演示文稿</vt:lpstr>
      <vt:lpstr>PowerPoint 演示文稿</vt:lpstr>
      <vt:lpstr> 苏格拉底确立了新的“真正的统治者”概念 </vt:lpstr>
      <vt:lpstr>  </vt:lpstr>
      <vt:lpstr>对话回合3 不正义比正义更快乐吗？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苏格拉底与特拉需马科的对话论证思路总结</vt:lpstr>
      <vt:lpstr>第一卷总结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2020-02-08T12:01:34Z</dcterms:created>
  <dcterms:modified xsi:type="dcterms:W3CDTF">2025-09-18T12:12:14Z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ies>
</file>