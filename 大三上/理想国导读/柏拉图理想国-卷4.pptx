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1" r:id="rId4"/>
  </p:sldMasterIdLst>
  <p:notesMasterIdLst>
    <p:notesMasterId r:id="rId48"/>
  </p:notesMasterIdLst>
  <p:handoutMasterIdLst>
    <p:handoutMasterId r:id="rId49"/>
  </p:handoutMasterIdLst>
  <p:sldIdLst>
    <p:sldId id="267" r:id="rId5"/>
    <p:sldId id="275" r:id="rId6"/>
    <p:sldId id="277" r:id="rId7"/>
    <p:sldId id="278" r:id="rId8"/>
    <p:sldId id="279" r:id="rId9"/>
    <p:sldId id="280" r:id="rId10"/>
    <p:sldId id="281" r:id="rId11"/>
    <p:sldId id="282" r:id="rId12"/>
    <p:sldId id="283" r:id="rId13"/>
    <p:sldId id="284" r:id="rId14"/>
    <p:sldId id="285" r:id="rId15"/>
    <p:sldId id="286" r:id="rId16"/>
    <p:sldId id="287" r:id="rId17"/>
    <p:sldId id="304" r:id="rId18"/>
    <p:sldId id="289" r:id="rId19"/>
    <p:sldId id="290" r:id="rId20"/>
    <p:sldId id="296" r:id="rId21"/>
    <p:sldId id="291" r:id="rId22"/>
    <p:sldId id="297" r:id="rId23"/>
    <p:sldId id="292" r:id="rId24"/>
    <p:sldId id="293" r:id="rId25"/>
    <p:sldId id="295" r:id="rId26"/>
    <p:sldId id="294" r:id="rId27"/>
    <p:sldId id="298" r:id="rId28"/>
    <p:sldId id="301" r:id="rId29"/>
    <p:sldId id="299" r:id="rId30"/>
    <p:sldId id="302" r:id="rId31"/>
    <p:sldId id="300" r:id="rId32"/>
    <p:sldId id="303" r:id="rId33"/>
    <p:sldId id="276" r:id="rId34"/>
    <p:sldId id="305" r:id="rId35"/>
    <p:sldId id="306" r:id="rId36"/>
    <p:sldId id="307" r:id="rId37"/>
    <p:sldId id="319" r:id="rId38"/>
    <p:sldId id="308" r:id="rId39"/>
    <p:sldId id="320" r:id="rId40"/>
    <p:sldId id="317" r:id="rId41"/>
    <p:sldId id="309" r:id="rId42"/>
    <p:sldId id="310" r:id="rId43"/>
    <p:sldId id="321" r:id="rId44"/>
    <p:sldId id="311" r:id="rId45"/>
    <p:sldId id="312" r:id="rId46"/>
    <p:sldId id="318" r:id="rId47"/>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52" autoAdjust="0"/>
  </p:normalViewPr>
  <p:slideViewPr>
    <p:cSldViewPr snapToGrid="0">
      <p:cViewPr varScale="1">
        <p:scale>
          <a:sx n="65" d="100"/>
          <a:sy n="65" d="100"/>
        </p:scale>
        <p:origin x="644" y="60"/>
      </p:cViewPr>
      <p:guideLst>
        <p:guide orient="horz" pos="2160"/>
        <p:guide pos="3840"/>
      </p:guideLst>
    </p:cSldViewPr>
  </p:slideViewPr>
  <p:notesTextViewPr>
    <p:cViewPr>
      <p:scale>
        <a:sx n="1" d="1"/>
        <a:sy n="1" d="1"/>
      </p:scale>
      <p:origin x="0" y="0"/>
    </p:cViewPr>
  </p:notesTextViewPr>
  <p:notesViewPr>
    <p:cSldViewPr snapToGrid="0">
      <p:cViewPr varScale="1">
        <p:scale>
          <a:sx n="77" d="100"/>
          <a:sy n="77"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94FFE89-DD1A-434A-B46E-FC01616819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705BBA22-1009-4062-B497-20D4D1F420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592F9BB-E9D3-4971-98B6-25B67B790E54}" type="datetime1">
              <a:rPr lang="zh-CN" altLang="en-US" smtClean="0">
                <a:latin typeface="Microsoft YaHei UI" panose="020B0503020204020204" pitchFamily="34" charset="-122"/>
                <a:ea typeface="Microsoft YaHei UI" panose="020B0503020204020204" pitchFamily="34" charset="-122"/>
              </a:rPr>
              <a:t>2025/10/9</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265305A3-EF7C-4109-870C-75957F87F8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A65183E6-2BF7-4148-8288-DCAD651FB9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CA6C9-E2E2-4922-B1A7-E6462166C8C6}"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00596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A3150C38-C506-467B-8DC0-1448EE621FE9}" type="datetime1">
              <a:rPr lang="zh-CN" altLang="en-US" smtClean="0"/>
              <a:pPr/>
              <a:t>2025/10/9</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2C70E52-1238-4A7F-867E-2F90BFCA0D60}" type="slidenum">
              <a:rPr lang="en-US" altLang="zh-CN" smtClean="0"/>
              <a:pPr/>
              <a:t>‹#›</a:t>
            </a:fld>
            <a:endParaRPr lang="zh-CN" altLang="en-US"/>
          </a:p>
        </p:txBody>
      </p:sp>
    </p:spTree>
    <p:extLst>
      <p:ext uri="{BB962C8B-B14F-4D97-AF65-F5344CB8AC3E}">
        <p14:creationId xmlns:p14="http://schemas.microsoft.com/office/powerpoint/2010/main" val="353458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62218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72331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CFA8DA-6A2E-452F-B2FD-C692E3F9477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56889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208F5-23F9-41F0-9BD4-963E4B09B1C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14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7D7A5-162C-448B-9184-4DF74749515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561133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C7B8D8-DB3E-4157-B75E-F22DF685A7A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8430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AC17E3C-7BCD-4CE1-BB77-DBC4F6AAD3A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3260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0450531-738C-4056-94DC-C9695B076A7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377420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2293090-B4C5-4232-8C20-16B4CD9E856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38688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83C681-63CC-4C6E-BB2B-532CC9376B1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1189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D3E630-40F6-4B28-997D-664B0011855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21807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29236F9-F5AC-4754-AA25-365CEB18F6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142144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CD11ED9-4D7A-4F4E-812E-E8F30379C1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58654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BD3E1CC-83A2-4B9D-8E8B-60737E93608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95744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Content Placeholder 4"/>
          <p:cNvSpPr>
            <a:spLocks noGrp="1"/>
          </p:cNvSpPr>
          <p:nvPr>
            <p:ph sz="quarter" idx="3"/>
          </p:nvPr>
        </p:nvSpPr>
        <p:spPr>
          <a:xfrm>
            <a:off x="6197600" y="41148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733C97B-CB0A-4B24-848D-85035B14B2B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8332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26FDBF1-7747-46AD-BE97-E034824279B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51108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2025/10/9</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09171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898040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2134020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2025/10/9</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06732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1233677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443429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solidFill>
                  <a:prstClr val="white"/>
                </a:solidFill>
              </a:rPr>
              <a:pPr/>
              <a:t>2025/10/9</a:t>
            </a:fld>
            <a:endParaRPr lang="zh-CN" altLang="en-US">
              <a:solidFill>
                <a:prstClr val="white"/>
              </a:solidFill>
            </a:endParaRPr>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solidFill>
                  <a:prstClr val="white"/>
                </a:solidFill>
              </a:rPr>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solidFill>
                  <a:prstClr val="white"/>
                </a:solidFill>
              </a:rPr>
              <a:pPr/>
              <a:t>‹#›</a:t>
            </a:fld>
            <a:endParaRPr lang="zh-CN" altLang="en-US">
              <a:solidFill>
                <a:prstClr val="white"/>
              </a:solidFill>
            </a:endParaRPr>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35669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solidFill>
                  <a:prstClr val="white"/>
                </a:solidFill>
              </a:rPr>
              <a:pPr/>
              <a:t>2025/10/9</a:t>
            </a:fld>
            <a:endParaRPr lang="zh-CN" altLang="en-US">
              <a:solidFill>
                <a:prstClr val="white"/>
              </a:solidFill>
            </a:endParaRPr>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solidFill>
                  <a:prstClr val="white"/>
                </a:solidFill>
              </a:rPr>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solidFill>
                  <a:prstClr val="white"/>
                </a:solidFill>
              </a:rPr>
              <a:pPr/>
              <a:t>‹#›</a:t>
            </a:fld>
            <a:endParaRPr lang="zh-CN" altLang="en-US">
              <a:solidFill>
                <a:prstClr val="white"/>
              </a:solidFill>
            </a:endParaRPr>
          </a:p>
        </p:txBody>
      </p:sp>
    </p:spTree>
    <p:extLst>
      <p:ext uri="{BB962C8B-B14F-4D97-AF65-F5344CB8AC3E}">
        <p14:creationId xmlns:p14="http://schemas.microsoft.com/office/powerpoint/2010/main" val="28159640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solidFill>
                  <a:prstClr val="white"/>
                </a:solidFill>
              </a:rPr>
              <a:pPr/>
              <a:t>2025/10/9</a:t>
            </a:fld>
            <a:endParaRPr lang="zh-CN" altLang="en-US">
              <a:solidFill>
                <a:prstClr val="white"/>
              </a:solidFill>
            </a:endParaRPr>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solidFill>
                  <a:prstClr val="white"/>
                </a:solidFill>
              </a:rPr>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solidFill>
                  <a:prstClr val="white"/>
                </a:solidFill>
              </a:rPr>
              <a:pPr/>
              <a:t>‹#›</a:t>
            </a:fld>
            <a:endParaRPr lang="zh-CN" altLang="en-US">
              <a:solidFill>
                <a:prstClr val="white"/>
              </a:solidFill>
            </a:endParaRPr>
          </a:p>
        </p:txBody>
      </p:sp>
    </p:spTree>
    <p:extLst>
      <p:ext uri="{BB962C8B-B14F-4D97-AF65-F5344CB8AC3E}">
        <p14:creationId xmlns:p14="http://schemas.microsoft.com/office/powerpoint/2010/main" val="16156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2025/10/9</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969382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2025/10/9</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832959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A59AD62C-EAA7-4D5D-9E4E-F3C1DEE386C7}"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424034462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679" r:id="rId24"/>
    <p:sldLayoutId id="2147483669" r:id="rId25"/>
    <p:sldLayoutId id="2147483680" r:id="rId26"/>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305F2-4D75-4D76-BA59-F00627AB838F}"/>
              </a:ext>
            </a:extLst>
          </p:cNvPr>
          <p:cNvSpPr>
            <a:spLocks noGrp="1"/>
          </p:cNvSpPr>
          <p:nvPr>
            <p:ph type="title"/>
          </p:nvPr>
        </p:nvSpPr>
        <p:spPr/>
        <p:txBody>
          <a:bodyPr rtlCol="0"/>
          <a:lstStyle/>
          <a:p>
            <a:pPr rtl="0"/>
            <a:r>
              <a:rPr lang="zh-CN" altLang="en-US">
                <a:latin typeface="Microsoft YaHei UI" panose="020B0503020204020204" pitchFamily="34" charset="-122"/>
                <a:ea typeface="Microsoft YaHei UI" panose="020B0503020204020204" pitchFamily="34" charset="-122"/>
              </a:rPr>
              <a:t>如何使用此模板</a:t>
            </a:r>
          </a:p>
        </p:txBody>
      </p:sp>
      <p:sp>
        <p:nvSpPr>
          <p:cNvPr id="3" name="内容占位符 2">
            <a:extLst>
              <a:ext uri="{FF2B5EF4-FFF2-40B4-BE49-F238E27FC236}">
                <a16:creationId xmlns:a16="http://schemas.microsoft.com/office/drawing/2014/main" id="{88CB4E0E-ECE5-4628-8AFC-87C9EFB0840C}"/>
              </a:ext>
            </a:extLst>
          </p:cNvPr>
          <p:cNvSpPr>
            <a:spLocks noGrp="1"/>
          </p:cNvSpPr>
          <p:nvPr>
            <p:ph idx="1"/>
          </p:nvPr>
        </p:nvSpPr>
        <p:spPr/>
        <p:txBody>
          <a:bodyPr rtlCol="0"/>
          <a:lstStyle/>
          <a:p>
            <a:pPr rtl="0"/>
            <a:r>
              <a:rPr lang="zh-CN" altLang="en-US">
                <a:latin typeface="Microsoft YaHei UI" panose="020B0503020204020204" pitchFamily="34" charset="-122"/>
                <a:ea typeface="Microsoft YaHei UI" panose="020B0503020204020204" pitchFamily="34" charset="-122"/>
              </a:rPr>
              <a:t>按照每张幻灯片上的说明创建演示文稿。</a:t>
            </a:r>
          </a:p>
          <a:p>
            <a:pPr rtl="0"/>
            <a:r>
              <a:rPr lang="zh-CN" altLang="en-US">
                <a:latin typeface="Microsoft YaHei UI" panose="020B0503020204020204" pitchFamily="34" charset="-122"/>
                <a:ea typeface="Microsoft YaHei UI" panose="020B0503020204020204" pitchFamily="34" charset="-122"/>
              </a:rPr>
              <a:t>请记住 </a:t>
            </a:r>
            <a:r>
              <a:rPr lang="en-US" altLang="zh-CN">
                <a:latin typeface="Microsoft YaHei UI" panose="020B0503020204020204" pitchFamily="34" charset="-122"/>
                <a:ea typeface="Microsoft YaHei UI" panose="020B0503020204020204" pitchFamily="34" charset="-122"/>
              </a:rPr>
              <a:t>PowerPoint </a:t>
            </a:r>
            <a:r>
              <a:rPr lang="zh-CN" altLang="en-US">
                <a:latin typeface="Microsoft YaHei UI" panose="020B0503020204020204" pitchFamily="34" charset="-122"/>
                <a:ea typeface="Microsoft YaHei UI" panose="020B0503020204020204" pitchFamily="34" charset="-122"/>
              </a:rPr>
              <a:t>是演示文稿的视觉效果。每张幻灯片上的文字仅作为论点（而不是你要说的所有内容）。</a:t>
            </a:r>
          </a:p>
          <a:p>
            <a:pPr rtl="0"/>
            <a:r>
              <a:rPr lang="zh-CN" altLang="en-US">
                <a:latin typeface="Microsoft YaHei UI" panose="020B0503020204020204" pitchFamily="34" charset="-122"/>
                <a:ea typeface="Microsoft YaHei UI" panose="020B0503020204020204" pitchFamily="34" charset="-122"/>
              </a:rPr>
              <a:t>图像和图形可增加趣味；请务必在适当时将其添加到幻灯片。</a:t>
            </a:r>
          </a:p>
          <a:p>
            <a:pPr rtl="0"/>
            <a:r>
              <a:rPr lang="zh-CN" altLang="en-US">
                <a:latin typeface="Microsoft YaHei UI" panose="020B0503020204020204" pitchFamily="34" charset="-122"/>
                <a:ea typeface="Microsoft YaHei UI" panose="020B0503020204020204" pitchFamily="34" charset="-122"/>
              </a:rPr>
              <a:t>仔细选择切换和动画。（希望受众如何专注于内容，而不是效果。）</a:t>
            </a:r>
          </a:p>
        </p:txBody>
      </p:sp>
      <p:sp>
        <p:nvSpPr>
          <p:cNvPr id="5" name="文本框 4">
            <a:extLst>
              <a:ext uri="{FF2B5EF4-FFF2-40B4-BE49-F238E27FC236}">
                <a16:creationId xmlns:a16="http://schemas.microsoft.com/office/drawing/2014/main" id="{C964FC16-E9FB-469F-90C3-177A60236474}"/>
              </a:ext>
            </a:extLst>
          </p:cNvPr>
          <p:cNvSpPr txBox="1"/>
          <p:nvPr/>
        </p:nvSpPr>
        <p:spPr>
          <a:xfrm>
            <a:off x="3414573" y="685602"/>
            <a:ext cx="419100" cy="1107996"/>
          </a:xfrm>
          <a:prstGeom prst="rect">
            <a:avLst/>
          </a:prstGeom>
          <a:noFill/>
        </p:spPr>
        <p:txBody>
          <a:bodyPr wrap="square" rtlCol="0">
            <a:spAutoFit/>
          </a:bodyPr>
          <a:lstStyle/>
          <a:p>
            <a:pPr rtl="0"/>
            <a:r>
              <a:rPr lang="zh-CN" altLang="en-US" sz="6600" b="1" dirty="0">
                <a:latin typeface="Microsoft YaHei UI" panose="020B0503020204020204" pitchFamily="34" charset="-122"/>
                <a:ea typeface="Microsoft YaHei UI" panose="020B0503020204020204" pitchFamily="34" charset="-122"/>
              </a:rPr>
              <a:t>？</a:t>
            </a:r>
          </a:p>
        </p:txBody>
      </p:sp>
      <p:pic>
        <p:nvPicPr>
          <p:cNvPr id="6" name="图片 5">
            <a:extLst>
              <a:ext uri="{FF2B5EF4-FFF2-40B4-BE49-F238E27FC236}">
                <a16:creationId xmlns:a16="http://schemas.microsoft.com/office/drawing/2014/main" id="{3277024B-DB97-437B-AFB7-ADCC67686182}"/>
              </a:ext>
            </a:extLst>
          </p:cNvPr>
          <p:cNvPicPr>
            <a:picLocks noChangeAspect="1"/>
          </p:cNvPicPr>
          <p:nvPr/>
        </p:nvPicPr>
        <p:blipFill>
          <a:blip r:embed="rId3"/>
          <a:stretch>
            <a:fillRect/>
          </a:stretch>
        </p:blipFill>
        <p:spPr>
          <a:xfrm>
            <a:off x="-36335" y="-1"/>
            <a:ext cx="12228335" cy="6873069"/>
          </a:xfrm>
          <a:prstGeom prst="rect">
            <a:avLst/>
          </a:prstGeom>
        </p:spPr>
      </p:pic>
      <p:sp>
        <p:nvSpPr>
          <p:cNvPr id="7" name="文本框 6">
            <a:extLst>
              <a:ext uri="{FF2B5EF4-FFF2-40B4-BE49-F238E27FC236}">
                <a16:creationId xmlns:a16="http://schemas.microsoft.com/office/drawing/2014/main" id="{BD8A8358-EA86-4F42-A7A2-D6F9EB98ACC3}"/>
              </a:ext>
            </a:extLst>
          </p:cNvPr>
          <p:cNvSpPr txBox="1"/>
          <p:nvPr/>
        </p:nvSpPr>
        <p:spPr>
          <a:xfrm>
            <a:off x="2890792" y="2285126"/>
            <a:ext cx="6689557" cy="1692771"/>
          </a:xfrm>
          <a:prstGeom prst="rect">
            <a:avLst/>
          </a:prstGeom>
          <a:noFill/>
        </p:spPr>
        <p:txBody>
          <a:bodyPr wrap="square" rtlCol="0">
            <a:spAutoFit/>
          </a:bodyPr>
          <a:lstStyle/>
          <a:p>
            <a:r>
              <a:rPr lang="zh-CN" altLang="en-US" sz="4000" b="1" dirty="0"/>
              <a:t>理 想 国</a:t>
            </a:r>
            <a:endParaRPr lang="en-US" altLang="zh-CN" sz="4000" b="1" dirty="0"/>
          </a:p>
          <a:p>
            <a:pPr algn="r"/>
            <a:endParaRPr lang="en-US" altLang="zh-CN" sz="3200" dirty="0"/>
          </a:p>
          <a:p>
            <a:pPr algn="r"/>
            <a:r>
              <a:rPr lang="zh-CN" altLang="en-US" sz="3200" dirty="0"/>
              <a:t>第四卷</a:t>
            </a:r>
            <a:endParaRPr lang="en-US" altLang="zh-CN" sz="3200" dirty="0"/>
          </a:p>
        </p:txBody>
      </p:sp>
    </p:spTree>
    <p:extLst>
      <p:ext uri="{BB962C8B-B14F-4D97-AF65-F5344CB8AC3E}">
        <p14:creationId xmlns:p14="http://schemas.microsoft.com/office/powerpoint/2010/main" val="86265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第四卷</a:t>
            </a:r>
          </a:p>
        </p:txBody>
      </p:sp>
      <p:sp>
        <p:nvSpPr>
          <p:cNvPr id="9" name="Content Placeholder 8"/>
          <p:cNvSpPr>
            <a:spLocks noGrp="1"/>
          </p:cNvSpPr>
          <p:nvPr>
            <p:ph type="body" idx="1"/>
          </p:nvPr>
        </p:nvSpPr>
        <p:spPr>
          <a:xfrm>
            <a:off x="685800" y="3733800"/>
            <a:ext cx="5022273" cy="2057400"/>
          </a:xfrm>
        </p:spPr>
        <p:txBody>
          <a:bodyPr/>
          <a:lstStyle/>
          <a:p>
            <a:r>
              <a:rPr lang="en-US" altLang="zh-CN" sz="2000" b="1" dirty="0"/>
              <a:t>1</a:t>
            </a:r>
            <a:r>
              <a:rPr lang="zh-CN" altLang="en-US" sz="2000" b="1" dirty="0"/>
              <a:t>，护卫者幸福吗？</a:t>
            </a:r>
            <a:endParaRPr lang="en-US" altLang="zh-CN" sz="2000" b="1" dirty="0"/>
          </a:p>
          <a:p>
            <a:r>
              <a:rPr lang="en-US" altLang="zh-CN" sz="2000" b="1" dirty="0"/>
              <a:t>2</a:t>
            </a:r>
            <a:r>
              <a:rPr lang="zh-CN" altLang="en-US" sz="2000" b="1" dirty="0"/>
              <a:t>，城邦的美德与正义</a:t>
            </a:r>
            <a:endParaRPr lang="en-US" altLang="zh-CN" sz="2000" b="1" dirty="0"/>
          </a:p>
          <a:p>
            <a:r>
              <a:rPr lang="en-US" altLang="zh-CN" sz="2000" b="1" dirty="0"/>
              <a:t>3</a:t>
            </a:r>
            <a:r>
              <a:rPr lang="zh-CN" altLang="en-US" sz="2000" b="1" dirty="0"/>
              <a:t>，灵魂的部分及其美德与正义</a:t>
            </a:r>
          </a:p>
        </p:txBody>
      </p:sp>
      <p:sp>
        <p:nvSpPr>
          <p:cNvPr id="10" name="Content Placeholder 9"/>
          <p:cNvSpPr>
            <a:spLocks noGrp="1"/>
          </p:cNvSpPr>
          <p:nvPr>
            <p:ph sz="half" idx="4294967295"/>
          </p:nvPr>
        </p:nvSpPr>
        <p:spPr>
          <a:xfrm>
            <a:off x="7151688" y="1870075"/>
            <a:ext cx="5040312" cy="3921125"/>
          </a:xfrm>
        </p:spPr>
        <p:txBody>
          <a:bodyPr/>
          <a:lstStyle/>
          <a:p>
            <a:endParaRPr lang="zh-CN" altLang="en-US" dirty="0"/>
          </a:p>
          <a:p>
            <a:endParaRPr lang="zh-CN" altLang="en-US" dirty="0"/>
          </a:p>
        </p:txBody>
      </p:sp>
      <p:pic>
        <p:nvPicPr>
          <p:cNvPr id="7" name="图片 6" descr="放大镜图标">
            <a:extLst>
              <a:ext uri="{FF2B5EF4-FFF2-40B4-BE49-F238E27FC236}">
                <a16:creationId xmlns:a16="http://schemas.microsoft.com/office/drawing/2014/main" id="{AAE36621-6FAB-4009-9D5C-CE767DF10D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515" y="1183800"/>
            <a:ext cx="685800" cy="685800"/>
          </a:xfrm>
          <a:prstGeom prst="rect">
            <a:avLst/>
          </a:prstGeom>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34" y="1786473"/>
            <a:ext cx="4754198" cy="37461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6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ircle(in)">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ircle(in)">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ircle(in)">
                                      <p:cBhvr>
                                        <p:cTn id="17" dur="2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CN" dirty="0"/>
              <a:t>1</a:t>
            </a:r>
            <a:r>
              <a:rPr lang="zh-CN" altLang="en-US" dirty="0"/>
              <a:t>，护卫者幸福吗？</a:t>
            </a:r>
          </a:p>
        </p:txBody>
      </p:sp>
      <p:sp>
        <p:nvSpPr>
          <p:cNvPr id="5" name="Content Placeholder 4"/>
          <p:cNvSpPr>
            <a:spLocks noGrp="1"/>
          </p:cNvSpPr>
          <p:nvPr>
            <p:ph sz="half" idx="1"/>
          </p:nvPr>
        </p:nvSpPr>
        <p:spPr/>
        <p:txBody>
          <a:bodyPr/>
          <a:lstStyle/>
          <a:p>
            <a:r>
              <a:rPr lang="zh-CN" altLang="en-US" sz="2000" b="1" dirty="0"/>
              <a:t>阿黛伊曼特提出尖锐的问题：按苏格拉底的设想，护卫者的生活方式使他们成了并不很幸福的人。虽然城邦真的属于他们，但他们却从城邦得不到任何好处。他们简直就是城邦卫戍的雇佣兵（</a:t>
            </a:r>
            <a:r>
              <a:rPr lang="en-US" altLang="zh-CN" sz="2000" b="1" dirty="0"/>
              <a:t>paid auxiliaries</a:t>
            </a:r>
            <a:r>
              <a:rPr lang="zh-CN" altLang="en-US" sz="2000" b="1" dirty="0"/>
              <a:t>）而不是别的</a:t>
            </a:r>
            <a:r>
              <a:rPr lang="en-US" altLang="zh-CN" sz="2000" b="1" dirty="0"/>
              <a:t>419a1-10</a:t>
            </a:r>
            <a:r>
              <a:rPr lang="zh-CN" altLang="en-US" sz="2000" b="1" dirty="0"/>
              <a:t>。</a:t>
            </a:r>
          </a:p>
          <a:p>
            <a:r>
              <a:rPr lang="zh-CN" altLang="en-US" sz="2000" b="1" dirty="0"/>
              <a:t>苏格拉底承认，他们只能得到维持基本生活的必需品而不能得到此外的任何酬劳，不能享受普通人的任何幸福。那么如何来为之辩护，说他们是幸福的呢？</a:t>
            </a:r>
          </a:p>
          <a:p>
            <a:endParaRPr lang="zh-CN" altLang="en-US" dirty="0"/>
          </a:p>
        </p:txBody>
      </p:sp>
      <p:sp>
        <p:nvSpPr>
          <p:cNvPr id="6" name="Content Placeholder 5"/>
          <p:cNvSpPr>
            <a:spLocks noGrp="1"/>
          </p:cNvSpPr>
          <p:nvPr>
            <p:ph sz="half" idx="2"/>
          </p:nvPr>
        </p:nvSpPr>
        <p:spPr/>
        <p:txBody>
          <a:bodyPr/>
          <a:lstStyle/>
          <a:p>
            <a:endParaRPr lang="zh-CN"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3158" y="323274"/>
            <a:ext cx="5435938" cy="56157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p:nvPr/>
        </p:nvCxnSpPr>
        <p:spPr>
          <a:xfrm flipV="1">
            <a:off x="7583055" y="2170545"/>
            <a:ext cx="3158836" cy="18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927273" y="2669309"/>
            <a:ext cx="4359563" cy="36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714836" y="2974109"/>
            <a:ext cx="8682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201891" y="3934691"/>
            <a:ext cx="2752436" cy="36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490036" y="4341091"/>
            <a:ext cx="55419" cy="102523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453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randombar(horizontal)">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1000" fill="hold"/>
                                        <p:tgtEl>
                                          <p:spTgt spid="8"/>
                                        </p:tgtEl>
                                        <p:attrNameLst>
                                          <p:attrName>ppt_w</p:attrName>
                                        </p:attrNameLst>
                                      </p:cBhvr>
                                      <p:tavLst>
                                        <p:tav tm="0">
                                          <p:val>
                                            <p:fltVal val="0"/>
                                          </p:val>
                                        </p:tav>
                                        <p:tav tm="100000">
                                          <p:val>
                                            <p:strVal val="#ppt_w"/>
                                          </p:val>
                                        </p:tav>
                                      </p:tavLst>
                                    </p:anim>
                                    <p:anim calcmode="lin" valueType="num">
                                      <p:cBhvr>
                                        <p:cTn id="18" dur="1000" fill="hold"/>
                                        <p:tgtEl>
                                          <p:spTgt spid="8"/>
                                        </p:tgtEl>
                                        <p:attrNameLst>
                                          <p:attrName>ppt_h</p:attrName>
                                        </p:attrNameLst>
                                      </p:cBhvr>
                                      <p:tavLst>
                                        <p:tav tm="0">
                                          <p:val>
                                            <p:fltVal val="0"/>
                                          </p:val>
                                        </p:tav>
                                        <p:tav tm="100000">
                                          <p:val>
                                            <p:strVal val="#ppt_h"/>
                                          </p:val>
                                        </p:tav>
                                      </p:tavLst>
                                    </p:anim>
                                    <p:anim calcmode="lin" valueType="num">
                                      <p:cBhvr>
                                        <p:cTn id="19" dur="1000" fill="hold"/>
                                        <p:tgtEl>
                                          <p:spTgt spid="8"/>
                                        </p:tgtEl>
                                        <p:attrNameLst>
                                          <p:attrName>style.rotation</p:attrName>
                                        </p:attrNameLst>
                                      </p:cBhvr>
                                      <p:tavLst>
                                        <p:tav tm="0">
                                          <p:val>
                                            <p:fltVal val="90"/>
                                          </p:val>
                                        </p:tav>
                                        <p:tav tm="100000">
                                          <p:val>
                                            <p:fltVal val="0"/>
                                          </p:val>
                                        </p:tav>
                                      </p:tavLst>
                                    </p:anim>
                                    <p:animEffect transition="in" filter="fade">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 calcmode="lin" valueType="num">
                                      <p:cBhvr>
                                        <p:cTn id="27" dur="1000" fill="hold"/>
                                        <p:tgtEl>
                                          <p:spTgt spid="10"/>
                                        </p:tgtEl>
                                        <p:attrNameLst>
                                          <p:attrName>style.rotation</p:attrName>
                                        </p:attrNameLst>
                                      </p:cBhvr>
                                      <p:tavLst>
                                        <p:tav tm="0">
                                          <p:val>
                                            <p:fltVal val="90"/>
                                          </p:val>
                                        </p:tav>
                                        <p:tav tm="100000">
                                          <p:val>
                                            <p:fltVal val="0"/>
                                          </p:val>
                                        </p:tav>
                                      </p:tavLst>
                                    </p:anim>
                                    <p:animEffect transition="in" filter="fade">
                                      <p:cBhvr>
                                        <p:cTn id="28" dur="10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1000" fill="hold"/>
                                        <p:tgtEl>
                                          <p:spTgt spid="12"/>
                                        </p:tgtEl>
                                        <p:attrNameLst>
                                          <p:attrName>ppt_w</p:attrName>
                                        </p:attrNameLst>
                                      </p:cBhvr>
                                      <p:tavLst>
                                        <p:tav tm="0">
                                          <p:val>
                                            <p:fltVal val="0"/>
                                          </p:val>
                                        </p:tav>
                                        <p:tav tm="100000">
                                          <p:val>
                                            <p:strVal val="#ppt_w"/>
                                          </p:val>
                                        </p:tav>
                                      </p:tavLst>
                                    </p:anim>
                                    <p:anim calcmode="lin" valueType="num">
                                      <p:cBhvr>
                                        <p:cTn id="34" dur="1000" fill="hold"/>
                                        <p:tgtEl>
                                          <p:spTgt spid="12"/>
                                        </p:tgtEl>
                                        <p:attrNameLst>
                                          <p:attrName>ppt_h</p:attrName>
                                        </p:attrNameLst>
                                      </p:cBhvr>
                                      <p:tavLst>
                                        <p:tav tm="0">
                                          <p:val>
                                            <p:fltVal val="0"/>
                                          </p:val>
                                        </p:tav>
                                        <p:tav tm="100000">
                                          <p:val>
                                            <p:strVal val="#ppt_h"/>
                                          </p:val>
                                        </p:tav>
                                      </p:tavLst>
                                    </p:anim>
                                    <p:anim calcmode="lin" valueType="num">
                                      <p:cBhvr>
                                        <p:cTn id="35" dur="1000" fill="hold"/>
                                        <p:tgtEl>
                                          <p:spTgt spid="12"/>
                                        </p:tgtEl>
                                        <p:attrNameLst>
                                          <p:attrName>style.rotation</p:attrName>
                                        </p:attrNameLst>
                                      </p:cBhvr>
                                      <p:tavLst>
                                        <p:tav tm="0">
                                          <p:val>
                                            <p:fltVal val="90"/>
                                          </p:val>
                                        </p:tav>
                                        <p:tav tm="100000">
                                          <p:val>
                                            <p:fltVal val="0"/>
                                          </p:val>
                                        </p:tav>
                                      </p:tavLst>
                                    </p:anim>
                                    <p:animEffect transition="in" filter="fade">
                                      <p:cBhvr>
                                        <p:cTn id="36" dur="10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1000" fill="hold"/>
                                        <p:tgtEl>
                                          <p:spTgt spid="14"/>
                                        </p:tgtEl>
                                        <p:attrNameLst>
                                          <p:attrName>ppt_w</p:attrName>
                                        </p:attrNameLst>
                                      </p:cBhvr>
                                      <p:tavLst>
                                        <p:tav tm="0">
                                          <p:val>
                                            <p:fltVal val="0"/>
                                          </p:val>
                                        </p:tav>
                                        <p:tav tm="100000">
                                          <p:val>
                                            <p:strVal val="#ppt_w"/>
                                          </p:val>
                                        </p:tav>
                                      </p:tavLst>
                                    </p:anim>
                                    <p:anim calcmode="lin" valueType="num">
                                      <p:cBhvr>
                                        <p:cTn id="42" dur="1000" fill="hold"/>
                                        <p:tgtEl>
                                          <p:spTgt spid="14"/>
                                        </p:tgtEl>
                                        <p:attrNameLst>
                                          <p:attrName>ppt_h</p:attrName>
                                        </p:attrNameLst>
                                      </p:cBhvr>
                                      <p:tavLst>
                                        <p:tav tm="0">
                                          <p:val>
                                            <p:fltVal val="0"/>
                                          </p:val>
                                        </p:tav>
                                        <p:tav tm="100000">
                                          <p:val>
                                            <p:strVal val="#ppt_h"/>
                                          </p:val>
                                        </p:tav>
                                      </p:tavLst>
                                    </p:anim>
                                    <p:anim calcmode="lin" valueType="num">
                                      <p:cBhvr>
                                        <p:cTn id="43" dur="1000" fill="hold"/>
                                        <p:tgtEl>
                                          <p:spTgt spid="14"/>
                                        </p:tgtEl>
                                        <p:attrNameLst>
                                          <p:attrName>style.rotation</p:attrName>
                                        </p:attrNameLst>
                                      </p:cBhvr>
                                      <p:tavLst>
                                        <p:tav tm="0">
                                          <p:val>
                                            <p:fltVal val="90"/>
                                          </p:val>
                                        </p:tav>
                                        <p:tav tm="100000">
                                          <p:val>
                                            <p:fltVal val="0"/>
                                          </p:val>
                                        </p:tav>
                                      </p:tavLst>
                                    </p:anim>
                                    <p:animEffect transition="in" filter="fade">
                                      <p:cBhvr>
                                        <p:cTn id="44" dur="10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5">
                                            <p:txEl>
                                              <p:pRg st="1" end="1"/>
                                            </p:txEl>
                                          </p:spTgt>
                                        </p:tgtEl>
                                        <p:attrNameLst>
                                          <p:attrName>style.visibility</p:attrName>
                                        </p:attrNameLst>
                                      </p:cBhvr>
                                      <p:to>
                                        <p:strVal val="visible"/>
                                      </p:to>
                                    </p:set>
                                    <p:animEffect transition="in" filter="randombar(horizontal)">
                                      <p:cBhvr>
                                        <p:cTn id="49" dur="500"/>
                                        <p:tgtEl>
                                          <p:spTgt spid="5">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1000" fill="hold"/>
                                        <p:tgtEl>
                                          <p:spTgt spid="16"/>
                                        </p:tgtEl>
                                        <p:attrNameLst>
                                          <p:attrName>ppt_w</p:attrName>
                                        </p:attrNameLst>
                                      </p:cBhvr>
                                      <p:tavLst>
                                        <p:tav tm="0">
                                          <p:val>
                                            <p:fltVal val="0"/>
                                          </p:val>
                                        </p:tav>
                                        <p:tav tm="100000">
                                          <p:val>
                                            <p:strVal val="#ppt_w"/>
                                          </p:val>
                                        </p:tav>
                                      </p:tavLst>
                                    </p:anim>
                                    <p:anim calcmode="lin" valueType="num">
                                      <p:cBhvr>
                                        <p:cTn id="55" dur="1000" fill="hold"/>
                                        <p:tgtEl>
                                          <p:spTgt spid="16"/>
                                        </p:tgtEl>
                                        <p:attrNameLst>
                                          <p:attrName>ppt_h</p:attrName>
                                        </p:attrNameLst>
                                      </p:cBhvr>
                                      <p:tavLst>
                                        <p:tav tm="0">
                                          <p:val>
                                            <p:fltVal val="0"/>
                                          </p:val>
                                        </p:tav>
                                        <p:tav tm="100000">
                                          <p:val>
                                            <p:strVal val="#ppt_h"/>
                                          </p:val>
                                        </p:tav>
                                      </p:tavLst>
                                    </p:anim>
                                    <p:anim calcmode="lin" valueType="num">
                                      <p:cBhvr>
                                        <p:cTn id="56" dur="1000" fill="hold"/>
                                        <p:tgtEl>
                                          <p:spTgt spid="16"/>
                                        </p:tgtEl>
                                        <p:attrNameLst>
                                          <p:attrName>style.rotation</p:attrName>
                                        </p:attrNameLst>
                                      </p:cBhvr>
                                      <p:tavLst>
                                        <p:tav tm="0">
                                          <p:val>
                                            <p:fltVal val="90"/>
                                          </p:val>
                                        </p:tav>
                                        <p:tav tm="100000">
                                          <p:val>
                                            <p:fltVal val="0"/>
                                          </p:val>
                                        </p:tav>
                                      </p:tavLst>
                                    </p:anim>
                                    <p:animEffect transition="in" filter="fade">
                                      <p:cBhvr>
                                        <p:cTn id="5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zh-CN" altLang="en-US"/>
          </a:p>
        </p:txBody>
      </p:sp>
      <p:pic>
        <p:nvPicPr>
          <p:cNvPr id="2050"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876469" y="303922"/>
            <a:ext cx="4744399" cy="5736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865763" y="1964987"/>
            <a:ext cx="3333748" cy="3477875"/>
          </a:xfrm>
          <a:prstGeom prst="rect">
            <a:avLst/>
          </a:prstGeom>
          <a:noFill/>
        </p:spPr>
        <p:txBody>
          <a:bodyPr wrap="square" rtlCol="0">
            <a:spAutoFit/>
          </a:bodyPr>
          <a:lstStyle/>
          <a:p>
            <a:r>
              <a:rPr lang="zh-CN" altLang="en-US" sz="2000" b="1" dirty="0"/>
              <a:t>苏格拉底认为，护卫者是最幸福的，因为城邦的目标不是某个个人或阶级的幸福，而是城邦整体的最大幸福，在这样一个国家内最有可能找到正义。</a:t>
            </a:r>
          </a:p>
          <a:p>
            <a:r>
              <a:rPr lang="zh-CN" altLang="en-US" sz="2000" b="1" dirty="0"/>
              <a:t>苏格拉底用了给雕塑上色的比喻说明，当每个部分都被处理得恰到好处（</a:t>
            </a:r>
            <a:r>
              <a:rPr lang="en-US" altLang="zh-CN" sz="2000" b="1" dirty="0"/>
              <a:t>appropriately</a:t>
            </a:r>
            <a:r>
              <a:rPr lang="zh-CN" altLang="en-US" sz="2000" b="1" dirty="0"/>
              <a:t>，）时，整体就是美的了。</a:t>
            </a:r>
          </a:p>
        </p:txBody>
      </p:sp>
      <p:sp>
        <p:nvSpPr>
          <p:cNvPr id="10" name="Rectangle 9"/>
          <p:cNvSpPr/>
          <p:nvPr/>
        </p:nvSpPr>
        <p:spPr>
          <a:xfrm>
            <a:off x="7412477" y="1877438"/>
            <a:ext cx="4095344" cy="118677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2" name="Straight Connector 11"/>
          <p:cNvCxnSpPr/>
          <p:nvPr/>
        </p:nvCxnSpPr>
        <p:spPr>
          <a:xfrm>
            <a:off x="8482519" y="3463047"/>
            <a:ext cx="2879387" cy="9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412477" y="3686783"/>
            <a:ext cx="3949429"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412477" y="3910519"/>
            <a:ext cx="6517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412477" y="5457217"/>
            <a:ext cx="4095344" cy="19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412477" y="5671226"/>
            <a:ext cx="953310" cy="9727"/>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9510" y="3645006"/>
            <a:ext cx="2672627" cy="3212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45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fltVal val="0"/>
                                          </p:val>
                                        </p:tav>
                                        <p:tav tm="100000">
                                          <p:val>
                                            <p:strVal val="#ppt_w"/>
                                          </p:val>
                                        </p:tav>
                                      </p:tavLst>
                                    </p:anim>
                                    <p:anim calcmode="lin" valueType="num">
                                      <p:cBhvr>
                                        <p:cTn id="13" dur="1000" fill="hold"/>
                                        <p:tgtEl>
                                          <p:spTgt spid="10"/>
                                        </p:tgtEl>
                                        <p:attrNameLst>
                                          <p:attrName>ppt_h</p:attrName>
                                        </p:attrNameLst>
                                      </p:cBhvr>
                                      <p:tavLst>
                                        <p:tav tm="0">
                                          <p:val>
                                            <p:fltVal val="0"/>
                                          </p:val>
                                        </p:tav>
                                        <p:tav tm="100000">
                                          <p:val>
                                            <p:strVal val="#ppt_h"/>
                                          </p:val>
                                        </p:tav>
                                      </p:tavLst>
                                    </p:anim>
                                    <p:anim calcmode="lin" valueType="num">
                                      <p:cBhvr>
                                        <p:cTn id="14" dur="1000" fill="hold"/>
                                        <p:tgtEl>
                                          <p:spTgt spid="10"/>
                                        </p:tgtEl>
                                        <p:attrNameLst>
                                          <p:attrName>style.rotation</p:attrName>
                                        </p:attrNameLst>
                                      </p:cBhvr>
                                      <p:tavLst>
                                        <p:tav tm="0">
                                          <p:val>
                                            <p:fltVal val="90"/>
                                          </p:val>
                                        </p:tav>
                                        <p:tav tm="100000">
                                          <p:val>
                                            <p:fltVal val="0"/>
                                          </p:val>
                                        </p:tav>
                                      </p:tavLst>
                                    </p:anim>
                                    <p:animEffect transition="in" filter="fade">
                                      <p:cBhvr>
                                        <p:cTn id="15" dur="1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1000" fill="hold"/>
                                        <p:tgtEl>
                                          <p:spTgt spid="12"/>
                                        </p:tgtEl>
                                        <p:attrNameLst>
                                          <p:attrName>ppt_w</p:attrName>
                                        </p:attrNameLst>
                                      </p:cBhvr>
                                      <p:tavLst>
                                        <p:tav tm="0">
                                          <p:val>
                                            <p:fltVal val="0"/>
                                          </p:val>
                                        </p:tav>
                                        <p:tav tm="100000">
                                          <p:val>
                                            <p:strVal val="#ppt_w"/>
                                          </p:val>
                                        </p:tav>
                                      </p:tavLst>
                                    </p:anim>
                                    <p:anim calcmode="lin" valueType="num">
                                      <p:cBhvr>
                                        <p:cTn id="21" dur="1000" fill="hold"/>
                                        <p:tgtEl>
                                          <p:spTgt spid="12"/>
                                        </p:tgtEl>
                                        <p:attrNameLst>
                                          <p:attrName>ppt_h</p:attrName>
                                        </p:attrNameLst>
                                      </p:cBhvr>
                                      <p:tavLst>
                                        <p:tav tm="0">
                                          <p:val>
                                            <p:fltVal val="0"/>
                                          </p:val>
                                        </p:tav>
                                        <p:tav tm="100000">
                                          <p:val>
                                            <p:strVal val="#ppt_h"/>
                                          </p:val>
                                        </p:tav>
                                      </p:tavLst>
                                    </p:anim>
                                    <p:anim calcmode="lin" valueType="num">
                                      <p:cBhvr>
                                        <p:cTn id="22" dur="1000" fill="hold"/>
                                        <p:tgtEl>
                                          <p:spTgt spid="12"/>
                                        </p:tgtEl>
                                        <p:attrNameLst>
                                          <p:attrName>style.rotation</p:attrName>
                                        </p:attrNameLst>
                                      </p:cBhvr>
                                      <p:tavLst>
                                        <p:tav tm="0">
                                          <p:val>
                                            <p:fltVal val="90"/>
                                          </p:val>
                                        </p:tav>
                                        <p:tav tm="100000">
                                          <p:val>
                                            <p:fltVal val="0"/>
                                          </p:val>
                                        </p:tav>
                                      </p:tavLst>
                                    </p:anim>
                                    <p:animEffect transition="in" filter="fade">
                                      <p:cBhvr>
                                        <p:cTn id="23" dur="1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000" fill="hold"/>
                                        <p:tgtEl>
                                          <p:spTgt spid="14"/>
                                        </p:tgtEl>
                                        <p:attrNameLst>
                                          <p:attrName>ppt_w</p:attrName>
                                        </p:attrNameLst>
                                      </p:cBhvr>
                                      <p:tavLst>
                                        <p:tav tm="0">
                                          <p:val>
                                            <p:fltVal val="0"/>
                                          </p:val>
                                        </p:tav>
                                        <p:tav tm="100000">
                                          <p:val>
                                            <p:strVal val="#ppt_w"/>
                                          </p:val>
                                        </p:tav>
                                      </p:tavLst>
                                    </p:anim>
                                    <p:anim calcmode="lin" valueType="num">
                                      <p:cBhvr>
                                        <p:cTn id="29" dur="1000" fill="hold"/>
                                        <p:tgtEl>
                                          <p:spTgt spid="14"/>
                                        </p:tgtEl>
                                        <p:attrNameLst>
                                          <p:attrName>ppt_h</p:attrName>
                                        </p:attrNameLst>
                                      </p:cBhvr>
                                      <p:tavLst>
                                        <p:tav tm="0">
                                          <p:val>
                                            <p:fltVal val="0"/>
                                          </p:val>
                                        </p:tav>
                                        <p:tav tm="100000">
                                          <p:val>
                                            <p:strVal val="#ppt_h"/>
                                          </p:val>
                                        </p:tav>
                                      </p:tavLst>
                                    </p:anim>
                                    <p:anim calcmode="lin" valueType="num">
                                      <p:cBhvr>
                                        <p:cTn id="30" dur="1000" fill="hold"/>
                                        <p:tgtEl>
                                          <p:spTgt spid="14"/>
                                        </p:tgtEl>
                                        <p:attrNameLst>
                                          <p:attrName>style.rotation</p:attrName>
                                        </p:attrNameLst>
                                      </p:cBhvr>
                                      <p:tavLst>
                                        <p:tav tm="0">
                                          <p:val>
                                            <p:fltVal val="90"/>
                                          </p:val>
                                        </p:tav>
                                        <p:tav tm="100000">
                                          <p:val>
                                            <p:fltVal val="0"/>
                                          </p:val>
                                        </p:tav>
                                      </p:tavLst>
                                    </p:anim>
                                    <p:animEffect transition="in" filter="fade">
                                      <p:cBhvr>
                                        <p:cTn id="31" dur="1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1000" fill="hold"/>
                                        <p:tgtEl>
                                          <p:spTgt spid="16"/>
                                        </p:tgtEl>
                                        <p:attrNameLst>
                                          <p:attrName>ppt_w</p:attrName>
                                        </p:attrNameLst>
                                      </p:cBhvr>
                                      <p:tavLst>
                                        <p:tav tm="0">
                                          <p:val>
                                            <p:fltVal val="0"/>
                                          </p:val>
                                        </p:tav>
                                        <p:tav tm="100000">
                                          <p:val>
                                            <p:strVal val="#ppt_w"/>
                                          </p:val>
                                        </p:tav>
                                      </p:tavLst>
                                    </p:anim>
                                    <p:anim calcmode="lin" valueType="num">
                                      <p:cBhvr>
                                        <p:cTn id="37" dur="1000" fill="hold"/>
                                        <p:tgtEl>
                                          <p:spTgt spid="16"/>
                                        </p:tgtEl>
                                        <p:attrNameLst>
                                          <p:attrName>ppt_h</p:attrName>
                                        </p:attrNameLst>
                                      </p:cBhvr>
                                      <p:tavLst>
                                        <p:tav tm="0">
                                          <p:val>
                                            <p:fltVal val="0"/>
                                          </p:val>
                                        </p:tav>
                                        <p:tav tm="100000">
                                          <p:val>
                                            <p:strVal val="#ppt_h"/>
                                          </p:val>
                                        </p:tav>
                                      </p:tavLst>
                                    </p:anim>
                                    <p:anim calcmode="lin" valueType="num">
                                      <p:cBhvr>
                                        <p:cTn id="38" dur="1000" fill="hold"/>
                                        <p:tgtEl>
                                          <p:spTgt spid="16"/>
                                        </p:tgtEl>
                                        <p:attrNameLst>
                                          <p:attrName>style.rotation</p:attrName>
                                        </p:attrNameLst>
                                      </p:cBhvr>
                                      <p:tavLst>
                                        <p:tav tm="0">
                                          <p:val>
                                            <p:fltVal val="90"/>
                                          </p:val>
                                        </p:tav>
                                        <p:tav tm="100000">
                                          <p:val>
                                            <p:fltVal val="0"/>
                                          </p:val>
                                        </p:tav>
                                      </p:tavLst>
                                    </p:anim>
                                    <p:animEffect transition="in" filter="fade">
                                      <p:cBhvr>
                                        <p:cTn id="39" dur="10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Effect transition="in" filter="randombar(horizontal)">
                                      <p:cBhvr>
                                        <p:cTn id="44" dur="500"/>
                                        <p:tgtEl>
                                          <p:spTgt spid="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1000" fill="hold"/>
                                        <p:tgtEl>
                                          <p:spTgt spid="18"/>
                                        </p:tgtEl>
                                        <p:attrNameLst>
                                          <p:attrName>ppt_w</p:attrName>
                                        </p:attrNameLst>
                                      </p:cBhvr>
                                      <p:tavLst>
                                        <p:tav tm="0">
                                          <p:val>
                                            <p:fltVal val="0"/>
                                          </p:val>
                                        </p:tav>
                                        <p:tav tm="100000">
                                          <p:val>
                                            <p:strVal val="#ppt_w"/>
                                          </p:val>
                                        </p:tav>
                                      </p:tavLst>
                                    </p:anim>
                                    <p:anim calcmode="lin" valueType="num">
                                      <p:cBhvr>
                                        <p:cTn id="50" dur="1000" fill="hold"/>
                                        <p:tgtEl>
                                          <p:spTgt spid="18"/>
                                        </p:tgtEl>
                                        <p:attrNameLst>
                                          <p:attrName>ppt_h</p:attrName>
                                        </p:attrNameLst>
                                      </p:cBhvr>
                                      <p:tavLst>
                                        <p:tav tm="0">
                                          <p:val>
                                            <p:fltVal val="0"/>
                                          </p:val>
                                        </p:tav>
                                        <p:tav tm="100000">
                                          <p:val>
                                            <p:strVal val="#ppt_h"/>
                                          </p:val>
                                        </p:tav>
                                      </p:tavLst>
                                    </p:anim>
                                    <p:anim calcmode="lin" valueType="num">
                                      <p:cBhvr>
                                        <p:cTn id="51" dur="1000" fill="hold"/>
                                        <p:tgtEl>
                                          <p:spTgt spid="18"/>
                                        </p:tgtEl>
                                        <p:attrNameLst>
                                          <p:attrName>style.rotation</p:attrName>
                                        </p:attrNameLst>
                                      </p:cBhvr>
                                      <p:tavLst>
                                        <p:tav tm="0">
                                          <p:val>
                                            <p:fltVal val="90"/>
                                          </p:val>
                                        </p:tav>
                                        <p:tav tm="100000">
                                          <p:val>
                                            <p:fltVal val="0"/>
                                          </p:val>
                                        </p:tav>
                                      </p:tavLst>
                                    </p:anim>
                                    <p:animEffect transition="in" filter="fade">
                                      <p:cBhvr>
                                        <p:cTn id="52" dur="10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p:cTn id="57" dur="1000" fill="hold"/>
                                        <p:tgtEl>
                                          <p:spTgt spid="20"/>
                                        </p:tgtEl>
                                        <p:attrNameLst>
                                          <p:attrName>ppt_w</p:attrName>
                                        </p:attrNameLst>
                                      </p:cBhvr>
                                      <p:tavLst>
                                        <p:tav tm="0">
                                          <p:val>
                                            <p:fltVal val="0"/>
                                          </p:val>
                                        </p:tav>
                                        <p:tav tm="100000">
                                          <p:val>
                                            <p:strVal val="#ppt_w"/>
                                          </p:val>
                                        </p:tav>
                                      </p:tavLst>
                                    </p:anim>
                                    <p:anim calcmode="lin" valueType="num">
                                      <p:cBhvr>
                                        <p:cTn id="58" dur="1000" fill="hold"/>
                                        <p:tgtEl>
                                          <p:spTgt spid="20"/>
                                        </p:tgtEl>
                                        <p:attrNameLst>
                                          <p:attrName>ppt_h</p:attrName>
                                        </p:attrNameLst>
                                      </p:cBhvr>
                                      <p:tavLst>
                                        <p:tav tm="0">
                                          <p:val>
                                            <p:fltVal val="0"/>
                                          </p:val>
                                        </p:tav>
                                        <p:tav tm="100000">
                                          <p:val>
                                            <p:strVal val="#ppt_h"/>
                                          </p:val>
                                        </p:tav>
                                      </p:tavLst>
                                    </p:anim>
                                    <p:anim calcmode="lin" valueType="num">
                                      <p:cBhvr>
                                        <p:cTn id="59" dur="1000" fill="hold"/>
                                        <p:tgtEl>
                                          <p:spTgt spid="20"/>
                                        </p:tgtEl>
                                        <p:attrNameLst>
                                          <p:attrName>style.rotation</p:attrName>
                                        </p:attrNameLst>
                                      </p:cBhvr>
                                      <p:tavLst>
                                        <p:tav tm="0">
                                          <p:val>
                                            <p:fltVal val="90"/>
                                          </p:val>
                                        </p:tav>
                                        <p:tav tm="100000">
                                          <p:val>
                                            <p:fltVal val="0"/>
                                          </p:val>
                                        </p:tav>
                                      </p:tavLst>
                                    </p:anim>
                                    <p:animEffect transition="in" filter="fade">
                                      <p:cBhvr>
                                        <p:cTn id="60" dur="10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randombar(horizontal)">
                                      <p:cBhvr>
                                        <p:cTn id="65" dur="500"/>
                                        <p:tgtEl>
                                          <p:spTgt spid="9">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1026"/>
                                        </p:tgtEl>
                                        <p:attrNameLst>
                                          <p:attrName>style.visibility</p:attrName>
                                        </p:attrNameLst>
                                      </p:cBhvr>
                                      <p:to>
                                        <p:strVal val="visible"/>
                                      </p:to>
                                    </p:set>
                                    <p:animEffect transition="in" filter="randombar(horizontal)">
                                      <p:cBhvr>
                                        <p:cTn id="7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endParaRPr lang="zh-CN" altLang="en-US" dirty="0"/>
          </a:p>
        </p:txBody>
      </p:sp>
      <p:sp>
        <p:nvSpPr>
          <p:cNvPr id="10" name="Content Placeholder 9"/>
          <p:cNvSpPr>
            <a:spLocks noGrp="1"/>
          </p:cNvSpPr>
          <p:nvPr>
            <p:ph sz="half" idx="1"/>
          </p:nvPr>
        </p:nvSpPr>
        <p:spPr/>
        <p:txBody>
          <a:bodyPr/>
          <a:lstStyle/>
          <a:p>
            <a:endParaRPr lang="zh-CN" altLang="en-US" dirty="0"/>
          </a:p>
        </p:txBody>
      </p:sp>
      <p:sp>
        <p:nvSpPr>
          <p:cNvPr id="11" name="Content Placeholder 10"/>
          <p:cNvSpPr>
            <a:spLocks noGrp="1"/>
          </p:cNvSpPr>
          <p:nvPr>
            <p:ph sz="half" idx="2"/>
          </p:nvPr>
        </p:nvSpPr>
        <p:spPr>
          <a:xfrm>
            <a:off x="6488644" y="2402731"/>
            <a:ext cx="5040000" cy="3388469"/>
          </a:xfrm>
        </p:spPr>
        <p:txBody>
          <a:bodyPr/>
          <a:lstStyle/>
          <a:p>
            <a:r>
              <a:rPr lang="zh-CN" altLang="en-US" b="1" dirty="0"/>
              <a:t>如果护卫者把他们这一行的技艺干到最出色，国家得到和谐发展，每个阶级就得到应得的那一种幸福</a:t>
            </a:r>
            <a:r>
              <a:rPr lang="en-US" altLang="zh-CN" b="1" dirty="0"/>
              <a:t>421c-d</a:t>
            </a:r>
            <a:r>
              <a:rPr lang="zh-CN" altLang="en-US" b="1" dirty="0"/>
              <a:t>。</a:t>
            </a:r>
          </a:p>
          <a:p>
            <a:r>
              <a:rPr lang="zh-CN" altLang="en-US" b="1" dirty="0"/>
              <a:t>只要护卫者成为护卫者（护卫者是护卫者的样子）就能使国家有良好的秩序和幸福。</a:t>
            </a:r>
          </a:p>
          <a:p>
            <a:r>
              <a:rPr lang="zh-CN" altLang="en-US" b="1" dirty="0"/>
              <a:t> “对于这些战士和这些护卫者来说，我们必须既迫使，也说服他们去做到这一点。”</a:t>
            </a:r>
            <a:r>
              <a:rPr lang="en-US" altLang="zh-CN" b="1" dirty="0"/>
              <a:t>421c</a:t>
            </a:r>
          </a:p>
          <a:p>
            <a:endParaRPr lang="en-US" altLang="zh-CN" dirty="0"/>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864" y="128270"/>
            <a:ext cx="5837156" cy="4978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5055" y="128270"/>
            <a:ext cx="5287591" cy="2025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 name="Straight Connector 12"/>
          <p:cNvCxnSpPr/>
          <p:nvPr/>
        </p:nvCxnSpPr>
        <p:spPr>
          <a:xfrm flipV="1">
            <a:off x="7110919" y="554477"/>
            <a:ext cx="4280170" cy="9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7110919" y="739302"/>
            <a:ext cx="4367719"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7110919" y="992221"/>
            <a:ext cx="4114800" cy="291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13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randombar(horizont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randombar(horizontal)">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fltVal val="0"/>
                                          </p:val>
                                        </p:tav>
                                        <p:tav tm="100000">
                                          <p:val>
                                            <p:strVal val="#ppt_w"/>
                                          </p:val>
                                        </p:tav>
                                      </p:tavLst>
                                    </p:anim>
                                    <p:anim calcmode="lin" valueType="num">
                                      <p:cBhvr>
                                        <p:cTn id="18" dur="1000" fill="hold"/>
                                        <p:tgtEl>
                                          <p:spTgt spid="13"/>
                                        </p:tgtEl>
                                        <p:attrNameLst>
                                          <p:attrName>ppt_h</p:attrName>
                                        </p:attrNameLst>
                                      </p:cBhvr>
                                      <p:tavLst>
                                        <p:tav tm="0">
                                          <p:val>
                                            <p:fltVal val="0"/>
                                          </p:val>
                                        </p:tav>
                                        <p:tav tm="100000">
                                          <p:val>
                                            <p:strVal val="#ppt_h"/>
                                          </p:val>
                                        </p:tav>
                                      </p:tavLst>
                                    </p:anim>
                                    <p:anim calcmode="lin" valueType="num">
                                      <p:cBhvr>
                                        <p:cTn id="19" dur="1000" fill="hold"/>
                                        <p:tgtEl>
                                          <p:spTgt spid="13"/>
                                        </p:tgtEl>
                                        <p:attrNameLst>
                                          <p:attrName>style.rotation</p:attrName>
                                        </p:attrNameLst>
                                      </p:cBhvr>
                                      <p:tavLst>
                                        <p:tav tm="0">
                                          <p:val>
                                            <p:fltVal val="90"/>
                                          </p:val>
                                        </p:tav>
                                        <p:tav tm="100000">
                                          <p:val>
                                            <p:fltVal val="0"/>
                                          </p:val>
                                        </p:tav>
                                      </p:tavLst>
                                    </p:anim>
                                    <p:animEffect transition="in" filter="fade">
                                      <p:cBhvr>
                                        <p:cTn id="20" dur="10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1000" fill="hold"/>
                                        <p:tgtEl>
                                          <p:spTgt spid="15"/>
                                        </p:tgtEl>
                                        <p:attrNameLst>
                                          <p:attrName>ppt_w</p:attrName>
                                        </p:attrNameLst>
                                      </p:cBhvr>
                                      <p:tavLst>
                                        <p:tav tm="0">
                                          <p:val>
                                            <p:fltVal val="0"/>
                                          </p:val>
                                        </p:tav>
                                        <p:tav tm="100000">
                                          <p:val>
                                            <p:strVal val="#ppt_w"/>
                                          </p:val>
                                        </p:tav>
                                      </p:tavLst>
                                    </p:anim>
                                    <p:anim calcmode="lin" valueType="num">
                                      <p:cBhvr>
                                        <p:cTn id="26" dur="1000" fill="hold"/>
                                        <p:tgtEl>
                                          <p:spTgt spid="15"/>
                                        </p:tgtEl>
                                        <p:attrNameLst>
                                          <p:attrName>ppt_h</p:attrName>
                                        </p:attrNameLst>
                                      </p:cBhvr>
                                      <p:tavLst>
                                        <p:tav tm="0">
                                          <p:val>
                                            <p:fltVal val="0"/>
                                          </p:val>
                                        </p:tav>
                                        <p:tav tm="100000">
                                          <p:val>
                                            <p:strVal val="#ppt_h"/>
                                          </p:val>
                                        </p:tav>
                                      </p:tavLst>
                                    </p:anim>
                                    <p:anim calcmode="lin" valueType="num">
                                      <p:cBhvr>
                                        <p:cTn id="27" dur="1000" fill="hold"/>
                                        <p:tgtEl>
                                          <p:spTgt spid="15"/>
                                        </p:tgtEl>
                                        <p:attrNameLst>
                                          <p:attrName>style.rotation</p:attrName>
                                        </p:attrNameLst>
                                      </p:cBhvr>
                                      <p:tavLst>
                                        <p:tav tm="0">
                                          <p:val>
                                            <p:fltVal val="90"/>
                                          </p:val>
                                        </p:tav>
                                        <p:tav tm="100000">
                                          <p:val>
                                            <p:fltVal val="0"/>
                                          </p:val>
                                        </p:tav>
                                      </p:tavLst>
                                    </p:anim>
                                    <p:animEffect transition="in" filter="fade">
                                      <p:cBhvr>
                                        <p:cTn id="28" dur="10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1000" fill="hold"/>
                                        <p:tgtEl>
                                          <p:spTgt spid="17"/>
                                        </p:tgtEl>
                                        <p:attrNameLst>
                                          <p:attrName>ppt_w</p:attrName>
                                        </p:attrNameLst>
                                      </p:cBhvr>
                                      <p:tavLst>
                                        <p:tav tm="0">
                                          <p:val>
                                            <p:fltVal val="0"/>
                                          </p:val>
                                        </p:tav>
                                        <p:tav tm="100000">
                                          <p:val>
                                            <p:strVal val="#ppt_w"/>
                                          </p:val>
                                        </p:tav>
                                      </p:tavLst>
                                    </p:anim>
                                    <p:anim calcmode="lin" valueType="num">
                                      <p:cBhvr>
                                        <p:cTn id="34" dur="1000" fill="hold"/>
                                        <p:tgtEl>
                                          <p:spTgt spid="17"/>
                                        </p:tgtEl>
                                        <p:attrNameLst>
                                          <p:attrName>ppt_h</p:attrName>
                                        </p:attrNameLst>
                                      </p:cBhvr>
                                      <p:tavLst>
                                        <p:tav tm="0">
                                          <p:val>
                                            <p:fltVal val="0"/>
                                          </p:val>
                                        </p:tav>
                                        <p:tav tm="100000">
                                          <p:val>
                                            <p:strVal val="#ppt_h"/>
                                          </p:val>
                                        </p:tav>
                                      </p:tavLst>
                                    </p:anim>
                                    <p:anim calcmode="lin" valueType="num">
                                      <p:cBhvr>
                                        <p:cTn id="35" dur="1000" fill="hold"/>
                                        <p:tgtEl>
                                          <p:spTgt spid="17"/>
                                        </p:tgtEl>
                                        <p:attrNameLst>
                                          <p:attrName>style.rotation</p:attrName>
                                        </p:attrNameLst>
                                      </p:cBhvr>
                                      <p:tavLst>
                                        <p:tav tm="0">
                                          <p:val>
                                            <p:fltVal val="90"/>
                                          </p:val>
                                        </p:tav>
                                        <p:tav tm="100000">
                                          <p:val>
                                            <p:fltVal val="0"/>
                                          </p:val>
                                        </p:tav>
                                      </p:tavLst>
                                    </p:anim>
                                    <p:animEffect transition="in" filter="fade">
                                      <p:cBhvr>
                                        <p:cTn id="36" dur="10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41" dur="500"/>
                                        <p:tgtEl>
                                          <p:spTgt spid="11">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46" dur="500"/>
                                        <p:tgtEl>
                                          <p:spTgt spid="11">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51"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zh-CN" altLang="en-US" dirty="0"/>
          </a:p>
        </p:txBody>
      </p:sp>
      <p:sp>
        <p:nvSpPr>
          <p:cNvPr id="5" name="Content Placeholder 4"/>
          <p:cNvSpPr>
            <a:spLocks noGrp="1"/>
          </p:cNvSpPr>
          <p:nvPr>
            <p:ph sz="half" idx="1"/>
          </p:nvPr>
        </p:nvSpPr>
        <p:spPr/>
        <p:txBody>
          <a:bodyPr>
            <a:normAutofit/>
          </a:bodyPr>
          <a:lstStyle/>
          <a:p>
            <a:endParaRPr lang="zh-CN" altLang="en-US" dirty="0"/>
          </a:p>
        </p:txBody>
      </p:sp>
      <p:sp>
        <p:nvSpPr>
          <p:cNvPr id="6" name="Content Placeholder 5"/>
          <p:cNvSpPr>
            <a:spLocks noGrp="1"/>
          </p:cNvSpPr>
          <p:nvPr>
            <p:ph sz="half" idx="2"/>
          </p:nvPr>
        </p:nvSpPr>
        <p:spPr/>
        <p:txBody>
          <a:bodyPr>
            <a:normAutofit/>
          </a:bodyPr>
          <a:lstStyle/>
          <a:p>
            <a:r>
              <a:rPr lang="zh-CN" altLang="en-US" b="1" dirty="0"/>
              <a:t>贫困和富有都会使得技艺变质。所以为了不让护卫者的技艺变质，他们必须避开贫困和富有。</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525" y="512122"/>
            <a:ext cx="5462080" cy="4804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p:nvPr/>
        </p:nvCxnSpPr>
        <p:spPr>
          <a:xfrm>
            <a:off x="1692613" y="2412460"/>
            <a:ext cx="143969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45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 calcmode="lin" valueType="num">
                                      <p:cBhvr>
                                        <p:cTn id="14" dur="1000" fill="hold"/>
                                        <p:tgtEl>
                                          <p:spTgt spid="8"/>
                                        </p:tgtEl>
                                        <p:attrNameLst>
                                          <p:attrName>style.rotation</p:attrName>
                                        </p:attrNameLst>
                                      </p:cBhvr>
                                      <p:tavLst>
                                        <p:tav tm="0">
                                          <p:val>
                                            <p:fltVal val="90"/>
                                          </p:val>
                                        </p:tav>
                                        <p:tav tm="100000">
                                          <p:val>
                                            <p:fltVal val="0"/>
                                          </p:val>
                                        </p:tav>
                                      </p:tavLst>
                                    </p:anim>
                                    <p:animEffect transition="in" filter="fad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randombar(horizontal)">
                                      <p:cBhvr>
                                        <p:cTn id="2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r>
              <a:rPr lang="zh-CN" altLang="en-US" b="1" dirty="0"/>
              <a:t>阿黛伊曼特：一个不富有的</a:t>
            </a:r>
            <a:r>
              <a:rPr lang="en-US" altLang="zh-CN" b="1" dirty="0"/>
              <a:t>(</a:t>
            </a:r>
            <a:r>
              <a:rPr lang="zh-CN" altLang="en-US" b="1" dirty="0"/>
              <a:t>理想</a:t>
            </a:r>
            <a:r>
              <a:rPr lang="en-US" altLang="zh-CN" b="1" dirty="0"/>
              <a:t>)</a:t>
            </a:r>
            <a:r>
              <a:rPr lang="zh-CN" altLang="en-US" b="1" dirty="0"/>
              <a:t>城邦如何与一个富有强大的城邦作战？</a:t>
            </a:r>
          </a:p>
          <a:p>
            <a:r>
              <a:rPr lang="zh-CN" altLang="en-US" b="1" dirty="0"/>
              <a:t>苏格拉底：运动员战士们当然能战胜有钱但是肥胖的富人。</a:t>
            </a:r>
          </a:p>
          <a:p>
            <a:endParaRPr lang="zh-CN" altLang="en-US" b="1" dirty="0"/>
          </a:p>
        </p:txBody>
      </p:sp>
      <p:sp>
        <p:nvSpPr>
          <p:cNvPr id="4" name="Content Placeholder 3"/>
          <p:cNvSpPr>
            <a:spLocks noGrp="1"/>
          </p:cNvSpPr>
          <p:nvPr>
            <p:ph sz="half" idx="2"/>
          </p:nvPr>
        </p:nvSpPr>
        <p:spPr/>
        <p:txBody>
          <a:bodyPr>
            <a:normAutofit/>
          </a:bodyPr>
          <a:lstStyle/>
          <a:p>
            <a:endParaRPr lang="zh-CN"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715" y="160338"/>
            <a:ext cx="4661475" cy="653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634264" y="2538919"/>
            <a:ext cx="4114800" cy="622570"/>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895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randombar(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p:cTn id="20"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3">
                                            <p:txEl>
                                              <p:pRg st="0" end="0"/>
                                            </p:txEl>
                                          </p:spTgt>
                                        </p:tgtEl>
                                      </p:cBhvr>
                                    </p:animEffect>
                                  </p:childTnLst>
                                </p:cTn>
                              </p:par>
                              <p:par>
                                <p:cTn id="23" presetID="53" presetClass="entr" presetSubtype="16" fill="hold"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p:cTn id="2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346949" y="1752600"/>
            <a:ext cx="5660103" cy="4114800"/>
          </a:xfrm>
        </p:spPr>
        <p:txBody>
          <a:bodyPr/>
          <a:lstStyle/>
          <a:p>
            <a:r>
              <a:rPr lang="zh-CN" altLang="en-US" sz="2200" b="1" dirty="0"/>
              <a:t>而且还能通过放弃战利品（因为理想城邦不要钱）的方式获得盟友。那么这样会否让其他城市富裕强大起来呢？不会，因为只要给其中一个以另一个的财富，那么总是可以找到盟友。</a:t>
            </a:r>
            <a:endParaRPr lang="en-US" altLang="zh-CN" sz="2200" b="1" dirty="0"/>
          </a:p>
          <a:p>
            <a:r>
              <a:rPr lang="zh-CN" altLang="en-US" sz="2200" b="1" dirty="0"/>
              <a:t>这样的（理想）城邦是最伟大的，不在于名声，而在于事实上是最伟大的。</a:t>
            </a:r>
            <a:r>
              <a:rPr lang="en-US" altLang="zh-CN" sz="2200" b="1" dirty="0"/>
              <a:t>422d,</a:t>
            </a:r>
            <a:r>
              <a:rPr lang="zh-CN" altLang="en-US" sz="2200" b="1" dirty="0"/>
              <a:t>苏格拉底把这样的城邦比喻为又干又瘦的狗</a:t>
            </a:r>
            <a:r>
              <a:rPr lang="en-US" altLang="zh-CN" sz="2200" b="1" dirty="0"/>
              <a:t>——</a:t>
            </a:r>
            <a:r>
              <a:rPr lang="zh-CN" altLang="en-US" sz="2200" b="1" dirty="0"/>
              <a:t>由护卫者（狗）统治的城邦。</a:t>
            </a:r>
            <a:endParaRPr lang="en-US" altLang="zh-CN" sz="2200" b="1" dirty="0"/>
          </a:p>
          <a:p>
            <a:r>
              <a:rPr lang="zh-CN" altLang="en-US" sz="2200" b="1" dirty="0"/>
              <a:t>苏格拉底指出，别的城邦其实并不是“一个”城邦，它们没有凝聚力，陷入内在分裂之中。</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357" y="320912"/>
            <a:ext cx="5115987" cy="6128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6352162" y="1507787"/>
            <a:ext cx="9727" cy="856034"/>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361889" y="3628417"/>
            <a:ext cx="4503907" cy="1099226"/>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153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randombar(horizont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0" dur="5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1000" fill="hold"/>
                                        <p:tgtEl>
                                          <p:spTgt spid="7"/>
                                        </p:tgtEl>
                                        <p:attrNameLst>
                                          <p:attrName>ppt_w</p:attrName>
                                        </p:attrNameLst>
                                      </p:cBhvr>
                                      <p:tavLst>
                                        <p:tav tm="0">
                                          <p:val>
                                            <p:fltVal val="0"/>
                                          </p:val>
                                        </p:tav>
                                        <p:tav tm="100000">
                                          <p:val>
                                            <p:strVal val="#ppt_w"/>
                                          </p:val>
                                        </p:tav>
                                      </p:tavLst>
                                    </p:anim>
                                    <p:anim calcmode="lin" valueType="num">
                                      <p:cBhvr>
                                        <p:cTn id="31" dur="1000" fill="hold"/>
                                        <p:tgtEl>
                                          <p:spTgt spid="7"/>
                                        </p:tgtEl>
                                        <p:attrNameLst>
                                          <p:attrName>ppt_h</p:attrName>
                                        </p:attrNameLst>
                                      </p:cBhvr>
                                      <p:tavLst>
                                        <p:tav tm="0">
                                          <p:val>
                                            <p:fltVal val="0"/>
                                          </p:val>
                                        </p:tav>
                                        <p:tav tm="100000">
                                          <p:val>
                                            <p:strVal val="#ppt_h"/>
                                          </p:val>
                                        </p:tav>
                                      </p:tavLst>
                                    </p:anim>
                                    <p:anim calcmode="lin" valueType="num">
                                      <p:cBhvr>
                                        <p:cTn id="32" dur="1000" fill="hold"/>
                                        <p:tgtEl>
                                          <p:spTgt spid="7"/>
                                        </p:tgtEl>
                                        <p:attrNameLst>
                                          <p:attrName>style.rotation</p:attrName>
                                        </p:attrNameLst>
                                      </p:cBhvr>
                                      <p:tavLst>
                                        <p:tav tm="0">
                                          <p:val>
                                            <p:fltVal val="90"/>
                                          </p:val>
                                        </p:tav>
                                        <p:tav tm="100000">
                                          <p:val>
                                            <p:fltVal val="0"/>
                                          </p:val>
                                        </p:tav>
                                      </p:tavLst>
                                    </p:anim>
                                    <p:animEffect transition="in" filter="fade">
                                      <p:cBhvr>
                                        <p:cTn id="33" dur="10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77500" lnSpcReduction="20000"/>
          </a:bodyPr>
          <a:lstStyle/>
          <a:p>
            <a:endParaRPr lang="zh-CN" altLang="en-US"/>
          </a:p>
        </p:txBody>
      </p:sp>
      <p:sp>
        <p:nvSpPr>
          <p:cNvPr id="4" name="Content Placeholder 3"/>
          <p:cNvSpPr>
            <a:spLocks noGrp="1"/>
          </p:cNvSpPr>
          <p:nvPr>
            <p:ph sz="half" idx="2"/>
          </p:nvPr>
        </p:nvSpPr>
        <p:spPr/>
        <p:txBody>
          <a:bodyPr>
            <a:normAutofit fontScale="77500" lnSpcReduction="20000"/>
          </a:bodyPr>
          <a:lstStyle/>
          <a:p>
            <a:r>
              <a:rPr lang="zh-CN" altLang="en-US" b="1" dirty="0"/>
              <a:t>新的礼法就建成了，剩下的问题就是怎样使习惯和习俗不发生变化。</a:t>
            </a:r>
          </a:p>
          <a:p>
            <a:endParaRPr lang="en-US" altLang="zh-CN" b="1" dirty="0"/>
          </a:p>
          <a:p>
            <a:r>
              <a:rPr lang="en-US" altLang="zh-CN" b="1" dirty="0"/>
              <a:t>1</a:t>
            </a:r>
            <a:r>
              <a:rPr lang="zh-CN" altLang="en-US" b="1" dirty="0"/>
              <a:t>，因此城邦的疆域要得到限制，其成长不能妨碍它成为一个整体。</a:t>
            </a:r>
            <a:endParaRPr lang="en-US" altLang="zh-CN" b="1" dirty="0"/>
          </a:p>
          <a:p>
            <a:r>
              <a:rPr lang="zh-CN" altLang="en-US" b="1" dirty="0"/>
              <a:t>护卫者要保卫城邦不要太小，也不要太大，而是保持恰当的大小与人口。</a:t>
            </a:r>
            <a:endParaRPr lang="en-US" altLang="zh-CN" b="1" dirty="0"/>
          </a:p>
          <a:p>
            <a:endParaRPr lang="zh-CN" altLang="en-US" b="1" dirty="0"/>
          </a:p>
          <a:p>
            <a:r>
              <a:rPr lang="en-US" altLang="zh-CN" b="1" dirty="0"/>
              <a:t>2</a:t>
            </a:r>
            <a:r>
              <a:rPr lang="zh-CN" altLang="en-US" b="1" dirty="0"/>
              <a:t>，不同阶层的子女必须被送到适合他的天赋的工作的阶层，苏格拉底解释说：这就使得城邦自然地成长为一个整体，而非分裂</a:t>
            </a:r>
            <a:r>
              <a:rPr lang="en-US" altLang="zh-CN" b="1" dirty="0"/>
              <a:t>423c8-d5</a:t>
            </a:r>
            <a:r>
              <a:rPr lang="zh-CN" altLang="en-US" b="1" dirty="0"/>
              <a:t>。</a:t>
            </a:r>
          </a:p>
          <a:p>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43" y="447675"/>
            <a:ext cx="4543425" cy="596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4766553" y="1673157"/>
            <a:ext cx="1" cy="1755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844374" y="4124528"/>
            <a:ext cx="0" cy="122568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02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randombar(horizontal)">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3" dur="500"/>
                                        <p:tgtEl>
                                          <p:spTgt spid="4">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1000" fill="hold"/>
                                        <p:tgtEl>
                                          <p:spTgt spid="9"/>
                                        </p:tgtEl>
                                        <p:attrNameLst>
                                          <p:attrName>ppt_w</p:attrName>
                                        </p:attrNameLst>
                                      </p:cBhvr>
                                      <p:tavLst>
                                        <p:tav tm="0">
                                          <p:val>
                                            <p:fltVal val="0"/>
                                          </p:val>
                                        </p:tav>
                                        <p:tav tm="100000">
                                          <p:val>
                                            <p:strVal val="#ppt_w"/>
                                          </p:val>
                                        </p:tav>
                                      </p:tavLst>
                                    </p:anim>
                                    <p:anim calcmode="lin" valueType="num">
                                      <p:cBhvr>
                                        <p:cTn id="39" dur="1000" fill="hold"/>
                                        <p:tgtEl>
                                          <p:spTgt spid="9"/>
                                        </p:tgtEl>
                                        <p:attrNameLst>
                                          <p:attrName>ppt_h</p:attrName>
                                        </p:attrNameLst>
                                      </p:cBhvr>
                                      <p:tavLst>
                                        <p:tav tm="0">
                                          <p:val>
                                            <p:fltVal val="0"/>
                                          </p:val>
                                        </p:tav>
                                        <p:tav tm="100000">
                                          <p:val>
                                            <p:strVal val="#ppt_h"/>
                                          </p:val>
                                        </p:tav>
                                      </p:tavLst>
                                    </p:anim>
                                    <p:anim calcmode="lin" valueType="num">
                                      <p:cBhvr>
                                        <p:cTn id="40" dur="1000" fill="hold"/>
                                        <p:tgtEl>
                                          <p:spTgt spid="9"/>
                                        </p:tgtEl>
                                        <p:attrNameLst>
                                          <p:attrName>style.rotation</p:attrName>
                                        </p:attrNameLst>
                                      </p:cBhvr>
                                      <p:tavLst>
                                        <p:tav tm="0">
                                          <p:val>
                                            <p:fltVal val="90"/>
                                          </p:val>
                                        </p:tav>
                                        <p:tav tm="100000">
                                          <p:val>
                                            <p:fltVal val="0"/>
                                          </p:val>
                                        </p:tav>
                                      </p:tavLst>
                                    </p:anim>
                                    <p:animEffect transition="in" filter="fade">
                                      <p:cBhvr>
                                        <p:cTn id="4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77500" lnSpcReduction="20000"/>
          </a:bodyPr>
          <a:lstStyle/>
          <a:p>
            <a:endParaRPr lang="zh-CN" altLang="en-US"/>
          </a:p>
        </p:txBody>
      </p:sp>
      <p:sp>
        <p:nvSpPr>
          <p:cNvPr id="4" name="Content Placeholder 3"/>
          <p:cNvSpPr>
            <a:spLocks noGrp="1"/>
          </p:cNvSpPr>
          <p:nvPr>
            <p:ph sz="half" idx="2"/>
          </p:nvPr>
        </p:nvSpPr>
        <p:spPr>
          <a:xfrm>
            <a:off x="6203005" y="4474724"/>
            <a:ext cx="4807117" cy="1462392"/>
          </a:xfrm>
        </p:spPr>
        <p:txBody>
          <a:bodyPr>
            <a:normAutofit fontScale="77500" lnSpcReduction="20000"/>
          </a:bodyPr>
          <a:lstStyle/>
          <a:p>
            <a:r>
              <a:rPr lang="en-US" altLang="zh-CN" b="1" dirty="0"/>
              <a:t>3, </a:t>
            </a:r>
            <a:r>
              <a:rPr lang="zh-CN" altLang="en-US" b="1" dirty="0"/>
              <a:t>护卫者要守护的，是良好的教育与教养，一旦宪法确立起来，一切就会开始良性循环。护卫者应该反对，对音乐训练和体育锻炼进行任何革新 </a:t>
            </a:r>
            <a:r>
              <a:rPr lang="en-US" altLang="zh-CN" b="1" dirty="0"/>
              <a:t>424b3-c6</a:t>
            </a:r>
            <a:r>
              <a:rPr lang="zh-CN" altLang="en-US" b="1" dirty="0"/>
              <a:t>。</a:t>
            </a:r>
          </a:p>
          <a:p>
            <a:endParaRPr lang="zh-CN" altLang="en-US" dirty="0"/>
          </a:p>
          <a:p>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477" y="387181"/>
            <a:ext cx="5120977" cy="5809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005" y="140546"/>
            <a:ext cx="4572000"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6371617" y="1566153"/>
            <a:ext cx="3677055" cy="48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799617" y="5252936"/>
            <a:ext cx="3346315" cy="2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43583" y="5447489"/>
            <a:ext cx="2821021" cy="97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62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randombar(horizont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randombar(horizontal)">
                                      <p:cBhvr>
                                        <p:cTn id="12" dur="500"/>
                                        <p:tgtEl>
                                          <p:spTgt spid="819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fltVal val="0"/>
                                          </p:val>
                                        </p:tav>
                                        <p:tav tm="100000">
                                          <p:val>
                                            <p:strVal val="#ppt_w"/>
                                          </p:val>
                                        </p:tav>
                                      </p:tavLst>
                                    </p:anim>
                                    <p:anim calcmode="lin" valueType="num">
                                      <p:cBhvr>
                                        <p:cTn id="39" dur="1000" fill="hold"/>
                                        <p:tgtEl>
                                          <p:spTgt spid="10"/>
                                        </p:tgtEl>
                                        <p:attrNameLst>
                                          <p:attrName>ppt_h</p:attrName>
                                        </p:attrNameLst>
                                      </p:cBhvr>
                                      <p:tavLst>
                                        <p:tav tm="0">
                                          <p:val>
                                            <p:fltVal val="0"/>
                                          </p:val>
                                        </p:tav>
                                        <p:tav tm="100000">
                                          <p:val>
                                            <p:strVal val="#ppt_h"/>
                                          </p:val>
                                        </p:tav>
                                      </p:tavLst>
                                    </p:anim>
                                    <p:anim calcmode="lin" valueType="num">
                                      <p:cBhvr>
                                        <p:cTn id="40" dur="1000" fill="hold"/>
                                        <p:tgtEl>
                                          <p:spTgt spid="10"/>
                                        </p:tgtEl>
                                        <p:attrNameLst>
                                          <p:attrName>style.rotation</p:attrName>
                                        </p:attrNameLst>
                                      </p:cBhvr>
                                      <p:tavLst>
                                        <p:tav tm="0">
                                          <p:val>
                                            <p:fltVal val="90"/>
                                          </p:val>
                                        </p:tav>
                                        <p:tav tm="100000">
                                          <p:val>
                                            <p:fltVal val="0"/>
                                          </p:val>
                                        </p:tav>
                                      </p:tavLst>
                                    </p:anim>
                                    <p:animEffect transition="in" filter="fade">
                                      <p:cBhvr>
                                        <p:cTn id="4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9218"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68924" y="685766"/>
            <a:ext cx="5957447" cy="48103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a:xfrm>
            <a:off x="6488644" y="1869601"/>
            <a:ext cx="4045617" cy="3921600"/>
          </a:xfrm>
        </p:spPr>
        <p:txBody>
          <a:bodyPr/>
          <a:lstStyle/>
          <a:p>
            <a:r>
              <a:rPr lang="zh-CN" altLang="en-US" b="1" dirty="0"/>
              <a:t>新音乐对人的影响：它慢慢侵入人们的习惯和实践</a:t>
            </a:r>
            <a:r>
              <a:rPr lang="en-US" altLang="zh-CN" b="1" dirty="0"/>
              <a:t>424b7-c2</a:t>
            </a:r>
            <a:r>
              <a:rPr lang="zh-CN" altLang="en-US" b="1" dirty="0"/>
              <a:t>。然后以更大的活力进入私人生活</a:t>
            </a:r>
            <a:r>
              <a:rPr lang="en-US" altLang="zh-CN" b="1" dirty="0"/>
              <a:t>,</a:t>
            </a:r>
            <a:r>
              <a:rPr lang="zh-CN" altLang="en-US" b="1" dirty="0"/>
              <a:t>再进入到法律和宪法中，最后终结于推翻公共和私人领域中的所有一切。</a:t>
            </a:r>
          </a:p>
          <a:p>
            <a:endParaRPr lang="zh-CN" altLang="en-US" b="1" dirty="0"/>
          </a:p>
        </p:txBody>
      </p:sp>
      <p:cxnSp>
        <p:nvCxnSpPr>
          <p:cNvPr id="6" name="Straight Connector 5"/>
          <p:cNvCxnSpPr/>
          <p:nvPr/>
        </p:nvCxnSpPr>
        <p:spPr>
          <a:xfrm>
            <a:off x="1070043" y="1031132"/>
            <a:ext cx="3365770"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908570" y="2140085"/>
            <a:ext cx="3073941" cy="194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16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randombar(horizontal)">
                                      <p:cBhvr>
                                        <p:cTn id="12" dur="5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a:xfrm>
            <a:off x="6208726" y="1865745"/>
            <a:ext cx="5040000" cy="3921600"/>
          </a:xfrm>
        </p:spPr>
        <p:txBody>
          <a:bodyPr/>
          <a:lstStyle/>
          <a:p>
            <a:r>
              <a:rPr lang="zh-CN" altLang="en-US" sz="2400" b="1" dirty="0"/>
              <a:t>好的教育和教养方式培养起来的青年人，再次发现了他们的前辈破坏的似乎不很重要的世俗观念</a:t>
            </a:r>
            <a:r>
              <a:rPr lang="en-US" altLang="zh-CN" sz="2400" b="1" dirty="0"/>
              <a:t>425a8</a:t>
            </a:r>
            <a:r>
              <a:rPr lang="zh-CN" altLang="en-US" sz="2400" b="1" dirty="0"/>
              <a:t>。即尊敬老人，给老人让位，躬立身前，照顾父母，发型，服装，鞋子，身体的大体形象，及其他所有这类东西。</a:t>
            </a:r>
            <a:r>
              <a:rPr lang="en-US" altLang="zh-CN" sz="2400" b="1" dirty="0"/>
              <a:t>425a11-b5</a:t>
            </a:r>
          </a:p>
          <a:p>
            <a:r>
              <a:rPr lang="zh-CN" altLang="en-US" sz="2400" b="1" dirty="0"/>
              <a:t>这类东西，苏格拉底说，是无法为之立法的，因为词句或写下来的教条永不会使它们出现或维持下去。</a:t>
            </a:r>
          </a:p>
          <a:p>
            <a:endParaRPr lang="zh-CN" altLang="en-US" b="1"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927" y="112712"/>
            <a:ext cx="4529138" cy="663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812145" y="1588655"/>
            <a:ext cx="0" cy="554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38400" y="2743200"/>
            <a:ext cx="1283855" cy="184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77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randombar(horizontal)">
                                      <p:cBhvr>
                                        <p:cTn id="17" dur="500"/>
                                        <p:tgtEl>
                                          <p:spTgt spid="10242"/>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1000" fill="hold"/>
                                        <p:tgtEl>
                                          <p:spTgt spid="9"/>
                                        </p:tgtEl>
                                        <p:attrNameLst>
                                          <p:attrName>ppt_w</p:attrName>
                                        </p:attrNameLst>
                                      </p:cBhvr>
                                      <p:tavLst>
                                        <p:tav tm="0">
                                          <p:val>
                                            <p:fltVal val="0"/>
                                          </p:val>
                                        </p:tav>
                                        <p:tav tm="100000">
                                          <p:val>
                                            <p:strVal val="#ppt_w"/>
                                          </p:val>
                                        </p:tav>
                                      </p:tavLst>
                                    </p:anim>
                                    <p:anim calcmode="lin" valueType="num">
                                      <p:cBhvr>
                                        <p:cTn id="31" dur="1000" fill="hold"/>
                                        <p:tgtEl>
                                          <p:spTgt spid="9"/>
                                        </p:tgtEl>
                                        <p:attrNameLst>
                                          <p:attrName>ppt_h</p:attrName>
                                        </p:attrNameLst>
                                      </p:cBhvr>
                                      <p:tavLst>
                                        <p:tav tm="0">
                                          <p:val>
                                            <p:fltVal val="0"/>
                                          </p:val>
                                        </p:tav>
                                        <p:tav tm="100000">
                                          <p:val>
                                            <p:strVal val="#ppt_h"/>
                                          </p:val>
                                        </p:tav>
                                      </p:tavLst>
                                    </p:anim>
                                    <p:anim calcmode="lin" valueType="num">
                                      <p:cBhvr>
                                        <p:cTn id="32" dur="1000" fill="hold"/>
                                        <p:tgtEl>
                                          <p:spTgt spid="9"/>
                                        </p:tgtEl>
                                        <p:attrNameLst>
                                          <p:attrName>style.rotation</p:attrName>
                                        </p:attrNameLst>
                                      </p:cBhvr>
                                      <p:tavLst>
                                        <p:tav tm="0">
                                          <p:val>
                                            <p:fltVal val="90"/>
                                          </p:val>
                                        </p:tav>
                                        <p:tav tm="100000">
                                          <p:val>
                                            <p:fltVal val="0"/>
                                          </p:val>
                                        </p:tav>
                                      </p:tavLst>
                                    </p:anim>
                                    <p:animEffect transition="in" filter="fade">
                                      <p:cBhvr>
                                        <p:cTn id="3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1126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74318" y="148278"/>
            <a:ext cx="5029317" cy="6583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a:xfrm>
            <a:off x="6488644" y="1869601"/>
            <a:ext cx="5260904" cy="3882270"/>
          </a:xfrm>
        </p:spPr>
        <p:txBody>
          <a:bodyPr/>
          <a:lstStyle/>
          <a:p>
            <a:r>
              <a:rPr lang="zh-CN" altLang="en-US" sz="2400" b="1" dirty="0"/>
              <a:t>对于市场行为，买卖，等等，阿黛伊曼特说，不适宜给好人们指定什么是善的和好的。他们会很容易发现他们需要立法的东西。如果不能，他们就耗费一生在不断制定又不断修订法律上。苏格拉底说这类行为是病入膏肓。</a:t>
            </a:r>
            <a:endParaRPr lang="en-US" altLang="zh-CN" sz="2400" b="1" dirty="0"/>
          </a:p>
          <a:p>
            <a:r>
              <a:rPr lang="zh-CN" altLang="en-US" sz="2400" b="1" dirty="0"/>
              <a:t>“道之以政，齐之以刑，民免而无耻；道之以德</a:t>
            </a:r>
            <a:r>
              <a:rPr lang="en-US" altLang="zh-CN" sz="2400" b="1" dirty="0"/>
              <a:t>,</a:t>
            </a:r>
            <a:r>
              <a:rPr lang="zh-CN" altLang="en-US" sz="2400" b="1" dirty="0"/>
              <a:t>，齐之以礼，有耻且格。”（</a:t>
            </a:r>
            <a:r>
              <a:rPr lang="en-US" altLang="zh-CN" sz="2400" b="1" dirty="0"/>
              <a:t>《</a:t>
            </a:r>
            <a:r>
              <a:rPr lang="zh-CN" altLang="en-US" sz="2400" b="1" dirty="0"/>
              <a:t>论语 为政</a:t>
            </a:r>
            <a:r>
              <a:rPr lang="en-US" altLang="zh-CN" sz="2400" b="1" dirty="0"/>
              <a:t>》</a:t>
            </a:r>
            <a:r>
              <a:rPr lang="zh-CN" altLang="en-US" sz="2400" b="1" dirty="0"/>
              <a:t>）</a:t>
            </a:r>
          </a:p>
          <a:p>
            <a:endParaRPr lang="en-US" altLang="zh-CN" sz="2400" dirty="0"/>
          </a:p>
          <a:p>
            <a:endParaRPr lang="zh-CN" altLang="en-US" dirty="0"/>
          </a:p>
        </p:txBody>
      </p:sp>
      <p:cxnSp>
        <p:nvCxnSpPr>
          <p:cNvPr id="5" name="Straight Connector 4"/>
          <p:cNvCxnSpPr/>
          <p:nvPr/>
        </p:nvCxnSpPr>
        <p:spPr>
          <a:xfrm flipV="1">
            <a:off x="3186545" y="1838036"/>
            <a:ext cx="2475346" cy="36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22400" y="2041236"/>
            <a:ext cx="411018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79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randombar(horizontal)">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anim calcmode="lin" valueType="num">
                                      <p:cBhvr>
                                        <p:cTn id="22" dur="1000" fill="hold"/>
                                        <p:tgtEl>
                                          <p:spTgt spid="7"/>
                                        </p:tgtEl>
                                        <p:attrNameLst>
                                          <p:attrName>style.rotation</p:attrName>
                                        </p:attrNameLst>
                                      </p:cBhvr>
                                      <p:tavLst>
                                        <p:tav tm="0">
                                          <p:val>
                                            <p:fltVal val="90"/>
                                          </p:val>
                                        </p:tav>
                                        <p:tav tm="100000">
                                          <p:val>
                                            <p:fltVal val="0"/>
                                          </p:val>
                                        </p:tav>
                                      </p:tavLst>
                                    </p:anim>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8" dur="500"/>
                                        <p:tgtEl>
                                          <p:spTgt spid="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randombar(horizontal)">
                                      <p:cBhvr>
                                        <p:cTn id="33"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2050"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14602" y="304801"/>
            <a:ext cx="4863791" cy="5735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sz="half" idx="2"/>
          </p:nvPr>
        </p:nvSpPr>
        <p:spPr>
          <a:xfrm>
            <a:off x="5911273" y="4000143"/>
            <a:ext cx="5640025" cy="2154851"/>
          </a:xfrm>
        </p:spPr>
        <p:txBody>
          <a:bodyPr>
            <a:normAutofit fontScale="77500" lnSpcReduction="20000"/>
          </a:bodyPr>
          <a:lstStyle/>
          <a:p>
            <a:r>
              <a:rPr lang="zh-CN" altLang="en-US" b="1" dirty="0"/>
              <a:t>而城邦有时也这样病态地行为，还禁止城邦居民们整治城邦的整个体制（</a:t>
            </a:r>
            <a:r>
              <a:rPr lang="en-US" altLang="zh-CN" b="1" dirty="0"/>
              <a:t>426c1</a:t>
            </a:r>
            <a:r>
              <a:rPr lang="zh-CN" altLang="en-US" b="1" dirty="0"/>
              <a:t>）。</a:t>
            </a:r>
          </a:p>
          <a:p>
            <a:r>
              <a:rPr lang="zh-CN" altLang="en-US" b="1" dirty="0"/>
              <a:t>这种热衷于立法，试图以此来解决城邦问题的政治家，苏格拉底认为他们在做徒劳的事情。</a:t>
            </a:r>
            <a:r>
              <a:rPr lang="en-US" altLang="zh-CN" b="1" dirty="0"/>
              <a:t>426e10</a:t>
            </a:r>
            <a:r>
              <a:rPr lang="zh-CN" altLang="en-US" b="1" dirty="0"/>
              <a:t>。相反，一个真正的立法者不会太关注这类法律。那么立法最重要的是什么呢？立法最重要的是敬神。</a:t>
            </a:r>
          </a:p>
          <a:p>
            <a:endParaRPr lang="zh-CN" altLang="en-US" b="1"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3396" y="0"/>
            <a:ext cx="4910857" cy="3886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710545" y="4008582"/>
            <a:ext cx="0" cy="104370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039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randombar(horizontal)">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3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1331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38180" y="240051"/>
            <a:ext cx="5522734" cy="1852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endParaRPr lang="zh-CN" altLang="en-US"/>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251" y="240051"/>
            <a:ext cx="4930200" cy="5586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963038" y="2548647"/>
            <a:ext cx="4951379" cy="1631216"/>
          </a:xfrm>
          <a:prstGeom prst="rect">
            <a:avLst/>
          </a:prstGeom>
          <a:noFill/>
        </p:spPr>
        <p:txBody>
          <a:bodyPr wrap="square" rtlCol="0">
            <a:spAutoFit/>
          </a:bodyPr>
          <a:lstStyle/>
          <a:p>
            <a:r>
              <a:rPr lang="zh-CN" altLang="en-US" sz="2000" b="1" dirty="0"/>
              <a:t>苏格拉底建议以这种方式来寻找正义</a:t>
            </a:r>
            <a:r>
              <a:rPr lang="en-US" altLang="zh-CN" sz="2000" b="1" dirty="0"/>
              <a:t>427c6</a:t>
            </a:r>
            <a:r>
              <a:rPr lang="zh-CN" altLang="en-US" sz="2000" b="1" dirty="0"/>
              <a:t>：即城邦如果是正确建立起来的，它是一个完美的城邦，既智慧，又勇敢，也克制，也正义。所以如果找到其中三个，剩下的一个就是要找的了</a:t>
            </a:r>
            <a:r>
              <a:rPr lang="en-US" altLang="zh-CN" sz="2000" b="1" dirty="0"/>
              <a:t>428a5</a:t>
            </a:r>
            <a:r>
              <a:rPr lang="zh-CN" altLang="en-US" sz="2000" b="1" dirty="0"/>
              <a:t>。</a:t>
            </a:r>
          </a:p>
        </p:txBody>
      </p:sp>
      <p:cxnSp>
        <p:nvCxnSpPr>
          <p:cNvPr id="7" name="Straight Connector 6"/>
          <p:cNvCxnSpPr/>
          <p:nvPr/>
        </p:nvCxnSpPr>
        <p:spPr>
          <a:xfrm>
            <a:off x="1040859" y="1498059"/>
            <a:ext cx="4260715" cy="486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463064" y="2324911"/>
            <a:ext cx="2227634" cy="19455"/>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605081" y="2743200"/>
            <a:ext cx="4212076" cy="544111"/>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4409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randombar(horizontal)">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style.rotation</p:attrName>
                                        </p:attrNameLst>
                                      </p:cBhvr>
                                      <p:tavLst>
                                        <p:tav tm="0">
                                          <p:val>
                                            <p:fltVal val="90"/>
                                          </p:val>
                                        </p:tav>
                                        <p:tav tm="100000">
                                          <p:val>
                                            <p:fltVal val="0"/>
                                          </p:val>
                                        </p:tav>
                                      </p:tavLst>
                                    </p:anim>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3315"/>
                                        </p:tgtEl>
                                        <p:attrNameLst>
                                          <p:attrName>style.visibility</p:attrName>
                                        </p:attrNameLst>
                                      </p:cBhvr>
                                      <p:to>
                                        <p:strVal val="visible"/>
                                      </p:to>
                                    </p:set>
                                    <p:animEffect transition="in" filter="randombar(horizontal)">
                                      <p:cBhvr>
                                        <p:cTn id="20" dur="500"/>
                                        <p:tgtEl>
                                          <p:spTgt spid="13315"/>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 calcmode="lin" valueType="num">
                                      <p:cBhvr>
                                        <p:cTn id="27" dur="1000" fill="hold"/>
                                        <p:tgtEl>
                                          <p:spTgt spid="10"/>
                                        </p:tgtEl>
                                        <p:attrNameLst>
                                          <p:attrName>style.rotation</p:attrName>
                                        </p:attrNameLst>
                                      </p:cBhvr>
                                      <p:tavLst>
                                        <p:tav tm="0">
                                          <p:val>
                                            <p:fltVal val="90"/>
                                          </p:val>
                                        </p:tav>
                                        <p:tav tm="100000">
                                          <p:val>
                                            <p:fltVal val="0"/>
                                          </p:val>
                                        </p:tav>
                                      </p:tavLst>
                                    </p:anim>
                                    <p:animEffect transition="in" filter="fade">
                                      <p:cBhvr>
                                        <p:cTn id="28" dur="10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animEffect transition="in" filter="randombar(horizontal)">
                                      <p:cBhvr>
                                        <p:cTn id="4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059" y="352932"/>
            <a:ext cx="4572000" cy="574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7283" y="352932"/>
            <a:ext cx="4524375" cy="574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3287949" y="875489"/>
            <a:ext cx="1215957"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375498" y="1449421"/>
            <a:ext cx="1712068" cy="19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210128" y="2081719"/>
            <a:ext cx="1877438" cy="9728"/>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567284" y="583660"/>
            <a:ext cx="4045593" cy="885217"/>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3" name="Straight Connector 12"/>
          <p:cNvCxnSpPr/>
          <p:nvPr/>
        </p:nvCxnSpPr>
        <p:spPr>
          <a:xfrm>
            <a:off x="8083685" y="2071991"/>
            <a:ext cx="2402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7548664" y="4445540"/>
            <a:ext cx="2519464" cy="389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8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randombar(horizontal)">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4339"/>
                                        </p:tgtEl>
                                        <p:attrNameLst>
                                          <p:attrName>style.visibility</p:attrName>
                                        </p:attrNameLst>
                                      </p:cBhvr>
                                      <p:to>
                                        <p:strVal val="visible"/>
                                      </p:to>
                                    </p:set>
                                    <p:animEffect transition="in" filter="randombar(horizontal)">
                                      <p:cBhvr>
                                        <p:cTn id="36" dur="500"/>
                                        <p:tgtEl>
                                          <p:spTgt spid="14339"/>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1000" fill="hold"/>
                                        <p:tgtEl>
                                          <p:spTgt spid="11"/>
                                        </p:tgtEl>
                                        <p:attrNameLst>
                                          <p:attrName>ppt_w</p:attrName>
                                        </p:attrNameLst>
                                      </p:cBhvr>
                                      <p:tavLst>
                                        <p:tav tm="0">
                                          <p:val>
                                            <p:fltVal val="0"/>
                                          </p:val>
                                        </p:tav>
                                        <p:tav tm="100000">
                                          <p:val>
                                            <p:strVal val="#ppt_w"/>
                                          </p:val>
                                        </p:tav>
                                      </p:tavLst>
                                    </p:anim>
                                    <p:anim calcmode="lin" valueType="num">
                                      <p:cBhvr>
                                        <p:cTn id="42" dur="1000" fill="hold"/>
                                        <p:tgtEl>
                                          <p:spTgt spid="11"/>
                                        </p:tgtEl>
                                        <p:attrNameLst>
                                          <p:attrName>ppt_h</p:attrName>
                                        </p:attrNameLst>
                                      </p:cBhvr>
                                      <p:tavLst>
                                        <p:tav tm="0">
                                          <p:val>
                                            <p:fltVal val="0"/>
                                          </p:val>
                                        </p:tav>
                                        <p:tav tm="100000">
                                          <p:val>
                                            <p:strVal val="#ppt_h"/>
                                          </p:val>
                                        </p:tav>
                                      </p:tavLst>
                                    </p:anim>
                                    <p:anim calcmode="lin" valueType="num">
                                      <p:cBhvr>
                                        <p:cTn id="43" dur="1000" fill="hold"/>
                                        <p:tgtEl>
                                          <p:spTgt spid="11"/>
                                        </p:tgtEl>
                                        <p:attrNameLst>
                                          <p:attrName>style.rotation</p:attrName>
                                        </p:attrNameLst>
                                      </p:cBhvr>
                                      <p:tavLst>
                                        <p:tav tm="0">
                                          <p:val>
                                            <p:fltVal val="90"/>
                                          </p:val>
                                        </p:tav>
                                        <p:tav tm="100000">
                                          <p:val>
                                            <p:fltVal val="0"/>
                                          </p:val>
                                        </p:tav>
                                      </p:tavLst>
                                    </p:anim>
                                    <p:animEffect transition="in" filter="fade">
                                      <p:cBhvr>
                                        <p:cTn id="44" dur="10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1000" fill="hold"/>
                                        <p:tgtEl>
                                          <p:spTgt spid="15"/>
                                        </p:tgtEl>
                                        <p:attrNameLst>
                                          <p:attrName>ppt_w</p:attrName>
                                        </p:attrNameLst>
                                      </p:cBhvr>
                                      <p:tavLst>
                                        <p:tav tm="0">
                                          <p:val>
                                            <p:fltVal val="0"/>
                                          </p:val>
                                        </p:tav>
                                        <p:tav tm="100000">
                                          <p:val>
                                            <p:strVal val="#ppt_w"/>
                                          </p:val>
                                        </p:tav>
                                      </p:tavLst>
                                    </p:anim>
                                    <p:anim calcmode="lin" valueType="num">
                                      <p:cBhvr>
                                        <p:cTn id="58" dur="1000" fill="hold"/>
                                        <p:tgtEl>
                                          <p:spTgt spid="15"/>
                                        </p:tgtEl>
                                        <p:attrNameLst>
                                          <p:attrName>ppt_h</p:attrName>
                                        </p:attrNameLst>
                                      </p:cBhvr>
                                      <p:tavLst>
                                        <p:tav tm="0">
                                          <p:val>
                                            <p:fltVal val="0"/>
                                          </p:val>
                                        </p:tav>
                                        <p:tav tm="100000">
                                          <p:val>
                                            <p:strVal val="#ppt_h"/>
                                          </p:val>
                                        </p:tav>
                                      </p:tavLst>
                                    </p:anim>
                                    <p:anim calcmode="lin" valueType="num">
                                      <p:cBhvr>
                                        <p:cTn id="59" dur="1000" fill="hold"/>
                                        <p:tgtEl>
                                          <p:spTgt spid="15"/>
                                        </p:tgtEl>
                                        <p:attrNameLst>
                                          <p:attrName>style.rotation</p:attrName>
                                        </p:attrNameLst>
                                      </p:cBhvr>
                                      <p:tavLst>
                                        <p:tav tm="0">
                                          <p:val>
                                            <p:fltVal val="90"/>
                                          </p:val>
                                        </p:tav>
                                        <p:tav tm="100000">
                                          <p:val>
                                            <p:fltVal val="0"/>
                                          </p:val>
                                        </p:tav>
                                      </p:tavLst>
                                    </p:anim>
                                    <p:animEffect transition="in" filter="fade">
                                      <p:cBhvr>
                                        <p:cTn id="60"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r>
              <a:rPr lang="zh-CN" altLang="en-US" sz="2400" b="1" dirty="0"/>
              <a:t>首先，城邦是智慧的</a:t>
            </a:r>
            <a:r>
              <a:rPr lang="en-US" altLang="zh-CN" sz="2400" b="1" dirty="0"/>
              <a:t>428d</a:t>
            </a:r>
            <a:r>
              <a:rPr lang="zh-CN" altLang="en-US" sz="2400" b="1" dirty="0"/>
              <a:t>。</a:t>
            </a:r>
          </a:p>
          <a:p>
            <a:r>
              <a:rPr lang="zh-CN" altLang="en-US" sz="2400" b="1" dirty="0"/>
              <a:t>因为城邦具有关于整个的城邦它本身的事的智慧，以便知道一个城邦以怎样的方式来最好地决断它与它自身，以及与其他城邦的关系的知识。即护卫的技艺（</a:t>
            </a:r>
            <a:r>
              <a:rPr lang="en-US" altLang="zh-CN" sz="2400" b="1" dirty="0" err="1"/>
              <a:t>gaurdianship</a:t>
            </a:r>
            <a:r>
              <a:rPr lang="zh-CN" altLang="en-US" sz="2400" b="1" dirty="0"/>
              <a:t>）。这种按照本性来统治的知识属于城邦中最小的部分，即统治者</a:t>
            </a:r>
            <a:r>
              <a:rPr lang="en-US" altLang="zh-CN" sz="2400" b="1" dirty="0"/>
              <a:t>428e5-429a1</a:t>
            </a:r>
            <a:r>
              <a:rPr lang="zh-CN" altLang="en-US" sz="2400" b="1" dirty="0"/>
              <a:t>。</a:t>
            </a:r>
          </a:p>
          <a:p>
            <a:endParaRPr lang="zh-CN" altLang="en-US" b="1" dirty="0"/>
          </a:p>
        </p:txBody>
      </p:sp>
      <p:sp>
        <p:nvSpPr>
          <p:cNvPr id="4" name="Content Placeholder 3"/>
          <p:cNvSpPr>
            <a:spLocks noGrp="1"/>
          </p:cNvSpPr>
          <p:nvPr>
            <p:ph sz="half" idx="2"/>
          </p:nvPr>
        </p:nvSpPr>
        <p:spPr/>
        <p:txBody>
          <a:bodyPr/>
          <a:lstStyle/>
          <a:p>
            <a:endParaRPr lang="zh-CN" altLang="en-US"/>
          </a:p>
        </p:txBody>
      </p:sp>
    </p:spTree>
    <p:extLst>
      <p:ext uri="{BB962C8B-B14F-4D97-AF65-F5344CB8AC3E}">
        <p14:creationId xmlns:p14="http://schemas.microsoft.com/office/powerpoint/2010/main" val="154592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1536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92707" y="295577"/>
            <a:ext cx="4618595" cy="59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a:xfrm>
            <a:off x="6488644" y="1869601"/>
            <a:ext cx="4642776" cy="3921600"/>
          </a:xfrm>
        </p:spPr>
        <p:txBody>
          <a:bodyPr/>
          <a:lstStyle/>
          <a:p>
            <a:r>
              <a:rPr lang="zh-CN" altLang="en-US" b="1" dirty="0"/>
              <a:t>城邦的勇敢是一种在任何情形下都保持着何谓可怖的事物的信念。所以勇敢是一种坚持</a:t>
            </a:r>
            <a:r>
              <a:rPr lang="en-US" altLang="zh-CN" b="1" dirty="0"/>
              <a:t>429c5-d1</a:t>
            </a:r>
            <a:r>
              <a:rPr lang="zh-CN" altLang="en-US" b="1" dirty="0"/>
              <a:t>。</a:t>
            </a:r>
          </a:p>
          <a:p>
            <a:endParaRPr lang="zh-CN" altLang="en-US" dirty="0"/>
          </a:p>
        </p:txBody>
      </p:sp>
      <p:cxnSp>
        <p:nvCxnSpPr>
          <p:cNvPr id="6" name="Straight Connector 5"/>
          <p:cNvCxnSpPr/>
          <p:nvPr/>
        </p:nvCxnSpPr>
        <p:spPr>
          <a:xfrm>
            <a:off x="1215957" y="3861881"/>
            <a:ext cx="1838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5957" y="4260715"/>
            <a:ext cx="3793788" cy="19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15957" y="4445540"/>
            <a:ext cx="2490281" cy="29183"/>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040860" y="4941651"/>
            <a:ext cx="4085617" cy="1001949"/>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77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randombar(horizont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1000" fill="hold"/>
                                        <p:tgtEl>
                                          <p:spTgt spid="11"/>
                                        </p:tgtEl>
                                        <p:attrNameLst>
                                          <p:attrName>ppt_w</p:attrName>
                                        </p:attrNameLst>
                                      </p:cBhvr>
                                      <p:tavLst>
                                        <p:tav tm="0">
                                          <p:val>
                                            <p:fltVal val="0"/>
                                          </p:val>
                                        </p:tav>
                                        <p:tav tm="100000">
                                          <p:val>
                                            <p:strVal val="#ppt_w"/>
                                          </p:val>
                                        </p:tav>
                                      </p:tavLst>
                                    </p:anim>
                                    <p:anim calcmode="lin" valueType="num">
                                      <p:cBhvr>
                                        <p:cTn id="37" dur="1000" fill="hold"/>
                                        <p:tgtEl>
                                          <p:spTgt spid="11"/>
                                        </p:tgtEl>
                                        <p:attrNameLst>
                                          <p:attrName>ppt_h</p:attrName>
                                        </p:attrNameLst>
                                      </p:cBhvr>
                                      <p:tavLst>
                                        <p:tav tm="0">
                                          <p:val>
                                            <p:fltVal val="0"/>
                                          </p:val>
                                        </p:tav>
                                        <p:tav tm="100000">
                                          <p:val>
                                            <p:strVal val="#ppt_h"/>
                                          </p:val>
                                        </p:tav>
                                      </p:tavLst>
                                    </p:anim>
                                    <p:anim calcmode="lin" valueType="num">
                                      <p:cBhvr>
                                        <p:cTn id="38" dur="1000" fill="hold"/>
                                        <p:tgtEl>
                                          <p:spTgt spid="11"/>
                                        </p:tgtEl>
                                        <p:attrNameLst>
                                          <p:attrName>style.rotation</p:attrName>
                                        </p:attrNameLst>
                                      </p:cBhvr>
                                      <p:tavLst>
                                        <p:tav tm="0">
                                          <p:val>
                                            <p:fltVal val="90"/>
                                          </p:val>
                                        </p:tav>
                                        <p:tav tm="100000">
                                          <p:val>
                                            <p:fltVal val="0"/>
                                          </p:val>
                                        </p:tav>
                                      </p:tavLst>
                                    </p:anim>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a:xfrm>
            <a:off x="6488644" y="3249037"/>
            <a:ext cx="5040000" cy="2542163"/>
          </a:xfrm>
        </p:spPr>
        <p:txBody>
          <a:bodyPr/>
          <a:lstStyle/>
          <a:p>
            <a:r>
              <a:rPr lang="zh-CN" altLang="en-US" sz="2000" b="1" dirty="0"/>
              <a:t>苏格拉底用染匠的比喻来说明士兵</a:t>
            </a:r>
            <a:r>
              <a:rPr lang="en-US" altLang="zh-CN" sz="2000" b="1" dirty="0"/>
              <a:t>430b</a:t>
            </a:r>
            <a:r>
              <a:rPr lang="zh-CN" altLang="en-US" sz="2000" b="1" dirty="0"/>
              <a:t>，再次强调勇敢是对于有关何为可怖和不可怖事物的正确合法的信念的保持和维护。</a:t>
            </a:r>
          </a:p>
          <a:p>
            <a:r>
              <a:rPr lang="zh-CN" altLang="en-US" sz="2000" b="1" dirty="0"/>
              <a:t>而奴隶和动物不是由于法律和教育而具有的信念，不能称之为勇敢</a:t>
            </a:r>
            <a:r>
              <a:rPr lang="en-US" altLang="zh-CN" sz="2000" b="1" dirty="0"/>
              <a:t>430b8</a:t>
            </a:r>
            <a:r>
              <a:rPr lang="zh-CN" altLang="en-US" sz="2000" b="1" dirty="0"/>
              <a:t>。</a:t>
            </a:r>
          </a:p>
          <a:p>
            <a:endParaRPr lang="zh-CN" altLang="en-US" dirty="0"/>
          </a:p>
          <a:p>
            <a:endParaRPr lang="zh-CN" alt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019" y="565621"/>
            <a:ext cx="5019473" cy="249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6838545" y="1055451"/>
            <a:ext cx="2830749" cy="29183"/>
          </a:xfrm>
          <a:prstGeom prst="line">
            <a:avLst/>
          </a:prstGeom>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565" y="275396"/>
            <a:ext cx="4627562" cy="626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flipH="1">
            <a:off x="4922196" y="1089498"/>
            <a:ext cx="9727" cy="1468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31923" y="3647872"/>
            <a:ext cx="0" cy="1945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011677" y="5593404"/>
            <a:ext cx="276265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99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randombar(horizont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randombar(horizontal)">
                                      <p:cBhvr>
                                        <p:cTn id="12" dur="500"/>
                                        <p:tgtEl>
                                          <p:spTgt spid="17410"/>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fltVal val="0"/>
                                          </p:val>
                                        </p:tav>
                                        <p:tav tm="100000">
                                          <p:val>
                                            <p:strVal val="#ppt_w"/>
                                          </p:val>
                                        </p:tav>
                                      </p:tavLst>
                                    </p:anim>
                                    <p:anim calcmode="lin" valueType="num">
                                      <p:cBhvr>
                                        <p:cTn id="26" dur="1000" fill="hold"/>
                                        <p:tgtEl>
                                          <p:spTgt spid="9"/>
                                        </p:tgtEl>
                                        <p:attrNameLst>
                                          <p:attrName>ppt_h</p:attrName>
                                        </p:attrNameLst>
                                      </p:cBhvr>
                                      <p:tavLst>
                                        <p:tav tm="0">
                                          <p:val>
                                            <p:fltVal val="0"/>
                                          </p:val>
                                        </p:tav>
                                        <p:tav tm="100000">
                                          <p:val>
                                            <p:strVal val="#ppt_h"/>
                                          </p:val>
                                        </p:tav>
                                      </p:tavLst>
                                    </p:anim>
                                    <p:anim calcmode="lin" valueType="num">
                                      <p:cBhvr>
                                        <p:cTn id="27" dur="1000" fill="hold"/>
                                        <p:tgtEl>
                                          <p:spTgt spid="9"/>
                                        </p:tgtEl>
                                        <p:attrNameLst>
                                          <p:attrName>style.rotation</p:attrName>
                                        </p:attrNameLst>
                                      </p:cBhvr>
                                      <p:tavLst>
                                        <p:tav tm="0">
                                          <p:val>
                                            <p:fltVal val="90"/>
                                          </p:val>
                                        </p:tav>
                                        <p:tav tm="100000">
                                          <p:val>
                                            <p:fltVal val="0"/>
                                          </p:val>
                                        </p:tav>
                                      </p:tavLst>
                                    </p:anim>
                                    <p:animEffect transition="in" filter="fade">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1000" fill="hold"/>
                                        <p:tgtEl>
                                          <p:spTgt spid="6"/>
                                        </p:tgtEl>
                                        <p:attrNameLst>
                                          <p:attrName>ppt_w</p:attrName>
                                        </p:attrNameLst>
                                      </p:cBhvr>
                                      <p:tavLst>
                                        <p:tav tm="0">
                                          <p:val>
                                            <p:fltVal val="0"/>
                                          </p:val>
                                        </p:tav>
                                        <p:tav tm="100000">
                                          <p:val>
                                            <p:strVal val="#ppt_w"/>
                                          </p:val>
                                        </p:tav>
                                      </p:tavLst>
                                    </p:anim>
                                    <p:anim calcmode="lin" valueType="num">
                                      <p:cBhvr>
                                        <p:cTn id="42" dur="1000" fill="hold"/>
                                        <p:tgtEl>
                                          <p:spTgt spid="6"/>
                                        </p:tgtEl>
                                        <p:attrNameLst>
                                          <p:attrName>ppt_h</p:attrName>
                                        </p:attrNameLst>
                                      </p:cBhvr>
                                      <p:tavLst>
                                        <p:tav tm="0">
                                          <p:val>
                                            <p:fltVal val="0"/>
                                          </p:val>
                                        </p:tav>
                                        <p:tav tm="100000">
                                          <p:val>
                                            <p:strVal val="#ppt_h"/>
                                          </p:val>
                                        </p:tav>
                                      </p:tavLst>
                                    </p:anim>
                                    <p:anim calcmode="lin" valueType="num">
                                      <p:cBhvr>
                                        <p:cTn id="43" dur="1000" fill="hold"/>
                                        <p:tgtEl>
                                          <p:spTgt spid="6"/>
                                        </p:tgtEl>
                                        <p:attrNameLst>
                                          <p:attrName>style.rotation</p:attrName>
                                        </p:attrNameLst>
                                      </p:cBhvr>
                                      <p:tavLst>
                                        <p:tav tm="0">
                                          <p:val>
                                            <p:fltVal val="90"/>
                                          </p:val>
                                        </p:tav>
                                        <p:tav tm="100000">
                                          <p:val>
                                            <p:fltVal val="0"/>
                                          </p:val>
                                        </p:tav>
                                      </p:tavLst>
                                    </p:anim>
                                    <p:animEffect transition="in" filter="fade">
                                      <p:cBhvr>
                                        <p:cTn id="44" dur="10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9" dur="500"/>
                                        <p:tgtEl>
                                          <p:spTgt spid="4">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4">
                                            <p:txEl>
                                              <p:pRg st="1" end="1"/>
                                            </p:txEl>
                                          </p:spTgt>
                                        </p:tgtEl>
                                        <p:attrNameLst>
                                          <p:attrName>style.visibility</p:attrName>
                                        </p:attrNameLst>
                                      </p:cBhvr>
                                      <p:to>
                                        <p:strVal val="visible"/>
                                      </p:to>
                                    </p:set>
                                    <p:animEffect transition="in" filter="randombar(horizontal)">
                                      <p:cBhvr>
                                        <p:cTn id="54"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5" name="Content Placeholder 4"/>
          <p:cNvSpPr>
            <a:spLocks noGrp="1"/>
          </p:cNvSpPr>
          <p:nvPr>
            <p:ph sz="half" idx="1"/>
          </p:nvPr>
        </p:nvSpPr>
        <p:spPr>
          <a:xfrm>
            <a:off x="685802" y="2064102"/>
            <a:ext cx="5040000" cy="3727099"/>
          </a:xfrm>
        </p:spPr>
        <p:txBody>
          <a:bodyPr/>
          <a:lstStyle/>
          <a:p>
            <a:endParaRPr lang="en-US" altLang="zh-CN" dirty="0"/>
          </a:p>
          <a:p>
            <a:r>
              <a:rPr lang="zh-CN" altLang="en-US" sz="2000" b="1" dirty="0"/>
              <a:t>克制是一种整饬（</a:t>
            </a:r>
            <a:r>
              <a:rPr lang="en-US" altLang="zh-CN" sz="2000" b="1" dirty="0"/>
              <a:t>order</a:t>
            </a:r>
            <a:r>
              <a:rPr lang="zh-CN" altLang="en-US" sz="2000" b="1" dirty="0"/>
              <a:t>），对于某些快乐和欲望的节制。人们用自我掌控</a:t>
            </a:r>
            <a:r>
              <a:rPr lang="en-US" altLang="zh-CN" sz="2000" b="1" dirty="0"/>
              <a:t>(self-mastery)</a:t>
            </a:r>
            <a:r>
              <a:rPr lang="zh-CN" altLang="en-US" sz="2000" b="1" dirty="0"/>
              <a:t>来称呼它。</a:t>
            </a:r>
            <a:endParaRPr lang="en-US" altLang="zh-CN" sz="2000" b="1" dirty="0"/>
          </a:p>
          <a:p>
            <a:endParaRPr lang="en-US" altLang="zh-CN" sz="2000" b="1" dirty="0"/>
          </a:p>
          <a:p>
            <a:r>
              <a:rPr lang="zh-CN" altLang="en-US" sz="2000" b="1" dirty="0"/>
              <a:t>“知人者智</a:t>
            </a:r>
            <a:r>
              <a:rPr lang="en-US" altLang="zh-CN" sz="2000" b="1" dirty="0"/>
              <a:t>,</a:t>
            </a:r>
            <a:r>
              <a:rPr lang="zh-CN" altLang="en-US" sz="2000" b="1" dirty="0"/>
              <a:t>自知者明。胜人者有力，自胜者强”（</a:t>
            </a:r>
            <a:r>
              <a:rPr lang="en-US" altLang="zh-CN" sz="2000" b="1" dirty="0"/>
              <a:t>《</a:t>
            </a:r>
            <a:r>
              <a:rPr lang="zh-CN" altLang="en-US" sz="2000" b="1" dirty="0"/>
              <a:t>道德经</a:t>
            </a:r>
            <a:r>
              <a:rPr lang="en-US" altLang="zh-CN" sz="2000" b="1" dirty="0"/>
              <a:t>》</a:t>
            </a:r>
            <a:r>
              <a:rPr lang="zh-CN" altLang="en-US" sz="2000" b="1" dirty="0"/>
              <a:t>）</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7006" y="622570"/>
            <a:ext cx="4803539" cy="5394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65" y="863126"/>
            <a:ext cx="4997280" cy="12009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750996" y="3005847"/>
            <a:ext cx="4231532" cy="739302"/>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571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randombar(horizontal)">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randombar(horizontal)">
                                      <p:cBhvr>
                                        <p:cTn id="12" dur="500"/>
                                        <p:tgtEl>
                                          <p:spTgt spid="16387"/>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fltVal val="0"/>
                                          </p:val>
                                        </p:tav>
                                        <p:tav tm="100000">
                                          <p:val>
                                            <p:strVal val="#ppt_w"/>
                                          </p:val>
                                        </p:tav>
                                      </p:tavLst>
                                    </p:anim>
                                    <p:anim calcmode="lin" valueType="num">
                                      <p:cBhvr>
                                        <p:cTn id="18" dur="1000" fill="hold"/>
                                        <p:tgtEl>
                                          <p:spTgt spid="3"/>
                                        </p:tgtEl>
                                        <p:attrNameLst>
                                          <p:attrName>ppt_h</p:attrName>
                                        </p:attrNameLst>
                                      </p:cBhvr>
                                      <p:tavLst>
                                        <p:tav tm="0">
                                          <p:val>
                                            <p:fltVal val="0"/>
                                          </p:val>
                                        </p:tav>
                                        <p:tav tm="100000">
                                          <p:val>
                                            <p:strVal val="#ppt_h"/>
                                          </p:val>
                                        </p:tav>
                                      </p:tavLst>
                                    </p:anim>
                                    <p:anim calcmode="lin" valueType="num">
                                      <p:cBhvr>
                                        <p:cTn id="19" dur="1000" fill="hold"/>
                                        <p:tgtEl>
                                          <p:spTgt spid="3"/>
                                        </p:tgtEl>
                                        <p:attrNameLst>
                                          <p:attrName>style.rotation</p:attrName>
                                        </p:attrNameLst>
                                      </p:cBhvr>
                                      <p:tavLst>
                                        <p:tav tm="0">
                                          <p:val>
                                            <p:fltVal val="90"/>
                                          </p:val>
                                        </p:tav>
                                        <p:tav tm="100000">
                                          <p:val>
                                            <p:fltVal val="0"/>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25" dur="500"/>
                                        <p:tgtEl>
                                          <p:spTgt spid="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30"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b="1" dirty="0"/>
              <a:t>苏格拉底对这一表达的解释是：人本身之中，即他的灵魂中，有一些好些的东西，一些坏些的东西。无论何时，如果是好些的部分掌握了坏些的部分，这就叫做了自己的主人。反之，则称比自己更弱，或者失度</a:t>
            </a:r>
            <a:r>
              <a:rPr lang="en-US" altLang="zh-CN" sz="2000" b="1" dirty="0"/>
              <a:t>430e7-431b1</a:t>
            </a:r>
            <a:r>
              <a:rPr lang="zh-CN" altLang="en-US" sz="2000" b="1" dirty="0"/>
              <a:t>。</a:t>
            </a:r>
          </a:p>
          <a:p>
            <a:endParaRPr lang="zh-CN" alt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419" y="330740"/>
            <a:ext cx="4600575" cy="5979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322962" y="330740"/>
            <a:ext cx="4134255" cy="1235413"/>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7" name="Straight Connector 6"/>
          <p:cNvCxnSpPr/>
          <p:nvPr/>
        </p:nvCxnSpPr>
        <p:spPr>
          <a:xfrm>
            <a:off x="2840477" y="5369668"/>
            <a:ext cx="2616740" cy="2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322962" y="5593404"/>
            <a:ext cx="3472774" cy="97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00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randombar(horizontal)">
                                      <p:cBhvr>
                                        <p:cTn id="7" dur="5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1000" fill="hold"/>
                                        <p:tgtEl>
                                          <p:spTgt spid="9"/>
                                        </p:tgtEl>
                                        <p:attrNameLst>
                                          <p:attrName>ppt_w</p:attrName>
                                        </p:attrNameLst>
                                      </p:cBhvr>
                                      <p:tavLst>
                                        <p:tav tm="0">
                                          <p:val>
                                            <p:fltVal val="0"/>
                                          </p:val>
                                        </p:tav>
                                        <p:tav tm="100000">
                                          <p:val>
                                            <p:strVal val="#ppt_w"/>
                                          </p:val>
                                        </p:tav>
                                      </p:tavLst>
                                    </p:anim>
                                    <p:anim calcmode="lin" valueType="num">
                                      <p:cBhvr>
                                        <p:cTn id="34" dur="1000" fill="hold"/>
                                        <p:tgtEl>
                                          <p:spTgt spid="9"/>
                                        </p:tgtEl>
                                        <p:attrNameLst>
                                          <p:attrName>ppt_h</p:attrName>
                                        </p:attrNameLst>
                                      </p:cBhvr>
                                      <p:tavLst>
                                        <p:tav tm="0">
                                          <p:val>
                                            <p:fltVal val="0"/>
                                          </p:val>
                                        </p:tav>
                                        <p:tav tm="100000">
                                          <p:val>
                                            <p:strVal val="#ppt_h"/>
                                          </p:val>
                                        </p:tav>
                                      </p:tavLst>
                                    </p:anim>
                                    <p:anim calcmode="lin" valueType="num">
                                      <p:cBhvr>
                                        <p:cTn id="35" dur="1000" fill="hold"/>
                                        <p:tgtEl>
                                          <p:spTgt spid="9"/>
                                        </p:tgtEl>
                                        <p:attrNameLst>
                                          <p:attrName>style.rotation</p:attrName>
                                        </p:attrNameLst>
                                      </p:cBhvr>
                                      <p:tavLst>
                                        <p:tav tm="0">
                                          <p:val>
                                            <p:fltVal val="90"/>
                                          </p:val>
                                        </p:tav>
                                        <p:tav tm="100000">
                                          <p:val>
                                            <p:fltVal val="0"/>
                                          </p:val>
                                        </p:tav>
                                      </p:tavLst>
                                    </p:anim>
                                    <p:animEffect transition="in" filter="fade">
                                      <p:cBhvr>
                                        <p:cTn id="3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488644" y="1869601"/>
            <a:ext cx="4614785" cy="3921600"/>
          </a:xfrm>
        </p:spPr>
        <p:txBody>
          <a:bodyPr>
            <a:normAutofit/>
          </a:bodyPr>
          <a:lstStyle/>
          <a:p>
            <a:r>
              <a:rPr lang="zh-CN" altLang="en-US" sz="2000" b="1" dirty="0"/>
              <a:t>勇敢和智慧各自存在于城邦的一个部分之中。</a:t>
            </a:r>
            <a:endParaRPr lang="en-US" altLang="zh-CN" sz="2000" b="1" dirty="0"/>
          </a:p>
          <a:p>
            <a:r>
              <a:rPr lang="zh-CN" altLang="en-US" sz="2000" b="1" dirty="0"/>
              <a:t>而克制共存于整个城邦之中，存在于统治者与被统治者之中</a:t>
            </a:r>
            <a:r>
              <a:rPr lang="en-US" altLang="zh-CN" sz="2000" b="1" dirty="0"/>
              <a:t>(432a-b),</a:t>
            </a:r>
            <a:r>
              <a:rPr lang="zh-CN" altLang="en-US" sz="2000" b="1" dirty="0"/>
              <a:t> 那么剩下的一种美德就是正义。</a:t>
            </a:r>
          </a:p>
          <a:p>
            <a:endParaRPr lang="zh-CN" altLang="en-US" sz="2000" b="1"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465" y="525294"/>
            <a:ext cx="4610100" cy="6022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914400" y="4075889"/>
            <a:ext cx="3968885" cy="164397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0183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2048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50621" y="265788"/>
            <a:ext cx="4890713" cy="6203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endParaRPr lang="zh-CN" altLang="en-US" dirty="0"/>
          </a:p>
        </p:txBody>
      </p:sp>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1655" y="332058"/>
            <a:ext cx="4514850" cy="561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1303506" y="972766"/>
            <a:ext cx="3326860" cy="2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394953" y="768485"/>
            <a:ext cx="1449421" cy="97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62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randombar(horizontal)">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style.rotation</p:attrName>
                                        </p:attrNameLst>
                                      </p:cBhvr>
                                      <p:tavLst>
                                        <p:tav tm="0">
                                          <p:val>
                                            <p:fltVal val="90"/>
                                          </p:val>
                                        </p:tav>
                                        <p:tav tm="100000">
                                          <p:val>
                                            <p:fltVal val="0"/>
                                          </p:val>
                                        </p:tav>
                                      </p:tavLst>
                                    </p:anim>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fltVal val="0"/>
                                          </p:val>
                                        </p:tav>
                                        <p:tav tm="100000">
                                          <p:val>
                                            <p:strVal val="#ppt_w"/>
                                          </p:val>
                                        </p:tav>
                                      </p:tavLst>
                                    </p:anim>
                                    <p:anim calcmode="lin" valueType="num">
                                      <p:cBhvr>
                                        <p:cTn id="21" dur="1000" fill="hold"/>
                                        <p:tgtEl>
                                          <p:spTgt spid="5"/>
                                        </p:tgtEl>
                                        <p:attrNameLst>
                                          <p:attrName>ppt_h</p:attrName>
                                        </p:attrNameLst>
                                      </p:cBhvr>
                                      <p:tavLst>
                                        <p:tav tm="0">
                                          <p:val>
                                            <p:fltVal val="0"/>
                                          </p:val>
                                        </p:tav>
                                        <p:tav tm="100000">
                                          <p:val>
                                            <p:strVal val="#ppt_h"/>
                                          </p:val>
                                        </p:tav>
                                      </p:tavLst>
                                    </p:anim>
                                    <p:anim calcmode="lin" valueType="num">
                                      <p:cBhvr>
                                        <p:cTn id="22" dur="1000" fill="hold"/>
                                        <p:tgtEl>
                                          <p:spTgt spid="5"/>
                                        </p:tgtEl>
                                        <p:attrNameLst>
                                          <p:attrName>style.rotation</p:attrName>
                                        </p:attrNameLst>
                                      </p:cBhvr>
                                      <p:tavLst>
                                        <p:tav tm="0">
                                          <p:val>
                                            <p:fltVal val="90"/>
                                          </p:val>
                                        </p:tav>
                                        <p:tav tm="100000">
                                          <p:val>
                                            <p:fltVal val="0"/>
                                          </p:val>
                                        </p:tav>
                                      </p:tavLst>
                                    </p:anim>
                                    <p:animEffect transition="in" filter="fade">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0483"/>
                                        </p:tgtEl>
                                        <p:attrNameLst>
                                          <p:attrName>style.visibility</p:attrName>
                                        </p:attrNameLst>
                                      </p:cBhvr>
                                      <p:to>
                                        <p:strVal val="visible"/>
                                      </p:to>
                                    </p:set>
                                    <p:animEffect transition="in" filter="randombar(horizontal)">
                                      <p:cBhvr>
                                        <p:cTn id="28"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685802" y="1869600"/>
            <a:ext cx="5191580" cy="4678684"/>
          </a:xfrm>
        </p:spPr>
        <p:txBody>
          <a:bodyPr>
            <a:normAutofit fontScale="92500" lnSpcReduction="20000"/>
          </a:bodyPr>
          <a:lstStyle/>
          <a:p>
            <a:pPr>
              <a:lnSpc>
                <a:spcPct val="120000"/>
              </a:lnSpc>
            </a:pPr>
            <a:r>
              <a:rPr lang="zh-CN" altLang="en-US" sz="1900" b="1" dirty="0"/>
              <a:t>苏格拉底认为，正义这个美德是在建立城邦一开始就确立的原则，它，或者它的某一形式，就是正义。即，每一个单个的个人应该只照管有关城邦事务中的单一的对于它的天性最适宜的一件事</a:t>
            </a:r>
            <a:r>
              <a:rPr lang="en-US" altLang="zh-CN" sz="1900" b="1" dirty="0"/>
              <a:t>433a1-a8</a:t>
            </a:r>
            <a:r>
              <a:rPr lang="zh-CN" altLang="en-US" sz="1900" b="1" dirty="0"/>
              <a:t>。 “从事自己的工作，在某种方式下看来就是正义之为正义” </a:t>
            </a:r>
            <a:r>
              <a:rPr lang="en-US" altLang="zh-CN" sz="1900" b="1" dirty="0"/>
              <a:t>433b5-c3</a:t>
            </a:r>
            <a:r>
              <a:rPr lang="zh-CN" altLang="en-US" sz="1900" b="1" dirty="0"/>
              <a:t>。</a:t>
            </a:r>
            <a:endParaRPr lang="en-US" altLang="zh-CN" sz="1900" b="1" dirty="0"/>
          </a:p>
          <a:p>
            <a:pPr>
              <a:lnSpc>
                <a:spcPct val="120000"/>
              </a:lnSpc>
            </a:pPr>
            <a:r>
              <a:rPr lang="zh-CN" altLang="en-US" sz="1900" b="1" dirty="0"/>
              <a:t>正义为所有这三者提供一种使它们得以在城邦中产生和成立的力量，而一经产生和成立，又是它，只要它存在于城邦中，它就使这三者立于不堕之地。而正因此，所以说减去这些剩下的就是正义。</a:t>
            </a:r>
          </a:p>
          <a:p>
            <a:pPr>
              <a:lnSpc>
                <a:spcPct val="120000"/>
              </a:lnSpc>
            </a:pPr>
            <a:r>
              <a:rPr lang="zh-CN" altLang="en-US" sz="1900" b="1" dirty="0"/>
              <a:t>苏格拉底认为，正义是其他美德产生的原因。正义不是包含其他三种美德，而是比它们更高一个层次。</a:t>
            </a:r>
          </a:p>
          <a:p>
            <a:endParaRPr lang="en-US" altLang="zh-CN" sz="1900" b="1" dirty="0"/>
          </a:p>
          <a:p>
            <a:endParaRPr lang="zh-CN" altLang="en-US" dirty="0"/>
          </a:p>
          <a:p>
            <a:endParaRPr lang="zh-CN" altLang="en-US" dirty="0"/>
          </a:p>
        </p:txBody>
      </p:sp>
      <p:sp>
        <p:nvSpPr>
          <p:cNvPr id="4" name="Content Placeholder 3"/>
          <p:cNvSpPr>
            <a:spLocks noGrp="1"/>
          </p:cNvSpPr>
          <p:nvPr>
            <p:ph sz="half" idx="2"/>
          </p:nvPr>
        </p:nvSpPr>
        <p:spPr/>
        <p:txBody>
          <a:bodyPr>
            <a:normAutofit fontScale="92500" lnSpcReduction="20000"/>
          </a:bodyPr>
          <a:lstStyle/>
          <a:p>
            <a:endParaRPr lang="zh-CN" alt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4163" y="490133"/>
            <a:ext cx="4457700" cy="583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867728" y="622570"/>
            <a:ext cx="3968885" cy="1021404"/>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7" name="Straight Connector 6"/>
          <p:cNvCxnSpPr/>
          <p:nvPr/>
        </p:nvCxnSpPr>
        <p:spPr>
          <a:xfrm>
            <a:off x="6867728" y="2042809"/>
            <a:ext cx="0" cy="156615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544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anim calcmode="lin" valueType="num">
                                      <p:cBhvr>
                                        <p:cTn id="22" dur="1000" fill="hold"/>
                                        <p:tgtEl>
                                          <p:spTgt spid="7"/>
                                        </p:tgtEl>
                                        <p:attrNameLst>
                                          <p:attrName>style.rotation</p:attrName>
                                        </p:attrNameLst>
                                      </p:cBhvr>
                                      <p:tavLst>
                                        <p:tav tm="0">
                                          <p:val>
                                            <p:fltVal val="90"/>
                                          </p:val>
                                        </p:tav>
                                        <p:tav tm="100000">
                                          <p:val>
                                            <p:fltVal val="0"/>
                                          </p:val>
                                        </p:tav>
                                      </p:tavLst>
                                    </p:anim>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8" dur="500"/>
                                        <p:tgtEl>
                                          <p:spTgt spid="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Autofit/>
          </a:bodyPr>
          <a:lstStyle/>
          <a:p>
            <a:r>
              <a:rPr lang="zh-CN" altLang="en-US" sz="2000" b="1" dirty="0"/>
              <a:t>正义是否就是最大的有功于城邦的完善的，而且在儿童、妇女、奴隶、自由人，在工匠以及统治者和被统治者之间存在的原则？</a:t>
            </a:r>
            <a:r>
              <a:rPr lang="en-US" altLang="zh-CN" sz="2000" b="1" dirty="0"/>
              <a:t>433d2-3</a:t>
            </a:r>
            <a:r>
              <a:rPr lang="zh-CN" altLang="en-US" sz="2000" b="1" dirty="0"/>
              <a:t>。</a:t>
            </a:r>
          </a:p>
          <a:p>
            <a:r>
              <a:rPr lang="zh-CN" altLang="en-US" sz="2000" b="1" dirty="0"/>
              <a:t>苏格拉底以法官们判案的原则来类比：没有人应占有他人的东西，被剥夺自己的东西</a:t>
            </a:r>
            <a:r>
              <a:rPr lang="en-US" altLang="zh-CN" sz="2000" b="1" dirty="0"/>
              <a:t>(433e6-7)</a:t>
            </a:r>
            <a:r>
              <a:rPr lang="zh-CN" altLang="en-US" sz="2000" b="1" dirty="0"/>
              <a:t>。因为正义就是如此</a:t>
            </a:r>
            <a:r>
              <a:rPr lang="en-US" altLang="zh-CN" sz="2000" b="1" dirty="0"/>
              <a:t>433e10</a:t>
            </a:r>
            <a:r>
              <a:rPr lang="zh-CN" altLang="en-US" sz="2000" b="1" dirty="0"/>
              <a:t>。由此看来，拥有自己的东西，做自己分内的事，就是正义。</a:t>
            </a:r>
          </a:p>
          <a:p>
            <a:r>
              <a:rPr lang="zh-CN" altLang="en-US" sz="2000" b="1" dirty="0"/>
              <a:t>因此，如果想要超出自己应得的，就是不正义，如木匠想要做战士，对城邦就是不正义的</a:t>
            </a:r>
            <a:r>
              <a:rPr lang="en-US" altLang="zh-CN" sz="2000" b="1" dirty="0"/>
              <a:t>434b5</a:t>
            </a:r>
            <a:r>
              <a:rPr lang="zh-CN" altLang="en-US" sz="2000" b="1" dirty="0"/>
              <a:t>。</a:t>
            </a:r>
          </a:p>
          <a:p>
            <a:endParaRPr lang="zh-CN" altLang="en-US" sz="2000" b="1" dirty="0"/>
          </a:p>
        </p:txBody>
      </p:sp>
      <p:sp>
        <p:nvSpPr>
          <p:cNvPr id="4" name="Content Placeholder 3"/>
          <p:cNvSpPr>
            <a:spLocks noGrp="1"/>
          </p:cNvSpPr>
          <p:nvPr>
            <p:ph sz="half" idx="2"/>
          </p:nvPr>
        </p:nvSpPr>
        <p:spPr/>
        <p:txBody>
          <a:bodyPr/>
          <a:lstStyle/>
          <a:p>
            <a:endParaRPr lang="zh-CN" altLang="en-US"/>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8078" y="413629"/>
            <a:ext cx="4919662"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468894" y="690664"/>
            <a:ext cx="4357991" cy="632298"/>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7" name="Straight Connector 6"/>
          <p:cNvCxnSpPr/>
          <p:nvPr/>
        </p:nvCxnSpPr>
        <p:spPr>
          <a:xfrm>
            <a:off x="10749064" y="1994170"/>
            <a:ext cx="0" cy="291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0826885" y="4036979"/>
            <a:ext cx="0" cy="127432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5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1000" fill="hold"/>
                                        <p:tgtEl>
                                          <p:spTgt spid="7"/>
                                        </p:tgtEl>
                                        <p:attrNameLst>
                                          <p:attrName>ppt_w</p:attrName>
                                        </p:attrNameLst>
                                      </p:cBhvr>
                                      <p:tavLst>
                                        <p:tav tm="0">
                                          <p:val>
                                            <p:fltVal val="0"/>
                                          </p:val>
                                        </p:tav>
                                        <p:tav tm="100000">
                                          <p:val>
                                            <p:strVal val="#ppt_w"/>
                                          </p:val>
                                        </p:tav>
                                      </p:tavLst>
                                    </p:anim>
                                    <p:anim calcmode="lin" valueType="num">
                                      <p:cBhvr>
                                        <p:cTn id="23" dur="1000" fill="hold"/>
                                        <p:tgtEl>
                                          <p:spTgt spid="7"/>
                                        </p:tgtEl>
                                        <p:attrNameLst>
                                          <p:attrName>ppt_h</p:attrName>
                                        </p:attrNameLst>
                                      </p:cBhvr>
                                      <p:tavLst>
                                        <p:tav tm="0">
                                          <p:val>
                                            <p:fltVal val="0"/>
                                          </p:val>
                                        </p:tav>
                                        <p:tav tm="100000">
                                          <p:val>
                                            <p:strVal val="#ppt_h"/>
                                          </p:val>
                                        </p:tav>
                                      </p:tavLst>
                                    </p:anim>
                                    <p:anim calcmode="lin" valueType="num">
                                      <p:cBhvr>
                                        <p:cTn id="24" dur="1000" fill="hold"/>
                                        <p:tgtEl>
                                          <p:spTgt spid="7"/>
                                        </p:tgtEl>
                                        <p:attrNameLst>
                                          <p:attrName>style.rotation</p:attrName>
                                        </p:attrNameLst>
                                      </p:cBhvr>
                                      <p:tavLst>
                                        <p:tav tm="0">
                                          <p:val>
                                            <p:fltVal val="90"/>
                                          </p:val>
                                        </p:tav>
                                        <p:tav tm="100000">
                                          <p:val>
                                            <p:fltVal val="0"/>
                                          </p:val>
                                        </p:tav>
                                      </p:tavLst>
                                    </p:anim>
                                    <p:animEffect transition="in" filter="fade">
                                      <p:cBhvr>
                                        <p:cTn id="25" dur="1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1000" fill="hold"/>
                                        <p:tgtEl>
                                          <p:spTgt spid="10"/>
                                        </p:tgtEl>
                                        <p:attrNameLst>
                                          <p:attrName>ppt_w</p:attrName>
                                        </p:attrNameLst>
                                      </p:cBhvr>
                                      <p:tavLst>
                                        <p:tav tm="0">
                                          <p:val>
                                            <p:fltVal val="0"/>
                                          </p:val>
                                        </p:tav>
                                        <p:tav tm="100000">
                                          <p:val>
                                            <p:strVal val="#ppt_w"/>
                                          </p:val>
                                        </p:tav>
                                      </p:tavLst>
                                    </p:anim>
                                    <p:anim calcmode="lin" valueType="num">
                                      <p:cBhvr>
                                        <p:cTn id="31" dur="1000" fill="hold"/>
                                        <p:tgtEl>
                                          <p:spTgt spid="10"/>
                                        </p:tgtEl>
                                        <p:attrNameLst>
                                          <p:attrName>ppt_h</p:attrName>
                                        </p:attrNameLst>
                                      </p:cBhvr>
                                      <p:tavLst>
                                        <p:tav tm="0">
                                          <p:val>
                                            <p:fltVal val="0"/>
                                          </p:val>
                                        </p:tav>
                                        <p:tav tm="100000">
                                          <p:val>
                                            <p:strVal val="#ppt_h"/>
                                          </p:val>
                                        </p:tav>
                                      </p:tavLst>
                                    </p:anim>
                                    <p:anim calcmode="lin" valueType="num">
                                      <p:cBhvr>
                                        <p:cTn id="32" dur="1000" fill="hold"/>
                                        <p:tgtEl>
                                          <p:spTgt spid="10"/>
                                        </p:tgtEl>
                                        <p:attrNameLst>
                                          <p:attrName>style.rotation</p:attrName>
                                        </p:attrNameLst>
                                      </p:cBhvr>
                                      <p:tavLst>
                                        <p:tav tm="0">
                                          <p:val>
                                            <p:fltVal val="90"/>
                                          </p:val>
                                        </p:tav>
                                        <p:tav tm="100000">
                                          <p:val>
                                            <p:fltVal val="0"/>
                                          </p:val>
                                        </p:tav>
                                      </p:tavLst>
                                    </p:anim>
                                    <p:animEffect transition="in" filter="fade">
                                      <p:cBhvr>
                                        <p:cTn id="3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000" b="1" dirty="0"/>
              <a:t>思考：</a:t>
            </a:r>
          </a:p>
          <a:p>
            <a:r>
              <a:rPr lang="zh-CN" altLang="en-US" sz="2000" b="1" dirty="0"/>
              <a:t>这样一个正义原则与我们现代人对正义的看法一致吗？</a:t>
            </a:r>
          </a:p>
          <a:p>
            <a:r>
              <a:rPr lang="zh-CN" altLang="en-US" sz="2000" b="1" dirty="0"/>
              <a:t>从这个原则可以推导出现代式的正义原则吗？</a:t>
            </a:r>
          </a:p>
          <a:p>
            <a:endParaRPr lang="zh-CN" altLang="en-US" dirty="0"/>
          </a:p>
        </p:txBody>
      </p:sp>
      <p:sp>
        <p:nvSpPr>
          <p:cNvPr id="4" name="Content Placeholder 3"/>
          <p:cNvSpPr>
            <a:spLocks noGrp="1"/>
          </p:cNvSpPr>
          <p:nvPr>
            <p:ph sz="half" idx="2"/>
          </p:nvPr>
        </p:nvSpPr>
        <p:spPr/>
        <p:txBody>
          <a:bodyPr/>
          <a:lstStyle/>
          <a:p>
            <a:endParaRPr lang="zh-CN" altLang="en-US" dirty="0"/>
          </a:p>
        </p:txBody>
      </p:sp>
      <p:pic>
        <p:nvPicPr>
          <p:cNvPr id="225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828" y="685597"/>
            <a:ext cx="444817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84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2532"/>
                                        </p:tgtEl>
                                        <p:attrNameLst>
                                          <p:attrName>style.visibility</p:attrName>
                                        </p:attrNameLst>
                                      </p:cBhvr>
                                      <p:to>
                                        <p:strVal val="visible"/>
                                      </p:to>
                                    </p:set>
                                    <p:animEffect transition="in" filter="randombar(horizontal)">
                                      <p:cBhvr>
                                        <p:cTn id="18"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normAutofit/>
          </a:bodyPr>
          <a:lstStyle/>
          <a:p>
            <a:r>
              <a:rPr lang="zh-CN" altLang="en-US" sz="2000" b="1" dirty="0"/>
              <a:t>现代人认为正义是处理分配、不和、纷争等的基本原则。</a:t>
            </a:r>
          </a:p>
          <a:p>
            <a:r>
              <a:rPr lang="zh-CN" altLang="en-US" sz="2000" b="1" dirty="0"/>
              <a:t>柏拉图的想法是，纷争的产生是由于人们想要不符合自己天性与能力的东西，以及欲求过多，德不配位。因而，只要让每人都按照自己的天性与能力工作和生活，得到应得的，那么就能避免纷争与不和的产生。</a:t>
            </a:r>
          </a:p>
          <a:p>
            <a:r>
              <a:rPr lang="zh-CN" altLang="en-US" sz="2000" b="1" dirty="0"/>
              <a:t>因而分工原则并不是在纷争出现之后解决问题的原则，而是杜绝纷争与不和产生的原则。从这一原则中只产生善而不产生恶。</a:t>
            </a:r>
          </a:p>
          <a:p>
            <a:endParaRPr lang="zh-CN" altLang="en-US" dirty="0"/>
          </a:p>
        </p:txBody>
      </p:sp>
      <p:sp>
        <p:nvSpPr>
          <p:cNvPr id="4" name="Content Placeholder 3"/>
          <p:cNvSpPr>
            <a:spLocks noGrp="1"/>
          </p:cNvSpPr>
          <p:nvPr>
            <p:ph sz="half" idx="2"/>
          </p:nvPr>
        </p:nvSpPr>
        <p:spPr/>
        <p:txBody>
          <a:bodyPr>
            <a:normAutofit/>
          </a:bodyPr>
          <a:lstStyle/>
          <a:p>
            <a:endParaRPr lang="zh-CN" altLang="en-US"/>
          </a:p>
        </p:txBody>
      </p:sp>
    </p:spTree>
    <p:extLst>
      <p:ext uri="{BB962C8B-B14F-4D97-AF65-F5344CB8AC3E}">
        <p14:creationId xmlns:p14="http://schemas.microsoft.com/office/powerpoint/2010/main" val="149625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5" name="Content Placeholder 4"/>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08" y="463179"/>
            <a:ext cx="5340170" cy="4731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486" y="445040"/>
            <a:ext cx="4802491" cy="5109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7120647" y="573932"/>
            <a:ext cx="4182893" cy="632298"/>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7120647" y="4601183"/>
            <a:ext cx="4260715" cy="749030"/>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709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randombar(horizontal)">
                                      <p:cBhvr>
                                        <p:cTn id="7" dur="500"/>
                                        <p:tgtEl>
                                          <p:spTgt spid="2355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randombar(horizontal)">
                                      <p:cBhvr>
                                        <p:cTn id="12" dur="500"/>
                                        <p:tgtEl>
                                          <p:spTgt spid="23556"/>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fltVal val="0"/>
                                          </p:val>
                                        </p:tav>
                                        <p:tav tm="100000">
                                          <p:val>
                                            <p:strVal val="#ppt_w"/>
                                          </p:val>
                                        </p:tav>
                                      </p:tavLst>
                                    </p:anim>
                                    <p:anim calcmode="lin" valueType="num">
                                      <p:cBhvr>
                                        <p:cTn id="18" dur="1000" fill="hold"/>
                                        <p:tgtEl>
                                          <p:spTgt spid="3"/>
                                        </p:tgtEl>
                                        <p:attrNameLst>
                                          <p:attrName>ppt_h</p:attrName>
                                        </p:attrNameLst>
                                      </p:cBhvr>
                                      <p:tavLst>
                                        <p:tav tm="0">
                                          <p:val>
                                            <p:fltVal val="0"/>
                                          </p:val>
                                        </p:tav>
                                        <p:tav tm="100000">
                                          <p:val>
                                            <p:strVal val="#ppt_h"/>
                                          </p:val>
                                        </p:tav>
                                      </p:tavLst>
                                    </p:anim>
                                    <p:anim calcmode="lin" valueType="num">
                                      <p:cBhvr>
                                        <p:cTn id="19" dur="1000" fill="hold"/>
                                        <p:tgtEl>
                                          <p:spTgt spid="3"/>
                                        </p:tgtEl>
                                        <p:attrNameLst>
                                          <p:attrName>style.rotation</p:attrName>
                                        </p:attrNameLst>
                                      </p:cBhvr>
                                      <p:tavLst>
                                        <p:tav tm="0">
                                          <p:val>
                                            <p:fltVal val="90"/>
                                          </p:val>
                                        </p:tav>
                                        <p:tav tm="100000">
                                          <p:val>
                                            <p:fltVal val="0"/>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2560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44428" y="1881862"/>
            <a:ext cx="5639716" cy="2767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r>
              <a:rPr lang="zh-CN" altLang="en-US" sz="2000" b="1" dirty="0"/>
              <a:t>城邦正义被找到了，那么个人正义呢？柏拉图说，把两者放在一起，相互摩擦，可以看出正义是什么</a:t>
            </a:r>
            <a:r>
              <a:rPr lang="en-US" altLang="zh-CN" sz="2000" b="1" dirty="0"/>
              <a:t>434E3</a:t>
            </a:r>
            <a:r>
              <a:rPr lang="zh-CN" altLang="en-US" sz="2000" b="1" dirty="0"/>
              <a:t>。</a:t>
            </a:r>
          </a:p>
          <a:p>
            <a:r>
              <a:rPr lang="zh-CN" altLang="en-US" sz="2000" b="1" dirty="0"/>
              <a:t>城邦正义是三个阶层各</a:t>
            </a:r>
            <a:r>
              <a:rPr lang="zh-CN" altLang="en-US" sz="2000" b="1"/>
              <a:t>尽其职并</a:t>
            </a:r>
            <a:r>
              <a:rPr lang="zh-CN" altLang="en-US" sz="2000" b="1" dirty="0"/>
              <a:t>拥有美德，那么在个人灵魂中是否也有同样的类别呢，并由于具有同样的情况</a:t>
            </a:r>
            <a:r>
              <a:rPr lang="en-US" altLang="zh-CN" sz="2000" b="1" dirty="0"/>
              <a:t>(Conditions)</a:t>
            </a:r>
            <a:r>
              <a:rPr lang="zh-CN" altLang="en-US" sz="2000" b="1" dirty="0"/>
              <a:t>而被称作正义呢？</a:t>
            </a:r>
            <a:r>
              <a:rPr lang="en-US" altLang="zh-CN" sz="2000" b="1" dirty="0"/>
              <a:t>435b3-c</a:t>
            </a:r>
            <a:r>
              <a:rPr lang="zh-CN" altLang="en-US" sz="2000" b="1" dirty="0"/>
              <a:t>。因此接下来苏格拉底就要讨论灵魂德正义秩序。</a:t>
            </a:r>
          </a:p>
          <a:p>
            <a:endParaRPr lang="zh-CN" altLang="en-US" dirty="0"/>
          </a:p>
        </p:txBody>
      </p:sp>
    </p:spTree>
    <p:extLst>
      <p:ext uri="{BB962C8B-B14F-4D97-AF65-F5344CB8AC3E}">
        <p14:creationId xmlns:p14="http://schemas.microsoft.com/office/powerpoint/2010/main" val="97784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randombar(horizontal)">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zh-CN" altLang="en-US" dirty="0"/>
          </a:p>
        </p:txBody>
      </p:sp>
      <p:pic>
        <p:nvPicPr>
          <p:cNvPr id="102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18488" y="708457"/>
            <a:ext cx="5221907" cy="3429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p:cNvSpPr>
            <a:spLocks noGrp="1"/>
          </p:cNvSpPr>
          <p:nvPr>
            <p:ph sz="half" idx="2"/>
          </p:nvPr>
        </p:nvSpPr>
        <p:spPr>
          <a:xfrm>
            <a:off x="6766867" y="2146692"/>
            <a:ext cx="5040000" cy="3921600"/>
          </a:xfrm>
        </p:spPr>
        <p:txBody>
          <a:bodyPr/>
          <a:lstStyle/>
          <a:p>
            <a:endParaRPr lang="zh-CN" alt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040" y="0"/>
            <a:ext cx="5135996" cy="6242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40509" y="4396509"/>
            <a:ext cx="5523346" cy="1631216"/>
          </a:xfrm>
          <a:prstGeom prst="rect">
            <a:avLst/>
          </a:prstGeom>
          <a:noFill/>
        </p:spPr>
        <p:txBody>
          <a:bodyPr wrap="square" rtlCol="0">
            <a:spAutoFit/>
          </a:bodyPr>
          <a:lstStyle/>
          <a:p>
            <a:r>
              <a:rPr lang="zh-CN" altLang="en-US" sz="2000" b="1" dirty="0"/>
              <a:t>苏格拉底的方法是，“同一的东西不会在同一个部位，就同一的对象，同时去进行或是去承受正好相反的事件。”</a:t>
            </a:r>
            <a:r>
              <a:rPr lang="en-US" altLang="zh-CN" sz="2000" b="1" dirty="0"/>
              <a:t>436c</a:t>
            </a:r>
          </a:p>
          <a:p>
            <a:r>
              <a:rPr lang="zh-CN" altLang="en-US" sz="2000" b="1" dirty="0"/>
              <a:t>因此可以通过对行为的分析区分出灵魂的三个部分、欲望、意气以及理性。</a:t>
            </a:r>
          </a:p>
        </p:txBody>
      </p:sp>
      <p:cxnSp>
        <p:nvCxnSpPr>
          <p:cNvPr id="5" name="Straight Connector 4"/>
          <p:cNvCxnSpPr/>
          <p:nvPr/>
        </p:nvCxnSpPr>
        <p:spPr>
          <a:xfrm flipV="1">
            <a:off x="1117600" y="3592945"/>
            <a:ext cx="4368800" cy="18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7398038" y="267855"/>
            <a:ext cx="3906982" cy="92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011382" y="3888509"/>
            <a:ext cx="4368800" cy="18473"/>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905164" y="831273"/>
            <a:ext cx="4655127" cy="932872"/>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028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fltVal val="0"/>
                                          </p:val>
                                        </p:tav>
                                        <p:tav tm="100000">
                                          <p:val>
                                            <p:strVal val="#ppt_w"/>
                                          </p:val>
                                        </p:tav>
                                      </p:tavLst>
                                    </p:anim>
                                    <p:anim calcmode="lin" valueType="num">
                                      <p:cBhvr>
                                        <p:cTn id="13" dur="1000" fill="hold"/>
                                        <p:tgtEl>
                                          <p:spTgt spid="12"/>
                                        </p:tgtEl>
                                        <p:attrNameLst>
                                          <p:attrName>ppt_h</p:attrName>
                                        </p:attrNameLst>
                                      </p:cBhvr>
                                      <p:tavLst>
                                        <p:tav tm="0">
                                          <p:val>
                                            <p:fltVal val="0"/>
                                          </p:val>
                                        </p:tav>
                                        <p:tav tm="100000">
                                          <p:val>
                                            <p:strVal val="#ppt_h"/>
                                          </p:val>
                                        </p:tav>
                                      </p:tavLst>
                                    </p:anim>
                                    <p:anim calcmode="lin" valueType="num">
                                      <p:cBhvr>
                                        <p:cTn id="14" dur="1000" fill="hold"/>
                                        <p:tgtEl>
                                          <p:spTgt spid="12"/>
                                        </p:tgtEl>
                                        <p:attrNameLst>
                                          <p:attrName>style.rotation</p:attrName>
                                        </p:attrNameLst>
                                      </p:cBhvr>
                                      <p:tavLst>
                                        <p:tav tm="0">
                                          <p:val>
                                            <p:fltVal val="90"/>
                                          </p:val>
                                        </p:tav>
                                        <p:tav tm="100000">
                                          <p:val>
                                            <p:fltVal val="0"/>
                                          </p:val>
                                        </p:tav>
                                      </p:tavLst>
                                    </p:anim>
                                    <p:animEffect transition="in" filter="fade">
                                      <p:cBhvr>
                                        <p:cTn id="15" dur="10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fltVal val="0"/>
                                          </p:val>
                                        </p:tav>
                                        <p:tav tm="100000">
                                          <p:val>
                                            <p:strVal val="#ppt_w"/>
                                          </p:val>
                                        </p:tav>
                                      </p:tavLst>
                                    </p:anim>
                                    <p:anim calcmode="lin" valueType="num">
                                      <p:cBhvr>
                                        <p:cTn id="21" dur="1000" fill="hold"/>
                                        <p:tgtEl>
                                          <p:spTgt spid="5"/>
                                        </p:tgtEl>
                                        <p:attrNameLst>
                                          <p:attrName>ppt_h</p:attrName>
                                        </p:attrNameLst>
                                      </p:cBhvr>
                                      <p:tavLst>
                                        <p:tav tm="0">
                                          <p:val>
                                            <p:fltVal val="0"/>
                                          </p:val>
                                        </p:tav>
                                        <p:tav tm="100000">
                                          <p:val>
                                            <p:strVal val="#ppt_h"/>
                                          </p:val>
                                        </p:tav>
                                      </p:tavLst>
                                    </p:anim>
                                    <p:anim calcmode="lin" valueType="num">
                                      <p:cBhvr>
                                        <p:cTn id="22" dur="1000" fill="hold"/>
                                        <p:tgtEl>
                                          <p:spTgt spid="5"/>
                                        </p:tgtEl>
                                        <p:attrNameLst>
                                          <p:attrName>style.rotation</p:attrName>
                                        </p:attrNameLst>
                                      </p:cBhvr>
                                      <p:tavLst>
                                        <p:tav tm="0">
                                          <p:val>
                                            <p:fltVal val="90"/>
                                          </p:val>
                                        </p:tav>
                                        <p:tav tm="100000">
                                          <p:val>
                                            <p:fltVal val="0"/>
                                          </p:val>
                                        </p:tav>
                                      </p:tavLst>
                                    </p:anim>
                                    <p:animEffect transition="in" filter="fade">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1000" fill="hold"/>
                                        <p:tgtEl>
                                          <p:spTgt spid="11"/>
                                        </p:tgtEl>
                                        <p:attrNameLst>
                                          <p:attrName>ppt_w</p:attrName>
                                        </p:attrNameLst>
                                      </p:cBhvr>
                                      <p:tavLst>
                                        <p:tav tm="0">
                                          <p:val>
                                            <p:fltVal val="0"/>
                                          </p:val>
                                        </p:tav>
                                        <p:tav tm="100000">
                                          <p:val>
                                            <p:strVal val="#ppt_w"/>
                                          </p:val>
                                        </p:tav>
                                      </p:tavLst>
                                    </p:anim>
                                    <p:anim calcmode="lin" valueType="num">
                                      <p:cBhvr>
                                        <p:cTn id="29" dur="1000" fill="hold"/>
                                        <p:tgtEl>
                                          <p:spTgt spid="11"/>
                                        </p:tgtEl>
                                        <p:attrNameLst>
                                          <p:attrName>ppt_h</p:attrName>
                                        </p:attrNameLst>
                                      </p:cBhvr>
                                      <p:tavLst>
                                        <p:tav tm="0">
                                          <p:val>
                                            <p:fltVal val="0"/>
                                          </p:val>
                                        </p:tav>
                                        <p:tav tm="100000">
                                          <p:val>
                                            <p:strVal val="#ppt_h"/>
                                          </p:val>
                                        </p:tav>
                                      </p:tavLst>
                                    </p:anim>
                                    <p:anim calcmode="lin" valueType="num">
                                      <p:cBhvr>
                                        <p:cTn id="30" dur="1000" fill="hold"/>
                                        <p:tgtEl>
                                          <p:spTgt spid="11"/>
                                        </p:tgtEl>
                                        <p:attrNameLst>
                                          <p:attrName>style.rotation</p:attrName>
                                        </p:attrNameLst>
                                      </p:cBhvr>
                                      <p:tavLst>
                                        <p:tav tm="0">
                                          <p:val>
                                            <p:fltVal val="90"/>
                                          </p:val>
                                        </p:tav>
                                        <p:tav tm="100000">
                                          <p:val>
                                            <p:fltVal val="0"/>
                                          </p:val>
                                        </p:tav>
                                      </p:tavLst>
                                    </p:anim>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027"/>
                                        </p:tgtEl>
                                        <p:attrNameLst>
                                          <p:attrName>style.visibility</p:attrName>
                                        </p:attrNameLst>
                                      </p:cBhvr>
                                      <p:to>
                                        <p:strVal val="visible"/>
                                      </p:to>
                                    </p:set>
                                    <p:animEffect transition="in" filter="randombar(horizontal)">
                                      <p:cBhvr>
                                        <p:cTn id="36" dur="500"/>
                                        <p:tgtEl>
                                          <p:spTgt spid="1027"/>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1000" fill="hold"/>
                                        <p:tgtEl>
                                          <p:spTgt spid="9"/>
                                        </p:tgtEl>
                                        <p:attrNameLst>
                                          <p:attrName>ppt_w</p:attrName>
                                        </p:attrNameLst>
                                      </p:cBhvr>
                                      <p:tavLst>
                                        <p:tav tm="0">
                                          <p:val>
                                            <p:fltVal val="0"/>
                                          </p:val>
                                        </p:tav>
                                        <p:tav tm="100000">
                                          <p:val>
                                            <p:strVal val="#ppt_w"/>
                                          </p:val>
                                        </p:tav>
                                      </p:tavLst>
                                    </p:anim>
                                    <p:anim calcmode="lin" valueType="num">
                                      <p:cBhvr>
                                        <p:cTn id="42" dur="1000" fill="hold"/>
                                        <p:tgtEl>
                                          <p:spTgt spid="9"/>
                                        </p:tgtEl>
                                        <p:attrNameLst>
                                          <p:attrName>ppt_h</p:attrName>
                                        </p:attrNameLst>
                                      </p:cBhvr>
                                      <p:tavLst>
                                        <p:tav tm="0">
                                          <p:val>
                                            <p:fltVal val="0"/>
                                          </p:val>
                                        </p:tav>
                                        <p:tav tm="100000">
                                          <p:val>
                                            <p:strVal val="#ppt_h"/>
                                          </p:val>
                                        </p:tav>
                                      </p:tavLst>
                                    </p:anim>
                                    <p:anim calcmode="lin" valueType="num">
                                      <p:cBhvr>
                                        <p:cTn id="43" dur="1000" fill="hold"/>
                                        <p:tgtEl>
                                          <p:spTgt spid="9"/>
                                        </p:tgtEl>
                                        <p:attrNameLst>
                                          <p:attrName>style.rotation</p:attrName>
                                        </p:attrNameLst>
                                      </p:cBhvr>
                                      <p:tavLst>
                                        <p:tav tm="0">
                                          <p:val>
                                            <p:fltVal val="90"/>
                                          </p:val>
                                        </p:tav>
                                        <p:tav tm="100000">
                                          <p:val>
                                            <p:fltVal val="0"/>
                                          </p:val>
                                        </p:tav>
                                      </p:tavLst>
                                    </p:anim>
                                    <p:animEffect transition="in" filter="fade">
                                      <p:cBhvr>
                                        <p:cTn id="44" dur="10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2">
                                            <p:txEl>
                                              <p:pRg st="0" end="0"/>
                                            </p:txEl>
                                          </p:spTgt>
                                        </p:tgtEl>
                                        <p:attrNameLst>
                                          <p:attrName>style.visibility</p:attrName>
                                        </p:attrNameLst>
                                      </p:cBhvr>
                                      <p:to>
                                        <p:strVal val="visible"/>
                                      </p:to>
                                    </p:set>
                                    <p:animEffect transition="in" filter="randombar(horizontal)">
                                      <p:cBhvr>
                                        <p:cTn id="49" dur="500"/>
                                        <p:tgtEl>
                                          <p:spTgt spid="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2">
                                            <p:txEl>
                                              <p:pRg st="1" end="1"/>
                                            </p:txEl>
                                          </p:spTgt>
                                        </p:tgtEl>
                                        <p:attrNameLst>
                                          <p:attrName>style.visibility</p:attrName>
                                        </p:attrNameLst>
                                      </p:cBhvr>
                                      <p:to>
                                        <p:strVal val="visible"/>
                                      </p:to>
                                    </p:set>
                                    <p:animEffect transition="in" filter="randombar(horizontal)">
                                      <p:cBhvr>
                                        <p:cTn id="54"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218" y="71004"/>
            <a:ext cx="5200073" cy="6242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688" y="71004"/>
            <a:ext cx="5379066" cy="6242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89527" y="3916218"/>
            <a:ext cx="4488873" cy="738909"/>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489525" y="5255491"/>
            <a:ext cx="4488873" cy="665018"/>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Rectangle 6"/>
          <p:cNvSpPr/>
          <p:nvPr/>
        </p:nvSpPr>
        <p:spPr>
          <a:xfrm>
            <a:off x="7093527" y="4017819"/>
            <a:ext cx="4802909" cy="711200"/>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1592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051"/>
                                        </p:tgtEl>
                                        <p:attrNameLst>
                                          <p:attrName>style.visibility</p:attrName>
                                        </p:attrNameLst>
                                      </p:cBhvr>
                                      <p:to>
                                        <p:strVal val="visible"/>
                                      </p:to>
                                    </p:set>
                                    <p:animEffect transition="in" filter="randombar(horizontal)">
                                      <p:cBhvr>
                                        <p:cTn id="28" dur="500"/>
                                        <p:tgtEl>
                                          <p:spTgt spid="2051"/>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style.rotation</p:attrName>
                                        </p:attrNameLst>
                                      </p:cBhvr>
                                      <p:tavLst>
                                        <p:tav tm="0">
                                          <p:val>
                                            <p:fltVal val="90"/>
                                          </p:val>
                                        </p:tav>
                                        <p:tav tm="100000">
                                          <p:val>
                                            <p:fltVal val="0"/>
                                          </p:val>
                                        </p:tav>
                                      </p:tavLst>
                                    </p:anim>
                                    <p:animEffect transition="in" filter="fade">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25" y="101312"/>
            <a:ext cx="5018028" cy="60870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960" y="101312"/>
            <a:ext cx="5192857" cy="6029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964218" y="3038764"/>
            <a:ext cx="4590473" cy="683491"/>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930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randombar(horizont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randombar(horizontal)">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73" y="371620"/>
            <a:ext cx="4572000" cy="580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2484"/>
            <a:ext cx="5308274" cy="5932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757382" y="2817091"/>
            <a:ext cx="3925454" cy="803564"/>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692727" y="5024582"/>
            <a:ext cx="4064000" cy="378691"/>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Rectangle 6"/>
          <p:cNvSpPr/>
          <p:nvPr/>
        </p:nvSpPr>
        <p:spPr>
          <a:xfrm>
            <a:off x="6530109" y="371620"/>
            <a:ext cx="4673600" cy="68132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Rectangle 7"/>
          <p:cNvSpPr/>
          <p:nvPr/>
        </p:nvSpPr>
        <p:spPr>
          <a:xfrm>
            <a:off x="6530109" y="1361872"/>
            <a:ext cx="4673600" cy="72957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Rectangle 8"/>
          <p:cNvSpPr/>
          <p:nvPr/>
        </p:nvSpPr>
        <p:spPr>
          <a:xfrm>
            <a:off x="6459166" y="2451370"/>
            <a:ext cx="4744543" cy="820612"/>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1" name="Straight Connector 10"/>
          <p:cNvCxnSpPr/>
          <p:nvPr/>
        </p:nvCxnSpPr>
        <p:spPr>
          <a:xfrm flipV="1">
            <a:off x="7130374" y="4192621"/>
            <a:ext cx="2684835"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702357" y="4406630"/>
            <a:ext cx="4501352" cy="583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596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099"/>
                                        </p:tgtEl>
                                        <p:attrNameLst>
                                          <p:attrName>style.visibility</p:attrName>
                                        </p:attrNameLst>
                                      </p:cBhvr>
                                      <p:to>
                                        <p:strVal val="visible"/>
                                      </p:to>
                                    </p:set>
                                    <p:animEffect transition="in" filter="randombar(horizontal)">
                                      <p:cBhvr>
                                        <p:cTn id="28" dur="500"/>
                                        <p:tgtEl>
                                          <p:spTgt spid="409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style.rotation</p:attrName>
                                        </p:attrNameLst>
                                      </p:cBhvr>
                                      <p:tavLst>
                                        <p:tav tm="0">
                                          <p:val>
                                            <p:fltVal val="90"/>
                                          </p:val>
                                        </p:tav>
                                        <p:tav tm="100000">
                                          <p:val>
                                            <p:fltVal val="0"/>
                                          </p:val>
                                        </p:tav>
                                      </p:tavLst>
                                    </p:anim>
                                    <p:animEffect transition="in" filter="fade">
                                      <p:cBhvr>
                                        <p:cTn id="36" dur="10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1000" fill="hold"/>
                                        <p:tgtEl>
                                          <p:spTgt spid="8"/>
                                        </p:tgtEl>
                                        <p:attrNameLst>
                                          <p:attrName>ppt_w</p:attrName>
                                        </p:attrNameLst>
                                      </p:cBhvr>
                                      <p:tavLst>
                                        <p:tav tm="0">
                                          <p:val>
                                            <p:fltVal val="0"/>
                                          </p:val>
                                        </p:tav>
                                        <p:tav tm="100000">
                                          <p:val>
                                            <p:strVal val="#ppt_w"/>
                                          </p:val>
                                        </p:tav>
                                      </p:tavLst>
                                    </p:anim>
                                    <p:anim calcmode="lin" valueType="num">
                                      <p:cBhvr>
                                        <p:cTn id="42" dur="1000" fill="hold"/>
                                        <p:tgtEl>
                                          <p:spTgt spid="8"/>
                                        </p:tgtEl>
                                        <p:attrNameLst>
                                          <p:attrName>ppt_h</p:attrName>
                                        </p:attrNameLst>
                                      </p:cBhvr>
                                      <p:tavLst>
                                        <p:tav tm="0">
                                          <p:val>
                                            <p:fltVal val="0"/>
                                          </p:val>
                                        </p:tav>
                                        <p:tav tm="100000">
                                          <p:val>
                                            <p:strVal val="#ppt_h"/>
                                          </p:val>
                                        </p:tav>
                                      </p:tavLst>
                                    </p:anim>
                                    <p:anim calcmode="lin" valueType="num">
                                      <p:cBhvr>
                                        <p:cTn id="43" dur="1000" fill="hold"/>
                                        <p:tgtEl>
                                          <p:spTgt spid="8"/>
                                        </p:tgtEl>
                                        <p:attrNameLst>
                                          <p:attrName>style.rotation</p:attrName>
                                        </p:attrNameLst>
                                      </p:cBhvr>
                                      <p:tavLst>
                                        <p:tav tm="0">
                                          <p:val>
                                            <p:fltVal val="90"/>
                                          </p:val>
                                        </p:tav>
                                        <p:tav tm="100000">
                                          <p:val>
                                            <p:fltVal val="0"/>
                                          </p:val>
                                        </p:tav>
                                      </p:tavLst>
                                    </p:anim>
                                    <p:animEffect transition="in" filter="fade">
                                      <p:cBhvr>
                                        <p:cTn id="44" dur="10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1000" fill="hold"/>
                                        <p:tgtEl>
                                          <p:spTgt spid="9"/>
                                        </p:tgtEl>
                                        <p:attrNameLst>
                                          <p:attrName>ppt_w</p:attrName>
                                        </p:attrNameLst>
                                      </p:cBhvr>
                                      <p:tavLst>
                                        <p:tav tm="0">
                                          <p:val>
                                            <p:fltVal val="0"/>
                                          </p:val>
                                        </p:tav>
                                        <p:tav tm="100000">
                                          <p:val>
                                            <p:strVal val="#ppt_w"/>
                                          </p:val>
                                        </p:tav>
                                      </p:tavLst>
                                    </p:anim>
                                    <p:anim calcmode="lin" valueType="num">
                                      <p:cBhvr>
                                        <p:cTn id="50" dur="1000" fill="hold"/>
                                        <p:tgtEl>
                                          <p:spTgt spid="9"/>
                                        </p:tgtEl>
                                        <p:attrNameLst>
                                          <p:attrName>ppt_h</p:attrName>
                                        </p:attrNameLst>
                                      </p:cBhvr>
                                      <p:tavLst>
                                        <p:tav tm="0">
                                          <p:val>
                                            <p:fltVal val="0"/>
                                          </p:val>
                                        </p:tav>
                                        <p:tav tm="100000">
                                          <p:val>
                                            <p:strVal val="#ppt_h"/>
                                          </p:val>
                                        </p:tav>
                                      </p:tavLst>
                                    </p:anim>
                                    <p:anim calcmode="lin" valueType="num">
                                      <p:cBhvr>
                                        <p:cTn id="51" dur="1000" fill="hold"/>
                                        <p:tgtEl>
                                          <p:spTgt spid="9"/>
                                        </p:tgtEl>
                                        <p:attrNameLst>
                                          <p:attrName>style.rotation</p:attrName>
                                        </p:attrNameLst>
                                      </p:cBhvr>
                                      <p:tavLst>
                                        <p:tav tm="0">
                                          <p:val>
                                            <p:fltVal val="90"/>
                                          </p:val>
                                        </p:tav>
                                        <p:tav tm="100000">
                                          <p:val>
                                            <p:fltVal val="0"/>
                                          </p:val>
                                        </p:tav>
                                      </p:tavLst>
                                    </p:anim>
                                    <p:animEffect transition="in" filter="fade">
                                      <p:cBhvr>
                                        <p:cTn id="52" dur="10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1000" fill="hold"/>
                                        <p:tgtEl>
                                          <p:spTgt spid="11"/>
                                        </p:tgtEl>
                                        <p:attrNameLst>
                                          <p:attrName>ppt_w</p:attrName>
                                        </p:attrNameLst>
                                      </p:cBhvr>
                                      <p:tavLst>
                                        <p:tav tm="0">
                                          <p:val>
                                            <p:fltVal val="0"/>
                                          </p:val>
                                        </p:tav>
                                        <p:tav tm="100000">
                                          <p:val>
                                            <p:strVal val="#ppt_w"/>
                                          </p:val>
                                        </p:tav>
                                      </p:tavLst>
                                    </p:anim>
                                    <p:anim calcmode="lin" valueType="num">
                                      <p:cBhvr>
                                        <p:cTn id="58" dur="1000" fill="hold"/>
                                        <p:tgtEl>
                                          <p:spTgt spid="11"/>
                                        </p:tgtEl>
                                        <p:attrNameLst>
                                          <p:attrName>ppt_h</p:attrName>
                                        </p:attrNameLst>
                                      </p:cBhvr>
                                      <p:tavLst>
                                        <p:tav tm="0">
                                          <p:val>
                                            <p:fltVal val="0"/>
                                          </p:val>
                                        </p:tav>
                                        <p:tav tm="100000">
                                          <p:val>
                                            <p:strVal val="#ppt_h"/>
                                          </p:val>
                                        </p:tav>
                                      </p:tavLst>
                                    </p:anim>
                                    <p:anim calcmode="lin" valueType="num">
                                      <p:cBhvr>
                                        <p:cTn id="59" dur="1000" fill="hold"/>
                                        <p:tgtEl>
                                          <p:spTgt spid="11"/>
                                        </p:tgtEl>
                                        <p:attrNameLst>
                                          <p:attrName>style.rotation</p:attrName>
                                        </p:attrNameLst>
                                      </p:cBhvr>
                                      <p:tavLst>
                                        <p:tav tm="0">
                                          <p:val>
                                            <p:fltVal val="90"/>
                                          </p:val>
                                        </p:tav>
                                        <p:tav tm="100000">
                                          <p:val>
                                            <p:fltVal val="0"/>
                                          </p:val>
                                        </p:tav>
                                      </p:tavLst>
                                    </p:anim>
                                    <p:animEffect transition="in" filter="fade">
                                      <p:cBhvr>
                                        <p:cTn id="60" dur="10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p:cTn id="65" dur="1000" fill="hold"/>
                                        <p:tgtEl>
                                          <p:spTgt spid="13"/>
                                        </p:tgtEl>
                                        <p:attrNameLst>
                                          <p:attrName>ppt_w</p:attrName>
                                        </p:attrNameLst>
                                      </p:cBhvr>
                                      <p:tavLst>
                                        <p:tav tm="0">
                                          <p:val>
                                            <p:fltVal val="0"/>
                                          </p:val>
                                        </p:tav>
                                        <p:tav tm="100000">
                                          <p:val>
                                            <p:strVal val="#ppt_w"/>
                                          </p:val>
                                        </p:tav>
                                      </p:tavLst>
                                    </p:anim>
                                    <p:anim calcmode="lin" valueType="num">
                                      <p:cBhvr>
                                        <p:cTn id="66" dur="1000" fill="hold"/>
                                        <p:tgtEl>
                                          <p:spTgt spid="13"/>
                                        </p:tgtEl>
                                        <p:attrNameLst>
                                          <p:attrName>ppt_h</p:attrName>
                                        </p:attrNameLst>
                                      </p:cBhvr>
                                      <p:tavLst>
                                        <p:tav tm="0">
                                          <p:val>
                                            <p:fltVal val="0"/>
                                          </p:val>
                                        </p:tav>
                                        <p:tav tm="100000">
                                          <p:val>
                                            <p:strVal val="#ppt_h"/>
                                          </p:val>
                                        </p:tav>
                                      </p:tavLst>
                                    </p:anim>
                                    <p:anim calcmode="lin" valueType="num">
                                      <p:cBhvr>
                                        <p:cTn id="67" dur="1000" fill="hold"/>
                                        <p:tgtEl>
                                          <p:spTgt spid="13"/>
                                        </p:tgtEl>
                                        <p:attrNameLst>
                                          <p:attrName>style.rotation</p:attrName>
                                        </p:attrNameLst>
                                      </p:cBhvr>
                                      <p:tavLst>
                                        <p:tav tm="0">
                                          <p:val>
                                            <p:fltVal val="90"/>
                                          </p:val>
                                        </p:tav>
                                        <p:tav tm="100000">
                                          <p:val>
                                            <p:fltVal val="0"/>
                                          </p:val>
                                        </p:tav>
                                      </p:tavLst>
                                    </p:anim>
                                    <p:animEffect transition="in" filter="fade">
                                      <p:cBhvr>
                                        <p:cTn id="6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normAutofit/>
          </a:bodyPr>
          <a:lstStyle/>
          <a:p>
            <a:r>
              <a:rPr lang="zh-CN" altLang="en-US" sz="2000" b="1" dirty="0"/>
              <a:t>苏格拉底区分了欲望和理性，是灵魂中的两个部分，第三个部分是激情或意气（</a:t>
            </a:r>
            <a:r>
              <a:rPr lang="en-US" altLang="zh-CN" sz="2000" b="1" dirty="0" err="1"/>
              <a:t>Thumos</a:t>
            </a:r>
            <a:r>
              <a:rPr lang="zh-CN" altLang="en-US" sz="2000" b="1" dirty="0"/>
              <a:t>）。这个词在英文和中文都没有完全对应的翻译。激情是就英语</a:t>
            </a:r>
            <a:r>
              <a:rPr lang="en-US" altLang="zh-CN" sz="2000" b="1" dirty="0"/>
              <a:t>spirit</a:t>
            </a:r>
            <a:r>
              <a:rPr lang="zh-CN" altLang="en-US" sz="2000" b="1" dirty="0"/>
              <a:t>的翻译，而意气或血气是就这个部分通常在人身上激起非理性的愤怒</a:t>
            </a:r>
            <a:r>
              <a:rPr lang="en-US" altLang="zh-CN" sz="2000" b="1" dirty="0"/>
              <a:t>——</a:t>
            </a:r>
            <a:r>
              <a:rPr lang="zh-CN" altLang="en-US" sz="2000" b="1" dirty="0"/>
              <a:t>并因此而行动</a:t>
            </a:r>
            <a:r>
              <a:rPr lang="en-US" altLang="zh-CN" sz="2000" b="1" dirty="0"/>
              <a:t>——</a:t>
            </a:r>
            <a:r>
              <a:rPr lang="zh-CN" altLang="en-US" sz="2000" b="1" dirty="0"/>
              <a:t>而言。</a:t>
            </a:r>
            <a:endParaRPr lang="en-US" altLang="zh-CN" sz="2000" b="1" dirty="0"/>
          </a:p>
        </p:txBody>
      </p:sp>
      <p:sp>
        <p:nvSpPr>
          <p:cNvPr id="4" name="Content Placeholder 3"/>
          <p:cNvSpPr>
            <a:spLocks noGrp="1"/>
          </p:cNvSpPr>
          <p:nvPr>
            <p:ph sz="half" idx="2"/>
          </p:nvPr>
        </p:nvSpPr>
        <p:spPr/>
        <p:txBody>
          <a:bodyPr>
            <a:normAutofit/>
          </a:bodyPr>
          <a:lstStyle/>
          <a:p>
            <a:r>
              <a:rPr lang="zh-CN" altLang="en-US" sz="2000" b="1" dirty="0"/>
              <a:t>柏拉图在另一篇对话</a:t>
            </a:r>
            <a:r>
              <a:rPr lang="en-US" altLang="zh-CN" sz="2000" b="1" dirty="0"/>
              <a:t>《</a:t>
            </a:r>
            <a:r>
              <a:rPr lang="zh-CN" altLang="en-US" sz="2000" b="1" dirty="0"/>
              <a:t>斐德若</a:t>
            </a:r>
            <a:r>
              <a:rPr lang="en-US" altLang="zh-CN" sz="2000" b="1" dirty="0"/>
              <a:t>》</a:t>
            </a:r>
            <a:r>
              <a:rPr lang="zh-CN" altLang="en-US" sz="2000" b="1" dirty="0"/>
              <a:t>篇中也有对灵魂的分析，但在那篇对话中，灵魂被比喻为一辆马车、御车人和两匹马的组合。神的灵魂的两匹马都是好的，但人的两匹马一匹是劣马，不断地拖拽人向下堕落。</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698" y="3845401"/>
            <a:ext cx="293370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301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randombar(horizontal)">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897" y="68095"/>
            <a:ext cx="4864410" cy="6526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181119"/>
            <a:ext cx="5188085" cy="63098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31718" y="2587556"/>
            <a:ext cx="4387754" cy="106031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631718" y="4367719"/>
            <a:ext cx="4280750" cy="1001949"/>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Rectangle 6"/>
          <p:cNvSpPr/>
          <p:nvPr/>
        </p:nvSpPr>
        <p:spPr>
          <a:xfrm>
            <a:off x="631718" y="5661498"/>
            <a:ext cx="4280750" cy="671208"/>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9" name="Straight Connector 8"/>
          <p:cNvCxnSpPr/>
          <p:nvPr/>
        </p:nvCxnSpPr>
        <p:spPr>
          <a:xfrm>
            <a:off x="6536987" y="2694562"/>
            <a:ext cx="0" cy="85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536987" y="4027251"/>
            <a:ext cx="0" cy="153697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52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randombar(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fltVal val="0"/>
                                          </p:val>
                                        </p:tav>
                                        <p:tav tm="100000">
                                          <p:val>
                                            <p:strVal val="#ppt_w"/>
                                          </p:val>
                                        </p:tav>
                                      </p:tavLst>
                                    </p:anim>
                                    <p:anim calcmode="lin" valueType="num">
                                      <p:cBhvr>
                                        <p:cTn id="29" dur="1000" fill="hold"/>
                                        <p:tgtEl>
                                          <p:spTgt spid="7"/>
                                        </p:tgtEl>
                                        <p:attrNameLst>
                                          <p:attrName>ppt_h</p:attrName>
                                        </p:attrNameLst>
                                      </p:cBhvr>
                                      <p:tavLst>
                                        <p:tav tm="0">
                                          <p:val>
                                            <p:fltVal val="0"/>
                                          </p:val>
                                        </p:tav>
                                        <p:tav tm="100000">
                                          <p:val>
                                            <p:strVal val="#ppt_h"/>
                                          </p:val>
                                        </p:tav>
                                      </p:tavLst>
                                    </p:anim>
                                    <p:anim calcmode="lin" valueType="num">
                                      <p:cBhvr>
                                        <p:cTn id="30" dur="1000" fill="hold"/>
                                        <p:tgtEl>
                                          <p:spTgt spid="7"/>
                                        </p:tgtEl>
                                        <p:attrNameLst>
                                          <p:attrName>style.rotation</p:attrName>
                                        </p:attrNameLst>
                                      </p:cBhvr>
                                      <p:tavLst>
                                        <p:tav tm="0">
                                          <p:val>
                                            <p:fltVal val="90"/>
                                          </p:val>
                                        </p:tav>
                                        <p:tav tm="100000">
                                          <p:val>
                                            <p:fltVal val="0"/>
                                          </p:val>
                                        </p:tav>
                                      </p:tavLst>
                                    </p:anim>
                                    <p:animEffect transition="in" filter="fade">
                                      <p:cBhvr>
                                        <p:cTn id="31" dur="1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1000" fill="hold"/>
                                        <p:tgtEl>
                                          <p:spTgt spid="9"/>
                                        </p:tgtEl>
                                        <p:attrNameLst>
                                          <p:attrName>ppt_w</p:attrName>
                                        </p:attrNameLst>
                                      </p:cBhvr>
                                      <p:tavLst>
                                        <p:tav tm="0">
                                          <p:val>
                                            <p:fltVal val="0"/>
                                          </p:val>
                                        </p:tav>
                                        <p:tav tm="100000">
                                          <p:val>
                                            <p:strVal val="#ppt_w"/>
                                          </p:val>
                                        </p:tav>
                                      </p:tavLst>
                                    </p:anim>
                                    <p:anim calcmode="lin" valueType="num">
                                      <p:cBhvr>
                                        <p:cTn id="37" dur="1000" fill="hold"/>
                                        <p:tgtEl>
                                          <p:spTgt spid="9"/>
                                        </p:tgtEl>
                                        <p:attrNameLst>
                                          <p:attrName>ppt_h</p:attrName>
                                        </p:attrNameLst>
                                      </p:cBhvr>
                                      <p:tavLst>
                                        <p:tav tm="0">
                                          <p:val>
                                            <p:fltVal val="0"/>
                                          </p:val>
                                        </p:tav>
                                        <p:tav tm="100000">
                                          <p:val>
                                            <p:strVal val="#ppt_h"/>
                                          </p:val>
                                        </p:tav>
                                      </p:tavLst>
                                    </p:anim>
                                    <p:anim calcmode="lin" valueType="num">
                                      <p:cBhvr>
                                        <p:cTn id="38" dur="1000" fill="hold"/>
                                        <p:tgtEl>
                                          <p:spTgt spid="9"/>
                                        </p:tgtEl>
                                        <p:attrNameLst>
                                          <p:attrName>style.rotation</p:attrName>
                                        </p:attrNameLst>
                                      </p:cBhvr>
                                      <p:tavLst>
                                        <p:tav tm="0">
                                          <p:val>
                                            <p:fltVal val="90"/>
                                          </p:val>
                                        </p:tav>
                                        <p:tav tm="100000">
                                          <p:val>
                                            <p:fltVal val="0"/>
                                          </p:val>
                                        </p:tav>
                                      </p:tavLst>
                                    </p:anim>
                                    <p:animEffect transition="in" filter="fade">
                                      <p:cBhvr>
                                        <p:cTn id="39" dur="1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1000" fill="hold"/>
                                        <p:tgtEl>
                                          <p:spTgt spid="11"/>
                                        </p:tgtEl>
                                        <p:attrNameLst>
                                          <p:attrName>ppt_w</p:attrName>
                                        </p:attrNameLst>
                                      </p:cBhvr>
                                      <p:tavLst>
                                        <p:tav tm="0">
                                          <p:val>
                                            <p:fltVal val="0"/>
                                          </p:val>
                                        </p:tav>
                                        <p:tav tm="100000">
                                          <p:val>
                                            <p:strVal val="#ppt_w"/>
                                          </p:val>
                                        </p:tav>
                                      </p:tavLst>
                                    </p:anim>
                                    <p:anim calcmode="lin" valueType="num">
                                      <p:cBhvr>
                                        <p:cTn id="45" dur="1000" fill="hold"/>
                                        <p:tgtEl>
                                          <p:spTgt spid="11"/>
                                        </p:tgtEl>
                                        <p:attrNameLst>
                                          <p:attrName>ppt_h</p:attrName>
                                        </p:attrNameLst>
                                      </p:cBhvr>
                                      <p:tavLst>
                                        <p:tav tm="0">
                                          <p:val>
                                            <p:fltVal val="0"/>
                                          </p:val>
                                        </p:tav>
                                        <p:tav tm="100000">
                                          <p:val>
                                            <p:strVal val="#ppt_h"/>
                                          </p:val>
                                        </p:tav>
                                      </p:tavLst>
                                    </p:anim>
                                    <p:anim calcmode="lin" valueType="num">
                                      <p:cBhvr>
                                        <p:cTn id="46" dur="1000" fill="hold"/>
                                        <p:tgtEl>
                                          <p:spTgt spid="11"/>
                                        </p:tgtEl>
                                        <p:attrNameLst>
                                          <p:attrName>style.rotation</p:attrName>
                                        </p:attrNameLst>
                                      </p:cBhvr>
                                      <p:tavLst>
                                        <p:tav tm="0">
                                          <p:val>
                                            <p:fltVal val="90"/>
                                          </p:val>
                                        </p:tav>
                                        <p:tav tm="100000">
                                          <p:val>
                                            <p:fltVal val="0"/>
                                          </p:val>
                                        </p:tav>
                                      </p:tavLst>
                                    </p:anim>
                                    <p:animEffect transition="in" filter="fade">
                                      <p:cBhvr>
                                        <p:cTn id="4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a:xfrm>
            <a:off x="685801" y="3599232"/>
            <a:ext cx="5296709" cy="3172939"/>
          </a:xfrm>
        </p:spPr>
        <p:txBody>
          <a:bodyPr>
            <a:normAutofit fontScale="77500" lnSpcReduction="20000"/>
          </a:bodyPr>
          <a:lstStyle/>
          <a:p>
            <a:pPr>
              <a:lnSpc>
                <a:spcPct val="120000"/>
              </a:lnSpc>
            </a:pPr>
            <a:r>
              <a:rPr lang="zh-CN" altLang="en-US" sz="2600" b="1" dirty="0"/>
              <a:t>在柏拉图的理论中，灵魂的所有三个部分，分别都是动机的源泉。理性与其他两个部分的分别，不是现代理论中事实信念与动机欲望的分别。</a:t>
            </a:r>
          </a:p>
          <a:p>
            <a:pPr>
              <a:lnSpc>
                <a:spcPct val="120000"/>
              </a:lnSpc>
            </a:pPr>
            <a:r>
              <a:rPr lang="zh-CN" altLang="en-US" sz="2600" b="1" dirty="0"/>
              <a:t>这一点到第</a:t>
            </a:r>
            <a:r>
              <a:rPr lang="en-US" altLang="zh-CN" sz="2600" b="1" dirty="0"/>
              <a:t>9</a:t>
            </a:r>
            <a:r>
              <a:rPr lang="zh-CN" altLang="en-US" sz="2600" b="1" dirty="0"/>
              <a:t>卷才得到清楚的说明（</a:t>
            </a:r>
            <a:r>
              <a:rPr lang="en-US" altLang="zh-CN" sz="2600" b="1" dirty="0"/>
              <a:t>580d7-8</a:t>
            </a:r>
            <a:r>
              <a:rPr lang="zh-CN" altLang="en-US" sz="2600" b="1" dirty="0"/>
              <a:t>），“正如有三个部分一样，也有三种快乐，每一种适宜于每一个部分，愿望也是一样”。这就是说，有理性的愿望，也有身体的欲望，以及意气的愿望。</a:t>
            </a:r>
          </a:p>
          <a:p>
            <a:endParaRPr lang="zh-CN" altLang="en-US" sz="2600" b="1" dirty="0"/>
          </a:p>
          <a:p>
            <a:endParaRPr lang="zh-CN" altLang="en-US" dirty="0"/>
          </a:p>
        </p:txBody>
      </p:sp>
      <p:sp>
        <p:nvSpPr>
          <p:cNvPr id="4" name="Content Placeholder 3"/>
          <p:cNvSpPr>
            <a:spLocks noGrp="1"/>
          </p:cNvSpPr>
          <p:nvPr>
            <p:ph sz="half" idx="2"/>
          </p:nvPr>
        </p:nvSpPr>
        <p:spPr>
          <a:xfrm>
            <a:off x="6488644" y="1869600"/>
            <a:ext cx="5040000" cy="4807729"/>
          </a:xfrm>
        </p:spPr>
        <p:txBody>
          <a:bodyPr>
            <a:normAutofit fontScale="77500" lnSpcReduction="20000"/>
          </a:bodyPr>
          <a:lstStyle/>
          <a:p>
            <a:endParaRPr lang="en-US" altLang="zh-CN" dirty="0"/>
          </a:p>
          <a:p>
            <a:endParaRPr lang="en-US" altLang="zh-CN" dirty="0"/>
          </a:p>
          <a:p>
            <a:endParaRPr lang="en-US" altLang="zh-CN" dirty="0"/>
          </a:p>
          <a:p>
            <a:pPr>
              <a:lnSpc>
                <a:spcPct val="120000"/>
              </a:lnSpc>
            </a:pPr>
            <a:endParaRPr lang="zh-CN" altLang="en-US" dirty="0"/>
          </a:p>
          <a:p>
            <a:pPr>
              <a:lnSpc>
                <a:spcPct val="120000"/>
              </a:lnSpc>
            </a:pPr>
            <a:r>
              <a:rPr lang="zh-CN" altLang="en-US" sz="2600" b="1" dirty="0"/>
              <a:t>现代关于行为动机的理论追溯自英国哲学家霍布斯（</a:t>
            </a:r>
            <a:r>
              <a:rPr lang="en-US" altLang="zh-CN" sz="2600" b="1" dirty="0"/>
              <a:t>1588-1679</a:t>
            </a:r>
            <a:r>
              <a:rPr lang="zh-CN" altLang="en-US" sz="2600" b="1" dirty="0"/>
              <a:t>）。</a:t>
            </a:r>
            <a:endParaRPr lang="en-US" altLang="zh-CN" sz="2600" b="1" dirty="0"/>
          </a:p>
          <a:p>
            <a:pPr>
              <a:lnSpc>
                <a:spcPct val="120000"/>
              </a:lnSpc>
            </a:pPr>
            <a:r>
              <a:rPr lang="zh-CN" altLang="en-US" sz="2600" b="1" dirty="0"/>
              <a:t>据霍布斯，一个人的行为是他的信念与欲望的混合物。欲望提供动机的力量，信念提供事实信息（</a:t>
            </a:r>
            <a:r>
              <a:rPr lang="en-US" altLang="zh-CN" sz="2600" b="1" dirty="0"/>
              <a:t>factual information,</a:t>
            </a:r>
            <a:r>
              <a:rPr lang="zh-CN" altLang="en-US" sz="2600" b="1" dirty="0"/>
              <a:t>），及如何行为以便成功。这个理论中，有两个据定行为的因素，信念与欲望。信念只提供事实信息，而对行动没有影响。</a:t>
            </a:r>
            <a:endParaRPr lang="en-US" altLang="zh-CN" sz="2600" b="1" dirty="0"/>
          </a:p>
          <a:p>
            <a:endParaRPr lang="zh-CN"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15" y="85828"/>
            <a:ext cx="5911783" cy="3422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2315183" y="428017"/>
            <a:ext cx="3103123" cy="48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398834" y="768485"/>
            <a:ext cx="4912468" cy="19455"/>
          </a:xfrm>
          <a:prstGeom prst="line">
            <a:avLst/>
          </a:prstGeom>
        </p:spPr>
        <p:style>
          <a:lnRef idx="1">
            <a:schemeClr val="accent1"/>
          </a:lnRef>
          <a:fillRef idx="0">
            <a:schemeClr val="accent1"/>
          </a:fillRef>
          <a:effectRef idx="0">
            <a:schemeClr val="accent1"/>
          </a:effectRef>
          <a:fontRef idx="minor">
            <a:schemeClr val="tx1"/>
          </a:fontRef>
        </p:style>
      </p:cxn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2889" y="180670"/>
            <a:ext cx="2445392" cy="2570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017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randombar(horizont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052"/>
                                        </p:tgtEl>
                                        <p:attrNameLst>
                                          <p:attrName>style.visibility</p:attrName>
                                        </p:attrNameLst>
                                      </p:cBhvr>
                                      <p:to>
                                        <p:strVal val="visible"/>
                                      </p:to>
                                    </p:set>
                                    <p:animEffect transition="in" filter="randombar(horizontal)">
                                      <p:cBhvr>
                                        <p:cTn id="28" dur="500"/>
                                        <p:tgtEl>
                                          <p:spTgt spid="2052"/>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33" dur="500"/>
                                        <p:tgtEl>
                                          <p:spTgt spid="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3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normAutofit/>
          </a:bodyPr>
          <a:lstStyle/>
          <a:p>
            <a:r>
              <a:rPr lang="zh-CN" altLang="en-US" sz="2000" b="1" dirty="0"/>
              <a:t>对柏拉图来说，每一种愿望都有其计算（工具理性）的能力来为满足它服务。这样，愿望似乎更接近人生意义的含义。这样来理解社会分工原则，</a:t>
            </a:r>
            <a:r>
              <a:rPr lang="en-US" altLang="zh-CN" sz="2000" b="1" dirty="0"/>
              <a:t>434b</a:t>
            </a:r>
            <a:r>
              <a:rPr lang="zh-CN" altLang="en-US" sz="2000" b="1" dirty="0"/>
              <a:t>，那么我们就会知道，柏拉图说的意思是，护卫者不应该有商人的人生观念，不应该惟利是图。</a:t>
            </a:r>
          </a:p>
          <a:p>
            <a:endParaRPr lang="zh-CN" altLang="en-US" sz="2000" b="1" dirty="0"/>
          </a:p>
        </p:txBody>
      </p:sp>
      <p:sp>
        <p:nvSpPr>
          <p:cNvPr id="4" name="Content Placeholder 3"/>
          <p:cNvSpPr>
            <a:spLocks noGrp="1"/>
          </p:cNvSpPr>
          <p:nvPr>
            <p:ph sz="half" idx="2"/>
          </p:nvPr>
        </p:nvSpPr>
        <p:spPr/>
        <p:txBody>
          <a:bodyPr>
            <a:normAutofit/>
          </a:bodyPr>
          <a:lstStyle/>
          <a:p>
            <a:r>
              <a:rPr lang="zh-CN" altLang="en-US" sz="2000" b="1" dirty="0"/>
              <a:t>正如城邦的正义在于城邦的三个部分各尽其职一样</a:t>
            </a:r>
            <a:r>
              <a:rPr lang="en-US" altLang="zh-CN" sz="2000" b="1" dirty="0"/>
              <a:t>,</a:t>
            </a:r>
            <a:r>
              <a:rPr lang="zh-CN" altLang="en-US" sz="2000" b="1" dirty="0"/>
              <a:t>灵魂的正义就在于灵魂的三个属类只做那属于它本身的事</a:t>
            </a:r>
            <a:r>
              <a:rPr lang="en-US" altLang="zh-CN" sz="2000" b="1" dirty="0"/>
              <a:t>,</a:t>
            </a:r>
            <a:r>
              <a:rPr lang="zh-CN" altLang="en-US" sz="2000" b="1" dirty="0"/>
              <a:t>即理性统治</a:t>
            </a:r>
            <a:r>
              <a:rPr lang="en-US" altLang="zh-CN" sz="2000" b="1" dirty="0"/>
              <a:t>,</a:t>
            </a:r>
            <a:r>
              <a:rPr lang="zh-CN" altLang="en-US" sz="2000" b="1" dirty="0"/>
              <a:t>意气服从并辅佐理性</a:t>
            </a:r>
            <a:r>
              <a:rPr lang="en-US" altLang="zh-CN" sz="2000" b="1" dirty="0"/>
              <a:t>,</a:t>
            </a:r>
            <a:r>
              <a:rPr lang="zh-CN" altLang="en-US" sz="2000" b="1" dirty="0"/>
              <a:t>一起管理欲望。</a:t>
            </a:r>
          </a:p>
          <a:p>
            <a:endParaRPr lang="zh-CN" altLang="en-US" sz="2000" b="1" dirty="0"/>
          </a:p>
        </p:txBody>
      </p:sp>
    </p:spTree>
    <p:extLst>
      <p:ext uri="{BB962C8B-B14F-4D97-AF65-F5344CB8AC3E}">
        <p14:creationId xmlns:p14="http://schemas.microsoft.com/office/powerpoint/2010/main" val="370574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32298" y="233293"/>
            <a:ext cx="5136203" cy="2925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endParaRPr lang="zh-CN" altLang="en-US"/>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4481" y="136048"/>
            <a:ext cx="4941238" cy="6090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H="1">
            <a:off x="5340485" y="2422187"/>
            <a:ext cx="29183" cy="58366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731540" y="554478"/>
            <a:ext cx="4338537" cy="437744"/>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Rectangle 7"/>
          <p:cNvSpPr/>
          <p:nvPr/>
        </p:nvSpPr>
        <p:spPr>
          <a:xfrm>
            <a:off x="6731540" y="3005847"/>
            <a:ext cx="4338537" cy="612842"/>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0" name="Straight Connector 9"/>
          <p:cNvCxnSpPr/>
          <p:nvPr/>
        </p:nvCxnSpPr>
        <p:spPr>
          <a:xfrm>
            <a:off x="11070077" y="5019472"/>
            <a:ext cx="0" cy="875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050622" y="1245140"/>
            <a:ext cx="19455" cy="13521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64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fltVal val="0"/>
                                          </p:val>
                                        </p:tav>
                                        <p:tav tm="100000">
                                          <p:val>
                                            <p:strVal val="#ppt_w"/>
                                          </p:val>
                                        </p:tav>
                                      </p:tavLst>
                                    </p:anim>
                                    <p:anim calcmode="lin" valueType="num">
                                      <p:cBhvr>
                                        <p:cTn id="8" dur="1000" fill="hold"/>
                                        <p:tgtEl>
                                          <p:spTgt spid="3074"/>
                                        </p:tgtEl>
                                        <p:attrNameLst>
                                          <p:attrName>ppt_h</p:attrName>
                                        </p:attrNameLst>
                                      </p:cBhvr>
                                      <p:tavLst>
                                        <p:tav tm="0">
                                          <p:val>
                                            <p:fltVal val="0"/>
                                          </p:val>
                                        </p:tav>
                                        <p:tav tm="100000">
                                          <p:val>
                                            <p:strVal val="#ppt_h"/>
                                          </p:val>
                                        </p:tav>
                                      </p:tavLst>
                                    </p:anim>
                                    <p:anim calcmode="lin" valueType="num">
                                      <p:cBhvr>
                                        <p:cTn id="9" dur="1000" fill="hold"/>
                                        <p:tgtEl>
                                          <p:spTgt spid="3074"/>
                                        </p:tgtEl>
                                        <p:attrNameLst>
                                          <p:attrName>style.rotation</p:attrName>
                                        </p:attrNameLst>
                                      </p:cBhvr>
                                      <p:tavLst>
                                        <p:tav tm="0">
                                          <p:val>
                                            <p:fltVal val="90"/>
                                          </p:val>
                                        </p:tav>
                                        <p:tav tm="100000">
                                          <p:val>
                                            <p:fltVal val="0"/>
                                          </p:val>
                                        </p:tav>
                                      </p:tavLst>
                                    </p:anim>
                                    <p:animEffect transition="in" filter="fade">
                                      <p:cBhvr>
                                        <p:cTn id="10" dur="1000"/>
                                        <p:tgtEl>
                                          <p:spTgt spid="307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147"/>
                                        </p:tgtEl>
                                        <p:attrNameLst>
                                          <p:attrName>style.visibility</p:attrName>
                                        </p:attrNameLst>
                                      </p:cBhvr>
                                      <p:to>
                                        <p:strVal val="visible"/>
                                      </p:to>
                                    </p:set>
                                    <p:animEffect transition="in" filter="randombar(horizontal)">
                                      <p:cBhvr>
                                        <p:cTn id="23" dur="500"/>
                                        <p:tgtEl>
                                          <p:spTgt spid="6147"/>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fltVal val="0"/>
                                          </p:val>
                                        </p:tav>
                                        <p:tav tm="100000">
                                          <p:val>
                                            <p:strVal val="#ppt_w"/>
                                          </p:val>
                                        </p:tav>
                                      </p:tavLst>
                                    </p:anim>
                                    <p:anim calcmode="lin" valueType="num">
                                      <p:cBhvr>
                                        <p:cTn id="29" dur="1000" fill="hold"/>
                                        <p:tgtEl>
                                          <p:spTgt spid="7"/>
                                        </p:tgtEl>
                                        <p:attrNameLst>
                                          <p:attrName>ppt_h</p:attrName>
                                        </p:attrNameLst>
                                      </p:cBhvr>
                                      <p:tavLst>
                                        <p:tav tm="0">
                                          <p:val>
                                            <p:fltVal val="0"/>
                                          </p:val>
                                        </p:tav>
                                        <p:tav tm="100000">
                                          <p:val>
                                            <p:strVal val="#ppt_h"/>
                                          </p:val>
                                        </p:tav>
                                      </p:tavLst>
                                    </p:anim>
                                    <p:anim calcmode="lin" valueType="num">
                                      <p:cBhvr>
                                        <p:cTn id="30" dur="1000" fill="hold"/>
                                        <p:tgtEl>
                                          <p:spTgt spid="7"/>
                                        </p:tgtEl>
                                        <p:attrNameLst>
                                          <p:attrName>style.rotation</p:attrName>
                                        </p:attrNameLst>
                                      </p:cBhvr>
                                      <p:tavLst>
                                        <p:tav tm="0">
                                          <p:val>
                                            <p:fltVal val="90"/>
                                          </p:val>
                                        </p:tav>
                                        <p:tav tm="100000">
                                          <p:val>
                                            <p:fltVal val="0"/>
                                          </p:val>
                                        </p:tav>
                                      </p:tavLst>
                                    </p:anim>
                                    <p:animEffect transition="in" filter="fade">
                                      <p:cBhvr>
                                        <p:cTn id="31" dur="1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p:cTn id="44" dur="1000" fill="hold"/>
                                        <p:tgtEl>
                                          <p:spTgt spid="8"/>
                                        </p:tgtEl>
                                        <p:attrNameLst>
                                          <p:attrName>ppt_w</p:attrName>
                                        </p:attrNameLst>
                                      </p:cBhvr>
                                      <p:tavLst>
                                        <p:tav tm="0">
                                          <p:val>
                                            <p:fltVal val="0"/>
                                          </p:val>
                                        </p:tav>
                                        <p:tav tm="100000">
                                          <p:val>
                                            <p:strVal val="#ppt_w"/>
                                          </p:val>
                                        </p:tav>
                                      </p:tavLst>
                                    </p:anim>
                                    <p:anim calcmode="lin" valueType="num">
                                      <p:cBhvr>
                                        <p:cTn id="45" dur="1000" fill="hold"/>
                                        <p:tgtEl>
                                          <p:spTgt spid="8"/>
                                        </p:tgtEl>
                                        <p:attrNameLst>
                                          <p:attrName>ppt_h</p:attrName>
                                        </p:attrNameLst>
                                      </p:cBhvr>
                                      <p:tavLst>
                                        <p:tav tm="0">
                                          <p:val>
                                            <p:fltVal val="0"/>
                                          </p:val>
                                        </p:tav>
                                        <p:tav tm="100000">
                                          <p:val>
                                            <p:strVal val="#ppt_h"/>
                                          </p:val>
                                        </p:tav>
                                      </p:tavLst>
                                    </p:anim>
                                    <p:anim calcmode="lin" valueType="num">
                                      <p:cBhvr>
                                        <p:cTn id="46" dur="1000" fill="hold"/>
                                        <p:tgtEl>
                                          <p:spTgt spid="8"/>
                                        </p:tgtEl>
                                        <p:attrNameLst>
                                          <p:attrName>style.rotation</p:attrName>
                                        </p:attrNameLst>
                                      </p:cBhvr>
                                      <p:tavLst>
                                        <p:tav tm="0">
                                          <p:val>
                                            <p:fltVal val="90"/>
                                          </p:val>
                                        </p:tav>
                                        <p:tav tm="100000">
                                          <p:val>
                                            <p:fltVal val="0"/>
                                          </p:val>
                                        </p:tav>
                                      </p:tavLst>
                                    </p:anim>
                                    <p:animEffect transition="in" filter="fade">
                                      <p:cBhvr>
                                        <p:cTn id="47" dur="1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p:cTn id="52" dur="1000" fill="hold"/>
                                        <p:tgtEl>
                                          <p:spTgt spid="10"/>
                                        </p:tgtEl>
                                        <p:attrNameLst>
                                          <p:attrName>ppt_w</p:attrName>
                                        </p:attrNameLst>
                                      </p:cBhvr>
                                      <p:tavLst>
                                        <p:tav tm="0">
                                          <p:val>
                                            <p:fltVal val="0"/>
                                          </p:val>
                                        </p:tav>
                                        <p:tav tm="100000">
                                          <p:val>
                                            <p:strVal val="#ppt_w"/>
                                          </p:val>
                                        </p:tav>
                                      </p:tavLst>
                                    </p:anim>
                                    <p:anim calcmode="lin" valueType="num">
                                      <p:cBhvr>
                                        <p:cTn id="53" dur="1000" fill="hold"/>
                                        <p:tgtEl>
                                          <p:spTgt spid="10"/>
                                        </p:tgtEl>
                                        <p:attrNameLst>
                                          <p:attrName>ppt_h</p:attrName>
                                        </p:attrNameLst>
                                      </p:cBhvr>
                                      <p:tavLst>
                                        <p:tav tm="0">
                                          <p:val>
                                            <p:fltVal val="0"/>
                                          </p:val>
                                        </p:tav>
                                        <p:tav tm="100000">
                                          <p:val>
                                            <p:strVal val="#ppt_h"/>
                                          </p:val>
                                        </p:tav>
                                      </p:tavLst>
                                    </p:anim>
                                    <p:anim calcmode="lin" valueType="num">
                                      <p:cBhvr>
                                        <p:cTn id="54" dur="1000" fill="hold"/>
                                        <p:tgtEl>
                                          <p:spTgt spid="10"/>
                                        </p:tgtEl>
                                        <p:attrNameLst>
                                          <p:attrName>style.rotation</p:attrName>
                                        </p:attrNameLst>
                                      </p:cBhvr>
                                      <p:tavLst>
                                        <p:tav tm="0">
                                          <p:val>
                                            <p:fltVal val="90"/>
                                          </p:val>
                                        </p:tav>
                                        <p:tav tm="100000">
                                          <p:val>
                                            <p:fltVal val="0"/>
                                          </p:val>
                                        </p:tav>
                                      </p:tavLst>
                                    </p:anim>
                                    <p:animEffect transition="in" filter="fade">
                                      <p:cBhvr>
                                        <p:cTn id="5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159" y="145916"/>
            <a:ext cx="5208996" cy="6208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009" y="145915"/>
            <a:ext cx="5016164" cy="6249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729574" y="972766"/>
            <a:ext cx="4513635" cy="719847"/>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729574" y="1896894"/>
            <a:ext cx="4426086" cy="846306"/>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Rectangle 6"/>
          <p:cNvSpPr/>
          <p:nvPr/>
        </p:nvSpPr>
        <p:spPr>
          <a:xfrm>
            <a:off x="729574" y="3015574"/>
            <a:ext cx="4513635" cy="1060315"/>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Rectangle 7"/>
          <p:cNvSpPr/>
          <p:nvPr/>
        </p:nvSpPr>
        <p:spPr>
          <a:xfrm>
            <a:off x="797668" y="4338536"/>
            <a:ext cx="4357992" cy="865762"/>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0" name="Straight Connector 9"/>
          <p:cNvCxnSpPr/>
          <p:nvPr/>
        </p:nvCxnSpPr>
        <p:spPr>
          <a:xfrm flipH="1">
            <a:off x="6702357" y="2140085"/>
            <a:ext cx="29183" cy="336577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40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randombar(horizontal)">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fltVal val="0"/>
                                          </p:val>
                                        </p:tav>
                                        <p:tav tm="100000">
                                          <p:val>
                                            <p:strVal val="#ppt_w"/>
                                          </p:val>
                                        </p:tav>
                                      </p:tavLst>
                                    </p:anim>
                                    <p:anim calcmode="lin" valueType="num">
                                      <p:cBhvr>
                                        <p:cTn id="29" dur="1000" fill="hold"/>
                                        <p:tgtEl>
                                          <p:spTgt spid="7"/>
                                        </p:tgtEl>
                                        <p:attrNameLst>
                                          <p:attrName>ppt_h</p:attrName>
                                        </p:attrNameLst>
                                      </p:cBhvr>
                                      <p:tavLst>
                                        <p:tav tm="0">
                                          <p:val>
                                            <p:fltVal val="0"/>
                                          </p:val>
                                        </p:tav>
                                        <p:tav tm="100000">
                                          <p:val>
                                            <p:strVal val="#ppt_h"/>
                                          </p:val>
                                        </p:tav>
                                      </p:tavLst>
                                    </p:anim>
                                    <p:anim calcmode="lin" valueType="num">
                                      <p:cBhvr>
                                        <p:cTn id="30" dur="1000" fill="hold"/>
                                        <p:tgtEl>
                                          <p:spTgt spid="7"/>
                                        </p:tgtEl>
                                        <p:attrNameLst>
                                          <p:attrName>style.rotation</p:attrName>
                                        </p:attrNameLst>
                                      </p:cBhvr>
                                      <p:tavLst>
                                        <p:tav tm="0">
                                          <p:val>
                                            <p:fltVal val="90"/>
                                          </p:val>
                                        </p:tav>
                                        <p:tav tm="100000">
                                          <p:val>
                                            <p:fltVal val="0"/>
                                          </p:val>
                                        </p:tav>
                                      </p:tavLst>
                                    </p:anim>
                                    <p:animEffect transition="in" filter="fade">
                                      <p:cBhvr>
                                        <p:cTn id="31" dur="1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1000" fill="hold"/>
                                        <p:tgtEl>
                                          <p:spTgt spid="8"/>
                                        </p:tgtEl>
                                        <p:attrNameLst>
                                          <p:attrName>ppt_w</p:attrName>
                                        </p:attrNameLst>
                                      </p:cBhvr>
                                      <p:tavLst>
                                        <p:tav tm="0">
                                          <p:val>
                                            <p:fltVal val="0"/>
                                          </p:val>
                                        </p:tav>
                                        <p:tav tm="100000">
                                          <p:val>
                                            <p:strVal val="#ppt_w"/>
                                          </p:val>
                                        </p:tav>
                                      </p:tavLst>
                                    </p:anim>
                                    <p:anim calcmode="lin" valueType="num">
                                      <p:cBhvr>
                                        <p:cTn id="37" dur="1000" fill="hold"/>
                                        <p:tgtEl>
                                          <p:spTgt spid="8"/>
                                        </p:tgtEl>
                                        <p:attrNameLst>
                                          <p:attrName>ppt_h</p:attrName>
                                        </p:attrNameLst>
                                      </p:cBhvr>
                                      <p:tavLst>
                                        <p:tav tm="0">
                                          <p:val>
                                            <p:fltVal val="0"/>
                                          </p:val>
                                        </p:tav>
                                        <p:tav tm="100000">
                                          <p:val>
                                            <p:strVal val="#ppt_h"/>
                                          </p:val>
                                        </p:tav>
                                      </p:tavLst>
                                    </p:anim>
                                    <p:anim calcmode="lin" valueType="num">
                                      <p:cBhvr>
                                        <p:cTn id="38" dur="1000" fill="hold"/>
                                        <p:tgtEl>
                                          <p:spTgt spid="8"/>
                                        </p:tgtEl>
                                        <p:attrNameLst>
                                          <p:attrName>style.rotation</p:attrName>
                                        </p:attrNameLst>
                                      </p:cBhvr>
                                      <p:tavLst>
                                        <p:tav tm="0">
                                          <p:val>
                                            <p:fltVal val="90"/>
                                          </p:val>
                                        </p:tav>
                                        <p:tav tm="100000">
                                          <p:val>
                                            <p:fltVal val="0"/>
                                          </p:val>
                                        </p:tav>
                                      </p:tavLst>
                                    </p:anim>
                                    <p:animEffect transition="in" filter="fade">
                                      <p:cBhvr>
                                        <p:cTn id="39" dur="10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7171"/>
                                        </p:tgtEl>
                                        <p:attrNameLst>
                                          <p:attrName>style.visibility</p:attrName>
                                        </p:attrNameLst>
                                      </p:cBhvr>
                                      <p:to>
                                        <p:strVal val="visible"/>
                                      </p:to>
                                    </p:set>
                                    <p:animEffect transition="in" filter="randombar(horizontal)">
                                      <p:cBhvr>
                                        <p:cTn id="44" dur="500"/>
                                        <p:tgtEl>
                                          <p:spTgt spid="7171"/>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1000" fill="hold"/>
                                        <p:tgtEl>
                                          <p:spTgt spid="10"/>
                                        </p:tgtEl>
                                        <p:attrNameLst>
                                          <p:attrName>ppt_w</p:attrName>
                                        </p:attrNameLst>
                                      </p:cBhvr>
                                      <p:tavLst>
                                        <p:tav tm="0">
                                          <p:val>
                                            <p:fltVal val="0"/>
                                          </p:val>
                                        </p:tav>
                                        <p:tav tm="100000">
                                          <p:val>
                                            <p:strVal val="#ppt_w"/>
                                          </p:val>
                                        </p:tav>
                                      </p:tavLst>
                                    </p:anim>
                                    <p:anim calcmode="lin" valueType="num">
                                      <p:cBhvr>
                                        <p:cTn id="50" dur="1000" fill="hold"/>
                                        <p:tgtEl>
                                          <p:spTgt spid="10"/>
                                        </p:tgtEl>
                                        <p:attrNameLst>
                                          <p:attrName>ppt_h</p:attrName>
                                        </p:attrNameLst>
                                      </p:cBhvr>
                                      <p:tavLst>
                                        <p:tav tm="0">
                                          <p:val>
                                            <p:fltVal val="0"/>
                                          </p:val>
                                        </p:tav>
                                        <p:tav tm="100000">
                                          <p:val>
                                            <p:strVal val="#ppt_h"/>
                                          </p:val>
                                        </p:tav>
                                      </p:tavLst>
                                    </p:anim>
                                    <p:anim calcmode="lin" valueType="num">
                                      <p:cBhvr>
                                        <p:cTn id="51" dur="1000" fill="hold"/>
                                        <p:tgtEl>
                                          <p:spTgt spid="10"/>
                                        </p:tgtEl>
                                        <p:attrNameLst>
                                          <p:attrName>style.rotation</p:attrName>
                                        </p:attrNameLst>
                                      </p:cBhvr>
                                      <p:tavLst>
                                        <p:tav tm="0">
                                          <p:val>
                                            <p:fltVal val="90"/>
                                          </p:val>
                                        </p:tav>
                                        <p:tav tm="100000">
                                          <p:val>
                                            <p:fltVal val="0"/>
                                          </p:val>
                                        </p:tav>
                                      </p:tavLst>
                                    </p:anim>
                                    <p:animEffect transition="in" filter="fade">
                                      <p:cBhvr>
                                        <p:cTn id="5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a:noFill/>
        </p:spPr>
        <p:txBody>
          <a:bodyPr>
            <a:normAutofit/>
          </a:bodyPr>
          <a:lstStyle/>
          <a:p>
            <a:r>
              <a:rPr lang="zh-CN" altLang="en-US" sz="2000" b="1" dirty="0"/>
              <a:t>柏拉图认为，一个灵魂正义的人就不会做出贪污、受贿、通奸、不敬父母和不奉神祀</a:t>
            </a:r>
            <a:r>
              <a:rPr lang="en-US" altLang="zh-CN" sz="2000" b="1" dirty="0"/>
              <a:t>……</a:t>
            </a:r>
            <a:r>
              <a:rPr lang="zh-CN" altLang="en-US" sz="2000" b="1" dirty="0"/>
              <a:t>等不正义的事，而这一切都是因为，他之中的每一个部分都只做它本分的事。（</a:t>
            </a:r>
            <a:r>
              <a:rPr lang="en-US" altLang="zh-CN" sz="2000" b="1" dirty="0"/>
              <a:t>443a-b</a:t>
            </a:r>
            <a:r>
              <a:rPr lang="zh-CN" altLang="en-US" sz="2000" b="1" dirty="0"/>
              <a:t>）这就是灵魂正义。</a:t>
            </a:r>
          </a:p>
          <a:p>
            <a:r>
              <a:rPr lang="zh-CN" altLang="en-US" sz="2000" b="1" dirty="0"/>
              <a:t>柏拉图认为灵魂正义的人，就不会做出违反道德的行为。</a:t>
            </a:r>
            <a:endParaRPr lang="en-US" altLang="zh-CN" sz="2000" b="1" dirty="0"/>
          </a:p>
          <a:p>
            <a:r>
              <a:rPr lang="zh-CN" altLang="en-US" sz="2000" b="1" dirty="0"/>
              <a:t>有一些学者争论说，不能从灵魂正义推出行为正义。例如，一个人可能理智冷静地杀人。</a:t>
            </a:r>
            <a:endParaRPr lang="en-US" altLang="zh-CN" sz="2000" b="1" dirty="0"/>
          </a:p>
        </p:txBody>
      </p:sp>
      <p:sp>
        <p:nvSpPr>
          <p:cNvPr id="4" name="Content Placeholder 3"/>
          <p:cNvSpPr>
            <a:spLocks noGrp="1"/>
          </p:cNvSpPr>
          <p:nvPr>
            <p:ph sz="half" idx="2"/>
          </p:nvPr>
        </p:nvSpPr>
        <p:spPr/>
        <p:txBody>
          <a:bodyPr/>
          <a:lstStyle/>
          <a:p>
            <a:r>
              <a:rPr lang="zh-CN" altLang="en-US" sz="2000" b="1" dirty="0"/>
              <a:t>这些学者没有弄清理性、理智、正义秩序的概念。灵魂中的正义秩序意味着，理性居于统治地位，意气辅佐理性，一起统治欲望。</a:t>
            </a:r>
          </a:p>
          <a:p>
            <a:r>
              <a:rPr lang="zh-CN" altLang="en-US" sz="2000" b="1" dirty="0"/>
              <a:t>理智冷静地杀人是可能的。而这时这个人不是被理性统治的，毋宁说是被嗜血的欲望所统治。</a:t>
            </a:r>
          </a:p>
          <a:p>
            <a:endParaRPr lang="zh-CN" altLang="en-US" b="1" dirty="0"/>
          </a:p>
        </p:txBody>
      </p:sp>
    </p:spTree>
    <p:extLst>
      <p:ext uri="{BB962C8B-B14F-4D97-AF65-F5344CB8AC3E}">
        <p14:creationId xmlns:p14="http://schemas.microsoft.com/office/powerpoint/2010/main" val="12435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561" y="135258"/>
            <a:ext cx="4680178" cy="6175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5259"/>
            <a:ext cx="5331841" cy="5868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3015574" y="1702340"/>
            <a:ext cx="175097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61481" y="2091447"/>
            <a:ext cx="3968885" cy="398834"/>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Rectangle 8"/>
          <p:cNvSpPr/>
          <p:nvPr/>
        </p:nvSpPr>
        <p:spPr>
          <a:xfrm>
            <a:off x="525294" y="3223010"/>
            <a:ext cx="4105072" cy="2983237"/>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Rectangle 9"/>
          <p:cNvSpPr/>
          <p:nvPr/>
        </p:nvSpPr>
        <p:spPr>
          <a:xfrm>
            <a:off x="6536987" y="272374"/>
            <a:ext cx="4756826" cy="476656"/>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Rectangle 10"/>
          <p:cNvSpPr/>
          <p:nvPr/>
        </p:nvSpPr>
        <p:spPr>
          <a:xfrm>
            <a:off x="6653719" y="3433864"/>
            <a:ext cx="4640094" cy="1673157"/>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16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randombar(horizont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fltVal val="0"/>
                                          </p:val>
                                        </p:tav>
                                        <p:tav tm="100000">
                                          <p:val>
                                            <p:strVal val="#ppt_w"/>
                                          </p:val>
                                        </p:tav>
                                      </p:tavLst>
                                    </p:anim>
                                    <p:anim calcmode="lin" valueType="num">
                                      <p:cBhvr>
                                        <p:cTn id="29" dur="1000" fill="hold"/>
                                        <p:tgtEl>
                                          <p:spTgt spid="9"/>
                                        </p:tgtEl>
                                        <p:attrNameLst>
                                          <p:attrName>ppt_h</p:attrName>
                                        </p:attrNameLst>
                                      </p:cBhvr>
                                      <p:tavLst>
                                        <p:tav tm="0">
                                          <p:val>
                                            <p:fltVal val="0"/>
                                          </p:val>
                                        </p:tav>
                                        <p:tav tm="100000">
                                          <p:val>
                                            <p:strVal val="#ppt_h"/>
                                          </p:val>
                                        </p:tav>
                                      </p:tavLst>
                                    </p:anim>
                                    <p:anim calcmode="lin" valueType="num">
                                      <p:cBhvr>
                                        <p:cTn id="30" dur="1000" fill="hold"/>
                                        <p:tgtEl>
                                          <p:spTgt spid="9"/>
                                        </p:tgtEl>
                                        <p:attrNameLst>
                                          <p:attrName>style.rotation</p:attrName>
                                        </p:attrNameLst>
                                      </p:cBhvr>
                                      <p:tavLst>
                                        <p:tav tm="0">
                                          <p:val>
                                            <p:fltVal val="90"/>
                                          </p:val>
                                        </p:tav>
                                        <p:tav tm="100000">
                                          <p:val>
                                            <p:fltVal val="0"/>
                                          </p:val>
                                        </p:tav>
                                      </p:tavLst>
                                    </p:anim>
                                    <p:animEffect transition="in" filter="fade">
                                      <p:cBhvr>
                                        <p:cTn id="31" dur="10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8195"/>
                                        </p:tgtEl>
                                        <p:attrNameLst>
                                          <p:attrName>style.visibility</p:attrName>
                                        </p:attrNameLst>
                                      </p:cBhvr>
                                      <p:to>
                                        <p:strVal val="visible"/>
                                      </p:to>
                                    </p:set>
                                    <p:animEffect transition="in" filter="randombar(horizontal)">
                                      <p:cBhvr>
                                        <p:cTn id="36" dur="500"/>
                                        <p:tgtEl>
                                          <p:spTgt spid="8195"/>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1000" fill="hold"/>
                                        <p:tgtEl>
                                          <p:spTgt spid="10"/>
                                        </p:tgtEl>
                                        <p:attrNameLst>
                                          <p:attrName>ppt_w</p:attrName>
                                        </p:attrNameLst>
                                      </p:cBhvr>
                                      <p:tavLst>
                                        <p:tav tm="0">
                                          <p:val>
                                            <p:fltVal val="0"/>
                                          </p:val>
                                        </p:tav>
                                        <p:tav tm="100000">
                                          <p:val>
                                            <p:strVal val="#ppt_w"/>
                                          </p:val>
                                        </p:tav>
                                      </p:tavLst>
                                    </p:anim>
                                    <p:anim calcmode="lin" valueType="num">
                                      <p:cBhvr>
                                        <p:cTn id="42" dur="1000" fill="hold"/>
                                        <p:tgtEl>
                                          <p:spTgt spid="10"/>
                                        </p:tgtEl>
                                        <p:attrNameLst>
                                          <p:attrName>ppt_h</p:attrName>
                                        </p:attrNameLst>
                                      </p:cBhvr>
                                      <p:tavLst>
                                        <p:tav tm="0">
                                          <p:val>
                                            <p:fltVal val="0"/>
                                          </p:val>
                                        </p:tav>
                                        <p:tav tm="100000">
                                          <p:val>
                                            <p:strVal val="#ppt_h"/>
                                          </p:val>
                                        </p:tav>
                                      </p:tavLst>
                                    </p:anim>
                                    <p:anim calcmode="lin" valueType="num">
                                      <p:cBhvr>
                                        <p:cTn id="43" dur="1000" fill="hold"/>
                                        <p:tgtEl>
                                          <p:spTgt spid="10"/>
                                        </p:tgtEl>
                                        <p:attrNameLst>
                                          <p:attrName>style.rotation</p:attrName>
                                        </p:attrNameLst>
                                      </p:cBhvr>
                                      <p:tavLst>
                                        <p:tav tm="0">
                                          <p:val>
                                            <p:fltVal val="90"/>
                                          </p:val>
                                        </p:tav>
                                        <p:tav tm="100000">
                                          <p:val>
                                            <p:fltVal val="0"/>
                                          </p:val>
                                        </p:tav>
                                      </p:tavLst>
                                    </p:anim>
                                    <p:animEffect transition="in" filter="fade">
                                      <p:cBhvr>
                                        <p:cTn id="44" dur="10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1000" fill="hold"/>
                                        <p:tgtEl>
                                          <p:spTgt spid="11"/>
                                        </p:tgtEl>
                                        <p:attrNameLst>
                                          <p:attrName>ppt_w</p:attrName>
                                        </p:attrNameLst>
                                      </p:cBhvr>
                                      <p:tavLst>
                                        <p:tav tm="0">
                                          <p:val>
                                            <p:fltVal val="0"/>
                                          </p:val>
                                        </p:tav>
                                        <p:tav tm="100000">
                                          <p:val>
                                            <p:strVal val="#ppt_w"/>
                                          </p:val>
                                        </p:tav>
                                      </p:tavLst>
                                    </p:anim>
                                    <p:anim calcmode="lin" valueType="num">
                                      <p:cBhvr>
                                        <p:cTn id="50" dur="1000" fill="hold"/>
                                        <p:tgtEl>
                                          <p:spTgt spid="11"/>
                                        </p:tgtEl>
                                        <p:attrNameLst>
                                          <p:attrName>ppt_h</p:attrName>
                                        </p:attrNameLst>
                                      </p:cBhvr>
                                      <p:tavLst>
                                        <p:tav tm="0">
                                          <p:val>
                                            <p:fltVal val="0"/>
                                          </p:val>
                                        </p:tav>
                                        <p:tav tm="100000">
                                          <p:val>
                                            <p:strVal val="#ppt_h"/>
                                          </p:val>
                                        </p:tav>
                                      </p:tavLst>
                                    </p:anim>
                                    <p:anim calcmode="lin" valueType="num">
                                      <p:cBhvr>
                                        <p:cTn id="51" dur="1000" fill="hold"/>
                                        <p:tgtEl>
                                          <p:spTgt spid="11"/>
                                        </p:tgtEl>
                                        <p:attrNameLst>
                                          <p:attrName>style.rotation</p:attrName>
                                        </p:attrNameLst>
                                      </p:cBhvr>
                                      <p:tavLst>
                                        <p:tav tm="0">
                                          <p:val>
                                            <p:fltVal val="90"/>
                                          </p:val>
                                        </p:tav>
                                        <p:tav tm="100000">
                                          <p:val>
                                            <p:fltVal val="0"/>
                                          </p:val>
                                        </p:tav>
                                      </p:tavLst>
                                    </p:anim>
                                    <p:animEffect transition="in" filter="fade">
                                      <p:cBhvr>
                                        <p:cTn id="5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normAutofit/>
          </a:bodyPr>
          <a:lstStyle/>
          <a:p>
            <a:r>
              <a:rPr lang="zh-CN" altLang="en-US" sz="2000" b="1" dirty="0"/>
              <a:t>不正义就是那存在着的灵魂三个部分之间的冲突和内乱，是灵魂的某一个部分对于灵魂全体的暴乱，它企图在灵魂里建立一种与它不相称的统治，虽然按它的本性它本应是受奴役和听命于那个属于统治属类的部分。</a:t>
            </a:r>
          </a:p>
          <a:p>
            <a:r>
              <a:rPr lang="zh-CN" altLang="en-US" sz="2000" b="1" dirty="0"/>
              <a:t>做不正义的事，就会在灵魂里产生不正义，最终导致灵魂的病态和丑恶。</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79" y="88611"/>
            <a:ext cx="4807416" cy="6496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83660" y="1780162"/>
            <a:ext cx="4319080" cy="369651"/>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Rectangle 5"/>
          <p:cNvSpPr/>
          <p:nvPr/>
        </p:nvSpPr>
        <p:spPr>
          <a:xfrm>
            <a:off x="583660" y="3336636"/>
            <a:ext cx="4114800" cy="875441"/>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Rectangle 6"/>
          <p:cNvSpPr/>
          <p:nvPr/>
        </p:nvSpPr>
        <p:spPr>
          <a:xfrm>
            <a:off x="583660" y="5019472"/>
            <a:ext cx="4114800" cy="389107"/>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9973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randombar(horizontal)">
                                      <p:cBhvr>
                                        <p:cTn id="12" dur="5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style.rotation</p:attrName>
                                        </p:attrNameLst>
                                      </p:cBhvr>
                                      <p:tavLst>
                                        <p:tav tm="0">
                                          <p:val>
                                            <p:fltVal val="90"/>
                                          </p:val>
                                        </p:tav>
                                        <p:tav tm="100000">
                                          <p:val>
                                            <p:fltVal val="0"/>
                                          </p:val>
                                        </p:tav>
                                      </p:tavLst>
                                    </p:anim>
                                    <p:animEffect transition="in" filter="fade">
                                      <p:cBhvr>
                                        <p:cTn id="36" dur="10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anim calcmode="lin" valueType="num">
                                      <p:cBhvr>
                                        <p:cTn id="41"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42"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43"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44"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a:p>
            <a:endParaRPr lang="zh-CN" altLang="en-US" dirty="0"/>
          </a:p>
        </p:txBody>
      </p:sp>
      <p:sp>
        <p:nvSpPr>
          <p:cNvPr id="4" name="Content Placeholder 3"/>
          <p:cNvSpPr>
            <a:spLocks noGrp="1"/>
          </p:cNvSpPr>
          <p:nvPr>
            <p:ph sz="half" idx="2"/>
          </p:nvPr>
        </p:nvSpPr>
        <p:spPr>
          <a:xfrm>
            <a:off x="6488644" y="2908569"/>
            <a:ext cx="5040000" cy="2882631"/>
          </a:xfrm>
        </p:spPr>
        <p:txBody>
          <a:bodyPr/>
          <a:lstStyle/>
          <a:p>
            <a:r>
              <a:rPr lang="zh-CN" altLang="en-US" sz="2000" b="1" dirty="0"/>
              <a:t>苏格拉底谈到的恶德的形式，以及这些形式的政体的样式，指的就是不同的灵魂秩序。</a:t>
            </a:r>
            <a:endParaRPr lang="en-US" altLang="zh-CN" sz="2000" b="1" dirty="0"/>
          </a:p>
          <a:p>
            <a:r>
              <a:rPr lang="zh-CN" altLang="en-US" sz="2000" b="1" dirty="0"/>
              <a:t>正义的灵魂秩序形式只有一种，即理性统治，意气辅助理性，一起管理欲望</a:t>
            </a:r>
            <a:r>
              <a:rPr lang="zh-CN" altLang="en-US" dirty="0"/>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829" y="150246"/>
            <a:ext cx="4761656" cy="600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963038" y="914400"/>
            <a:ext cx="4241259" cy="1040860"/>
          </a:xfrm>
          <a:prstGeom prst="rect">
            <a:avLst/>
          </a:prstGeom>
          <a:no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5486" y="150246"/>
            <a:ext cx="4991943" cy="2572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3861881" y="4221804"/>
            <a:ext cx="1342416" cy="19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38136" y="4416357"/>
            <a:ext cx="2869660" cy="194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790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anim calcmode="lin" valueType="num">
                                      <p:cBhvr>
                                        <p:cTn id="22" dur="1000" fill="hold"/>
                                        <p:tgtEl>
                                          <p:spTgt spid="7"/>
                                        </p:tgtEl>
                                        <p:attrNameLst>
                                          <p:attrName>style.rotation</p:attrName>
                                        </p:attrNameLst>
                                      </p:cBhvr>
                                      <p:tavLst>
                                        <p:tav tm="0">
                                          <p:val>
                                            <p:fltVal val="90"/>
                                          </p:val>
                                        </p:tav>
                                        <p:tav tm="100000">
                                          <p:val>
                                            <p:fltVal val="0"/>
                                          </p:val>
                                        </p:tav>
                                      </p:tavLst>
                                    </p:anim>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fltVal val="0"/>
                                          </p:val>
                                        </p:tav>
                                        <p:tav tm="100000">
                                          <p:val>
                                            <p:strVal val="#ppt_w"/>
                                          </p:val>
                                        </p:tav>
                                      </p:tavLst>
                                    </p:anim>
                                    <p:anim calcmode="lin" valueType="num">
                                      <p:cBhvr>
                                        <p:cTn id="29" dur="1000" fill="hold"/>
                                        <p:tgtEl>
                                          <p:spTgt spid="9"/>
                                        </p:tgtEl>
                                        <p:attrNameLst>
                                          <p:attrName>ppt_h</p:attrName>
                                        </p:attrNameLst>
                                      </p:cBhvr>
                                      <p:tavLst>
                                        <p:tav tm="0">
                                          <p:val>
                                            <p:fltVal val="0"/>
                                          </p:val>
                                        </p:tav>
                                        <p:tav tm="100000">
                                          <p:val>
                                            <p:strVal val="#ppt_h"/>
                                          </p:val>
                                        </p:tav>
                                      </p:tavLst>
                                    </p:anim>
                                    <p:anim calcmode="lin" valueType="num">
                                      <p:cBhvr>
                                        <p:cTn id="30" dur="1000" fill="hold"/>
                                        <p:tgtEl>
                                          <p:spTgt spid="9"/>
                                        </p:tgtEl>
                                        <p:attrNameLst>
                                          <p:attrName>style.rotation</p:attrName>
                                        </p:attrNameLst>
                                      </p:cBhvr>
                                      <p:tavLst>
                                        <p:tav tm="0">
                                          <p:val>
                                            <p:fltVal val="90"/>
                                          </p:val>
                                        </p:tav>
                                        <p:tav tm="100000">
                                          <p:val>
                                            <p:fltVal val="0"/>
                                          </p:val>
                                        </p:tav>
                                      </p:tavLst>
                                    </p:anim>
                                    <p:animEffect transition="in" filter="fade">
                                      <p:cBhvr>
                                        <p:cTn id="31" dur="10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4099"/>
                                        </p:tgtEl>
                                        <p:attrNameLst>
                                          <p:attrName>style.visibility</p:attrName>
                                        </p:attrNameLst>
                                      </p:cBhvr>
                                      <p:to>
                                        <p:strVal val="visible"/>
                                      </p:to>
                                    </p:set>
                                    <p:animEffect transition="in" filter="randombar(horizontal)">
                                      <p:cBhvr>
                                        <p:cTn id="36" dur="500"/>
                                        <p:tgtEl>
                                          <p:spTgt spid="4099"/>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1" dur="500"/>
                                        <p:tgtEl>
                                          <p:spTgt spid="4">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4">
                                            <p:txEl>
                                              <p:pRg st="1" end="1"/>
                                            </p:txEl>
                                          </p:spTgt>
                                        </p:tgtEl>
                                        <p:attrNameLst>
                                          <p:attrName>style.visibility</p:attrName>
                                        </p:attrNameLst>
                                      </p:cBhvr>
                                      <p:to>
                                        <p:strVal val="visible"/>
                                      </p:to>
                                    </p:set>
                                    <p:animEffect transition="in" filter="randombar(horizontal)">
                                      <p:cBhvr>
                                        <p:cTn id="46"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3E21D3-7788-4819-8437-C5C4B0C5D46D}">
  <ds:schemaRefs>
    <ds:schemaRef ds:uri="http://schemas.microsoft.com/sharepoint/v3"/>
    <ds:schemaRef ds:uri="http://purl.org/dc/terms/"/>
    <ds:schemaRef ds:uri="http://schemas.openxmlformats.org/package/2006/metadata/core-properties"/>
    <ds:schemaRef ds:uri="6dc4bcd6-49db-4c07-9060-8acfc67cef9f"/>
    <ds:schemaRef ds:uri="http://schemas.microsoft.com/office/2006/documentManagement/types"/>
    <ds:schemaRef ds:uri="http://schemas.microsoft.com/office/infopath/2007/PartnerControls"/>
    <ds:schemaRef ds:uri="fb0879af-3eba-417a-a55a-ffe6dcd6ca77"/>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063CD11F-9FDB-4628-B708-63BFB2D681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BF972C-B81A-46A3-BFB2-A01F0B5DBC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2668</Words>
  <Application>Microsoft Office PowerPoint</Application>
  <PresentationFormat>宽屏</PresentationFormat>
  <Paragraphs>94</Paragraphs>
  <Slides>43</Slides>
  <Notes>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43</vt:i4>
      </vt:variant>
    </vt:vector>
  </HeadingPairs>
  <TitlesOfParts>
    <vt:vector size="46" baseType="lpstr">
      <vt:lpstr>Microsoft YaHei UI</vt:lpstr>
      <vt:lpstr>Times New Roman</vt:lpstr>
      <vt:lpstr>Default Design</vt:lpstr>
      <vt:lpstr>如何使用此模板</vt:lpstr>
      <vt:lpstr>第四卷</vt:lpstr>
      <vt:lpstr>1，护卫者幸福吗？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2020-02-08T12:01:34Z</dcterms:created>
  <dcterms:modified xsi:type="dcterms:W3CDTF">2025-10-09T12:14:36Z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