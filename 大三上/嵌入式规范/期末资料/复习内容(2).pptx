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 id="2147483685" r:id="rId4"/>
  </p:sldMasterIdLst>
  <p:notesMasterIdLst>
    <p:notesMasterId r:id="rId93"/>
  </p:notesMasterIdLst>
  <p:sldIdLst>
    <p:sldId id="256" r:id="rId5"/>
    <p:sldId id="266" r:id="rId6"/>
    <p:sldId id="260" r:id="rId7"/>
    <p:sldId id="289" r:id="rId8"/>
    <p:sldId id="307" r:id="rId9"/>
    <p:sldId id="386" r:id="rId10"/>
    <p:sldId id="388" r:id="rId11"/>
    <p:sldId id="389" r:id="rId12"/>
    <p:sldId id="408" r:id="rId13"/>
    <p:sldId id="409" r:id="rId14"/>
    <p:sldId id="390" r:id="rId15"/>
    <p:sldId id="391" r:id="rId16"/>
    <p:sldId id="410" r:id="rId17"/>
    <p:sldId id="411" r:id="rId18"/>
    <p:sldId id="488" r:id="rId19"/>
    <p:sldId id="489" r:id="rId20"/>
    <p:sldId id="396" r:id="rId21"/>
    <p:sldId id="397" r:id="rId22"/>
    <p:sldId id="412" r:id="rId23"/>
    <p:sldId id="398" r:id="rId24"/>
    <p:sldId id="413" r:id="rId25"/>
    <p:sldId id="399" r:id="rId26"/>
    <p:sldId id="414" r:id="rId27"/>
    <p:sldId id="400" r:id="rId28"/>
    <p:sldId id="401" r:id="rId29"/>
    <p:sldId id="415" r:id="rId30"/>
    <p:sldId id="416" r:id="rId31"/>
    <p:sldId id="417" r:id="rId32"/>
    <p:sldId id="418" r:id="rId33"/>
    <p:sldId id="419" r:id="rId34"/>
    <p:sldId id="420" r:id="rId35"/>
    <p:sldId id="402" r:id="rId36"/>
    <p:sldId id="403" r:id="rId37"/>
    <p:sldId id="404" r:id="rId38"/>
    <p:sldId id="421" r:id="rId39"/>
    <p:sldId id="423" r:id="rId40"/>
    <p:sldId id="422" r:id="rId41"/>
    <p:sldId id="424" r:id="rId42"/>
    <p:sldId id="425" r:id="rId43"/>
    <p:sldId id="426" r:id="rId44"/>
    <p:sldId id="427" r:id="rId45"/>
    <p:sldId id="428" r:id="rId46"/>
    <p:sldId id="429" r:id="rId47"/>
    <p:sldId id="430" r:id="rId48"/>
    <p:sldId id="431" r:id="rId49"/>
    <p:sldId id="432" r:id="rId50"/>
    <p:sldId id="433" r:id="rId51"/>
    <p:sldId id="434" r:id="rId52"/>
    <p:sldId id="269" r:id="rId53"/>
    <p:sldId id="270" r:id="rId54"/>
    <p:sldId id="376" r:id="rId55"/>
    <p:sldId id="387" r:id="rId56"/>
    <p:sldId id="261" r:id="rId57"/>
    <p:sldId id="267" r:id="rId58"/>
    <p:sldId id="268" r:id="rId59"/>
    <p:sldId id="309" r:id="rId60"/>
    <p:sldId id="333" r:id="rId61"/>
    <p:sldId id="352" r:id="rId62"/>
    <p:sldId id="355" r:id="rId63"/>
    <p:sldId id="365" r:id="rId64"/>
    <p:sldId id="435" r:id="rId65"/>
    <p:sldId id="367" r:id="rId66"/>
    <p:sldId id="436" r:id="rId67"/>
    <p:sldId id="362" r:id="rId68"/>
    <p:sldId id="370" r:id="rId69"/>
    <p:sldId id="405" r:id="rId70"/>
    <p:sldId id="406" r:id="rId71"/>
    <p:sldId id="342" r:id="rId72"/>
    <p:sldId id="343" r:id="rId73"/>
    <p:sldId id="257" r:id="rId74"/>
    <p:sldId id="407" r:id="rId75"/>
    <p:sldId id="351" r:id="rId76"/>
    <p:sldId id="304" r:id="rId77"/>
    <p:sldId id="310" r:id="rId78"/>
    <p:sldId id="311" r:id="rId79"/>
    <p:sldId id="328" r:id="rId80"/>
    <p:sldId id="317" r:id="rId81"/>
    <p:sldId id="318" r:id="rId82"/>
    <p:sldId id="319" r:id="rId83"/>
    <p:sldId id="320" r:id="rId84"/>
    <p:sldId id="321" r:id="rId85"/>
    <p:sldId id="323" r:id="rId86"/>
    <p:sldId id="330" r:id="rId87"/>
    <p:sldId id="331" r:id="rId88"/>
    <p:sldId id="332" r:id="rId89"/>
    <p:sldId id="437" r:id="rId90"/>
    <p:sldId id="335" r:id="rId91"/>
    <p:sldId id="348" r:id="rId92"/>
  </p:sldIdLst>
  <p:sldSz cx="12192000" cy="6858000"/>
  <p:notesSz cx="6858000" cy="9144000"/>
  <p:custDataLst>
    <p:tags r:id="rId9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notesMaster" Target="notesMasters/notesMaster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FDAAB-A5E7-4C83-92A6-DE6A83276DD8}" type="datetimeFigureOut">
              <a:rPr lang="zh-CN" altLang="en-US" smtClean="0"/>
              <a:t>2026/1/6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E3136-C19C-41BE-B01C-9D29D51D70C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150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en-US" altLang="zh-CN"/>
          </a:p>
        </p:txBody>
      </p:sp>
      <p:sp>
        <p:nvSpPr>
          <p:cNvPr id="2150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sz="4200">
                <a:solidFill>
                  <a:srgbClr val="000000"/>
                </a:solidFill>
                <a:latin typeface="Gill Sans" panose="020B0502020104020203" charset="0"/>
                <a:ea typeface="Heiti SC Light" charset="-122"/>
                <a:sym typeface="Gill Sans" panose="020B0502020104020203" charset="0"/>
              </a:defRPr>
            </a:lvl1pPr>
            <a:lvl2pPr marL="742950" indent="-285750">
              <a:defRPr sz="4200">
                <a:solidFill>
                  <a:srgbClr val="000000"/>
                </a:solidFill>
                <a:latin typeface="Gill Sans" panose="020B0502020104020203" charset="0"/>
                <a:ea typeface="Heiti SC Light" charset="-122"/>
                <a:sym typeface="Gill Sans" panose="020B0502020104020203" charset="0"/>
              </a:defRPr>
            </a:lvl2pPr>
            <a:lvl3pPr marL="1143000" indent="-228600">
              <a:defRPr sz="4200">
                <a:solidFill>
                  <a:srgbClr val="000000"/>
                </a:solidFill>
                <a:latin typeface="Gill Sans" panose="020B0502020104020203" charset="0"/>
                <a:ea typeface="Heiti SC Light" charset="-122"/>
                <a:sym typeface="Gill Sans" panose="020B0502020104020203" charset="0"/>
              </a:defRPr>
            </a:lvl3pPr>
            <a:lvl4pPr marL="1600200" indent="-228600">
              <a:defRPr sz="4200">
                <a:solidFill>
                  <a:srgbClr val="000000"/>
                </a:solidFill>
                <a:latin typeface="Gill Sans" panose="020B0502020104020203" charset="0"/>
                <a:ea typeface="Heiti SC Light" charset="-122"/>
                <a:sym typeface="Gill Sans" panose="020B0502020104020203" charset="0"/>
              </a:defRPr>
            </a:lvl4pPr>
            <a:lvl5pPr marL="2057400" indent="-228600">
              <a:defRPr sz="4200">
                <a:solidFill>
                  <a:srgbClr val="000000"/>
                </a:solidFill>
                <a:latin typeface="Gill Sans" panose="020B0502020104020203" charset="0"/>
                <a:ea typeface="Heiti SC Light" charset="-122"/>
                <a:sym typeface="Gill Sans" panose="020B0502020104020203" charset="0"/>
              </a:defRPr>
            </a:lvl5pPr>
            <a:lvl6pPr marL="2514600" indent="-228600" eaLnBrk="0" fontAlgn="base" hangingPunct="0">
              <a:spcBef>
                <a:spcPct val="0"/>
              </a:spcBef>
              <a:spcAft>
                <a:spcPct val="0"/>
              </a:spcAft>
              <a:defRPr sz="4200">
                <a:solidFill>
                  <a:srgbClr val="000000"/>
                </a:solidFill>
                <a:latin typeface="Gill Sans" panose="020B0502020104020203" charset="0"/>
                <a:ea typeface="Heiti SC Light" charset="-122"/>
                <a:sym typeface="Gill Sans" panose="020B0502020104020203" charset="0"/>
              </a:defRPr>
            </a:lvl6pPr>
            <a:lvl7pPr marL="2971800" indent="-228600" eaLnBrk="0" fontAlgn="base" hangingPunct="0">
              <a:spcBef>
                <a:spcPct val="0"/>
              </a:spcBef>
              <a:spcAft>
                <a:spcPct val="0"/>
              </a:spcAft>
              <a:defRPr sz="4200">
                <a:solidFill>
                  <a:srgbClr val="000000"/>
                </a:solidFill>
                <a:latin typeface="Gill Sans" panose="020B0502020104020203" charset="0"/>
                <a:ea typeface="Heiti SC Light" charset="-122"/>
                <a:sym typeface="Gill Sans" panose="020B0502020104020203" charset="0"/>
              </a:defRPr>
            </a:lvl7pPr>
            <a:lvl8pPr marL="3429000" indent="-228600" eaLnBrk="0" fontAlgn="base" hangingPunct="0">
              <a:spcBef>
                <a:spcPct val="0"/>
              </a:spcBef>
              <a:spcAft>
                <a:spcPct val="0"/>
              </a:spcAft>
              <a:defRPr sz="4200">
                <a:solidFill>
                  <a:srgbClr val="000000"/>
                </a:solidFill>
                <a:latin typeface="Gill Sans" panose="020B0502020104020203" charset="0"/>
                <a:ea typeface="Heiti SC Light" charset="-122"/>
                <a:sym typeface="Gill Sans" panose="020B0502020104020203" charset="0"/>
              </a:defRPr>
            </a:lvl8pPr>
            <a:lvl9pPr marL="3886200" indent="-228600" eaLnBrk="0" fontAlgn="base" hangingPunct="0">
              <a:spcBef>
                <a:spcPct val="0"/>
              </a:spcBef>
              <a:spcAft>
                <a:spcPct val="0"/>
              </a:spcAft>
              <a:defRPr sz="4200">
                <a:solidFill>
                  <a:srgbClr val="000000"/>
                </a:solidFill>
                <a:latin typeface="Gill Sans" panose="020B0502020104020203" charset="0"/>
                <a:ea typeface="Heiti SC Light" charset="-122"/>
                <a:sym typeface="Gill Sans" panose="020B0502020104020203" charset="0"/>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47AD108D-1EC2-461E-8CD9-5B70DC03BBBC}" type="slidenum">
              <a:rPr kumimoji="0" lang="zh-CN" altLang="en-US" sz="1200" b="0" i="0" u="none" strike="noStrike" kern="1200" cap="none" spc="0" normalizeH="0" baseline="0" noProof="0" smtClean="0">
                <a:ln>
                  <a:noFill/>
                </a:ln>
                <a:solidFill>
                  <a:srgbClr val="000000"/>
                </a:solidFill>
                <a:effectLst/>
                <a:uLnTx/>
                <a:uFillTx/>
                <a:latin typeface="Gill Sans" panose="020B0502020104020203" charset="0"/>
                <a:ea typeface="Heiti SC Light" charset="-122"/>
                <a:cs typeface="+mn-cs"/>
                <a:sym typeface="Gill Sans" panose="020B0502020104020203" charset="0"/>
              </a:rPr>
              <a:t>3</a:t>
            </a:fld>
            <a:endParaRPr kumimoji="0" lang="zh-CN" altLang="en-US" sz="1200" b="0" i="0" u="none" strike="noStrike" kern="1200" cap="none" spc="0" normalizeH="0" baseline="0" noProof="0">
              <a:ln>
                <a:noFill/>
              </a:ln>
              <a:solidFill>
                <a:srgbClr val="000000"/>
              </a:solidFill>
              <a:effectLst/>
              <a:uLnTx/>
              <a:uFillTx/>
              <a:latin typeface="Gill Sans" panose="020B0502020104020203" charset="0"/>
              <a:ea typeface="Heiti SC Light" charset="-122"/>
              <a:cs typeface="+mn-cs"/>
              <a:sym typeface="Gill Sans" panose="020B0502020104020203"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对于</a:t>
            </a:r>
            <a:r>
              <a:rPr lang="en-US" altLang="zh-CN"/>
              <a:t>scope</a:t>
            </a:r>
            <a:r>
              <a:rPr lang="zh-CN" altLang="en-US"/>
              <a:t>可以分几个窗口，通过</a:t>
            </a:r>
            <a:r>
              <a:rPr lang="en-US" altLang="zh-CN"/>
              <a:t>selector</a:t>
            </a:r>
            <a:r>
              <a:rPr lang="zh-CN" altLang="en-US"/>
              <a:t>选择每个窗口要显示的数据。</a:t>
            </a:r>
          </a:p>
        </p:txBody>
      </p:sp>
      <p:sp>
        <p:nvSpPr>
          <p:cNvPr id="4" name="灯片编号占位符 3"/>
          <p:cNvSpPr>
            <a:spLocks noGrp="1"/>
          </p:cNvSpPr>
          <p:nvPr>
            <p:ph type="sldNum" sz="quarter" idx="5"/>
          </p:nvPr>
        </p:nvSpPr>
        <p:spPr/>
        <p:txBody>
          <a:bodyPr/>
          <a:lstStyle/>
          <a:p>
            <a:pPr>
              <a:defRPr/>
            </a:pPr>
            <a:fld id="{83DE6E09-EF92-4271-90CD-180CFBE3AD93}" type="slidenum">
              <a:rPr lang="zh-CN" altLang="en-US" smtClean="0"/>
              <a:t>66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FC57B93-7801-472D-84E8-96BBA1FAA5B8}" type="datetimeFigureOut">
              <a:rPr lang="zh-CN" altLang="en-US" smtClean="0"/>
              <a:t>2026/1/6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4DF477-80C5-4B50-B855-FD8C2AA68E0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3805" y="2130848"/>
            <a:ext cx="10364391" cy="1470049"/>
          </a:xfrm>
        </p:spPr>
        <p:txBody>
          <a:bodyPr/>
          <a:lstStyle/>
          <a:p>
            <a:r>
              <a:rPr lang="en-US"/>
              <a:t>Click to edit Master title style</a:t>
            </a:r>
          </a:p>
        </p:txBody>
      </p:sp>
      <p:sp>
        <p:nvSpPr>
          <p:cNvPr id="3" name="Subtitle 2"/>
          <p:cNvSpPr>
            <a:spLocks noGrp="1"/>
          </p:cNvSpPr>
          <p:nvPr>
            <p:ph type="subTitle" idx="1"/>
          </p:nvPr>
        </p:nvSpPr>
        <p:spPr>
          <a:xfrm>
            <a:off x="1829098" y="3886647"/>
            <a:ext cx="8533805" cy="1752451"/>
          </a:xfrm>
        </p:spPr>
        <p:txBody>
          <a:bodyPr/>
          <a:lstStyle>
            <a:lvl1pPr marL="0" indent="0" algn="ctr">
              <a:buNone/>
              <a:defRPr/>
            </a:lvl1pPr>
            <a:lvl2pPr marL="321310" indent="0" algn="ctr">
              <a:buNone/>
              <a:defRPr/>
            </a:lvl2pPr>
            <a:lvl3pPr marL="642620" indent="0" algn="ctr">
              <a:buNone/>
              <a:defRPr/>
            </a:lvl3pPr>
            <a:lvl4pPr marL="964565" indent="0" algn="ctr">
              <a:buNone/>
              <a:defRPr/>
            </a:lvl4pPr>
            <a:lvl5pPr marL="1285875" indent="0" algn="ctr">
              <a:buNone/>
              <a:defRPr/>
            </a:lvl5pPr>
            <a:lvl6pPr marL="1607185" indent="0" algn="ctr">
              <a:buNone/>
              <a:defRPr/>
            </a:lvl6pPr>
            <a:lvl7pPr marL="1928495" indent="0" algn="ctr">
              <a:buNone/>
              <a:defRPr/>
            </a:lvl7pPr>
            <a:lvl8pPr marL="2250440" indent="0" algn="ctr">
              <a:buNone/>
              <a:defRPr/>
            </a:lvl8pPr>
            <a:lvl9pPr marL="2571750" indent="0" algn="ctr">
              <a:buNone/>
              <a:defRPr/>
            </a:lvl9pPr>
          </a:lstStyle>
          <a:p>
            <a:r>
              <a:rPr lang="en-US"/>
              <a:t>Click to edit Master subtitle style</a:t>
            </a: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18" y="4406801"/>
            <a:ext cx="10362902" cy="1361777"/>
          </a:xfrm>
        </p:spPr>
        <p:txBody>
          <a:bodyPr anchor="t"/>
          <a:lstStyle>
            <a:lvl1pPr algn="l">
              <a:defRPr sz="2810" b="1" cap="all"/>
            </a:lvl1pPr>
          </a:lstStyle>
          <a:p>
            <a:r>
              <a:rPr lang="en-US"/>
              <a:t>Click to edit Master title style</a:t>
            </a:r>
          </a:p>
        </p:txBody>
      </p:sp>
      <p:sp>
        <p:nvSpPr>
          <p:cNvPr id="3" name="Text Placeholder 2"/>
          <p:cNvSpPr>
            <a:spLocks noGrp="1"/>
          </p:cNvSpPr>
          <p:nvPr>
            <p:ph type="body" idx="1"/>
          </p:nvPr>
        </p:nvSpPr>
        <p:spPr>
          <a:xfrm>
            <a:off x="962918" y="2906613"/>
            <a:ext cx="10362902" cy="1500188"/>
          </a:xfrm>
        </p:spPr>
        <p:txBody>
          <a:bodyPr anchor="b"/>
          <a:lstStyle>
            <a:lvl1pPr marL="0" indent="0">
              <a:buNone/>
              <a:defRPr sz="1405"/>
            </a:lvl1pPr>
            <a:lvl2pPr marL="321310" indent="0">
              <a:buNone/>
              <a:defRPr sz="1265"/>
            </a:lvl2pPr>
            <a:lvl3pPr marL="642620" indent="0">
              <a:buNone/>
              <a:defRPr sz="1125"/>
            </a:lvl3pPr>
            <a:lvl4pPr marL="964565" indent="0">
              <a:buNone/>
              <a:defRPr sz="985"/>
            </a:lvl4pPr>
            <a:lvl5pPr marL="1285875" indent="0">
              <a:buNone/>
              <a:defRPr sz="985"/>
            </a:lvl5pPr>
            <a:lvl6pPr marL="1607185" indent="0">
              <a:buNone/>
              <a:defRPr sz="985"/>
            </a:lvl6pPr>
            <a:lvl7pPr marL="1928495" indent="0">
              <a:buNone/>
              <a:defRPr sz="985"/>
            </a:lvl7pPr>
            <a:lvl8pPr marL="2250440" indent="0">
              <a:buNone/>
              <a:defRPr sz="985"/>
            </a:lvl8pPr>
            <a:lvl9pPr marL="2571750" indent="0">
              <a:buNone/>
              <a:defRPr sz="985"/>
            </a:lvl9pPr>
          </a:lstStyle>
          <a:p>
            <a:pPr lvl="0"/>
            <a:r>
              <a:rPr lang="en-US"/>
              <a:t>Click to edit Master text styles</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90625" y="1946672"/>
            <a:ext cx="4833938" cy="4018359"/>
          </a:xfrm>
        </p:spPr>
        <p:txBody>
          <a:bodyPr/>
          <a:lstStyle>
            <a:lvl1pPr>
              <a:defRPr sz="1970"/>
            </a:lvl1pPr>
            <a:lvl2pPr>
              <a:defRPr sz="1685"/>
            </a:lvl2pPr>
            <a:lvl3pPr>
              <a:defRPr sz="1405"/>
            </a:lvl3pPr>
            <a:lvl4pPr>
              <a:defRPr sz="1265"/>
            </a:lvl4pPr>
            <a:lvl5pPr>
              <a:defRPr sz="1265"/>
            </a:lvl5pPr>
            <a:lvl6pPr>
              <a:defRPr sz="1265"/>
            </a:lvl6pPr>
            <a:lvl7pPr>
              <a:defRPr sz="1265"/>
            </a:lvl7pPr>
            <a:lvl8pPr>
              <a:defRPr sz="1265"/>
            </a:lvl8pPr>
            <a:lvl9pPr>
              <a:defRPr sz="126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7437" y="1946672"/>
            <a:ext cx="4833938" cy="4018359"/>
          </a:xfrm>
        </p:spPr>
        <p:txBody>
          <a:bodyPr/>
          <a:lstStyle>
            <a:lvl1pPr>
              <a:defRPr sz="1970"/>
            </a:lvl1pPr>
            <a:lvl2pPr>
              <a:defRPr sz="1685"/>
            </a:lvl2pPr>
            <a:lvl3pPr>
              <a:defRPr sz="1405"/>
            </a:lvl3pPr>
            <a:lvl4pPr>
              <a:defRPr sz="1265"/>
            </a:lvl4pPr>
            <a:lvl5pPr>
              <a:defRPr sz="1265"/>
            </a:lvl5pPr>
            <a:lvl6pPr>
              <a:defRPr sz="1265"/>
            </a:lvl6pPr>
            <a:lvl7pPr>
              <a:defRPr sz="1265"/>
            </a:lvl7pPr>
            <a:lvl8pPr>
              <a:defRPr sz="1265"/>
            </a:lvl8pPr>
            <a:lvl9pPr>
              <a:defRPr sz="126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0196" y="274588"/>
            <a:ext cx="10971609"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10196" y="1534791"/>
            <a:ext cx="5386090" cy="639589"/>
          </a:xfrm>
        </p:spPr>
        <p:txBody>
          <a:bodyPr anchor="b"/>
          <a:lstStyle>
            <a:lvl1pPr marL="0" indent="0">
              <a:buNone/>
              <a:defRPr sz="1685" b="1"/>
            </a:lvl1pPr>
            <a:lvl2pPr marL="321310" indent="0">
              <a:buNone/>
              <a:defRPr sz="1405" b="1"/>
            </a:lvl2pPr>
            <a:lvl3pPr marL="642620" indent="0">
              <a:buNone/>
              <a:defRPr sz="1265" b="1"/>
            </a:lvl3pPr>
            <a:lvl4pPr marL="964565" indent="0">
              <a:buNone/>
              <a:defRPr sz="1125" b="1"/>
            </a:lvl4pPr>
            <a:lvl5pPr marL="1285875" indent="0">
              <a:buNone/>
              <a:defRPr sz="1125" b="1"/>
            </a:lvl5pPr>
            <a:lvl6pPr marL="1607185" indent="0">
              <a:buNone/>
              <a:defRPr sz="1125" b="1"/>
            </a:lvl6pPr>
            <a:lvl7pPr marL="1928495" indent="0">
              <a:buNone/>
              <a:defRPr sz="1125" b="1"/>
            </a:lvl7pPr>
            <a:lvl8pPr marL="2250440" indent="0">
              <a:buNone/>
              <a:defRPr sz="1125" b="1"/>
            </a:lvl8pPr>
            <a:lvl9pPr marL="2571750" indent="0">
              <a:buNone/>
              <a:defRPr sz="1125" b="1"/>
            </a:lvl9pPr>
          </a:lstStyle>
          <a:p>
            <a:pPr lvl="0"/>
            <a:r>
              <a:rPr lang="en-US"/>
              <a:t>Click to edit Master text styles</a:t>
            </a:r>
          </a:p>
        </p:txBody>
      </p:sp>
      <p:sp>
        <p:nvSpPr>
          <p:cNvPr id="4" name="Content Placeholder 3"/>
          <p:cNvSpPr>
            <a:spLocks noGrp="1"/>
          </p:cNvSpPr>
          <p:nvPr>
            <p:ph sz="half" idx="2"/>
          </p:nvPr>
        </p:nvSpPr>
        <p:spPr>
          <a:xfrm>
            <a:off x="610196" y="2174379"/>
            <a:ext cx="5386090" cy="3951387"/>
          </a:xfrm>
        </p:spPr>
        <p:txBody>
          <a:bodyPr/>
          <a:lstStyle>
            <a:lvl1pPr>
              <a:defRPr sz="1685"/>
            </a:lvl1pPr>
            <a:lvl2pPr>
              <a:defRPr sz="1405"/>
            </a:lvl2pPr>
            <a:lvl3pPr>
              <a:defRPr sz="1265"/>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739" y="1534791"/>
            <a:ext cx="5389066" cy="639589"/>
          </a:xfrm>
        </p:spPr>
        <p:txBody>
          <a:bodyPr anchor="b"/>
          <a:lstStyle>
            <a:lvl1pPr marL="0" indent="0">
              <a:buNone/>
              <a:defRPr sz="1685" b="1"/>
            </a:lvl1pPr>
            <a:lvl2pPr marL="321310" indent="0">
              <a:buNone/>
              <a:defRPr sz="1405" b="1"/>
            </a:lvl2pPr>
            <a:lvl3pPr marL="642620" indent="0">
              <a:buNone/>
              <a:defRPr sz="1265" b="1"/>
            </a:lvl3pPr>
            <a:lvl4pPr marL="964565" indent="0">
              <a:buNone/>
              <a:defRPr sz="1125" b="1"/>
            </a:lvl4pPr>
            <a:lvl5pPr marL="1285875" indent="0">
              <a:buNone/>
              <a:defRPr sz="1125" b="1"/>
            </a:lvl5pPr>
            <a:lvl6pPr marL="1607185" indent="0">
              <a:buNone/>
              <a:defRPr sz="1125" b="1"/>
            </a:lvl6pPr>
            <a:lvl7pPr marL="1928495" indent="0">
              <a:buNone/>
              <a:defRPr sz="1125" b="1"/>
            </a:lvl7pPr>
            <a:lvl8pPr marL="2250440" indent="0">
              <a:buNone/>
              <a:defRPr sz="1125" b="1"/>
            </a:lvl8pPr>
            <a:lvl9pPr marL="2571750" indent="0">
              <a:buNone/>
              <a:defRPr sz="1125" b="1"/>
            </a:lvl9pPr>
          </a:lstStyle>
          <a:p>
            <a:pPr lvl="0"/>
            <a:r>
              <a:rPr lang="en-US"/>
              <a:t>Click to edit Master text styles</a:t>
            </a:r>
          </a:p>
        </p:txBody>
      </p:sp>
      <p:sp>
        <p:nvSpPr>
          <p:cNvPr id="6" name="Content Placeholder 5"/>
          <p:cNvSpPr>
            <a:spLocks noGrp="1"/>
          </p:cNvSpPr>
          <p:nvPr>
            <p:ph sz="quarter" idx="4"/>
          </p:nvPr>
        </p:nvSpPr>
        <p:spPr>
          <a:xfrm>
            <a:off x="6192739" y="2174379"/>
            <a:ext cx="5389066" cy="3951387"/>
          </a:xfrm>
        </p:spPr>
        <p:txBody>
          <a:bodyPr/>
          <a:lstStyle>
            <a:lvl1pPr>
              <a:defRPr sz="1685"/>
            </a:lvl1pPr>
            <a:lvl2pPr>
              <a:defRPr sz="1405"/>
            </a:lvl2pPr>
            <a:lvl3pPr>
              <a:defRPr sz="1265"/>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0196" y="273473"/>
            <a:ext cx="4010918" cy="1161975"/>
          </a:xfrm>
        </p:spPr>
        <p:txBody>
          <a:bodyPr anchor="b"/>
          <a:lstStyle>
            <a:lvl1pPr algn="l">
              <a:defRPr sz="1405" b="1"/>
            </a:lvl1pPr>
          </a:lstStyle>
          <a:p>
            <a:r>
              <a:rPr lang="en-US"/>
              <a:t>Click to edit Master title style</a:t>
            </a:r>
          </a:p>
        </p:txBody>
      </p:sp>
      <p:sp>
        <p:nvSpPr>
          <p:cNvPr id="3" name="Content Placeholder 2"/>
          <p:cNvSpPr>
            <a:spLocks noGrp="1"/>
          </p:cNvSpPr>
          <p:nvPr>
            <p:ph idx="1"/>
          </p:nvPr>
        </p:nvSpPr>
        <p:spPr>
          <a:xfrm>
            <a:off x="4766965" y="273472"/>
            <a:ext cx="6814839" cy="5852294"/>
          </a:xfrm>
        </p:spPr>
        <p:txBody>
          <a:bodyPr/>
          <a:lstStyle>
            <a:lvl1pPr>
              <a:defRPr sz="2250"/>
            </a:lvl1pPr>
            <a:lvl2pPr>
              <a:defRPr sz="1970"/>
            </a:lvl2pPr>
            <a:lvl3pPr>
              <a:defRPr sz="1685"/>
            </a:lvl3pPr>
            <a:lvl4pPr>
              <a:defRPr sz="1405"/>
            </a:lvl4pPr>
            <a:lvl5pPr>
              <a:defRPr sz="1405"/>
            </a:lvl5pPr>
            <a:lvl6pPr>
              <a:defRPr sz="1405"/>
            </a:lvl6pPr>
            <a:lvl7pPr>
              <a:defRPr sz="1405"/>
            </a:lvl7pPr>
            <a:lvl8pPr>
              <a:defRPr sz="1405"/>
            </a:lvl8pPr>
            <a:lvl9pPr>
              <a:defRPr sz="14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0196" y="1435448"/>
            <a:ext cx="4010918" cy="4690318"/>
          </a:xfrm>
        </p:spPr>
        <p:txBody>
          <a:bodyPr/>
          <a:lstStyle>
            <a:lvl1pPr marL="0" indent="0">
              <a:buNone/>
              <a:defRPr sz="985"/>
            </a:lvl1pPr>
            <a:lvl2pPr marL="321310" indent="0">
              <a:buNone/>
              <a:defRPr sz="845"/>
            </a:lvl2pPr>
            <a:lvl3pPr marL="642620" indent="0">
              <a:buNone/>
              <a:defRPr sz="705"/>
            </a:lvl3pPr>
            <a:lvl4pPr marL="964565" indent="0">
              <a:buNone/>
              <a:defRPr sz="635"/>
            </a:lvl4pPr>
            <a:lvl5pPr marL="1285875" indent="0">
              <a:buNone/>
              <a:defRPr sz="635"/>
            </a:lvl5pPr>
            <a:lvl6pPr marL="1607185" indent="0">
              <a:buNone/>
              <a:defRPr sz="635"/>
            </a:lvl6pPr>
            <a:lvl7pPr marL="1928495" indent="0">
              <a:buNone/>
              <a:defRPr sz="635"/>
            </a:lvl7pPr>
            <a:lvl8pPr marL="2250440" indent="0">
              <a:buNone/>
              <a:defRPr sz="635"/>
            </a:lvl8pPr>
            <a:lvl9pPr marL="2571750" indent="0">
              <a:buNone/>
              <a:defRPr sz="635"/>
            </a:lvl9pPr>
          </a:lstStyle>
          <a:p>
            <a:pPr lvl="0"/>
            <a:r>
              <a:rPr lang="en-US"/>
              <a:t>Click to edit Master text styles</a:t>
            </a: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180" y="4800824"/>
            <a:ext cx="7314903" cy="567035"/>
          </a:xfrm>
        </p:spPr>
        <p:txBody>
          <a:bodyPr anchor="b"/>
          <a:lstStyle>
            <a:lvl1pPr algn="l">
              <a:defRPr sz="1405" b="1"/>
            </a:lvl1pPr>
          </a:lstStyle>
          <a:p>
            <a:r>
              <a:rPr lang="en-US"/>
              <a:t>Click to edit Master title style</a:t>
            </a:r>
          </a:p>
        </p:txBody>
      </p:sp>
      <p:sp>
        <p:nvSpPr>
          <p:cNvPr id="3" name="Picture Placeholder 2"/>
          <p:cNvSpPr>
            <a:spLocks noGrp="1"/>
          </p:cNvSpPr>
          <p:nvPr>
            <p:ph type="pic" idx="1"/>
          </p:nvPr>
        </p:nvSpPr>
        <p:spPr>
          <a:xfrm>
            <a:off x="2390180" y="612800"/>
            <a:ext cx="7314903" cy="4114354"/>
          </a:xfrm>
        </p:spPr>
        <p:txBody>
          <a:bodyPr/>
          <a:lstStyle>
            <a:lvl1pPr marL="0" indent="0">
              <a:buNone/>
              <a:defRPr sz="2250"/>
            </a:lvl1pPr>
            <a:lvl2pPr marL="321310" indent="0">
              <a:buNone/>
              <a:defRPr sz="1970"/>
            </a:lvl2pPr>
            <a:lvl3pPr marL="642620" indent="0">
              <a:buNone/>
              <a:defRPr sz="1685"/>
            </a:lvl3pPr>
            <a:lvl4pPr marL="964565" indent="0">
              <a:buNone/>
              <a:defRPr sz="1405"/>
            </a:lvl4pPr>
            <a:lvl5pPr marL="1285875" indent="0">
              <a:buNone/>
              <a:defRPr sz="1405"/>
            </a:lvl5pPr>
            <a:lvl6pPr marL="1607185" indent="0">
              <a:buNone/>
              <a:defRPr sz="1405"/>
            </a:lvl6pPr>
            <a:lvl7pPr marL="1928495" indent="0">
              <a:buNone/>
              <a:defRPr sz="1405"/>
            </a:lvl7pPr>
            <a:lvl8pPr marL="2250440" indent="0">
              <a:buNone/>
              <a:defRPr sz="1405"/>
            </a:lvl8pPr>
            <a:lvl9pPr marL="2571750" indent="0">
              <a:buNone/>
              <a:defRPr sz="1405"/>
            </a:lvl9pPr>
          </a:lstStyle>
          <a:p>
            <a:pPr lvl="0"/>
            <a:endParaRPr lang="en-US" noProof="0">
              <a:sym typeface="Gill Sans" panose="020B0502020104020203" charset="0"/>
            </a:endParaRPr>
          </a:p>
        </p:txBody>
      </p:sp>
      <p:sp>
        <p:nvSpPr>
          <p:cNvPr id="4" name="Text Placeholder 3"/>
          <p:cNvSpPr>
            <a:spLocks noGrp="1"/>
          </p:cNvSpPr>
          <p:nvPr>
            <p:ph type="body" sz="half" idx="2"/>
          </p:nvPr>
        </p:nvSpPr>
        <p:spPr>
          <a:xfrm>
            <a:off x="2390180" y="5367859"/>
            <a:ext cx="7314903" cy="804788"/>
          </a:xfrm>
        </p:spPr>
        <p:txBody>
          <a:bodyPr/>
          <a:lstStyle>
            <a:lvl1pPr marL="0" indent="0">
              <a:buNone/>
              <a:defRPr sz="985"/>
            </a:lvl1pPr>
            <a:lvl2pPr marL="321310" indent="0">
              <a:buNone/>
              <a:defRPr sz="845"/>
            </a:lvl2pPr>
            <a:lvl3pPr marL="642620" indent="0">
              <a:buNone/>
              <a:defRPr sz="705"/>
            </a:lvl3pPr>
            <a:lvl4pPr marL="964565" indent="0">
              <a:buNone/>
              <a:defRPr sz="635"/>
            </a:lvl4pPr>
            <a:lvl5pPr marL="1285875" indent="0">
              <a:buNone/>
              <a:defRPr sz="635"/>
            </a:lvl5pPr>
            <a:lvl6pPr marL="1607185" indent="0">
              <a:buNone/>
              <a:defRPr sz="635"/>
            </a:lvl6pPr>
            <a:lvl7pPr marL="1928495" indent="0">
              <a:buNone/>
              <a:defRPr sz="635"/>
            </a:lvl7pPr>
            <a:lvl8pPr marL="2250440" indent="0">
              <a:buNone/>
              <a:defRPr sz="635"/>
            </a:lvl8pPr>
            <a:lvl9pPr marL="2571750" indent="0">
              <a:buNone/>
              <a:defRPr sz="635"/>
            </a:lvl9pPr>
          </a:lstStyle>
          <a:p>
            <a:pPr lvl="0"/>
            <a:r>
              <a:rPr lang="en-US"/>
              <a:t>Click to edit Master text styles</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48687" y="178594"/>
            <a:ext cx="2452688" cy="5786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90625" y="178594"/>
            <a:ext cx="7215188" cy="5786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92150"/>
          </a:xfrm>
        </p:spPr>
        <p:txBody>
          <a:bodyPr/>
          <a:lstStyle/>
          <a:p>
            <a:r>
              <a:rPr lang="zh-CN" altLang="en-US"/>
              <a:t>单击此处编辑母版标题样式</a:t>
            </a: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47EFFC87-7B6B-43F1-B92C-E254933E5E0B}" type="datetimeFigureOut">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6D69A2B-0296-47EE-92B2-76D25791AB72}" type="slidenum">
              <a:rPr lang="zh-CN" altLang="en-US"/>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D0291DA-7DC9-4ECC-BD0D-16AE04139A5D}" type="datetimeFigureOut">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EA3699A-3F16-4ED3-863D-38B19FCF3BB1}" type="slidenum">
              <a:rPr lang="zh-CN" altLang="en-US"/>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C6F31B69-0447-4ADD-811F-9E014537FFD2}" type="datetimeFigureOut">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354E6F4-26E7-410A-9080-73CCE3D73C88}" type="slidenum">
              <a:rPr lang="zh-CN" altLang="en-US"/>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6DAEBC3-7539-44FC-A9E3-B3C0C6C7752D}" type="datetimeFigureOut">
              <a:rPr lang="zh-CN" altLang="en-US"/>
              <a:t>2026/1/6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881E816-60D3-4DE7-951B-52F2043C0D35}" type="slidenum">
              <a:rPr lang="zh-CN" altLang="en-US"/>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9936617C-9C3B-49BA-A62C-004AB9D91782}" type="datetimeFigureOut">
              <a:rPr lang="zh-CN" altLang="en-US"/>
              <a:t>2026/1/6</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45A8472B-3CE7-48DE-BFB3-BFDE2D5D63E0}" type="slidenum">
              <a:rPr lang="zh-CN" altLang="en-US"/>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AE50D46F-6559-4EF5-B5F3-88245FE474CC}" type="datetimeFigureOut">
              <a:rPr lang="zh-CN" altLang="en-US"/>
              <a:t>2026/1/6</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01E2A567-B1D8-4950-A153-8C33F6104A50}" type="slidenum">
              <a:rPr lang="zh-CN" altLang="en-US"/>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5157888-3270-45BB-9F35-A7DF013480FD}" type="datetimeFigureOut">
              <a:rPr lang="zh-CN" altLang="en-US"/>
              <a:t>2026/1/6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A17005CA-EE95-4965-BE5E-2EB55AF0A567}" type="slidenum">
              <a:rPr lang="zh-CN" altLang="en-US"/>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33A52C39-579F-403D-976D-638E40B85547}" type="datetimeFigureOut">
              <a:rPr lang="zh-CN" altLang="en-US"/>
              <a:t>2026/1/6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4828D3E-BCC8-480A-987D-8E967EECBEFC}" type="slidenum">
              <a:rPr lang="zh-CN" altLang="en-US"/>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4222B19-71F8-464B-9559-6F73672C424C}" type="datetimeFigureOut">
              <a:rPr lang="zh-CN" altLang="en-US"/>
              <a:t>2026/1/6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1C24C61-D4CE-4770-B1B2-EDCCA781E62B}" type="slidenum">
              <a:rPr lang="zh-CN" altLang="en-US"/>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48F8BAC-F84C-46E8-B189-F9EBE0B1F71A}" type="datetimeFigureOut">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C4F07A7-DE09-4D15-ABD0-0AEA8F236640}" type="slidenum">
              <a:rPr lang="zh-CN" altLang="en-US"/>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C7D3D01-78E4-4BCB-90EE-87C729D06F52}" type="datetimeFigureOut">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6B43812-F04F-4AD9-9C04-1E32C3DB7317}" type="slidenum">
              <a:rPr lang="zh-CN" altLang="en-US"/>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B6BE422A-6A83-4D98-AA5A-716D426BF78D}" type="datetime1">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2895873-D2F5-4EA9-9970-B09285C9DA6E}" type="slidenum">
              <a:rPr lang="zh-CN" altLang="en-US"/>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61AAA26-BBBD-4627-9A92-0C25C621F98E}" type="datetime1">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9DA3A7A-153D-43AD-AC45-25CBC31F9287}" type="slidenum">
              <a:rPr lang="zh-CN" altLang="en-US"/>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48983B18-C21D-4510-B3A4-3B9EFAF08ED3}" type="datetime1">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FDE911E-550D-4976-90F0-C167C9D0DA09}" type="slidenum">
              <a:rPr lang="zh-CN" altLang="en-US"/>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32FAF6F5-3A82-4516-8C97-DD651EB88FF3}" type="datetime1">
              <a:rPr lang="zh-CN" altLang="en-US"/>
              <a:t>2026/1/6</a:t>
            </a:fld>
            <a:endParaRPr lang="zh-CN" altLang="en-US"/>
          </a:p>
        </p:txBody>
      </p:sp>
      <p:sp>
        <p:nvSpPr>
          <p:cNvPr id="6"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BEDC587-7AE6-4595-B8BE-F8DF98EA28DB}" type="slidenum">
              <a:rPr lang="zh-CN" altLang="en-US"/>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6B508EB4-7AB4-4E9A-881C-DF9C5463EC4F}" type="datetime1">
              <a:rPr lang="zh-CN" altLang="en-US"/>
              <a:t>2026/1/6</a:t>
            </a:fld>
            <a:endParaRPr lang="zh-CN" altLang="en-US"/>
          </a:p>
        </p:txBody>
      </p:sp>
      <p:sp>
        <p:nvSpPr>
          <p:cNvPr id="8"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E5391CD-2924-4CAA-8580-7FCD930CA806}" type="slidenum">
              <a:rPr lang="zh-CN" altLang="en-US"/>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5F6F780-6B47-4F07-AB60-04994BDFAEDB}" type="datetime1">
              <a:rPr lang="zh-CN" altLang="en-US"/>
              <a:t>2026/1/6</a:t>
            </a:fld>
            <a:endParaRPr lang="zh-CN" altLang="en-US"/>
          </a:p>
        </p:txBody>
      </p:sp>
      <p:sp>
        <p:nvSpPr>
          <p:cNvPr id="4"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9FFB50E-D013-435D-BDA9-A1128A541D2C}" type="slidenum">
              <a:rPr lang="zh-CN" altLang="en-US"/>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67BC5684-0B7A-49EC-8908-8EFAE431B4E4}" type="datetime1">
              <a:rPr lang="zh-CN" altLang="en-US"/>
              <a:t>2026/1/6</a:t>
            </a:fld>
            <a:endParaRPr lang="zh-CN" altLang="en-US"/>
          </a:p>
        </p:txBody>
      </p:sp>
      <p:sp>
        <p:nvSpPr>
          <p:cNvPr id="3"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944829-4C4E-46B6-B639-0802FB003E0F}" type="slidenum">
              <a:rPr lang="zh-CN" altLang="en-US"/>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C615A81-A1FF-4C7D-B4FB-523E3A3C5BAF}" type="datetime1">
              <a:rPr lang="zh-CN" altLang="en-US"/>
              <a:t>2026/1/6</a:t>
            </a:fld>
            <a:endParaRPr lang="zh-CN" altLang="en-US"/>
          </a:p>
        </p:txBody>
      </p:sp>
      <p:sp>
        <p:nvSpPr>
          <p:cNvPr id="6"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16F6BBA-01B1-402D-A7A8-44999C729C3C}" type="slidenum">
              <a:rPr lang="zh-CN" altLang="en-US"/>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5973487-E2A6-44F1-A9F5-E2FFB8659131}" type="datetime1">
              <a:rPr lang="zh-CN" altLang="en-US"/>
              <a:t>2026/1/6</a:t>
            </a:fld>
            <a:endParaRPr lang="zh-CN" altLang="en-US"/>
          </a:p>
        </p:txBody>
      </p:sp>
      <p:sp>
        <p:nvSpPr>
          <p:cNvPr id="6"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C5932C8-14DC-4406-8305-21D764BB256A}" type="slidenum">
              <a:rPr lang="zh-CN" altLang="en-US"/>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4BB4CB1-1C65-4028-8713-51C6CE833F8B}" type="datetime1">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3D0D36-08E2-4DF8-8E12-3DE625599E31}" type="slidenum">
              <a:rPr lang="zh-CN" altLang="en-US"/>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9ABFC66-429F-4C03-B09E-B101CB7AE621}" type="datetime1">
              <a:rPr lang="zh-CN" altLang="en-US"/>
              <a:t>2026/1/6</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matlab fundation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2F9903F-7FFC-4E88-985B-6F64FA49EC0D}"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C57B93-7801-472D-84E8-96BBA1FAA5B8}" type="datetimeFigureOut">
              <a:rPr lang="zh-CN" altLang="en-US" smtClean="0"/>
              <a:t>2026/1/6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4DF477-80C5-4B50-B855-FD8C2AA68E0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1"/>
          <p:cNvSpPr>
            <a:spLocks noGrp="1" noChangeArrowheads="1"/>
          </p:cNvSpPr>
          <p:nvPr>
            <p:ph type="title"/>
          </p:nvPr>
        </p:nvSpPr>
        <p:spPr bwMode="auto">
          <a:xfrm>
            <a:off x="1190625" y="178594"/>
            <a:ext cx="98107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ctr" anchorCtr="0" compatLnSpc="1"/>
          <a:lstStyle/>
          <a:p>
            <a:pPr lvl="0"/>
            <a:r>
              <a:rPr lang="en-US" altLang="zh-CN">
                <a:sym typeface="Gill Sans" panose="020B0502020104020203" charset="0"/>
              </a:rPr>
              <a:t>Click to edit Master title style</a:t>
            </a:r>
          </a:p>
        </p:txBody>
      </p:sp>
      <p:sp>
        <p:nvSpPr>
          <p:cNvPr id="2051" name="Rectangle 2"/>
          <p:cNvSpPr>
            <a:spLocks noGrp="1" noChangeArrowheads="1"/>
          </p:cNvSpPr>
          <p:nvPr>
            <p:ph type="body" idx="1"/>
          </p:nvPr>
        </p:nvSpPr>
        <p:spPr bwMode="auto">
          <a:xfrm>
            <a:off x="1190625" y="1946672"/>
            <a:ext cx="9810750" cy="4018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ctr" anchorCtr="0" compatLnSpc="1"/>
          <a:lstStyle/>
          <a:p>
            <a:pPr lvl="0"/>
            <a:r>
              <a:rPr lang="en-US" altLang="zh-CN">
                <a:sym typeface="Gill Sans" panose="020B0502020104020203" charset="0"/>
              </a:rPr>
              <a:t>Click to edit Master text styles</a:t>
            </a:r>
          </a:p>
          <a:p>
            <a:pPr lvl="1"/>
            <a:r>
              <a:rPr lang="en-US" altLang="zh-CN">
                <a:sym typeface="Gill Sans" panose="020B0502020104020203" charset="0"/>
              </a:rPr>
              <a:t>Second level</a:t>
            </a:r>
          </a:p>
          <a:p>
            <a:pPr lvl="2"/>
            <a:r>
              <a:rPr lang="en-US" altLang="zh-CN">
                <a:sym typeface="Gill Sans" panose="020B0502020104020203" charset="0"/>
              </a:rPr>
              <a:t>Third level</a:t>
            </a:r>
          </a:p>
          <a:p>
            <a:pPr lvl="3"/>
            <a:r>
              <a:rPr lang="en-US" altLang="zh-CN">
                <a:sym typeface="Gill Sans" panose="020B0502020104020203" charset="0"/>
              </a:rPr>
              <a:t>Fourth level</a:t>
            </a:r>
          </a:p>
          <a:p>
            <a:pPr lvl="4"/>
            <a:r>
              <a:rPr lang="en-US" altLang="zh-CN">
                <a:sym typeface="Gill Sans" panose="020B0502020104020203" charset="0"/>
              </a:rPr>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txStyles>
    <p:titleStyle>
      <a:lvl1pPr algn="ctr" rtl="0" eaLnBrk="0" fontAlgn="base" hangingPunct="0">
        <a:spcBef>
          <a:spcPct val="0"/>
        </a:spcBef>
        <a:spcAft>
          <a:spcPct val="0"/>
        </a:spcAft>
        <a:defRPr sz="5905">
          <a:solidFill>
            <a:schemeClr val="tx1"/>
          </a:solidFill>
          <a:latin typeface="+mj-lt"/>
          <a:ea typeface="+mj-ea"/>
          <a:cs typeface="+mj-cs"/>
          <a:sym typeface="Gill Sans" panose="020B0502020104020203" charset="0"/>
        </a:defRPr>
      </a:lvl1pPr>
      <a:lvl2pPr algn="ctr" rtl="0" eaLnBrk="0" fontAlgn="base" hangingPunct="0">
        <a:spcBef>
          <a:spcPct val="0"/>
        </a:spcBef>
        <a:spcAft>
          <a:spcPct val="0"/>
        </a:spcAft>
        <a:defRPr sz="5905">
          <a:solidFill>
            <a:schemeClr val="tx1"/>
          </a:solidFill>
          <a:latin typeface="Gill Sans" panose="020B0502020104020203" charset="0"/>
          <a:ea typeface="Heiti SC Light" charset="-122"/>
          <a:cs typeface="Heiti SC Light" charset="-122"/>
          <a:sym typeface="Gill Sans" panose="020B0502020104020203" charset="0"/>
        </a:defRPr>
      </a:lvl2pPr>
      <a:lvl3pPr algn="ctr" rtl="0" eaLnBrk="0" fontAlgn="base" hangingPunct="0">
        <a:spcBef>
          <a:spcPct val="0"/>
        </a:spcBef>
        <a:spcAft>
          <a:spcPct val="0"/>
        </a:spcAft>
        <a:defRPr sz="5905">
          <a:solidFill>
            <a:schemeClr val="tx1"/>
          </a:solidFill>
          <a:latin typeface="Gill Sans" panose="020B0502020104020203" charset="0"/>
          <a:ea typeface="Heiti SC Light" charset="-122"/>
          <a:cs typeface="Heiti SC Light" charset="-122"/>
          <a:sym typeface="Gill Sans" panose="020B0502020104020203" charset="0"/>
        </a:defRPr>
      </a:lvl3pPr>
      <a:lvl4pPr algn="ctr" rtl="0" eaLnBrk="0" fontAlgn="base" hangingPunct="0">
        <a:spcBef>
          <a:spcPct val="0"/>
        </a:spcBef>
        <a:spcAft>
          <a:spcPct val="0"/>
        </a:spcAft>
        <a:defRPr sz="5905">
          <a:solidFill>
            <a:schemeClr val="tx1"/>
          </a:solidFill>
          <a:latin typeface="Gill Sans" panose="020B0502020104020203" charset="0"/>
          <a:ea typeface="Heiti SC Light" charset="-122"/>
          <a:cs typeface="Heiti SC Light" charset="-122"/>
          <a:sym typeface="Gill Sans" panose="020B0502020104020203" charset="0"/>
        </a:defRPr>
      </a:lvl4pPr>
      <a:lvl5pPr algn="ctr" rtl="0" eaLnBrk="0" fontAlgn="base" hangingPunct="0">
        <a:spcBef>
          <a:spcPct val="0"/>
        </a:spcBef>
        <a:spcAft>
          <a:spcPct val="0"/>
        </a:spcAft>
        <a:defRPr sz="5905">
          <a:solidFill>
            <a:schemeClr val="tx1"/>
          </a:solidFill>
          <a:latin typeface="Gill Sans" panose="020B0502020104020203" charset="0"/>
          <a:ea typeface="Heiti SC Light" charset="-122"/>
          <a:cs typeface="Heiti SC Light" charset="-122"/>
          <a:sym typeface="Gill Sans" panose="020B0502020104020203" charset="0"/>
        </a:defRPr>
      </a:lvl5pPr>
      <a:lvl6pPr marL="321310" algn="ctr" rtl="0" fontAlgn="base">
        <a:spcBef>
          <a:spcPct val="0"/>
        </a:spcBef>
        <a:spcAft>
          <a:spcPct val="0"/>
        </a:spcAft>
        <a:defRPr sz="5905">
          <a:solidFill>
            <a:schemeClr val="tx1"/>
          </a:solidFill>
          <a:latin typeface="Gill Sans" panose="020B0502020104020203" charset="0"/>
          <a:ea typeface="Heiti SC Light" charset="-122"/>
          <a:cs typeface="Heiti SC Light" charset="-122"/>
          <a:sym typeface="Gill Sans" panose="020B0502020104020203" charset="0"/>
        </a:defRPr>
      </a:lvl6pPr>
      <a:lvl7pPr marL="642620" algn="ctr" rtl="0" fontAlgn="base">
        <a:spcBef>
          <a:spcPct val="0"/>
        </a:spcBef>
        <a:spcAft>
          <a:spcPct val="0"/>
        </a:spcAft>
        <a:defRPr sz="5905">
          <a:solidFill>
            <a:schemeClr val="tx1"/>
          </a:solidFill>
          <a:latin typeface="Gill Sans" panose="020B0502020104020203" charset="0"/>
          <a:ea typeface="Heiti SC Light" charset="-122"/>
          <a:cs typeface="Heiti SC Light" charset="-122"/>
          <a:sym typeface="Gill Sans" panose="020B0502020104020203" charset="0"/>
        </a:defRPr>
      </a:lvl7pPr>
      <a:lvl8pPr marL="964565" algn="ctr" rtl="0" fontAlgn="base">
        <a:spcBef>
          <a:spcPct val="0"/>
        </a:spcBef>
        <a:spcAft>
          <a:spcPct val="0"/>
        </a:spcAft>
        <a:defRPr sz="5905">
          <a:solidFill>
            <a:schemeClr val="tx1"/>
          </a:solidFill>
          <a:latin typeface="Gill Sans" panose="020B0502020104020203" charset="0"/>
          <a:ea typeface="Heiti SC Light" charset="-122"/>
          <a:cs typeface="Heiti SC Light" charset="-122"/>
          <a:sym typeface="Gill Sans" panose="020B0502020104020203" charset="0"/>
        </a:defRPr>
      </a:lvl8pPr>
      <a:lvl9pPr marL="1285875" algn="ctr" rtl="0" fontAlgn="base">
        <a:spcBef>
          <a:spcPct val="0"/>
        </a:spcBef>
        <a:spcAft>
          <a:spcPct val="0"/>
        </a:spcAft>
        <a:defRPr sz="5905">
          <a:solidFill>
            <a:schemeClr val="tx1"/>
          </a:solidFill>
          <a:latin typeface="Gill Sans" panose="020B0502020104020203" charset="0"/>
          <a:ea typeface="Heiti SC Light" charset="-122"/>
          <a:cs typeface="Heiti SC Light" charset="-122"/>
          <a:sym typeface="Gill Sans" panose="020B0502020104020203" charset="0"/>
        </a:defRPr>
      </a:lvl9pPr>
    </p:titleStyle>
    <p:bodyStyle>
      <a:lvl1pPr marL="589280" indent="-401955" algn="l" rtl="0" eaLnBrk="0" fontAlgn="base" hangingPunct="0">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1pPr>
      <a:lvl2pPr marL="901700" indent="-401955" algn="l" rtl="0" eaLnBrk="0" fontAlgn="base" hangingPunct="0">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2pPr>
      <a:lvl3pPr marL="1214120" indent="-401955" algn="l" rtl="0" eaLnBrk="0" fontAlgn="base" hangingPunct="0">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3pPr>
      <a:lvl4pPr marL="1527175" indent="-401955" algn="l" rtl="0" eaLnBrk="0" fontAlgn="base" hangingPunct="0">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4pPr>
      <a:lvl5pPr marL="1839595" indent="-401955" algn="l" rtl="0" eaLnBrk="0" fontAlgn="base" hangingPunct="0">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5pPr>
      <a:lvl6pPr marL="2160905" indent="-401955" algn="l" rtl="0" fontAlgn="base">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6pPr>
      <a:lvl7pPr marL="2482215" indent="-401955" algn="l" rtl="0" fontAlgn="base">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7pPr>
      <a:lvl8pPr marL="2803525" indent="-401955" algn="l" rtl="0" fontAlgn="base">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8pPr>
      <a:lvl9pPr marL="3125470" indent="-401955" algn="l" rtl="0" fontAlgn="base">
        <a:spcBef>
          <a:spcPts val="1685"/>
        </a:spcBef>
        <a:spcAft>
          <a:spcPct val="0"/>
        </a:spcAft>
        <a:buSzPct val="171000"/>
        <a:buFont typeface="Gill Sans" panose="020B0502020104020203" charset="0"/>
        <a:buChar char="•"/>
        <a:defRPr sz="2955">
          <a:solidFill>
            <a:schemeClr val="tx1"/>
          </a:solidFill>
          <a:latin typeface="+mn-lt"/>
          <a:ea typeface="+mn-ea"/>
          <a:cs typeface="+mn-cs"/>
          <a:sym typeface="Gill Sans" panose="020B0502020104020203" charset="0"/>
        </a:defRPr>
      </a:lvl9pPr>
    </p:bodyStyle>
    <p:otherStyle>
      <a:defPPr>
        <a:defRPr lang="en-US"/>
      </a:defPPr>
      <a:lvl1pPr marL="0" algn="l" defTabSz="642620" rtl="0" eaLnBrk="1" latinLnBrk="0" hangingPunct="1">
        <a:defRPr sz="1265" kern="1200">
          <a:solidFill>
            <a:schemeClr val="tx1"/>
          </a:solidFill>
          <a:latin typeface="+mn-lt"/>
          <a:ea typeface="+mn-ea"/>
          <a:cs typeface="+mn-cs"/>
        </a:defRPr>
      </a:lvl1pPr>
      <a:lvl2pPr marL="321310" algn="l" defTabSz="642620" rtl="0" eaLnBrk="1" latinLnBrk="0" hangingPunct="1">
        <a:defRPr sz="1265" kern="1200">
          <a:solidFill>
            <a:schemeClr val="tx1"/>
          </a:solidFill>
          <a:latin typeface="+mn-lt"/>
          <a:ea typeface="+mn-ea"/>
          <a:cs typeface="+mn-cs"/>
        </a:defRPr>
      </a:lvl2pPr>
      <a:lvl3pPr marL="642620" algn="l" defTabSz="642620" rtl="0" eaLnBrk="1" latinLnBrk="0" hangingPunct="1">
        <a:defRPr sz="1265" kern="1200">
          <a:solidFill>
            <a:schemeClr val="tx1"/>
          </a:solidFill>
          <a:latin typeface="+mn-lt"/>
          <a:ea typeface="+mn-ea"/>
          <a:cs typeface="+mn-cs"/>
        </a:defRPr>
      </a:lvl3pPr>
      <a:lvl4pPr marL="964565" algn="l" defTabSz="642620" rtl="0" eaLnBrk="1" latinLnBrk="0" hangingPunct="1">
        <a:defRPr sz="1265" kern="1200">
          <a:solidFill>
            <a:schemeClr val="tx1"/>
          </a:solidFill>
          <a:latin typeface="+mn-lt"/>
          <a:ea typeface="+mn-ea"/>
          <a:cs typeface="+mn-cs"/>
        </a:defRPr>
      </a:lvl4pPr>
      <a:lvl5pPr marL="1285875" algn="l" defTabSz="642620" rtl="0" eaLnBrk="1" latinLnBrk="0" hangingPunct="1">
        <a:defRPr sz="1265" kern="1200">
          <a:solidFill>
            <a:schemeClr val="tx1"/>
          </a:solidFill>
          <a:latin typeface="+mn-lt"/>
          <a:ea typeface="+mn-ea"/>
          <a:cs typeface="+mn-cs"/>
        </a:defRPr>
      </a:lvl5pPr>
      <a:lvl6pPr marL="1607185" algn="l" defTabSz="642620" rtl="0" eaLnBrk="1" latinLnBrk="0" hangingPunct="1">
        <a:defRPr sz="1265" kern="1200">
          <a:solidFill>
            <a:schemeClr val="tx1"/>
          </a:solidFill>
          <a:latin typeface="+mn-lt"/>
          <a:ea typeface="+mn-ea"/>
          <a:cs typeface="+mn-cs"/>
        </a:defRPr>
      </a:lvl6pPr>
      <a:lvl7pPr marL="1928495" algn="l" defTabSz="642620" rtl="0" eaLnBrk="1" latinLnBrk="0" hangingPunct="1">
        <a:defRPr sz="1265" kern="1200">
          <a:solidFill>
            <a:schemeClr val="tx1"/>
          </a:solidFill>
          <a:latin typeface="+mn-lt"/>
          <a:ea typeface="+mn-ea"/>
          <a:cs typeface="+mn-cs"/>
        </a:defRPr>
      </a:lvl7pPr>
      <a:lvl8pPr marL="2250440" algn="l" defTabSz="642620" rtl="0" eaLnBrk="1" latinLnBrk="0" hangingPunct="1">
        <a:defRPr sz="1265" kern="1200">
          <a:solidFill>
            <a:schemeClr val="tx1"/>
          </a:solidFill>
          <a:latin typeface="+mn-lt"/>
          <a:ea typeface="+mn-ea"/>
          <a:cs typeface="+mn-cs"/>
        </a:defRPr>
      </a:lvl8pPr>
      <a:lvl9pPr marL="2571750" algn="l" defTabSz="642620" rtl="0" eaLnBrk="1" latinLnBrk="0" hangingPunct="1">
        <a:defRPr sz="126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2AB1DE2A-78F2-4F5B-9835-23663083C3E6}" type="datetimeFigureOut">
              <a:rPr lang="zh-CN" altLang="en-US"/>
              <a:t>2026/1/6</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E779825F-7AD9-49C8-B492-96058B2BA402}"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7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7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7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7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77DF03B6-8134-4FE4-8CDD-E5F9CFF15E04}" type="datetime1">
              <a:rPr lang="zh-CN" altLang="en-US"/>
              <a:t>2026/1/6</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r>
              <a:rPr lang="en-US" altLang="zh-CN"/>
              <a:t>matlab fundation</a:t>
            </a: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375772E0-8FB6-40A0-B3E6-7292ED775BEC}"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7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7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7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7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6.xml"/></Relationships>
</file>

<file path=ppt/slides/_rels/slide62.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1.bin"/><Relationship Id="rId1" Type="http://schemas.openxmlformats.org/officeDocument/2006/relationships/slideLayout" Target="../slideLayouts/slideLayout41.xml"/></Relationships>
</file>

<file path=ppt/slides/_rels/slide6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1.xml"/></Relationships>
</file>

<file path=ppt/slides/_rels/slide6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6.xml"/></Relationships>
</file>

<file path=ppt/slides/_rels/slide6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6.xml"/></Relationships>
</file>

<file path=ppt/slides/_rels/slide6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xml"/><Relationship Id="rId1" Type="http://schemas.openxmlformats.org/officeDocument/2006/relationships/slideLayout" Target="../slideLayouts/slideLayout36.xml"/><Relationship Id="rId4" Type="http://schemas.openxmlformats.org/officeDocument/2006/relationships/image" Target="../media/image62.png"/></Relationships>
</file>

<file path=ppt/slides/_rels/slide6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6.xml"/></Relationships>
</file>

<file path=ppt/slides/_rels/slide7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6.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6.xml"/></Relationships>
</file>

<file path=ppt/slides/_rels/slide7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6.xml"/></Relationships>
</file>

<file path=ppt/slides/_rels/slide7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6.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6.xml"/></Relationships>
</file>

<file path=ppt/slides/_rels/slide7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36.xml"/><Relationship Id="rId4" Type="http://schemas.openxmlformats.org/officeDocument/2006/relationships/image" Target="../media/image73.png"/></Relationships>
</file>

<file path=ppt/slides/_rels/slide8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6.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36.xml"/></Relationships>
</file>

<file path=ppt/slides/_rels/slide8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6.xml"/></Relationships>
</file>

<file path=ppt/slides/_rels/slide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2131219" y="1244576"/>
            <a:ext cx="7643813" cy="2196703"/>
          </a:xfrm>
        </p:spPr>
        <p:txBody>
          <a:bodyPr/>
          <a:lstStyle/>
          <a:p>
            <a:pPr eaLnBrk="1" hangingPunct="1">
              <a:lnSpc>
                <a:spcPct val="150000"/>
              </a:lnSpc>
            </a:pPr>
            <a:r>
              <a:rPr lang="zh-CN" altLang="en-US" sz="3600" b="1" i="0" dirty="0">
                <a:solidFill>
                  <a:srgbClr val="000000"/>
                </a:solidFill>
                <a:effectLst/>
                <a:latin typeface="微软雅黑" panose="020B0503020204020204" charset="-122"/>
                <a:ea typeface="微软雅黑" panose="020B0503020204020204" charset="-122"/>
              </a:rPr>
              <a:t>嵌入式系统建模与规范</a:t>
            </a:r>
            <a:endParaRPr lang="en-US" altLang="zh-CN" sz="8800" b="1" dirty="0"/>
          </a:p>
        </p:txBody>
      </p:sp>
      <p:sp>
        <p:nvSpPr>
          <p:cNvPr id="6147" name="Rectangle 2"/>
          <p:cNvSpPr>
            <a:spLocks noGrp="1" noChangeArrowheads="1"/>
          </p:cNvSpPr>
          <p:nvPr>
            <p:ph type="body" idx="1"/>
          </p:nvPr>
        </p:nvSpPr>
        <p:spPr>
          <a:xfrm>
            <a:off x="2514600" y="4714875"/>
            <a:ext cx="7403307" cy="1446609"/>
          </a:xfrm>
        </p:spPr>
        <p:txBody>
          <a:bodyPr/>
          <a:lstStyle/>
          <a:p>
            <a:pPr marL="0" indent="0" algn="ctr" eaLnBrk="1" hangingPunct="1">
              <a:buNone/>
            </a:pPr>
            <a:r>
              <a:rPr lang="en-US" altLang="zh-CN" dirty="0">
                <a:latin typeface="微软雅黑" panose="020B0503020204020204" charset="-122"/>
                <a:ea typeface="微软雅黑" panose="020B0503020204020204" charset="-122"/>
              </a:rPr>
              <a:t>wkmiao@sei.ecnu.edu.cn</a:t>
            </a:r>
          </a:p>
          <a:p>
            <a:pPr marL="0" indent="0" algn="ctr" eaLnBrk="1" hangingPunct="1">
              <a:buNone/>
            </a:pPr>
            <a:r>
              <a:rPr lang="zh-CN" altLang="en-US" dirty="0">
                <a:latin typeface="微软雅黑" panose="020B0503020204020204" charset="-122"/>
                <a:ea typeface="微软雅黑" panose="020B0503020204020204" charset="-122"/>
              </a:rPr>
              <a:t>数学馆</a:t>
            </a:r>
            <a:r>
              <a:rPr lang="en-US" altLang="zh-CN" dirty="0">
                <a:latin typeface="微软雅黑" panose="020B0503020204020204" charset="-122"/>
                <a:ea typeface="微软雅黑" panose="020B0503020204020204" charset="-122"/>
              </a:rPr>
              <a:t>306</a:t>
            </a:r>
          </a:p>
          <a:p>
            <a:pPr marL="0" indent="0" eaLnBrk="1" hangingPunct="1">
              <a:buNone/>
            </a:pPr>
            <a:endParaRPr lang="en-US" altLang="zh-CN"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3"/>
          <p:cNvSpPr>
            <a:spLocks noGrp="1" noChangeArrowheads="1"/>
          </p:cNvSpPr>
          <p:nvPr>
            <p:ph type="title"/>
          </p:nvPr>
        </p:nvSpPr>
        <p:spPr>
          <a:xfrm>
            <a:off x="295275" y="83344"/>
            <a:ext cx="2196703" cy="500063"/>
          </a:xfrm>
        </p:spPr>
        <p:txBody>
          <a:bodyPr/>
          <a:lstStyle/>
          <a:p>
            <a:r>
              <a:rPr lang="zh-CN" altLang="en-US" sz="2530" b="1" dirty="0">
                <a:latin typeface="微软雅黑" panose="020B0503020204020204" charset="-122"/>
                <a:ea typeface="微软雅黑" panose="020B0503020204020204" charset="-122"/>
              </a:rPr>
              <a:t>教材</a:t>
            </a:r>
            <a:endParaRPr lang="en-US" altLang="zh-CN" sz="2530" b="1" dirty="0">
              <a:latin typeface="微软雅黑" panose="020B0503020204020204" charset="-122"/>
              <a:ea typeface="微软雅黑" panose="020B0503020204020204" charset="-122"/>
            </a:endParaRPr>
          </a:p>
        </p:txBody>
      </p:sp>
      <p:sp>
        <p:nvSpPr>
          <p:cNvPr id="7171" name="Content Placeholder 4"/>
          <p:cNvSpPr>
            <a:spLocks noGrp="1" noChangeArrowheads="1"/>
          </p:cNvSpPr>
          <p:nvPr>
            <p:ph idx="1"/>
          </p:nvPr>
        </p:nvSpPr>
        <p:spPr>
          <a:xfrm>
            <a:off x="379959" y="818332"/>
            <a:ext cx="10878591" cy="2148706"/>
          </a:xfrm>
        </p:spPr>
        <p:txBody>
          <a:bodyPr/>
          <a:lstStyle/>
          <a:p>
            <a:r>
              <a:rPr lang="en-US" altLang="zh-CN" dirty="0">
                <a:latin typeface="微软雅黑" panose="020B0503020204020204" charset="-122"/>
                <a:ea typeface="微软雅黑" panose="020B0503020204020204" charset="-122"/>
              </a:rPr>
              <a:t> </a:t>
            </a:r>
            <a:r>
              <a:rPr lang="en-US" altLang="zh-CN" sz="1970" b="1" dirty="0">
                <a:latin typeface="微软雅黑" panose="020B0503020204020204" charset="-122"/>
                <a:ea typeface="微软雅黑" panose="020B0503020204020204" charset="-122"/>
              </a:rPr>
              <a:t>Introduction to Embedded System</a:t>
            </a:r>
            <a:r>
              <a:rPr lang="zh-CN" altLang="en-US" sz="1970" dirty="0">
                <a:latin typeface="微软雅黑" panose="020B0503020204020204" charset="-122"/>
                <a:ea typeface="微软雅黑" panose="020B0503020204020204" charset="-122"/>
              </a:rPr>
              <a:t>（嵌入式系统）</a:t>
            </a:r>
            <a:r>
              <a:rPr lang="en-US" altLang="zh-CN" sz="1970" dirty="0">
                <a:latin typeface="微软雅黑" panose="020B0503020204020204" charset="-122"/>
                <a:ea typeface="微软雅黑" panose="020B0503020204020204" charset="-122"/>
              </a:rPr>
              <a:t>-the Second Edition</a:t>
            </a:r>
          </a:p>
          <a:p>
            <a:pPr lvl="1">
              <a:buFont typeface="Gill Sans" panose="020B0502020104020203" charset="0"/>
              <a:buNone/>
            </a:pPr>
            <a:r>
              <a:rPr lang="en-US" altLang="zh-CN" sz="1970" dirty="0">
                <a:latin typeface="微软雅黑" panose="020B0503020204020204" charset="-122"/>
                <a:ea typeface="微软雅黑" panose="020B0503020204020204" charset="-122"/>
              </a:rPr>
              <a:t>	--A Cyber-Physical System Approach</a:t>
            </a:r>
          </a:p>
          <a:p>
            <a:r>
              <a:rPr lang="en-US" altLang="zh-CN" sz="1970" dirty="0">
                <a:latin typeface="微软雅黑" panose="020B0503020204020204" charset="-122"/>
                <a:ea typeface="微软雅黑" panose="020B0503020204020204" charset="-122"/>
              </a:rPr>
              <a:t>Edward Ashford Lee and </a:t>
            </a:r>
            <a:r>
              <a:rPr lang="en-US" altLang="zh-CN" sz="1970" dirty="0" err="1">
                <a:latin typeface="微软雅黑" panose="020B0503020204020204" charset="-122"/>
                <a:ea typeface="微软雅黑" panose="020B0503020204020204" charset="-122"/>
              </a:rPr>
              <a:t>Seshia</a:t>
            </a:r>
            <a:r>
              <a:rPr lang="en-US" altLang="zh-CN" sz="1970" dirty="0">
                <a:latin typeface="微软雅黑" panose="020B0503020204020204" charset="-122"/>
                <a:ea typeface="微软雅黑" panose="020B0503020204020204" charset="-122"/>
              </a:rPr>
              <a:t> </a:t>
            </a:r>
          </a:p>
        </p:txBody>
      </p:sp>
      <p:pic>
        <p:nvPicPr>
          <p:cNvPr id="717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9228" y="1959769"/>
            <a:ext cx="3174504" cy="4232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84561"/>
            <a:ext cx="9144000" cy="2304976"/>
          </a:xfrm>
          <a:solidFill>
            <a:srgbClr val="FFFFA7"/>
          </a:solidFill>
          <a:ln>
            <a:solidFill>
              <a:srgbClr val="C00000"/>
            </a:solidFill>
          </a:ln>
        </p:spPr>
        <p:txBody>
          <a:bodyPr>
            <a:normAutofit/>
          </a:bodyPr>
          <a:lstStyle/>
          <a:p>
            <a:pPr fontAlgn="auto">
              <a:spcAft>
                <a:spcPts val="0"/>
              </a:spcAft>
              <a:defRPr/>
            </a:pPr>
            <a:r>
              <a:rPr lang="zh-CN" altLang="en-US" sz="4000" b="1" dirty="0"/>
              <a:t>由软件到系统建模的思维转变</a:t>
            </a:r>
            <a:endParaRPr lang="zh-CN" altLang="en-US" sz="4000" b="1" dirty="0">
              <a:latin typeface="黑体" panose="02010609060101010101" pitchFamily="49" charset="-122"/>
              <a:ea typeface="黑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02594" y="435323"/>
            <a:ext cx="8435206" cy="5145732"/>
          </a:xfrm>
        </p:spPr>
        <p:txBody>
          <a:bodyPr/>
          <a:lstStyle/>
          <a:p>
            <a:pPr marL="187325" indent="0">
              <a:buClr>
                <a:srgbClr val="FF0000"/>
              </a:buClr>
              <a:buNone/>
              <a:defRPr/>
            </a:pPr>
            <a:r>
              <a:rPr lang="zh-CN" altLang="en-US" sz="2250" b="1" dirty="0"/>
              <a:t>建模的本质    </a:t>
            </a:r>
            <a:endParaRPr lang="en-US" altLang="zh-CN" sz="2250" b="1" dirty="0"/>
          </a:p>
          <a:p>
            <a:pPr algn="just">
              <a:buClr>
                <a:schemeClr val="accent2"/>
              </a:buClr>
              <a:buSzPct val="50000"/>
              <a:buFont typeface="Gill Sans" panose="020B0502020104020203" charset="0"/>
              <a:buNone/>
              <a:defRPr/>
            </a:pPr>
            <a:r>
              <a:rPr lang="zh-CN" altLang="en-US" sz="2250" dirty="0">
                <a:latin typeface="Times" pitchFamily="18" charset="0"/>
                <a:cs typeface="Times" pitchFamily="18" charset="0"/>
              </a:rPr>
              <a:t>            用特定的语言或符号，力求直观而精确地刻画软件的预期</a:t>
            </a:r>
            <a:endParaRPr lang="en-US" altLang="zh-CN" sz="2250" dirty="0">
              <a:latin typeface="Times" pitchFamily="18" charset="0"/>
              <a:cs typeface="Times" pitchFamily="18" charset="0"/>
            </a:endParaRPr>
          </a:p>
          <a:p>
            <a:pPr algn="just">
              <a:buClr>
                <a:schemeClr val="accent2"/>
              </a:buClr>
              <a:buSzPct val="50000"/>
              <a:buFont typeface="Gill Sans" panose="020B0502020104020203" charset="0"/>
              <a:buNone/>
              <a:defRPr/>
            </a:pPr>
            <a:r>
              <a:rPr lang="zh-CN" altLang="en-US" sz="2250" dirty="0">
                <a:latin typeface="Times" pitchFamily="18" charset="0"/>
                <a:cs typeface="Times" pitchFamily="18" charset="0"/>
              </a:rPr>
              <a:t>功能和行为等特征。</a:t>
            </a:r>
            <a:endParaRPr lang="en-US" altLang="zh-CN" sz="2250" dirty="0">
              <a:latin typeface="Times" pitchFamily="18" charset="0"/>
              <a:cs typeface="Times" pitchFamily="18" charset="0"/>
            </a:endParaRPr>
          </a:p>
          <a:p>
            <a:pPr marL="0" indent="0">
              <a:buClr>
                <a:srgbClr val="FF0000"/>
              </a:buClr>
              <a:buNone/>
              <a:defRPr/>
            </a:pPr>
            <a:endParaRPr lang="en-US" altLang="zh-CN" sz="2800" b="1" dirty="0"/>
          </a:p>
          <a:p>
            <a:pPr marL="0" indent="0">
              <a:buClr>
                <a:srgbClr val="FF0000"/>
              </a:buClr>
              <a:buNone/>
              <a:defRPr/>
            </a:pPr>
            <a:r>
              <a:rPr lang="zh-CN" altLang="en-US" sz="2800" b="1" dirty="0"/>
              <a:t>系统控制功能</a:t>
            </a:r>
            <a:endParaRPr lang="en-US" altLang="zh-CN" sz="2800" b="1" dirty="0"/>
          </a:p>
          <a:p>
            <a:pPr marL="0" indent="0">
              <a:buClr>
                <a:srgbClr val="FF0000"/>
              </a:buClr>
              <a:buNone/>
              <a:defRPr/>
            </a:pPr>
            <a:endParaRPr lang="en-US" altLang="zh-CN" sz="2800" b="1" dirty="0"/>
          </a:p>
          <a:p>
            <a:pPr marL="0" indent="0">
              <a:buClr>
                <a:srgbClr val="FF0000"/>
              </a:buClr>
              <a:buNone/>
              <a:defRPr/>
            </a:pPr>
            <a:endParaRPr lang="en-US" altLang="zh-CN" sz="2800" b="1" dirty="0"/>
          </a:p>
        </p:txBody>
      </p:sp>
      <p:sp>
        <p:nvSpPr>
          <p:cNvPr id="17" name="右箭头 16"/>
          <p:cNvSpPr/>
          <p:nvPr/>
        </p:nvSpPr>
        <p:spPr>
          <a:xfrm>
            <a:off x="4487540" y="3197945"/>
            <a:ext cx="2101825" cy="266774"/>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42620" eaLnBrk="0" fontAlgn="base" hangingPunct="0">
              <a:spcBef>
                <a:spcPct val="0"/>
              </a:spcBef>
              <a:spcAft>
                <a:spcPct val="0"/>
              </a:spcAft>
              <a:defRPr/>
            </a:pPr>
            <a:endParaRPr lang="zh-CN" altLang="en-US" sz="4200">
              <a:solidFill>
                <a:srgbClr val="FFFFFF"/>
              </a:solidFill>
              <a:latin typeface="Gill Sans" panose="020B0502020104020203"/>
              <a:ea typeface="Heiti SC Light" charset="-122"/>
              <a:sym typeface="Gill Sans" panose="020B0502020104020203" charset="0"/>
            </a:endParaRPr>
          </a:p>
        </p:txBody>
      </p:sp>
      <p:sp>
        <p:nvSpPr>
          <p:cNvPr id="23" name="TextBox 22"/>
          <p:cNvSpPr txBox="1"/>
          <p:nvPr/>
        </p:nvSpPr>
        <p:spPr>
          <a:xfrm>
            <a:off x="7141146" y="3167390"/>
            <a:ext cx="1785938" cy="523220"/>
          </a:xfrm>
          <a:prstGeom prst="rect">
            <a:avLst/>
          </a:prstGeom>
          <a:solidFill>
            <a:srgbClr val="FF9900"/>
          </a:solidFill>
        </p:spPr>
        <p:txBody>
          <a:bodyPr>
            <a:spAutoFit/>
          </a:bodyPr>
          <a:lstStyle/>
          <a:p>
            <a:pPr defTabSz="642620" eaLnBrk="0" fontAlgn="base" hangingPunct="0">
              <a:spcBef>
                <a:spcPct val="0"/>
              </a:spcBef>
              <a:spcAft>
                <a:spcPct val="0"/>
              </a:spcAft>
              <a:defRPr/>
            </a:pPr>
            <a:r>
              <a:rPr lang="zh-CN" altLang="en-US" sz="2800" b="1" dirty="0">
                <a:solidFill>
                  <a:srgbClr val="000000"/>
                </a:solidFill>
                <a:latin typeface="Gill Sans" panose="020B0502020104020203" charset="0"/>
                <a:ea typeface="Heiti SC Light" charset="-122"/>
                <a:sym typeface="Gill Sans" panose="020B0502020104020203" charset="0"/>
              </a:rPr>
              <a:t>系统模型</a:t>
            </a:r>
          </a:p>
        </p:txBody>
      </p:sp>
      <p:sp>
        <p:nvSpPr>
          <p:cNvPr id="26" name="TextBox 25"/>
          <p:cNvSpPr txBox="1"/>
          <p:nvPr/>
        </p:nvSpPr>
        <p:spPr>
          <a:xfrm>
            <a:off x="4644926" y="3865439"/>
            <a:ext cx="1785938" cy="523220"/>
          </a:xfrm>
          <a:prstGeom prst="rect">
            <a:avLst/>
          </a:prstGeom>
          <a:solidFill>
            <a:srgbClr val="FFFFA7"/>
          </a:solidFill>
        </p:spPr>
        <p:txBody>
          <a:bodyPr>
            <a:spAutoFit/>
          </a:bodyPr>
          <a:lstStyle/>
          <a:p>
            <a:pPr algn="ctr" defTabSz="642620" eaLnBrk="0" fontAlgn="base" hangingPunct="0">
              <a:spcBef>
                <a:spcPct val="0"/>
              </a:spcBef>
              <a:spcAft>
                <a:spcPct val="0"/>
              </a:spcAft>
              <a:defRPr/>
            </a:pPr>
            <a:r>
              <a:rPr lang="zh-CN" altLang="en-US" sz="2800" b="1" dirty="0">
                <a:solidFill>
                  <a:srgbClr val="000000"/>
                </a:solidFill>
                <a:latin typeface="Gill Sans" panose="020B0502020104020203" charset="0"/>
                <a:ea typeface="Heiti SC Light" charset="-122"/>
                <a:sym typeface="Gill Sans" panose="020B0502020104020203" charset="0"/>
              </a:rPr>
              <a:t>抽象</a:t>
            </a:r>
          </a:p>
        </p:txBody>
      </p:sp>
      <p:sp>
        <p:nvSpPr>
          <p:cNvPr id="10" name="矩形 1"/>
          <p:cNvSpPr>
            <a:spLocks noChangeArrowheads="1"/>
          </p:cNvSpPr>
          <p:nvPr/>
        </p:nvSpPr>
        <p:spPr bwMode="auto">
          <a:xfrm>
            <a:off x="1901280" y="4741665"/>
            <a:ext cx="8389441"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704020202020204" pitchFamily="34" charset="0"/>
                <a:ea typeface="宋体" pitchFamily="2" charset="-122"/>
              </a:defRPr>
            </a:lvl1pPr>
            <a:lvl2pPr marL="742950" indent="-285750">
              <a:defRPr>
                <a:solidFill>
                  <a:schemeClr val="tx1"/>
                </a:solidFill>
                <a:latin typeface="Arial" panose="020B0704020202020204" pitchFamily="34" charset="0"/>
                <a:ea typeface="宋体" pitchFamily="2" charset="-122"/>
              </a:defRPr>
            </a:lvl2pPr>
            <a:lvl3pPr marL="1143000" indent="-228600">
              <a:defRPr>
                <a:solidFill>
                  <a:schemeClr val="tx1"/>
                </a:solidFill>
                <a:latin typeface="Arial" panose="020B0704020202020204" pitchFamily="34" charset="0"/>
                <a:ea typeface="宋体" pitchFamily="2" charset="-122"/>
              </a:defRPr>
            </a:lvl3pPr>
            <a:lvl4pPr marL="1600200" indent="-228600">
              <a:defRPr>
                <a:solidFill>
                  <a:schemeClr val="tx1"/>
                </a:solidFill>
                <a:latin typeface="Arial" panose="020B0704020202020204" pitchFamily="34" charset="0"/>
                <a:ea typeface="宋体" pitchFamily="2" charset="-122"/>
              </a:defRPr>
            </a:lvl4pPr>
            <a:lvl5pPr marL="2057400" indent="-228600">
              <a:defRPr>
                <a:solidFill>
                  <a:schemeClr val="tx1"/>
                </a:solidFill>
                <a:latin typeface="Arial" panose="020B0704020202020204" pitchFamily="34" charset="0"/>
                <a:ea typeface="宋体" pitchFamily="2" charset="-122"/>
              </a:defRPr>
            </a:lvl5pPr>
            <a:lvl6pPr marL="2514600" indent="-228600" eaLnBrk="0" fontAlgn="base" hangingPunct="0">
              <a:spcBef>
                <a:spcPct val="0"/>
              </a:spcBef>
              <a:spcAft>
                <a:spcPct val="0"/>
              </a:spcAft>
              <a:buFont typeface="Arial" panose="020B0704020202020204" pitchFamily="34" charset="0"/>
              <a:defRPr>
                <a:solidFill>
                  <a:schemeClr val="tx1"/>
                </a:solidFill>
                <a:latin typeface="Arial" panose="020B0704020202020204" pitchFamily="34" charset="0"/>
                <a:ea typeface="宋体" pitchFamily="2" charset="-122"/>
              </a:defRPr>
            </a:lvl6pPr>
            <a:lvl7pPr marL="2971800" indent="-228600" eaLnBrk="0" fontAlgn="base" hangingPunct="0">
              <a:spcBef>
                <a:spcPct val="0"/>
              </a:spcBef>
              <a:spcAft>
                <a:spcPct val="0"/>
              </a:spcAft>
              <a:buFont typeface="Arial" panose="020B0704020202020204" pitchFamily="34" charset="0"/>
              <a:defRPr>
                <a:solidFill>
                  <a:schemeClr val="tx1"/>
                </a:solidFill>
                <a:latin typeface="Arial" panose="020B0704020202020204" pitchFamily="34" charset="0"/>
                <a:ea typeface="宋体" pitchFamily="2" charset="-122"/>
              </a:defRPr>
            </a:lvl7pPr>
            <a:lvl8pPr marL="3429000" indent="-228600" eaLnBrk="0" fontAlgn="base" hangingPunct="0">
              <a:spcBef>
                <a:spcPct val="0"/>
              </a:spcBef>
              <a:spcAft>
                <a:spcPct val="0"/>
              </a:spcAft>
              <a:buFont typeface="Arial" panose="020B0704020202020204" pitchFamily="34" charset="0"/>
              <a:defRPr>
                <a:solidFill>
                  <a:schemeClr val="tx1"/>
                </a:solidFill>
                <a:latin typeface="Arial" panose="020B0704020202020204" pitchFamily="34" charset="0"/>
                <a:ea typeface="宋体" pitchFamily="2" charset="-122"/>
              </a:defRPr>
            </a:lvl8pPr>
            <a:lvl9pPr marL="3886200" indent="-228600" eaLnBrk="0" fontAlgn="base" hangingPunct="0">
              <a:spcBef>
                <a:spcPct val="0"/>
              </a:spcBef>
              <a:spcAft>
                <a:spcPct val="0"/>
              </a:spcAft>
              <a:buFont typeface="Arial" panose="020B0704020202020204" pitchFamily="34" charset="0"/>
              <a:defRPr>
                <a:solidFill>
                  <a:schemeClr val="tx1"/>
                </a:solidFill>
                <a:latin typeface="Arial" panose="020B0704020202020204" pitchFamily="34" charset="0"/>
                <a:ea typeface="宋体" pitchFamily="2" charset="-122"/>
              </a:defRPr>
            </a:lvl9pPr>
          </a:lstStyle>
          <a:p>
            <a:pPr algn="ctr" defTabSz="642620" eaLnBrk="0" fontAlgn="base" hangingPunct="0">
              <a:spcBef>
                <a:spcPts val="1200"/>
              </a:spcBef>
              <a:spcAft>
                <a:spcPct val="0"/>
              </a:spcAft>
              <a:defRPr/>
            </a:pPr>
            <a:r>
              <a:rPr lang="zh-CN" altLang="en-US" sz="2400" b="1" dirty="0">
                <a:solidFill>
                  <a:srgbClr val="000000"/>
                </a:solidFill>
                <a:sym typeface="微软雅黑" panose="020B0503020204020204" charset="-122"/>
              </a:rPr>
              <a:t>从现实世界的问题向软件解决方案的转化</a:t>
            </a:r>
            <a:endParaRPr lang="en-US" altLang="zh-CN" sz="2400" b="1" dirty="0">
              <a:solidFill>
                <a:srgbClr val="000000"/>
              </a:solidFill>
              <a:sym typeface="微软雅黑" panose="020B0503020204020204" charset="-122"/>
            </a:endParaRPr>
          </a:p>
          <a:p>
            <a:pPr marL="342900" indent="-342900" defTabSz="642620" eaLnBrk="0" fontAlgn="base" hangingPunct="0">
              <a:spcBef>
                <a:spcPts val="1200"/>
              </a:spcBef>
              <a:spcAft>
                <a:spcPct val="0"/>
              </a:spcAft>
              <a:buFont typeface="Wingdings" panose="05000000000000000000" pitchFamily="2" charset="2"/>
              <a:buChar char="n"/>
              <a:defRPr/>
            </a:pPr>
            <a:r>
              <a:rPr lang="zh-CN" altLang="en-US" sz="2400" b="1" dirty="0">
                <a:solidFill>
                  <a:srgbClr val="000000"/>
                </a:solidFill>
                <a:sym typeface="微软雅黑" panose="020B0503020204020204" charset="-122"/>
              </a:rPr>
              <a:t> 做什么</a:t>
            </a:r>
            <a:endParaRPr lang="en-US" altLang="zh-CN" sz="2400" b="1" dirty="0">
              <a:solidFill>
                <a:srgbClr val="000000"/>
              </a:solidFill>
              <a:sym typeface="微软雅黑" panose="020B0503020204020204" charset="-122"/>
            </a:endParaRPr>
          </a:p>
          <a:p>
            <a:pPr marL="342900" indent="-342900" defTabSz="642620" eaLnBrk="0" fontAlgn="base" hangingPunct="0">
              <a:spcBef>
                <a:spcPts val="1200"/>
              </a:spcBef>
              <a:spcAft>
                <a:spcPct val="0"/>
              </a:spcAft>
              <a:buFont typeface="Wingdings" panose="05000000000000000000" pitchFamily="2" charset="2"/>
              <a:buChar char="n"/>
              <a:defRPr/>
            </a:pPr>
            <a:r>
              <a:rPr lang="en-US" altLang="zh-CN" sz="2400" b="1" dirty="0">
                <a:solidFill>
                  <a:srgbClr val="000000"/>
                </a:solidFill>
                <a:sym typeface="微软雅黑" panose="020B0503020204020204" charset="-122"/>
              </a:rPr>
              <a:t> </a:t>
            </a:r>
            <a:r>
              <a:rPr lang="zh-CN" altLang="en-US" sz="2400" b="1" dirty="0">
                <a:solidFill>
                  <a:srgbClr val="000000"/>
                </a:solidFill>
                <a:sym typeface="微软雅黑" panose="020B0503020204020204" charset="-122"/>
              </a:rPr>
              <a:t>从做什么到怎样做的途径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arn(inVertic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animBg="1"/>
      <p:bldP spid="26" grpId="0" animBg="1"/>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noChangeArrowheads="1"/>
          </p:cNvSpPr>
          <p:nvPr>
            <p:ph type="title"/>
          </p:nvPr>
        </p:nvSpPr>
        <p:spPr>
          <a:xfrm>
            <a:off x="1631156" y="116086"/>
            <a:ext cx="8229824" cy="850553"/>
          </a:xfrm>
        </p:spPr>
        <p:txBody>
          <a:bodyPr/>
          <a:lstStyle/>
          <a:p>
            <a:pPr algn="l"/>
            <a:r>
              <a:rPr lang="zh-CN" altLang="en-US" sz="2250" b="1"/>
              <a:t>引入系统工程以后</a:t>
            </a:r>
          </a:p>
        </p:txBody>
      </p:sp>
      <p:sp>
        <p:nvSpPr>
          <p:cNvPr id="3" name="内容占位符 2"/>
          <p:cNvSpPr>
            <a:spLocks noGrp="1"/>
          </p:cNvSpPr>
          <p:nvPr>
            <p:ph idx="1"/>
          </p:nvPr>
        </p:nvSpPr>
        <p:spPr>
          <a:xfrm>
            <a:off x="1775148" y="981150"/>
            <a:ext cx="8435206" cy="5144616"/>
          </a:xfrm>
        </p:spPr>
        <p:txBody>
          <a:bodyPr/>
          <a:lstStyle/>
          <a:p>
            <a:pPr marL="0" indent="0">
              <a:buClr>
                <a:srgbClr val="FF0000"/>
              </a:buClr>
              <a:buNone/>
              <a:defRPr/>
            </a:pPr>
            <a:endParaRPr lang="en-US" altLang="zh-CN" sz="2800" dirty="0"/>
          </a:p>
          <a:p>
            <a:pPr marL="0" indent="0">
              <a:buClr>
                <a:srgbClr val="FF0000"/>
              </a:buClr>
              <a:buNone/>
              <a:defRPr/>
            </a:pPr>
            <a:endParaRPr lang="en-US" altLang="zh-CN" sz="2800" b="1" dirty="0"/>
          </a:p>
          <a:p>
            <a:pPr marL="0" indent="0">
              <a:buClr>
                <a:srgbClr val="FF0000"/>
              </a:buClr>
              <a:buNone/>
              <a:defRPr/>
            </a:pPr>
            <a:endParaRPr lang="en-US" altLang="zh-CN" sz="2800" b="1" dirty="0"/>
          </a:p>
        </p:txBody>
      </p:sp>
      <p:cxnSp>
        <p:nvCxnSpPr>
          <p:cNvPr id="5" name="直接连接符 4"/>
          <p:cNvCxnSpPr/>
          <p:nvPr/>
        </p:nvCxnSpPr>
        <p:spPr>
          <a:xfrm>
            <a:off x="1524000" y="981150"/>
            <a:ext cx="802890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077641" y="2204517"/>
            <a:ext cx="2060525" cy="461665"/>
          </a:xfrm>
          <a:prstGeom prst="rect">
            <a:avLst/>
          </a:prstGeom>
          <a:solidFill>
            <a:srgbClr val="FF9900"/>
          </a:solidFill>
        </p:spPr>
        <p:txBody>
          <a:bodyPr>
            <a:spAutoFit/>
          </a:bodyPr>
          <a:lstStyle/>
          <a:p>
            <a:pPr defTabSz="642620" eaLnBrk="0" fontAlgn="base" hangingPunct="0">
              <a:spcBef>
                <a:spcPct val="0"/>
              </a:spcBef>
              <a:spcAft>
                <a:spcPct val="0"/>
              </a:spcAft>
              <a:defRPr/>
            </a:pPr>
            <a:r>
              <a:rPr lang="zh-CN" altLang="en-US" sz="2400" b="1" dirty="0">
                <a:solidFill>
                  <a:srgbClr val="000000"/>
                </a:solidFill>
                <a:latin typeface="Gill Sans" panose="020B0502020104020203" charset="0"/>
                <a:ea typeface="Heiti SC Light" charset="-122"/>
                <a:sym typeface="Gill Sans" panose="020B0502020104020203" charset="0"/>
              </a:rPr>
              <a:t>系统需求分析</a:t>
            </a:r>
            <a:endParaRPr lang="zh-CN" altLang="en-US" sz="4200" b="1" dirty="0">
              <a:solidFill>
                <a:srgbClr val="000000"/>
              </a:solidFill>
              <a:latin typeface="Gill Sans" panose="020B0502020104020203" charset="0"/>
              <a:ea typeface="Heiti SC Light" charset="-122"/>
              <a:sym typeface="Gill Sans" panose="020B0502020104020203" charset="0"/>
            </a:endParaRPr>
          </a:p>
        </p:txBody>
      </p:sp>
      <p:sp>
        <p:nvSpPr>
          <p:cNvPr id="9" name="TextBox 8"/>
          <p:cNvSpPr txBox="1"/>
          <p:nvPr/>
        </p:nvSpPr>
        <p:spPr>
          <a:xfrm>
            <a:off x="2351113" y="3197945"/>
            <a:ext cx="1787053" cy="461665"/>
          </a:xfrm>
          <a:prstGeom prst="rect">
            <a:avLst/>
          </a:prstGeom>
          <a:solidFill>
            <a:srgbClr val="FF9900"/>
          </a:solidFill>
        </p:spPr>
        <p:txBody>
          <a:bodyPr>
            <a:spAutoFit/>
          </a:bodyPr>
          <a:lstStyle/>
          <a:p>
            <a:pPr defTabSz="642620" eaLnBrk="0" fontAlgn="base" hangingPunct="0">
              <a:spcBef>
                <a:spcPct val="0"/>
              </a:spcBef>
              <a:spcAft>
                <a:spcPct val="0"/>
              </a:spcAft>
              <a:defRPr/>
            </a:pPr>
            <a:r>
              <a:rPr lang="zh-CN" altLang="en-US" sz="2400" b="1" dirty="0">
                <a:solidFill>
                  <a:srgbClr val="000000"/>
                </a:solidFill>
                <a:latin typeface="Gill Sans" panose="020B0502020104020203" charset="0"/>
                <a:ea typeface="Heiti SC Light" charset="-122"/>
                <a:sym typeface="Gill Sans" panose="020B0502020104020203" charset="0"/>
              </a:rPr>
              <a:t>系统设计</a:t>
            </a:r>
          </a:p>
        </p:txBody>
      </p:sp>
      <p:sp>
        <p:nvSpPr>
          <p:cNvPr id="10" name="TextBox 9"/>
          <p:cNvSpPr txBox="1"/>
          <p:nvPr/>
        </p:nvSpPr>
        <p:spPr>
          <a:xfrm>
            <a:off x="2850059" y="4071938"/>
            <a:ext cx="1735708" cy="461665"/>
          </a:xfrm>
          <a:prstGeom prst="rect">
            <a:avLst/>
          </a:prstGeom>
          <a:solidFill>
            <a:srgbClr val="FF9900"/>
          </a:solidFill>
        </p:spPr>
        <p:txBody>
          <a:bodyPr>
            <a:spAutoFit/>
          </a:bodyPr>
          <a:lstStyle/>
          <a:p>
            <a:pPr defTabSz="642620" eaLnBrk="0" fontAlgn="base" hangingPunct="0">
              <a:spcBef>
                <a:spcPct val="0"/>
              </a:spcBef>
              <a:spcAft>
                <a:spcPct val="0"/>
              </a:spcAft>
              <a:defRPr/>
            </a:pPr>
            <a:r>
              <a:rPr lang="zh-CN" altLang="en-US" sz="2400" b="1" dirty="0">
                <a:solidFill>
                  <a:srgbClr val="000000"/>
                </a:solidFill>
                <a:latin typeface="Gill Sans" panose="020B0502020104020203" charset="0"/>
                <a:ea typeface="Heiti SC Light" charset="-122"/>
                <a:sym typeface="Gill Sans" panose="020B0502020104020203" charset="0"/>
              </a:rPr>
              <a:t>系统实现</a:t>
            </a:r>
          </a:p>
        </p:txBody>
      </p:sp>
      <p:sp>
        <p:nvSpPr>
          <p:cNvPr id="11" name="TextBox 10"/>
          <p:cNvSpPr txBox="1"/>
          <p:nvPr/>
        </p:nvSpPr>
        <p:spPr>
          <a:xfrm>
            <a:off x="2495104" y="5070947"/>
            <a:ext cx="2578447" cy="461665"/>
          </a:xfrm>
          <a:prstGeom prst="rect">
            <a:avLst/>
          </a:prstGeom>
          <a:solidFill>
            <a:srgbClr val="FF9900"/>
          </a:solidFill>
        </p:spPr>
        <p:txBody>
          <a:bodyPr>
            <a:spAutoFit/>
          </a:bodyPr>
          <a:lstStyle/>
          <a:p>
            <a:pPr defTabSz="642620" eaLnBrk="0" fontAlgn="base" hangingPunct="0">
              <a:spcBef>
                <a:spcPct val="0"/>
              </a:spcBef>
              <a:spcAft>
                <a:spcPct val="0"/>
              </a:spcAft>
              <a:defRPr/>
            </a:pPr>
            <a:r>
              <a:rPr lang="zh-CN" altLang="en-US" sz="2400" b="1" dirty="0">
                <a:solidFill>
                  <a:srgbClr val="000000"/>
                </a:solidFill>
                <a:latin typeface="Gill Sans" panose="020B0502020104020203" charset="0"/>
                <a:ea typeface="Heiti SC Light" charset="-122"/>
                <a:sym typeface="Gill Sans" panose="020B0502020104020203" charset="0"/>
              </a:rPr>
              <a:t>系统级验证评测</a:t>
            </a:r>
          </a:p>
        </p:txBody>
      </p:sp>
      <p:sp>
        <p:nvSpPr>
          <p:cNvPr id="12" name="TextBox 11"/>
          <p:cNvSpPr txBox="1"/>
          <p:nvPr/>
        </p:nvSpPr>
        <p:spPr>
          <a:xfrm>
            <a:off x="3575595" y="6063258"/>
            <a:ext cx="1785938" cy="461665"/>
          </a:xfrm>
          <a:prstGeom prst="rect">
            <a:avLst/>
          </a:prstGeom>
          <a:solidFill>
            <a:srgbClr val="FF9900"/>
          </a:solidFill>
        </p:spPr>
        <p:txBody>
          <a:bodyPr>
            <a:spAutoFit/>
          </a:bodyPr>
          <a:lstStyle/>
          <a:p>
            <a:pPr defTabSz="642620" eaLnBrk="0" fontAlgn="base" hangingPunct="0">
              <a:spcBef>
                <a:spcPct val="0"/>
              </a:spcBef>
              <a:spcAft>
                <a:spcPct val="0"/>
              </a:spcAft>
              <a:defRPr/>
            </a:pPr>
            <a:r>
              <a:rPr lang="zh-CN" altLang="en-US" sz="2400" b="1" dirty="0">
                <a:solidFill>
                  <a:srgbClr val="000000"/>
                </a:solidFill>
                <a:latin typeface="Gill Sans" panose="020B0502020104020203" charset="0"/>
                <a:ea typeface="Heiti SC Light" charset="-122"/>
                <a:sym typeface="Gill Sans" panose="020B0502020104020203" charset="0"/>
              </a:rPr>
              <a:t>发布与维护</a:t>
            </a:r>
          </a:p>
        </p:txBody>
      </p:sp>
      <p:cxnSp>
        <p:nvCxnSpPr>
          <p:cNvPr id="14" name="直接箭头连接符 13"/>
          <p:cNvCxnSpPr/>
          <p:nvPr/>
        </p:nvCxnSpPr>
        <p:spPr>
          <a:xfrm>
            <a:off x="2855640" y="2666628"/>
            <a:ext cx="274588" cy="53131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3259708" y="3660056"/>
            <a:ext cx="244450" cy="40295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726285" y="4538514"/>
            <a:ext cx="274588" cy="53243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4190629" y="5531941"/>
            <a:ext cx="273471" cy="53243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1537395" y="1989088"/>
            <a:ext cx="3248174" cy="187188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42620" eaLnBrk="0" fontAlgn="base" hangingPunct="0">
              <a:spcBef>
                <a:spcPct val="0"/>
              </a:spcBef>
              <a:spcAft>
                <a:spcPct val="0"/>
              </a:spcAft>
              <a:defRPr/>
            </a:pPr>
            <a:endParaRPr lang="zh-CN" altLang="en-US" sz="4200">
              <a:solidFill>
                <a:srgbClr val="FFFFFF"/>
              </a:solidFill>
              <a:latin typeface="Gill Sans" panose="020B0502020104020203"/>
              <a:ea typeface="Heiti SC Light" charset="-122"/>
              <a:sym typeface="Gill Sans" panose="020B0502020104020203" charset="0"/>
            </a:endParaRPr>
          </a:p>
        </p:txBody>
      </p:sp>
      <p:sp>
        <p:nvSpPr>
          <p:cNvPr id="21" name="右箭头 20"/>
          <p:cNvSpPr/>
          <p:nvPr/>
        </p:nvSpPr>
        <p:spPr>
          <a:xfrm>
            <a:off x="4944071" y="2932287"/>
            <a:ext cx="1512466" cy="26565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42620" eaLnBrk="0" fontAlgn="base" hangingPunct="0">
              <a:spcBef>
                <a:spcPct val="0"/>
              </a:spcBef>
              <a:spcAft>
                <a:spcPct val="0"/>
              </a:spcAft>
              <a:defRPr/>
            </a:pPr>
            <a:endParaRPr lang="zh-CN" altLang="en-US" sz="4200">
              <a:solidFill>
                <a:srgbClr val="FFFFFF"/>
              </a:solidFill>
              <a:latin typeface="Gill Sans" panose="020B0502020104020203"/>
              <a:ea typeface="Heiti SC Light" charset="-122"/>
              <a:sym typeface="Gill Sans" panose="020B0502020104020203" charset="0"/>
            </a:endParaRPr>
          </a:p>
        </p:txBody>
      </p:sp>
      <p:sp>
        <p:nvSpPr>
          <p:cNvPr id="22" name="爆炸形 1 21"/>
          <p:cNvSpPr/>
          <p:nvPr/>
        </p:nvSpPr>
        <p:spPr>
          <a:xfrm>
            <a:off x="6400726" y="2133080"/>
            <a:ext cx="4267274" cy="2463477"/>
          </a:xfrm>
          <a:prstGeom prst="irregularSeal1">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42620" eaLnBrk="0" fontAlgn="base" hangingPunct="0">
              <a:spcBef>
                <a:spcPct val="0"/>
              </a:spcBef>
              <a:spcAft>
                <a:spcPct val="0"/>
              </a:spcAft>
              <a:defRPr/>
            </a:pPr>
            <a:r>
              <a:rPr lang="zh-CN" altLang="en-US" sz="2250" b="1" dirty="0">
                <a:solidFill>
                  <a:srgbClr val="000000"/>
                </a:solidFill>
                <a:latin typeface="Gill Sans" panose="020B0502020104020203"/>
                <a:ea typeface="Heiti SC Light" charset="-122"/>
                <a:sym typeface="Gill Sans" panose="020B0502020104020203" charset="0"/>
              </a:rPr>
              <a:t>系统建模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algn="l" eaLnBrk="1" hangingPunct="1"/>
            <a:r>
              <a:rPr lang="zh-CN" altLang="en-US" sz="3200"/>
              <a:t>问题理解</a:t>
            </a:r>
            <a:endParaRPr lang="en-US" altLang="zh-CN" sz="3200"/>
          </a:p>
        </p:txBody>
      </p:sp>
      <p:sp>
        <p:nvSpPr>
          <p:cNvPr id="5123" name="Content Placeholder 2"/>
          <p:cNvSpPr>
            <a:spLocks noGrp="1"/>
          </p:cNvSpPr>
          <p:nvPr>
            <p:ph idx="1"/>
          </p:nvPr>
        </p:nvSpPr>
        <p:spPr>
          <a:xfrm>
            <a:off x="1982788" y="1417638"/>
            <a:ext cx="8229600" cy="4525962"/>
          </a:xfrm>
        </p:spPr>
        <p:txBody>
          <a:bodyPr/>
          <a:lstStyle/>
          <a:p>
            <a:pPr eaLnBrk="1" hangingPunct="1">
              <a:buClr>
                <a:srgbClr val="FF0000"/>
              </a:buClr>
              <a:buFont typeface="Wingdings" panose="05000000000000000000" pitchFamily="2" charset="2"/>
              <a:buChar char="n"/>
              <a:defRPr/>
            </a:pPr>
            <a:r>
              <a:rPr lang="zh-CN" altLang="en-US" sz="2400" b="1" dirty="0"/>
              <a:t>建模</a:t>
            </a:r>
            <a:r>
              <a:rPr lang="en-US" altLang="zh-CN" sz="2400" b="1" dirty="0"/>
              <a:t>——</a:t>
            </a:r>
            <a:r>
              <a:rPr lang="zh-CN" altLang="en-US" sz="2400" b="1" dirty="0"/>
              <a:t>设计</a:t>
            </a:r>
            <a:r>
              <a:rPr lang="en-US" altLang="zh-CN" sz="2400" b="1" dirty="0"/>
              <a:t>——</a:t>
            </a:r>
            <a:r>
              <a:rPr lang="zh-CN" altLang="en-US" sz="2400" b="1" dirty="0"/>
              <a:t>分析</a:t>
            </a:r>
            <a:endParaRPr lang="en-US" altLang="zh-CN" sz="2400" b="1" dirty="0"/>
          </a:p>
          <a:p>
            <a:pPr marL="0" indent="0" eaLnBrk="1" hangingPunct="1">
              <a:buClr>
                <a:srgbClr val="FF0000"/>
              </a:buClr>
              <a:buNone/>
              <a:defRPr/>
            </a:pPr>
            <a:r>
              <a:rPr lang="zh-CN" altLang="en-US" sz="2400" dirty="0"/>
              <a:t>反映了人们对于系统要解决问题的认识过程</a:t>
            </a:r>
            <a:endParaRPr lang="en-US" altLang="zh-CN" sz="2400" dirty="0"/>
          </a:p>
        </p:txBody>
      </p:sp>
      <p:pic>
        <p:nvPicPr>
          <p:cNvPr id="614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2276475"/>
            <a:ext cx="3994150" cy="417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p:cNvSpPr txBox="1"/>
          <p:nvPr/>
        </p:nvSpPr>
        <p:spPr bwMode="auto">
          <a:xfrm>
            <a:off x="5842001" y="2582863"/>
            <a:ext cx="5740399"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panose="020B07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7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7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7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defRPr/>
            </a:pPr>
            <a:r>
              <a:rPr lang="zh-CN" altLang="en-US" sz="2400" b="1" dirty="0">
                <a:solidFill>
                  <a:prstClr val="black"/>
                </a:solidFill>
                <a:latin typeface="Calibri" panose="020F0502020204030204"/>
                <a:ea typeface="宋体" pitchFamily="2" charset="-122"/>
              </a:rPr>
              <a:t>建模</a:t>
            </a:r>
            <a:endParaRPr lang="en-US" altLang="zh-CN" sz="2400" b="1" dirty="0">
              <a:solidFill>
                <a:prstClr val="black"/>
              </a:solidFill>
              <a:latin typeface="Calibri" panose="020F0502020204030204"/>
              <a:ea typeface="宋体" pitchFamily="2" charset="-122"/>
            </a:endParaRPr>
          </a:p>
          <a:p>
            <a:pPr marL="0" indent="0" eaLnBrk="1" hangingPunct="1">
              <a:buClr>
                <a:srgbClr val="FF0000"/>
              </a:buClr>
              <a:buNone/>
              <a:defRPr/>
            </a:pPr>
            <a:r>
              <a:rPr lang="en-US" altLang="zh-CN" sz="2400" b="1" dirty="0">
                <a:solidFill>
                  <a:prstClr val="black"/>
                </a:solidFill>
                <a:latin typeface="Calibri" panose="020F0502020204030204"/>
                <a:ea typeface="宋体" pitchFamily="2" charset="-122"/>
              </a:rPr>
              <a:t>    what</a:t>
            </a:r>
            <a:r>
              <a:rPr lang="zh-CN" altLang="en-US" sz="2400" b="1" dirty="0">
                <a:solidFill>
                  <a:prstClr val="black"/>
                </a:solidFill>
                <a:latin typeface="Calibri" panose="020F0502020204030204"/>
                <a:ea typeface="宋体" pitchFamily="2" charset="-122"/>
              </a:rPr>
              <a:t>：系统做什么</a:t>
            </a:r>
            <a:endParaRPr lang="en-US" altLang="zh-CN" sz="2400" b="1" dirty="0">
              <a:solidFill>
                <a:prstClr val="black"/>
              </a:solidFill>
              <a:latin typeface="Calibri" panose="020F0502020204030204"/>
              <a:ea typeface="宋体" pitchFamily="2" charset="-122"/>
            </a:endParaRPr>
          </a:p>
          <a:p>
            <a:pPr eaLnBrk="1" hangingPunct="1">
              <a:buClr>
                <a:srgbClr val="FF0000"/>
              </a:buClr>
              <a:buFont typeface="Wingdings" panose="05000000000000000000" pitchFamily="2" charset="2"/>
              <a:buChar char="Ø"/>
              <a:defRPr/>
            </a:pPr>
            <a:r>
              <a:rPr lang="zh-CN" altLang="en-US" sz="2400" b="1" dirty="0">
                <a:solidFill>
                  <a:prstClr val="black"/>
                </a:solidFill>
                <a:latin typeface="Calibri" panose="020F0502020204030204"/>
                <a:ea typeface="宋体" pitchFamily="2" charset="-122"/>
              </a:rPr>
              <a:t>设计</a:t>
            </a:r>
            <a:endParaRPr lang="en-US" altLang="zh-CN" sz="2400" b="1" dirty="0">
              <a:solidFill>
                <a:prstClr val="black"/>
              </a:solidFill>
              <a:latin typeface="Calibri" panose="020F0502020204030204"/>
              <a:ea typeface="宋体" pitchFamily="2" charset="-122"/>
            </a:endParaRPr>
          </a:p>
          <a:p>
            <a:pPr marL="0" indent="0" eaLnBrk="1" hangingPunct="1">
              <a:buClr>
                <a:srgbClr val="FF0000"/>
              </a:buClr>
              <a:buNone/>
              <a:defRPr/>
            </a:pPr>
            <a:r>
              <a:rPr lang="en-US" altLang="zh-CN" sz="2400" b="1" dirty="0">
                <a:solidFill>
                  <a:prstClr val="black"/>
                </a:solidFill>
                <a:latin typeface="Calibri" panose="020F0502020204030204"/>
                <a:ea typeface="宋体" pitchFamily="2" charset="-122"/>
              </a:rPr>
              <a:t>    how</a:t>
            </a:r>
            <a:r>
              <a:rPr lang="zh-CN" altLang="en-US" sz="2400" b="1" dirty="0">
                <a:solidFill>
                  <a:prstClr val="black"/>
                </a:solidFill>
                <a:latin typeface="Calibri" panose="020F0502020204030204"/>
                <a:ea typeface="宋体" pitchFamily="2" charset="-122"/>
              </a:rPr>
              <a:t>：系统怎么做</a:t>
            </a:r>
            <a:endParaRPr lang="en-US" altLang="zh-CN" sz="2400" b="1" dirty="0">
              <a:solidFill>
                <a:prstClr val="black"/>
              </a:solidFill>
              <a:latin typeface="Calibri" panose="020F0502020204030204"/>
              <a:ea typeface="宋体" pitchFamily="2" charset="-122"/>
            </a:endParaRPr>
          </a:p>
          <a:p>
            <a:pPr eaLnBrk="1" hangingPunct="1">
              <a:buClr>
                <a:srgbClr val="FF0000"/>
              </a:buClr>
              <a:buFont typeface="Wingdings" panose="05000000000000000000" pitchFamily="2" charset="2"/>
              <a:buChar char="Ø"/>
              <a:defRPr/>
            </a:pPr>
            <a:r>
              <a:rPr lang="zh-CN" altLang="en-US" sz="2400" b="1" dirty="0">
                <a:solidFill>
                  <a:prstClr val="black"/>
                </a:solidFill>
                <a:latin typeface="Calibri" panose="020F0502020204030204"/>
                <a:ea typeface="宋体" pitchFamily="2" charset="-122"/>
              </a:rPr>
              <a:t>分析</a:t>
            </a:r>
            <a:endParaRPr lang="en-US" altLang="zh-CN" sz="2400" b="1" dirty="0">
              <a:solidFill>
                <a:prstClr val="black"/>
              </a:solidFill>
              <a:latin typeface="Calibri" panose="020F0502020204030204"/>
              <a:ea typeface="宋体" pitchFamily="2" charset="-122"/>
            </a:endParaRPr>
          </a:p>
          <a:p>
            <a:pPr marL="0" indent="0" eaLnBrk="1" hangingPunct="1">
              <a:buClr>
                <a:srgbClr val="FF0000"/>
              </a:buClr>
              <a:buNone/>
              <a:defRPr/>
            </a:pPr>
            <a:r>
              <a:rPr lang="en-US" altLang="zh-CN" sz="2400" b="1" dirty="0">
                <a:solidFill>
                  <a:prstClr val="black"/>
                </a:solidFill>
                <a:latin typeface="Calibri" panose="020F0502020204030204"/>
                <a:ea typeface="宋体" pitchFamily="2" charset="-122"/>
              </a:rPr>
              <a:t>    why</a:t>
            </a:r>
            <a:r>
              <a:rPr lang="zh-CN" altLang="en-US" sz="2400" b="1" dirty="0">
                <a:solidFill>
                  <a:prstClr val="black"/>
                </a:solidFill>
                <a:latin typeface="Calibri" panose="020F0502020204030204"/>
                <a:ea typeface="宋体" pitchFamily="2" charset="-122"/>
              </a:rPr>
              <a:t>：为什么系统是我们要的</a:t>
            </a:r>
          </a:p>
          <a:p>
            <a:pPr marL="0" indent="0" eaLnBrk="1" hangingPunct="1">
              <a:buClr>
                <a:srgbClr val="FF0000"/>
              </a:buClr>
              <a:buNone/>
              <a:defRPr/>
            </a:pPr>
            <a:r>
              <a:rPr lang="zh-CN" altLang="en-US" sz="2400">
                <a:ea typeface="宋体" pitchFamily="2" charset="-122"/>
                <a:sym typeface="+mn-ea"/>
              </a:rPr>
              <a:t>对系统有深入了解</a:t>
            </a:r>
            <a:endParaRPr lang="en-US" altLang="zh-CN" sz="2400" dirty="0">
              <a:solidFill>
                <a:prstClr val="black"/>
              </a:solidFill>
              <a:latin typeface="Calibri" panose="020F0502020204030204"/>
              <a:ea typeface="宋体"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585912" y="133350"/>
            <a:ext cx="9020175" cy="6591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438275" y="133350"/>
            <a:ext cx="9315450" cy="6591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614362" y="142875"/>
            <a:ext cx="10963275" cy="6572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991623" y="0"/>
            <a:ext cx="10208754"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423872" y="0"/>
            <a:ext cx="9344256"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228725" y="223837"/>
            <a:ext cx="9734550" cy="6410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437510" y="0"/>
            <a:ext cx="931698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485949" y="0"/>
            <a:ext cx="9220102"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981075" y="309563"/>
            <a:ext cx="9001125" cy="58780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251927"/>
            <a:ext cx="10972800" cy="5874237"/>
          </a:xfrm>
        </p:spPr>
        <p:txBody>
          <a:bodyPr/>
          <a:lstStyle/>
          <a:p>
            <a:r>
              <a:rPr lang="en-US" altLang="zh-CN" dirty="0"/>
              <a:t>y(n)=</a:t>
            </a:r>
            <a:r>
              <a:rPr lang="en-US" altLang="zh-CN" dirty="0" err="1"/>
              <a:t>nx</a:t>
            </a:r>
            <a:r>
              <a:rPr lang="en-US" altLang="zh-CN" dirty="0"/>
              <a:t>(n)</a:t>
            </a:r>
            <a:r>
              <a:rPr lang="zh-CN" altLang="en-US" dirty="0"/>
              <a:t>是否满足线性？</a:t>
            </a:r>
            <a:endParaRPr lang="en-US" altLang="zh-CN" dirty="0"/>
          </a:p>
          <a:p>
            <a:r>
              <a:rPr lang="en-US" altLang="zh-CN" dirty="0"/>
              <a:t>y(t)=sin[x(t)]</a:t>
            </a:r>
            <a:r>
              <a:rPr lang="zh-CN" altLang="en-US" dirty="0"/>
              <a:t>是否满足时不变性？</a:t>
            </a:r>
          </a:p>
        </p:txBody>
      </p:sp>
      <p:pic>
        <p:nvPicPr>
          <p:cNvPr id="4" name="图片 3"/>
          <p:cNvPicPr>
            <a:picLocks noChangeAspect="1"/>
          </p:cNvPicPr>
          <p:nvPr/>
        </p:nvPicPr>
        <p:blipFill>
          <a:blip r:embed="rId2"/>
          <a:stretch>
            <a:fillRect/>
          </a:stretch>
        </p:blipFill>
        <p:spPr>
          <a:xfrm>
            <a:off x="378539" y="1897821"/>
            <a:ext cx="5429250" cy="590550"/>
          </a:xfrm>
          <a:prstGeom prst="rect">
            <a:avLst/>
          </a:prstGeom>
        </p:spPr>
      </p:pic>
      <p:pic>
        <p:nvPicPr>
          <p:cNvPr id="5" name="图片 4"/>
          <p:cNvPicPr>
            <a:picLocks noChangeAspect="1"/>
          </p:cNvPicPr>
          <p:nvPr/>
        </p:nvPicPr>
        <p:blipFill>
          <a:blip r:embed="rId3"/>
          <a:stretch>
            <a:fillRect/>
          </a:stretch>
        </p:blipFill>
        <p:spPr>
          <a:xfrm>
            <a:off x="609600" y="2488371"/>
            <a:ext cx="3324225" cy="6000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43025" y="146969"/>
            <a:ext cx="8877300" cy="63157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90650" y="248227"/>
            <a:ext cx="8791575" cy="594302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257418" y="243244"/>
            <a:ext cx="8067557" cy="623261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23509" y="550700"/>
            <a:ext cx="8768166" cy="547750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17172" y="180975"/>
            <a:ext cx="10053932" cy="62007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781175" y="304800"/>
            <a:ext cx="8629650" cy="6248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229529" y="204787"/>
            <a:ext cx="8650125" cy="64484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876425" y="333375"/>
            <a:ext cx="8439150" cy="61912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728787" y="590550"/>
            <a:ext cx="8734425" cy="56769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185862" y="23812"/>
            <a:ext cx="9820275" cy="68103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138237" y="476250"/>
            <a:ext cx="9915525" cy="5905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240119" y="180975"/>
            <a:ext cx="8629828" cy="6324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143000" y="123825"/>
            <a:ext cx="9906000" cy="66103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162050" y="311621"/>
            <a:ext cx="9534525" cy="646065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153675"/>
            <a:ext cx="10353688" cy="655064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785937" y="242887"/>
            <a:ext cx="8620125" cy="63722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238250" y="180975"/>
            <a:ext cx="9715500" cy="64960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935005" y="0"/>
            <a:ext cx="1032199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309687" y="523875"/>
            <a:ext cx="9572625" cy="58102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38250" y="447675"/>
            <a:ext cx="9715500" cy="59626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450409" y="0"/>
            <a:ext cx="9291181"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52537" y="190500"/>
            <a:ext cx="9686925" cy="6477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66825" y="495300"/>
            <a:ext cx="9658350" cy="58674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85875" y="28575"/>
            <a:ext cx="9620250" cy="68008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57300" y="400050"/>
            <a:ext cx="9677400" cy="60579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38250" y="114300"/>
            <a:ext cx="9715500" cy="66294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919162" y="523875"/>
            <a:ext cx="9667875" cy="59436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481558" y="171450"/>
            <a:ext cx="8998161" cy="668655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62062" y="180975"/>
            <a:ext cx="9667875" cy="64960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544384" y="0"/>
            <a:ext cx="9103231"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573192" y="0"/>
            <a:ext cx="904561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304925" y="171450"/>
            <a:ext cx="9582150" cy="65151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Date Placeholder 3"/>
          <p:cNvSpPr>
            <a:spLocks noGrp="1"/>
          </p:cNvSpPr>
          <p:nvPr>
            <p:ph type="dt" sz="quarter" idx="4294967295"/>
          </p:nvPr>
        </p:nvSpPr>
        <p:spPr>
          <a:xfrm>
            <a:off x="1992809" y="6020842"/>
            <a:ext cx="2133079" cy="47662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宋体" pitchFamily="2" charset="-122"/>
                <a:ea typeface="宋体" pitchFamily="2" charset="-122"/>
              </a:defRPr>
            </a:lvl1pPr>
            <a:lvl2pPr marL="742950" indent="-285750" eaLnBrk="0" hangingPunct="0">
              <a:defRPr sz="2800" b="1">
                <a:solidFill>
                  <a:schemeClr val="tx1"/>
                </a:solidFill>
                <a:latin typeface="宋体" pitchFamily="2" charset="-122"/>
                <a:ea typeface="宋体" pitchFamily="2" charset="-122"/>
              </a:defRPr>
            </a:lvl2pPr>
            <a:lvl3pPr marL="1143000" indent="-228600" eaLnBrk="0" hangingPunct="0">
              <a:defRPr sz="2800" b="1">
                <a:solidFill>
                  <a:schemeClr val="tx1"/>
                </a:solidFill>
                <a:latin typeface="宋体" pitchFamily="2" charset="-122"/>
                <a:ea typeface="宋体" pitchFamily="2" charset="-122"/>
              </a:defRPr>
            </a:lvl3pPr>
            <a:lvl4pPr marL="1600200" indent="-228600" eaLnBrk="0" hangingPunct="0">
              <a:defRPr sz="2800" b="1">
                <a:solidFill>
                  <a:schemeClr val="tx1"/>
                </a:solidFill>
                <a:latin typeface="宋体" pitchFamily="2" charset="-122"/>
                <a:ea typeface="宋体" pitchFamily="2" charset="-122"/>
              </a:defRPr>
            </a:lvl4pPr>
            <a:lvl5pPr marL="2057400" indent="-228600" eaLnBrk="0" hangingPunct="0">
              <a:defRPr sz="2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sz="2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sz="2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sz="2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sz="2800" b="1">
                <a:solidFill>
                  <a:schemeClr val="tx1"/>
                </a:solidFill>
                <a:latin typeface="宋体" pitchFamily="2" charset="-122"/>
                <a:ea typeface="宋体" pitchFamily="2" charset="-122"/>
              </a:defRPr>
            </a:lvl9pPr>
          </a:lstStyle>
          <a:p>
            <a:pPr eaLnBrk="1" hangingPunct="1">
              <a:defRPr/>
            </a:pPr>
            <a:fld id="{6329AD4E-2C73-476B-95E6-CA99ED4F8DC8}" type="datetime1">
              <a:rPr lang="zh-CN" altLang="en-US" sz="1600" b="0">
                <a:latin typeface="Arial" panose="020B0704020202020204" pitchFamily="34" charset="0"/>
              </a:rPr>
              <a:t>2026/1/6</a:t>
            </a:fld>
            <a:endParaRPr lang="en-US" altLang="zh-CN" sz="1600" b="0">
              <a:latin typeface="Arial" panose="020B0704020202020204" pitchFamily="34" charset="0"/>
            </a:endParaRPr>
          </a:p>
        </p:txBody>
      </p:sp>
      <p:sp>
        <p:nvSpPr>
          <p:cNvPr id="72707" name="Rectangle 3"/>
          <p:cNvSpPr>
            <a:spLocks noGrp="1" noChangeArrowheads="1"/>
          </p:cNvSpPr>
          <p:nvPr>
            <p:ph type="body" idx="1"/>
          </p:nvPr>
        </p:nvSpPr>
        <p:spPr>
          <a:xfrm>
            <a:off x="1524001" y="1328291"/>
            <a:ext cx="8964290" cy="4857750"/>
          </a:xfrm>
        </p:spPr>
        <p:txBody>
          <a:bodyPr/>
          <a:lstStyle/>
          <a:p>
            <a:pPr lvl="1" eaLnBrk="1" hangingPunct="1">
              <a:lnSpc>
                <a:spcPct val="120000"/>
              </a:lnSpc>
              <a:spcBef>
                <a:spcPct val="50000"/>
              </a:spcBef>
            </a:pPr>
            <a:r>
              <a:rPr lang="en-US" altLang="zh-CN" sz="2250"/>
              <a:t>MATLAB </a:t>
            </a:r>
            <a:r>
              <a:rPr lang="zh-CN" altLang="en-US" sz="2250"/>
              <a:t>在数值分析，特别在数值线性代数。后来出现很多工具箱，它的应用也扩展到其他领域。</a:t>
            </a:r>
            <a:endParaRPr lang="en-US" altLang="zh-CN" sz="2250"/>
          </a:p>
          <a:p>
            <a:pPr lvl="1" eaLnBrk="1" hangingPunct="1">
              <a:lnSpc>
                <a:spcPct val="120000"/>
              </a:lnSpc>
              <a:spcBef>
                <a:spcPct val="50000"/>
              </a:spcBef>
            </a:pPr>
            <a:r>
              <a:rPr lang="en-US" altLang="zh-CN" sz="2250"/>
              <a:t>1980</a:t>
            </a:r>
            <a:r>
              <a:rPr lang="zh-CN" altLang="en-US" sz="2250"/>
              <a:t>年美国学者 </a:t>
            </a:r>
            <a:r>
              <a:rPr lang="en-US" altLang="zh-CN" sz="2250"/>
              <a:t>Cleve Moler </a:t>
            </a:r>
            <a:r>
              <a:rPr lang="zh-CN" altLang="en-US" sz="2250"/>
              <a:t>等人推出的交互式</a:t>
            </a:r>
            <a:r>
              <a:rPr lang="en-US" altLang="zh-CN" sz="2250"/>
              <a:t>MATLAB </a:t>
            </a:r>
            <a:r>
              <a:rPr lang="zh-CN" altLang="en-US" sz="2250"/>
              <a:t>语言逐渐受到了控制界研究者的普遍重视</a:t>
            </a:r>
          </a:p>
          <a:p>
            <a:pPr lvl="2" eaLnBrk="1" hangingPunct="1">
              <a:lnSpc>
                <a:spcPct val="120000"/>
              </a:lnSpc>
              <a:spcBef>
                <a:spcPct val="50000"/>
              </a:spcBef>
              <a:buClr>
                <a:schemeClr val="accent2"/>
              </a:buClr>
            </a:pPr>
            <a:r>
              <a:rPr lang="zh-CN" altLang="en-US" sz="2250"/>
              <a:t>图形交互式的模型输入计算机仿真环境 </a:t>
            </a:r>
            <a:r>
              <a:rPr lang="en-US" altLang="zh-CN" sz="2250"/>
              <a:t>Simulink  </a:t>
            </a:r>
            <a:r>
              <a:rPr lang="zh-CN" altLang="en-US" sz="2250"/>
              <a:t>的出现为</a:t>
            </a:r>
            <a:r>
              <a:rPr lang="en-US" altLang="zh-CN" sz="2250"/>
              <a:t>MATLAB</a:t>
            </a:r>
            <a:r>
              <a:rPr lang="zh-CN" altLang="en-US" sz="2250"/>
              <a:t>应用的进一步推广起到了积极性的推动作用。</a:t>
            </a:r>
            <a:endParaRPr lang="en-US" altLang="zh-CN" sz="2250"/>
          </a:p>
          <a:p>
            <a:pPr lvl="2" eaLnBrk="1" hangingPunct="1">
              <a:lnSpc>
                <a:spcPct val="120000"/>
              </a:lnSpc>
              <a:spcBef>
                <a:spcPct val="50000"/>
              </a:spcBef>
              <a:buClr>
                <a:schemeClr val="accent2"/>
              </a:buClr>
            </a:pPr>
            <a:r>
              <a:rPr lang="zh-CN" altLang="en-US" sz="2250"/>
              <a:t>现在，</a:t>
            </a:r>
            <a:r>
              <a:rPr lang="en-US" altLang="zh-CN" sz="2250"/>
              <a:t>MATLAB </a:t>
            </a:r>
            <a:r>
              <a:rPr lang="zh-CN" altLang="en-US" sz="2250"/>
              <a:t>已经风靡了全世界，成为控制系统仿真与计算机辅助设计领域最普及也是最受欢迎的首选计算机语言</a:t>
            </a:r>
            <a:r>
              <a:rPr lang="zh-CN" altLang="en-US"/>
              <a:t>。</a:t>
            </a:r>
          </a:p>
        </p:txBody>
      </p:sp>
      <p:pic>
        <p:nvPicPr>
          <p:cNvPr id="72708" name="Picture 5" descr="txp_fig"/>
          <p:cNvPicPr>
            <a:picLocks noChangeAspect="1" noChangeArrowheads="1"/>
          </p:cNvPicPr>
          <p:nvPr>
            <p:custDataLst>
              <p:tags r:id="rId1"/>
            </p:custDataLst>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27651" y="1303734"/>
            <a:ext cx="1600646" cy="31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a:spLocks noGrp="1" noRot="1" noChangeArrowheads="1"/>
          </p:cNvSpPr>
          <p:nvPr>
            <p:ph type="title"/>
          </p:nvPr>
        </p:nvSpPr>
        <p:spPr>
          <a:xfrm>
            <a:off x="2024062" y="0"/>
            <a:ext cx="8229824" cy="1303734"/>
          </a:xfrm>
        </p:spPr>
        <p:txBody>
          <a:bodyPr/>
          <a:lstStyle/>
          <a:p>
            <a:pPr eaLnBrk="1" hangingPunct="1">
              <a:defRPr/>
            </a:pPr>
            <a:r>
              <a:rPr lang="en-US" altLang="zh-CN" dirty="0"/>
              <a:t>  </a:t>
            </a:r>
            <a:r>
              <a:rPr lang="en-US" altLang="zh-CN" sz="4220" dirty="0">
                <a:latin typeface="+mn-ea"/>
                <a:ea typeface="+mn-ea"/>
              </a:rPr>
              <a:t>MATLAB/Simulink </a:t>
            </a:r>
            <a:r>
              <a:rPr lang="zh-CN" altLang="en-US" sz="4220" dirty="0">
                <a:latin typeface="+mn-ea"/>
                <a:ea typeface="+mn-ea"/>
              </a:rPr>
              <a:t>与工具箱</a:t>
            </a:r>
          </a:p>
        </p:txBody>
      </p:sp>
      <p:sp>
        <p:nvSpPr>
          <p:cNvPr id="15366" name="灯片编号占位符 7"/>
          <p:cNvSpPr>
            <a:spLocks noGrp="1"/>
          </p:cNvSpPr>
          <p:nvPr>
            <p:ph type="sldNum" sz="quarter" idx="4294967295"/>
          </p:nvPr>
        </p:nvSpPr>
        <p:spPr>
          <a:xfrm>
            <a:off x="7679904" y="6020842"/>
            <a:ext cx="2134195" cy="47662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宋体" pitchFamily="2" charset="-122"/>
                <a:ea typeface="宋体" pitchFamily="2" charset="-122"/>
              </a:defRPr>
            </a:lvl1pPr>
            <a:lvl2pPr marL="742950" indent="-285750" eaLnBrk="0" hangingPunct="0">
              <a:defRPr sz="2800" b="1">
                <a:solidFill>
                  <a:schemeClr val="tx1"/>
                </a:solidFill>
                <a:latin typeface="宋体" pitchFamily="2" charset="-122"/>
                <a:ea typeface="宋体" pitchFamily="2" charset="-122"/>
              </a:defRPr>
            </a:lvl2pPr>
            <a:lvl3pPr marL="1143000" indent="-228600" eaLnBrk="0" hangingPunct="0">
              <a:defRPr sz="2800" b="1">
                <a:solidFill>
                  <a:schemeClr val="tx1"/>
                </a:solidFill>
                <a:latin typeface="宋体" pitchFamily="2" charset="-122"/>
                <a:ea typeface="宋体" pitchFamily="2" charset="-122"/>
              </a:defRPr>
            </a:lvl3pPr>
            <a:lvl4pPr marL="1600200" indent="-228600" eaLnBrk="0" hangingPunct="0">
              <a:defRPr sz="2800" b="1">
                <a:solidFill>
                  <a:schemeClr val="tx1"/>
                </a:solidFill>
                <a:latin typeface="宋体" pitchFamily="2" charset="-122"/>
                <a:ea typeface="宋体" pitchFamily="2" charset="-122"/>
              </a:defRPr>
            </a:lvl4pPr>
            <a:lvl5pPr marL="2057400" indent="-228600" eaLnBrk="0" hangingPunct="0">
              <a:defRPr sz="2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sz="2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sz="2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sz="2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sz="2800" b="1">
                <a:solidFill>
                  <a:schemeClr val="tx1"/>
                </a:solidFill>
                <a:latin typeface="宋体" pitchFamily="2" charset="-122"/>
                <a:ea typeface="宋体" pitchFamily="2" charset="-122"/>
              </a:defRPr>
            </a:lvl9pPr>
          </a:lstStyle>
          <a:p>
            <a:pPr eaLnBrk="1" hangingPunct="1">
              <a:defRPr/>
            </a:pPr>
            <a:fld id="{9AF11435-E7A6-4FE9-8B14-E68D2AF4EDC7}" type="slidenum">
              <a:rPr lang="en-US" altLang="zh-CN" sz="1200" b="0">
                <a:latin typeface="Arial" panose="020B0704020202020204" pitchFamily="34" charset="0"/>
              </a:rPr>
              <a:t>49</a:t>
            </a:fld>
            <a:endParaRPr lang="en-US" altLang="zh-CN" sz="1200" b="0">
              <a:latin typeface="Arial" panose="020B0704020202020204" pitchFamily="34"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Date Placeholder 3"/>
          <p:cNvSpPr>
            <a:spLocks noGrp="1"/>
          </p:cNvSpPr>
          <p:nvPr>
            <p:ph type="dt" sz="quarter" idx="4294967295"/>
          </p:nvPr>
        </p:nvSpPr>
        <p:spPr>
          <a:xfrm>
            <a:off x="1992809" y="6020842"/>
            <a:ext cx="2133079" cy="47662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宋体" pitchFamily="2" charset="-122"/>
                <a:ea typeface="宋体" pitchFamily="2" charset="-122"/>
              </a:defRPr>
            </a:lvl1pPr>
            <a:lvl2pPr marL="742950" indent="-285750" eaLnBrk="0" hangingPunct="0">
              <a:defRPr sz="2800" b="1">
                <a:solidFill>
                  <a:schemeClr val="tx1"/>
                </a:solidFill>
                <a:latin typeface="宋体" pitchFamily="2" charset="-122"/>
                <a:ea typeface="宋体" pitchFamily="2" charset="-122"/>
              </a:defRPr>
            </a:lvl2pPr>
            <a:lvl3pPr marL="1143000" indent="-228600" eaLnBrk="0" hangingPunct="0">
              <a:defRPr sz="2800" b="1">
                <a:solidFill>
                  <a:schemeClr val="tx1"/>
                </a:solidFill>
                <a:latin typeface="宋体" pitchFamily="2" charset="-122"/>
                <a:ea typeface="宋体" pitchFamily="2" charset="-122"/>
              </a:defRPr>
            </a:lvl3pPr>
            <a:lvl4pPr marL="1600200" indent="-228600" eaLnBrk="0" hangingPunct="0">
              <a:defRPr sz="2800" b="1">
                <a:solidFill>
                  <a:schemeClr val="tx1"/>
                </a:solidFill>
                <a:latin typeface="宋体" pitchFamily="2" charset="-122"/>
                <a:ea typeface="宋体" pitchFamily="2" charset="-122"/>
              </a:defRPr>
            </a:lvl4pPr>
            <a:lvl5pPr marL="2057400" indent="-228600" eaLnBrk="0" hangingPunct="0">
              <a:defRPr sz="2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sz="2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sz="2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sz="2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sz="2800" b="1">
                <a:solidFill>
                  <a:schemeClr val="tx1"/>
                </a:solidFill>
                <a:latin typeface="宋体" pitchFamily="2" charset="-122"/>
                <a:ea typeface="宋体" pitchFamily="2" charset="-122"/>
              </a:defRPr>
            </a:lvl9pPr>
          </a:lstStyle>
          <a:p>
            <a:pPr eaLnBrk="1" hangingPunct="1">
              <a:defRPr/>
            </a:pPr>
            <a:fld id="{15884B04-287D-40A7-BC05-5CCE2578D2CB}" type="datetime1">
              <a:rPr lang="zh-CN" altLang="en-US" sz="1600" b="0">
                <a:latin typeface="Arial" panose="020B0704020202020204" pitchFamily="34" charset="0"/>
              </a:rPr>
              <a:t>2026/1/6</a:t>
            </a:fld>
            <a:endParaRPr lang="en-US" altLang="zh-CN" sz="1600" b="0">
              <a:latin typeface="Arial" panose="020B0704020202020204" pitchFamily="34" charset="0"/>
            </a:endParaRPr>
          </a:p>
        </p:txBody>
      </p:sp>
      <p:sp>
        <p:nvSpPr>
          <p:cNvPr id="16387" name="Rectangle 3"/>
          <p:cNvSpPr>
            <a:spLocks noGrp="1" noChangeArrowheads="1"/>
          </p:cNvSpPr>
          <p:nvPr>
            <p:ph type="body" idx="1"/>
          </p:nvPr>
        </p:nvSpPr>
        <p:spPr>
          <a:xfrm>
            <a:off x="1863329" y="1285875"/>
            <a:ext cx="8080251" cy="4643438"/>
          </a:xfrm>
        </p:spPr>
        <p:txBody>
          <a:bodyPr/>
          <a:lstStyle/>
          <a:p>
            <a:pPr eaLnBrk="1" hangingPunct="1">
              <a:spcBef>
                <a:spcPct val="50000"/>
              </a:spcBef>
              <a:buClr>
                <a:schemeClr val="accent2"/>
              </a:buClr>
              <a:defRPr/>
            </a:pPr>
            <a:r>
              <a:rPr lang="zh-CN" altLang="en-US" sz="2800" dirty="0"/>
              <a:t>早期的 </a:t>
            </a:r>
            <a:r>
              <a:rPr lang="en-US" altLang="zh-CN" sz="2800" dirty="0"/>
              <a:t>MATLAB </a:t>
            </a:r>
            <a:r>
              <a:rPr lang="zh-CN" altLang="en-US" sz="2800" dirty="0"/>
              <a:t>的功能十分简单，当时它作为免费软件出现以来，还是吸引了大批的使用者。</a:t>
            </a:r>
            <a:endParaRPr lang="en-US" altLang="zh-CN" sz="2800" dirty="0"/>
          </a:p>
          <a:p>
            <a:pPr lvl="1" eaLnBrk="1" hangingPunct="1">
              <a:spcBef>
                <a:spcPct val="50000"/>
              </a:spcBef>
              <a:defRPr/>
            </a:pPr>
            <a:r>
              <a:rPr lang="zh-CN" altLang="en-US" sz="2400" dirty="0"/>
              <a:t>前期用</a:t>
            </a:r>
            <a:r>
              <a:rPr lang="en-US" altLang="zh-CN" sz="2400" dirty="0"/>
              <a:t>Fortran</a:t>
            </a:r>
            <a:r>
              <a:rPr lang="zh-CN" altLang="en-US" sz="2400" dirty="0"/>
              <a:t>编写的</a:t>
            </a:r>
            <a:endParaRPr lang="en-US" altLang="zh-CN" sz="2400" dirty="0"/>
          </a:p>
          <a:p>
            <a:pPr eaLnBrk="1" hangingPunct="1">
              <a:spcBef>
                <a:spcPct val="50000"/>
              </a:spcBef>
              <a:buClr>
                <a:schemeClr val="accent2"/>
              </a:buClr>
              <a:defRPr/>
            </a:pPr>
            <a:r>
              <a:rPr lang="en-US" altLang="zh-CN" sz="2800" dirty="0"/>
              <a:t>Cleve </a:t>
            </a:r>
            <a:r>
              <a:rPr lang="en-US" altLang="zh-CN" sz="2800" dirty="0" err="1"/>
              <a:t>Moler</a:t>
            </a:r>
            <a:r>
              <a:rPr lang="en-US" altLang="zh-CN" sz="2800" dirty="0"/>
              <a:t> </a:t>
            </a:r>
            <a:r>
              <a:rPr lang="zh-CN" altLang="en-US" sz="2800" dirty="0"/>
              <a:t>和 </a:t>
            </a:r>
            <a:r>
              <a:rPr lang="en-US" altLang="zh-CN" sz="2800" dirty="0"/>
              <a:t>John Little </a:t>
            </a:r>
            <a:r>
              <a:rPr lang="zh-CN" altLang="en-US" sz="2800" dirty="0"/>
              <a:t>等人于</a:t>
            </a:r>
            <a:r>
              <a:rPr lang="en-US" altLang="zh-CN" sz="2800" dirty="0"/>
              <a:t>1984</a:t>
            </a:r>
            <a:r>
              <a:rPr lang="zh-CN" altLang="en-US" sz="2800" dirty="0"/>
              <a:t>年成立了一个名为 </a:t>
            </a:r>
            <a:r>
              <a:rPr lang="en-US" altLang="zh-CN" sz="2800" dirty="0"/>
              <a:t>The </a:t>
            </a:r>
            <a:r>
              <a:rPr lang="en-US" altLang="zh-CN" sz="2800" dirty="0" err="1"/>
              <a:t>MathWorks</a:t>
            </a:r>
            <a:r>
              <a:rPr lang="en-US" altLang="zh-CN" sz="2800" dirty="0"/>
              <a:t> </a:t>
            </a:r>
            <a:r>
              <a:rPr lang="zh-CN" altLang="en-US" sz="2800" dirty="0"/>
              <a:t>的 公司</a:t>
            </a:r>
            <a:endParaRPr lang="en-US" altLang="zh-CN" sz="2800" dirty="0"/>
          </a:p>
          <a:p>
            <a:pPr lvl="1" eaLnBrk="1" hangingPunct="1">
              <a:spcBef>
                <a:spcPct val="50000"/>
              </a:spcBef>
              <a:defRPr/>
            </a:pPr>
            <a:r>
              <a:rPr lang="en-US" altLang="zh-CN" sz="2400" dirty="0"/>
              <a:t>1984</a:t>
            </a:r>
            <a:r>
              <a:rPr lang="zh-CN" altLang="en-US" sz="2400" dirty="0"/>
              <a:t>年，完全用</a:t>
            </a:r>
            <a:r>
              <a:rPr lang="en-US" altLang="zh-CN" sz="2400" dirty="0"/>
              <a:t>C</a:t>
            </a:r>
            <a:r>
              <a:rPr lang="zh-CN" altLang="en-US" sz="2400" dirty="0"/>
              <a:t>语言改写</a:t>
            </a:r>
          </a:p>
          <a:p>
            <a:pPr eaLnBrk="1" hangingPunct="1">
              <a:spcBef>
                <a:spcPct val="50000"/>
              </a:spcBef>
              <a:buClr>
                <a:schemeClr val="accent2"/>
              </a:buClr>
              <a:defRPr/>
            </a:pPr>
            <a:r>
              <a:rPr lang="en-US" altLang="zh-CN" sz="2800" dirty="0"/>
              <a:t>The </a:t>
            </a:r>
            <a:r>
              <a:rPr lang="en-US" altLang="zh-CN" sz="2800" dirty="0" err="1"/>
              <a:t>MathWorks</a:t>
            </a:r>
            <a:r>
              <a:rPr lang="en-US" altLang="zh-CN" sz="2800" dirty="0"/>
              <a:t> </a:t>
            </a:r>
            <a:r>
              <a:rPr lang="zh-CN" altLang="en-US" sz="2800" dirty="0"/>
              <a:t>公司于</a:t>
            </a:r>
            <a:r>
              <a:rPr lang="en-US" altLang="zh-CN" sz="2800" dirty="0"/>
              <a:t>1992 </a:t>
            </a:r>
            <a:r>
              <a:rPr lang="zh-CN" altLang="en-US" sz="2800" dirty="0"/>
              <a:t>年推出了具有划时代意义的 </a:t>
            </a:r>
            <a:r>
              <a:rPr lang="en-US" altLang="zh-CN" sz="2800" dirty="0"/>
              <a:t>MATLAB 4.0</a:t>
            </a:r>
            <a:r>
              <a:rPr lang="zh-CN" altLang="en-US" sz="2800" dirty="0"/>
              <a:t>版本。</a:t>
            </a:r>
            <a:r>
              <a:rPr lang="en-US" altLang="zh-CN" sz="2800" dirty="0"/>
              <a:t>----</a:t>
            </a:r>
            <a:r>
              <a:rPr lang="zh-CN" altLang="en-US" sz="2800" dirty="0"/>
              <a:t>支持在</a:t>
            </a:r>
            <a:r>
              <a:rPr lang="en-US" altLang="zh-CN" sz="2800" dirty="0"/>
              <a:t>windows</a:t>
            </a:r>
            <a:r>
              <a:rPr lang="zh-CN" altLang="en-US" sz="2800" dirty="0"/>
              <a:t>进行界面编写</a:t>
            </a:r>
          </a:p>
        </p:txBody>
      </p:sp>
      <p:sp>
        <p:nvSpPr>
          <p:cNvPr id="73732" name="Title 6"/>
          <p:cNvSpPr>
            <a:spLocks noGrp="1" noChangeArrowheads="1"/>
          </p:cNvSpPr>
          <p:nvPr>
            <p:ph type="title"/>
          </p:nvPr>
        </p:nvSpPr>
        <p:spPr>
          <a:xfrm>
            <a:off x="2416969" y="178594"/>
            <a:ext cx="7358063" cy="839391"/>
          </a:xfrm>
        </p:spPr>
        <p:txBody>
          <a:bodyPr/>
          <a:lstStyle/>
          <a:p>
            <a:r>
              <a:rPr lang="en-US" altLang="zh-CN"/>
              <a:t>MATLAB</a:t>
            </a:r>
          </a:p>
        </p:txBody>
      </p:sp>
      <p:sp>
        <p:nvSpPr>
          <p:cNvPr id="16389" name="灯片编号占位符 7"/>
          <p:cNvSpPr>
            <a:spLocks noGrp="1"/>
          </p:cNvSpPr>
          <p:nvPr>
            <p:ph type="sldNum" sz="quarter" idx="4294967295"/>
          </p:nvPr>
        </p:nvSpPr>
        <p:spPr>
          <a:xfrm>
            <a:off x="7679904" y="6020842"/>
            <a:ext cx="2134195" cy="47662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宋体" pitchFamily="2" charset="-122"/>
                <a:ea typeface="宋体" pitchFamily="2" charset="-122"/>
              </a:defRPr>
            </a:lvl1pPr>
            <a:lvl2pPr marL="742950" indent="-285750" eaLnBrk="0" hangingPunct="0">
              <a:defRPr sz="2800" b="1">
                <a:solidFill>
                  <a:schemeClr val="tx1"/>
                </a:solidFill>
                <a:latin typeface="宋体" pitchFamily="2" charset="-122"/>
                <a:ea typeface="宋体" pitchFamily="2" charset="-122"/>
              </a:defRPr>
            </a:lvl2pPr>
            <a:lvl3pPr marL="1143000" indent="-228600" eaLnBrk="0" hangingPunct="0">
              <a:defRPr sz="2800" b="1">
                <a:solidFill>
                  <a:schemeClr val="tx1"/>
                </a:solidFill>
                <a:latin typeface="宋体" pitchFamily="2" charset="-122"/>
                <a:ea typeface="宋体" pitchFamily="2" charset="-122"/>
              </a:defRPr>
            </a:lvl3pPr>
            <a:lvl4pPr marL="1600200" indent="-228600" eaLnBrk="0" hangingPunct="0">
              <a:defRPr sz="2800" b="1">
                <a:solidFill>
                  <a:schemeClr val="tx1"/>
                </a:solidFill>
                <a:latin typeface="宋体" pitchFamily="2" charset="-122"/>
                <a:ea typeface="宋体" pitchFamily="2" charset="-122"/>
              </a:defRPr>
            </a:lvl4pPr>
            <a:lvl5pPr marL="2057400" indent="-228600" eaLnBrk="0" hangingPunct="0">
              <a:defRPr sz="2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sz="2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sz="2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sz="2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sz="2800" b="1">
                <a:solidFill>
                  <a:schemeClr val="tx1"/>
                </a:solidFill>
                <a:latin typeface="宋体" pitchFamily="2" charset="-122"/>
                <a:ea typeface="宋体" pitchFamily="2" charset="-122"/>
              </a:defRPr>
            </a:lvl9pPr>
          </a:lstStyle>
          <a:p>
            <a:pPr eaLnBrk="1" hangingPunct="1">
              <a:defRPr/>
            </a:pPr>
            <a:fld id="{8DCA3103-ADA0-424C-B364-B9D91FC8F5C8}" type="slidenum">
              <a:rPr lang="en-US" altLang="zh-CN" sz="1200" b="0">
                <a:latin typeface="Arial" panose="020B0704020202020204" pitchFamily="34" charset="0"/>
              </a:rPr>
              <a:t>50</a:t>
            </a:fld>
            <a:endParaRPr lang="en-US" altLang="zh-CN" sz="1200" b="0">
              <a:latin typeface="Arial" panose="020B0704020202020204" pitchFamily="34"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ctrTitle"/>
          </p:nvPr>
        </p:nvSpPr>
        <p:spPr/>
        <p:txBody>
          <a:bodyPr/>
          <a:lstStyle/>
          <a:p>
            <a:pPr eaLnBrk="1" hangingPunct="1"/>
            <a:r>
              <a:rPr lang="en-US" altLang="zh-CN"/>
              <a:t>MATLAB foundation  </a:t>
            </a:r>
            <a:endParaRPr lang="zh-CN" altLang="en-US"/>
          </a:p>
        </p:txBody>
      </p:sp>
      <p:sp>
        <p:nvSpPr>
          <p:cNvPr id="3" name="副标题 2"/>
          <p:cNvSpPr>
            <a:spLocks noGrp="1"/>
          </p:cNvSpPr>
          <p:nvPr>
            <p:ph type="subTitle" idx="1"/>
          </p:nvPr>
        </p:nvSpPr>
        <p:spPr/>
        <p:txBody>
          <a:bodyPr rtlCol="0">
            <a:normAutofit/>
          </a:bodyPr>
          <a:lstStyle/>
          <a:p>
            <a:pPr eaLnBrk="1" fontAlgn="auto" hangingPunct="1">
              <a:spcAft>
                <a:spcPts val="0"/>
              </a:spcAft>
              <a:defRPr/>
            </a:pPr>
            <a:endParaRPr lang="zh-CN"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1190625" y="0"/>
            <a:ext cx="9810750" cy="1714500"/>
          </a:xfrm>
        </p:spPr>
        <p:txBody>
          <a:bodyPr/>
          <a:lstStyle/>
          <a:p>
            <a:pPr eaLnBrk="1" hangingPunct="1"/>
            <a:r>
              <a:rPr lang="en-US" altLang="zh-CN" dirty="0"/>
              <a:t>Example: Gas Price Data</a:t>
            </a:r>
            <a:endParaRPr lang="zh-CN" altLang="en-US" dirty="0"/>
          </a:p>
        </p:txBody>
      </p:sp>
      <p:pic>
        <p:nvPicPr>
          <p:cNvPr id="20483"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1268414"/>
            <a:ext cx="8239125" cy="543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eaLnBrk="1" hangingPunct="1"/>
            <a:r>
              <a:rPr lang="en-US" altLang="zh-CN"/>
              <a:t>The Import Wizard</a:t>
            </a:r>
            <a:endParaRPr lang="zh-CN" altLang="en-US"/>
          </a:p>
        </p:txBody>
      </p:sp>
      <p:sp>
        <p:nvSpPr>
          <p:cNvPr id="21507" name="TextBox 3"/>
          <p:cNvSpPr txBox="1">
            <a:spLocks noChangeArrowheads="1"/>
          </p:cNvSpPr>
          <p:nvPr/>
        </p:nvSpPr>
        <p:spPr bwMode="auto">
          <a:xfrm>
            <a:off x="1847850" y="1412875"/>
            <a:ext cx="784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pPr>
            <a:r>
              <a:rPr lang="en-US" altLang="zh-CN" sz="1800"/>
              <a:t>   Chose </a:t>
            </a:r>
            <a:r>
              <a:rPr lang="en-US" altLang="zh-CN" sz="1800">
                <a:solidFill>
                  <a:srgbClr val="7030A0"/>
                </a:solidFill>
              </a:rPr>
              <a:t>File</a:t>
            </a:r>
            <a:r>
              <a:rPr lang="en-US" altLang="zh-CN" sz="1800">
                <a:solidFill>
                  <a:srgbClr val="7030A0"/>
                </a:solidFill>
                <a:sym typeface="Symbol" panose="05050102010706020507" pitchFamily="18" charset="2"/>
              </a:rPr>
              <a:t>Import Data</a:t>
            </a:r>
            <a:endParaRPr lang="zh-CN" altLang="en-US" sz="1800">
              <a:solidFill>
                <a:srgbClr val="7030A0"/>
              </a:solidFill>
            </a:endParaRPr>
          </a:p>
        </p:txBody>
      </p:sp>
      <p:pic>
        <p:nvPicPr>
          <p:cNvPr id="2150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1989139"/>
            <a:ext cx="8572500" cy="437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pPr eaLnBrk="1" hangingPunct="1"/>
            <a:r>
              <a:rPr lang="en-US" altLang="zh-CN"/>
              <a:t>Plot and Data</a:t>
            </a:r>
            <a:endParaRPr lang="zh-CN" altLang="en-US"/>
          </a:p>
        </p:txBody>
      </p:sp>
      <p:sp>
        <p:nvSpPr>
          <p:cNvPr id="23555" name="TextBox 3"/>
          <p:cNvSpPr txBox="1">
            <a:spLocks noChangeArrowheads="1"/>
          </p:cNvSpPr>
          <p:nvPr/>
        </p:nvSpPr>
        <p:spPr bwMode="auto">
          <a:xfrm>
            <a:off x="1919289" y="1484314"/>
            <a:ext cx="856932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pPr>
            <a:r>
              <a:rPr lang="en-US" altLang="zh-CN"/>
              <a:t>  creating appropriate visualizations of data</a:t>
            </a:r>
          </a:p>
          <a:p>
            <a:pPr eaLnBrk="1" hangingPunct="1">
              <a:spcBef>
                <a:spcPct val="0"/>
              </a:spcBef>
            </a:pPr>
            <a:r>
              <a:rPr lang="en-US" altLang="zh-CN"/>
              <a:t>  offer many plotting routine for bother vector and matrix data</a:t>
            </a:r>
            <a:endParaRPr lang="zh-CN" altLang="en-US"/>
          </a:p>
        </p:txBody>
      </p:sp>
      <p:pic>
        <p:nvPicPr>
          <p:cNvPr id="235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8163" y="2420938"/>
            <a:ext cx="3359150" cy="402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6888163" y="2997200"/>
            <a:ext cx="647700" cy="2873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椭圆 6"/>
          <p:cNvSpPr/>
          <p:nvPr/>
        </p:nvSpPr>
        <p:spPr>
          <a:xfrm>
            <a:off x="6888163" y="3716339"/>
            <a:ext cx="647700" cy="2889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p:cNvSpPr/>
          <p:nvPr/>
        </p:nvSpPr>
        <p:spPr>
          <a:xfrm>
            <a:off x="7896225" y="3573463"/>
            <a:ext cx="1944688" cy="431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560" name="TextBox 8"/>
          <p:cNvSpPr txBox="1">
            <a:spLocks noChangeArrowheads="1"/>
          </p:cNvSpPr>
          <p:nvPr/>
        </p:nvSpPr>
        <p:spPr bwMode="auto">
          <a:xfrm>
            <a:off x="5232401" y="3644900"/>
            <a:ext cx="1439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zh-CN" altLang="en-US" sz="1800"/>
              <a:t>第一次选择</a:t>
            </a:r>
          </a:p>
        </p:txBody>
      </p:sp>
      <p:sp>
        <p:nvSpPr>
          <p:cNvPr id="23561" name="TextBox 9"/>
          <p:cNvSpPr txBox="1">
            <a:spLocks noChangeArrowheads="1"/>
          </p:cNvSpPr>
          <p:nvPr/>
        </p:nvSpPr>
        <p:spPr bwMode="auto">
          <a:xfrm>
            <a:off x="5591175" y="2852738"/>
            <a:ext cx="10810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1800"/>
              <a:t>Ctrl+</a:t>
            </a:r>
            <a:r>
              <a:rPr lang="zh-CN" altLang="en-US" sz="1800"/>
              <a:t>选择</a:t>
            </a:r>
            <a:r>
              <a:rPr lang="en-US" altLang="zh-CN" sz="1800"/>
              <a:t>canada</a:t>
            </a:r>
            <a:endParaRPr lang="zh-CN" altLang="en-US" sz="1800"/>
          </a:p>
        </p:txBody>
      </p:sp>
      <p:cxnSp>
        <p:nvCxnSpPr>
          <p:cNvPr id="12" name="直接箭头连接符 11"/>
          <p:cNvCxnSpPr>
            <a:endCxn id="6" idx="2"/>
          </p:cNvCxnSpPr>
          <p:nvPr/>
        </p:nvCxnSpPr>
        <p:spPr>
          <a:xfrm>
            <a:off x="6383339" y="3068639"/>
            <a:ext cx="504825" cy="73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6527801" y="3789364"/>
            <a:ext cx="360363" cy="7143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2356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8" y="3213100"/>
            <a:ext cx="36433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9288" y="0"/>
            <a:ext cx="8229600" cy="706438"/>
          </a:xfrm>
        </p:spPr>
        <p:txBody>
          <a:bodyPr rtlCol="0">
            <a:normAutofit fontScale="90000"/>
          </a:bodyPr>
          <a:lstStyle/>
          <a:p>
            <a:pPr eaLnBrk="1" fontAlgn="auto" hangingPunct="1">
              <a:spcAft>
                <a:spcPts val="0"/>
              </a:spcAft>
              <a:defRPr/>
            </a:pPr>
            <a:r>
              <a:rPr lang="en-US" altLang="zh-CN" dirty="0"/>
              <a:t>Plot Tools</a:t>
            </a:r>
            <a:endParaRPr lang="zh-CN" altLang="en-US" dirty="0"/>
          </a:p>
        </p:txBody>
      </p:sp>
      <p:pic>
        <p:nvPicPr>
          <p:cNvPr id="245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908050"/>
            <a:ext cx="3643313"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p:cNvSpPr/>
          <p:nvPr/>
        </p:nvSpPr>
        <p:spPr>
          <a:xfrm>
            <a:off x="4044950" y="1268413"/>
            <a:ext cx="215900" cy="215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245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0276" y="692150"/>
            <a:ext cx="5819775" cy="395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TextBox 6"/>
          <p:cNvSpPr txBox="1">
            <a:spLocks noChangeArrowheads="1"/>
          </p:cNvSpPr>
          <p:nvPr/>
        </p:nvSpPr>
        <p:spPr bwMode="auto">
          <a:xfrm>
            <a:off x="1774826" y="4652963"/>
            <a:ext cx="85693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pPr>
            <a:r>
              <a:rPr lang="en-US" altLang="zh-CN" sz="2800"/>
              <a:t>Add axes to create subplots within the figure window</a:t>
            </a:r>
          </a:p>
          <a:p>
            <a:pPr eaLnBrk="1" hangingPunct="1">
              <a:spcBef>
                <a:spcPct val="0"/>
              </a:spcBef>
            </a:pPr>
            <a:r>
              <a:rPr lang="en-US" altLang="zh-CN" sz="2800"/>
              <a:t>Drag and drop variable from the base workspace into any axes</a:t>
            </a:r>
          </a:p>
          <a:p>
            <a:pPr eaLnBrk="1" hangingPunct="1">
              <a:spcBef>
                <a:spcPct val="0"/>
              </a:spcBef>
            </a:pPr>
            <a:r>
              <a:rPr lang="en-US" altLang="zh-CN" sz="2800"/>
              <a:t>Add a variety of annotations of a plot</a:t>
            </a:r>
            <a:endParaRPr lang="zh-CN" altLang="en-US" sz="280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r>
              <a:rPr lang="en-US" altLang="zh-CN"/>
              <a:t>Matrix Operations</a:t>
            </a:r>
            <a:endParaRPr lang="zh-CN" altLang="en-US"/>
          </a:p>
        </p:txBody>
      </p:sp>
      <p:sp>
        <p:nvSpPr>
          <p:cNvPr id="3" name="内容占位符 2"/>
          <p:cNvSpPr>
            <a:spLocks noGrp="1"/>
          </p:cNvSpPr>
          <p:nvPr>
            <p:ph idx="1"/>
          </p:nvPr>
        </p:nvSpPr>
        <p:spPr/>
        <p:txBody>
          <a:bodyPr rtlCol="0">
            <a:normAutofit fontScale="92500"/>
          </a:bodyPr>
          <a:lstStyle/>
          <a:p>
            <a:pPr eaLnBrk="1" fontAlgn="auto" hangingPunct="1">
              <a:spcAft>
                <a:spcPts val="0"/>
              </a:spcAft>
              <a:defRPr/>
            </a:pPr>
            <a:r>
              <a:rPr lang="en-US" altLang="zh-CN" sz="2800" dirty="0"/>
              <a:t>As with vectors, arithmetic operations on matrices are defined in their usual mathematical sense. </a:t>
            </a:r>
          </a:p>
          <a:p>
            <a:pPr eaLnBrk="1" fontAlgn="auto" hangingPunct="1">
              <a:spcAft>
                <a:spcPts val="0"/>
              </a:spcAft>
              <a:buNone/>
              <a:defRPr/>
            </a:pPr>
            <a:r>
              <a:rPr lang="en-US" altLang="zh-CN" sz="2200" dirty="0"/>
              <a:t>	&gt;&gt; C = A + B;</a:t>
            </a:r>
          </a:p>
          <a:p>
            <a:pPr lvl="1" eaLnBrk="1" fontAlgn="auto" hangingPunct="1">
              <a:spcAft>
                <a:spcPts val="0"/>
              </a:spcAft>
              <a:defRPr/>
            </a:pPr>
            <a:r>
              <a:rPr lang="en-US" altLang="zh-CN" sz="2400" dirty="0"/>
              <a:t>creates a matrix C such that C(k) is A(k) + B(k).</a:t>
            </a:r>
          </a:p>
          <a:p>
            <a:pPr eaLnBrk="1" fontAlgn="auto" hangingPunct="1">
              <a:spcAft>
                <a:spcPts val="0"/>
              </a:spcAft>
              <a:buNone/>
              <a:defRPr/>
            </a:pPr>
            <a:r>
              <a:rPr lang="en-US" altLang="zh-CN" sz="2200" dirty="0"/>
              <a:t>	&gt;&gt; C = k * A;</a:t>
            </a:r>
          </a:p>
          <a:p>
            <a:pPr eaLnBrk="1" fontAlgn="auto" hangingPunct="1">
              <a:spcAft>
                <a:spcPts val="0"/>
              </a:spcAft>
              <a:buNone/>
              <a:defRPr/>
            </a:pPr>
            <a:r>
              <a:rPr lang="en-US" altLang="zh-CN" sz="2200" dirty="0"/>
              <a:t>	&gt;&gt; C = A + k;</a:t>
            </a:r>
          </a:p>
          <a:p>
            <a:pPr eaLnBrk="1" fontAlgn="auto" hangingPunct="1">
              <a:spcAft>
                <a:spcPts val="0"/>
              </a:spcAft>
              <a:defRPr/>
            </a:pPr>
            <a:endParaRPr lang="en-US" altLang="zh-CN" sz="2200" dirty="0"/>
          </a:p>
          <a:p>
            <a:pPr eaLnBrk="1" fontAlgn="auto" hangingPunct="1">
              <a:spcAft>
                <a:spcPts val="0"/>
              </a:spcAft>
              <a:defRPr/>
            </a:pPr>
            <a:r>
              <a:rPr lang="en-US" altLang="zh-CN" sz="2800" dirty="0"/>
              <a:t>Mathematically, matrix multiplication of the form</a:t>
            </a:r>
          </a:p>
          <a:p>
            <a:pPr eaLnBrk="1" fontAlgn="auto" hangingPunct="1">
              <a:spcAft>
                <a:spcPts val="0"/>
              </a:spcAft>
              <a:buNone/>
              <a:defRPr/>
            </a:pPr>
            <a:r>
              <a:rPr lang="en-US" altLang="zh-CN" sz="2200" dirty="0">
                <a:latin typeface="Times New Roman" panose="02020603050405020304" charset="0"/>
              </a:rPr>
              <a:t>	&gt;&gt; C = A * B</a:t>
            </a:r>
          </a:p>
          <a:p>
            <a:pPr eaLnBrk="1" fontAlgn="auto" hangingPunct="1">
              <a:spcAft>
                <a:spcPts val="0"/>
              </a:spcAft>
              <a:buNone/>
              <a:defRPr/>
            </a:pPr>
            <a:r>
              <a:rPr lang="en-US" altLang="zh-CN" sz="2200" dirty="0"/>
              <a:t>	</a:t>
            </a:r>
            <a:r>
              <a:rPr lang="en-US" altLang="zh-CN" sz="2600" dirty="0"/>
              <a:t>requires that the inner dimensions --- the number of columns in A and the number of rows in B --- agree. If A is m-by-n and B is n-by-p, then C will be m-by-p.</a:t>
            </a:r>
            <a:endParaRPr lang="zh-CN" altLang="en-US" sz="2600" dirty="0"/>
          </a:p>
        </p:txBody>
      </p:sp>
      <p:sp>
        <p:nvSpPr>
          <p:cNvPr id="2" name="日期占位符 1"/>
          <p:cNvSpPr>
            <a:spLocks noGrp="1"/>
          </p:cNvSpPr>
          <p:nvPr>
            <p:ph type="dt" sz="quarter" idx="10"/>
          </p:nvPr>
        </p:nvSpPr>
        <p:spPr/>
        <p:txBody>
          <a:bodyPr/>
          <a:lstStyle/>
          <a:p>
            <a:pPr>
              <a:defRPr/>
            </a:pPr>
            <a:fld id="{CFBE7835-F1DD-4C89-8F61-EEF6C8073672}" type="datetime1">
              <a:rPr lang="zh-CN" altLang="en-US">
                <a:solidFill>
                  <a:prstClr val="black">
                    <a:tint val="75000"/>
                  </a:prstClr>
                </a:solidFill>
                <a:latin typeface="Calibri" panose="020F0502020204030204"/>
                <a:ea typeface="宋体" pitchFamily="2" charset="-122"/>
              </a:rPr>
              <a:t>2026/1/6</a:t>
            </a:fld>
            <a:endParaRPr lang="zh-CN" altLang="en-US">
              <a:solidFill>
                <a:prstClr val="black">
                  <a:tint val="75000"/>
                </a:prstClr>
              </a:solidFill>
              <a:latin typeface="Calibri" panose="020F0502020204030204"/>
              <a:ea typeface="宋体" pitchFamily="2" charset="-122"/>
            </a:endParaRPr>
          </a:p>
        </p:txBody>
      </p:sp>
      <p:sp>
        <p:nvSpPr>
          <p:cNvPr id="4" name="灯片编号占位符 3"/>
          <p:cNvSpPr>
            <a:spLocks noGrp="1"/>
          </p:cNvSpPr>
          <p:nvPr>
            <p:ph type="sldNum" sz="quarter" idx="12"/>
          </p:nvPr>
        </p:nvSpPr>
        <p:spPr/>
        <p:txBody>
          <a:bodyPr/>
          <a:lstStyle/>
          <a:p>
            <a:pPr>
              <a:defRPr/>
            </a:pPr>
            <a:fld id="{ACCB821F-2AFE-4610-9387-AD25531798F0}" type="slidenum">
              <a:rPr lang="zh-CN" altLang="en-US">
                <a:solidFill>
                  <a:prstClr val="black">
                    <a:tint val="75000"/>
                  </a:prstClr>
                </a:solidFill>
                <a:latin typeface="Calibri" panose="020F0502020204030204"/>
                <a:ea typeface="宋体" pitchFamily="2" charset="-122"/>
              </a:rPr>
              <a:t>56</a:t>
            </a:fld>
            <a:endParaRPr lang="zh-CN" altLang="en-US">
              <a:solidFill>
                <a:prstClr val="black">
                  <a:tint val="75000"/>
                </a:prstClr>
              </a:solidFill>
              <a:latin typeface="Calibri" panose="020F0502020204030204"/>
              <a:ea typeface="宋体" pitchFamily="2" charset="-122"/>
            </a:endParaRPr>
          </a:p>
        </p:txBody>
      </p:sp>
      <p:sp>
        <p:nvSpPr>
          <p:cNvPr id="5" name="页脚占位符 4"/>
          <p:cNvSpPr>
            <a:spLocks noGrp="1"/>
          </p:cNvSpPr>
          <p:nvPr>
            <p:ph type="ftr" sz="quarter" idx="11"/>
          </p:nvPr>
        </p:nvSpPr>
        <p:spPr/>
        <p:txBody>
          <a:bodyPr/>
          <a:lstStyle/>
          <a:p>
            <a:pPr>
              <a:defRPr/>
            </a:pPr>
            <a:r>
              <a:rPr lang="en-US" altLang="zh-CN">
                <a:solidFill>
                  <a:prstClr val="black">
                    <a:tint val="75000"/>
                  </a:prstClr>
                </a:solidFill>
                <a:latin typeface="Calibri" panose="020F0502020204030204"/>
                <a:ea typeface="宋体" pitchFamily="2" charset="-122"/>
              </a:rPr>
              <a:t>matlab fundation</a:t>
            </a:r>
            <a:endParaRPr lang="zh-CN" altLang="en-US">
              <a:solidFill>
                <a:prstClr val="black">
                  <a:tint val="75000"/>
                </a:prstClr>
              </a:solidFill>
              <a:latin typeface="Calibri" panose="020F0502020204030204"/>
              <a:ea typeface="宋体"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en-US" altLang="zh-CN"/>
              <a:t>Cell Arrays</a:t>
            </a:r>
            <a:endParaRPr lang="zh-CN" altLang="en-US"/>
          </a:p>
        </p:txBody>
      </p:sp>
      <p:sp>
        <p:nvSpPr>
          <p:cNvPr id="3" name="内容占位符 2"/>
          <p:cNvSpPr>
            <a:spLocks noGrp="1"/>
          </p:cNvSpPr>
          <p:nvPr>
            <p:ph idx="1"/>
          </p:nvPr>
        </p:nvSpPr>
        <p:spPr/>
        <p:txBody>
          <a:bodyPr rtlCol="0">
            <a:normAutofit/>
          </a:bodyPr>
          <a:lstStyle/>
          <a:p>
            <a:pPr eaLnBrk="1" fontAlgn="auto" hangingPunct="1">
              <a:spcAft>
                <a:spcPts val="0"/>
              </a:spcAft>
              <a:defRPr/>
            </a:pPr>
            <a:r>
              <a:rPr lang="en-US" altLang="zh-CN" sz="2200" dirty="0"/>
              <a:t>MATLAB arrays must always have the same number of columns in each row( and vice versa)</a:t>
            </a:r>
          </a:p>
          <a:p>
            <a:pPr eaLnBrk="1" fontAlgn="auto" hangingPunct="1">
              <a:spcAft>
                <a:spcPts val="0"/>
              </a:spcAft>
              <a:defRPr/>
            </a:pPr>
            <a:r>
              <a:rPr lang="en-US" altLang="zh-CN" sz="2200" dirty="0"/>
              <a:t>A single string is treated as a 1-by-n array of characters.</a:t>
            </a:r>
          </a:p>
          <a:p>
            <a:pPr eaLnBrk="1" fontAlgn="auto" hangingPunct="1">
              <a:spcAft>
                <a:spcPts val="0"/>
              </a:spcAft>
              <a:buNone/>
              <a:defRPr/>
            </a:pPr>
            <a:r>
              <a:rPr lang="en-US" altLang="zh-CN" sz="2200" dirty="0">
                <a:latin typeface="Times New Roman" panose="02020603050405020304" charset="0"/>
              </a:rPr>
              <a:t>	&gt;&gt; x = [‘hello’; ‘ciao’; ‘</a:t>
            </a:r>
            <a:r>
              <a:rPr lang="en-US" altLang="zh-CN" sz="2200" dirty="0" err="1">
                <a:latin typeface="Times New Roman" panose="02020603050405020304" charset="0"/>
              </a:rPr>
              <a:t>guten</a:t>
            </a:r>
            <a:r>
              <a:rPr lang="en-US" altLang="zh-CN" sz="2200" dirty="0">
                <a:latin typeface="Times New Roman" panose="02020603050405020304" charset="0"/>
              </a:rPr>
              <a:t> tag’]----- </a:t>
            </a:r>
            <a:r>
              <a:rPr lang="en-US" altLang="zh-CN" sz="2200" dirty="0">
                <a:solidFill>
                  <a:srgbClr val="FF0000"/>
                </a:solidFill>
                <a:latin typeface="Times New Roman" panose="02020603050405020304" charset="0"/>
              </a:rPr>
              <a:t>error</a:t>
            </a:r>
            <a:endParaRPr lang="en-US" altLang="zh-CN" sz="2200" dirty="0">
              <a:solidFill>
                <a:srgbClr val="FF0000"/>
              </a:solidFill>
            </a:endParaRPr>
          </a:p>
          <a:p>
            <a:pPr lvl="1" eaLnBrk="1" fontAlgn="auto" hangingPunct="1">
              <a:spcAft>
                <a:spcPts val="0"/>
              </a:spcAft>
              <a:defRPr/>
            </a:pPr>
            <a:r>
              <a:rPr lang="en-US" altLang="zh-CN" sz="1800" dirty="0"/>
              <a:t>Vertical concatenation of strings fails unless they are all the same length.</a:t>
            </a:r>
          </a:p>
          <a:p>
            <a:pPr eaLnBrk="1" fontAlgn="auto" hangingPunct="1">
              <a:spcAft>
                <a:spcPts val="0"/>
              </a:spcAft>
              <a:defRPr/>
            </a:pPr>
            <a:r>
              <a:rPr lang="en-US" altLang="zh-CN" sz="2200" dirty="0"/>
              <a:t>To concatenate elements into </a:t>
            </a:r>
            <a:r>
              <a:rPr lang="en-US" altLang="zh-CN" sz="2200" dirty="0">
                <a:solidFill>
                  <a:schemeClr val="accent1"/>
                </a:solidFill>
              </a:rPr>
              <a:t>a cell array</a:t>
            </a:r>
            <a:r>
              <a:rPr lang="en-US" altLang="zh-CN" sz="2200" dirty="0"/>
              <a:t>, use curly braces (</a:t>
            </a:r>
            <a:r>
              <a:rPr lang="en-US" altLang="zh-CN" sz="2200" dirty="0">
                <a:latin typeface="Times New Roman" panose="02020603050405020304" charset="0"/>
              </a:rPr>
              <a:t>{ }</a:t>
            </a:r>
            <a:r>
              <a:rPr lang="en-US" altLang="zh-CN" sz="2200" dirty="0"/>
              <a:t>) instead of square brackets:</a:t>
            </a:r>
          </a:p>
          <a:p>
            <a:pPr eaLnBrk="1" fontAlgn="auto" hangingPunct="1">
              <a:spcAft>
                <a:spcPts val="0"/>
              </a:spcAft>
              <a:buNone/>
              <a:defRPr/>
            </a:pPr>
            <a:r>
              <a:rPr lang="en-US" altLang="zh-CN" sz="2200" dirty="0"/>
              <a:t>	</a:t>
            </a:r>
            <a:r>
              <a:rPr lang="en-US" altLang="zh-CN" sz="2200" dirty="0">
                <a:latin typeface="Times New Roman" panose="02020603050405020304" charset="0"/>
              </a:rPr>
              <a:t>&gt;&gt; x = {‘hello’; ‘ciao’; ‘</a:t>
            </a:r>
            <a:r>
              <a:rPr lang="en-US" altLang="zh-CN" sz="2200" dirty="0" err="1">
                <a:latin typeface="Times New Roman" panose="02020603050405020304" charset="0"/>
              </a:rPr>
              <a:t>guten</a:t>
            </a:r>
            <a:r>
              <a:rPr lang="en-US" altLang="zh-CN" sz="2200" dirty="0">
                <a:latin typeface="Times New Roman" panose="02020603050405020304" charset="0"/>
              </a:rPr>
              <a:t> tag’}----correct, 3*1,each container has 1*n.</a:t>
            </a:r>
          </a:p>
          <a:p>
            <a:pPr eaLnBrk="1" fontAlgn="auto" hangingPunct="1">
              <a:spcAft>
                <a:spcPts val="0"/>
              </a:spcAft>
              <a:buNone/>
              <a:defRPr/>
            </a:pPr>
            <a:r>
              <a:rPr lang="en-US" altLang="zh-CN" sz="2200" dirty="0">
                <a:latin typeface="Times New Roman" panose="02020603050405020304" charset="0"/>
              </a:rPr>
              <a:t>	&gt;&gt; y = {pi, []; ‘</a:t>
            </a:r>
            <a:r>
              <a:rPr lang="en-US" altLang="zh-CN" sz="2200" dirty="0" err="1">
                <a:latin typeface="Times New Roman" panose="02020603050405020304" charset="0"/>
              </a:rPr>
              <a:t>foo</a:t>
            </a:r>
            <a:r>
              <a:rPr lang="en-US" altLang="zh-CN" sz="2200" dirty="0">
                <a:latin typeface="Times New Roman" panose="02020603050405020304" charset="0"/>
              </a:rPr>
              <a:t>’, 42; ones(2), eye(3)}</a:t>
            </a:r>
          </a:p>
          <a:p>
            <a:pPr eaLnBrk="1" fontAlgn="auto" hangingPunct="1">
              <a:spcAft>
                <a:spcPts val="0"/>
              </a:spcAft>
              <a:buNone/>
              <a:defRPr/>
            </a:pPr>
            <a:r>
              <a:rPr lang="en-US" altLang="zh-CN" sz="2200" dirty="0">
                <a:latin typeface="Times New Roman" panose="02020603050405020304" charset="0"/>
              </a:rPr>
              <a:t>	&gt;&gt; z = {x, y}</a:t>
            </a:r>
          </a:p>
          <a:p>
            <a:pPr eaLnBrk="1" fontAlgn="auto" hangingPunct="1">
              <a:spcAft>
                <a:spcPts val="0"/>
              </a:spcAft>
              <a:buNone/>
              <a:defRPr/>
            </a:pPr>
            <a:r>
              <a:rPr lang="en-US" altLang="zh-CN" sz="2200" dirty="0">
                <a:latin typeface="Times New Roman" panose="02020603050405020304" charset="0"/>
              </a:rPr>
              <a:t>	&gt;&gt; z = {x; y}</a:t>
            </a:r>
          </a:p>
          <a:p>
            <a:pPr eaLnBrk="1" fontAlgn="auto" hangingPunct="1">
              <a:spcAft>
                <a:spcPts val="0"/>
              </a:spcAft>
              <a:buNone/>
              <a:defRPr/>
            </a:pPr>
            <a:r>
              <a:rPr lang="en-US" altLang="zh-CN" sz="2200" dirty="0">
                <a:latin typeface="Times New Roman" panose="02020603050405020304" charset="0"/>
              </a:rPr>
              <a:t>	&gt;&gt; z = [x, y] % ok</a:t>
            </a:r>
          </a:p>
          <a:p>
            <a:pPr eaLnBrk="1" fontAlgn="auto" hangingPunct="1">
              <a:spcAft>
                <a:spcPts val="0"/>
              </a:spcAft>
              <a:buNone/>
              <a:defRPr/>
            </a:pPr>
            <a:r>
              <a:rPr lang="en-US" altLang="zh-CN" sz="2200" dirty="0">
                <a:latin typeface="Times New Roman" panose="02020603050405020304" charset="0"/>
              </a:rPr>
              <a:t>	&gt;&gt; z = [x; y] % no! dimension mismatch</a:t>
            </a:r>
          </a:p>
          <a:p>
            <a:pPr eaLnBrk="1" fontAlgn="auto" hangingPunct="1">
              <a:spcAft>
                <a:spcPts val="0"/>
              </a:spcAft>
              <a:defRPr/>
            </a:pPr>
            <a:endParaRPr lang="en-US" altLang="zh-CN" sz="2200" dirty="0"/>
          </a:p>
        </p:txBody>
      </p:sp>
      <p:sp>
        <p:nvSpPr>
          <p:cNvPr id="2" name="日期占位符 1"/>
          <p:cNvSpPr>
            <a:spLocks noGrp="1"/>
          </p:cNvSpPr>
          <p:nvPr>
            <p:ph type="dt" sz="quarter" idx="10"/>
          </p:nvPr>
        </p:nvSpPr>
        <p:spPr/>
        <p:txBody>
          <a:bodyPr/>
          <a:lstStyle/>
          <a:p>
            <a:pPr>
              <a:defRPr/>
            </a:pPr>
            <a:fld id="{7E476DA4-3DD3-438E-ACA8-F0B2B201AC92}" type="datetime1">
              <a:rPr lang="zh-CN" altLang="en-US">
                <a:solidFill>
                  <a:prstClr val="black">
                    <a:tint val="75000"/>
                  </a:prstClr>
                </a:solidFill>
                <a:latin typeface="Calibri" panose="020F0502020204030204"/>
                <a:ea typeface="宋体" pitchFamily="2" charset="-122"/>
              </a:rPr>
              <a:t>2026/1/6</a:t>
            </a:fld>
            <a:endParaRPr lang="zh-CN" altLang="en-US">
              <a:solidFill>
                <a:prstClr val="black">
                  <a:tint val="75000"/>
                </a:prstClr>
              </a:solidFill>
              <a:latin typeface="Calibri" panose="020F0502020204030204"/>
              <a:ea typeface="宋体" pitchFamily="2" charset="-122"/>
            </a:endParaRPr>
          </a:p>
        </p:txBody>
      </p:sp>
      <p:sp>
        <p:nvSpPr>
          <p:cNvPr id="4" name="灯片编号占位符 3"/>
          <p:cNvSpPr>
            <a:spLocks noGrp="1"/>
          </p:cNvSpPr>
          <p:nvPr>
            <p:ph type="sldNum" sz="quarter" idx="12"/>
          </p:nvPr>
        </p:nvSpPr>
        <p:spPr/>
        <p:txBody>
          <a:bodyPr/>
          <a:lstStyle/>
          <a:p>
            <a:pPr>
              <a:defRPr/>
            </a:pPr>
            <a:fld id="{EA86FFCC-5449-4407-9393-EB94F7B67F91}" type="slidenum">
              <a:rPr lang="zh-CN" altLang="en-US">
                <a:solidFill>
                  <a:prstClr val="black">
                    <a:tint val="75000"/>
                  </a:prstClr>
                </a:solidFill>
                <a:latin typeface="Calibri" panose="020F0502020204030204"/>
                <a:ea typeface="宋体" pitchFamily="2" charset="-122"/>
              </a:rPr>
              <a:t>57</a:t>
            </a:fld>
            <a:endParaRPr lang="zh-CN" altLang="en-US">
              <a:solidFill>
                <a:prstClr val="black">
                  <a:tint val="75000"/>
                </a:prstClr>
              </a:solidFill>
              <a:latin typeface="Calibri" panose="020F0502020204030204"/>
              <a:ea typeface="宋体" pitchFamily="2" charset="-122"/>
            </a:endParaRPr>
          </a:p>
        </p:txBody>
      </p:sp>
      <p:sp>
        <p:nvSpPr>
          <p:cNvPr id="5" name="页脚占位符 4"/>
          <p:cNvSpPr>
            <a:spLocks noGrp="1"/>
          </p:cNvSpPr>
          <p:nvPr>
            <p:ph type="ftr" sz="quarter" idx="11"/>
          </p:nvPr>
        </p:nvSpPr>
        <p:spPr/>
        <p:txBody>
          <a:bodyPr/>
          <a:lstStyle/>
          <a:p>
            <a:pPr>
              <a:defRPr/>
            </a:pPr>
            <a:r>
              <a:rPr lang="en-US" altLang="zh-CN">
                <a:solidFill>
                  <a:prstClr val="black">
                    <a:tint val="75000"/>
                  </a:prstClr>
                </a:solidFill>
                <a:latin typeface="Calibri" panose="020F0502020204030204"/>
                <a:ea typeface="宋体" pitchFamily="2" charset="-122"/>
              </a:rPr>
              <a:t>matlab fundation</a:t>
            </a:r>
            <a:endParaRPr lang="zh-CN" altLang="en-US">
              <a:solidFill>
                <a:prstClr val="black">
                  <a:tint val="75000"/>
                </a:prstClr>
              </a:solidFill>
              <a:latin typeface="Calibri" panose="020F0502020204030204"/>
              <a:ea typeface="宋体"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pPr eaLnBrk="1" hangingPunct="1"/>
            <a:r>
              <a:rPr lang="en-US" altLang="zh-CN"/>
              <a:t>Logical Functions</a:t>
            </a:r>
            <a:endParaRPr lang="zh-CN" altLang="en-US"/>
          </a:p>
        </p:txBody>
      </p:sp>
      <p:pic>
        <p:nvPicPr>
          <p:cNvPr id="3277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540000">
            <a:off x="2614614" y="1304926"/>
            <a:ext cx="6396037" cy="548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quarter" idx="10"/>
          </p:nvPr>
        </p:nvSpPr>
        <p:spPr/>
        <p:txBody>
          <a:bodyPr/>
          <a:lstStyle/>
          <a:p>
            <a:pPr>
              <a:defRPr/>
            </a:pPr>
            <a:fld id="{73397B54-D148-465E-9733-A828E90D8C05}" type="datetime1">
              <a:rPr lang="zh-CN" altLang="en-US"/>
              <a:t>2026/1/6</a:t>
            </a:fld>
            <a:endParaRPr lang="zh-CN" altLang="en-US"/>
          </a:p>
        </p:txBody>
      </p:sp>
      <p:sp>
        <p:nvSpPr>
          <p:cNvPr id="3" name="灯片编号占位符 2"/>
          <p:cNvSpPr>
            <a:spLocks noGrp="1"/>
          </p:cNvSpPr>
          <p:nvPr>
            <p:ph type="sldNum" sz="quarter" idx="12"/>
          </p:nvPr>
        </p:nvSpPr>
        <p:spPr/>
        <p:txBody>
          <a:bodyPr/>
          <a:lstStyle/>
          <a:p>
            <a:pPr>
              <a:defRPr/>
            </a:pPr>
            <a:fld id="{E7485945-17F5-431A-AB40-FA8828BA8A78}" type="slidenum">
              <a:rPr lang="zh-CN" altLang="en-US" smtClean="0"/>
              <a:t>58</a:t>
            </a:fld>
            <a:endParaRPr lang="zh-CN" altLang="en-US"/>
          </a:p>
        </p:txBody>
      </p:sp>
      <p:sp>
        <p:nvSpPr>
          <p:cNvPr id="4" name="页脚占位符 3"/>
          <p:cNvSpPr>
            <a:spLocks noGrp="1"/>
          </p:cNvSpPr>
          <p:nvPr>
            <p:ph type="ftr" sz="quarter" idx="11"/>
          </p:nvPr>
        </p:nvSpPr>
        <p:spPr/>
        <p:txBody>
          <a:bodyPr/>
          <a:lstStyle/>
          <a:p>
            <a:pPr>
              <a:defRPr/>
            </a:pPr>
            <a:r>
              <a:rPr lang="en-US" altLang="zh-CN"/>
              <a:t>matlab fundation</a:t>
            </a: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pPr eaLnBrk="1" hangingPunct="1"/>
            <a:r>
              <a:rPr lang="en-US" altLang="zh-CN"/>
              <a:t>Programming Keywords</a:t>
            </a:r>
            <a:endParaRPr lang="zh-CN" altLang="en-US"/>
          </a:p>
        </p:txBody>
      </p:sp>
      <p:pic>
        <p:nvPicPr>
          <p:cNvPr id="3686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5" y="1557338"/>
            <a:ext cx="5715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quarter" idx="10"/>
          </p:nvPr>
        </p:nvSpPr>
        <p:spPr/>
        <p:txBody>
          <a:bodyPr/>
          <a:lstStyle/>
          <a:p>
            <a:pPr>
              <a:defRPr/>
            </a:pPr>
            <a:fld id="{928FC9BC-D066-4716-A0A6-535774CD4FBD}" type="datetime1">
              <a:rPr lang="zh-CN" altLang="en-US"/>
              <a:t>2026/1/6</a:t>
            </a:fld>
            <a:endParaRPr lang="zh-CN" altLang="en-US"/>
          </a:p>
        </p:txBody>
      </p:sp>
      <p:sp>
        <p:nvSpPr>
          <p:cNvPr id="3" name="灯片编号占位符 2"/>
          <p:cNvSpPr>
            <a:spLocks noGrp="1"/>
          </p:cNvSpPr>
          <p:nvPr>
            <p:ph type="sldNum" sz="quarter" idx="12"/>
          </p:nvPr>
        </p:nvSpPr>
        <p:spPr/>
        <p:txBody>
          <a:bodyPr/>
          <a:lstStyle/>
          <a:p>
            <a:pPr>
              <a:defRPr/>
            </a:pPr>
            <a:fld id="{558A3A24-85AC-4EB7-B43B-AE6081C071F6}" type="slidenum">
              <a:rPr lang="zh-CN" altLang="en-US" smtClean="0"/>
              <a:t>59</a:t>
            </a:fld>
            <a:endParaRPr lang="zh-CN" altLang="en-US"/>
          </a:p>
        </p:txBody>
      </p:sp>
      <p:sp>
        <p:nvSpPr>
          <p:cNvPr id="4" name="页脚占位符 3"/>
          <p:cNvSpPr>
            <a:spLocks noGrp="1"/>
          </p:cNvSpPr>
          <p:nvPr>
            <p:ph type="ftr" sz="quarter" idx="11"/>
          </p:nvPr>
        </p:nvSpPr>
        <p:spPr/>
        <p:txBody>
          <a:bodyPr/>
          <a:lstStyle/>
          <a:p>
            <a:pPr>
              <a:defRPr/>
            </a:pPr>
            <a:r>
              <a:rPr lang="en-US" altLang="zh-CN"/>
              <a:t>matlab fundation</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Date Placeholder 3"/>
          <p:cNvSpPr>
            <a:spLocks noGrp="1"/>
          </p:cNvSpPr>
          <p:nvPr>
            <p:ph type="dt" sz="quarter" idx="10"/>
          </p:nvPr>
        </p:nvSpPr>
        <p:spPr/>
        <p:txBody>
          <a:bodyPr/>
          <a:lstStyle/>
          <a:p>
            <a:pPr>
              <a:defRPr/>
            </a:pPr>
            <a:fld id="{1D46309D-5750-462A-8400-3058CFD1CE94}" type="datetime1">
              <a:rPr lang="zh-CN" altLang="en-US"/>
              <a:t>2026/1/6</a:t>
            </a:fld>
            <a:endParaRPr lang="en-US" altLang="zh-CN"/>
          </a:p>
        </p:txBody>
      </p:sp>
      <p:sp>
        <p:nvSpPr>
          <p:cNvPr id="15363" name="Slide Number Placeholder 4"/>
          <p:cNvSpPr>
            <a:spLocks noGrp="1"/>
          </p:cNvSpPr>
          <p:nvPr>
            <p:ph type="sldNum" sz="quarter" idx="12"/>
          </p:nvPr>
        </p:nvSpPr>
        <p:spPr>
          <a:xfrm>
            <a:off x="4648200" y="6356351"/>
            <a:ext cx="2895600" cy="365125"/>
          </a:xfrm>
        </p:spPr>
        <p:txBody>
          <a:bodyPr/>
          <a:lstStyle/>
          <a:p>
            <a:pPr algn="ctr">
              <a:defRPr/>
            </a:pPr>
            <a:fld id="{9B29CFF8-3C32-4F55-ACBA-BAF796CAB4BB}" type="slidenum">
              <a:rPr lang="en-US" altLang="zh-CN"/>
              <a:t>60</a:t>
            </a:fld>
            <a:endParaRPr lang="en-US" altLang="zh-CN"/>
          </a:p>
        </p:txBody>
      </p:sp>
      <p:sp>
        <p:nvSpPr>
          <p:cNvPr id="271362" name="Rectangle 2"/>
          <p:cNvSpPr>
            <a:spLocks noGrp="1" noRot="1" noChangeArrowheads="1"/>
          </p:cNvSpPr>
          <p:nvPr>
            <p:ph type="title"/>
          </p:nvPr>
        </p:nvSpPr>
        <p:spPr>
          <a:xfrm>
            <a:off x="1878014" y="260350"/>
            <a:ext cx="8435975" cy="1143000"/>
          </a:xfrm>
        </p:spPr>
        <p:txBody>
          <a:bodyPr rtlCol="0">
            <a:normAutofit fontScale="90000"/>
          </a:bodyPr>
          <a:lstStyle/>
          <a:p>
            <a:pPr eaLnBrk="1" fontAlgn="auto" hangingPunct="1">
              <a:spcAft>
                <a:spcPts val="0"/>
              </a:spcAft>
              <a:defRPr/>
            </a:pPr>
            <a:r>
              <a:rPr lang="en-US" altLang="zh-CN" dirty="0"/>
              <a:t>MATLAB </a:t>
            </a:r>
            <a:r>
              <a:rPr lang="zh-CN" altLang="en-US" dirty="0">
                <a:ea typeface="华文隶书" panose="02010800040101010101" pitchFamily="2" charset="-122"/>
              </a:rPr>
              <a:t>语言函数的</a:t>
            </a:r>
            <a:br>
              <a:rPr lang="zh-CN" altLang="en-US" dirty="0">
                <a:ea typeface="华文隶书" panose="02010800040101010101" pitchFamily="2" charset="-122"/>
              </a:rPr>
            </a:br>
            <a:r>
              <a:rPr lang="zh-CN" altLang="en-US" dirty="0">
                <a:ea typeface="华文隶书" panose="02010800040101010101" pitchFamily="2" charset="-122"/>
              </a:rPr>
              <a:t>基本结构</a:t>
            </a:r>
          </a:p>
        </p:txBody>
      </p:sp>
      <p:sp>
        <p:nvSpPr>
          <p:cNvPr id="271365" name="Text Box 5"/>
          <p:cNvSpPr txBox="1">
            <a:spLocks noChangeArrowheads="1"/>
          </p:cNvSpPr>
          <p:nvPr/>
        </p:nvSpPr>
        <p:spPr bwMode="auto">
          <a:xfrm>
            <a:off x="1976439" y="3711575"/>
            <a:ext cx="8142287"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Char char="•"/>
            </a:pPr>
            <a:r>
              <a:rPr lang="en-US" altLang="zh-CN">
                <a:latin typeface="Times New Roman" panose="02020603050405020304" charset="0"/>
                <a:cs typeface="Times New Roman" panose="02020603050405020304" charset="0"/>
              </a:rPr>
              <a:t> nargin</a:t>
            </a:r>
            <a:r>
              <a:rPr lang="zh-CN" altLang="en-US">
                <a:latin typeface="Times New Roman" panose="02020603050405020304" charset="0"/>
                <a:cs typeface="Times New Roman" panose="02020603050405020304" charset="0"/>
              </a:rPr>
              <a:t>， </a:t>
            </a:r>
            <a:r>
              <a:rPr lang="en-US" altLang="zh-CN">
                <a:latin typeface="Times New Roman" panose="02020603050405020304" charset="0"/>
                <a:cs typeface="Times New Roman" panose="02020603050405020304" charset="0"/>
              </a:rPr>
              <a:t>nargout</a:t>
            </a:r>
            <a:r>
              <a:rPr lang="zh-CN" altLang="en-US">
                <a:latin typeface="Times New Roman" panose="02020603050405020304" charset="0"/>
                <a:cs typeface="Times New Roman" panose="02020603050405020304" charset="0"/>
              </a:rPr>
              <a:t>：</a:t>
            </a:r>
            <a:r>
              <a:rPr lang="en-US" altLang="zh-CN" sz="2800">
                <a:latin typeface="Times New Roman" panose="02020603050405020304" charset="0"/>
                <a:cs typeface="Times New Roman" panose="02020603050405020304" charset="0"/>
              </a:rPr>
              <a:t>Matlab</a:t>
            </a:r>
            <a:r>
              <a:rPr lang="zh-CN" altLang="en-US" sz="2800">
                <a:latin typeface="Times New Roman" panose="02020603050405020304" charset="0"/>
                <a:cs typeface="Times New Roman" panose="02020603050405020304" charset="0"/>
              </a:rPr>
              <a:t>保留变量，只要进入函数就自动生成这</a:t>
            </a:r>
            <a:r>
              <a:rPr lang="en-US" altLang="zh-CN" sz="2800">
                <a:latin typeface="Times New Roman" panose="02020603050405020304" charset="0"/>
                <a:cs typeface="Times New Roman" panose="02020603050405020304" charset="0"/>
              </a:rPr>
              <a:t>2</a:t>
            </a:r>
            <a:r>
              <a:rPr lang="zh-CN" altLang="en-US" sz="2800">
                <a:latin typeface="Times New Roman" panose="02020603050405020304" charset="0"/>
                <a:cs typeface="Times New Roman" panose="02020603050405020304" charset="0"/>
              </a:rPr>
              <a:t>个变量，分别表示输入、输出参数的个数</a:t>
            </a:r>
            <a:r>
              <a:rPr lang="en-US" altLang="zh-CN" sz="2800">
                <a:latin typeface="Times New Roman" panose="02020603050405020304" charset="0"/>
                <a:cs typeface="Times New Roman" panose="02020603050405020304" charset="0"/>
              </a:rPr>
              <a:t> </a:t>
            </a:r>
          </a:p>
          <a:p>
            <a:pPr eaLnBrk="1" hangingPunct="1">
              <a:spcBef>
                <a:spcPct val="0"/>
              </a:spcBef>
              <a:buFontTx/>
              <a:buChar char="•"/>
            </a:pPr>
            <a:r>
              <a:rPr lang="en-US" altLang="zh-CN">
                <a:latin typeface="Times New Roman" panose="02020603050405020304" charset="0"/>
                <a:cs typeface="Times New Roman" panose="02020603050405020304" charset="0"/>
              </a:rPr>
              <a:t>varargin</a:t>
            </a:r>
            <a:r>
              <a:rPr lang="zh-CN" altLang="en-US">
                <a:latin typeface="Times New Roman" panose="02020603050405020304" charset="0"/>
                <a:cs typeface="Times New Roman" panose="02020603050405020304" charset="0"/>
              </a:rPr>
              <a:t>：</a:t>
            </a:r>
            <a:r>
              <a:rPr lang="zh-CN" altLang="en-US" sz="2400">
                <a:latin typeface="Times New Roman" panose="02020603050405020304" charset="0"/>
                <a:cs typeface="Times New Roman" panose="02020603050405020304" charset="0"/>
              </a:rPr>
              <a:t>所有输入变量列表；</a:t>
            </a:r>
            <a:endParaRPr lang="en-US" altLang="zh-CN" sz="2400">
              <a:latin typeface="Times New Roman" panose="02020603050405020304" charset="0"/>
              <a:cs typeface="Times New Roman" panose="02020603050405020304" charset="0"/>
            </a:endParaRPr>
          </a:p>
          <a:p>
            <a:pPr eaLnBrk="1" hangingPunct="1">
              <a:spcBef>
                <a:spcPct val="0"/>
              </a:spcBef>
              <a:buFontTx/>
              <a:buChar char="•"/>
            </a:pPr>
            <a:r>
              <a:rPr lang="en-US" altLang="zh-CN">
                <a:latin typeface="Times New Roman" panose="02020603050405020304" charset="0"/>
                <a:cs typeface="Times New Roman" panose="02020603050405020304" charset="0"/>
              </a:rPr>
              <a:t> varargout</a:t>
            </a:r>
            <a:r>
              <a:rPr lang="zh-CN" altLang="en-US">
                <a:latin typeface="Times New Roman" panose="02020603050405020304" charset="0"/>
                <a:cs typeface="Times New Roman" panose="02020603050405020304" charset="0"/>
              </a:rPr>
              <a:t>：</a:t>
            </a:r>
            <a:r>
              <a:rPr lang="zh-CN" altLang="en-US" sz="2400">
                <a:latin typeface="Times New Roman" panose="02020603050405020304" charset="0"/>
                <a:cs typeface="Times New Roman" panose="02020603050405020304" charset="0"/>
              </a:rPr>
              <a:t>所有输出变量列表；</a:t>
            </a:r>
            <a:endParaRPr lang="en-US" altLang="zh-CN" sz="2400">
              <a:latin typeface="Times New Roman" panose="02020603050405020304" charset="0"/>
              <a:cs typeface="Times New Roman" panose="02020603050405020304" charset="0"/>
            </a:endParaRPr>
          </a:p>
        </p:txBody>
      </p:sp>
      <p:sp>
        <p:nvSpPr>
          <p:cNvPr id="47110" name="TextBox 6"/>
          <p:cNvSpPr txBox="1">
            <a:spLocks noChangeArrowheads="1"/>
          </p:cNvSpPr>
          <p:nvPr/>
        </p:nvSpPr>
        <p:spPr bwMode="auto">
          <a:xfrm>
            <a:off x="2016125" y="1628776"/>
            <a:ext cx="8064500" cy="1814513"/>
          </a:xfrm>
          <a:prstGeom prst="rect">
            <a:avLst/>
          </a:prstGeom>
          <a:noFill/>
          <a:ln w="3175">
            <a:solidFill>
              <a:schemeClr val="tx1"/>
            </a:solidFill>
            <a:bevel/>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2800" dirty="0"/>
              <a:t>Function[</a:t>
            </a:r>
            <a:r>
              <a:rPr lang="zh-CN" altLang="en-US" sz="2800" dirty="0"/>
              <a:t>返回变量列表</a:t>
            </a:r>
            <a:r>
              <a:rPr lang="en-US" altLang="zh-CN" sz="2800" dirty="0"/>
              <a:t>]=</a:t>
            </a:r>
            <a:r>
              <a:rPr lang="zh-CN" altLang="en-US" sz="2800" dirty="0"/>
              <a:t>函数名（输入变量列表）</a:t>
            </a:r>
            <a:endParaRPr lang="en-US" altLang="zh-CN" sz="2800" dirty="0"/>
          </a:p>
          <a:p>
            <a:pPr eaLnBrk="1" hangingPunct="1">
              <a:spcBef>
                <a:spcPct val="0"/>
              </a:spcBef>
              <a:buFontTx/>
              <a:buNone/>
            </a:pPr>
            <a:r>
              <a:rPr lang="en-US" altLang="zh-CN" sz="2800" dirty="0"/>
              <a:t> 	</a:t>
            </a:r>
            <a:r>
              <a:rPr lang="zh-CN" altLang="en-US" sz="2800" dirty="0"/>
              <a:t>注释说明语句段，由</a:t>
            </a:r>
            <a:r>
              <a:rPr lang="en-US" altLang="zh-CN" sz="2800" dirty="0"/>
              <a:t>%</a:t>
            </a:r>
            <a:r>
              <a:rPr lang="zh-CN" altLang="en-US" sz="2800" dirty="0"/>
              <a:t>引导</a:t>
            </a:r>
            <a:endParaRPr lang="en-US" altLang="zh-CN" sz="2800" dirty="0"/>
          </a:p>
          <a:p>
            <a:pPr eaLnBrk="1" hangingPunct="1">
              <a:spcBef>
                <a:spcPct val="0"/>
              </a:spcBef>
              <a:buFontTx/>
              <a:buNone/>
            </a:pPr>
            <a:r>
              <a:rPr lang="en-US" altLang="zh-CN" sz="2800" dirty="0"/>
              <a:t>	</a:t>
            </a:r>
            <a:r>
              <a:rPr lang="zh-CN" altLang="en-US" sz="2800" dirty="0"/>
              <a:t>输入、返回变量格式的检测</a:t>
            </a:r>
            <a:endParaRPr lang="en-US" altLang="zh-CN" sz="2800" dirty="0"/>
          </a:p>
          <a:p>
            <a:pPr eaLnBrk="1" hangingPunct="1">
              <a:spcBef>
                <a:spcPct val="0"/>
              </a:spcBef>
              <a:buFontTx/>
              <a:buNone/>
            </a:pPr>
            <a:r>
              <a:rPr lang="en-US" altLang="zh-CN" sz="2800" dirty="0"/>
              <a:t>	</a:t>
            </a:r>
            <a:r>
              <a:rPr lang="zh-CN" altLang="en-US" sz="2800" dirty="0"/>
              <a:t>函数体语句</a:t>
            </a:r>
          </a:p>
        </p:txBody>
      </p:sp>
      <p:sp>
        <p:nvSpPr>
          <p:cNvPr id="2" name="页脚占位符 1"/>
          <p:cNvSpPr>
            <a:spLocks noGrp="1"/>
          </p:cNvSpPr>
          <p:nvPr>
            <p:ph type="ftr" sz="quarter" idx="11"/>
          </p:nvPr>
        </p:nvSpPr>
        <p:spPr/>
        <p:txBody>
          <a:bodyPr/>
          <a:lstStyle/>
          <a:p>
            <a:pPr>
              <a:defRPr/>
            </a:pPr>
            <a:r>
              <a:rPr lang="en-US" altLang="zh-CN"/>
              <a:t>matlab fundation</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1365"/>
                                        </p:tgtEl>
                                        <p:attrNameLst>
                                          <p:attrName>style.visibility</p:attrName>
                                        </p:attrNameLst>
                                      </p:cBhvr>
                                      <p:to>
                                        <p:strVal val="visible"/>
                                      </p:to>
                                    </p:set>
                                    <p:animEffect transition="in" filter="fade">
                                      <p:cBhvr>
                                        <p:cTn id="7" dur="1000"/>
                                        <p:tgtEl>
                                          <p:spTgt spid="271365"/>
                                        </p:tgtEl>
                                      </p:cBhvr>
                                    </p:animEffect>
                                    <p:anim calcmode="lin" valueType="num">
                                      <p:cBhvr>
                                        <p:cTn id="8" dur="1000" fill="hold"/>
                                        <p:tgtEl>
                                          <p:spTgt spid="271365"/>
                                        </p:tgtEl>
                                        <p:attrNameLst>
                                          <p:attrName>ppt_x</p:attrName>
                                        </p:attrNameLst>
                                      </p:cBhvr>
                                      <p:tavLst>
                                        <p:tav tm="0">
                                          <p:val>
                                            <p:strVal val="#ppt_x"/>
                                          </p:val>
                                        </p:tav>
                                        <p:tav tm="100000">
                                          <p:val>
                                            <p:strVal val="#ppt_x"/>
                                          </p:val>
                                        </p:tav>
                                      </p:tavLst>
                                    </p:anim>
                                    <p:anim calcmode="lin" valueType="num">
                                      <p:cBhvr>
                                        <p:cTn id="9" dur="1000" fill="hold"/>
                                        <p:tgtEl>
                                          <p:spTgt spid="2713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1147763" y="325950"/>
            <a:ext cx="6224588" cy="1355212"/>
          </a:xfrm>
          <a:prstGeom prst="rect">
            <a:avLst/>
          </a:prstGeom>
        </p:spPr>
      </p:pic>
      <p:pic>
        <p:nvPicPr>
          <p:cNvPr id="10" name="图片 9"/>
          <p:cNvPicPr>
            <a:picLocks noChangeAspect="1"/>
          </p:cNvPicPr>
          <p:nvPr/>
        </p:nvPicPr>
        <p:blipFill>
          <a:blip r:embed="rId3"/>
          <a:stretch>
            <a:fillRect/>
          </a:stretch>
        </p:blipFill>
        <p:spPr>
          <a:xfrm>
            <a:off x="1066800" y="1929429"/>
            <a:ext cx="8086725" cy="354268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Date Placeholder 1"/>
          <p:cNvSpPr>
            <a:spLocks noGrp="1"/>
          </p:cNvSpPr>
          <p:nvPr>
            <p:ph type="dt" sz="quarter" idx="10"/>
          </p:nvPr>
        </p:nvSpPr>
        <p:spPr/>
        <p:txBody>
          <a:bodyPr/>
          <a:lstStyle/>
          <a:p>
            <a:pPr>
              <a:defRPr/>
            </a:pPr>
            <a:fld id="{9846C19B-F98E-4264-9955-45278508237D}" type="datetime1">
              <a:rPr lang="zh-CN" altLang="en-US"/>
              <a:t>2026/1/6</a:t>
            </a:fld>
            <a:endParaRPr lang="en-US" altLang="zh-CN"/>
          </a:p>
        </p:txBody>
      </p:sp>
      <p:sp>
        <p:nvSpPr>
          <p:cNvPr id="17411" name="Slide Number Placeholder 2"/>
          <p:cNvSpPr>
            <a:spLocks noGrp="1"/>
          </p:cNvSpPr>
          <p:nvPr>
            <p:ph type="sldNum" sz="quarter" idx="12"/>
          </p:nvPr>
        </p:nvSpPr>
        <p:spPr>
          <a:xfrm>
            <a:off x="4648200" y="6356351"/>
            <a:ext cx="2895600" cy="365125"/>
          </a:xfrm>
        </p:spPr>
        <p:txBody>
          <a:bodyPr/>
          <a:lstStyle/>
          <a:p>
            <a:pPr algn="ctr">
              <a:defRPr/>
            </a:pPr>
            <a:fld id="{BFB9B4B9-5680-40FC-A6AF-4E05931B2466}" type="slidenum">
              <a:rPr lang="en-US" altLang="zh-CN"/>
              <a:t>62</a:t>
            </a:fld>
            <a:endParaRPr lang="en-US" altLang="zh-CN"/>
          </a:p>
        </p:txBody>
      </p:sp>
      <p:sp>
        <p:nvSpPr>
          <p:cNvPr id="49156" name="Text Box 4"/>
          <p:cNvSpPr txBox="1">
            <a:spLocks noChangeArrowheads="1"/>
          </p:cNvSpPr>
          <p:nvPr/>
        </p:nvSpPr>
        <p:spPr bwMode="auto">
          <a:xfrm>
            <a:off x="2135189" y="1268414"/>
            <a:ext cx="7983537"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2800"/>
              <a:t>【</a:t>
            </a:r>
            <a:r>
              <a:rPr lang="zh-CN" altLang="en-US" sz="2800"/>
              <a:t>例</a:t>
            </a:r>
            <a:r>
              <a:rPr lang="en-US" altLang="zh-CN" sz="2800"/>
              <a:t>】</a:t>
            </a:r>
            <a:r>
              <a:rPr lang="zh-CN" altLang="en-US" sz="2800"/>
              <a:t>编写一个函数生成</a:t>
            </a:r>
            <a:r>
              <a:rPr lang="en-US" altLang="zh-CN" sz="2800" i="1">
                <a:latin typeface="Times New Roman" panose="02020603050405020304" charset="0"/>
                <a:cs typeface="Times New Roman" panose="02020603050405020304" charset="0"/>
              </a:rPr>
              <a:t>n</a:t>
            </a:r>
            <a:r>
              <a:rPr lang="en-US" altLang="zh-CN" sz="2800">
                <a:latin typeface="Times New Roman" panose="02020603050405020304" charset="0"/>
                <a:cs typeface="Times New Roman" panose="02020603050405020304" charset="0"/>
                <a:sym typeface="Symbol" panose="05050102010706020507" pitchFamily="18" charset="2"/>
              </a:rPr>
              <a:t></a:t>
            </a:r>
            <a:r>
              <a:rPr lang="en-US" altLang="zh-CN" sz="2800" i="1">
                <a:latin typeface="Times New Roman" panose="02020603050405020304" charset="0"/>
                <a:cs typeface="Times New Roman" panose="02020603050405020304" charset="0"/>
                <a:sym typeface="Symbol" panose="05050102010706020507" pitchFamily="18" charset="2"/>
              </a:rPr>
              <a:t>m</a:t>
            </a:r>
            <a:r>
              <a:rPr lang="zh-CN" altLang="en-US" sz="2800">
                <a:sym typeface="Symbol" panose="05050102010706020507" pitchFamily="18" charset="2"/>
              </a:rPr>
              <a:t>阶的</a:t>
            </a:r>
            <a:r>
              <a:rPr lang="en-US" altLang="zh-CN" sz="2800">
                <a:sym typeface="Symbol" panose="05050102010706020507" pitchFamily="18" charset="2"/>
              </a:rPr>
              <a:t>Hilbert</a:t>
            </a:r>
            <a:r>
              <a:rPr lang="zh-CN" altLang="en-US" sz="2800">
                <a:sym typeface="Symbol" panose="05050102010706020507" pitchFamily="18" charset="2"/>
              </a:rPr>
              <a:t>矩阵</a:t>
            </a:r>
            <a:endParaRPr lang="en-US" altLang="zh-CN" sz="2800">
              <a:sym typeface="Symbol" panose="05050102010706020507" pitchFamily="18" charset="2"/>
            </a:endParaRPr>
          </a:p>
          <a:p>
            <a:pPr eaLnBrk="1" hangingPunct="1">
              <a:spcBef>
                <a:spcPct val="0"/>
              </a:spcBef>
              <a:buFontTx/>
              <a:buNone/>
            </a:pPr>
            <a:endParaRPr lang="zh-CN" altLang="en-US" sz="2800"/>
          </a:p>
          <a:p>
            <a:pPr eaLnBrk="1" hangingPunct="1">
              <a:spcBef>
                <a:spcPct val="0"/>
              </a:spcBef>
              <a:buFontTx/>
              <a:buNone/>
            </a:pPr>
            <a:r>
              <a:rPr lang="en-US" altLang="zh-CN" sz="2800"/>
              <a:t>Hilbert</a:t>
            </a:r>
            <a:r>
              <a:rPr lang="zh-CN" altLang="en-US" sz="2800"/>
              <a:t>矩阵：</a:t>
            </a:r>
          </a:p>
          <a:p>
            <a:pPr eaLnBrk="1" hangingPunct="1">
              <a:spcBef>
                <a:spcPct val="0"/>
              </a:spcBef>
              <a:buFontTx/>
              <a:buNone/>
            </a:pPr>
            <a:endParaRPr lang="zh-CN" altLang="en-US" sz="2800"/>
          </a:p>
          <a:p>
            <a:pPr eaLnBrk="1" hangingPunct="1">
              <a:spcBef>
                <a:spcPct val="0"/>
              </a:spcBef>
              <a:buFontTx/>
              <a:buNone/>
            </a:pPr>
            <a:endParaRPr lang="zh-CN" altLang="en-US" sz="2800"/>
          </a:p>
          <a:p>
            <a:pPr eaLnBrk="1" hangingPunct="1">
              <a:spcBef>
                <a:spcPct val="0"/>
              </a:spcBef>
              <a:buFontTx/>
              <a:buChar char="•"/>
            </a:pPr>
            <a:r>
              <a:rPr lang="zh-CN" altLang="en-US" sz="2800"/>
              <a:t> 若只给出一个输入参数，则会自动生成一个方阵</a:t>
            </a:r>
          </a:p>
          <a:p>
            <a:pPr eaLnBrk="1" hangingPunct="1">
              <a:spcBef>
                <a:spcPct val="0"/>
              </a:spcBef>
              <a:buFontTx/>
              <a:buChar char="•"/>
            </a:pPr>
            <a:endParaRPr lang="zh-CN" altLang="en-US" sz="2800"/>
          </a:p>
          <a:p>
            <a:pPr eaLnBrk="1" hangingPunct="1">
              <a:spcBef>
                <a:spcPct val="0"/>
              </a:spcBef>
              <a:buFontTx/>
              <a:buChar char="•"/>
            </a:pPr>
            <a:r>
              <a:rPr lang="zh-CN" altLang="en-US" sz="2800"/>
              <a:t> 在函数中给出合适的帮助信息</a:t>
            </a:r>
          </a:p>
          <a:p>
            <a:pPr eaLnBrk="1" hangingPunct="1">
              <a:spcBef>
                <a:spcPct val="0"/>
              </a:spcBef>
              <a:buFontTx/>
              <a:buChar char="•"/>
            </a:pPr>
            <a:endParaRPr lang="zh-CN" altLang="en-US" sz="2800"/>
          </a:p>
          <a:p>
            <a:pPr eaLnBrk="1" hangingPunct="1">
              <a:spcBef>
                <a:spcPct val="0"/>
              </a:spcBef>
              <a:buFontTx/>
              <a:buChar char="•"/>
            </a:pPr>
            <a:r>
              <a:rPr lang="zh-CN" altLang="en-US" sz="2800"/>
              <a:t> 检测输入和返回变量的个数</a:t>
            </a:r>
          </a:p>
        </p:txBody>
      </p:sp>
      <p:graphicFrame>
        <p:nvGraphicFramePr>
          <p:cNvPr id="49157" name="对象 6"/>
          <p:cNvGraphicFramePr>
            <a:graphicFrameLocks noChangeAspect="1"/>
          </p:cNvGraphicFramePr>
          <p:nvPr/>
        </p:nvGraphicFramePr>
        <p:xfrm>
          <a:off x="6391275" y="2647950"/>
          <a:ext cx="2305050" cy="534988"/>
        </p:xfrm>
        <a:graphic>
          <a:graphicData uri="http://schemas.openxmlformats.org/presentationml/2006/ole">
            <mc:AlternateContent xmlns:mc="http://schemas.openxmlformats.org/markup-compatibility/2006">
              <mc:Choice xmlns:v="urn:schemas-microsoft-com:vml" Requires="v">
                <p:oleObj name="Equation" r:id="rId2" imgW="1040765" imgH="241300" progId="Equation.DSMT4">
                  <p:embed/>
                </p:oleObj>
              </mc:Choice>
              <mc:Fallback>
                <p:oleObj name="Equation" r:id="rId2" imgW="1040765" imgH="241300" progId="Equation.DSMT4">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1275" y="2647950"/>
                        <a:ext cx="23050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8" name="TextBox 7"/>
          <p:cNvSpPr txBox="1">
            <a:spLocks noChangeArrowheads="1"/>
          </p:cNvSpPr>
          <p:nvPr/>
        </p:nvSpPr>
        <p:spPr bwMode="auto">
          <a:xfrm>
            <a:off x="2454275" y="2636839"/>
            <a:ext cx="3671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zh-CN" altLang="en-US" sz="2800"/>
              <a:t>第</a:t>
            </a:r>
            <a:r>
              <a:rPr lang="en-US" altLang="zh-CN" sz="2800" i="1">
                <a:latin typeface="Times New Roman" panose="02020603050405020304" charset="0"/>
                <a:cs typeface="Times New Roman" panose="02020603050405020304" charset="0"/>
              </a:rPr>
              <a:t>i</a:t>
            </a:r>
            <a:r>
              <a:rPr lang="zh-CN" altLang="en-US" sz="2800"/>
              <a:t>行第</a:t>
            </a:r>
            <a:r>
              <a:rPr lang="en-US" altLang="zh-CN" sz="2800" i="1">
                <a:latin typeface="Times New Roman" panose="02020603050405020304" charset="0"/>
                <a:cs typeface="Times New Roman" panose="02020603050405020304" charset="0"/>
              </a:rPr>
              <a:t>j</a:t>
            </a:r>
            <a:r>
              <a:rPr lang="zh-CN" altLang="en-US" sz="2800"/>
              <a:t>列的元素值为：</a:t>
            </a:r>
          </a:p>
        </p:txBody>
      </p:sp>
      <p:sp>
        <p:nvSpPr>
          <p:cNvPr id="2" name="页脚占位符 1"/>
          <p:cNvSpPr>
            <a:spLocks noGrp="1"/>
          </p:cNvSpPr>
          <p:nvPr>
            <p:ph type="ftr" sz="quarter" idx="11"/>
          </p:nvPr>
        </p:nvSpPr>
        <p:spPr/>
        <p:txBody>
          <a:bodyPr/>
          <a:lstStyle/>
          <a:p>
            <a:pPr>
              <a:defRPr/>
            </a:pPr>
            <a:r>
              <a:rPr lang="en-US" altLang="zh-CN"/>
              <a:t>matlab fundation</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67BC5684-0B7A-49EC-8908-8EFAE431B4E4}" type="datetime1">
              <a:rPr lang="zh-CN" altLang="en-US" smtClean="0"/>
              <a:t>2026/1/6</a:t>
            </a:fld>
            <a:endParaRPr lang="zh-CN" altLang="en-US"/>
          </a:p>
        </p:txBody>
      </p:sp>
      <p:sp>
        <p:nvSpPr>
          <p:cNvPr id="3" name="页脚占位符 2"/>
          <p:cNvSpPr>
            <a:spLocks noGrp="1"/>
          </p:cNvSpPr>
          <p:nvPr>
            <p:ph type="ftr" sz="quarter" idx="11"/>
          </p:nvPr>
        </p:nvSpPr>
        <p:spPr/>
        <p:txBody>
          <a:bodyPr/>
          <a:lstStyle/>
          <a:p>
            <a:pPr>
              <a:defRPr/>
            </a:pPr>
            <a:r>
              <a:rPr lang="en-US" altLang="zh-CN"/>
              <a:t>matlab fundation</a:t>
            </a:r>
            <a:endParaRPr lang="zh-CN" altLang="en-US"/>
          </a:p>
        </p:txBody>
      </p:sp>
      <p:sp>
        <p:nvSpPr>
          <p:cNvPr id="4" name="灯片编号占位符 3"/>
          <p:cNvSpPr>
            <a:spLocks noGrp="1"/>
          </p:cNvSpPr>
          <p:nvPr>
            <p:ph type="sldNum" sz="quarter" idx="12"/>
          </p:nvPr>
        </p:nvSpPr>
        <p:spPr/>
        <p:txBody>
          <a:bodyPr/>
          <a:lstStyle/>
          <a:p>
            <a:pPr>
              <a:defRPr/>
            </a:pPr>
            <a:fld id="{91944829-4C4E-46B6-B639-0802FB003E0F}" type="slidenum">
              <a:rPr lang="zh-CN" altLang="en-US" smtClean="0"/>
              <a:t>63</a:t>
            </a:fld>
            <a:endParaRPr lang="zh-CN" altLang="en-US"/>
          </a:p>
        </p:txBody>
      </p:sp>
      <p:pic>
        <p:nvPicPr>
          <p:cNvPr id="6" name="图片 5"/>
          <p:cNvPicPr>
            <a:picLocks noChangeAspect="1"/>
          </p:cNvPicPr>
          <p:nvPr/>
        </p:nvPicPr>
        <p:blipFill>
          <a:blip r:embed="rId2"/>
          <a:stretch>
            <a:fillRect/>
          </a:stretch>
        </p:blipFill>
        <p:spPr>
          <a:xfrm>
            <a:off x="609600" y="878130"/>
            <a:ext cx="9020175" cy="5478221"/>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eaLnBrk="1" fontAlgn="auto" hangingPunct="1">
              <a:spcAft>
                <a:spcPts val="0"/>
              </a:spcAft>
              <a:defRPr/>
            </a:pPr>
            <a:r>
              <a:rPr lang="zh-CN" altLang="en-US" dirty="0"/>
              <a:t>模块库简介</a:t>
            </a:r>
            <a:r>
              <a:rPr lang="en-US" altLang="zh-CN" dirty="0"/>
              <a:t>—Commonly Used blocks</a:t>
            </a:r>
            <a:endParaRPr lang="zh-CN" altLang="en-US" dirty="0"/>
          </a:p>
        </p:txBody>
      </p:sp>
      <p:sp>
        <p:nvSpPr>
          <p:cNvPr id="10243" name="内容占位符 2"/>
          <p:cNvSpPr>
            <a:spLocks noGrp="1"/>
          </p:cNvSpPr>
          <p:nvPr>
            <p:ph idx="1"/>
          </p:nvPr>
        </p:nvSpPr>
        <p:spPr>
          <a:xfrm>
            <a:off x="2063750" y="1341439"/>
            <a:ext cx="8229600" cy="676275"/>
          </a:xfrm>
        </p:spPr>
        <p:txBody>
          <a:bodyPr/>
          <a:lstStyle/>
          <a:p>
            <a:pPr eaLnBrk="1" hangingPunct="1"/>
            <a:r>
              <a:rPr lang="zh-CN" altLang="en-US"/>
              <a:t>将最常用的基本模块集中在一起形成的。</a:t>
            </a:r>
          </a:p>
        </p:txBody>
      </p:sp>
      <p:pic>
        <p:nvPicPr>
          <p:cNvPr id="10244"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71814" y="2133600"/>
            <a:ext cx="6040437" cy="400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a:t>模块库简介</a:t>
            </a:r>
            <a:r>
              <a:rPr lang="en-US" altLang="zh-CN"/>
              <a:t>—Sinks</a:t>
            </a:r>
            <a:endParaRPr lang="zh-CN" altLang="en-US"/>
          </a:p>
        </p:txBody>
      </p:sp>
      <p:sp>
        <p:nvSpPr>
          <p:cNvPr id="18435" name="内容占位符 2"/>
          <p:cNvSpPr>
            <a:spLocks noGrp="1"/>
          </p:cNvSpPr>
          <p:nvPr>
            <p:ph idx="1"/>
          </p:nvPr>
        </p:nvSpPr>
        <p:spPr/>
        <p:txBody>
          <a:bodyPr/>
          <a:lstStyle/>
          <a:p>
            <a:pPr eaLnBrk="1" hangingPunct="1"/>
            <a:r>
              <a:rPr lang="zh-CN" altLang="en-US"/>
              <a:t>接收模块库</a:t>
            </a:r>
            <a:endParaRPr lang="en-US" altLang="zh-CN"/>
          </a:p>
          <a:p>
            <a:pPr lvl="1" eaLnBrk="1" hangingPunct="1"/>
            <a:r>
              <a:rPr lang="zh-CN" altLang="en-US"/>
              <a:t>模块与子系统输出</a:t>
            </a:r>
            <a:r>
              <a:rPr lang="en-US" altLang="zh-CN"/>
              <a:t>: Out1</a:t>
            </a:r>
          </a:p>
          <a:p>
            <a:pPr lvl="1" eaLnBrk="1" hangingPunct="1"/>
            <a:r>
              <a:rPr lang="zh-CN" altLang="en-US"/>
              <a:t>数据观察器</a:t>
            </a:r>
            <a:r>
              <a:rPr lang="en-US" altLang="zh-CN"/>
              <a:t>:Terminator, To File, To Workspace</a:t>
            </a:r>
          </a:p>
          <a:p>
            <a:pPr lvl="1" eaLnBrk="1" hangingPunct="1"/>
            <a:r>
              <a:rPr lang="zh-CN" altLang="en-US"/>
              <a:t>仿真终止模块</a:t>
            </a:r>
            <a:r>
              <a:rPr lang="en-US" altLang="zh-CN"/>
              <a:t>:</a:t>
            </a:r>
            <a:r>
              <a:rPr lang="zh-CN" altLang="en-US"/>
              <a:t>其余的</a:t>
            </a:r>
          </a:p>
        </p:txBody>
      </p:sp>
      <p:pic>
        <p:nvPicPr>
          <p:cNvPr id="1843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95551" y="3789363"/>
            <a:ext cx="59721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连接符 5"/>
          <p:cNvCxnSpPr/>
          <p:nvPr/>
        </p:nvCxnSpPr>
        <p:spPr>
          <a:xfrm>
            <a:off x="7391401" y="4581525"/>
            <a:ext cx="576263"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2711450" y="6437313"/>
            <a:ext cx="108108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032625" y="5661025"/>
            <a:ext cx="10795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664200" y="5654675"/>
            <a:ext cx="10795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pPr eaLnBrk="1" hangingPunct="1"/>
            <a:r>
              <a:rPr lang="en-US" altLang="zh-CN"/>
              <a:t>Modeling Comparisons</a:t>
            </a:r>
            <a:endParaRPr lang="zh-CN" altLang="en-US"/>
          </a:p>
        </p:txBody>
      </p:sp>
      <p:pic>
        <p:nvPicPr>
          <p:cNvPr id="501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0" y="1341438"/>
            <a:ext cx="839628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1" y="2124076"/>
            <a:ext cx="7980363"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extBox 5"/>
          <p:cNvSpPr txBox="1">
            <a:spLocks noChangeArrowheads="1"/>
          </p:cNvSpPr>
          <p:nvPr/>
        </p:nvSpPr>
        <p:spPr bwMode="auto">
          <a:xfrm>
            <a:off x="1847851" y="5753101"/>
            <a:ext cx="842486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pPr>
            <a:r>
              <a:rPr lang="en-US" altLang="zh-CN" sz="1800"/>
              <a:t> </a:t>
            </a:r>
            <a:r>
              <a:rPr lang="en-US" altLang="zh-CN"/>
              <a:t>blocks are in the </a:t>
            </a:r>
            <a:r>
              <a:rPr lang="en-US" altLang="zh-CN" b="1"/>
              <a:t>Logic and Bit Operation </a:t>
            </a:r>
            <a:r>
              <a:rPr lang="en-US" altLang="zh-CN"/>
              <a:t>library</a:t>
            </a:r>
          </a:p>
          <a:p>
            <a:pPr eaLnBrk="1" hangingPunct="1">
              <a:spcBef>
                <a:spcPct val="0"/>
              </a:spcBef>
            </a:pPr>
            <a:r>
              <a:rPr lang="en-US" altLang="zh-CN"/>
              <a:t>Simplelogic.mdl</a:t>
            </a: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pPr eaLnBrk="1" hangingPunct="1"/>
            <a:r>
              <a:rPr lang="en-US" altLang="zh-CN"/>
              <a:t>Modeling Decision Statements</a:t>
            </a:r>
            <a:endParaRPr lang="zh-CN" altLang="en-US"/>
          </a:p>
        </p:txBody>
      </p:sp>
      <p:pic>
        <p:nvPicPr>
          <p:cNvPr id="522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113" y="1268414"/>
            <a:ext cx="7715250"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extBox 6"/>
          <p:cNvSpPr txBox="1">
            <a:spLocks noChangeArrowheads="1"/>
          </p:cNvSpPr>
          <p:nvPr/>
        </p:nvSpPr>
        <p:spPr bwMode="auto">
          <a:xfrm>
            <a:off x="1847851" y="4581525"/>
            <a:ext cx="84248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pPr>
            <a:r>
              <a:rPr lang="en-US" altLang="zh-CN" sz="1800"/>
              <a:t> </a:t>
            </a:r>
            <a:r>
              <a:rPr lang="en-US" altLang="zh-CN" sz="2800"/>
              <a:t>blocks are in the </a:t>
            </a:r>
            <a:r>
              <a:rPr lang="en-US" altLang="zh-CN" sz="2800" b="1"/>
              <a:t>Signal Routing </a:t>
            </a:r>
            <a:r>
              <a:rPr lang="en-US" altLang="zh-CN" sz="2800"/>
              <a:t>library</a:t>
            </a:r>
            <a:endParaRPr lang="zh-CN" altLang="en-US" sz="2800"/>
          </a:p>
          <a:p>
            <a:pPr eaLnBrk="1" hangingPunct="1">
              <a:spcBef>
                <a:spcPct val="0"/>
              </a:spcBef>
            </a:pPr>
            <a:r>
              <a:rPr lang="en-US" altLang="zh-CN" sz="2800"/>
              <a:t>Switch</a:t>
            </a:r>
            <a:r>
              <a:rPr lang="zh-CN" altLang="en-US" sz="2800"/>
              <a:t>模块的第二个信号与阈值的比较，若真，执行上面的赋值为</a:t>
            </a:r>
            <a:r>
              <a:rPr lang="en-US" altLang="zh-CN" sz="2800"/>
              <a:t>3</a:t>
            </a:r>
            <a:r>
              <a:rPr lang="zh-CN" altLang="en-US" sz="2800"/>
              <a:t>，否则赋值为</a:t>
            </a:r>
            <a:r>
              <a:rPr lang="en-US" altLang="zh-CN" sz="2800"/>
              <a:t>-3</a:t>
            </a:r>
            <a:r>
              <a:rPr lang="zh-CN" altLang="en-US" sz="2800"/>
              <a:t>；</a:t>
            </a:r>
            <a:endParaRPr lang="en-US" altLang="zh-CN" sz="2800"/>
          </a:p>
          <a:p>
            <a:pPr eaLnBrk="1" hangingPunct="1">
              <a:spcBef>
                <a:spcPct val="0"/>
              </a:spcBef>
            </a:pPr>
            <a:r>
              <a:rPr lang="en-US" altLang="zh-CN" sz="2800"/>
              <a:t>Simpleswitch.mdl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a:lstStyle/>
          <a:p>
            <a:r>
              <a:rPr lang="en-US" altLang="zh-CN" sz="3600"/>
              <a:t>   Stateflow</a:t>
            </a:r>
            <a:r>
              <a:rPr lang="zh-CN" altLang="en-US" sz="3600"/>
              <a:t>入门介绍</a:t>
            </a:r>
          </a:p>
        </p:txBody>
      </p:sp>
      <p:sp>
        <p:nvSpPr>
          <p:cNvPr id="4099" name="Rectangle 3"/>
          <p:cNvSpPr>
            <a:spLocks noGrp="1"/>
          </p:cNvSpPr>
          <p:nvPr>
            <p:ph type="body" idx="1"/>
          </p:nvPr>
        </p:nvSpPr>
        <p:spPr/>
        <p:txBody>
          <a:bodyPr/>
          <a:lstStyle/>
          <a:p>
            <a:pPr>
              <a:buFontTx/>
              <a:buNone/>
            </a:pPr>
            <a:r>
              <a:rPr lang="en-US" altLang="zh-CN"/>
              <a:t>Stateflow</a:t>
            </a:r>
            <a:r>
              <a:rPr lang="zh-CN" altLang="en-US"/>
              <a:t>能够做：</a:t>
            </a:r>
          </a:p>
          <a:p>
            <a:r>
              <a:rPr lang="zh-CN" altLang="en-US" sz="2800"/>
              <a:t>建立复杂的判定流，建立流程图</a:t>
            </a:r>
            <a:endParaRPr lang="en-US" altLang="zh-CN" sz="2800"/>
          </a:p>
          <a:p>
            <a:r>
              <a:rPr lang="zh-CN" altLang="en-US" sz="2800"/>
              <a:t>基于有限状态机理论对复杂的响应型系统进行可视化建模与仿真</a:t>
            </a:r>
          </a:p>
          <a:p>
            <a:r>
              <a:rPr lang="zh-CN" altLang="en-US" sz="2800"/>
              <a:t>设计和开发复杂的监控逻辑</a:t>
            </a:r>
          </a:p>
          <a:p>
            <a:r>
              <a:rPr lang="zh-CN" altLang="en-US" sz="2800"/>
              <a:t>在</a:t>
            </a:r>
            <a:r>
              <a:rPr lang="en-US" altLang="zh-CN" sz="2800"/>
              <a:t>Stateflow</a:t>
            </a:r>
            <a:r>
              <a:rPr lang="zh-CN" altLang="en-US" sz="2800"/>
              <a:t>框图中同时使用流程图和状态转移图表示法</a:t>
            </a:r>
          </a:p>
          <a:p>
            <a:r>
              <a:rPr lang="zh-CN" altLang="en-US" sz="2800"/>
              <a:t>自动地从模型中生成整数或浮点数代码</a:t>
            </a:r>
          </a:p>
          <a:p>
            <a:r>
              <a:rPr lang="zh-CN" altLang="en-US" sz="2800"/>
              <a:t>可随时方便修改设计，评估结果，验证系统性能</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p:txBody>
          <a:bodyPr/>
          <a:lstStyle/>
          <a:p>
            <a:r>
              <a:rPr lang="en-US" altLang="zh-CN" sz="3600"/>
              <a:t>stateflow</a:t>
            </a:r>
            <a:r>
              <a:rPr lang="zh-CN" altLang="en-US" sz="3600"/>
              <a:t>基本概念</a:t>
            </a:r>
          </a:p>
        </p:txBody>
      </p:sp>
      <p:sp>
        <p:nvSpPr>
          <p:cNvPr id="5123" name="AutoShape 3"/>
          <p:cNvSpPr>
            <a:spLocks noChangeArrowheads="1"/>
          </p:cNvSpPr>
          <p:nvPr/>
        </p:nvSpPr>
        <p:spPr bwMode="auto">
          <a:xfrm>
            <a:off x="7086600" y="3171825"/>
            <a:ext cx="2286000" cy="2667000"/>
          </a:xfrm>
          <a:prstGeom prst="roundRect">
            <a:avLst>
              <a:gd name="adj" fmla="val 16667"/>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algn="ctr">
              <a:spcBef>
                <a:spcPct val="0"/>
              </a:spcBef>
              <a:buFontTx/>
              <a:buNone/>
            </a:pPr>
            <a:endParaRPr lang="zh-CN" altLang="zh-CN" sz="1800">
              <a:latin typeface="Verdana" panose="020B0604030504040204" pitchFamily="34" charset="0"/>
            </a:endParaRPr>
          </a:p>
        </p:txBody>
      </p:sp>
      <p:sp>
        <p:nvSpPr>
          <p:cNvPr id="5124" name="Text Box 4"/>
          <p:cNvSpPr txBox="1">
            <a:spLocks noChangeArrowheads="1"/>
          </p:cNvSpPr>
          <p:nvPr/>
        </p:nvSpPr>
        <p:spPr bwMode="auto">
          <a:xfrm>
            <a:off x="7239000" y="3367089"/>
            <a:ext cx="231298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a:spcBef>
                <a:spcPct val="0"/>
              </a:spcBef>
              <a:buFont typeface="Wingdings" panose="05000000000000000000" pitchFamily="2" charset="2"/>
              <a:buChar char="l"/>
            </a:pPr>
            <a:r>
              <a:rPr lang="zh-CN" altLang="en-US">
                <a:solidFill>
                  <a:srgbClr val="000000"/>
                </a:solidFill>
                <a:latin typeface="Arial" panose="020B0704020202020204" pitchFamily="34" charset="0"/>
              </a:rPr>
              <a:t>动作</a:t>
            </a:r>
          </a:p>
          <a:p>
            <a:pPr>
              <a:spcBef>
                <a:spcPct val="0"/>
              </a:spcBef>
              <a:buFont typeface="Wingdings" panose="05000000000000000000" pitchFamily="2" charset="2"/>
              <a:buChar char="l"/>
            </a:pPr>
            <a:r>
              <a:rPr lang="zh-CN" altLang="en-US">
                <a:solidFill>
                  <a:srgbClr val="000000"/>
                </a:solidFill>
                <a:latin typeface="Arial" panose="020B0704020202020204" pitchFamily="34" charset="0"/>
              </a:rPr>
              <a:t>数据对象</a:t>
            </a:r>
          </a:p>
          <a:p>
            <a:pPr>
              <a:spcBef>
                <a:spcPct val="0"/>
              </a:spcBef>
              <a:buFont typeface="Wingdings" panose="05000000000000000000" pitchFamily="2" charset="2"/>
              <a:buChar char="l"/>
            </a:pPr>
            <a:r>
              <a:rPr lang="zh-CN" altLang="en-US">
                <a:solidFill>
                  <a:srgbClr val="000000"/>
                </a:solidFill>
                <a:latin typeface="Arial" panose="020B0704020202020204" pitchFamily="34" charset="0"/>
              </a:rPr>
              <a:t>连接节点</a:t>
            </a:r>
          </a:p>
          <a:p>
            <a:pPr>
              <a:spcBef>
                <a:spcPct val="0"/>
              </a:spcBef>
              <a:buFont typeface="Wingdings" panose="05000000000000000000" pitchFamily="2" charset="2"/>
              <a:buChar char="l"/>
            </a:pPr>
            <a:r>
              <a:rPr lang="zh-CN" altLang="en-US">
                <a:solidFill>
                  <a:srgbClr val="000000"/>
                </a:solidFill>
                <a:latin typeface="Arial" panose="020B0704020202020204" pitchFamily="34" charset="0"/>
              </a:rPr>
              <a:t>缺省转移</a:t>
            </a:r>
          </a:p>
        </p:txBody>
      </p:sp>
      <p:sp>
        <p:nvSpPr>
          <p:cNvPr id="5125" name="AutoShape 5"/>
          <p:cNvSpPr>
            <a:spLocks noChangeArrowheads="1"/>
          </p:cNvSpPr>
          <p:nvPr/>
        </p:nvSpPr>
        <p:spPr bwMode="auto">
          <a:xfrm>
            <a:off x="2667000" y="3171825"/>
            <a:ext cx="2286000" cy="2667000"/>
          </a:xfrm>
          <a:prstGeom prst="roundRect">
            <a:avLst>
              <a:gd name="adj" fmla="val 16667"/>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algn="ctr">
              <a:spcBef>
                <a:spcPct val="0"/>
              </a:spcBef>
              <a:buFontTx/>
              <a:buNone/>
            </a:pPr>
            <a:endParaRPr lang="zh-CN" altLang="zh-CN" sz="1800">
              <a:latin typeface="Verdana" panose="020B0604030504040204" pitchFamily="34" charset="0"/>
            </a:endParaRPr>
          </a:p>
        </p:txBody>
      </p:sp>
      <p:sp>
        <p:nvSpPr>
          <p:cNvPr id="5126" name="Text Box 6"/>
          <p:cNvSpPr txBox="1">
            <a:spLocks noChangeArrowheads="1"/>
          </p:cNvSpPr>
          <p:nvPr/>
        </p:nvSpPr>
        <p:spPr bwMode="auto">
          <a:xfrm>
            <a:off x="2762250" y="3371851"/>
            <a:ext cx="189388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a:spcBef>
                <a:spcPct val="0"/>
              </a:spcBef>
              <a:buFont typeface="Wingdings" panose="05000000000000000000" pitchFamily="2" charset="2"/>
              <a:buChar char="l"/>
            </a:pPr>
            <a:r>
              <a:rPr lang="zh-CN" altLang="en-US">
                <a:solidFill>
                  <a:srgbClr val="000000"/>
                </a:solidFill>
                <a:latin typeface="Arial" panose="020B0704020202020204" pitchFamily="34" charset="0"/>
              </a:rPr>
              <a:t>状态</a:t>
            </a:r>
          </a:p>
          <a:p>
            <a:pPr>
              <a:spcBef>
                <a:spcPct val="0"/>
              </a:spcBef>
              <a:buFont typeface="Wingdings" panose="05000000000000000000" pitchFamily="2" charset="2"/>
              <a:buChar char="l"/>
            </a:pPr>
            <a:r>
              <a:rPr lang="zh-CN" altLang="en-US">
                <a:solidFill>
                  <a:srgbClr val="000000"/>
                </a:solidFill>
                <a:latin typeface="Arial" panose="020B0704020202020204" pitchFamily="34" charset="0"/>
              </a:rPr>
              <a:t>转移</a:t>
            </a:r>
          </a:p>
          <a:p>
            <a:pPr>
              <a:spcBef>
                <a:spcPct val="0"/>
              </a:spcBef>
              <a:buFont typeface="Wingdings" panose="05000000000000000000" pitchFamily="2" charset="2"/>
              <a:buChar char="l"/>
            </a:pPr>
            <a:r>
              <a:rPr lang="zh-CN" altLang="en-US">
                <a:solidFill>
                  <a:srgbClr val="000000"/>
                </a:solidFill>
                <a:latin typeface="Arial" panose="020B0704020202020204" pitchFamily="34" charset="0"/>
              </a:rPr>
              <a:t>事件</a:t>
            </a:r>
          </a:p>
          <a:p>
            <a:pPr>
              <a:spcBef>
                <a:spcPct val="0"/>
              </a:spcBef>
              <a:buFont typeface="Wingdings" panose="05000000000000000000" pitchFamily="2" charset="2"/>
              <a:buChar char="l"/>
            </a:pPr>
            <a:r>
              <a:rPr lang="zh-CN" altLang="en-US">
                <a:solidFill>
                  <a:srgbClr val="000000"/>
                </a:solidFill>
                <a:latin typeface="Arial" panose="020B0704020202020204" pitchFamily="34" charset="0"/>
              </a:rPr>
              <a:t>条件</a:t>
            </a:r>
          </a:p>
        </p:txBody>
      </p:sp>
      <p:sp>
        <p:nvSpPr>
          <p:cNvPr id="18439" name="Freeform 7"/>
          <p:cNvSpPr/>
          <p:nvPr/>
        </p:nvSpPr>
        <p:spPr bwMode="gray">
          <a:xfrm>
            <a:off x="4746625" y="3074989"/>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chemeClr val="accent2">
                  <a:gamma/>
                  <a:tint val="63529"/>
                  <a:invGamma/>
                </a:schemeClr>
              </a:gs>
            </a:gsLst>
            <a:lin ang="0" scaled="1"/>
          </a:gradFill>
          <a:ln w="0">
            <a:noFill/>
            <a:prstDash val="solid"/>
            <a:round/>
          </a:ln>
        </p:spPr>
        <p:txBody>
          <a:bodyPr/>
          <a:lstStyle/>
          <a:p>
            <a:pPr eaLnBrk="1" hangingPunct="1">
              <a:defRPr/>
            </a:pPr>
            <a:endParaRPr lang="zh-CN" altLang="en-US">
              <a:latin typeface="Arial" panose="020B0704020202020204" pitchFamily="34" charset="0"/>
              <a:ea typeface="宋体" pitchFamily="2" charset="-122"/>
            </a:endParaRPr>
          </a:p>
        </p:txBody>
      </p:sp>
      <p:sp>
        <p:nvSpPr>
          <p:cNvPr id="5128" name="AutoShape 8"/>
          <p:cNvSpPr>
            <a:spLocks noChangeAspect="1" noChangeArrowheads="1" noTextEdit="1"/>
          </p:cNvSpPr>
          <p:nvPr/>
        </p:nvSpPr>
        <p:spPr bwMode="gray">
          <a:xfrm flipH="1">
            <a:off x="6392864" y="3071813"/>
            <a:ext cx="909637"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41" name="Freeform 9"/>
          <p:cNvSpPr/>
          <p:nvPr/>
        </p:nvSpPr>
        <p:spPr bwMode="gray">
          <a:xfrm flipH="1">
            <a:off x="6399214" y="3074989"/>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w="0">
            <a:noFill/>
            <a:prstDash val="solid"/>
            <a:round/>
          </a:ln>
        </p:spPr>
        <p:txBody>
          <a:bodyPr/>
          <a:lstStyle/>
          <a:p>
            <a:pPr eaLnBrk="1" hangingPunct="1">
              <a:defRPr/>
            </a:pPr>
            <a:endParaRPr lang="zh-CN" altLang="en-US">
              <a:latin typeface="Arial" panose="020B0704020202020204" pitchFamily="34" charset="0"/>
              <a:ea typeface="宋体" pitchFamily="2" charset="-122"/>
            </a:endParaRPr>
          </a:p>
        </p:txBody>
      </p:sp>
      <p:grpSp>
        <p:nvGrpSpPr>
          <p:cNvPr id="5130" name="Group 10"/>
          <p:cNvGrpSpPr/>
          <p:nvPr/>
        </p:nvGrpSpPr>
        <p:grpSpPr bwMode="auto">
          <a:xfrm>
            <a:off x="4583114" y="1341439"/>
            <a:ext cx="2998787" cy="1601787"/>
            <a:chOff x="1997" y="1314"/>
            <a:chExt cx="1889" cy="1009"/>
          </a:xfrm>
        </p:grpSpPr>
        <p:grpSp>
          <p:nvGrpSpPr>
            <p:cNvPr id="5132" name="Group 11"/>
            <p:cNvGrpSpPr/>
            <p:nvPr/>
          </p:nvGrpSpPr>
          <p:grpSpPr bwMode="auto">
            <a:xfrm>
              <a:off x="1997" y="1404"/>
              <a:ext cx="1889" cy="919"/>
              <a:chOff x="1973" y="1027"/>
              <a:chExt cx="1926" cy="937"/>
            </a:xfrm>
          </p:grpSpPr>
          <p:sp>
            <p:nvSpPr>
              <p:cNvPr id="18444" name="Oval 12"/>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ln>
              <a:effectLst/>
            </p:spPr>
            <p:txBody>
              <a:bodyPr wrap="none" anchor="ctr"/>
              <a:lstStyle/>
              <a:p>
                <a:pPr eaLnBrk="1" hangingPunct="1">
                  <a:defRPr/>
                </a:pPr>
                <a:endParaRPr lang="zh-CN" altLang="en-US">
                  <a:latin typeface="Arial" panose="020B0704020202020204" pitchFamily="34" charset="0"/>
                  <a:ea typeface="宋体" pitchFamily="2" charset="-122"/>
                </a:endParaRPr>
              </a:p>
            </p:txBody>
          </p:sp>
          <p:sp>
            <p:nvSpPr>
              <p:cNvPr id="18445" name="Oval 13"/>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ln>
              <a:effectLst/>
            </p:spPr>
            <p:txBody>
              <a:bodyPr wrap="none" anchor="ctr"/>
              <a:lstStyle/>
              <a:p>
                <a:pPr eaLnBrk="1" hangingPunct="1">
                  <a:defRPr/>
                </a:pPr>
                <a:endParaRPr lang="zh-CN" altLang="en-US">
                  <a:latin typeface="Arial" panose="020B0704020202020204" pitchFamily="34" charset="0"/>
                  <a:ea typeface="宋体" pitchFamily="2" charset="-122"/>
                </a:endParaRPr>
              </a:p>
            </p:txBody>
          </p:sp>
        </p:grpSp>
        <p:sp>
          <p:nvSpPr>
            <p:cNvPr id="18446" name="Oval 14"/>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ln>
            <a:effectLst/>
          </p:spPr>
          <p:txBody>
            <a:bodyPr vert="eaVert" wrap="none" anchor="ctr"/>
            <a:lstStyle/>
            <a:p>
              <a:pPr eaLnBrk="1" hangingPunct="1">
                <a:defRPr/>
              </a:pPr>
              <a:endParaRPr lang="zh-CN" altLang="en-US">
                <a:latin typeface="Arial" panose="020B0704020202020204" pitchFamily="34" charset="0"/>
                <a:ea typeface="宋体" pitchFamily="2" charset="-122"/>
              </a:endParaRPr>
            </a:p>
          </p:txBody>
        </p:sp>
        <p:sp>
          <p:nvSpPr>
            <p:cNvPr id="18447" name="Oval 15"/>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ln>
            <a:effectLst/>
          </p:spPr>
          <p:txBody>
            <a:bodyPr vert="eaVert" wrap="none" anchor="ctr"/>
            <a:lstStyle/>
            <a:p>
              <a:pPr eaLnBrk="1" hangingPunct="1">
                <a:defRPr/>
              </a:pPr>
              <a:endParaRPr lang="zh-CN" altLang="en-US">
                <a:latin typeface="Arial" panose="020B0704020202020204" pitchFamily="34" charset="0"/>
                <a:ea typeface="宋体" pitchFamily="2" charset="-122"/>
              </a:endParaRPr>
            </a:p>
          </p:txBody>
        </p:sp>
        <p:sp>
          <p:nvSpPr>
            <p:cNvPr id="18448" name="Oval 16"/>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ln>
            <a:effectLst/>
          </p:spPr>
          <p:txBody>
            <a:bodyPr vert="eaVert" wrap="none" anchor="ctr"/>
            <a:lstStyle/>
            <a:p>
              <a:pPr eaLnBrk="1" hangingPunct="1">
                <a:defRPr/>
              </a:pPr>
              <a:endParaRPr lang="zh-CN" altLang="en-US">
                <a:latin typeface="Arial" panose="020B0704020202020204" pitchFamily="34" charset="0"/>
                <a:ea typeface="宋体" pitchFamily="2" charset="-122"/>
              </a:endParaRPr>
            </a:p>
          </p:txBody>
        </p:sp>
        <p:sp>
          <p:nvSpPr>
            <p:cNvPr id="18449" name="Oval 17"/>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ln>
            <a:effectLst/>
          </p:spPr>
          <p:txBody>
            <a:bodyPr vert="eaVert" wrap="none" anchor="ctr"/>
            <a:lstStyle/>
            <a:p>
              <a:pPr eaLnBrk="1" hangingPunct="1">
                <a:defRPr/>
              </a:pPr>
              <a:endParaRPr lang="zh-CN" altLang="en-US">
                <a:latin typeface="Arial" panose="020B0704020202020204" pitchFamily="34" charset="0"/>
                <a:ea typeface="宋体" pitchFamily="2" charset="-122"/>
              </a:endParaRPr>
            </a:p>
          </p:txBody>
        </p:sp>
      </p:grpSp>
      <p:sp>
        <p:nvSpPr>
          <p:cNvPr id="5131" name="Text Box 18"/>
          <p:cNvSpPr txBox="1">
            <a:spLocks noChangeArrowheads="1"/>
          </p:cNvSpPr>
          <p:nvPr/>
        </p:nvSpPr>
        <p:spPr bwMode="auto">
          <a:xfrm>
            <a:off x="5087939" y="1700213"/>
            <a:ext cx="2160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algn="ctr">
              <a:spcBef>
                <a:spcPct val="0"/>
              </a:spcBef>
              <a:buFontTx/>
              <a:buNone/>
            </a:pPr>
            <a:r>
              <a:rPr lang="zh-CN" altLang="en-US" sz="2400" b="1">
                <a:solidFill>
                  <a:srgbClr val="000000"/>
                </a:solidFill>
                <a:latin typeface="Arial" panose="020B0704020202020204" pitchFamily="34" charset="0"/>
              </a:rPr>
              <a:t>有限状态机</a:t>
            </a:r>
            <a:endParaRPr lang="zh-CN" altLang="en-US" sz="1400">
              <a:solidFill>
                <a:srgbClr val="000000"/>
              </a:solidFill>
              <a:latin typeface="Arial" panose="020B07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a:p>
        </p:txBody>
      </p:sp>
      <p:sp>
        <p:nvSpPr>
          <p:cNvPr id="6147" name="内容占位符 2"/>
          <p:cNvSpPr>
            <a:spLocks noGrp="1"/>
          </p:cNvSpPr>
          <p:nvPr>
            <p:ph idx="1"/>
          </p:nvPr>
        </p:nvSpPr>
        <p:spPr/>
        <p:txBody>
          <a:bodyPr/>
          <a:lstStyle/>
          <a:p>
            <a:pPr algn="ctr" eaLnBrk="1" hangingPunct="1"/>
            <a:r>
              <a:rPr lang="en-US" altLang="zh-CN" sz="4800">
                <a:latin typeface="Times New Roman" panose="02020603050405020304" charset="0"/>
                <a:cs typeface="Times New Roman" panose="02020603050405020304" charset="0"/>
              </a:rPr>
              <a:t>Flow Graph</a:t>
            </a:r>
            <a:r>
              <a:rPr lang="zh-CN" altLang="en-US" sz="4800">
                <a:latin typeface="Times New Roman" panose="02020603050405020304" charset="0"/>
                <a:cs typeface="Times New Roman" panose="02020603050405020304" charset="0"/>
              </a:rPr>
              <a:t>（流程图）</a:t>
            </a:r>
            <a:endParaRPr lang="en-US" altLang="zh-CN" sz="4800">
              <a:latin typeface="Times New Roman" panose="02020603050405020304" charset="0"/>
              <a:cs typeface="Times New Roman" panose="02020603050405020304" charset="0"/>
            </a:endParaRPr>
          </a:p>
          <a:p>
            <a:pPr algn="ctr" eaLnBrk="1" hangingPunct="1"/>
            <a:r>
              <a:rPr lang="en-US" altLang="zh-CN" sz="4800">
                <a:latin typeface="Times New Roman" panose="02020603050405020304" charset="0"/>
                <a:cs typeface="Times New Roman" panose="02020603050405020304" charset="0"/>
              </a:rPr>
              <a:t>State machine</a:t>
            </a:r>
            <a:r>
              <a:rPr lang="zh-CN" altLang="en-US" sz="4800">
                <a:latin typeface="Times New Roman" panose="02020603050405020304" charset="0"/>
                <a:cs typeface="Times New Roman" panose="02020603050405020304" charset="0"/>
              </a:rPr>
              <a:t>（状态机）</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1524000" y="274639"/>
            <a:ext cx="9144000" cy="796925"/>
          </a:xfrm>
        </p:spPr>
        <p:txBody>
          <a:bodyPr/>
          <a:lstStyle/>
          <a:p>
            <a:pPr eaLnBrk="1" hangingPunct="1"/>
            <a:r>
              <a:rPr lang="en-US" altLang="zh-CN" sz="4000"/>
              <a:t>Junction(</a:t>
            </a:r>
            <a:r>
              <a:rPr lang="zh-CN" altLang="en-US" sz="4000"/>
              <a:t>节点</a:t>
            </a:r>
            <a:r>
              <a:rPr lang="en-US" altLang="zh-CN" sz="4000"/>
              <a:t>) , transition, condition and action</a:t>
            </a:r>
            <a:endParaRPr lang="zh-CN" altLang="en-US" sz="4000"/>
          </a:p>
        </p:txBody>
      </p:sp>
      <p:pic>
        <p:nvPicPr>
          <p:cNvPr id="1024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6" y="1268413"/>
            <a:ext cx="5072063"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ChangeArrowheads="1"/>
          </p:cNvSpPr>
          <p:nvPr/>
        </p:nvSpPr>
        <p:spPr bwMode="auto">
          <a:xfrm>
            <a:off x="6853239" y="1412876"/>
            <a:ext cx="3635375"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1800" b="1">
                <a:solidFill>
                  <a:schemeClr val="tx2"/>
                </a:solidFill>
                <a:latin typeface="Arial" panose="020B0704020202020204" pitchFamily="34" charset="0"/>
              </a:rPr>
              <a:t>Example</a:t>
            </a:r>
            <a:r>
              <a:rPr lang="zh-CN" altLang="en-US" sz="1800" b="1">
                <a:solidFill>
                  <a:schemeClr val="tx2"/>
                </a:solidFill>
                <a:latin typeface="Arial" panose="020B0704020202020204" pitchFamily="34" charset="0"/>
              </a:rPr>
              <a:t>：</a:t>
            </a:r>
            <a:r>
              <a:rPr lang="en-US" altLang="zh-CN" sz="1800" b="1">
                <a:solidFill>
                  <a:schemeClr val="tx2"/>
                </a:solidFill>
                <a:latin typeface="Arial" panose="020B0704020202020204" pitchFamily="34" charset="0"/>
              </a:rPr>
              <a:t>checkData.mdl</a:t>
            </a:r>
          </a:p>
          <a:p>
            <a:pPr eaLnBrk="1" hangingPunct="1">
              <a:spcBef>
                <a:spcPct val="0"/>
              </a:spcBef>
              <a:buFontTx/>
              <a:buNone/>
            </a:pPr>
            <a:r>
              <a:rPr lang="en-US" altLang="zh-CN" sz="1800">
                <a:latin typeface="Arial" panose="020B0704020202020204" pitchFamily="34" charset="0"/>
              </a:rPr>
              <a:t>if  failflag</a:t>
            </a:r>
          </a:p>
          <a:p>
            <a:pPr eaLnBrk="1" hangingPunct="1">
              <a:spcBef>
                <a:spcPct val="0"/>
              </a:spcBef>
              <a:buFontTx/>
              <a:buNone/>
            </a:pPr>
            <a:r>
              <a:rPr lang="en-US" altLang="zh-CN" sz="1800">
                <a:latin typeface="Arial" panose="020B0704020202020204" pitchFamily="34" charset="0"/>
              </a:rPr>
              <a:t>    count=1</a:t>
            </a:r>
          </a:p>
          <a:p>
            <a:pPr eaLnBrk="1" hangingPunct="1">
              <a:spcBef>
                <a:spcPct val="0"/>
              </a:spcBef>
              <a:buFontTx/>
              <a:buNone/>
            </a:pPr>
            <a:r>
              <a:rPr lang="en-US" altLang="zh-CN" sz="1800">
                <a:latin typeface="Arial" panose="020B0704020202020204" pitchFamily="34" charset="0"/>
              </a:rPr>
              <a:t>end</a:t>
            </a:r>
          </a:p>
          <a:p>
            <a:pPr eaLnBrk="1" hangingPunct="1">
              <a:spcBef>
                <a:spcPct val="0"/>
              </a:spcBef>
              <a:buFontTx/>
              <a:buNone/>
            </a:pPr>
            <a:r>
              <a:rPr lang="en-US" altLang="zh-CN" sz="1800">
                <a:latin typeface="Arial" panose="020B0704020202020204" pitchFamily="34" charset="0"/>
              </a:rPr>
              <a:t>if count&gt;0</a:t>
            </a:r>
          </a:p>
          <a:p>
            <a:pPr eaLnBrk="1" hangingPunct="1">
              <a:spcBef>
                <a:spcPct val="0"/>
              </a:spcBef>
              <a:buFontTx/>
              <a:buNone/>
            </a:pPr>
            <a:r>
              <a:rPr lang="en-US" altLang="zh-CN" sz="1800">
                <a:latin typeface="Arial" panose="020B0704020202020204" pitchFamily="34" charset="0"/>
              </a:rPr>
              <a:t>        out=0</a:t>
            </a:r>
          </a:p>
          <a:p>
            <a:pPr eaLnBrk="1" hangingPunct="1">
              <a:spcBef>
                <a:spcPct val="0"/>
              </a:spcBef>
              <a:buFontTx/>
              <a:buNone/>
            </a:pPr>
            <a:r>
              <a:rPr lang="en-US" altLang="zh-CN" sz="1800">
                <a:latin typeface="Arial" panose="020B0704020202020204" pitchFamily="34" charset="0"/>
              </a:rPr>
              <a:t>       if count==5</a:t>
            </a:r>
          </a:p>
          <a:p>
            <a:pPr eaLnBrk="1" hangingPunct="1">
              <a:spcBef>
                <a:spcPct val="0"/>
              </a:spcBef>
              <a:buFontTx/>
              <a:buNone/>
            </a:pPr>
            <a:r>
              <a:rPr lang="en-US" altLang="zh-CN" sz="1800">
                <a:latin typeface="Arial" panose="020B0704020202020204" pitchFamily="34" charset="0"/>
              </a:rPr>
              <a:t>           count=0</a:t>
            </a:r>
          </a:p>
          <a:p>
            <a:pPr eaLnBrk="1" hangingPunct="1">
              <a:spcBef>
                <a:spcPct val="0"/>
              </a:spcBef>
              <a:buFontTx/>
              <a:buNone/>
            </a:pPr>
            <a:r>
              <a:rPr lang="en-US" altLang="zh-CN" sz="1800">
                <a:latin typeface="Arial" panose="020B0704020202020204" pitchFamily="34" charset="0"/>
              </a:rPr>
              <a:t>       else</a:t>
            </a:r>
          </a:p>
          <a:p>
            <a:pPr eaLnBrk="1" hangingPunct="1">
              <a:spcBef>
                <a:spcPct val="0"/>
              </a:spcBef>
              <a:buFontTx/>
              <a:buNone/>
            </a:pPr>
            <a:r>
              <a:rPr lang="en-US" altLang="zh-CN" sz="1800">
                <a:latin typeface="Arial" panose="020B0704020202020204" pitchFamily="34" charset="0"/>
              </a:rPr>
              <a:t>           count=count+1</a:t>
            </a:r>
          </a:p>
          <a:p>
            <a:pPr eaLnBrk="1" hangingPunct="1">
              <a:spcBef>
                <a:spcPct val="0"/>
              </a:spcBef>
              <a:buFontTx/>
              <a:buNone/>
            </a:pPr>
            <a:r>
              <a:rPr lang="en-US" altLang="zh-CN" sz="1800">
                <a:latin typeface="Arial" panose="020B0704020202020204" pitchFamily="34" charset="0"/>
              </a:rPr>
              <a:t>       end</a:t>
            </a:r>
          </a:p>
          <a:p>
            <a:pPr eaLnBrk="1" hangingPunct="1">
              <a:spcBef>
                <a:spcPct val="0"/>
              </a:spcBef>
              <a:buFontTx/>
              <a:buNone/>
            </a:pPr>
            <a:r>
              <a:rPr lang="en-US" altLang="zh-CN" sz="1800">
                <a:latin typeface="Arial" panose="020B0704020202020204" pitchFamily="34" charset="0"/>
              </a:rPr>
              <a:t>else</a:t>
            </a:r>
          </a:p>
          <a:p>
            <a:pPr eaLnBrk="1" hangingPunct="1">
              <a:spcBef>
                <a:spcPct val="0"/>
              </a:spcBef>
              <a:buFontTx/>
              <a:buNone/>
            </a:pPr>
            <a:r>
              <a:rPr lang="en-US" altLang="zh-CN" sz="1800">
                <a:latin typeface="Arial" panose="020B0704020202020204" pitchFamily="34" charset="0"/>
              </a:rPr>
              <a:t>    out=data</a:t>
            </a:r>
          </a:p>
          <a:p>
            <a:pPr eaLnBrk="1" hangingPunct="1">
              <a:spcBef>
                <a:spcPct val="0"/>
              </a:spcBef>
              <a:buFontTx/>
              <a:buNone/>
            </a:pPr>
            <a:r>
              <a:rPr lang="en-US" altLang="zh-CN" sz="1800">
                <a:latin typeface="Arial" panose="020B0704020202020204" pitchFamily="34" charset="0"/>
              </a:rPr>
              <a:t>end</a:t>
            </a:r>
          </a:p>
          <a:p>
            <a:pPr eaLnBrk="1" hangingPunct="1">
              <a:spcBef>
                <a:spcPct val="0"/>
              </a:spcBef>
              <a:buFontTx/>
              <a:buNone/>
            </a:pPr>
            <a:endParaRPr lang="zh-CN" altLang="en-US" sz="1800">
              <a:latin typeface="Arial" panose="020B07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a:xfrm>
            <a:off x="1981200" y="274639"/>
            <a:ext cx="8229600" cy="796925"/>
          </a:xfrm>
        </p:spPr>
        <p:txBody>
          <a:bodyPr/>
          <a:lstStyle/>
          <a:p>
            <a:r>
              <a:rPr lang="en-US" altLang="zh-CN"/>
              <a:t>State labeling syntax</a:t>
            </a:r>
            <a:endParaRPr lang="zh-CN" alt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8025" y="1193800"/>
            <a:ext cx="215265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208214" y="2551114"/>
            <a:ext cx="7704137" cy="3146425"/>
          </a:xfrm>
          <a:prstGeom prst="rect">
            <a:avLst/>
          </a:prstGeom>
        </p:spPr>
        <p:txBody>
          <a:bodyPr>
            <a:spAutoFit/>
          </a:bodyPr>
          <a:lstStyle/>
          <a:p>
            <a:pPr marL="342900" indent="-342900" algn="just">
              <a:spcBef>
                <a:spcPct val="20000"/>
              </a:spcBef>
              <a:buFont typeface="Arial" panose="020B0704020202020204" pitchFamily="34" charset="0"/>
              <a:buChar char="•"/>
              <a:defRPr/>
            </a:pPr>
            <a:r>
              <a:rPr lang="en-US" altLang="zh-CN" sz="3200" dirty="0"/>
              <a:t>exit actions are executed when a state is active and a transition out of the state occurs.</a:t>
            </a:r>
          </a:p>
          <a:p>
            <a:pPr marL="342900" indent="-342900" algn="just">
              <a:spcBef>
                <a:spcPct val="20000"/>
              </a:spcBef>
              <a:buFont typeface="Arial" panose="020B0704020202020204" pitchFamily="34" charset="0"/>
              <a:buChar char="•"/>
              <a:defRPr/>
            </a:pPr>
            <a:r>
              <a:rPr lang="en-US" altLang="zh-CN" sz="3200" dirty="0"/>
              <a:t>during actions are executed when a state is active, an event occurs, and no valid transition to another state is available.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en-US" altLang="zh-CN"/>
              <a:t>Semantics of a state transition</a:t>
            </a:r>
            <a:endParaRPr lang="zh-CN" altLang="en-US"/>
          </a:p>
        </p:txBody>
      </p:sp>
      <p:sp>
        <p:nvSpPr>
          <p:cNvPr id="54275" name="内容占位符 2"/>
          <p:cNvSpPr>
            <a:spLocks noGrp="1"/>
          </p:cNvSpPr>
          <p:nvPr>
            <p:ph idx="1"/>
          </p:nvPr>
        </p:nvSpPr>
        <p:spPr>
          <a:xfrm>
            <a:off x="1981200" y="1196975"/>
            <a:ext cx="8229600" cy="2000250"/>
          </a:xfrm>
        </p:spPr>
        <p:txBody>
          <a:bodyPr/>
          <a:lstStyle/>
          <a:p>
            <a:r>
              <a:rPr lang="en-US" altLang="zh-CN"/>
              <a:t>If we start A and </a:t>
            </a:r>
            <a:r>
              <a:rPr lang="en-US" altLang="zh-CN">
                <a:latin typeface="Courier New" panose="02070609020205020404" pitchFamily="49" charset="0"/>
                <a:cs typeface="Courier New" panose="02070609020205020404" pitchFamily="49" charset="0"/>
              </a:rPr>
              <a:t>cond1</a:t>
            </a:r>
            <a:r>
              <a:rPr lang="en-US" altLang="zh-CN"/>
              <a:t> is true and </a:t>
            </a:r>
            <a:r>
              <a:rPr lang="en-US" altLang="zh-CN">
                <a:latin typeface="Courier New" panose="02070609020205020404" pitchFamily="49" charset="0"/>
                <a:cs typeface="Courier New" panose="02070609020205020404" pitchFamily="49" charset="0"/>
              </a:rPr>
              <a:t>cond2</a:t>
            </a:r>
            <a:r>
              <a:rPr lang="en-US" altLang="zh-CN"/>
              <a:t> is false , in what order are the actions executed?</a:t>
            </a:r>
          </a:p>
          <a:p>
            <a:r>
              <a:rPr lang="en-US" altLang="zh-CN">
                <a:latin typeface="Courier New" panose="02070609020205020404" pitchFamily="49" charset="0"/>
                <a:cs typeface="Courier New" panose="02070609020205020404" pitchFamily="49" charset="0"/>
              </a:rPr>
              <a:t>act4,act5,act1,act6,act2</a:t>
            </a:r>
          </a:p>
          <a:p>
            <a:r>
              <a:rPr lang="zh-CN" altLang="en-US">
                <a:latin typeface="Courier New" panose="02070609020205020404" pitchFamily="49" charset="0"/>
                <a:cs typeface="Courier New" panose="02070609020205020404" pitchFamily="49" charset="0"/>
              </a:rPr>
              <a:t>注意</a:t>
            </a:r>
            <a:r>
              <a:rPr lang="en-US" altLang="zh-CN">
                <a:latin typeface="Courier New" panose="02070609020205020404" pitchFamily="49" charset="0"/>
                <a:cs typeface="Courier New" panose="02070609020205020404" pitchFamily="49" charset="0"/>
              </a:rPr>
              <a:t>during</a:t>
            </a:r>
            <a:r>
              <a:rPr lang="zh-CN" altLang="en-US">
                <a:latin typeface="Courier New" panose="02070609020205020404" pitchFamily="49" charset="0"/>
                <a:cs typeface="Courier New" panose="02070609020205020404" pitchFamily="49" charset="0"/>
              </a:rPr>
              <a:t>和</a:t>
            </a:r>
            <a:r>
              <a:rPr lang="en-US" altLang="zh-CN">
                <a:latin typeface="Courier New" panose="02070609020205020404" pitchFamily="49" charset="0"/>
                <a:cs typeface="Courier New" panose="02070609020205020404" pitchFamily="49" charset="0"/>
              </a:rPr>
              <a:t>exit</a:t>
            </a:r>
            <a:r>
              <a:rPr lang="zh-CN" altLang="en-US">
                <a:latin typeface="Courier New" panose="02070609020205020404" pitchFamily="49" charset="0"/>
                <a:cs typeface="Courier New" panose="02070609020205020404" pitchFamily="49" charset="0"/>
              </a:rPr>
              <a:t>的语义</a:t>
            </a:r>
          </a:p>
        </p:txBody>
      </p:sp>
      <p:pic>
        <p:nvPicPr>
          <p:cNvPr id="819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7214" y="3429000"/>
            <a:ext cx="8358187"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anim calcmode="lin" valueType="num">
                                      <p:cBhvr additive="base">
                                        <p:cTn id="7"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275">
                                            <p:txEl>
                                              <p:pRg st="2" end="2"/>
                                            </p:txEl>
                                          </p:spTgt>
                                        </p:tgtEl>
                                        <p:attrNameLst>
                                          <p:attrName>style.visibility</p:attrName>
                                        </p:attrNameLst>
                                      </p:cBhvr>
                                      <p:to>
                                        <p:strVal val="visible"/>
                                      </p:to>
                                    </p:set>
                                    <p:anim calcmode="lin" valueType="num">
                                      <p:cBhvr additive="base">
                                        <p:cTn id="13"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en-US" altLang="zh-CN"/>
              <a:t>Behavior of an inner flow graph</a:t>
            </a:r>
            <a:br>
              <a:rPr lang="en-US" altLang="zh-CN"/>
            </a:br>
            <a:r>
              <a:rPr lang="en-US" altLang="zh-CN" b="1">
                <a:solidFill>
                  <a:schemeClr val="tx2"/>
                </a:solidFill>
              </a:rPr>
              <a:t>example</a:t>
            </a:r>
            <a:r>
              <a:rPr lang="zh-CN" altLang="en-US" b="1">
                <a:solidFill>
                  <a:schemeClr val="tx2"/>
                </a:solidFill>
              </a:rPr>
              <a:t>：</a:t>
            </a:r>
            <a:r>
              <a:rPr lang="en-US" altLang="zh-CN" b="1">
                <a:solidFill>
                  <a:schemeClr val="tx2"/>
                </a:solidFill>
              </a:rPr>
              <a:t>innerflow.mdl</a:t>
            </a:r>
            <a:endParaRPr lang="zh-CN" altLang="en-US" b="1">
              <a:solidFill>
                <a:schemeClr val="tx2"/>
              </a:solidFill>
            </a:endParaRPr>
          </a:p>
        </p:txBody>
      </p:sp>
      <p:pic>
        <p:nvPicPr>
          <p:cNvPr id="143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857376"/>
            <a:ext cx="6072188"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en-US" altLang="zh-CN"/>
              <a:t>Semantics of an inner flow graph</a:t>
            </a:r>
            <a:endParaRPr lang="zh-CN" altLang="en-US"/>
          </a:p>
        </p:txBody>
      </p:sp>
      <p:pic>
        <p:nvPicPr>
          <p:cNvPr id="1536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225" y="2252664"/>
            <a:ext cx="4000500"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Box 4"/>
          <p:cNvSpPr txBox="1">
            <a:spLocks noChangeArrowheads="1"/>
          </p:cNvSpPr>
          <p:nvPr/>
        </p:nvSpPr>
        <p:spPr bwMode="auto">
          <a:xfrm>
            <a:off x="6667500" y="3573464"/>
            <a:ext cx="4000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SzPct val="60000"/>
              <a:buFont typeface="Wingdings" panose="05000000000000000000" pitchFamily="2" charset="2"/>
              <a:buChar char="l"/>
            </a:pPr>
            <a:r>
              <a:rPr lang="en-US" altLang="zh-CN">
                <a:latin typeface="Arial" panose="020B0704020202020204" pitchFamily="34" charset="0"/>
              </a:rPr>
              <a:t>act1 before act3</a:t>
            </a:r>
          </a:p>
          <a:p>
            <a:pPr eaLnBrk="1" hangingPunct="1">
              <a:spcBef>
                <a:spcPct val="0"/>
              </a:spcBef>
              <a:buSzPct val="60000"/>
              <a:buFont typeface="Wingdings" panose="05000000000000000000" pitchFamily="2" charset="2"/>
              <a:buChar char="l"/>
            </a:pPr>
            <a:r>
              <a:rPr lang="en-US" altLang="zh-CN">
                <a:latin typeface="Arial" panose="020B0704020202020204" pitchFamily="34" charset="0"/>
              </a:rPr>
              <a:t>act2 before act4</a:t>
            </a:r>
            <a:endParaRPr lang="zh-CN" altLang="en-US">
              <a:latin typeface="Arial" panose="020B0704020202020204" pitchFamily="34" charset="0"/>
            </a:endParaRPr>
          </a:p>
        </p:txBody>
      </p:sp>
      <p:sp>
        <p:nvSpPr>
          <p:cNvPr id="2" name="矩形 1"/>
          <p:cNvSpPr/>
          <p:nvPr/>
        </p:nvSpPr>
        <p:spPr>
          <a:xfrm>
            <a:off x="2232025" y="1543051"/>
            <a:ext cx="7623434" cy="584775"/>
          </a:xfrm>
          <a:prstGeom prst="rect">
            <a:avLst/>
          </a:prstGeom>
        </p:spPr>
        <p:txBody>
          <a:bodyPr wrap="none">
            <a:spAutoFit/>
          </a:bodyPr>
          <a:lstStyle/>
          <a:p>
            <a:pPr marL="457200" indent="-457200">
              <a:buFont typeface="Arial" panose="020B0704020202020204" pitchFamily="34" charset="0"/>
              <a:buChar char="•"/>
              <a:defRPr/>
            </a:pPr>
            <a:r>
              <a:rPr lang="en-US" altLang="zh-CN" sz="3200" dirty="0"/>
              <a:t>First </a:t>
            </a:r>
            <a:r>
              <a:rPr lang="en-US" altLang="zh-CN" sz="3200" dirty="0">
                <a:latin typeface="Courier New" panose="02070609020205020404" pitchFamily="49" charset="0"/>
                <a:cs typeface="Courier New" panose="02070609020205020404" pitchFamily="49" charset="0"/>
              </a:rPr>
              <a:t>entry</a:t>
            </a:r>
            <a:r>
              <a:rPr lang="en-US" altLang="zh-CN" sz="3200" dirty="0"/>
              <a:t> action, then inner flow graph</a:t>
            </a:r>
            <a:endParaRPr lang="zh-CN" altLang="en-US" sz="3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631950" y="1"/>
            <a:ext cx="9036050" cy="777875"/>
          </a:xfrm>
        </p:spPr>
        <p:txBody>
          <a:bodyPr/>
          <a:lstStyle/>
          <a:p>
            <a:r>
              <a:rPr lang="en-US" altLang="zh-CN" sz="4000"/>
              <a:t>Semantics of a multilevel state transition</a:t>
            </a:r>
          </a:p>
        </p:txBody>
      </p:sp>
      <p:sp>
        <p:nvSpPr>
          <p:cNvPr id="28675" name="Content Placeholder 2"/>
          <p:cNvSpPr>
            <a:spLocks noGrp="1"/>
          </p:cNvSpPr>
          <p:nvPr>
            <p:ph idx="1"/>
          </p:nvPr>
        </p:nvSpPr>
        <p:spPr>
          <a:xfrm>
            <a:off x="2035175" y="777876"/>
            <a:ext cx="8229600" cy="4525963"/>
          </a:xfrm>
        </p:spPr>
        <p:txBody>
          <a:bodyPr/>
          <a:lstStyle/>
          <a:p>
            <a:r>
              <a:rPr lang="en-US" altLang="zh-CN" sz="2800" dirty="0"/>
              <a:t>Assume that A and  A1 are currently active. When cond1 is true, and cond2 is false. How to execute?</a:t>
            </a:r>
          </a:p>
          <a:p>
            <a:pPr lvl="1"/>
            <a:r>
              <a:rPr lang="en-US" altLang="zh-CN" sz="2400" dirty="0"/>
              <a:t>act1, actA4, actA2,actB2…</a:t>
            </a:r>
          </a:p>
          <a:p>
            <a:pPr lvl="1"/>
            <a:r>
              <a:rPr lang="zh-CN" altLang="en-US" sz="2400" dirty="0"/>
              <a:t>（</a:t>
            </a:r>
            <a:r>
              <a:rPr lang="en-US" altLang="zh-CN" sz="2400" dirty="0">
                <a:solidFill>
                  <a:srgbClr val="FF0000"/>
                </a:solidFill>
              </a:rPr>
              <a:t>A child state must exit if its parent state becomes inactive</a:t>
            </a:r>
            <a:r>
              <a:rPr lang="en-US" altLang="zh-CN" sz="2400" dirty="0"/>
              <a:t>.</a:t>
            </a:r>
            <a:r>
              <a:rPr lang="zh-CN" altLang="en-US" sz="2400" dirty="0"/>
              <a:t>）</a:t>
            </a:r>
            <a:endParaRPr lang="en-US" altLang="zh-CN" dirty="0"/>
          </a:p>
        </p:txBody>
      </p:sp>
      <p:pic>
        <p:nvPicPr>
          <p:cNvPr id="2867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9664" y="2924176"/>
            <a:ext cx="7540625" cy="38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en-US" altLang="zh-CN"/>
              <a:t>Example: climate control</a:t>
            </a:r>
            <a:endParaRPr lang="zh-CN" altLang="en-US"/>
          </a:p>
        </p:txBody>
      </p:sp>
      <p:sp>
        <p:nvSpPr>
          <p:cNvPr id="25603" name="内容占位符 2"/>
          <p:cNvSpPr>
            <a:spLocks noGrp="1"/>
          </p:cNvSpPr>
          <p:nvPr>
            <p:ph idx="1"/>
          </p:nvPr>
        </p:nvSpPr>
        <p:spPr>
          <a:xfrm>
            <a:off x="1524000" y="1428751"/>
            <a:ext cx="9144000" cy="4525963"/>
          </a:xfrm>
        </p:spPr>
        <p:txBody>
          <a:bodyPr/>
          <a:lstStyle/>
          <a:p>
            <a:r>
              <a:rPr lang="en-US" altLang="zh-CN" dirty="0"/>
              <a:t>input: </a:t>
            </a:r>
            <a:r>
              <a:rPr lang="en-US" altLang="zh-CN" dirty="0" err="1">
                <a:latin typeface="Courier New" panose="02070609020205020404" pitchFamily="49" charset="0"/>
                <a:cs typeface="Courier New" panose="02070609020205020404" pitchFamily="49" charset="0"/>
              </a:rPr>
              <a:t>T_des</a:t>
            </a:r>
            <a:r>
              <a:rPr lang="en-US" altLang="zh-CN" dirty="0">
                <a:latin typeface="Courier New" panose="02070609020205020404" pitchFamily="49" charset="0"/>
                <a:cs typeface="Courier New" panose="02070609020205020404" pitchFamily="49" charset="0"/>
              </a:rPr>
              <a:t>, T, power</a:t>
            </a:r>
          </a:p>
          <a:p>
            <a:r>
              <a:rPr lang="en-US" altLang="zh-CN" dirty="0"/>
              <a:t>Output: </a:t>
            </a:r>
            <a:r>
              <a:rPr lang="en-US" altLang="zh-CN" dirty="0">
                <a:latin typeface="Courier New" panose="02070609020205020404" pitchFamily="49" charset="0"/>
                <a:cs typeface="Courier New" panose="02070609020205020404" pitchFamily="49" charset="0"/>
              </a:rPr>
              <a:t>heat input</a:t>
            </a:r>
          </a:p>
          <a:p>
            <a:r>
              <a:rPr lang="en-US" altLang="zh-CN" dirty="0"/>
              <a:t>Parameters:</a:t>
            </a:r>
            <a:r>
              <a:rPr lang="en-US" altLang="zh-CN" dirty="0">
                <a:latin typeface="Courier New" panose="02070609020205020404" pitchFamily="49" charset="0"/>
                <a:cs typeface="Courier New" panose="02070609020205020404" pitchFamily="49" charset="0"/>
              </a:rPr>
              <a:t> dT</a:t>
            </a:r>
          </a:p>
          <a:p>
            <a:pPr>
              <a:buFont typeface="Arial" panose="020B0704020202020204" pitchFamily="34" charset="0"/>
              <a:buNone/>
            </a:pPr>
            <a:r>
              <a:rPr lang="en-US" altLang="zh-CN" dirty="0">
                <a:latin typeface="Courier New" panose="02070609020205020404" pitchFamily="49" charset="0"/>
                <a:cs typeface="Courier New" panose="02070609020205020404" pitchFamily="49" charset="0"/>
              </a:rPr>
              <a:t>If(power==1)</a:t>
            </a:r>
          </a:p>
          <a:p>
            <a:pPr>
              <a:buFont typeface="Arial" panose="020B0704020202020204" pitchFamily="34" charset="0"/>
              <a:buNone/>
            </a:pPr>
            <a:r>
              <a:rPr lang="en-US" altLang="zh-CN" dirty="0">
                <a:latin typeface="Courier New" panose="02070609020205020404" pitchFamily="49" charset="0"/>
                <a:cs typeface="Courier New" panose="02070609020205020404" pitchFamily="49" charset="0"/>
              </a:rPr>
              <a:t>	heater maintains normal operation</a:t>
            </a:r>
          </a:p>
          <a:p>
            <a:pPr>
              <a:buFont typeface="Arial" panose="020B0704020202020204" pitchFamily="34" charset="0"/>
              <a:buNone/>
            </a:pPr>
            <a:r>
              <a:rPr lang="en-US" altLang="zh-CN" dirty="0">
                <a:latin typeface="Courier New" panose="02070609020205020404" pitchFamily="49" charset="0"/>
                <a:cs typeface="Courier New" panose="02070609020205020404" pitchFamily="49" charset="0"/>
              </a:rPr>
              <a:t>else if (power=0)</a:t>
            </a:r>
          </a:p>
          <a:p>
            <a:pPr>
              <a:buFont typeface="Arial" panose="020B0704020202020204" pitchFamily="34" charset="0"/>
              <a:buNone/>
            </a:pPr>
            <a:r>
              <a:rPr lang="en-US" altLang="zh-CN" dirty="0">
                <a:latin typeface="Courier New" panose="02070609020205020404" pitchFamily="49" charset="0"/>
                <a:cs typeface="Courier New" panose="02070609020205020404" pitchFamily="49" charset="0"/>
              </a:rPr>
              <a:t>  heat input=0;</a:t>
            </a:r>
          </a:p>
          <a:p>
            <a:pPr>
              <a:buFont typeface="Arial" panose="020B0704020202020204" pitchFamily="34" charset="0"/>
              <a:buNone/>
            </a:pPr>
            <a:r>
              <a:rPr lang="en-US" altLang="zh-CN" dirty="0">
                <a:latin typeface="Courier New" panose="02070609020205020404" pitchFamily="49" charset="0"/>
                <a:cs typeface="Courier New" panose="02070609020205020404" pitchFamily="49" charset="0"/>
              </a:rPr>
              <a:t>end</a:t>
            </a:r>
            <a:endParaRPr lang="zh-CN" altLang="en-US" dirty="0">
              <a:latin typeface="Courier New" panose="02070609020205020404" pitchFamily="49" charset="0"/>
              <a:cs typeface="Courier New" panose="02070609020205020404" pitchFamily="49"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endParaRPr lang="zh-CN" altLang="en-US"/>
          </a:p>
        </p:txBody>
      </p:sp>
      <p:pic>
        <p:nvPicPr>
          <p:cNvPr id="266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314" y="1785939"/>
            <a:ext cx="7661275" cy="407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1976438" y="63501"/>
            <a:ext cx="8229600" cy="796925"/>
          </a:xfrm>
        </p:spPr>
        <p:txBody>
          <a:bodyPr/>
          <a:lstStyle/>
          <a:p>
            <a:r>
              <a:rPr lang="en-US" altLang="zh-CN"/>
              <a:t>Creating superstates and substates</a:t>
            </a:r>
            <a:endParaRPr lang="zh-CN" altLang="en-US"/>
          </a:p>
        </p:txBody>
      </p:sp>
      <p:sp>
        <p:nvSpPr>
          <p:cNvPr id="27651" name="内容占位符 2"/>
          <p:cNvSpPr>
            <a:spLocks noGrp="1"/>
          </p:cNvSpPr>
          <p:nvPr>
            <p:ph idx="1"/>
          </p:nvPr>
        </p:nvSpPr>
        <p:spPr>
          <a:xfrm>
            <a:off x="1674814" y="793751"/>
            <a:ext cx="8531225" cy="1547813"/>
          </a:xfrm>
        </p:spPr>
        <p:txBody>
          <a:bodyPr/>
          <a:lstStyle/>
          <a:p>
            <a:r>
              <a:rPr lang="en-US" altLang="zh-CN" sz="2800"/>
              <a:t>Resize the superstate such that all its substates can fit within its boundary</a:t>
            </a:r>
          </a:p>
          <a:p>
            <a:r>
              <a:rPr lang="en-US" altLang="zh-CN" sz="2800"/>
              <a:t>Click right, select: </a:t>
            </a:r>
            <a:r>
              <a:rPr lang="en-US" altLang="zh-CN" sz="2800" b="1"/>
              <a:t>Group&amp;Subchart-&gt;Grouped</a:t>
            </a:r>
            <a:endParaRPr lang="zh-CN" altLang="en-US" sz="2800" b="1"/>
          </a:p>
        </p:txBody>
      </p:sp>
      <p:pic>
        <p:nvPicPr>
          <p:cNvPr id="276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538" y="2405064"/>
            <a:ext cx="65722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538" y="3690938"/>
            <a:ext cx="67437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9588" y="5264151"/>
            <a:ext cx="67818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箭头连接符 7"/>
          <p:cNvCxnSpPr/>
          <p:nvPr/>
        </p:nvCxnSpPr>
        <p:spPr>
          <a:xfrm rot="10800000" flipV="1">
            <a:off x="8548688" y="2479676"/>
            <a:ext cx="785812" cy="5000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56" name="TextBox 8"/>
          <p:cNvSpPr txBox="1">
            <a:spLocks noChangeArrowheads="1"/>
          </p:cNvSpPr>
          <p:nvPr/>
        </p:nvSpPr>
        <p:spPr bwMode="auto">
          <a:xfrm>
            <a:off x="9334501" y="2227264"/>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1800">
                <a:latin typeface="Arial" panose="020B0704020202020204" pitchFamily="34" charset="0"/>
              </a:rPr>
              <a:t>SM</a:t>
            </a:r>
            <a:endParaRPr lang="zh-CN" altLang="en-US" sz="1800">
              <a:latin typeface="Arial" panose="020B0704020202020204" pitchFamily="34" charset="0"/>
            </a:endParaRPr>
          </a:p>
        </p:txBody>
      </p:sp>
      <p:cxnSp>
        <p:nvCxnSpPr>
          <p:cNvPr id="10" name="直接箭头连接符 9"/>
          <p:cNvCxnSpPr/>
          <p:nvPr/>
        </p:nvCxnSpPr>
        <p:spPr>
          <a:xfrm rot="10800000" flipV="1">
            <a:off x="8561389" y="3595688"/>
            <a:ext cx="784225" cy="50006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58" name="TextBox 10"/>
          <p:cNvSpPr txBox="1">
            <a:spLocks noChangeArrowheads="1"/>
          </p:cNvSpPr>
          <p:nvPr/>
        </p:nvSpPr>
        <p:spPr bwMode="auto">
          <a:xfrm>
            <a:off x="9191626" y="3154364"/>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1800">
                <a:latin typeface="Arial" panose="020B0704020202020204" pitchFamily="34" charset="0"/>
              </a:rPr>
              <a:t>ungrouped</a:t>
            </a:r>
            <a:endParaRPr lang="zh-CN" altLang="en-US" sz="1800">
              <a:latin typeface="Arial" panose="020B0704020202020204" pitchFamily="34" charset="0"/>
            </a:endParaRPr>
          </a:p>
        </p:txBody>
      </p:sp>
      <p:cxnSp>
        <p:nvCxnSpPr>
          <p:cNvPr id="12" name="直接箭头连接符 11"/>
          <p:cNvCxnSpPr/>
          <p:nvPr/>
        </p:nvCxnSpPr>
        <p:spPr>
          <a:xfrm rot="10800000" flipV="1">
            <a:off x="8582026" y="5487988"/>
            <a:ext cx="785813" cy="50006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60" name="TextBox 12"/>
          <p:cNvSpPr txBox="1">
            <a:spLocks noChangeArrowheads="1"/>
          </p:cNvSpPr>
          <p:nvPr/>
        </p:nvSpPr>
        <p:spPr bwMode="auto">
          <a:xfrm>
            <a:off x="9107488" y="4841876"/>
            <a:ext cx="1357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1800">
                <a:latin typeface="Arial" panose="020B0704020202020204" pitchFamily="34" charset="0"/>
              </a:rPr>
              <a:t>Grouped</a:t>
            </a:r>
          </a:p>
          <a:p>
            <a:pPr eaLnBrk="1" hangingPunct="1">
              <a:spcBef>
                <a:spcPct val="0"/>
              </a:spcBef>
              <a:buFontTx/>
              <a:buNone/>
            </a:pPr>
            <a:r>
              <a:rPr lang="en-US" altLang="zh-CN" sz="1800">
                <a:latin typeface="Arial" panose="020B0704020202020204" pitchFamily="34" charset="0"/>
              </a:rPr>
              <a:t>states</a:t>
            </a:r>
            <a:endParaRPr lang="zh-CN" altLang="en-US" sz="1800">
              <a:latin typeface="Arial" panose="020B07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en-US" altLang="zh-CN"/>
              <a:t>Designating default substates</a:t>
            </a:r>
            <a:endParaRPr lang="zh-CN" altLang="en-US"/>
          </a:p>
        </p:txBody>
      </p:sp>
      <p:sp>
        <p:nvSpPr>
          <p:cNvPr id="28675" name="TextBox 8"/>
          <p:cNvSpPr txBox="1">
            <a:spLocks noChangeArrowheads="1"/>
          </p:cNvSpPr>
          <p:nvPr/>
        </p:nvSpPr>
        <p:spPr bwMode="auto">
          <a:xfrm>
            <a:off x="1952626" y="1285875"/>
            <a:ext cx="72866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2800">
                <a:latin typeface="Arial" panose="020B0704020202020204" pitchFamily="34" charset="0"/>
              </a:rPr>
              <a:t>Default states should be define at every level of hierarchy</a:t>
            </a:r>
            <a:endParaRPr lang="zh-CN" altLang="en-US" sz="2800">
              <a:latin typeface="Arial" panose="020B0704020202020204" pitchFamily="34" charset="0"/>
            </a:endParaRPr>
          </a:p>
        </p:txBody>
      </p:sp>
      <p:pic>
        <p:nvPicPr>
          <p:cNvPr id="2867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2205039"/>
            <a:ext cx="7010400"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箭头连接符 5"/>
          <p:cNvCxnSpPr/>
          <p:nvPr/>
        </p:nvCxnSpPr>
        <p:spPr>
          <a:xfrm>
            <a:off x="4667250" y="2000251"/>
            <a:ext cx="928688" cy="42862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rot="16200000" flipH="1">
            <a:off x="4560094" y="2107406"/>
            <a:ext cx="1143000" cy="9286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4310063" y="4500563"/>
            <a:ext cx="1643062" cy="1143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680" name="TextBox 13"/>
          <p:cNvSpPr txBox="1">
            <a:spLocks noChangeArrowheads="1"/>
          </p:cNvSpPr>
          <p:nvPr/>
        </p:nvSpPr>
        <p:spPr bwMode="auto">
          <a:xfrm>
            <a:off x="2024064" y="5786438"/>
            <a:ext cx="80724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FontTx/>
              <a:buNone/>
            </a:pPr>
            <a:r>
              <a:rPr lang="en-US" altLang="zh-CN" sz="2400">
                <a:latin typeface="Arial" panose="020B0704020202020204" pitchFamily="34" charset="0"/>
              </a:rPr>
              <a:t>You can override default substates using supertransitions that go directly to a substate.</a:t>
            </a:r>
            <a:endParaRPr lang="zh-CN" altLang="en-US" sz="2400">
              <a:latin typeface="Arial" panose="020B070402020202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1952625" y="0"/>
            <a:ext cx="8229600" cy="725488"/>
          </a:xfrm>
        </p:spPr>
        <p:txBody>
          <a:bodyPr/>
          <a:lstStyle/>
          <a:p>
            <a:r>
              <a:rPr lang="en-US" altLang="zh-CN"/>
              <a:t>Creating a subchart</a:t>
            </a:r>
            <a:endParaRPr lang="zh-CN" altLang="en-US"/>
          </a:p>
        </p:txBody>
      </p:sp>
      <p:pic>
        <p:nvPicPr>
          <p:cNvPr id="2969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3401" y="2290764"/>
            <a:ext cx="6962775"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7664" y="4533900"/>
            <a:ext cx="258127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内容占位符 2"/>
          <p:cNvSpPr>
            <a:spLocks noGrp="1"/>
          </p:cNvSpPr>
          <p:nvPr>
            <p:ph idx="1"/>
          </p:nvPr>
        </p:nvSpPr>
        <p:spPr>
          <a:xfrm>
            <a:off x="2063750" y="715964"/>
            <a:ext cx="8229600" cy="1704975"/>
          </a:xfrm>
        </p:spPr>
        <p:txBody>
          <a:bodyPr/>
          <a:lstStyle/>
          <a:p>
            <a:r>
              <a:rPr lang="en-US" altLang="zh-CN"/>
              <a:t>Right-click the state to open its context menu</a:t>
            </a:r>
          </a:p>
          <a:p>
            <a:r>
              <a:rPr lang="en-US" altLang="zh-CN"/>
              <a:t>Select </a:t>
            </a:r>
            <a:r>
              <a:rPr lang="en-US" altLang="zh-CN" b="1"/>
              <a:t>Group&amp;Subchart</a:t>
            </a:r>
            <a:r>
              <a:rPr lang="en-US" altLang="zh-CN" b="1">
                <a:sym typeface="Symbol" panose="05050102010706020507" pitchFamily="18" charset="2"/>
              </a:rPr>
              <a:t>Subcharted</a:t>
            </a:r>
          </a:p>
          <a:p>
            <a:r>
              <a:rPr lang="en-US" altLang="zh-CN" b="1">
                <a:sym typeface="Symbol" panose="05050102010706020507" pitchFamily="18" charset="2"/>
              </a:rPr>
              <a:t>Example: </a:t>
            </a:r>
            <a:r>
              <a:rPr lang="en-US" altLang="zh-CN" b="1">
                <a:solidFill>
                  <a:schemeClr val="tx2"/>
                </a:solidFill>
                <a:sym typeface="Symbol" panose="05050102010706020507" pitchFamily="18" charset="2"/>
              </a:rPr>
              <a:t>acHierarchical.mdl</a:t>
            </a:r>
            <a:endParaRPr lang="zh-CN" altLang="en-US" b="1">
              <a:solidFill>
                <a:schemeClr val="tx2"/>
              </a:solidFill>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2024063" y="1"/>
            <a:ext cx="8229600" cy="796925"/>
          </a:xfrm>
        </p:spPr>
        <p:txBody>
          <a:bodyPr/>
          <a:lstStyle/>
          <a:p>
            <a:r>
              <a:rPr lang="en-US" altLang="zh-CN"/>
              <a:t>Chart-level and State-level Data</a:t>
            </a:r>
            <a:endParaRPr lang="zh-CN" altLang="en-US"/>
          </a:p>
        </p:txBody>
      </p:sp>
      <p:sp>
        <p:nvSpPr>
          <p:cNvPr id="30723" name="内容占位符 2"/>
          <p:cNvSpPr>
            <a:spLocks noGrp="1"/>
          </p:cNvSpPr>
          <p:nvPr>
            <p:ph idx="1"/>
          </p:nvPr>
        </p:nvSpPr>
        <p:spPr>
          <a:xfrm>
            <a:off x="1528763" y="719138"/>
            <a:ext cx="8729662" cy="1708150"/>
          </a:xfrm>
        </p:spPr>
        <p:txBody>
          <a:bodyPr/>
          <a:lstStyle/>
          <a:p>
            <a:r>
              <a:rPr lang="en-US" altLang="zh-CN"/>
              <a:t>In the climate control state machine, add logic to prevents the system from excessive switching.</a:t>
            </a:r>
          </a:p>
          <a:p>
            <a:r>
              <a:rPr lang="en-US" altLang="zh-CN"/>
              <a:t>Example</a:t>
            </a:r>
            <a:r>
              <a:rPr lang="en-US" altLang="zh-CN" b="1">
                <a:solidFill>
                  <a:schemeClr val="tx2"/>
                </a:solidFill>
              </a:rPr>
              <a:t>: acDebouncerStart.mdl </a:t>
            </a:r>
            <a:r>
              <a:rPr lang="zh-CN" altLang="en-US" b="1">
                <a:solidFill>
                  <a:schemeClr val="tx2"/>
                </a:solidFill>
              </a:rPr>
              <a:t>（搭建实现）</a:t>
            </a:r>
          </a:p>
        </p:txBody>
      </p:sp>
      <p:pic>
        <p:nvPicPr>
          <p:cNvPr id="307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1913" y="2349501"/>
            <a:ext cx="6572250" cy="432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zh-CN"/>
              <a:t>The concepts of parallelism</a:t>
            </a:r>
          </a:p>
        </p:txBody>
      </p:sp>
      <p:sp>
        <p:nvSpPr>
          <p:cNvPr id="35843" name="Content Placeholder 2"/>
          <p:cNvSpPr>
            <a:spLocks noGrp="1"/>
          </p:cNvSpPr>
          <p:nvPr>
            <p:ph idx="1"/>
          </p:nvPr>
        </p:nvSpPr>
        <p:spPr/>
        <p:txBody>
          <a:bodyPr/>
          <a:lstStyle/>
          <a:p>
            <a:r>
              <a:rPr lang="en-US" altLang="zh-CN"/>
              <a:t>State:</a:t>
            </a:r>
          </a:p>
          <a:p>
            <a:pPr lvl="1"/>
            <a:r>
              <a:rPr lang="en-US" altLang="zh-CN"/>
              <a:t>exclusive : only one active child state at a time</a:t>
            </a:r>
          </a:p>
          <a:p>
            <a:pPr lvl="2"/>
            <a:r>
              <a:rPr lang="en-US" altLang="zh-CN"/>
              <a:t>With solid boundaries</a:t>
            </a:r>
          </a:p>
          <a:p>
            <a:pPr lvl="1"/>
            <a:r>
              <a:rPr lang="en-US" altLang="zh-CN"/>
              <a:t>parallel: </a:t>
            </a:r>
            <a:r>
              <a:rPr lang="en-US" altLang="zh-CN">
                <a:solidFill>
                  <a:srgbClr val="C00000"/>
                </a:solidFill>
              </a:rPr>
              <a:t>all its child states active as long as it is active.</a:t>
            </a:r>
          </a:p>
          <a:p>
            <a:pPr lvl="2"/>
            <a:r>
              <a:rPr lang="en-US" altLang="zh-CN"/>
              <a:t>Modeling  concurrency and interdependency in a system</a:t>
            </a:r>
          </a:p>
          <a:p>
            <a:pPr lvl="2"/>
            <a:r>
              <a:rPr lang="en-US" altLang="zh-CN"/>
              <a:t>With </a:t>
            </a:r>
            <a:r>
              <a:rPr lang="en-US" altLang="zh-CN">
                <a:solidFill>
                  <a:srgbClr val="FF0000"/>
                </a:solidFill>
              </a:rPr>
              <a:t>dotted</a:t>
            </a:r>
            <a:r>
              <a:rPr lang="en-US" altLang="zh-CN"/>
              <a:t> boundaries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zh-CN"/>
              <a:t>The concepts of parallelism(2)</a:t>
            </a:r>
          </a:p>
        </p:txBody>
      </p:sp>
      <p:sp>
        <p:nvSpPr>
          <p:cNvPr id="36867" name="Content Placeholder 2"/>
          <p:cNvSpPr>
            <a:spLocks noGrp="1"/>
          </p:cNvSpPr>
          <p:nvPr>
            <p:ph idx="1"/>
          </p:nvPr>
        </p:nvSpPr>
        <p:spPr/>
        <p:txBody>
          <a:bodyPr/>
          <a:lstStyle/>
          <a:p>
            <a:pPr algn="just"/>
            <a:r>
              <a:rPr lang="en-US" altLang="zh-CN"/>
              <a:t>The term parallel is used to indicate that multiple states are </a:t>
            </a:r>
            <a:r>
              <a:rPr lang="en-US" altLang="zh-CN">
                <a:solidFill>
                  <a:srgbClr val="FF0000"/>
                </a:solidFill>
              </a:rPr>
              <a:t>active at one time</a:t>
            </a:r>
            <a:r>
              <a:rPr lang="en-US" altLang="zh-CN"/>
              <a:t>, </a:t>
            </a:r>
            <a:r>
              <a:rPr lang="en-US" altLang="zh-CN">
                <a:solidFill>
                  <a:srgbClr val="FF0000"/>
                </a:solidFill>
              </a:rPr>
              <a:t>not</a:t>
            </a:r>
            <a:r>
              <a:rPr lang="en-US" altLang="zh-CN"/>
              <a:t> that multiple state </a:t>
            </a:r>
            <a:r>
              <a:rPr lang="en-US" altLang="zh-CN">
                <a:solidFill>
                  <a:srgbClr val="FF0000"/>
                </a:solidFill>
              </a:rPr>
              <a:t>execute at the same time</a:t>
            </a:r>
          </a:p>
          <a:p>
            <a:pPr algn="just"/>
            <a:r>
              <a:rPr lang="en-US" altLang="zh-CN"/>
              <a:t>Parallel state </a:t>
            </a:r>
            <a:r>
              <a:rPr lang="en-US" altLang="zh-CN">
                <a:solidFill>
                  <a:srgbClr val="FF0000"/>
                </a:solidFill>
              </a:rPr>
              <a:t>execute</a:t>
            </a:r>
            <a:r>
              <a:rPr lang="en-US" altLang="zh-CN"/>
              <a:t> </a:t>
            </a:r>
            <a:r>
              <a:rPr lang="en-US" altLang="zh-CN">
                <a:solidFill>
                  <a:srgbClr val="FF0000"/>
                </a:solidFill>
              </a:rPr>
              <a:t>sequentially</a:t>
            </a:r>
            <a:r>
              <a:rPr lang="en-US" altLang="zh-CN"/>
              <a:t> based on their assigned execution order</a:t>
            </a:r>
          </a:p>
          <a:p>
            <a:pPr lvl="1" algn="just"/>
            <a:r>
              <a:rPr lang="en-US" altLang="zh-CN"/>
              <a:t>Upper right corner of the state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endParaRPr lang="en-US" altLang="zh-CN"/>
          </a:p>
        </p:txBody>
      </p:sp>
      <p:sp>
        <p:nvSpPr>
          <p:cNvPr id="37891" name="Content Placeholder 2"/>
          <p:cNvSpPr>
            <a:spLocks noGrp="1"/>
          </p:cNvSpPr>
          <p:nvPr>
            <p:ph idx="1"/>
          </p:nvPr>
        </p:nvSpPr>
        <p:spPr>
          <a:xfrm>
            <a:off x="8310564" y="2714626"/>
            <a:ext cx="1900237" cy="1000125"/>
          </a:xfrm>
        </p:spPr>
        <p:txBody>
          <a:bodyPr/>
          <a:lstStyle/>
          <a:p>
            <a:pPr>
              <a:buFont typeface="Arial" panose="020B0704020202020204" pitchFamily="34" charset="0"/>
              <a:buNone/>
            </a:pPr>
            <a:r>
              <a:rPr lang="en-US" altLang="zh-CN"/>
              <a:t>Execution</a:t>
            </a:r>
          </a:p>
          <a:p>
            <a:pPr>
              <a:buFont typeface="Arial" panose="020B0704020202020204" pitchFamily="34" charset="0"/>
              <a:buNone/>
            </a:pPr>
            <a:r>
              <a:rPr lang="en-US" altLang="zh-CN"/>
              <a:t>order</a:t>
            </a:r>
          </a:p>
        </p:txBody>
      </p:sp>
      <p:pic>
        <p:nvPicPr>
          <p:cNvPr id="378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26" y="428625"/>
            <a:ext cx="4214813" cy="572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p:cNvSpPr/>
          <p:nvPr/>
        </p:nvSpPr>
        <p:spPr>
          <a:xfrm>
            <a:off x="6096001" y="1214438"/>
            <a:ext cx="500063" cy="5000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Oval 6"/>
          <p:cNvSpPr/>
          <p:nvPr/>
        </p:nvSpPr>
        <p:spPr>
          <a:xfrm>
            <a:off x="6096001" y="2857501"/>
            <a:ext cx="500063" cy="50006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Oval 7"/>
          <p:cNvSpPr/>
          <p:nvPr/>
        </p:nvSpPr>
        <p:spPr>
          <a:xfrm>
            <a:off x="6096001" y="4357688"/>
            <a:ext cx="500063" cy="5000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10" name="Straight Arrow Connector 9"/>
          <p:cNvCxnSpPr/>
          <p:nvPr/>
        </p:nvCxnSpPr>
        <p:spPr>
          <a:xfrm rot="10800000">
            <a:off x="6881813" y="3214689"/>
            <a:ext cx="1357312" cy="158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flipV="1">
            <a:off x="6667501" y="3357563"/>
            <a:ext cx="1571625" cy="135731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0800000">
            <a:off x="6667500" y="1571625"/>
            <a:ext cx="1500188" cy="14287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zh-CN"/>
              <a:t>multiprocessing state machine</a:t>
            </a:r>
            <a:br>
              <a:rPr lang="en-US" altLang="zh-CN"/>
            </a:br>
            <a:r>
              <a:rPr lang="en-US" altLang="zh-CN" sz="3200"/>
              <a:t>example: </a:t>
            </a:r>
            <a:r>
              <a:rPr lang="en-US" altLang="zh-CN" sz="3200" b="1">
                <a:solidFill>
                  <a:schemeClr val="tx2"/>
                </a:solidFill>
              </a:rPr>
              <a:t>checkDataParallel.mdl</a:t>
            </a:r>
            <a:r>
              <a:rPr lang="zh-CN" altLang="en-US" sz="3200" b="1">
                <a:solidFill>
                  <a:schemeClr val="tx2"/>
                </a:solidFill>
              </a:rPr>
              <a:t>（搭建）</a:t>
            </a:r>
            <a:endParaRPr lang="en-US" altLang="zh-CN" b="1">
              <a:solidFill>
                <a:schemeClr val="tx2"/>
              </a:solidFill>
            </a:endParaRPr>
          </a:p>
        </p:txBody>
      </p:sp>
      <p:sp>
        <p:nvSpPr>
          <p:cNvPr id="38915" name="Content Placeholder 2"/>
          <p:cNvSpPr>
            <a:spLocks noGrp="1"/>
          </p:cNvSpPr>
          <p:nvPr>
            <p:ph idx="1"/>
          </p:nvPr>
        </p:nvSpPr>
        <p:spPr>
          <a:xfrm>
            <a:off x="7524750" y="2071688"/>
            <a:ext cx="2928938" cy="1428750"/>
          </a:xfrm>
        </p:spPr>
        <p:txBody>
          <a:bodyPr/>
          <a:lstStyle/>
          <a:p>
            <a:pPr>
              <a:buFont typeface="Arial" panose="020B0704020202020204" pitchFamily="34" charset="0"/>
              <a:buNone/>
            </a:pPr>
            <a:r>
              <a:rPr lang="en-US" altLang="zh-CN"/>
              <a:t>Failure</a:t>
            </a:r>
          </a:p>
          <a:p>
            <a:pPr>
              <a:buFont typeface="Arial" panose="020B0704020202020204" pitchFamily="34" charset="0"/>
              <a:buNone/>
            </a:pPr>
            <a:r>
              <a:rPr lang="en-US" altLang="zh-CN"/>
              <a:t> determination</a:t>
            </a:r>
          </a:p>
        </p:txBody>
      </p:sp>
      <p:pic>
        <p:nvPicPr>
          <p:cNvPr id="389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1500189"/>
            <a:ext cx="485775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Arrow Connector 5"/>
          <p:cNvCxnSpPr/>
          <p:nvPr/>
        </p:nvCxnSpPr>
        <p:spPr>
          <a:xfrm rot="10800000" flipV="1">
            <a:off x="6096000" y="2643189"/>
            <a:ext cx="1428750" cy="35718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Content Placeholder 2"/>
          <p:cNvSpPr txBox="1"/>
          <p:nvPr/>
        </p:nvSpPr>
        <p:spPr bwMode="auto">
          <a:xfrm>
            <a:off x="7310439" y="5143501"/>
            <a:ext cx="2928937" cy="714375"/>
          </a:xfrm>
          <a:prstGeom prst="rect">
            <a:avLst/>
          </a:prstGeom>
          <a:noFill/>
          <a:ln w="9525">
            <a:noFill/>
            <a:miter lim="800000"/>
          </a:ln>
        </p:spPr>
        <p:txBody>
          <a:bodyPr/>
          <a:lstStyle/>
          <a:p>
            <a:pPr marL="342900" indent="-342900">
              <a:spcBef>
                <a:spcPct val="20000"/>
              </a:spcBef>
              <a:defRPr/>
            </a:pPr>
            <a:r>
              <a:rPr lang="en-US" sz="3200" dirty="0"/>
              <a:t>Mode logic</a:t>
            </a:r>
          </a:p>
        </p:txBody>
      </p:sp>
      <p:cxnSp>
        <p:nvCxnSpPr>
          <p:cNvPr id="9" name="Straight Arrow Connector 8"/>
          <p:cNvCxnSpPr/>
          <p:nvPr/>
        </p:nvCxnSpPr>
        <p:spPr>
          <a:xfrm rot="10800000">
            <a:off x="6381750" y="5143501"/>
            <a:ext cx="857250" cy="21431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nvCxnSpPr>
        <p:spPr>
          <a:xfrm flipH="1">
            <a:off x="6475414" y="1989138"/>
            <a:ext cx="835025"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6661151" y="4941888"/>
            <a:ext cx="835025"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zh-CN"/>
              <a:t>Example:climate control</a:t>
            </a:r>
          </a:p>
        </p:txBody>
      </p:sp>
      <p:sp>
        <p:nvSpPr>
          <p:cNvPr id="40963" name="Content Placeholder 2"/>
          <p:cNvSpPr>
            <a:spLocks noGrp="1"/>
          </p:cNvSpPr>
          <p:nvPr>
            <p:ph idx="1"/>
          </p:nvPr>
        </p:nvSpPr>
        <p:spPr/>
        <p:txBody>
          <a:bodyPr/>
          <a:lstStyle/>
          <a:p>
            <a:r>
              <a:rPr lang="en-US" altLang="zh-CN"/>
              <a:t>Can modify the acceptable temperature thresholds depending on the time of day</a:t>
            </a:r>
          </a:p>
          <a:p>
            <a:pPr lvl="1"/>
            <a:r>
              <a:rPr lang="en-US" altLang="zh-CN"/>
              <a:t>At night, we want to conserve energy</a:t>
            </a:r>
          </a:p>
          <a:p>
            <a:pPr lvl="1">
              <a:buFont typeface="Arial" panose="020B0704020202020204" pitchFamily="34" charset="0"/>
              <a:buNone/>
            </a:pPr>
            <a:r>
              <a:rPr lang="en-US" altLang="zh-CN" sz="2400">
                <a:latin typeface="Courier New" panose="02070609020205020404" pitchFamily="49" charset="0"/>
                <a:cs typeface="Courier New" panose="02070609020205020404" pitchFamily="49" charset="0"/>
              </a:rPr>
              <a:t>if (hour&lt;6)||(hour&gt;21)</a:t>
            </a:r>
          </a:p>
          <a:p>
            <a:pPr lvl="1">
              <a:buFont typeface="Arial" panose="020B0704020202020204" pitchFamily="34" charset="0"/>
              <a:buNone/>
            </a:pPr>
            <a:r>
              <a:rPr lang="en-US" altLang="zh-CN" sz="2400">
                <a:latin typeface="Courier New" panose="02070609020205020404" pitchFamily="49" charset="0"/>
                <a:cs typeface="Courier New" panose="02070609020205020404" pitchFamily="49" charset="0"/>
              </a:rPr>
              <a:t>	temperature threshold is T_des+/-10</a:t>
            </a:r>
          </a:p>
          <a:p>
            <a:pPr lvl="1">
              <a:buFont typeface="Arial" panose="020B0704020202020204" pitchFamily="34" charset="0"/>
              <a:buNone/>
            </a:pPr>
            <a:r>
              <a:rPr lang="en-US" altLang="zh-CN" sz="2400">
                <a:latin typeface="Courier New" panose="02070609020205020404" pitchFamily="49" charset="0"/>
                <a:cs typeface="Courier New" panose="02070609020205020404" pitchFamily="49" charset="0"/>
              </a:rPr>
              <a:t>Else</a:t>
            </a:r>
          </a:p>
          <a:p>
            <a:pPr lvl="1">
              <a:buFont typeface="Arial" panose="020B0704020202020204" pitchFamily="34" charset="0"/>
              <a:buNone/>
            </a:pPr>
            <a:r>
              <a:rPr lang="en-US" altLang="zh-CN" sz="2400">
                <a:latin typeface="Courier New" panose="02070609020205020404" pitchFamily="49" charset="0"/>
                <a:cs typeface="Courier New" panose="02070609020205020404" pitchFamily="49" charset="0"/>
              </a:rPr>
              <a:t>	temperature threshold is T_des+/-2</a:t>
            </a:r>
          </a:p>
          <a:p>
            <a:pPr lvl="1">
              <a:buFont typeface="Arial" panose="020B0704020202020204" pitchFamily="34" charset="0"/>
              <a:buNone/>
            </a:pPr>
            <a:r>
              <a:rPr lang="en-US" altLang="zh-CN" sz="2400">
                <a:latin typeface="Courier New" panose="02070609020205020404" pitchFamily="49" charset="0"/>
                <a:cs typeface="Courier New" panose="02070609020205020404" pitchFamily="49" charset="0"/>
              </a:rPr>
              <a:t>end</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endParaRPr lang="zh-CN" altLang="en-US"/>
          </a:p>
        </p:txBody>
      </p:sp>
      <p:sp>
        <p:nvSpPr>
          <p:cNvPr id="45059" name="内容占位符 2"/>
          <p:cNvSpPr>
            <a:spLocks noGrp="1"/>
          </p:cNvSpPr>
          <p:nvPr>
            <p:ph idx="1"/>
          </p:nvPr>
        </p:nvSpPr>
        <p:spPr/>
        <p:txBody>
          <a:bodyPr/>
          <a:lstStyle/>
          <a:p>
            <a:endParaRPr lang="zh-CN" altLang="en-US"/>
          </a:p>
        </p:txBody>
      </p:sp>
      <p:pic>
        <p:nvPicPr>
          <p:cNvPr id="450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239" y="-4763"/>
            <a:ext cx="7629525" cy="6908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cwODFkODg5OTBmMGE2MGI1ODIyMTg5YjZlNjRiNzEifQ=="/>
</p:tagLst>
</file>

<file path=ppt/tags/tag2.xml><?xml version="1.0" encoding="utf-8"?>
<p:tagLst xmlns:a="http://schemas.openxmlformats.org/drawingml/2006/main" xmlns:r="http://schemas.openxmlformats.org/officeDocument/2006/relationships" xmlns:p="http://schemas.openxmlformats.org/presentationml/2006/main">
  <p:tag name="SOURCE" val="\documentclass{article}\pagestyle{empty}&#10;\usepackage{CJK}&#10;\input{booktmp}&#10;%\usepackage{txfonts}&#10;\begin{document}&#10;\color{nearwhite}&#10;\begin{CJK*}{GBK}{song}&#10;~Karl  \AA str\&quot;om~&#10;\end{CJK*}&#10;\end{document}&#10;"/>
  <p:tag name="EXTERNALNAME" val="txp_fig"/>
  <p:tag name="BLEND" val="False"/>
  <p:tag name="TRANSPARENT" val="True"/>
  <p:tag name="KEEPFILES" val="False"/>
  <p:tag name="DEBUGPAUSE" val="False"/>
  <p:tag name="RESOLUTION" val="600"/>
  <p:tag name="TIMEOUT" val="(none)"/>
  <p:tag name="BOXWIDTH" val="354"/>
  <p:tag name="BOXHEIGHT" val="370"/>
  <p:tag name="BOXFONT" val="10"/>
  <p:tag name="BOXWRAP" val="False"/>
  <p:tag name="WORKAROUNDTRANSPARENCYBUG" val="False"/>
  <p:tag name="ALLOWFONTSUBSTITUTION" val="False"/>
  <p:tag name="BITMAPFORMAT" val="png16m"/>
  <p:tag name="ORIGWIDTH" val="51"/>
  <p:tag name="PICTUREFILESIZE" val="1846"/>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amp; Bullets">
  <a:themeElements>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le &amp; Bullets">
      <a:majorFont>
        <a:latin typeface="Gill Sans"/>
        <a:ea typeface="Heiti SC Light"/>
        <a:cs typeface="Heiti SC Light"/>
      </a:majorFont>
      <a:minorFont>
        <a:latin typeface="Gill Sans"/>
        <a:ea typeface="Heiti SC Light"/>
        <a:cs typeface="Heiti S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panose="020B0502020104020203" charset="0"/>
            <a:ea typeface="Heiti SC Light" charset="-122"/>
            <a:cs typeface="Heiti SC Light" charset="-122"/>
            <a:sym typeface="Gill Sans" panose="020B0502020104020203"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panose="020B0502020104020203" charset="0"/>
            <a:ea typeface="Heiti SC Light" charset="-122"/>
            <a:cs typeface="Heiti SC Light" charset="-122"/>
            <a:sym typeface="Gill Sans" panose="020B0502020104020203"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354</TotalTime>
  <Words>1667</Words>
  <Application>Microsoft Office PowerPoint</Application>
  <PresentationFormat>宽屏</PresentationFormat>
  <Paragraphs>249</Paragraphs>
  <Slides>88</Slides>
  <Notes>2</Notes>
  <HiddenSlides>0</HiddenSlides>
  <MMClips>0</MMClips>
  <ScaleCrop>false</ScaleCrop>
  <HeadingPairs>
    <vt:vector size="8" baseType="variant">
      <vt:variant>
        <vt:lpstr>已用的字体</vt:lpstr>
      </vt:variant>
      <vt:variant>
        <vt:i4>15</vt:i4>
      </vt:variant>
      <vt:variant>
        <vt:lpstr>主题</vt:lpstr>
      </vt:variant>
      <vt:variant>
        <vt:i4>4</vt:i4>
      </vt:variant>
      <vt:variant>
        <vt:lpstr>嵌入 OLE 服务器</vt:lpstr>
      </vt:variant>
      <vt:variant>
        <vt:i4>1</vt:i4>
      </vt:variant>
      <vt:variant>
        <vt:lpstr>幻灯片标题</vt:lpstr>
      </vt:variant>
      <vt:variant>
        <vt:i4>88</vt:i4>
      </vt:variant>
    </vt:vector>
  </HeadingPairs>
  <TitlesOfParts>
    <vt:vector size="108" baseType="lpstr">
      <vt:lpstr>Gill Sans</vt:lpstr>
      <vt:lpstr>等线</vt:lpstr>
      <vt:lpstr>等线 Light</vt:lpstr>
      <vt:lpstr>黑体</vt:lpstr>
      <vt:lpstr>华文隶书</vt:lpstr>
      <vt:lpstr>宋体</vt:lpstr>
      <vt:lpstr>微软雅黑</vt:lpstr>
      <vt:lpstr>Arial</vt:lpstr>
      <vt:lpstr>Calibri</vt:lpstr>
      <vt:lpstr>Courier New</vt:lpstr>
      <vt:lpstr>Symbol</vt:lpstr>
      <vt:lpstr>Times</vt:lpstr>
      <vt:lpstr>Times New Roman</vt:lpstr>
      <vt:lpstr>Verdana</vt:lpstr>
      <vt:lpstr>Wingdings</vt:lpstr>
      <vt:lpstr>Office 主题​​</vt:lpstr>
      <vt:lpstr>Title &amp; Bullets</vt:lpstr>
      <vt:lpstr>Office 主题</vt:lpstr>
      <vt:lpstr>1_Office 主题</vt:lpstr>
      <vt:lpstr>Equation</vt:lpstr>
      <vt:lpstr>嵌入式系统建模与规范</vt:lpstr>
      <vt:lpstr>教材</vt:lpstr>
      <vt:lpstr>由软件到系统建模的思维转变</vt:lpstr>
      <vt:lpstr>PowerPoint 演示文稿</vt:lpstr>
      <vt:lpstr>引入系统工程以后</vt:lpstr>
      <vt:lpstr>问题理解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MATLAB/Simulink 与工具箱</vt:lpstr>
      <vt:lpstr>MATLAB</vt:lpstr>
      <vt:lpstr>MATLAB foundation  </vt:lpstr>
      <vt:lpstr>Example: Gas Price Data</vt:lpstr>
      <vt:lpstr>The Import Wizard</vt:lpstr>
      <vt:lpstr>Plot and Data</vt:lpstr>
      <vt:lpstr>Plot Tools</vt:lpstr>
      <vt:lpstr>Matrix Operations</vt:lpstr>
      <vt:lpstr>Cell Arrays</vt:lpstr>
      <vt:lpstr>Logical Functions</vt:lpstr>
      <vt:lpstr>Programming Keywords</vt:lpstr>
      <vt:lpstr>MATLAB 语言函数的 基本结构</vt:lpstr>
      <vt:lpstr>PowerPoint 演示文稿</vt:lpstr>
      <vt:lpstr>PowerPoint 演示文稿</vt:lpstr>
      <vt:lpstr>PowerPoint 演示文稿</vt:lpstr>
      <vt:lpstr>模块库简介—Commonly Used blocks</vt:lpstr>
      <vt:lpstr>模块库简介—Sinks</vt:lpstr>
      <vt:lpstr>Modeling Comparisons</vt:lpstr>
      <vt:lpstr>Modeling Decision Statements</vt:lpstr>
      <vt:lpstr>   Stateflow入门介绍</vt:lpstr>
      <vt:lpstr>stateflow基本概念</vt:lpstr>
      <vt:lpstr>PowerPoint 演示文稿</vt:lpstr>
      <vt:lpstr>Junction(节点) , transition, condition and action</vt:lpstr>
      <vt:lpstr>State labeling syntax</vt:lpstr>
      <vt:lpstr>Semantics of a state transition</vt:lpstr>
      <vt:lpstr>Behavior of an inner flow graph example：innerflow.mdl</vt:lpstr>
      <vt:lpstr>Semantics of an inner flow graph</vt:lpstr>
      <vt:lpstr>Semantics of a multilevel state transition</vt:lpstr>
      <vt:lpstr>Example: climate control</vt:lpstr>
      <vt:lpstr>PowerPoint 演示文稿</vt:lpstr>
      <vt:lpstr>Creating superstates and substates</vt:lpstr>
      <vt:lpstr>Designating default substates</vt:lpstr>
      <vt:lpstr>Creating a subchart</vt:lpstr>
      <vt:lpstr>Chart-level and State-level Data</vt:lpstr>
      <vt:lpstr>The concepts of parallelism</vt:lpstr>
      <vt:lpstr>The concepts of parallelism(2)</vt:lpstr>
      <vt:lpstr>PowerPoint 演示文稿</vt:lpstr>
      <vt:lpstr>multiprocessing state machine example: checkDataParallel.mdl（搭建）</vt:lpstr>
      <vt:lpstr>Example:climate control</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由软件到系统建模的思维转变</dc:title>
  <dc:creator>缪炜恺</dc:creator>
  <cp:lastModifiedBy>Administrator</cp:lastModifiedBy>
  <cp:revision>23</cp:revision>
  <dcterms:created xsi:type="dcterms:W3CDTF">2025-01-10T08:44:13Z</dcterms:created>
  <dcterms:modified xsi:type="dcterms:W3CDTF">2026-01-06T08:36:47Z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0802F9005E5E4668895E4376944BE988_12</vt:lpwstr>
  </property>
  <property fmtid="{D5CDD505-2E9C-101B-9397-08002B2CF9AE}" pid="3" name="KSOProductBuildVer">
    <vt:lpwstr>2052-6.14.0.8924</vt:lpwstr>
  </property>
</Properties>
</file>