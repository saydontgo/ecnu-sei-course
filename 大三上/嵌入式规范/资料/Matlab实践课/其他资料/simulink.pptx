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256" r:id="rId2"/>
    <p:sldId id="357" r:id="rId3"/>
    <p:sldId id="358" r:id="rId4"/>
    <p:sldId id="359" r:id="rId5"/>
    <p:sldId id="360" r:id="rId6"/>
    <p:sldId id="361" r:id="rId7"/>
    <p:sldId id="362" r:id="rId8"/>
    <p:sldId id="363" r:id="rId9"/>
    <p:sldId id="364" r:id="rId10"/>
    <p:sldId id="365" r:id="rId11"/>
    <p:sldId id="366" r:id="rId12"/>
    <p:sldId id="367" r:id="rId13"/>
    <p:sldId id="368" r:id="rId14"/>
    <p:sldId id="369" r:id="rId15"/>
    <p:sldId id="370" r:id="rId16"/>
    <p:sldId id="258" r:id="rId17"/>
    <p:sldId id="371" r:id="rId18"/>
    <p:sldId id="335" r:id="rId19"/>
    <p:sldId id="260" r:id="rId20"/>
    <p:sldId id="262" r:id="rId21"/>
    <p:sldId id="265" r:id="rId22"/>
    <p:sldId id="266" r:id="rId23"/>
    <p:sldId id="267" r:id="rId24"/>
    <p:sldId id="268" r:id="rId25"/>
    <p:sldId id="269" r:id="rId26"/>
    <p:sldId id="270" r:id="rId27"/>
    <p:sldId id="372" r:id="rId28"/>
    <p:sldId id="271" r:id="rId29"/>
    <p:sldId id="272" r:id="rId30"/>
    <p:sldId id="273" r:id="rId31"/>
    <p:sldId id="274" r:id="rId32"/>
    <p:sldId id="275" r:id="rId33"/>
    <p:sldId id="276" r:id="rId34"/>
    <p:sldId id="277" r:id="rId35"/>
    <p:sldId id="278" r:id="rId36"/>
    <p:sldId id="279" r:id="rId37"/>
    <p:sldId id="280" r:id="rId38"/>
    <p:sldId id="281" r:id="rId39"/>
    <p:sldId id="402" r:id="rId40"/>
    <p:sldId id="282" r:id="rId41"/>
    <p:sldId id="284" r:id="rId42"/>
    <p:sldId id="286" r:id="rId43"/>
    <p:sldId id="287" r:id="rId44"/>
    <p:sldId id="288" r:id="rId45"/>
    <p:sldId id="373" r:id="rId46"/>
    <p:sldId id="289" r:id="rId47"/>
    <p:sldId id="290" r:id="rId48"/>
    <p:sldId id="291" r:id="rId49"/>
    <p:sldId id="374" r:id="rId50"/>
    <p:sldId id="292" r:id="rId51"/>
    <p:sldId id="293" r:id="rId52"/>
    <p:sldId id="294" r:id="rId53"/>
    <p:sldId id="295" r:id="rId54"/>
    <p:sldId id="296" r:id="rId55"/>
    <p:sldId id="298" r:id="rId56"/>
    <p:sldId id="299" r:id="rId57"/>
    <p:sldId id="300" r:id="rId58"/>
    <p:sldId id="301" r:id="rId59"/>
    <p:sldId id="302" r:id="rId60"/>
    <p:sldId id="303" r:id="rId61"/>
    <p:sldId id="304" r:id="rId62"/>
    <p:sldId id="306" r:id="rId63"/>
    <p:sldId id="307" r:id="rId64"/>
    <p:sldId id="403" r:id="rId65"/>
    <p:sldId id="404" r:id="rId66"/>
    <p:sldId id="308" r:id="rId67"/>
    <p:sldId id="309" r:id="rId68"/>
    <p:sldId id="310" r:id="rId69"/>
    <p:sldId id="375" r:id="rId70"/>
    <p:sldId id="311" r:id="rId71"/>
    <p:sldId id="312" r:id="rId72"/>
    <p:sldId id="313" r:id="rId73"/>
    <p:sldId id="315" r:id="rId74"/>
    <p:sldId id="339" r:id="rId75"/>
    <p:sldId id="340" r:id="rId76"/>
    <p:sldId id="341" r:id="rId77"/>
    <p:sldId id="342" r:id="rId78"/>
    <p:sldId id="343" r:id="rId79"/>
    <p:sldId id="344" r:id="rId80"/>
    <p:sldId id="391" r:id="rId81"/>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47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B0B7298-CD31-4BB6-966A-C7BA694638A0}" type="datetimeFigureOut">
              <a:rPr lang="zh-CN" altLang="en-US" smtClean="0"/>
              <a:pPr/>
              <a:t>2014/5/22</a:t>
            </a:fld>
            <a:endParaRPr lang="zh-CN" altLang="en-US"/>
          </a:p>
        </p:txBody>
      </p:sp>
      <p:sp>
        <p:nvSpPr>
          <p:cNvPr id="4" name="页脚占位符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1EE765C2-1397-4B37-9698-D3BC231AC347}" type="slidenum">
              <a:rPr lang="zh-CN" altLang="en-US" smtClean="0"/>
              <a:pPr/>
              <a:t>‹#›</a:t>
            </a:fld>
            <a:endParaRPr lang="zh-CN" altLang="en-US"/>
          </a:p>
        </p:txBody>
      </p:sp>
    </p:spTree>
    <p:extLst>
      <p:ext uri="{BB962C8B-B14F-4D97-AF65-F5344CB8AC3E}">
        <p14:creationId xmlns:p14="http://schemas.microsoft.com/office/powerpoint/2010/main" val="36494913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4B1EE373-A9E6-4E40-8632-E8ACD8BA249E}" type="datetimeFigureOut">
              <a:rPr lang="zh-CN" altLang="en-US" smtClean="0"/>
              <a:pPr/>
              <a:t>2014/5/22</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68ABA14A-17E7-4DE1-AB9D-F5FD68D0B4D7}" type="slidenum">
              <a:rPr lang="zh-CN" altLang="en-US" smtClean="0"/>
              <a:pPr/>
              <a:t>‹#›</a:t>
            </a:fld>
            <a:endParaRPr lang="zh-CN" altLang="en-US"/>
          </a:p>
        </p:txBody>
      </p:sp>
    </p:spTree>
    <p:extLst>
      <p:ext uri="{BB962C8B-B14F-4D97-AF65-F5344CB8AC3E}">
        <p14:creationId xmlns:p14="http://schemas.microsoft.com/office/powerpoint/2010/main" val="396545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B622BB3-2ED4-4B4F-8143-410F4B62E99E}" type="slidenum">
              <a:rPr lang="zh-CN" altLang="en-US" smtClean="0"/>
              <a:pPr/>
              <a:t>34</a:t>
            </a:fld>
            <a:endParaRPr lang="zh-CN" altLang="en-US"/>
          </a:p>
        </p:txBody>
      </p:sp>
    </p:spTree>
    <p:extLst>
      <p:ext uri="{BB962C8B-B14F-4D97-AF65-F5344CB8AC3E}">
        <p14:creationId xmlns:p14="http://schemas.microsoft.com/office/powerpoint/2010/main" val="786462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2014/5/22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5.wmf"/><Relationship Id="rId4" Type="http://schemas.openxmlformats.org/officeDocument/2006/relationships/oleObject" Target="../embeddings/oleObject1.bin"/></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7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0.wmf"/><Relationship Id="rId4" Type="http://schemas.openxmlformats.org/officeDocument/2006/relationships/oleObject" Target="../embeddings/oleObject2.bin"/></Relationships>
</file>

<file path=ppt/slides/_rels/slide71.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74.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2.wmf"/><Relationship Id="rId5" Type="http://schemas.openxmlformats.org/officeDocument/2006/relationships/oleObject" Target="../embeddings/oleObject3.bin"/><Relationship Id="rId4" Type="http://schemas.openxmlformats.org/officeDocument/2006/relationships/image" Target="../media/image75.png"/></Relationships>
</file>

<file path=ppt/slides/_rels/slide7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7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Introduction to System Modeling using </a:t>
            </a:r>
            <a:r>
              <a:rPr lang="en-US" altLang="zh-CN" dirty="0" err="1" smtClean="0"/>
              <a:t>Simulink</a:t>
            </a:r>
            <a:endParaRPr lang="zh-CN" altLang="en-US" dirty="0"/>
          </a:p>
        </p:txBody>
      </p:sp>
      <p:sp>
        <p:nvSpPr>
          <p:cNvPr id="3" name="副标题 2"/>
          <p:cNvSpPr>
            <a:spLocks noGrp="1"/>
          </p:cNvSpPr>
          <p:nvPr>
            <p:ph type="subTitle" idx="1"/>
          </p:nvPr>
        </p:nvSpPr>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Simulink</a:t>
            </a:r>
            <a:r>
              <a:rPr lang="zh-CN" altLang="en-US" dirty="0" smtClean="0"/>
              <a:t>介绍</a:t>
            </a:r>
            <a:endParaRPr lang="zh-CN" altLang="en-US" dirty="0"/>
          </a:p>
        </p:txBody>
      </p:sp>
      <p:sp>
        <p:nvSpPr>
          <p:cNvPr id="3" name="内容占位符 2"/>
          <p:cNvSpPr>
            <a:spLocks noGrp="1"/>
          </p:cNvSpPr>
          <p:nvPr>
            <p:ph idx="1"/>
          </p:nvPr>
        </p:nvSpPr>
        <p:spPr/>
        <p:txBody>
          <a:bodyPr/>
          <a:lstStyle/>
          <a:p>
            <a:r>
              <a:rPr lang="zh-CN" altLang="en-US" dirty="0" smtClean="0"/>
              <a:t>提供图形化界面</a:t>
            </a:r>
            <a:endParaRPr lang="en-US" altLang="zh-CN" dirty="0" smtClean="0"/>
          </a:p>
          <a:p>
            <a:r>
              <a:rPr lang="zh-CN" altLang="en-US" dirty="0" smtClean="0"/>
              <a:t>调用现有的模块，并把它们连接构成系统的模型</a:t>
            </a:r>
            <a:endParaRPr lang="en-US" altLang="zh-CN" dirty="0" smtClean="0"/>
          </a:p>
          <a:p>
            <a:r>
              <a:rPr lang="zh-CN" altLang="en-US" dirty="0" smtClean="0"/>
              <a:t>以该模型为对象运行</a:t>
            </a:r>
            <a:r>
              <a:rPr lang="en-US" altLang="zh-CN" dirty="0" err="1" smtClean="0"/>
              <a:t>Simulink</a:t>
            </a:r>
            <a:r>
              <a:rPr lang="zh-CN" altLang="en-US" dirty="0" smtClean="0"/>
              <a:t>的仿真程序</a:t>
            </a:r>
            <a:endParaRPr lang="en-US" altLang="zh-CN" dirty="0" smtClean="0"/>
          </a:p>
          <a:p>
            <a:r>
              <a:rPr lang="zh-CN" altLang="en-US" dirty="0" smtClean="0"/>
              <a:t>观察仿真结果、干预仿真结果</a:t>
            </a:r>
            <a:endParaRPr lang="en-US" altLang="zh-CN" dirty="0" smtClean="0"/>
          </a:p>
          <a:p>
            <a:r>
              <a:rPr lang="zh-CN" altLang="en-US" dirty="0" smtClean="0"/>
              <a:t>可为各个模块提供参数配置。</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Simulink</a:t>
            </a:r>
            <a:r>
              <a:rPr lang="zh-CN" altLang="en-US" dirty="0" smtClean="0"/>
              <a:t>模块库</a:t>
            </a:r>
            <a:endParaRPr lang="zh-CN" altLang="en-US" dirty="0"/>
          </a:p>
        </p:txBody>
      </p:sp>
      <p:sp>
        <p:nvSpPr>
          <p:cNvPr id="3" name="内容占位符 2"/>
          <p:cNvSpPr>
            <a:spLocks noGrp="1"/>
          </p:cNvSpPr>
          <p:nvPr>
            <p:ph idx="1"/>
          </p:nvPr>
        </p:nvSpPr>
        <p:spPr/>
        <p:txBody>
          <a:bodyPr/>
          <a:lstStyle/>
          <a:p>
            <a:r>
              <a:rPr lang="zh-CN" altLang="en-US" dirty="0" smtClean="0"/>
              <a:t>输入信号源模块库（</a:t>
            </a:r>
            <a:r>
              <a:rPr lang="en-US" altLang="zh-CN" dirty="0" smtClean="0"/>
              <a:t>sources</a:t>
            </a:r>
            <a:r>
              <a:rPr lang="zh-CN" altLang="en-US" dirty="0" smtClean="0"/>
              <a:t>）；</a:t>
            </a:r>
            <a:endParaRPr lang="en-US" altLang="zh-CN" dirty="0" smtClean="0"/>
          </a:p>
          <a:p>
            <a:r>
              <a:rPr lang="zh-CN" altLang="en-US" dirty="0" smtClean="0"/>
              <a:t>输出接受模块库（</a:t>
            </a:r>
            <a:r>
              <a:rPr lang="en-US" altLang="zh-CN" dirty="0" smtClean="0"/>
              <a:t>Sinks</a:t>
            </a:r>
            <a:r>
              <a:rPr lang="zh-CN" altLang="en-US" dirty="0" smtClean="0"/>
              <a:t>）</a:t>
            </a:r>
            <a:r>
              <a:rPr lang="en-US" altLang="zh-CN" dirty="0" smtClean="0"/>
              <a:t>;</a:t>
            </a:r>
          </a:p>
          <a:p>
            <a:r>
              <a:rPr lang="zh-CN" altLang="en-US" dirty="0" smtClean="0"/>
              <a:t>连续系统模块库（</a:t>
            </a:r>
            <a:r>
              <a:rPr lang="en-US" altLang="zh-CN" dirty="0" smtClean="0"/>
              <a:t>Continuous</a:t>
            </a:r>
            <a:r>
              <a:rPr lang="zh-CN" altLang="en-US" dirty="0" smtClean="0"/>
              <a:t>）</a:t>
            </a:r>
            <a:r>
              <a:rPr lang="en-US" altLang="zh-CN" dirty="0" smtClean="0"/>
              <a:t>;</a:t>
            </a:r>
          </a:p>
          <a:p>
            <a:r>
              <a:rPr lang="zh-CN" altLang="en-US" dirty="0" smtClean="0"/>
              <a:t>离散系统模块库（</a:t>
            </a:r>
            <a:r>
              <a:rPr lang="en-US" altLang="zh-CN" dirty="0" smtClean="0"/>
              <a:t>Discrete</a:t>
            </a:r>
            <a:r>
              <a:rPr lang="zh-CN" altLang="en-US" dirty="0" smtClean="0"/>
              <a:t>）</a:t>
            </a:r>
            <a:r>
              <a:rPr lang="en-US" altLang="zh-CN" dirty="0" smtClean="0"/>
              <a:t>;</a:t>
            </a:r>
          </a:p>
          <a:p>
            <a:r>
              <a:rPr lang="zh-CN" altLang="en-US" dirty="0" smtClean="0"/>
              <a:t>数学操作模块库（</a:t>
            </a:r>
            <a:r>
              <a:rPr lang="en-US" altLang="zh-CN" dirty="0" smtClean="0"/>
              <a:t>Math Operations</a:t>
            </a:r>
            <a:r>
              <a:rPr lang="zh-CN" altLang="en-US" dirty="0" smtClean="0"/>
              <a:t>）；</a:t>
            </a:r>
            <a:endParaRPr lang="en-US" altLang="zh-CN" dirty="0" smtClean="0"/>
          </a:p>
          <a:p>
            <a:r>
              <a:rPr lang="en-US" altLang="zh-CN" dirty="0" smtClean="0"/>
              <a:t>…….</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仿真模型的构成</a:t>
            </a:r>
            <a:endParaRPr lang="zh-CN" altLang="en-US" dirty="0"/>
          </a:p>
        </p:txBody>
      </p:sp>
      <p:sp>
        <p:nvSpPr>
          <p:cNvPr id="3" name="内容占位符 2"/>
          <p:cNvSpPr>
            <a:spLocks noGrp="1"/>
          </p:cNvSpPr>
          <p:nvPr>
            <p:ph idx="1"/>
          </p:nvPr>
        </p:nvSpPr>
        <p:spPr/>
        <p:txBody>
          <a:bodyPr/>
          <a:lstStyle/>
          <a:p>
            <a:r>
              <a:rPr lang="zh-CN" altLang="en-US" dirty="0" smtClean="0"/>
              <a:t>信号源模块：系统的输入；</a:t>
            </a:r>
            <a:endParaRPr lang="en-US" altLang="zh-CN" dirty="0" smtClean="0"/>
          </a:p>
          <a:p>
            <a:r>
              <a:rPr lang="zh-CN" altLang="en-US" dirty="0" smtClean="0"/>
              <a:t>被模拟的模块：中心模块，运用</a:t>
            </a:r>
            <a:r>
              <a:rPr lang="en-US" altLang="zh-CN" dirty="0" err="1" smtClean="0"/>
              <a:t>Simulink</a:t>
            </a:r>
            <a:r>
              <a:rPr lang="zh-CN" altLang="en-US" dirty="0" smtClean="0"/>
              <a:t>所要解决的问题；</a:t>
            </a:r>
            <a:endParaRPr lang="en-US" altLang="zh-CN" dirty="0" smtClean="0"/>
          </a:p>
          <a:p>
            <a:r>
              <a:rPr lang="zh-CN" altLang="en-US" dirty="0" smtClean="0"/>
              <a:t>输出显示模块：系统的输出。</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基本特点</a:t>
            </a:r>
            <a:endParaRPr lang="zh-CN" altLang="en-US" dirty="0"/>
          </a:p>
        </p:txBody>
      </p:sp>
      <p:sp>
        <p:nvSpPr>
          <p:cNvPr id="3" name="内容占位符 2"/>
          <p:cNvSpPr>
            <a:spLocks noGrp="1"/>
          </p:cNvSpPr>
          <p:nvPr>
            <p:ph idx="1"/>
          </p:nvPr>
        </p:nvSpPr>
        <p:spPr/>
        <p:txBody>
          <a:bodyPr/>
          <a:lstStyle/>
          <a:p>
            <a:r>
              <a:rPr lang="zh-CN" altLang="en-US" dirty="0" smtClean="0"/>
              <a:t>提供了许多如</a:t>
            </a:r>
            <a:r>
              <a:rPr lang="en-US" altLang="zh-CN" dirty="0" smtClean="0"/>
              <a:t>scope(</a:t>
            </a:r>
            <a:r>
              <a:rPr lang="zh-CN" altLang="en-US" dirty="0" smtClean="0"/>
              <a:t>示波器</a:t>
            </a:r>
            <a:r>
              <a:rPr lang="en-US" altLang="zh-CN" dirty="0" smtClean="0"/>
              <a:t>)</a:t>
            </a:r>
            <a:r>
              <a:rPr lang="zh-CN" altLang="en-US" dirty="0" smtClean="0"/>
              <a:t>等的接收模块，用</a:t>
            </a:r>
            <a:r>
              <a:rPr lang="en-US" altLang="zh-CN" dirty="0" err="1" smtClean="0"/>
              <a:t>Simulink</a:t>
            </a:r>
            <a:r>
              <a:rPr lang="zh-CN" altLang="en-US" dirty="0" smtClean="0"/>
              <a:t>仿真，具有像做实验一样的图形化显示结果；</a:t>
            </a:r>
            <a:endParaRPr lang="en-US" altLang="zh-CN" dirty="0" smtClean="0"/>
          </a:p>
          <a:p>
            <a:r>
              <a:rPr lang="zh-CN" altLang="en-US" dirty="0" smtClean="0"/>
              <a:t>具有层次性，通过底层子系统可以构建上层母系统；</a:t>
            </a:r>
            <a:endParaRPr lang="en-US" altLang="zh-CN" dirty="0" smtClean="0"/>
          </a:p>
          <a:p>
            <a:r>
              <a:rPr lang="zh-CN" altLang="en-US" dirty="0" smtClean="0"/>
              <a:t>对子系统的封装的功能，用户可以自定义子系统的图标和设置参数对话框。</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建立仿真的基本过程</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打开一个空白的</a:t>
            </a:r>
            <a:r>
              <a:rPr lang="en-US" altLang="zh-CN" dirty="0" err="1" smtClean="0"/>
              <a:t>Simulink</a:t>
            </a:r>
            <a:r>
              <a:rPr lang="en-US" altLang="zh-CN" dirty="0" smtClean="0"/>
              <a:t> </a:t>
            </a:r>
            <a:r>
              <a:rPr lang="zh-CN" altLang="en-US" dirty="0" smtClean="0"/>
              <a:t>模型窗口；</a:t>
            </a:r>
            <a:endParaRPr lang="en-US" altLang="zh-CN" dirty="0" smtClean="0"/>
          </a:p>
          <a:p>
            <a:r>
              <a:rPr lang="zh-CN" altLang="en-US" dirty="0" smtClean="0"/>
              <a:t>在</a:t>
            </a:r>
            <a:r>
              <a:rPr lang="en-US" altLang="zh-CN" dirty="0" err="1" smtClean="0"/>
              <a:t>Simulink</a:t>
            </a:r>
            <a:r>
              <a:rPr lang="en-US" altLang="zh-CN" dirty="0" smtClean="0"/>
              <a:t> </a:t>
            </a:r>
            <a:r>
              <a:rPr lang="zh-CN" altLang="en-US" dirty="0" smtClean="0"/>
              <a:t>模块库浏览界面，将相应模块库所需的模块拖入到编辑窗口；</a:t>
            </a:r>
            <a:endParaRPr lang="en-US" altLang="zh-CN" dirty="0" smtClean="0"/>
          </a:p>
          <a:p>
            <a:r>
              <a:rPr lang="zh-CN" altLang="en-US" dirty="0" smtClean="0"/>
              <a:t>按照给定的框图修改编辑窗口中模块的参数；</a:t>
            </a:r>
            <a:endParaRPr lang="en-US" altLang="zh-CN" dirty="0" smtClean="0"/>
          </a:p>
          <a:p>
            <a:r>
              <a:rPr lang="zh-CN" altLang="en-US" dirty="0" smtClean="0"/>
              <a:t>将各个模块按照给定的框图连接起来，搭建所需要的系统模型；</a:t>
            </a:r>
            <a:endParaRPr lang="en-US" altLang="zh-CN" dirty="0" smtClean="0"/>
          </a:p>
          <a:p>
            <a:r>
              <a:rPr lang="zh-CN" altLang="en-US" dirty="0" smtClean="0"/>
              <a:t>采用菜单或命令窗口输入命令进行仿真分析，观察仿真结果，对不对的地方进行修改；</a:t>
            </a:r>
            <a:endParaRPr lang="en-US" altLang="zh-CN" dirty="0" smtClean="0"/>
          </a:p>
          <a:p>
            <a:r>
              <a:rPr lang="zh-CN" altLang="en-US" dirty="0" smtClean="0"/>
              <a:t>若结果满意，则完成模型的建立。</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模块库简介</a:t>
            </a:r>
            <a:r>
              <a:rPr lang="en-US" altLang="zh-CN" dirty="0" smtClean="0"/>
              <a:t>—Commonly Used blocks</a:t>
            </a:r>
            <a:endParaRPr lang="zh-CN" altLang="en-US" dirty="0"/>
          </a:p>
        </p:txBody>
      </p:sp>
      <p:sp>
        <p:nvSpPr>
          <p:cNvPr id="3" name="内容占位符 2"/>
          <p:cNvSpPr>
            <a:spLocks noGrp="1"/>
          </p:cNvSpPr>
          <p:nvPr>
            <p:ph idx="1"/>
          </p:nvPr>
        </p:nvSpPr>
        <p:spPr>
          <a:xfrm>
            <a:off x="539552" y="1340768"/>
            <a:ext cx="8229600" cy="676672"/>
          </a:xfrm>
        </p:spPr>
        <p:txBody>
          <a:bodyPr/>
          <a:lstStyle/>
          <a:p>
            <a:r>
              <a:rPr lang="zh-CN" altLang="en-US" dirty="0" smtClean="0"/>
              <a:t>将最常用的基本模块集中在一起形成的。</a:t>
            </a:r>
            <a:endParaRPr lang="zh-CN" altLang="en-US" dirty="0"/>
          </a:p>
        </p:txBody>
      </p:sp>
      <p:pic>
        <p:nvPicPr>
          <p:cNvPr id="97282" name="Picture 2"/>
          <p:cNvPicPr>
            <a:picLocks noChangeAspect="1" noChangeArrowheads="1"/>
          </p:cNvPicPr>
          <p:nvPr/>
        </p:nvPicPr>
        <p:blipFill>
          <a:blip r:embed="rId2" cstate="print"/>
          <a:srcRect/>
          <a:stretch>
            <a:fillRect/>
          </a:stretch>
        </p:blipFill>
        <p:spPr bwMode="auto">
          <a:xfrm>
            <a:off x="827584" y="2060848"/>
            <a:ext cx="6408712" cy="46529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—Continuous</a:t>
            </a:r>
            <a:endParaRPr lang="zh-CN" altLang="en-US" dirty="0"/>
          </a:p>
        </p:txBody>
      </p:sp>
      <p:pic>
        <p:nvPicPr>
          <p:cNvPr id="98306" name="Picture 2"/>
          <p:cNvPicPr>
            <a:picLocks noChangeAspect="1" noChangeArrowheads="1"/>
          </p:cNvPicPr>
          <p:nvPr/>
        </p:nvPicPr>
        <p:blipFill>
          <a:blip r:embed="rId2" cstate="print"/>
          <a:srcRect/>
          <a:stretch>
            <a:fillRect/>
          </a:stretch>
        </p:blipFill>
        <p:spPr bwMode="auto">
          <a:xfrm>
            <a:off x="395535" y="1484784"/>
            <a:ext cx="8578201" cy="381642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—Discontinues</a:t>
            </a:r>
            <a:endParaRPr lang="zh-CN" altLang="en-US" dirty="0"/>
          </a:p>
        </p:txBody>
      </p:sp>
      <p:pic>
        <p:nvPicPr>
          <p:cNvPr id="99331" name="Picture 3"/>
          <p:cNvPicPr>
            <a:picLocks noChangeAspect="1" noChangeArrowheads="1"/>
          </p:cNvPicPr>
          <p:nvPr/>
        </p:nvPicPr>
        <p:blipFill>
          <a:blip r:embed="rId2" cstate="print"/>
          <a:srcRect/>
          <a:stretch>
            <a:fillRect/>
          </a:stretch>
        </p:blipFill>
        <p:spPr bwMode="auto">
          <a:xfrm>
            <a:off x="0" y="1484784"/>
            <a:ext cx="8889123" cy="331236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--Discrete</a:t>
            </a:r>
            <a:endParaRPr lang="zh-CN" altLang="en-US" dirty="0"/>
          </a:p>
        </p:txBody>
      </p:sp>
      <p:pic>
        <p:nvPicPr>
          <p:cNvPr id="100354" name="Picture 2"/>
          <p:cNvPicPr>
            <a:picLocks noChangeAspect="1" noChangeArrowheads="1"/>
          </p:cNvPicPr>
          <p:nvPr/>
        </p:nvPicPr>
        <p:blipFill>
          <a:blip r:embed="rId2" cstate="print"/>
          <a:srcRect/>
          <a:stretch>
            <a:fillRect/>
          </a:stretch>
        </p:blipFill>
        <p:spPr bwMode="auto">
          <a:xfrm>
            <a:off x="395536" y="1268760"/>
            <a:ext cx="7848872" cy="4907576"/>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模块库简介</a:t>
            </a:r>
            <a:r>
              <a:rPr lang="en-US" altLang="zh-CN" dirty="0" smtClean="0"/>
              <a:t>—Logic and Bit Operation</a:t>
            </a:r>
            <a:endParaRPr lang="zh-CN" altLang="en-US" dirty="0"/>
          </a:p>
        </p:txBody>
      </p:sp>
      <p:pic>
        <p:nvPicPr>
          <p:cNvPr id="101378" name="Picture 2"/>
          <p:cNvPicPr>
            <a:picLocks noChangeAspect="1" noChangeArrowheads="1"/>
          </p:cNvPicPr>
          <p:nvPr/>
        </p:nvPicPr>
        <p:blipFill>
          <a:blip r:embed="rId2" cstate="print"/>
          <a:srcRect/>
          <a:stretch>
            <a:fillRect/>
          </a:stretch>
        </p:blipFill>
        <p:spPr bwMode="auto">
          <a:xfrm>
            <a:off x="467544" y="1484784"/>
            <a:ext cx="7560840" cy="4882052"/>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—Lookup Tables</a:t>
            </a:r>
            <a:endParaRPr lang="zh-CN" altLang="en-US" dirty="0"/>
          </a:p>
        </p:txBody>
      </p:sp>
      <p:pic>
        <p:nvPicPr>
          <p:cNvPr id="102402" name="Picture 2"/>
          <p:cNvPicPr>
            <a:picLocks noChangeAspect="1" noChangeArrowheads="1"/>
          </p:cNvPicPr>
          <p:nvPr/>
        </p:nvPicPr>
        <p:blipFill>
          <a:blip r:embed="rId2" cstate="print"/>
          <a:srcRect/>
          <a:stretch>
            <a:fillRect/>
          </a:stretch>
        </p:blipFill>
        <p:spPr bwMode="auto">
          <a:xfrm>
            <a:off x="251519" y="1412776"/>
            <a:ext cx="8558073" cy="252028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—Math Operations</a:t>
            </a:r>
            <a:endParaRPr lang="zh-CN" altLang="en-US" dirty="0"/>
          </a:p>
        </p:txBody>
      </p:sp>
      <p:pic>
        <p:nvPicPr>
          <p:cNvPr id="103426" name="Picture 2"/>
          <p:cNvPicPr>
            <a:picLocks noChangeAspect="1" noChangeArrowheads="1"/>
          </p:cNvPicPr>
          <p:nvPr/>
        </p:nvPicPr>
        <p:blipFill>
          <a:blip r:embed="rId2" cstate="print"/>
          <a:srcRect/>
          <a:stretch>
            <a:fillRect/>
          </a:stretch>
        </p:blipFill>
        <p:spPr bwMode="auto">
          <a:xfrm>
            <a:off x="179512" y="1196752"/>
            <a:ext cx="8208912" cy="5650968"/>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—Sources</a:t>
            </a:r>
            <a:endParaRPr lang="zh-CN" altLang="en-US" dirty="0"/>
          </a:p>
        </p:txBody>
      </p:sp>
      <p:sp>
        <p:nvSpPr>
          <p:cNvPr id="3" name="内容占位符 2"/>
          <p:cNvSpPr>
            <a:spLocks noGrp="1"/>
          </p:cNvSpPr>
          <p:nvPr>
            <p:ph idx="1"/>
          </p:nvPr>
        </p:nvSpPr>
        <p:spPr>
          <a:xfrm>
            <a:off x="395536" y="1196752"/>
            <a:ext cx="8229600" cy="1684784"/>
          </a:xfrm>
        </p:spPr>
        <p:txBody>
          <a:bodyPr>
            <a:normAutofit fontScale="92500" lnSpcReduction="20000"/>
          </a:bodyPr>
          <a:lstStyle/>
          <a:p>
            <a:r>
              <a:rPr lang="zh-CN" altLang="en-US" dirty="0" smtClean="0"/>
              <a:t>信号源模块库包含各种信号生成模块</a:t>
            </a:r>
            <a:endParaRPr lang="en-US" altLang="zh-CN" dirty="0" smtClean="0"/>
          </a:p>
          <a:p>
            <a:pPr lvl="1"/>
            <a:r>
              <a:rPr lang="zh-CN" altLang="en-US" dirty="0" smtClean="0"/>
              <a:t>模块与子系统输入信号源：</a:t>
            </a:r>
            <a:r>
              <a:rPr lang="en-US" altLang="zh-CN" dirty="0" smtClean="0"/>
              <a:t>In1</a:t>
            </a:r>
            <a:r>
              <a:rPr lang="zh-CN" altLang="en-US" dirty="0" smtClean="0"/>
              <a:t>，</a:t>
            </a:r>
            <a:r>
              <a:rPr lang="en-US" altLang="zh-CN" dirty="0" smtClean="0"/>
              <a:t>Ground, From File, From Workspace</a:t>
            </a:r>
          </a:p>
          <a:p>
            <a:pPr lvl="1"/>
            <a:r>
              <a:rPr lang="zh-CN" altLang="en-US" dirty="0" smtClean="0"/>
              <a:t>信号生成器</a:t>
            </a:r>
            <a:r>
              <a:rPr lang="en-US" altLang="zh-CN" dirty="0" smtClean="0"/>
              <a:t>: </a:t>
            </a:r>
            <a:r>
              <a:rPr lang="zh-CN" altLang="en-US" dirty="0" smtClean="0"/>
              <a:t>其余的</a:t>
            </a:r>
            <a:endParaRPr lang="zh-CN" altLang="en-US" dirty="0"/>
          </a:p>
        </p:txBody>
      </p:sp>
      <p:pic>
        <p:nvPicPr>
          <p:cNvPr id="104450" name="Picture 2"/>
          <p:cNvPicPr>
            <a:picLocks noChangeAspect="1" noChangeArrowheads="1"/>
          </p:cNvPicPr>
          <p:nvPr/>
        </p:nvPicPr>
        <p:blipFill>
          <a:blip r:embed="rId2" cstate="print"/>
          <a:srcRect/>
          <a:stretch>
            <a:fillRect/>
          </a:stretch>
        </p:blipFill>
        <p:spPr bwMode="auto">
          <a:xfrm>
            <a:off x="539552" y="3140968"/>
            <a:ext cx="7992888" cy="3446114"/>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模块库简介</a:t>
            </a:r>
            <a:r>
              <a:rPr lang="en-US" altLang="zh-CN" dirty="0" smtClean="0"/>
              <a:t>—Sinks</a:t>
            </a:r>
            <a:endParaRPr lang="zh-CN" altLang="en-US" dirty="0"/>
          </a:p>
        </p:txBody>
      </p:sp>
      <p:sp>
        <p:nvSpPr>
          <p:cNvPr id="3" name="内容占位符 2"/>
          <p:cNvSpPr>
            <a:spLocks noGrp="1"/>
          </p:cNvSpPr>
          <p:nvPr>
            <p:ph idx="1"/>
          </p:nvPr>
        </p:nvSpPr>
        <p:spPr/>
        <p:txBody>
          <a:bodyPr/>
          <a:lstStyle/>
          <a:p>
            <a:r>
              <a:rPr lang="zh-CN" altLang="en-US" dirty="0" smtClean="0"/>
              <a:t>接收模块库</a:t>
            </a:r>
            <a:endParaRPr lang="en-US" altLang="zh-CN" dirty="0" smtClean="0"/>
          </a:p>
          <a:p>
            <a:pPr lvl="1"/>
            <a:r>
              <a:rPr lang="zh-CN" altLang="en-US" dirty="0" smtClean="0"/>
              <a:t>模块与子系统输出</a:t>
            </a:r>
            <a:r>
              <a:rPr lang="en-US" altLang="zh-CN" dirty="0" smtClean="0"/>
              <a:t>: Out1</a:t>
            </a:r>
          </a:p>
          <a:p>
            <a:pPr lvl="1"/>
            <a:r>
              <a:rPr lang="zh-CN" altLang="en-US" dirty="0" smtClean="0"/>
              <a:t>数据观察器</a:t>
            </a:r>
            <a:r>
              <a:rPr lang="en-US" altLang="zh-CN" dirty="0" smtClean="0"/>
              <a:t>:Terminator, To File, To Workspace</a:t>
            </a:r>
          </a:p>
          <a:p>
            <a:pPr lvl="1"/>
            <a:r>
              <a:rPr lang="zh-CN" altLang="en-US" dirty="0" smtClean="0"/>
              <a:t>仿真终止模块</a:t>
            </a:r>
            <a:r>
              <a:rPr lang="en-US" altLang="zh-CN" dirty="0" smtClean="0"/>
              <a:t>:</a:t>
            </a:r>
            <a:r>
              <a:rPr lang="zh-CN" altLang="en-US" dirty="0" smtClean="0"/>
              <a:t>其余的</a:t>
            </a:r>
            <a:endParaRPr lang="zh-CN" altLang="en-US" dirty="0"/>
          </a:p>
        </p:txBody>
      </p:sp>
      <p:pic>
        <p:nvPicPr>
          <p:cNvPr id="105474" name="Picture 2"/>
          <p:cNvPicPr>
            <a:picLocks noChangeAspect="1" noChangeArrowheads="1"/>
          </p:cNvPicPr>
          <p:nvPr/>
        </p:nvPicPr>
        <p:blipFill>
          <a:blip r:embed="rId2" cstate="print"/>
          <a:srcRect/>
          <a:stretch>
            <a:fillRect/>
          </a:stretch>
        </p:blipFill>
        <p:spPr bwMode="auto">
          <a:xfrm>
            <a:off x="467544" y="3861048"/>
            <a:ext cx="8050924" cy="2376264"/>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Overview of a General Dynamic System</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1907704" y="3933056"/>
            <a:ext cx="5010150" cy="2492375"/>
          </a:xfrm>
          <a:prstGeom prst="rect">
            <a:avLst/>
          </a:prstGeom>
          <a:noFill/>
          <a:ln w="9525">
            <a:noFill/>
            <a:miter lim="800000"/>
            <a:headEnd/>
            <a:tailEnd/>
          </a:ln>
          <a:effectLst/>
        </p:spPr>
      </p:pic>
      <p:sp>
        <p:nvSpPr>
          <p:cNvPr id="5" name="TextBox 4"/>
          <p:cNvSpPr txBox="1"/>
          <p:nvPr/>
        </p:nvSpPr>
        <p:spPr>
          <a:xfrm>
            <a:off x="179512" y="1556792"/>
            <a:ext cx="8964488" cy="2677656"/>
          </a:xfrm>
          <a:prstGeom prst="rect">
            <a:avLst/>
          </a:prstGeom>
          <a:noFill/>
        </p:spPr>
        <p:txBody>
          <a:bodyPr wrap="square" rtlCol="0">
            <a:spAutoFit/>
          </a:bodyPr>
          <a:lstStyle/>
          <a:p>
            <a:pPr>
              <a:buFont typeface="Arial" pitchFamily="34" charset="0"/>
              <a:buChar char="•"/>
            </a:pPr>
            <a:r>
              <a:rPr lang="en-US" altLang="zh-CN" dirty="0" smtClean="0"/>
              <a:t> </a:t>
            </a:r>
            <a:r>
              <a:rPr lang="en-US" altLang="zh-CN" sz="2800" dirty="0" smtClean="0">
                <a:solidFill>
                  <a:srgbClr val="0070C0"/>
                </a:solidFill>
                <a:latin typeface="Times New Roman" pitchFamily="18" charset="0"/>
                <a:cs typeface="Times New Roman" pitchFamily="18" charset="0"/>
              </a:rPr>
              <a:t>Continuous state dynamics</a:t>
            </a:r>
            <a:r>
              <a:rPr lang="en-US" altLang="zh-CN" sz="2800" dirty="0" smtClean="0">
                <a:latin typeface="Times New Roman" pitchFamily="18" charset="0"/>
                <a:cs typeface="Times New Roman" pitchFamily="18" charset="0"/>
              </a:rPr>
              <a:t>: the first derivative of the state vector is a function of the state, input, and time</a:t>
            </a:r>
          </a:p>
          <a:p>
            <a:pPr>
              <a:buFont typeface="Arial" pitchFamily="34" charset="0"/>
              <a:buChar char="•"/>
            </a:pPr>
            <a:r>
              <a:rPr lang="en-US" altLang="zh-CN" sz="2800" dirty="0" smtClean="0">
                <a:latin typeface="Times New Roman" pitchFamily="18" charset="0"/>
                <a:cs typeface="Times New Roman" pitchFamily="18" charset="0"/>
              </a:rPr>
              <a:t> </a:t>
            </a:r>
            <a:r>
              <a:rPr lang="en-US" altLang="zh-CN" sz="2800" dirty="0" smtClean="0">
                <a:solidFill>
                  <a:srgbClr val="0070C0"/>
                </a:solidFill>
                <a:latin typeface="Times New Roman" pitchFamily="18" charset="0"/>
                <a:cs typeface="Times New Roman" pitchFamily="18" charset="0"/>
              </a:rPr>
              <a:t>Discrete state dynamics</a:t>
            </a:r>
            <a:r>
              <a:rPr lang="en-US" altLang="zh-CN" sz="2800" dirty="0" smtClean="0">
                <a:latin typeface="Times New Roman" pitchFamily="18" charset="0"/>
                <a:cs typeface="Times New Roman" pitchFamily="18" charset="0"/>
              </a:rPr>
              <a:t>: the next value of the state depends on the current state, input and time</a:t>
            </a:r>
          </a:p>
          <a:p>
            <a:pPr>
              <a:buFont typeface="Arial" pitchFamily="34" charset="0"/>
              <a:buChar char="•"/>
            </a:pPr>
            <a:r>
              <a:rPr lang="en-US" altLang="zh-CN" sz="2800" dirty="0" smtClean="0">
                <a:solidFill>
                  <a:srgbClr val="0070C0"/>
                </a:solidFill>
                <a:latin typeface="Times New Roman" pitchFamily="18" charset="0"/>
                <a:cs typeface="Times New Roman" pitchFamily="18" charset="0"/>
              </a:rPr>
              <a:t>Outputs:</a:t>
            </a:r>
            <a:r>
              <a:rPr lang="en-US" altLang="zh-CN" sz="2800" dirty="0" smtClean="0">
                <a:latin typeface="Times New Roman" pitchFamily="18" charset="0"/>
                <a:cs typeface="Times New Roman" pitchFamily="18" charset="0"/>
              </a:rPr>
              <a:t> the output value is a function of states, inputs and time.</a:t>
            </a:r>
            <a:endParaRPr lang="zh-CN" altLang="en-US" sz="28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Electronic Throttle Control</a:t>
            </a:r>
            <a:br>
              <a:rPr lang="en-US" altLang="zh-CN" dirty="0" smtClean="0"/>
            </a:br>
            <a:r>
              <a:rPr lang="en-US" altLang="zh-CN" dirty="0" smtClean="0"/>
              <a:t>(</a:t>
            </a:r>
            <a:r>
              <a:rPr lang="zh-CN" altLang="en-US" dirty="0" smtClean="0"/>
              <a:t>电子油门控制系统</a:t>
            </a:r>
            <a:r>
              <a:rPr lang="en-US" altLang="zh-CN" dirty="0" smtClean="0"/>
              <a:t>)</a:t>
            </a:r>
            <a:endParaRPr lang="zh-CN" altLang="en-US" dirty="0"/>
          </a:p>
        </p:txBody>
      </p:sp>
      <p:pic>
        <p:nvPicPr>
          <p:cNvPr id="110594" name="Picture 2"/>
          <p:cNvPicPr>
            <a:picLocks noChangeAspect="1" noChangeArrowheads="1"/>
          </p:cNvPicPr>
          <p:nvPr/>
        </p:nvPicPr>
        <p:blipFill>
          <a:blip r:embed="rId2" cstate="print"/>
          <a:srcRect/>
          <a:stretch>
            <a:fillRect/>
          </a:stretch>
        </p:blipFill>
        <p:spPr bwMode="auto">
          <a:xfrm>
            <a:off x="5292080" y="1772816"/>
            <a:ext cx="3149600" cy="2222500"/>
          </a:xfrm>
          <a:prstGeom prst="rect">
            <a:avLst/>
          </a:prstGeom>
          <a:noFill/>
          <a:ln w="9525">
            <a:noFill/>
            <a:miter lim="800000"/>
            <a:headEnd/>
            <a:tailEnd/>
          </a:ln>
        </p:spPr>
      </p:pic>
      <p:pic>
        <p:nvPicPr>
          <p:cNvPr id="110595" name="Picture 3"/>
          <p:cNvPicPr>
            <a:picLocks noChangeAspect="1" noChangeArrowheads="1"/>
          </p:cNvPicPr>
          <p:nvPr/>
        </p:nvPicPr>
        <p:blipFill>
          <a:blip r:embed="rId3" cstate="print"/>
          <a:srcRect/>
          <a:stretch>
            <a:fillRect/>
          </a:stretch>
        </p:blipFill>
        <p:spPr bwMode="auto">
          <a:xfrm>
            <a:off x="539552" y="1844824"/>
            <a:ext cx="3352800" cy="1752600"/>
          </a:xfrm>
          <a:prstGeom prst="rect">
            <a:avLst/>
          </a:prstGeom>
          <a:noFill/>
          <a:ln w="9525">
            <a:noFill/>
            <a:miter lim="800000"/>
            <a:headEnd/>
            <a:tailEnd/>
          </a:ln>
        </p:spPr>
      </p:pic>
      <p:pic>
        <p:nvPicPr>
          <p:cNvPr id="110596" name="Picture 4"/>
          <p:cNvPicPr>
            <a:picLocks noChangeAspect="1" noChangeArrowheads="1"/>
          </p:cNvPicPr>
          <p:nvPr/>
        </p:nvPicPr>
        <p:blipFill>
          <a:blip r:embed="rId4" cstate="print"/>
          <a:srcRect/>
          <a:stretch>
            <a:fillRect/>
          </a:stretch>
        </p:blipFill>
        <p:spPr bwMode="auto">
          <a:xfrm>
            <a:off x="1907704" y="4077072"/>
            <a:ext cx="5040560" cy="24919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2" cstate="print"/>
          <a:srcRect/>
          <a:stretch>
            <a:fillRect/>
          </a:stretch>
        </p:blipFill>
        <p:spPr bwMode="auto">
          <a:xfrm>
            <a:off x="0" y="428604"/>
            <a:ext cx="8939241" cy="6025644"/>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Layout</a:t>
            </a:r>
            <a:endParaRPr lang="zh-CN" altLang="en-US" dirty="0"/>
          </a:p>
        </p:txBody>
      </p:sp>
      <p:pic>
        <p:nvPicPr>
          <p:cNvPr id="1027" name="Picture 3"/>
          <p:cNvPicPr>
            <a:picLocks noChangeAspect="1" noChangeArrowheads="1"/>
          </p:cNvPicPr>
          <p:nvPr/>
        </p:nvPicPr>
        <p:blipFill>
          <a:blip r:embed="rId2" cstate="print"/>
          <a:srcRect/>
          <a:stretch>
            <a:fillRect/>
          </a:stretch>
        </p:blipFill>
        <p:spPr bwMode="auto">
          <a:xfrm>
            <a:off x="323527" y="1484784"/>
            <a:ext cx="8368217" cy="338437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Sensor</a:t>
            </a:r>
            <a:endParaRPr lang="zh-CN" altLang="en-US" dirty="0"/>
          </a:p>
        </p:txBody>
      </p:sp>
      <p:sp>
        <p:nvSpPr>
          <p:cNvPr id="3" name="内容占位符 2"/>
          <p:cNvSpPr>
            <a:spLocks noGrp="1"/>
          </p:cNvSpPr>
          <p:nvPr>
            <p:ph idx="1"/>
          </p:nvPr>
        </p:nvSpPr>
        <p:spPr>
          <a:xfrm>
            <a:off x="457200" y="1600201"/>
            <a:ext cx="8229600" cy="1180727"/>
          </a:xfrm>
        </p:spPr>
        <p:txBody>
          <a:bodyPr>
            <a:normAutofit/>
          </a:bodyPr>
          <a:lstStyle/>
          <a:p>
            <a:r>
              <a:rPr lang="en-US" altLang="zh-CN" sz="2400" dirty="0" smtClean="0"/>
              <a:t>Define the potentiometer(</a:t>
            </a:r>
            <a:r>
              <a:rPr lang="zh-CN" altLang="en-US" sz="2400" dirty="0" smtClean="0"/>
              <a:t>电位计</a:t>
            </a:r>
            <a:r>
              <a:rPr lang="en-US" altLang="zh-CN" sz="2400" dirty="0" smtClean="0"/>
              <a:t>) system</a:t>
            </a:r>
          </a:p>
          <a:p>
            <a:r>
              <a:rPr lang="en-US" altLang="zh-CN" sz="2400" dirty="0" smtClean="0"/>
              <a:t>Simulate the model and analyze results</a:t>
            </a:r>
            <a:endParaRPr lang="zh-CN" altLang="en-US" sz="2400" dirty="0"/>
          </a:p>
        </p:txBody>
      </p:sp>
      <p:pic>
        <p:nvPicPr>
          <p:cNvPr id="1026" name="Picture 2"/>
          <p:cNvPicPr>
            <a:picLocks noChangeAspect="1" noChangeArrowheads="1"/>
          </p:cNvPicPr>
          <p:nvPr/>
        </p:nvPicPr>
        <p:blipFill>
          <a:blip r:embed="rId2" cstate="print"/>
          <a:srcRect/>
          <a:stretch>
            <a:fillRect/>
          </a:stretch>
        </p:blipFill>
        <p:spPr bwMode="auto">
          <a:xfrm>
            <a:off x="6357950" y="3714752"/>
            <a:ext cx="2614613" cy="2157413"/>
          </a:xfrm>
          <a:prstGeom prst="rect">
            <a:avLst/>
          </a:prstGeom>
          <a:noFill/>
          <a:ln w="9525">
            <a:noFill/>
            <a:miter lim="800000"/>
            <a:headEnd/>
            <a:tailEnd/>
          </a:ln>
          <a:effectLst/>
        </p:spPr>
      </p:pic>
      <p:pic>
        <p:nvPicPr>
          <p:cNvPr id="2050" name="Picture 2"/>
          <p:cNvPicPr>
            <a:picLocks noChangeAspect="1" noChangeArrowheads="1"/>
          </p:cNvPicPr>
          <p:nvPr/>
        </p:nvPicPr>
        <p:blipFill>
          <a:blip r:embed="rId3" cstate="print"/>
          <a:srcRect/>
          <a:stretch>
            <a:fillRect/>
          </a:stretch>
        </p:blipFill>
        <p:spPr bwMode="auto">
          <a:xfrm>
            <a:off x="899592" y="3861048"/>
            <a:ext cx="5657850" cy="25146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Defining the System and Identifying Its Components</a:t>
            </a:r>
            <a:endParaRPr lang="zh-CN" altLang="en-US" dirty="0"/>
          </a:p>
        </p:txBody>
      </p:sp>
      <p:sp>
        <p:nvSpPr>
          <p:cNvPr id="3" name="内容占位符 2"/>
          <p:cNvSpPr>
            <a:spLocks noGrp="1"/>
          </p:cNvSpPr>
          <p:nvPr>
            <p:ph idx="1"/>
          </p:nvPr>
        </p:nvSpPr>
        <p:spPr/>
        <p:txBody>
          <a:bodyPr>
            <a:normAutofit lnSpcReduction="10000"/>
          </a:bodyPr>
          <a:lstStyle/>
          <a:p>
            <a:r>
              <a:rPr lang="en-US" altLang="zh-CN" sz="2400" dirty="0" smtClean="0"/>
              <a:t>One of the outputs of the throttle subsystem is its angle. This is computed in radians and needs to be translated to degrees for analysis, and then translated to voltage for use in the controller by a potentiometer.</a:t>
            </a:r>
          </a:p>
          <a:p>
            <a:endParaRPr lang="en-US" altLang="zh-CN" sz="2000" dirty="0" smtClean="0"/>
          </a:p>
          <a:p>
            <a:r>
              <a:rPr lang="en-US" altLang="zh-CN" sz="2400" dirty="0" smtClean="0"/>
              <a:t>Before modeling the system with equations, answer the following questions:</a:t>
            </a:r>
          </a:p>
          <a:p>
            <a:pPr lvl="1"/>
            <a:r>
              <a:rPr lang="en-US" altLang="zh-CN" sz="2000" dirty="0" smtClean="0"/>
              <a:t>How many inputs?</a:t>
            </a:r>
          </a:p>
          <a:p>
            <a:pPr lvl="1"/>
            <a:r>
              <a:rPr lang="en-US" altLang="zh-CN" sz="2000" dirty="0" smtClean="0"/>
              <a:t>How many outputs?</a:t>
            </a:r>
          </a:p>
          <a:p>
            <a:pPr lvl="1"/>
            <a:r>
              <a:rPr lang="en-US" altLang="zh-CN" sz="2000" dirty="0" smtClean="0"/>
              <a:t>How many states?</a:t>
            </a:r>
          </a:p>
          <a:p>
            <a:pPr lvl="1"/>
            <a:r>
              <a:rPr lang="en-US" altLang="zh-CN" sz="2000" dirty="0" smtClean="0"/>
              <a:t>What are the parameters?</a:t>
            </a:r>
          </a:p>
          <a:p>
            <a:pPr lvl="1"/>
            <a:r>
              <a:rPr lang="en-US" altLang="zh-CN" sz="2000" dirty="0" smtClean="0"/>
              <a:t>Are there any intermediate signals?</a:t>
            </a:r>
          </a:p>
        </p:txBody>
      </p:sp>
      <p:pic>
        <p:nvPicPr>
          <p:cNvPr id="2050" name="Picture 2"/>
          <p:cNvPicPr>
            <a:picLocks noChangeAspect="1" noChangeArrowheads="1"/>
          </p:cNvPicPr>
          <p:nvPr/>
        </p:nvPicPr>
        <p:blipFill>
          <a:blip r:embed="rId2" cstate="print"/>
          <a:srcRect/>
          <a:stretch>
            <a:fillRect/>
          </a:stretch>
        </p:blipFill>
        <p:spPr bwMode="auto">
          <a:xfrm>
            <a:off x="4355976" y="4149080"/>
            <a:ext cx="4214842" cy="117870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the System with Equations</a:t>
            </a:r>
            <a:endParaRPr lang="zh-CN" altLang="en-US" dirty="0"/>
          </a:p>
        </p:txBody>
      </p:sp>
      <p:sp>
        <p:nvSpPr>
          <p:cNvPr id="6" name="TextBox 5"/>
          <p:cNvSpPr txBox="1"/>
          <p:nvPr/>
        </p:nvSpPr>
        <p:spPr>
          <a:xfrm>
            <a:off x="179512" y="1484784"/>
            <a:ext cx="5184576" cy="830997"/>
          </a:xfrm>
          <a:prstGeom prst="rect">
            <a:avLst/>
          </a:prstGeom>
          <a:noFill/>
        </p:spPr>
        <p:txBody>
          <a:bodyPr wrap="square" rtlCol="0">
            <a:spAutoFit/>
          </a:bodyPr>
          <a:lstStyle/>
          <a:p>
            <a:pPr>
              <a:buFont typeface="Arial" pitchFamily="34" charset="0"/>
              <a:buChar char="•"/>
            </a:pPr>
            <a:r>
              <a:rPr lang="en-US" altLang="zh-CN" sz="2400" dirty="0" smtClean="0"/>
              <a:t> the relationship between the angle in radians, </a:t>
            </a:r>
            <a:r>
              <a:rPr lang="en-US" altLang="zh-CN" sz="2400" i="1" dirty="0" smtClean="0">
                <a:latin typeface="Times New Roman" pitchFamily="18" charset="0"/>
                <a:cs typeface="Times New Roman" pitchFamily="18" charset="0"/>
              </a:rPr>
              <a:t>u</a:t>
            </a:r>
            <a:r>
              <a:rPr lang="en-US" altLang="zh-CN" sz="2400" dirty="0" smtClean="0"/>
              <a:t>, and the position in volts, </a:t>
            </a:r>
            <a:r>
              <a:rPr lang="en-US" altLang="zh-CN" sz="2400" i="1" dirty="0" smtClean="0">
                <a:latin typeface="Times New Roman" pitchFamily="18" charset="0"/>
                <a:cs typeface="Times New Roman" pitchFamily="18" charset="0"/>
              </a:rPr>
              <a:t>y</a:t>
            </a:r>
            <a:r>
              <a:rPr lang="en-US" altLang="zh-CN" sz="2400" dirty="0" smtClean="0"/>
              <a:t>.</a:t>
            </a:r>
            <a:endParaRPr lang="zh-CN" altLang="en-US" sz="2400" dirty="0"/>
          </a:p>
        </p:txBody>
      </p:sp>
      <p:pic>
        <p:nvPicPr>
          <p:cNvPr id="3" name="Picture 2"/>
          <p:cNvPicPr>
            <a:picLocks noChangeAspect="1" noChangeArrowheads="1"/>
          </p:cNvPicPr>
          <p:nvPr/>
        </p:nvPicPr>
        <p:blipFill>
          <a:blip r:embed="rId2" cstate="print"/>
          <a:srcRect/>
          <a:stretch>
            <a:fillRect/>
          </a:stretch>
        </p:blipFill>
        <p:spPr bwMode="auto">
          <a:xfrm>
            <a:off x="971600" y="2276872"/>
            <a:ext cx="2448272" cy="1177054"/>
          </a:xfrm>
          <a:prstGeom prst="rect">
            <a:avLst/>
          </a:prstGeom>
          <a:noFill/>
          <a:ln w="9525">
            <a:noFill/>
            <a:miter lim="800000"/>
            <a:headEnd/>
            <a:tailEnd/>
          </a:ln>
        </p:spPr>
      </p:pic>
      <p:sp>
        <p:nvSpPr>
          <p:cNvPr id="8" name="TextBox 7"/>
          <p:cNvSpPr txBox="1"/>
          <p:nvPr/>
        </p:nvSpPr>
        <p:spPr>
          <a:xfrm>
            <a:off x="179512" y="4077072"/>
            <a:ext cx="5184576" cy="830997"/>
          </a:xfrm>
          <a:prstGeom prst="rect">
            <a:avLst/>
          </a:prstGeom>
          <a:noFill/>
        </p:spPr>
        <p:txBody>
          <a:bodyPr wrap="square" rtlCol="0">
            <a:spAutoFit/>
          </a:bodyPr>
          <a:lstStyle/>
          <a:p>
            <a:pPr>
              <a:buFont typeface="Arial" pitchFamily="34" charset="0"/>
              <a:buChar char="•"/>
            </a:pPr>
            <a:r>
              <a:rPr lang="en-US" altLang="zh-CN" sz="2400" dirty="0" smtClean="0"/>
              <a:t> Computing y using a lookup table angles between 0</a:t>
            </a:r>
            <a:r>
              <a:rPr lang="en-US" altLang="zh-CN" sz="2400" baseline="30000" dirty="0" smtClean="0"/>
              <a:t>o</a:t>
            </a:r>
            <a:r>
              <a:rPr lang="en-US" altLang="zh-CN" sz="2400" dirty="0" smtClean="0"/>
              <a:t> and 90</a:t>
            </a:r>
            <a:r>
              <a:rPr lang="en-US" altLang="zh-CN" sz="2400" baseline="30000" dirty="0" smtClean="0"/>
              <a:t>o</a:t>
            </a:r>
            <a:r>
              <a:rPr lang="en-US" altLang="zh-CN" sz="2400" dirty="0" smtClean="0"/>
              <a:t>.</a:t>
            </a:r>
            <a:endParaRPr lang="zh-CN" altLang="en-US" sz="2400" dirty="0"/>
          </a:p>
        </p:txBody>
      </p:sp>
      <p:pic>
        <p:nvPicPr>
          <p:cNvPr id="4" name="Picture 3"/>
          <p:cNvPicPr>
            <a:picLocks noChangeAspect="1" noChangeArrowheads="1"/>
          </p:cNvPicPr>
          <p:nvPr/>
        </p:nvPicPr>
        <p:blipFill>
          <a:blip r:embed="rId3" cstate="print"/>
          <a:srcRect/>
          <a:stretch>
            <a:fillRect/>
          </a:stretch>
        </p:blipFill>
        <p:spPr bwMode="auto">
          <a:xfrm>
            <a:off x="5220072" y="2276872"/>
            <a:ext cx="3438525" cy="35909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Starting </a:t>
            </a:r>
            <a:r>
              <a:rPr lang="en-US" altLang="zh-CN" dirty="0" err="1" smtClean="0"/>
              <a:t>Simulink</a:t>
            </a:r>
            <a:endParaRPr lang="zh-CN" altLang="en-US" dirty="0"/>
          </a:p>
        </p:txBody>
      </p:sp>
      <p:pic>
        <p:nvPicPr>
          <p:cNvPr id="3" name="Picture 2"/>
          <p:cNvPicPr>
            <a:picLocks noChangeAspect="1" noChangeArrowheads="1"/>
          </p:cNvPicPr>
          <p:nvPr/>
        </p:nvPicPr>
        <p:blipFill>
          <a:blip r:embed="rId2" cstate="print"/>
          <a:srcRect/>
          <a:stretch>
            <a:fillRect/>
          </a:stretch>
        </p:blipFill>
        <p:spPr bwMode="auto">
          <a:xfrm>
            <a:off x="1187624" y="1484784"/>
            <a:ext cx="6315075" cy="38481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Using the </a:t>
            </a:r>
            <a:r>
              <a:rPr lang="en-US" altLang="zh-CN" dirty="0" err="1" smtClean="0"/>
              <a:t>Simulink</a:t>
            </a:r>
            <a:r>
              <a:rPr lang="en-US" altLang="zh-CN" dirty="0" smtClean="0"/>
              <a:t> Library Browser</a:t>
            </a:r>
            <a:endParaRPr lang="zh-CN" altLang="en-US" dirty="0"/>
          </a:p>
        </p:txBody>
      </p:sp>
      <p:pic>
        <p:nvPicPr>
          <p:cNvPr id="3" name="Picture 2"/>
          <p:cNvPicPr>
            <a:picLocks noChangeAspect="1" noChangeArrowheads="1"/>
          </p:cNvPicPr>
          <p:nvPr/>
        </p:nvPicPr>
        <p:blipFill>
          <a:blip r:embed="rId2" cstate="print"/>
          <a:srcRect/>
          <a:stretch>
            <a:fillRect/>
          </a:stretch>
        </p:blipFill>
        <p:spPr bwMode="auto">
          <a:xfrm>
            <a:off x="539552" y="1412776"/>
            <a:ext cx="8086634" cy="460851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8098"/>
          </a:xfrm>
        </p:spPr>
        <p:txBody>
          <a:bodyPr>
            <a:normAutofit fontScale="90000"/>
          </a:bodyPr>
          <a:lstStyle/>
          <a:p>
            <a:r>
              <a:rPr lang="en-US" altLang="zh-CN" dirty="0" smtClean="0"/>
              <a:t>Building a Block Diagram for the Model</a:t>
            </a:r>
            <a:endParaRPr lang="zh-CN" altLang="en-US" dirty="0"/>
          </a:p>
        </p:txBody>
      </p:sp>
      <p:pic>
        <p:nvPicPr>
          <p:cNvPr id="3" name="Picture 2"/>
          <p:cNvPicPr>
            <a:picLocks noChangeAspect="1" noChangeArrowheads="1"/>
          </p:cNvPicPr>
          <p:nvPr/>
        </p:nvPicPr>
        <p:blipFill>
          <a:blip r:embed="rId2" cstate="print"/>
          <a:srcRect/>
          <a:stretch>
            <a:fillRect/>
          </a:stretch>
        </p:blipFill>
        <p:spPr bwMode="auto">
          <a:xfrm>
            <a:off x="1115616" y="1196752"/>
            <a:ext cx="5429250" cy="54102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Adding Blocks</a:t>
            </a:r>
            <a:endParaRPr lang="zh-CN" altLang="en-US" dirty="0"/>
          </a:p>
        </p:txBody>
      </p:sp>
      <p:sp>
        <p:nvSpPr>
          <p:cNvPr id="3" name="内容占位符 2"/>
          <p:cNvSpPr>
            <a:spLocks noGrp="1"/>
          </p:cNvSpPr>
          <p:nvPr>
            <p:ph idx="1"/>
          </p:nvPr>
        </p:nvSpPr>
        <p:spPr>
          <a:xfrm>
            <a:off x="251520" y="1196752"/>
            <a:ext cx="8892480" cy="1257295"/>
          </a:xfrm>
        </p:spPr>
        <p:txBody>
          <a:bodyPr>
            <a:normAutofit/>
          </a:bodyPr>
          <a:lstStyle/>
          <a:p>
            <a:r>
              <a:rPr lang="en-US" altLang="zh-CN" dirty="0" smtClean="0"/>
              <a:t>   To add blocks, drag and drop them from the </a:t>
            </a:r>
            <a:r>
              <a:rPr lang="en-US" altLang="zh-CN" dirty="0" err="1" smtClean="0"/>
              <a:t>Simulink</a:t>
            </a:r>
            <a:r>
              <a:rPr lang="en-US" altLang="zh-CN" dirty="0" smtClean="0"/>
              <a:t> Library Browser into the model.</a:t>
            </a:r>
            <a:endParaRPr lang="zh-CN" altLang="en-US" dirty="0"/>
          </a:p>
        </p:txBody>
      </p:sp>
      <p:pic>
        <p:nvPicPr>
          <p:cNvPr id="7171" name="Picture 3"/>
          <p:cNvPicPr>
            <a:picLocks noChangeAspect="1" noChangeArrowheads="1"/>
          </p:cNvPicPr>
          <p:nvPr/>
        </p:nvPicPr>
        <p:blipFill>
          <a:blip r:embed="rId2" cstate="print"/>
          <a:srcRect/>
          <a:stretch>
            <a:fillRect/>
          </a:stretch>
        </p:blipFill>
        <p:spPr bwMode="auto">
          <a:xfrm>
            <a:off x="251520" y="2204864"/>
            <a:ext cx="6496050" cy="43338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blocks</a:t>
            </a:r>
            <a:endParaRPr lang="zh-CN" altLang="en-US" dirty="0"/>
          </a:p>
        </p:txBody>
      </p:sp>
      <p:sp>
        <p:nvSpPr>
          <p:cNvPr id="3" name="内容占位符 2"/>
          <p:cNvSpPr>
            <a:spLocks noGrp="1"/>
          </p:cNvSpPr>
          <p:nvPr>
            <p:ph idx="1"/>
          </p:nvPr>
        </p:nvSpPr>
        <p:spPr/>
        <p:txBody>
          <a:bodyPr/>
          <a:lstStyle/>
          <a:p>
            <a:r>
              <a:rPr lang="en-US" altLang="zh-CN" dirty="0" smtClean="0"/>
              <a:t>(Sources)</a:t>
            </a:r>
            <a:r>
              <a:rPr lang="zh-CN" altLang="en-US" dirty="0" smtClean="0"/>
              <a:t>输入信号的接口： </a:t>
            </a:r>
            <a:r>
              <a:rPr lang="en-US" altLang="zh-CN" dirty="0" smtClean="0"/>
              <a:t>In1</a:t>
            </a:r>
          </a:p>
          <a:p>
            <a:r>
              <a:rPr lang="en-US" altLang="zh-CN" dirty="0" smtClean="0"/>
              <a:t>(Sink)</a:t>
            </a:r>
            <a:r>
              <a:rPr lang="zh-CN" altLang="en-US" dirty="0" smtClean="0"/>
              <a:t>输出信号的接口：</a:t>
            </a:r>
            <a:r>
              <a:rPr lang="en-US" altLang="zh-CN" dirty="0" smtClean="0"/>
              <a:t>Out1</a:t>
            </a:r>
          </a:p>
          <a:p>
            <a:r>
              <a:rPr lang="en-US" altLang="zh-CN" dirty="0" smtClean="0"/>
              <a:t>(Math Operation)</a:t>
            </a:r>
            <a:r>
              <a:rPr lang="zh-CN" altLang="en-US" dirty="0" smtClean="0"/>
              <a:t>增益模块</a:t>
            </a:r>
            <a:r>
              <a:rPr lang="en-US" altLang="zh-CN" dirty="0" smtClean="0"/>
              <a:t>Gain,</a:t>
            </a:r>
            <a:r>
              <a:rPr lang="zh-CN" altLang="en-US" dirty="0" smtClean="0"/>
              <a:t>设置信号放大的倍数；</a:t>
            </a:r>
            <a:endParaRPr lang="en-US" altLang="zh-CN" dirty="0" smtClean="0"/>
          </a:p>
          <a:p>
            <a:r>
              <a:rPr lang="en-US" altLang="zh-CN" dirty="0" smtClean="0"/>
              <a:t>(Lookup Table)</a:t>
            </a:r>
            <a:r>
              <a:rPr lang="zh-CN" altLang="en-US" dirty="0" smtClean="0"/>
              <a:t>基本一维表格查询模块</a:t>
            </a:r>
            <a:endParaRPr lang="en-US" altLang="zh-CN" dirty="0" smtClean="0"/>
          </a:p>
          <a:p>
            <a:pPr lvl="1"/>
            <a:r>
              <a:rPr lang="zh-CN" altLang="en-US" dirty="0"/>
              <a:t>低</a:t>
            </a:r>
            <a:r>
              <a:rPr lang="zh-CN" altLang="en-US" dirty="0" smtClean="0"/>
              <a:t>版本：</a:t>
            </a:r>
            <a:r>
              <a:rPr lang="en-US" altLang="zh-CN" dirty="0" smtClean="0"/>
              <a:t>Lookup Table;</a:t>
            </a:r>
          </a:p>
          <a:p>
            <a:pPr lvl="1"/>
            <a:r>
              <a:rPr lang="zh-CN" altLang="en-US" dirty="0"/>
              <a:t>高</a:t>
            </a:r>
            <a:r>
              <a:rPr lang="zh-CN" altLang="en-US" dirty="0" smtClean="0"/>
              <a:t>版本</a:t>
            </a:r>
            <a:r>
              <a:rPr lang="en-US" altLang="zh-CN" dirty="0" smtClean="0"/>
              <a:t>2011a: 1-D Lookup Table</a:t>
            </a:r>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Connecting Blocks</a:t>
            </a:r>
            <a:endParaRPr lang="zh-CN" altLang="en-US" dirty="0"/>
          </a:p>
        </p:txBody>
      </p:sp>
      <p:sp>
        <p:nvSpPr>
          <p:cNvPr id="3" name="内容占位符 2"/>
          <p:cNvSpPr>
            <a:spLocks noGrp="1"/>
          </p:cNvSpPr>
          <p:nvPr>
            <p:ph idx="1"/>
          </p:nvPr>
        </p:nvSpPr>
        <p:spPr>
          <a:xfrm>
            <a:off x="457200" y="1600201"/>
            <a:ext cx="8229600" cy="1400172"/>
          </a:xfrm>
        </p:spPr>
        <p:txBody>
          <a:bodyPr>
            <a:normAutofit fontScale="92500" lnSpcReduction="10000"/>
          </a:bodyPr>
          <a:lstStyle/>
          <a:p>
            <a:r>
              <a:rPr lang="en-US" altLang="zh-CN" dirty="0" smtClean="0"/>
              <a:t>    To connect blocks, select the output port of the source block, and then left-click and drag a line to the destination block.</a:t>
            </a:r>
            <a:endParaRPr lang="zh-CN" altLang="en-US" dirty="0"/>
          </a:p>
        </p:txBody>
      </p:sp>
      <p:pic>
        <p:nvPicPr>
          <p:cNvPr id="4" name="Picture 2"/>
          <p:cNvPicPr>
            <a:picLocks noChangeAspect="1" noChangeArrowheads="1"/>
          </p:cNvPicPr>
          <p:nvPr/>
        </p:nvPicPr>
        <p:blipFill>
          <a:blip r:embed="rId2" cstate="print"/>
          <a:srcRect/>
          <a:stretch>
            <a:fillRect/>
          </a:stretch>
        </p:blipFill>
        <p:spPr bwMode="auto">
          <a:xfrm>
            <a:off x="1115616" y="2852936"/>
            <a:ext cx="6768752" cy="3751517"/>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0"/>
            <a:ext cx="8229600" cy="850106"/>
          </a:xfrm>
        </p:spPr>
        <p:txBody>
          <a:bodyPr/>
          <a:lstStyle/>
          <a:p>
            <a:r>
              <a:rPr lang="en-US" altLang="zh-CN" dirty="0" smtClean="0"/>
              <a:t>Defining the Block Parameters</a:t>
            </a:r>
            <a:endParaRPr lang="zh-CN" altLang="en-US" dirty="0"/>
          </a:p>
        </p:txBody>
      </p:sp>
      <p:sp>
        <p:nvSpPr>
          <p:cNvPr id="3" name="内容占位符 2"/>
          <p:cNvSpPr>
            <a:spLocks noGrp="1"/>
          </p:cNvSpPr>
          <p:nvPr>
            <p:ph idx="1"/>
          </p:nvPr>
        </p:nvSpPr>
        <p:spPr>
          <a:xfrm>
            <a:off x="467544" y="980728"/>
            <a:ext cx="8424936" cy="936104"/>
          </a:xfrm>
        </p:spPr>
        <p:txBody>
          <a:bodyPr>
            <a:noAutofit/>
          </a:bodyPr>
          <a:lstStyle/>
          <a:p>
            <a:r>
              <a:rPr lang="en-US" altLang="zh-CN" sz="2800" dirty="0" smtClean="0"/>
              <a:t>    To view and modify block parameters, double-click the block icon.</a:t>
            </a:r>
            <a:endParaRPr lang="zh-CN" altLang="en-US" sz="2800" dirty="0"/>
          </a:p>
        </p:txBody>
      </p:sp>
      <p:pic>
        <p:nvPicPr>
          <p:cNvPr id="4" name="Picture 2"/>
          <p:cNvPicPr>
            <a:picLocks noChangeAspect="1" noChangeArrowheads="1"/>
          </p:cNvPicPr>
          <p:nvPr/>
        </p:nvPicPr>
        <p:blipFill>
          <a:blip r:embed="rId2" cstate="print"/>
          <a:srcRect/>
          <a:stretch>
            <a:fillRect/>
          </a:stretch>
        </p:blipFill>
        <p:spPr bwMode="auto">
          <a:xfrm>
            <a:off x="827584" y="2492896"/>
            <a:ext cx="6791325" cy="38576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Defining the Lookup Table Parameters</a:t>
            </a:r>
            <a:endParaRPr lang="zh-CN" altLang="en-US" dirty="0"/>
          </a:p>
        </p:txBody>
      </p:sp>
      <p:pic>
        <p:nvPicPr>
          <p:cNvPr id="3" name="Picture 2"/>
          <p:cNvPicPr>
            <a:picLocks noChangeAspect="1" noChangeArrowheads="1"/>
          </p:cNvPicPr>
          <p:nvPr/>
        </p:nvPicPr>
        <p:blipFill>
          <a:blip r:embed="rId2" cstate="print"/>
          <a:srcRect/>
          <a:stretch>
            <a:fillRect/>
          </a:stretch>
        </p:blipFill>
        <p:spPr bwMode="auto">
          <a:xfrm>
            <a:off x="323529" y="1091171"/>
            <a:ext cx="7272808" cy="2948717"/>
          </a:xfrm>
          <a:prstGeom prst="rect">
            <a:avLst/>
          </a:prstGeom>
          <a:noFill/>
          <a:ln w="9525">
            <a:noFill/>
            <a:miter lim="800000"/>
            <a:headEnd/>
            <a:tailEnd/>
          </a:ln>
        </p:spPr>
      </p:pic>
      <p:pic>
        <p:nvPicPr>
          <p:cNvPr id="4" name="图片 3"/>
          <p:cNvPicPr>
            <a:picLocks noChangeAspect="1"/>
          </p:cNvPicPr>
          <p:nvPr/>
        </p:nvPicPr>
        <p:blipFill>
          <a:blip r:embed="rId3"/>
          <a:stretch>
            <a:fillRect/>
          </a:stretch>
        </p:blipFill>
        <p:spPr>
          <a:xfrm>
            <a:off x="179512" y="4043945"/>
            <a:ext cx="4930700" cy="2700821"/>
          </a:xfrm>
          <a:prstGeom prst="rect">
            <a:avLst/>
          </a:prstGeom>
        </p:spPr>
      </p:pic>
      <p:pic>
        <p:nvPicPr>
          <p:cNvPr id="5" name="图片 4"/>
          <p:cNvPicPr>
            <a:picLocks noChangeAspect="1"/>
          </p:cNvPicPr>
          <p:nvPr/>
        </p:nvPicPr>
        <p:blipFill>
          <a:blip r:embed="rId4"/>
          <a:stretch>
            <a:fillRect/>
          </a:stretch>
        </p:blipFill>
        <p:spPr>
          <a:xfrm>
            <a:off x="6300192" y="4437112"/>
            <a:ext cx="1584175" cy="216218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Defining the parameter Values Using MATLAB®</a:t>
            </a:r>
            <a:endParaRPr lang="zh-CN" altLang="en-US" dirty="0"/>
          </a:p>
        </p:txBody>
      </p:sp>
      <p:pic>
        <p:nvPicPr>
          <p:cNvPr id="3" name="Picture 2"/>
          <p:cNvPicPr>
            <a:picLocks noChangeAspect="1" noChangeArrowheads="1"/>
          </p:cNvPicPr>
          <p:nvPr/>
        </p:nvPicPr>
        <p:blipFill>
          <a:blip r:embed="rId2" cstate="print"/>
          <a:srcRect/>
          <a:stretch>
            <a:fillRect/>
          </a:stretch>
        </p:blipFill>
        <p:spPr bwMode="auto">
          <a:xfrm>
            <a:off x="899592" y="1700808"/>
            <a:ext cx="7344816" cy="4537572"/>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Labeling Blocks and Signals</a:t>
            </a:r>
            <a:endParaRPr lang="zh-CN" altLang="en-US" dirty="0"/>
          </a:p>
        </p:txBody>
      </p:sp>
      <p:sp>
        <p:nvSpPr>
          <p:cNvPr id="3" name="内容占位符 2"/>
          <p:cNvSpPr>
            <a:spLocks noGrp="1"/>
          </p:cNvSpPr>
          <p:nvPr>
            <p:ph idx="1"/>
          </p:nvPr>
        </p:nvSpPr>
        <p:spPr>
          <a:xfrm>
            <a:off x="457200" y="1600201"/>
            <a:ext cx="8229600" cy="1471610"/>
          </a:xfrm>
        </p:spPr>
        <p:txBody>
          <a:bodyPr>
            <a:noAutofit/>
          </a:bodyPr>
          <a:lstStyle/>
          <a:p>
            <a:r>
              <a:rPr lang="en-US" altLang="zh-CN" sz="2800" dirty="0" smtClean="0"/>
              <a:t>To rename a block, click the block label and edit.</a:t>
            </a:r>
          </a:p>
          <a:p>
            <a:r>
              <a:rPr lang="en-US" altLang="zh-CN" sz="2800" dirty="0" smtClean="0"/>
              <a:t>Block labels must be unique.</a:t>
            </a:r>
          </a:p>
          <a:p>
            <a:r>
              <a:rPr lang="en-US" altLang="zh-CN" sz="2800" dirty="0" smtClean="0"/>
              <a:t>To label a signal, double-click the signal line and enter text.</a:t>
            </a:r>
          </a:p>
        </p:txBody>
      </p:sp>
      <p:pic>
        <p:nvPicPr>
          <p:cNvPr id="12290" name="Picture 2"/>
          <p:cNvPicPr>
            <a:picLocks noChangeAspect="1" noChangeArrowheads="1"/>
          </p:cNvPicPr>
          <p:nvPr/>
        </p:nvPicPr>
        <p:blipFill>
          <a:blip r:embed="rId2" cstate="print"/>
          <a:srcRect/>
          <a:stretch>
            <a:fillRect/>
          </a:stretch>
        </p:blipFill>
        <p:spPr bwMode="auto">
          <a:xfrm>
            <a:off x="2051720" y="3789040"/>
            <a:ext cx="4991423" cy="2571768"/>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706090"/>
          </a:xfrm>
        </p:spPr>
        <p:txBody>
          <a:bodyPr>
            <a:normAutofit fontScale="90000"/>
          </a:bodyPr>
          <a:lstStyle/>
          <a:p>
            <a:r>
              <a:rPr lang="en-US" altLang="zh-CN" dirty="0" smtClean="0"/>
              <a:t>Defining the System Output</a:t>
            </a:r>
            <a:endParaRPr lang="zh-CN" altLang="en-US" dirty="0"/>
          </a:p>
        </p:txBody>
      </p:sp>
      <p:sp>
        <p:nvSpPr>
          <p:cNvPr id="3" name="内容占位符 2"/>
          <p:cNvSpPr>
            <a:spLocks noGrp="1"/>
          </p:cNvSpPr>
          <p:nvPr>
            <p:ph idx="1"/>
          </p:nvPr>
        </p:nvSpPr>
        <p:spPr>
          <a:xfrm>
            <a:off x="179512" y="836712"/>
            <a:ext cx="8229600" cy="2520280"/>
          </a:xfrm>
        </p:spPr>
        <p:txBody>
          <a:bodyPr>
            <a:noAutofit/>
          </a:bodyPr>
          <a:lstStyle/>
          <a:p>
            <a:r>
              <a:rPr lang="en-US" altLang="zh-CN" sz="2800" dirty="0" smtClean="0"/>
              <a:t>Signals can be loaded from the MATLAB workspace.</a:t>
            </a:r>
          </a:p>
          <a:p>
            <a:pPr lvl="1"/>
            <a:r>
              <a:rPr lang="en-US" altLang="zh-CN" sz="2400" b="1" dirty="0" smtClean="0">
                <a:sym typeface="Symbol"/>
              </a:rPr>
              <a:t>Simulation Configuration Parameters Data Import/Export</a:t>
            </a:r>
          </a:p>
          <a:p>
            <a:pPr lvl="1"/>
            <a:r>
              <a:rPr lang="en-US" altLang="zh-CN" sz="2400" dirty="0" smtClean="0">
                <a:sym typeface="Symbol"/>
              </a:rPr>
              <a:t>Define </a:t>
            </a:r>
            <a:r>
              <a:rPr lang="en-US" altLang="zh-CN" sz="2400" i="1" dirty="0" smtClean="0">
                <a:latin typeface="Times New Roman" pitchFamily="18" charset="0"/>
                <a:cs typeface="Times New Roman" pitchFamily="18" charset="0"/>
                <a:sym typeface="Symbol"/>
              </a:rPr>
              <a:t>t</a:t>
            </a:r>
            <a:r>
              <a:rPr lang="en-US" altLang="zh-CN" sz="2400" dirty="0" smtClean="0">
                <a:sym typeface="Symbol"/>
              </a:rPr>
              <a:t> and </a:t>
            </a:r>
            <a:r>
              <a:rPr lang="en-US" altLang="zh-CN" sz="2400" i="1" dirty="0" smtClean="0">
                <a:latin typeface="Times New Roman" pitchFamily="18" charset="0"/>
                <a:cs typeface="Times New Roman" pitchFamily="18" charset="0"/>
                <a:sym typeface="Symbol"/>
              </a:rPr>
              <a:t>u</a:t>
            </a:r>
            <a:r>
              <a:rPr lang="en-US" altLang="zh-CN" sz="2400" dirty="0" smtClean="0">
                <a:sym typeface="Symbol"/>
              </a:rPr>
              <a:t> in the MATLAB workspace</a:t>
            </a:r>
          </a:p>
          <a:p>
            <a:pPr lvl="2"/>
            <a:r>
              <a:rPr lang="en-US" altLang="zh-CN" sz="2000" dirty="0" smtClean="0"/>
              <a:t>&gt;&gt;t= </a:t>
            </a:r>
            <a:r>
              <a:rPr lang="en-US" altLang="zh-CN" sz="2000" dirty="0" err="1" smtClean="0"/>
              <a:t>linspace</a:t>
            </a:r>
            <a:r>
              <a:rPr lang="en-US" altLang="zh-CN" sz="2000" dirty="0" smtClean="0"/>
              <a:t>(1,10,101)’;</a:t>
            </a:r>
          </a:p>
          <a:p>
            <a:pPr lvl="2"/>
            <a:r>
              <a:rPr lang="en-US" altLang="zh-CN" sz="2000" dirty="0" smtClean="0"/>
              <a:t>&gt;&gt;u=</a:t>
            </a:r>
            <a:r>
              <a:rPr lang="en-US" altLang="zh-CN" sz="2000" dirty="0" err="1" smtClean="0"/>
              <a:t>linspace</a:t>
            </a:r>
            <a:r>
              <a:rPr lang="en-US" altLang="zh-CN" sz="2000" dirty="0" smtClean="0"/>
              <a:t>(0,pi/2,101)’;</a:t>
            </a:r>
            <a:endParaRPr lang="zh-CN" altLang="en-US" sz="2000" dirty="0"/>
          </a:p>
        </p:txBody>
      </p:sp>
      <p:pic>
        <p:nvPicPr>
          <p:cNvPr id="12291" name="Picture 3"/>
          <p:cNvPicPr>
            <a:picLocks noChangeAspect="1" noChangeArrowheads="1"/>
          </p:cNvPicPr>
          <p:nvPr/>
        </p:nvPicPr>
        <p:blipFill>
          <a:blip r:embed="rId2" cstate="print"/>
          <a:srcRect/>
          <a:stretch>
            <a:fillRect/>
          </a:stretch>
        </p:blipFill>
        <p:spPr bwMode="auto">
          <a:xfrm>
            <a:off x="4499992" y="2492896"/>
            <a:ext cx="3781425" cy="412432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Defining the System Output</a:t>
            </a:r>
            <a:endParaRPr lang="zh-CN" altLang="en-US" dirty="0"/>
          </a:p>
        </p:txBody>
      </p:sp>
      <p:pic>
        <p:nvPicPr>
          <p:cNvPr id="13314" name="Picture 2"/>
          <p:cNvPicPr>
            <a:picLocks noChangeAspect="1" noChangeArrowheads="1"/>
          </p:cNvPicPr>
          <p:nvPr/>
        </p:nvPicPr>
        <p:blipFill>
          <a:blip r:embed="rId3" cstate="print"/>
          <a:srcRect/>
          <a:stretch>
            <a:fillRect/>
          </a:stretch>
        </p:blipFill>
        <p:spPr bwMode="auto">
          <a:xfrm>
            <a:off x="539552" y="1484784"/>
            <a:ext cx="7882676" cy="39604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Simulating the Model and visualizing the Response</a:t>
            </a:r>
            <a:endParaRPr lang="zh-CN" altLang="en-US" dirty="0"/>
          </a:p>
        </p:txBody>
      </p:sp>
      <p:pic>
        <p:nvPicPr>
          <p:cNvPr id="14338" name="Picture 2"/>
          <p:cNvPicPr>
            <a:picLocks noChangeAspect="1" noChangeArrowheads="1"/>
          </p:cNvPicPr>
          <p:nvPr/>
        </p:nvPicPr>
        <p:blipFill>
          <a:blip r:embed="rId2" cstate="print"/>
          <a:srcRect/>
          <a:stretch>
            <a:fillRect/>
          </a:stretch>
        </p:blipFill>
        <p:spPr bwMode="auto">
          <a:xfrm>
            <a:off x="395536" y="1484784"/>
            <a:ext cx="6781800" cy="4705350"/>
          </a:xfrm>
          <a:prstGeom prst="rect">
            <a:avLst/>
          </a:prstGeom>
          <a:noFill/>
          <a:ln w="9525">
            <a:noFill/>
            <a:miter lim="800000"/>
            <a:headEnd/>
            <a:tailEnd/>
          </a:ln>
        </p:spPr>
      </p:pic>
      <p:sp>
        <p:nvSpPr>
          <p:cNvPr id="5" name="TextBox 4"/>
          <p:cNvSpPr txBox="1"/>
          <p:nvPr/>
        </p:nvSpPr>
        <p:spPr>
          <a:xfrm>
            <a:off x="4499992" y="3789040"/>
            <a:ext cx="4644008" cy="2677656"/>
          </a:xfrm>
          <a:prstGeom prst="rect">
            <a:avLst/>
          </a:prstGeom>
          <a:noFill/>
        </p:spPr>
        <p:txBody>
          <a:bodyPr wrap="square" rtlCol="0">
            <a:spAutoFit/>
          </a:bodyPr>
          <a:lstStyle/>
          <a:p>
            <a:pPr>
              <a:buFont typeface="Arial" pitchFamily="34" charset="0"/>
              <a:buChar char="•"/>
            </a:pPr>
            <a:r>
              <a:rPr lang="en-US" altLang="zh-CN" sz="2800" dirty="0" smtClean="0"/>
              <a:t>Visualize the simulations response:</a:t>
            </a:r>
          </a:p>
          <a:p>
            <a:pPr lvl="1">
              <a:buFont typeface="Arial" pitchFamily="34" charset="0"/>
              <a:buChar char="•"/>
            </a:pPr>
            <a:r>
              <a:rPr lang="en-US" altLang="zh-CN" sz="2800" dirty="0" smtClean="0"/>
              <a:t>&gt;&gt;plot(</a:t>
            </a:r>
            <a:r>
              <a:rPr lang="en-US" altLang="zh-CN" sz="2800" dirty="0" err="1" smtClean="0"/>
              <a:t>t,u,tout,yout,’k</a:t>
            </a:r>
            <a:r>
              <a:rPr lang="en-US" altLang="zh-CN" sz="2800" dirty="0" smtClean="0"/>
              <a:t>:’)</a:t>
            </a:r>
          </a:p>
          <a:p>
            <a:pPr lvl="1">
              <a:buFont typeface="Arial" pitchFamily="34" charset="0"/>
              <a:buChar char="•"/>
            </a:pPr>
            <a:r>
              <a:rPr lang="en-US" altLang="zh-CN" sz="2800" dirty="0" smtClean="0"/>
              <a:t>&gt;&gt;</a:t>
            </a:r>
            <a:r>
              <a:rPr lang="en-US" altLang="zh-CN" sz="2800" dirty="0" err="1" smtClean="0"/>
              <a:t>xlabel</a:t>
            </a:r>
            <a:r>
              <a:rPr lang="en-US" altLang="zh-CN" sz="2800" dirty="0" smtClean="0"/>
              <a:t>(‘simulation time’)</a:t>
            </a:r>
          </a:p>
          <a:p>
            <a:pPr lvl="1">
              <a:buFont typeface="Arial" pitchFamily="34" charset="0"/>
              <a:buChar char="•"/>
            </a:pPr>
            <a:r>
              <a:rPr lang="en-US" altLang="zh-CN" sz="2800" dirty="0" smtClean="0"/>
              <a:t>&gt;&gt;legend(‘input angle (</a:t>
            </a:r>
            <a:r>
              <a:rPr lang="en-US" altLang="zh-CN" sz="2800" dirty="0" err="1" smtClean="0"/>
              <a:t>rad</a:t>
            </a:r>
            <a:r>
              <a:rPr lang="en-US" altLang="zh-CN" sz="2800" dirty="0" smtClean="0"/>
              <a:t>)’ , ’output (volts)’)</a:t>
            </a:r>
            <a:endParaRPr lang="zh-CN"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Adding Signal Viewers</a:t>
            </a:r>
            <a:endParaRPr lang="zh-CN" altLang="en-US" dirty="0"/>
          </a:p>
        </p:txBody>
      </p:sp>
      <p:pic>
        <p:nvPicPr>
          <p:cNvPr id="15362" name="Picture 2"/>
          <p:cNvPicPr>
            <a:picLocks noChangeAspect="1" noChangeArrowheads="1"/>
          </p:cNvPicPr>
          <p:nvPr/>
        </p:nvPicPr>
        <p:blipFill>
          <a:blip r:embed="rId2" cstate="print"/>
          <a:srcRect/>
          <a:stretch>
            <a:fillRect/>
          </a:stretch>
        </p:blipFill>
        <p:spPr bwMode="auto">
          <a:xfrm>
            <a:off x="0" y="1196752"/>
            <a:ext cx="9117094" cy="518457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Modifying the Viewer Parameters</a:t>
            </a:r>
            <a:endParaRPr lang="zh-CN" altLang="en-US" dirty="0"/>
          </a:p>
        </p:txBody>
      </p:sp>
      <p:pic>
        <p:nvPicPr>
          <p:cNvPr id="16386" name="Picture 2"/>
          <p:cNvPicPr>
            <a:picLocks noChangeAspect="1" noChangeArrowheads="1"/>
          </p:cNvPicPr>
          <p:nvPr/>
        </p:nvPicPr>
        <p:blipFill>
          <a:blip r:embed="rId2" cstate="print"/>
          <a:srcRect/>
          <a:stretch>
            <a:fillRect/>
          </a:stretch>
        </p:blipFill>
        <p:spPr bwMode="auto">
          <a:xfrm>
            <a:off x="755576" y="1484784"/>
            <a:ext cx="7521046" cy="4536504"/>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Controlling the Vertical Limits of the Viewer</a:t>
            </a:r>
            <a:endParaRPr lang="zh-CN" altLang="en-US" dirty="0"/>
          </a:p>
        </p:txBody>
      </p:sp>
      <p:sp>
        <p:nvSpPr>
          <p:cNvPr id="3" name="内容占位符 2"/>
          <p:cNvSpPr>
            <a:spLocks noGrp="1"/>
          </p:cNvSpPr>
          <p:nvPr>
            <p:ph idx="1"/>
          </p:nvPr>
        </p:nvSpPr>
        <p:spPr>
          <a:xfrm>
            <a:off x="457200" y="1600201"/>
            <a:ext cx="8229600" cy="1114419"/>
          </a:xfrm>
        </p:spPr>
        <p:txBody>
          <a:bodyPr>
            <a:normAutofit fontScale="85000" lnSpcReduction="20000"/>
          </a:bodyPr>
          <a:lstStyle/>
          <a:p>
            <a:r>
              <a:rPr lang="en-US" altLang="zh-CN" dirty="0" smtClean="0"/>
              <a:t>Open the axis properties dialog box by selecting Axes properties from the context  menu after </a:t>
            </a:r>
            <a:r>
              <a:rPr lang="en-US" altLang="zh-CN" dirty="0" smtClean="0">
                <a:solidFill>
                  <a:srgbClr val="0070C0"/>
                </a:solidFill>
              </a:rPr>
              <a:t>right-clicking</a:t>
            </a:r>
            <a:r>
              <a:rPr lang="en-US" altLang="zh-CN" dirty="0" smtClean="0"/>
              <a:t> </a:t>
            </a:r>
            <a:r>
              <a:rPr lang="en-US" altLang="zh-CN" b="1" dirty="0" smtClean="0"/>
              <a:t>→</a:t>
            </a:r>
            <a:r>
              <a:rPr lang="en-US" altLang="zh-CN" b="1" dirty="0" err="1" smtClean="0"/>
              <a:t>preperty</a:t>
            </a:r>
            <a:r>
              <a:rPr lang="en-US" altLang="zh-CN" b="1" dirty="0" smtClean="0"/>
              <a:t> </a:t>
            </a:r>
            <a:r>
              <a:rPr lang="en-US" altLang="zh-CN" dirty="0" smtClean="0"/>
              <a:t>in the axis.</a:t>
            </a:r>
            <a:endParaRPr lang="zh-CN" altLang="en-US" dirty="0"/>
          </a:p>
        </p:txBody>
      </p:sp>
      <p:pic>
        <p:nvPicPr>
          <p:cNvPr id="17411" name="Picture 3"/>
          <p:cNvPicPr>
            <a:picLocks noChangeAspect="1" noChangeArrowheads="1"/>
          </p:cNvPicPr>
          <p:nvPr/>
        </p:nvPicPr>
        <p:blipFill>
          <a:blip r:embed="rId2" cstate="print"/>
          <a:srcRect/>
          <a:stretch>
            <a:fillRect/>
          </a:stretch>
        </p:blipFill>
        <p:spPr bwMode="auto">
          <a:xfrm>
            <a:off x="827584" y="2780928"/>
            <a:ext cx="7272808" cy="3263439"/>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Data from file</a:t>
            </a:r>
            <a:endParaRPr lang="zh-CN" altLang="en-US" dirty="0"/>
          </a:p>
        </p:txBody>
      </p:sp>
      <p:pic>
        <p:nvPicPr>
          <p:cNvPr id="4" name="图片 3"/>
          <p:cNvPicPr>
            <a:picLocks noChangeAspect="1"/>
          </p:cNvPicPr>
          <p:nvPr/>
        </p:nvPicPr>
        <p:blipFill>
          <a:blip r:embed="rId2"/>
          <a:stretch>
            <a:fillRect/>
          </a:stretch>
        </p:blipFill>
        <p:spPr>
          <a:xfrm>
            <a:off x="179512" y="1399991"/>
            <a:ext cx="4038600" cy="2762250"/>
          </a:xfrm>
          <a:prstGeom prst="rect">
            <a:avLst/>
          </a:prstGeom>
        </p:spPr>
      </p:pic>
      <p:pic>
        <p:nvPicPr>
          <p:cNvPr id="5" name="图片 4"/>
          <p:cNvPicPr>
            <a:picLocks noChangeAspect="1"/>
          </p:cNvPicPr>
          <p:nvPr/>
        </p:nvPicPr>
        <p:blipFill>
          <a:blip r:embed="rId3"/>
          <a:stretch>
            <a:fillRect/>
          </a:stretch>
        </p:blipFill>
        <p:spPr>
          <a:xfrm>
            <a:off x="581708" y="4341347"/>
            <a:ext cx="7272808" cy="1892494"/>
          </a:xfrm>
          <a:prstGeom prst="rect">
            <a:avLst/>
          </a:prstGeom>
        </p:spPr>
      </p:pic>
      <p:sp>
        <p:nvSpPr>
          <p:cNvPr id="6" name="椭圆 5"/>
          <p:cNvSpPr/>
          <p:nvPr/>
        </p:nvSpPr>
        <p:spPr>
          <a:xfrm>
            <a:off x="579963" y="4725144"/>
            <a:ext cx="1296144" cy="7200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558372" y="4725144"/>
            <a:ext cx="1296144" cy="7200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62626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Overview of </a:t>
            </a:r>
            <a:r>
              <a:rPr lang="en-US" altLang="zh-CN" dirty="0" err="1" smtClean="0"/>
              <a:t>Simulink</a:t>
            </a:r>
            <a:r>
              <a:rPr lang="en-US" altLang="zh-CN" dirty="0" smtClean="0"/>
              <a:t>® Solver</a:t>
            </a:r>
            <a:endParaRPr lang="zh-CN" altLang="en-US" dirty="0"/>
          </a:p>
        </p:txBody>
      </p:sp>
      <p:sp>
        <p:nvSpPr>
          <p:cNvPr id="3" name="内容占位符 2"/>
          <p:cNvSpPr>
            <a:spLocks noGrp="1"/>
          </p:cNvSpPr>
          <p:nvPr>
            <p:ph idx="1"/>
          </p:nvPr>
        </p:nvSpPr>
        <p:spPr>
          <a:xfrm>
            <a:off x="457200" y="1600201"/>
            <a:ext cx="8229600" cy="542915"/>
          </a:xfrm>
        </p:spPr>
        <p:txBody>
          <a:bodyPr>
            <a:normAutofit/>
          </a:bodyPr>
          <a:lstStyle/>
          <a:p>
            <a:r>
              <a:rPr lang="en-US" altLang="zh-CN" sz="2400" dirty="0" smtClean="0"/>
              <a:t>Model is simulated using a series of discrete time steps.</a:t>
            </a:r>
            <a:endParaRPr lang="zh-CN" altLang="en-US" sz="2400" dirty="0"/>
          </a:p>
        </p:txBody>
      </p:sp>
      <p:pic>
        <p:nvPicPr>
          <p:cNvPr id="19458" name="Picture 2"/>
          <p:cNvPicPr>
            <a:picLocks noChangeAspect="1" noChangeArrowheads="1"/>
          </p:cNvPicPr>
          <p:nvPr/>
        </p:nvPicPr>
        <p:blipFill>
          <a:blip r:embed="rId2" cstate="print"/>
          <a:srcRect/>
          <a:stretch>
            <a:fillRect/>
          </a:stretch>
        </p:blipFill>
        <p:spPr bwMode="auto">
          <a:xfrm>
            <a:off x="1071538" y="2084387"/>
            <a:ext cx="6748463" cy="4773613"/>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PWM conversion system</a:t>
            </a:r>
            <a:endParaRPr lang="zh-CN" altLang="en-US" dirty="0"/>
          </a:p>
        </p:txBody>
      </p:sp>
      <p:sp>
        <p:nvSpPr>
          <p:cNvPr id="3" name="内容占位符 2"/>
          <p:cNvSpPr>
            <a:spLocks noGrp="1"/>
          </p:cNvSpPr>
          <p:nvPr>
            <p:ph idx="1"/>
          </p:nvPr>
        </p:nvSpPr>
        <p:spPr>
          <a:xfrm>
            <a:off x="457200" y="1600201"/>
            <a:ext cx="8229600" cy="1828800"/>
          </a:xfrm>
        </p:spPr>
        <p:txBody>
          <a:bodyPr>
            <a:normAutofit/>
          </a:bodyPr>
          <a:lstStyle/>
          <a:p>
            <a:r>
              <a:rPr lang="en-US" altLang="zh-CN" sz="2400" dirty="0" smtClean="0"/>
              <a:t>Model comparisons and decision statements</a:t>
            </a:r>
          </a:p>
          <a:p>
            <a:r>
              <a:rPr lang="en-US" altLang="zh-CN" sz="2400" dirty="0" smtClean="0"/>
              <a:t>Model the PWM conversion system</a:t>
            </a:r>
          </a:p>
          <a:p>
            <a:r>
              <a:rPr lang="en-US" altLang="zh-CN" sz="2400" dirty="0" smtClean="0"/>
              <a:t>Vector signals</a:t>
            </a:r>
          </a:p>
          <a:p>
            <a:r>
              <a:rPr lang="en-US" altLang="zh-CN" sz="2400" dirty="0" smtClean="0"/>
              <a:t>Embedded MATLAB® Function block.</a:t>
            </a:r>
            <a:endParaRPr lang="zh-CN" altLang="en-US" sz="2400" dirty="0"/>
          </a:p>
        </p:txBody>
      </p:sp>
      <p:pic>
        <p:nvPicPr>
          <p:cNvPr id="18434" name="Picture 2"/>
          <p:cNvPicPr>
            <a:picLocks noChangeAspect="1" noChangeArrowheads="1"/>
          </p:cNvPicPr>
          <p:nvPr/>
        </p:nvPicPr>
        <p:blipFill>
          <a:blip r:embed="rId2" cstate="print"/>
          <a:srcRect/>
          <a:stretch>
            <a:fillRect/>
          </a:stretch>
        </p:blipFill>
        <p:spPr bwMode="auto">
          <a:xfrm>
            <a:off x="1043608" y="3573016"/>
            <a:ext cx="5600700" cy="24003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Approaches to Modeling Programming Constructs</a:t>
            </a:r>
            <a:endParaRPr lang="zh-CN" altLang="en-US" dirty="0"/>
          </a:p>
        </p:txBody>
      </p:sp>
      <p:sp>
        <p:nvSpPr>
          <p:cNvPr id="3" name="内容占位符 2"/>
          <p:cNvSpPr>
            <a:spLocks noGrp="1"/>
          </p:cNvSpPr>
          <p:nvPr>
            <p:ph idx="1"/>
          </p:nvPr>
        </p:nvSpPr>
        <p:spPr/>
        <p:txBody>
          <a:bodyPr/>
          <a:lstStyle/>
          <a:p>
            <a:pPr>
              <a:buNone/>
            </a:pPr>
            <a:r>
              <a:rPr lang="en-US" altLang="zh-CN" dirty="0" smtClean="0"/>
              <a:t>Common programming constructs</a:t>
            </a:r>
          </a:p>
          <a:p>
            <a:pPr lvl="1">
              <a:buFont typeface="Arial" pitchFamily="34" charset="0"/>
              <a:buChar char="•"/>
            </a:pPr>
            <a:r>
              <a:rPr lang="en-US" altLang="zh-CN" dirty="0" smtClean="0"/>
              <a:t>Relational comparisons(</a:t>
            </a:r>
            <a:r>
              <a:rPr lang="en-US" altLang="zh-CN" dirty="0" smtClean="0">
                <a:latin typeface="Times New Roman" pitchFamily="18" charset="0"/>
              </a:rPr>
              <a:t>&lt;, &gt;, ==,</a:t>
            </a:r>
            <a:r>
              <a:rPr lang="en-US" altLang="zh-CN" dirty="0" smtClean="0"/>
              <a:t> etc.)</a:t>
            </a:r>
          </a:p>
          <a:p>
            <a:pPr lvl="1">
              <a:buFont typeface="Arial" pitchFamily="34" charset="0"/>
              <a:buChar char="•"/>
            </a:pPr>
            <a:r>
              <a:rPr lang="en-US" altLang="zh-CN" dirty="0" smtClean="0"/>
              <a:t>Logical operators( </a:t>
            </a:r>
            <a:r>
              <a:rPr lang="en-US" altLang="zh-CN" dirty="0" smtClean="0">
                <a:latin typeface="Times New Roman" pitchFamily="18" charset="0"/>
              </a:rPr>
              <a:t>AND, OR, NOT,</a:t>
            </a:r>
            <a:r>
              <a:rPr lang="en-US" altLang="zh-CN" dirty="0" smtClean="0"/>
              <a:t> etc.)</a:t>
            </a:r>
          </a:p>
          <a:p>
            <a:pPr lvl="1">
              <a:buFont typeface="Arial" pitchFamily="34" charset="0"/>
              <a:buChar char="•"/>
            </a:pPr>
            <a:r>
              <a:rPr lang="en-US" altLang="zh-CN" dirty="0" smtClean="0"/>
              <a:t>Decision statements(</a:t>
            </a:r>
            <a:r>
              <a:rPr lang="en-US" altLang="zh-CN" dirty="0" smtClean="0">
                <a:latin typeface="Times New Roman" pitchFamily="18" charset="0"/>
              </a:rPr>
              <a:t>if-else, switch-case,</a:t>
            </a:r>
            <a:r>
              <a:rPr lang="en-US" altLang="zh-CN" dirty="0" smtClean="0"/>
              <a:t> etc.)</a:t>
            </a:r>
          </a:p>
          <a:p>
            <a:pPr lvl="1">
              <a:buFont typeface="Arial" pitchFamily="34" charset="0"/>
              <a:buChar char="•"/>
            </a:pPr>
            <a:r>
              <a:rPr lang="en-US" altLang="zh-CN" dirty="0" smtClean="0"/>
              <a:t>Loop constructs(</a:t>
            </a:r>
            <a:r>
              <a:rPr lang="en-US" altLang="zh-CN" dirty="0" smtClean="0">
                <a:latin typeface="Times New Roman" pitchFamily="18" charset="0"/>
              </a:rPr>
              <a:t>for-loop, while-loop, </a:t>
            </a:r>
            <a:r>
              <a:rPr lang="en-US" altLang="zh-CN" dirty="0" smtClean="0"/>
              <a:t>etc.)</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Comparisons</a:t>
            </a:r>
            <a:endParaRPr lang="zh-CN" altLang="en-US" dirty="0"/>
          </a:p>
        </p:txBody>
      </p:sp>
      <p:pic>
        <p:nvPicPr>
          <p:cNvPr id="2051" name="Picture 3"/>
          <p:cNvPicPr>
            <a:picLocks noChangeAspect="1" noChangeArrowheads="1"/>
          </p:cNvPicPr>
          <p:nvPr/>
        </p:nvPicPr>
        <p:blipFill>
          <a:blip r:embed="rId2" cstate="print"/>
          <a:srcRect/>
          <a:stretch>
            <a:fillRect/>
          </a:stretch>
        </p:blipFill>
        <p:spPr bwMode="auto">
          <a:xfrm>
            <a:off x="323528" y="1340768"/>
            <a:ext cx="8397281" cy="792088"/>
          </a:xfrm>
          <a:prstGeom prst="rect">
            <a:avLst/>
          </a:prstGeom>
          <a:noFill/>
          <a:ln w="9525">
            <a:noFill/>
            <a:miter lim="800000"/>
            <a:headEnd/>
            <a:tailEnd/>
          </a:ln>
          <a:effectLst/>
        </p:spPr>
      </p:pic>
      <p:pic>
        <p:nvPicPr>
          <p:cNvPr id="19458" name="Picture 2"/>
          <p:cNvPicPr>
            <a:picLocks noChangeAspect="1" noChangeArrowheads="1"/>
          </p:cNvPicPr>
          <p:nvPr/>
        </p:nvPicPr>
        <p:blipFill>
          <a:blip r:embed="rId3" cstate="print"/>
          <a:srcRect/>
          <a:stretch>
            <a:fillRect/>
          </a:stretch>
        </p:blipFill>
        <p:spPr bwMode="auto">
          <a:xfrm>
            <a:off x="323528" y="2276872"/>
            <a:ext cx="7981073" cy="3610347"/>
          </a:xfrm>
          <a:prstGeom prst="rect">
            <a:avLst/>
          </a:prstGeom>
          <a:noFill/>
          <a:ln w="9525">
            <a:noFill/>
            <a:miter lim="800000"/>
            <a:headEnd/>
            <a:tailEnd/>
          </a:ln>
        </p:spPr>
      </p:pic>
      <p:sp>
        <p:nvSpPr>
          <p:cNvPr id="6" name="TextBox 5"/>
          <p:cNvSpPr txBox="1"/>
          <p:nvPr/>
        </p:nvSpPr>
        <p:spPr>
          <a:xfrm>
            <a:off x="323528" y="5949280"/>
            <a:ext cx="8424936" cy="584775"/>
          </a:xfrm>
          <a:prstGeom prst="rect">
            <a:avLst/>
          </a:prstGeom>
          <a:noFill/>
        </p:spPr>
        <p:txBody>
          <a:bodyPr wrap="square" rtlCol="0">
            <a:spAutoFit/>
          </a:bodyPr>
          <a:lstStyle/>
          <a:p>
            <a:pPr>
              <a:buFont typeface="Arial" pitchFamily="34" charset="0"/>
              <a:buChar char="•"/>
            </a:pPr>
            <a:r>
              <a:rPr lang="en-US" altLang="zh-CN" dirty="0" smtClean="0"/>
              <a:t> </a:t>
            </a:r>
            <a:r>
              <a:rPr lang="en-US" altLang="zh-CN" sz="3200" dirty="0" smtClean="0"/>
              <a:t>blocks are in the </a:t>
            </a:r>
            <a:r>
              <a:rPr lang="en-US" altLang="zh-CN" sz="3200" b="1" dirty="0" smtClean="0"/>
              <a:t>Logic and Bit Operation </a:t>
            </a:r>
            <a:r>
              <a:rPr lang="en-US" altLang="zh-CN" sz="3200" dirty="0" smtClean="0"/>
              <a:t>library</a:t>
            </a:r>
            <a:endParaRPr lang="zh-CN" altLang="en-US"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Decision Statements</a:t>
            </a:r>
            <a:endParaRPr lang="zh-CN" altLang="en-US" dirty="0"/>
          </a:p>
        </p:txBody>
      </p:sp>
      <p:pic>
        <p:nvPicPr>
          <p:cNvPr id="20482" name="Picture 2"/>
          <p:cNvPicPr>
            <a:picLocks noChangeAspect="1" noChangeArrowheads="1"/>
          </p:cNvPicPr>
          <p:nvPr/>
        </p:nvPicPr>
        <p:blipFill>
          <a:blip r:embed="rId2" cstate="print"/>
          <a:srcRect/>
          <a:stretch>
            <a:fillRect/>
          </a:stretch>
        </p:blipFill>
        <p:spPr bwMode="auto">
          <a:xfrm>
            <a:off x="899592" y="1268760"/>
            <a:ext cx="7715745" cy="3024336"/>
          </a:xfrm>
          <a:prstGeom prst="rect">
            <a:avLst/>
          </a:prstGeom>
          <a:noFill/>
          <a:ln w="9525">
            <a:noFill/>
            <a:miter lim="800000"/>
            <a:headEnd/>
            <a:tailEnd/>
          </a:ln>
        </p:spPr>
      </p:pic>
      <p:sp>
        <p:nvSpPr>
          <p:cNvPr id="7" name="TextBox 6"/>
          <p:cNvSpPr txBox="1"/>
          <p:nvPr/>
        </p:nvSpPr>
        <p:spPr>
          <a:xfrm>
            <a:off x="323528" y="4581128"/>
            <a:ext cx="8424936" cy="1384995"/>
          </a:xfrm>
          <a:prstGeom prst="rect">
            <a:avLst/>
          </a:prstGeom>
          <a:noFill/>
        </p:spPr>
        <p:txBody>
          <a:bodyPr wrap="square" rtlCol="0">
            <a:spAutoFit/>
          </a:bodyPr>
          <a:lstStyle/>
          <a:p>
            <a:pPr>
              <a:buFont typeface="Arial" pitchFamily="34" charset="0"/>
              <a:buChar char="•"/>
            </a:pPr>
            <a:r>
              <a:rPr lang="en-US" altLang="zh-CN" dirty="0" smtClean="0"/>
              <a:t> </a:t>
            </a:r>
            <a:r>
              <a:rPr lang="en-US" altLang="zh-CN" sz="2800" dirty="0" smtClean="0"/>
              <a:t>blocks are in the </a:t>
            </a:r>
            <a:r>
              <a:rPr lang="en-US" altLang="zh-CN" sz="2800" b="1" dirty="0" smtClean="0"/>
              <a:t>Signal Routing </a:t>
            </a:r>
            <a:r>
              <a:rPr lang="en-US" altLang="zh-CN" sz="2800" dirty="0" smtClean="0"/>
              <a:t>library</a:t>
            </a:r>
            <a:endParaRPr lang="zh-CN" altLang="en-US" sz="2800" dirty="0" smtClean="0"/>
          </a:p>
          <a:p>
            <a:pPr>
              <a:buFont typeface="Arial" pitchFamily="34" charset="0"/>
              <a:buChar char="•"/>
            </a:pPr>
            <a:r>
              <a:rPr lang="en-US" altLang="zh-CN" sz="2800" dirty="0" smtClean="0"/>
              <a:t>Switch</a:t>
            </a:r>
            <a:r>
              <a:rPr lang="zh-CN" altLang="en-US" sz="2800" dirty="0" smtClean="0"/>
              <a:t>模块的第二个信号与阈值的比较，若真，执行上面的赋值为</a:t>
            </a:r>
            <a:r>
              <a:rPr lang="en-US" altLang="zh-CN" sz="2800" dirty="0" smtClean="0"/>
              <a:t>3</a:t>
            </a:r>
            <a:r>
              <a:rPr lang="zh-CN" altLang="en-US" sz="2800" dirty="0" smtClean="0"/>
              <a:t>，否则赋值为</a:t>
            </a:r>
            <a:r>
              <a:rPr lang="en-US" altLang="zh-CN" sz="2800" dirty="0" smtClean="0"/>
              <a:t>-3</a:t>
            </a:r>
            <a:r>
              <a:rPr lang="zh-CN" altLang="en-US" sz="2800" dirty="0" smtClean="0"/>
              <a:t>；</a:t>
            </a:r>
            <a:endParaRPr lang="en-US" altLang="zh-CN" sz="2800"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Decision Statements</a:t>
            </a:r>
            <a:endParaRPr lang="zh-CN" altLang="en-US" dirty="0"/>
          </a:p>
        </p:txBody>
      </p:sp>
      <p:pic>
        <p:nvPicPr>
          <p:cNvPr id="20483" name="Picture 3"/>
          <p:cNvPicPr>
            <a:picLocks noChangeAspect="1" noChangeArrowheads="1"/>
          </p:cNvPicPr>
          <p:nvPr/>
        </p:nvPicPr>
        <p:blipFill>
          <a:blip r:embed="rId2" cstate="print"/>
          <a:srcRect/>
          <a:stretch>
            <a:fillRect/>
          </a:stretch>
        </p:blipFill>
        <p:spPr bwMode="auto">
          <a:xfrm>
            <a:off x="395536" y="1196752"/>
            <a:ext cx="8268919" cy="3816424"/>
          </a:xfrm>
          <a:prstGeom prst="rect">
            <a:avLst/>
          </a:prstGeom>
          <a:noFill/>
          <a:ln w="9525">
            <a:noFill/>
            <a:miter lim="800000"/>
            <a:headEnd/>
            <a:tailEnd/>
          </a:ln>
        </p:spPr>
      </p:pic>
      <p:sp>
        <p:nvSpPr>
          <p:cNvPr id="7" name="TextBox 6"/>
          <p:cNvSpPr txBox="1"/>
          <p:nvPr/>
        </p:nvSpPr>
        <p:spPr>
          <a:xfrm>
            <a:off x="395536" y="5013176"/>
            <a:ext cx="8424936" cy="1815882"/>
          </a:xfrm>
          <a:prstGeom prst="rect">
            <a:avLst/>
          </a:prstGeom>
          <a:noFill/>
        </p:spPr>
        <p:txBody>
          <a:bodyPr wrap="square" rtlCol="0">
            <a:spAutoFit/>
          </a:bodyPr>
          <a:lstStyle/>
          <a:p>
            <a:pPr>
              <a:buFont typeface="Arial" pitchFamily="34" charset="0"/>
              <a:buChar char="•"/>
            </a:pPr>
            <a:r>
              <a:rPr lang="en-US" altLang="zh-CN" dirty="0" smtClean="0"/>
              <a:t> </a:t>
            </a:r>
            <a:r>
              <a:rPr lang="en-US" altLang="zh-CN" sz="2800" dirty="0" smtClean="0"/>
              <a:t>blocks are in the </a:t>
            </a:r>
            <a:r>
              <a:rPr lang="en-US" altLang="zh-CN" sz="2800" b="1" dirty="0" smtClean="0"/>
              <a:t>Signal Routing </a:t>
            </a:r>
            <a:r>
              <a:rPr lang="en-US" altLang="zh-CN" sz="2800" dirty="0" smtClean="0"/>
              <a:t>library</a:t>
            </a:r>
          </a:p>
          <a:p>
            <a:pPr>
              <a:buFont typeface="Arial" pitchFamily="34" charset="0"/>
              <a:buChar char="•"/>
            </a:pPr>
            <a:r>
              <a:rPr lang="en-US" altLang="zh-CN" sz="2800" dirty="0" smtClean="0"/>
              <a:t>Multiport Switch</a:t>
            </a:r>
            <a:r>
              <a:rPr lang="zh-CN" altLang="en-US" sz="2800" dirty="0" smtClean="0"/>
              <a:t>模块的第一个信号与阈值的比较，若为</a:t>
            </a:r>
            <a:r>
              <a:rPr lang="en-US" altLang="zh-CN" sz="2800" dirty="0" smtClean="0"/>
              <a:t>1</a:t>
            </a:r>
            <a:r>
              <a:rPr lang="zh-CN" altLang="en-US" sz="2800" dirty="0" smtClean="0"/>
              <a:t>，执行第二行的赋值，若为</a:t>
            </a:r>
            <a:r>
              <a:rPr lang="en-US" altLang="zh-CN" sz="2800" dirty="0" smtClean="0"/>
              <a:t>2,3</a:t>
            </a:r>
            <a:r>
              <a:rPr lang="zh-CN" altLang="en-US" sz="2800" dirty="0" smtClean="0"/>
              <a:t>，依次为执行第三、四的赋值；</a:t>
            </a:r>
            <a:endParaRPr lang="zh-CN" alt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cstate="print"/>
          <a:srcRect/>
          <a:stretch>
            <a:fillRect/>
          </a:stretch>
        </p:blipFill>
        <p:spPr bwMode="auto">
          <a:xfrm>
            <a:off x="3347864" y="3583645"/>
            <a:ext cx="3596829" cy="3274355"/>
          </a:xfrm>
          <a:prstGeom prst="rect">
            <a:avLst/>
          </a:prstGeom>
          <a:noFill/>
          <a:ln w="9525">
            <a:noFill/>
            <a:miter lim="800000"/>
            <a:headEnd/>
            <a:tailEnd/>
          </a:ln>
        </p:spPr>
      </p:pic>
      <p:sp>
        <p:nvSpPr>
          <p:cNvPr id="2" name="标题 1"/>
          <p:cNvSpPr>
            <a:spLocks noGrp="1"/>
          </p:cNvSpPr>
          <p:nvPr>
            <p:ph type="title"/>
          </p:nvPr>
        </p:nvSpPr>
        <p:spPr/>
        <p:txBody>
          <a:bodyPr>
            <a:normAutofit fontScale="90000"/>
          </a:bodyPr>
          <a:lstStyle/>
          <a:p>
            <a:r>
              <a:rPr lang="en-US" altLang="zh-CN" dirty="0" smtClean="0"/>
              <a:t>Extracting and Combining Data Using Vectors</a:t>
            </a:r>
            <a:endParaRPr lang="zh-CN" altLang="en-US" dirty="0"/>
          </a:p>
        </p:txBody>
      </p:sp>
      <p:sp>
        <p:nvSpPr>
          <p:cNvPr id="6" name="TextBox 5"/>
          <p:cNvSpPr txBox="1"/>
          <p:nvPr/>
        </p:nvSpPr>
        <p:spPr>
          <a:xfrm>
            <a:off x="323528" y="1484784"/>
            <a:ext cx="8712968" cy="2062103"/>
          </a:xfrm>
          <a:prstGeom prst="rect">
            <a:avLst/>
          </a:prstGeom>
          <a:noFill/>
        </p:spPr>
        <p:txBody>
          <a:bodyPr wrap="square" rtlCol="0">
            <a:spAutoFit/>
          </a:bodyPr>
          <a:lstStyle/>
          <a:p>
            <a:pPr>
              <a:buFont typeface="Arial" pitchFamily="34" charset="0"/>
              <a:buChar char="•"/>
            </a:pPr>
            <a:r>
              <a:rPr lang="en-US" altLang="zh-CN" sz="3200" dirty="0" smtClean="0"/>
              <a:t> Most blocks are in the </a:t>
            </a:r>
            <a:r>
              <a:rPr lang="en-US" altLang="zh-CN" sz="3200" b="1" dirty="0" smtClean="0"/>
              <a:t>Signal Routing </a:t>
            </a:r>
            <a:r>
              <a:rPr lang="en-US" altLang="zh-CN" sz="3200" dirty="0" smtClean="0"/>
              <a:t>library</a:t>
            </a:r>
            <a:endParaRPr lang="zh-CN" altLang="en-US" sz="3200" dirty="0" smtClean="0"/>
          </a:p>
          <a:p>
            <a:pPr lvl="1">
              <a:buFont typeface="Arial" pitchFamily="34" charset="0"/>
              <a:buChar char="•"/>
            </a:pPr>
            <a:r>
              <a:rPr lang="en-US" altLang="zh-CN" sz="2400" dirty="0" err="1" smtClean="0"/>
              <a:t>Mux</a:t>
            </a:r>
            <a:r>
              <a:rPr lang="en-US" altLang="zh-CN" sz="2400" dirty="0" smtClean="0"/>
              <a:t>-----Concatenate two or more signals into a vector signal</a:t>
            </a:r>
          </a:p>
          <a:p>
            <a:pPr lvl="1">
              <a:buFont typeface="Arial" pitchFamily="34" charset="0"/>
              <a:buChar char="•"/>
            </a:pPr>
            <a:r>
              <a:rPr lang="en-US" altLang="zh-CN" sz="2400" dirty="0" err="1" smtClean="0"/>
              <a:t>Demux</a:t>
            </a:r>
            <a:r>
              <a:rPr lang="en-US" altLang="zh-CN" sz="2400" dirty="0" smtClean="0"/>
              <a:t>-----Split a vector signal into separate signals</a:t>
            </a:r>
          </a:p>
          <a:p>
            <a:pPr lvl="1">
              <a:buFont typeface="Arial" pitchFamily="34" charset="0"/>
              <a:buChar char="•"/>
            </a:pPr>
            <a:r>
              <a:rPr lang="en-US" altLang="zh-CN" sz="2400" dirty="0" smtClean="0"/>
              <a:t>Selector-----Output specific elements of a vector signal</a:t>
            </a:r>
            <a:r>
              <a:rPr lang="zh-CN" altLang="en-US" sz="2400" dirty="0" smtClean="0"/>
              <a:t>，（用于从向量中、矩阵或多维信号中选择输入元素）。</a:t>
            </a:r>
            <a:endParaRPr lang="en-US" altLang="zh-CN" sz="2400"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Defining the System and Identifying Its Components</a:t>
            </a:r>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1928794" y="2000240"/>
            <a:ext cx="4810125" cy="1522413"/>
          </a:xfrm>
          <a:prstGeom prst="rect">
            <a:avLst/>
          </a:prstGeom>
          <a:noFill/>
          <a:ln w="9525">
            <a:noFill/>
            <a:miter lim="800000"/>
            <a:headEnd/>
            <a:tailEnd/>
          </a:ln>
          <a:effectLst/>
        </p:spPr>
      </p:pic>
      <p:sp>
        <p:nvSpPr>
          <p:cNvPr id="5" name="TextBox 4"/>
          <p:cNvSpPr txBox="1"/>
          <p:nvPr/>
        </p:nvSpPr>
        <p:spPr>
          <a:xfrm>
            <a:off x="928662" y="3714752"/>
            <a:ext cx="7643866" cy="2123658"/>
          </a:xfrm>
          <a:prstGeom prst="rect">
            <a:avLst/>
          </a:prstGeom>
          <a:noFill/>
        </p:spPr>
        <p:txBody>
          <a:bodyPr wrap="square" rtlCol="0">
            <a:spAutoFit/>
          </a:bodyPr>
          <a:lstStyle/>
          <a:p>
            <a:r>
              <a:rPr lang="en-US" altLang="zh-CN" sz="2200" dirty="0" smtClean="0"/>
              <a:t>The variables in this system are the controller output(u), duty, and direction</a:t>
            </a:r>
          </a:p>
          <a:p>
            <a:pPr lvl="1">
              <a:buFont typeface="Arial" pitchFamily="34" charset="0"/>
              <a:buChar char="•"/>
            </a:pPr>
            <a:r>
              <a:rPr lang="en-US" altLang="zh-CN" sz="2200" dirty="0" smtClean="0"/>
              <a:t> The controller output, u, is the system input.</a:t>
            </a:r>
          </a:p>
          <a:p>
            <a:pPr lvl="1">
              <a:buFont typeface="Arial" pitchFamily="34" charset="0"/>
              <a:buChar char="•"/>
            </a:pPr>
            <a:r>
              <a:rPr lang="en-US" altLang="zh-CN" sz="2200" dirty="0" smtClean="0"/>
              <a:t> Duty and direction are the system outputs.</a:t>
            </a:r>
          </a:p>
          <a:p>
            <a:pPr lvl="1">
              <a:buFont typeface="Arial" pitchFamily="34" charset="0"/>
              <a:buChar char="•"/>
            </a:pPr>
            <a:r>
              <a:rPr lang="en-US" altLang="zh-CN" sz="2200" dirty="0" smtClean="0"/>
              <a:t> There are no state  or parameters to this system both  duty and direction are computed directly from the input signal.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the System with Equations</a:t>
            </a:r>
            <a:endParaRPr lang="zh-CN" altLang="en-US" dirty="0"/>
          </a:p>
        </p:txBody>
      </p:sp>
      <p:sp>
        <p:nvSpPr>
          <p:cNvPr id="3" name="内容占位符 2"/>
          <p:cNvSpPr>
            <a:spLocks noGrp="1"/>
          </p:cNvSpPr>
          <p:nvPr>
            <p:ph idx="1"/>
          </p:nvPr>
        </p:nvSpPr>
        <p:spPr>
          <a:xfrm>
            <a:off x="457200" y="1600201"/>
            <a:ext cx="8229600" cy="1400171"/>
          </a:xfrm>
        </p:spPr>
        <p:txBody>
          <a:bodyPr>
            <a:normAutofit fontScale="77500" lnSpcReduction="20000"/>
          </a:bodyPr>
          <a:lstStyle/>
          <a:p>
            <a:r>
              <a:rPr lang="en-US" altLang="zh-CN" dirty="0" smtClean="0"/>
              <a:t>The system input is </a:t>
            </a:r>
            <a:r>
              <a:rPr lang="en-US" altLang="zh-CN" dirty="0" smtClean="0">
                <a:latin typeface="Times New Roman" pitchFamily="18" charset="0"/>
              </a:rPr>
              <a:t>u. duty</a:t>
            </a:r>
            <a:r>
              <a:rPr lang="en-US" altLang="zh-CN" dirty="0" smtClean="0"/>
              <a:t> and </a:t>
            </a:r>
            <a:r>
              <a:rPr lang="en-US" altLang="zh-CN" dirty="0" smtClean="0">
                <a:latin typeface="Times New Roman" pitchFamily="18" charset="0"/>
              </a:rPr>
              <a:t>direction </a:t>
            </a:r>
            <a:r>
              <a:rPr lang="en-US" altLang="zh-CN" dirty="0" smtClean="0"/>
              <a:t>are the system outputs.</a:t>
            </a:r>
          </a:p>
          <a:p>
            <a:r>
              <a:rPr lang="en-US" altLang="zh-CN" dirty="0" smtClean="0"/>
              <a:t>The duty is constrained to fall within the range of </a:t>
            </a:r>
            <a:r>
              <a:rPr lang="en-US" altLang="zh-CN" dirty="0" smtClean="0">
                <a:latin typeface="Times New Roman" pitchFamily="18" charset="0"/>
              </a:rPr>
              <a:t>0&lt;=duty&lt;=1.</a:t>
            </a:r>
            <a:endParaRPr lang="zh-CN" altLang="en-US" dirty="0">
              <a:latin typeface="Times New Roman" pitchFamily="18" charset="0"/>
            </a:endParaRPr>
          </a:p>
        </p:txBody>
      </p:sp>
      <p:pic>
        <p:nvPicPr>
          <p:cNvPr id="6146" name="Picture 2"/>
          <p:cNvPicPr>
            <a:picLocks noChangeAspect="1" noChangeArrowheads="1"/>
          </p:cNvPicPr>
          <p:nvPr/>
        </p:nvPicPr>
        <p:blipFill>
          <a:blip r:embed="rId2" cstate="print"/>
          <a:srcRect/>
          <a:stretch>
            <a:fillRect/>
          </a:stretch>
        </p:blipFill>
        <p:spPr bwMode="auto">
          <a:xfrm>
            <a:off x="2428860" y="3357562"/>
            <a:ext cx="4695338" cy="1857388"/>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blocks</a:t>
            </a:r>
            <a:endParaRPr lang="zh-CN" altLang="en-US" dirty="0"/>
          </a:p>
        </p:txBody>
      </p:sp>
      <p:sp>
        <p:nvSpPr>
          <p:cNvPr id="3" name="内容占位符 2"/>
          <p:cNvSpPr>
            <a:spLocks noGrp="1"/>
          </p:cNvSpPr>
          <p:nvPr>
            <p:ph idx="1"/>
          </p:nvPr>
        </p:nvSpPr>
        <p:spPr/>
        <p:txBody>
          <a:bodyPr/>
          <a:lstStyle/>
          <a:p>
            <a:r>
              <a:rPr lang="en-US" altLang="zh-CN" dirty="0" smtClean="0"/>
              <a:t>Abs: </a:t>
            </a:r>
            <a:r>
              <a:rPr lang="zh-CN" altLang="en-US" dirty="0" smtClean="0"/>
              <a:t>求一个数的绝对值；</a:t>
            </a:r>
            <a:endParaRPr lang="en-US" altLang="zh-CN" dirty="0" smtClean="0"/>
          </a:p>
          <a:p>
            <a:r>
              <a:rPr lang="en-US" altLang="zh-CN" dirty="0" smtClean="0"/>
              <a:t>Saturation</a:t>
            </a:r>
            <a:r>
              <a:rPr lang="zh-CN" altLang="en-US" dirty="0" smtClean="0"/>
              <a:t>：饱和度模块，对一个信号限定上下限，当输入在有</a:t>
            </a:r>
            <a:r>
              <a:rPr lang="en-US" altLang="zh-CN" dirty="0" smtClean="0"/>
              <a:t>Lower limit </a:t>
            </a:r>
            <a:r>
              <a:rPr lang="zh-CN" altLang="en-US" dirty="0" smtClean="0"/>
              <a:t>和</a:t>
            </a:r>
            <a:r>
              <a:rPr lang="en-US" altLang="zh-CN" dirty="0" smtClean="0"/>
              <a:t>Upper limit</a:t>
            </a:r>
            <a:r>
              <a:rPr lang="zh-CN" altLang="en-US" dirty="0" smtClean="0"/>
              <a:t>参数指定的范围内时，输入信号无变化输出。若超出，则信号就被限幅（值为上限或下限）</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Building a Block Diagram for the Model</a:t>
            </a:r>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251520" y="1484784"/>
            <a:ext cx="6408712" cy="5096472"/>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Zero Crossing Detection</a:t>
            </a:r>
            <a:endParaRPr lang="zh-CN" altLang="en-US" dirty="0"/>
          </a:p>
        </p:txBody>
      </p:sp>
      <p:sp>
        <p:nvSpPr>
          <p:cNvPr id="3" name="内容占位符 2"/>
          <p:cNvSpPr>
            <a:spLocks noGrp="1"/>
          </p:cNvSpPr>
          <p:nvPr>
            <p:ph idx="1"/>
          </p:nvPr>
        </p:nvSpPr>
        <p:spPr>
          <a:xfrm>
            <a:off x="457200" y="1600201"/>
            <a:ext cx="8229600" cy="828668"/>
          </a:xfrm>
        </p:spPr>
        <p:txBody>
          <a:bodyPr>
            <a:normAutofit/>
          </a:bodyPr>
          <a:lstStyle/>
          <a:p>
            <a:r>
              <a:rPr lang="en-US" altLang="zh-CN" sz="2400" dirty="0" smtClean="0"/>
              <a:t>Blocks with discontinuous behavior can cause the solver to take additional time steps before and after a discontinuity.</a:t>
            </a:r>
            <a:endParaRPr lang="zh-CN" altLang="en-US" sz="2400" dirty="0"/>
          </a:p>
        </p:txBody>
      </p:sp>
      <p:pic>
        <p:nvPicPr>
          <p:cNvPr id="22530" name="Picture 2"/>
          <p:cNvPicPr>
            <a:picLocks noChangeAspect="1" noChangeArrowheads="1"/>
          </p:cNvPicPr>
          <p:nvPr/>
        </p:nvPicPr>
        <p:blipFill>
          <a:blip r:embed="rId2" cstate="print"/>
          <a:srcRect/>
          <a:stretch>
            <a:fillRect/>
          </a:stretch>
        </p:blipFill>
        <p:spPr bwMode="auto">
          <a:xfrm>
            <a:off x="4572000" y="2636912"/>
            <a:ext cx="4457700" cy="3733800"/>
          </a:xfrm>
          <a:prstGeom prst="rect">
            <a:avLst/>
          </a:prstGeom>
          <a:noFill/>
          <a:ln w="9525">
            <a:noFill/>
            <a:miter lim="800000"/>
            <a:headEnd/>
            <a:tailEnd/>
          </a:ln>
        </p:spPr>
      </p:pic>
      <p:pic>
        <p:nvPicPr>
          <p:cNvPr id="22531" name="Picture 3"/>
          <p:cNvPicPr>
            <a:picLocks noChangeAspect="1" noChangeArrowheads="1"/>
          </p:cNvPicPr>
          <p:nvPr/>
        </p:nvPicPr>
        <p:blipFill>
          <a:blip r:embed="rId3" cstate="print"/>
          <a:srcRect/>
          <a:stretch>
            <a:fillRect/>
          </a:stretch>
        </p:blipFill>
        <p:spPr bwMode="auto">
          <a:xfrm>
            <a:off x="251520" y="3356992"/>
            <a:ext cx="3693511" cy="237971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Logic with Embedded MATLAB® Function Blocks</a:t>
            </a:r>
            <a:endParaRPr lang="zh-CN" altLang="en-US" dirty="0"/>
          </a:p>
        </p:txBody>
      </p:sp>
      <p:pic>
        <p:nvPicPr>
          <p:cNvPr id="9218" name="Picture 2"/>
          <p:cNvPicPr>
            <a:picLocks noChangeAspect="1" noChangeArrowheads="1"/>
          </p:cNvPicPr>
          <p:nvPr/>
        </p:nvPicPr>
        <p:blipFill>
          <a:blip r:embed="rId2" cstate="print"/>
          <a:srcRect/>
          <a:stretch>
            <a:fillRect/>
          </a:stretch>
        </p:blipFill>
        <p:spPr bwMode="auto">
          <a:xfrm>
            <a:off x="1331640" y="2780928"/>
            <a:ext cx="6638925" cy="3443287"/>
          </a:xfrm>
          <a:prstGeom prst="rect">
            <a:avLst/>
          </a:prstGeom>
          <a:noFill/>
          <a:ln w="9525">
            <a:noFill/>
            <a:miter lim="800000"/>
            <a:headEnd/>
            <a:tailEnd/>
          </a:ln>
          <a:effectLst/>
        </p:spPr>
      </p:pic>
      <p:sp>
        <p:nvSpPr>
          <p:cNvPr id="4" name="TextBox 3"/>
          <p:cNvSpPr txBox="1"/>
          <p:nvPr/>
        </p:nvSpPr>
        <p:spPr>
          <a:xfrm>
            <a:off x="107504" y="1628800"/>
            <a:ext cx="9036496" cy="1077218"/>
          </a:xfrm>
          <a:prstGeom prst="rect">
            <a:avLst/>
          </a:prstGeom>
          <a:noFill/>
        </p:spPr>
        <p:txBody>
          <a:bodyPr wrap="square" rtlCol="0">
            <a:spAutoFit/>
          </a:bodyPr>
          <a:lstStyle/>
          <a:p>
            <a:pPr>
              <a:buFont typeface="Arial" pitchFamily="34" charset="0"/>
              <a:buChar char="•"/>
            </a:pPr>
            <a:r>
              <a:rPr lang="en-US" altLang="zh-CN" sz="3200" dirty="0" smtClean="0"/>
              <a:t> using </a:t>
            </a:r>
            <a:r>
              <a:rPr lang="en-US" altLang="zh-CN" sz="3200" b="1" dirty="0" smtClean="0"/>
              <a:t>Embedded MATLAB Function </a:t>
            </a:r>
            <a:r>
              <a:rPr lang="en-US" altLang="zh-CN" sz="3200" dirty="0" smtClean="0"/>
              <a:t>block in </a:t>
            </a:r>
            <a:r>
              <a:rPr lang="en-US" altLang="zh-CN" sz="3200" b="1" dirty="0" smtClean="0"/>
              <a:t>user defined function </a:t>
            </a:r>
            <a:r>
              <a:rPr lang="en-US" altLang="zh-CN" sz="3200" dirty="0" smtClean="0"/>
              <a:t>library</a:t>
            </a:r>
            <a:endParaRPr lang="zh-CN" altLang="en-US" sz="3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Understanding the Embedded MATLAB® Function Block</a:t>
            </a:r>
            <a:endParaRPr lang="zh-CN" altLang="en-US" dirty="0"/>
          </a:p>
        </p:txBody>
      </p:sp>
      <p:sp>
        <p:nvSpPr>
          <p:cNvPr id="3" name="内容占位符 2"/>
          <p:cNvSpPr>
            <a:spLocks noGrp="1"/>
          </p:cNvSpPr>
          <p:nvPr>
            <p:ph idx="1"/>
          </p:nvPr>
        </p:nvSpPr>
        <p:spPr>
          <a:xfrm>
            <a:off x="457200" y="4357694"/>
            <a:ext cx="8229600" cy="1768469"/>
          </a:xfrm>
        </p:spPr>
        <p:txBody>
          <a:bodyPr>
            <a:normAutofit lnSpcReduction="10000"/>
          </a:bodyPr>
          <a:lstStyle/>
          <a:p>
            <a:pPr>
              <a:buNone/>
            </a:pPr>
            <a:r>
              <a:rPr lang="en-US" altLang="zh-CN" sz="2400" dirty="0" smtClean="0"/>
              <a:t>Embedded  MATLAB  Library</a:t>
            </a:r>
          </a:p>
          <a:p>
            <a:pPr lvl="1">
              <a:buFont typeface="Arial" pitchFamily="34" charset="0"/>
              <a:buChar char="•"/>
            </a:pPr>
            <a:r>
              <a:rPr lang="en-US" altLang="zh-CN" sz="2000" dirty="0" smtClean="0"/>
              <a:t>Supported functions are simulated via code generation</a:t>
            </a:r>
          </a:p>
          <a:p>
            <a:pPr lvl="1">
              <a:buFont typeface="Arial" pitchFamily="34" charset="0"/>
              <a:buChar char="•"/>
            </a:pPr>
            <a:endParaRPr lang="en-US" altLang="zh-CN" sz="2000" dirty="0" smtClean="0"/>
          </a:p>
          <a:p>
            <a:pPr lvl="1">
              <a:buFont typeface="Arial" pitchFamily="34" charset="0"/>
              <a:buChar char="•"/>
            </a:pPr>
            <a:endParaRPr lang="en-US" altLang="zh-CN" sz="2000" dirty="0" smtClean="0"/>
          </a:p>
          <a:p>
            <a:pPr lvl="1">
              <a:buFont typeface="Arial" pitchFamily="34" charset="0"/>
              <a:buChar char="•"/>
            </a:pPr>
            <a:r>
              <a:rPr lang="en-US" altLang="zh-CN" sz="2000" dirty="0" smtClean="0"/>
              <a:t>Non-supported functions call MATLAB interpreter</a:t>
            </a:r>
            <a:endParaRPr lang="zh-CN" altLang="en-US" sz="2000" dirty="0"/>
          </a:p>
        </p:txBody>
      </p:sp>
      <p:pic>
        <p:nvPicPr>
          <p:cNvPr id="10243" name="Picture 3"/>
          <p:cNvPicPr>
            <a:picLocks noChangeAspect="1" noChangeArrowheads="1"/>
          </p:cNvPicPr>
          <p:nvPr/>
        </p:nvPicPr>
        <p:blipFill>
          <a:blip r:embed="rId2" cstate="print"/>
          <a:srcRect/>
          <a:stretch>
            <a:fillRect/>
          </a:stretch>
        </p:blipFill>
        <p:spPr bwMode="auto">
          <a:xfrm>
            <a:off x="1357290" y="5072074"/>
            <a:ext cx="3968750" cy="681037"/>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cstate="print"/>
          <a:srcRect/>
          <a:stretch>
            <a:fillRect/>
          </a:stretch>
        </p:blipFill>
        <p:spPr bwMode="auto">
          <a:xfrm>
            <a:off x="1857356" y="1428736"/>
            <a:ext cx="5010150" cy="2986087"/>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PI controller system modeling</a:t>
            </a:r>
            <a:endParaRPr lang="zh-CN" altLang="en-US" dirty="0"/>
          </a:p>
        </p:txBody>
      </p:sp>
      <p:sp>
        <p:nvSpPr>
          <p:cNvPr id="3" name="内容占位符 2"/>
          <p:cNvSpPr>
            <a:spLocks noGrp="1"/>
          </p:cNvSpPr>
          <p:nvPr>
            <p:ph idx="1"/>
          </p:nvPr>
        </p:nvSpPr>
        <p:spPr>
          <a:xfrm>
            <a:off x="457200" y="1600201"/>
            <a:ext cx="8229600" cy="2185990"/>
          </a:xfrm>
        </p:spPr>
        <p:txBody>
          <a:bodyPr>
            <a:normAutofit/>
          </a:bodyPr>
          <a:lstStyle/>
          <a:p>
            <a:r>
              <a:rPr lang="en-US" altLang="zh-CN" sz="2400" dirty="0" smtClean="0"/>
              <a:t>Define the PI controller system</a:t>
            </a:r>
          </a:p>
          <a:p>
            <a:r>
              <a:rPr lang="en-US" altLang="zh-CN" sz="2400" dirty="0" smtClean="0"/>
              <a:t>Define discrete states</a:t>
            </a:r>
          </a:p>
          <a:p>
            <a:r>
              <a:rPr lang="en-US" altLang="zh-CN" sz="2400" dirty="0" smtClean="0"/>
              <a:t>Create a model of the PI controller</a:t>
            </a:r>
          </a:p>
          <a:p>
            <a:r>
              <a:rPr lang="en-US" altLang="zh-CN" sz="2400" dirty="0" smtClean="0"/>
              <a:t>Model discrete transfer functions and state-space systems</a:t>
            </a:r>
          </a:p>
        </p:txBody>
      </p:sp>
      <p:pic>
        <p:nvPicPr>
          <p:cNvPr id="23554" name="Picture 2"/>
          <p:cNvPicPr>
            <a:picLocks noChangeAspect="1" noChangeArrowheads="1"/>
          </p:cNvPicPr>
          <p:nvPr/>
        </p:nvPicPr>
        <p:blipFill>
          <a:blip r:embed="rId2" cstate="print"/>
          <a:srcRect/>
          <a:stretch>
            <a:fillRect/>
          </a:stretch>
        </p:blipFill>
        <p:spPr bwMode="auto">
          <a:xfrm>
            <a:off x="899592" y="3861048"/>
            <a:ext cx="5695950" cy="2390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Defining the System</a:t>
            </a:r>
            <a:endParaRPr lang="zh-CN" altLang="en-US" dirty="0"/>
          </a:p>
        </p:txBody>
      </p:sp>
      <p:sp>
        <p:nvSpPr>
          <p:cNvPr id="3" name="内容占位符 2"/>
          <p:cNvSpPr>
            <a:spLocks noGrp="1"/>
          </p:cNvSpPr>
          <p:nvPr>
            <p:ph idx="1"/>
          </p:nvPr>
        </p:nvSpPr>
        <p:spPr/>
        <p:txBody>
          <a:bodyPr>
            <a:normAutofit fontScale="92500"/>
          </a:bodyPr>
          <a:lstStyle/>
          <a:p>
            <a:pPr>
              <a:buNone/>
            </a:pPr>
            <a:r>
              <a:rPr lang="en-US" altLang="zh-CN" sz="2400" dirty="0" smtClean="0"/>
              <a:t> </a:t>
            </a:r>
          </a:p>
          <a:p>
            <a:r>
              <a:rPr lang="en-US" altLang="zh-CN" dirty="0" smtClean="0">
                <a:latin typeface="Times New Roman" pitchFamily="18" charset="0"/>
                <a:cs typeface="Times New Roman" pitchFamily="18" charset="0"/>
              </a:rPr>
              <a:t> The proportional integral (PI) controller is the throttle plate position controller. </a:t>
            </a:r>
          </a:p>
          <a:p>
            <a:r>
              <a:rPr lang="en-US" altLang="zh-CN" dirty="0" smtClean="0">
                <a:latin typeface="Times New Roman" pitchFamily="18" charset="0"/>
                <a:cs typeface="Times New Roman" pitchFamily="18" charset="0"/>
              </a:rPr>
              <a:t>It receives throttle position sensory information and throttle position command information, </a:t>
            </a:r>
          </a:p>
          <a:p>
            <a:r>
              <a:rPr lang="en-US" altLang="zh-CN" dirty="0" smtClean="0">
                <a:latin typeface="Times New Roman" pitchFamily="18" charset="0"/>
                <a:cs typeface="Times New Roman" pitchFamily="18" charset="0"/>
              </a:rPr>
              <a:t>and then determines the needed motor-control voltage, the corresponding pulse-width modulation duty cycle, and direction to produce the needed voltage.</a:t>
            </a:r>
            <a:endParaRPr lang="zh-CN" altLang="en-US"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cstate="print"/>
          <a:srcRect/>
          <a:stretch>
            <a:fillRect/>
          </a:stretch>
        </p:blipFill>
        <p:spPr bwMode="auto">
          <a:xfrm>
            <a:off x="3779912" y="3284984"/>
            <a:ext cx="5200650" cy="3352800"/>
          </a:xfrm>
          <a:prstGeom prst="rect">
            <a:avLst/>
          </a:prstGeom>
          <a:noFill/>
          <a:ln w="9525">
            <a:noFill/>
            <a:miter lim="800000"/>
            <a:headEnd/>
            <a:tailEnd/>
          </a:ln>
        </p:spPr>
      </p:pic>
      <p:sp>
        <p:nvSpPr>
          <p:cNvPr id="2" name="标题 1"/>
          <p:cNvSpPr>
            <a:spLocks noGrp="1"/>
          </p:cNvSpPr>
          <p:nvPr>
            <p:ph type="title"/>
          </p:nvPr>
        </p:nvSpPr>
        <p:spPr/>
        <p:txBody>
          <a:bodyPr>
            <a:normAutofit fontScale="90000"/>
          </a:bodyPr>
          <a:lstStyle/>
          <a:p>
            <a:r>
              <a:rPr lang="en-US" altLang="zh-CN" dirty="0" smtClean="0"/>
              <a:t>Defining Discrete System Characteristics</a:t>
            </a:r>
            <a:endParaRPr lang="zh-CN" altLang="en-US" dirty="0"/>
          </a:p>
        </p:txBody>
      </p:sp>
      <p:sp>
        <p:nvSpPr>
          <p:cNvPr id="3" name="内容占位符 2"/>
          <p:cNvSpPr>
            <a:spLocks noGrp="1"/>
          </p:cNvSpPr>
          <p:nvPr>
            <p:ph idx="1"/>
          </p:nvPr>
        </p:nvSpPr>
        <p:spPr>
          <a:xfrm>
            <a:off x="457200" y="1600200"/>
            <a:ext cx="8579296" cy="3629000"/>
          </a:xfrm>
        </p:spPr>
        <p:txBody>
          <a:bodyPr>
            <a:noAutofit/>
          </a:bodyPr>
          <a:lstStyle/>
          <a:p>
            <a:r>
              <a:rPr lang="en-US" altLang="zh-CN" sz="2200" dirty="0" smtClean="0"/>
              <a:t>Dynamics are updated at a finite time interval referred to as the sample time.</a:t>
            </a:r>
          </a:p>
          <a:p>
            <a:r>
              <a:rPr lang="en-US" altLang="zh-CN" sz="2200" dirty="0" smtClean="0"/>
              <a:t>System outputs can depend on memory elements (referred to as discrete states), system inputs, and/or time.</a:t>
            </a:r>
          </a:p>
          <a:p>
            <a:r>
              <a:rPr lang="en-US" altLang="zh-CN" sz="2200" dirty="0" smtClean="0"/>
              <a:t>The mathematical representation of a discrete-state system is:</a:t>
            </a:r>
          </a:p>
          <a:p>
            <a:pPr lvl="1"/>
            <a:r>
              <a:rPr lang="en-US" altLang="zh-CN" sz="2400" dirty="0" smtClean="0"/>
              <a:t>State update equation:</a:t>
            </a:r>
          </a:p>
          <a:p>
            <a:pPr>
              <a:buNone/>
            </a:pPr>
            <a:r>
              <a:rPr lang="en-US" altLang="zh-CN" sz="2200" dirty="0" smtClean="0"/>
              <a:t>	 </a:t>
            </a:r>
            <a:r>
              <a:rPr lang="en-US" altLang="zh-CN" sz="2200" i="1" dirty="0" smtClean="0">
                <a:latin typeface="Times New Roman" pitchFamily="18" charset="0"/>
                <a:cs typeface="Times New Roman" pitchFamily="18" charset="0"/>
              </a:rPr>
              <a:t>x(k)=f(x(k-1),u(k),k)</a:t>
            </a:r>
          </a:p>
          <a:p>
            <a:pPr lvl="1"/>
            <a:r>
              <a:rPr lang="en-US" altLang="zh-CN" sz="2400" dirty="0" smtClean="0"/>
              <a:t>Output equation:</a:t>
            </a:r>
          </a:p>
          <a:p>
            <a:pPr>
              <a:buNone/>
            </a:pPr>
            <a:r>
              <a:rPr lang="en-US" altLang="zh-CN" sz="2200" dirty="0" smtClean="0"/>
              <a:t>	 </a:t>
            </a:r>
            <a:r>
              <a:rPr lang="en-US" altLang="zh-CN" sz="2200" i="1" dirty="0" smtClean="0">
                <a:latin typeface="Times New Roman" pitchFamily="18" charset="0"/>
                <a:cs typeface="Times New Roman" pitchFamily="18" charset="0"/>
              </a:rPr>
              <a:t>y(k)=f(x(k),x(k-1),…, u(k),k)</a:t>
            </a:r>
            <a:endParaRPr lang="zh-CN" altLang="en-US" sz="2200"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Modeling Difference Equations</a:t>
            </a:r>
            <a:endParaRPr lang="zh-CN" altLang="en-US" dirty="0"/>
          </a:p>
        </p:txBody>
      </p:sp>
      <p:sp>
        <p:nvSpPr>
          <p:cNvPr id="3" name="内容占位符 2"/>
          <p:cNvSpPr>
            <a:spLocks noGrp="1"/>
          </p:cNvSpPr>
          <p:nvPr>
            <p:ph idx="1"/>
          </p:nvPr>
        </p:nvSpPr>
        <p:spPr>
          <a:xfrm>
            <a:off x="457200" y="1600201"/>
            <a:ext cx="8229600" cy="1972815"/>
          </a:xfrm>
        </p:spPr>
        <p:txBody>
          <a:bodyPr>
            <a:normAutofit/>
          </a:bodyPr>
          <a:lstStyle/>
          <a:p>
            <a:r>
              <a:rPr lang="en-US" altLang="zh-CN" sz="2800" dirty="0" smtClean="0"/>
              <a:t>The </a:t>
            </a:r>
            <a:r>
              <a:rPr lang="en-US" altLang="zh-CN" sz="2800" b="1" dirty="0" smtClean="0"/>
              <a:t>Unit Delay block </a:t>
            </a:r>
            <a:r>
              <a:rPr lang="en-US" altLang="zh-CN" sz="2800" dirty="0" smtClean="0"/>
              <a:t>in </a:t>
            </a:r>
            <a:r>
              <a:rPr lang="en-US" altLang="zh-CN" sz="2800" b="1" dirty="0" smtClean="0"/>
              <a:t>Discrete</a:t>
            </a:r>
            <a:r>
              <a:rPr lang="en-US" altLang="zh-CN" sz="2800" dirty="0" smtClean="0"/>
              <a:t> block set is the generic building block of difference equations.</a:t>
            </a:r>
          </a:p>
          <a:p>
            <a:pPr lvl="1">
              <a:buFont typeface="Arial" pitchFamily="34" charset="0"/>
              <a:buChar char="•"/>
            </a:pPr>
            <a:r>
              <a:rPr lang="en-US" altLang="zh-CN" sz="2400" dirty="0" smtClean="0"/>
              <a:t>It holds and delays its input for a sample period.</a:t>
            </a:r>
          </a:p>
          <a:p>
            <a:pPr lvl="1">
              <a:buFont typeface="Arial" pitchFamily="34" charset="0"/>
              <a:buChar char="•"/>
            </a:pPr>
            <a:r>
              <a:rPr lang="en-US" altLang="zh-CN" sz="2400" dirty="0" smtClean="0"/>
              <a:t>It requires a sample time and initial conditions.</a:t>
            </a:r>
          </a:p>
        </p:txBody>
      </p:sp>
      <p:pic>
        <p:nvPicPr>
          <p:cNvPr id="3074" name="Picture 2"/>
          <p:cNvPicPr>
            <a:picLocks noChangeAspect="1" noChangeArrowheads="1"/>
          </p:cNvPicPr>
          <p:nvPr/>
        </p:nvPicPr>
        <p:blipFill>
          <a:blip r:embed="rId2" cstate="print"/>
          <a:srcRect/>
          <a:stretch>
            <a:fillRect/>
          </a:stretch>
        </p:blipFill>
        <p:spPr bwMode="auto">
          <a:xfrm rot="-60000">
            <a:off x="2781524" y="3956740"/>
            <a:ext cx="2724150" cy="1138237"/>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Difference Equations</a:t>
            </a:r>
            <a:br>
              <a:rPr lang="en-US" altLang="zh-CN" dirty="0" smtClean="0"/>
            </a:br>
            <a:r>
              <a:rPr lang="en-US" altLang="zh-CN" dirty="0" smtClean="0"/>
              <a:t>(Continued)</a:t>
            </a:r>
            <a:endParaRPr lang="zh-CN" altLang="en-US" dirty="0"/>
          </a:p>
        </p:txBody>
      </p:sp>
      <p:sp>
        <p:nvSpPr>
          <p:cNvPr id="3" name="内容占位符 2"/>
          <p:cNvSpPr>
            <a:spLocks noGrp="1"/>
          </p:cNvSpPr>
          <p:nvPr>
            <p:ph idx="1"/>
          </p:nvPr>
        </p:nvSpPr>
        <p:spPr/>
        <p:txBody>
          <a:bodyPr>
            <a:normAutofit/>
          </a:bodyPr>
          <a:lstStyle/>
          <a:p>
            <a:r>
              <a:rPr lang="en-US" altLang="zh-CN" sz="2400" dirty="0" smtClean="0"/>
              <a:t>Determine the number of Unit Delay blocks required (one for each sample difference):</a:t>
            </a:r>
          </a:p>
          <a:p>
            <a:pPr lvl="1"/>
            <a:r>
              <a:rPr lang="en-US" altLang="zh-CN" sz="2400" dirty="0" smtClean="0"/>
              <a:t>For example, </a:t>
            </a:r>
            <a:r>
              <a:rPr lang="en-US" altLang="zh-CN" sz="2400" dirty="0" smtClean="0">
                <a:latin typeface="Times New Roman" pitchFamily="18" charset="0"/>
              </a:rPr>
              <a:t>x(k)=x(k-1)+u(k)-u(k-1)</a:t>
            </a:r>
          </a:p>
          <a:p>
            <a:pPr lvl="1"/>
            <a:r>
              <a:rPr lang="en-US" altLang="zh-CN" sz="2400" dirty="0" smtClean="0"/>
              <a:t>Two are necessary: </a:t>
            </a:r>
            <a:r>
              <a:rPr lang="en-US" altLang="zh-CN" sz="2400" dirty="0" smtClean="0">
                <a:latin typeface="Times New Roman" pitchFamily="18" charset="0"/>
              </a:rPr>
              <a:t>x(k)=&gt;x(k-1), u(k)=&gt;u(k-1)</a:t>
            </a:r>
          </a:p>
          <a:p>
            <a:r>
              <a:rPr lang="en-US" altLang="zh-CN" sz="2400" dirty="0" smtClean="0"/>
              <a:t>Starting with the Unit Delay blocks, provide proper labels to their input and output signals.</a:t>
            </a:r>
          </a:p>
          <a:p>
            <a:r>
              <a:rPr lang="en-US" altLang="zh-CN" sz="2400" dirty="0" smtClean="0"/>
              <a:t>Construct its right side one difference equation at a time.</a:t>
            </a:r>
          </a:p>
          <a:p>
            <a:r>
              <a:rPr lang="en-US" altLang="zh-CN" sz="2400" dirty="0" smtClean="0"/>
              <a:t>Connect the returned signal of its right side as a source to its left side if necessary.</a:t>
            </a:r>
          </a:p>
          <a:p>
            <a:r>
              <a:rPr lang="en-US" altLang="zh-CN" sz="2400" dirty="0" smtClean="0"/>
              <a:t>Set the sample time and assign initial conditions.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the System with Equations</a:t>
            </a:r>
            <a:endParaRPr lang="zh-CN" altLang="en-US" dirty="0"/>
          </a:p>
        </p:txBody>
      </p:sp>
      <p:sp>
        <p:nvSpPr>
          <p:cNvPr id="3" name="内容占位符 2"/>
          <p:cNvSpPr>
            <a:spLocks noGrp="1"/>
          </p:cNvSpPr>
          <p:nvPr>
            <p:ph idx="1"/>
          </p:nvPr>
        </p:nvSpPr>
        <p:spPr/>
        <p:txBody>
          <a:bodyPr>
            <a:normAutofit/>
          </a:bodyPr>
          <a:lstStyle/>
          <a:p>
            <a:pPr>
              <a:buNone/>
            </a:pPr>
            <a:r>
              <a:rPr lang="en-US" altLang="zh-CN" sz="2000" dirty="0" smtClean="0"/>
              <a:t>A discrete PI controller is used as the throttle position controller based on the following equation.</a:t>
            </a:r>
          </a:p>
          <a:p>
            <a:pPr>
              <a:buNone/>
            </a:pPr>
            <a:r>
              <a:rPr lang="en-US" altLang="zh-CN" sz="2000" i="1" dirty="0" smtClean="0">
                <a:latin typeface="Times New Roman" pitchFamily="18" charset="0"/>
              </a:rPr>
              <a:t>y(k)=</a:t>
            </a:r>
            <a:r>
              <a:rPr lang="en-US" altLang="zh-CN" sz="2000" i="1" dirty="0" err="1" smtClean="0">
                <a:latin typeface="Times New Roman" pitchFamily="18" charset="0"/>
              </a:rPr>
              <a:t>y</a:t>
            </a:r>
            <a:r>
              <a:rPr lang="en-US" altLang="zh-CN" sz="2000" i="1" baseline="-25000" dirty="0" err="1" smtClean="0">
                <a:latin typeface="Times New Roman" pitchFamily="18" charset="0"/>
              </a:rPr>
              <a:t>p</a:t>
            </a:r>
            <a:r>
              <a:rPr lang="en-US" altLang="zh-CN" sz="2000" i="1" dirty="0" smtClean="0">
                <a:latin typeface="Times New Roman" pitchFamily="18" charset="0"/>
              </a:rPr>
              <a:t>(k)+</a:t>
            </a:r>
            <a:r>
              <a:rPr lang="en-US" altLang="zh-CN" sz="2000" i="1" dirty="0" err="1" smtClean="0">
                <a:latin typeface="Times New Roman" pitchFamily="18" charset="0"/>
              </a:rPr>
              <a:t>y</a:t>
            </a:r>
            <a:r>
              <a:rPr lang="en-US" altLang="zh-CN" sz="2000" i="1" baseline="-25000" dirty="0" err="1" smtClean="0">
                <a:latin typeface="Times New Roman" pitchFamily="18" charset="0"/>
              </a:rPr>
              <a:t>i</a:t>
            </a:r>
            <a:r>
              <a:rPr lang="en-US" altLang="zh-CN" sz="2000" i="1" dirty="0" smtClean="0">
                <a:latin typeface="Times New Roman" pitchFamily="18" charset="0"/>
              </a:rPr>
              <a:t> (k)</a:t>
            </a:r>
          </a:p>
          <a:p>
            <a:pPr>
              <a:buNone/>
            </a:pPr>
            <a:r>
              <a:rPr lang="en-US" altLang="zh-CN" sz="2000" dirty="0" smtClean="0"/>
              <a:t>where</a:t>
            </a:r>
          </a:p>
          <a:p>
            <a:pPr>
              <a:buNone/>
            </a:pPr>
            <a:r>
              <a:rPr lang="en-US" altLang="zh-CN" sz="2000" i="1" dirty="0" err="1" smtClean="0">
                <a:latin typeface="Times New Roman" pitchFamily="18" charset="0"/>
              </a:rPr>
              <a:t>y</a:t>
            </a:r>
            <a:r>
              <a:rPr lang="en-US" altLang="zh-CN" sz="2000" i="1" baseline="-25000" dirty="0" err="1" smtClean="0">
                <a:latin typeface="Times New Roman" pitchFamily="18" charset="0"/>
              </a:rPr>
              <a:t>p</a:t>
            </a:r>
            <a:r>
              <a:rPr lang="en-US" altLang="zh-CN" sz="2000" i="1" dirty="0" smtClean="0">
                <a:latin typeface="Times New Roman" pitchFamily="18" charset="0"/>
              </a:rPr>
              <a:t>(k)=</a:t>
            </a:r>
            <a:r>
              <a:rPr lang="en-US" altLang="zh-CN" sz="2000" i="1" dirty="0" err="1" smtClean="0">
                <a:latin typeface="Times New Roman" pitchFamily="18" charset="0"/>
              </a:rPr>
              <a:t>K</a:t>
            </a:r>
            <a:r>
              <a:rPr lang="en-US" altLang="zh-CN" sz="2000" i="1" baseline="-25000" dirty="0" err="1" smtClean="0">
                <a:latin typeface="Times New Roman" pitchFamily="18" charset="0"/>
              </a:rPr>
              <a:t>p</a:t>
            </a:r>
            <a:r>
              <a:rPr lang="en-US" altLang="zh-CN" sz="2000" i="1" dirty="0" err="1" smtClean="0">
                <a:latin typeface="Times New Roman" pitchFamily="18" charset="0"/>
              </a:rPr>
              <a:t>e</a:t>
            </a:r>
            <a:r>
              <a:rPr lang="en-US" altLang="zh-CN" sz="2000" i="1" dirty="0" smtClean="0">
                <a:latin typeface="Times New Roman" pitchFamily="18" charset="0"/>
              </a:rPr>
              <a:t>(k)</a:t>
            </a:r>
          </a:p>
          <a:p>
            <a:pPr>
              <a:buNone/>
            </a:pPr>
            <a:r>
              <a:rPr lang="en-US" altLang="zh-CN" sz="2000" i="1" dirty="0" err="1" smtClean="0">
                <a:latin typeface="Times New Roman" pitchFamily="18" charset="0"/>
              </a:rPr>
              <a:t>y</a:t>
            </a:r>
            <a:r>
              <a:rPr lang="en-US" altLang="zh-CN" sz="2000" i="1" baseline="-25000" dirty="0" err="1" smtClean="0">
                <a:latin typeface="Times New Roman" pitchFamily="18" charset="0"/>
              </a:rPr>
              <a:t>i</a:t>
            </a:r>
            <a:r>
              <a:rPr lang="en-US" altLang="zh-CN" sz="2000" i="1" dirty="0" smtClean="0">
                <a:latin typeface="Times New Roman" pitchFamily="18" charset="0"/>
              </a:rPr>
              <a:t>(k)=</a:t>
            </a:r>
            <a:r>
              <a:rPr lang="en-US" altLang="zh-CN" sz="2000" i="1" dirty="0" err="1" smtClean="0">
                <a:latin typeface="Times New Roman" pitchFamily="18" charset="0"/>
              </a:rPr>
              <a:t>y</a:t>
            </a:r>
            <a:r>
              <a:rPr lang="en-US" altLang="zh-CN" sz="2000" i="1" baseline="-25000" dirty="0" err="1" smtClean="0">
                <a:latin typeface="Times New Roman" pitchFamily="18" charset="0"/>
              </a:rPr>
              <a:t>i</a:t>
            </a:r>
            <a:r>
              <a:rPr lang="en-US" altLang="zh-CN" sz="2000" i="1" dirty="0" smtClean="0">
                <a:latin typeface="Times New Roman" pitchFamily="18" charset="0"/>
              </a:rPr>
              <a:t>(k-1)+</a:t>
            </a:r>
            <a:r>
              <a:rPr lang="en-US" altLang="zh-CN" sz="2000" i="1" dirty="0" err="1" smtClean="0">
                <a:latin typeface="Times New Roman" pitchFamily="18" charset="0"/>
              </a:rPr>
              <a:t>K</a:t>
            </a:r>
            <a:r>
              <a:rPr lang="en-US" altLang="zh-CN" sz="2000" i="1" baseline="-25000" dirty="0" err="1" smtClean="0">
                <a:latin typeface="Times New Roman" pitchFamily="18" charset="0"/>
              </a:rPr>
              <a:t>i</a:t>
            </a:r>
            <a:r>
              <a:rPr lang="en-US" altLang="zh-CN" sz="2000" i="1" dirty="0" err="1" smtClean="0">
                <a:latin typeface="Times New Roman" pitchFamily="18" charset="0"/>
              </a:rPr>
              <a:t>T</a:t>
            </a:r>
            <a:r>
              <a:rPr lang="en-US" altLang="zh-CN" sz="2000" i="1" baseline="-25000" dirty="0" err="1" smtClean="0">
                <a:latin typeface="Times New Roman" pitchFamily="18" charset="0"/>
              </a:rPr>
              <a:t>s</a:t>
            </a:r>
            <a:r>
              <a:rPr lang="en-US" altLang="zh-CN" sz="2000" i="1" dirty="0" err="1" smtClean="0">
                <a:latin typeface="Times New Roman" pitchFamily="18" charset="0"/>
              </a:rPr>
              <a:t>e</a:t>
            </a:r>
            <a:r>
              <a:rPr lang="en-US" altLang="zh-CN" sz="2000" i="1" dirty="0" smtClean="0">
                <a:latin typeface="Times New Roman" pitchFamily="18" charset="0"/>
              </a:rPr>
              <a:t>(k)</a:t>
            </a:r>
          </a:p>
          <a:p>
            <a:pPr>
              <a:buNone/>
            </a:pPr>
            <a:r>
              <a:rPr lang="en-US" altLang="zh-CN" sz="2000" i="1" dirty="0" smtClean="0">
                <a:latin typeface="Times New Roman" pitchFamily="18" charset="0"/>
              </a:rPr>
              <a:t>-1&lt;</a:t>
            </a:r>
            <a:r>
              <a:rPr lang="en-US" altLang="zh-CN" sz="2000" i="1" dirty="0" err="1" smtClean="0">
                <a:latin typeface="Times New Roman" pitchFamily="18" charset="0"/>
              </a:rPr>
              <a:t>y</a:t>
            </a:r>
            <a:r>
              <a:rPr lang="en-US" altLang="zh-CN" sz="2000" i="1" baseline="-25000" dirty="0" err="1" smtClean="0">
                <a:latin typeface="Times New Roman" pitchFamily="18" charset="0"/>
              </a:rPr>
              <a:t>i</a:t>
            </a:r>
            <a:r>
              <a:rPr lang="en-US" altLang="zh-CN" sz="2000" i="1" dirty="0" smtClean="0">
                <a:latin typeface="Times New Roman" pitchFamily="18" charset="0"/>
              </a:rPr>
              <a:t>(k)&lt;1</a:t>
            </a:r>
          </a:p>
          <a:p>
            <a:pPr>
              <a:buNone/>
            </a:pPr>
            <a:endParaRPr lang="en-US" altLang="zh-CN" sz="2000" i="1" dirty="0" smtClean="0">
              <a:latin typeface="Times New Roman" pitchFamily="18" charset="0"/>
            </a:endParaRPr>
          </a:p>
          <a:p>
            <a:pPr>
              <a:buNone/>
            </a:pPr>
            <a:r>
              <a:rPr lang="en-US" altLang="zh-CN" sz="2000" i="1" dirty="0" smtClean="0">
                <a:latin typeface="Times New Roman" pitchFamily="18" charset="0"/>
              </a:rPr>
              <a:t>e(k)——</a:t>
            </a:r>
            <a:r>
              <a:rPr lang="en-US" altLang="zh-CN" sz="2000" dirty="0" smtClean="0"/>
              <a:t>Error(difference between desired output and actual output)</a:t>
            </a:r>
          </a:p>
          <a:p>
            <a:pPr>
              <a:buNone/>
            </a:pPr>
            <a:r>
              <a:rPr lang="en-US" altLang="zh-CN" sz="2000" i="1" dirty="0" smtClean="0">
                <a:latin typeface="Times New Roman" pitchFamily="18" charset="0"/>
              </a:rPr>
              <a:t>T</a:t>
            </a:r>
            <a:r>
              <a:rPr lang="en-US" altLang="zh-CN" sz="2000" i="1" baseline="-25000" dirty="0" smtClean="0">
                <a:latin typeface="Times New Roman" pitchFamily="18" charset="0"/>
              </a:rPr>
              <a:t>s</a:t>
            </a:r>
            <a:r>
              <a:rPr lang="en-US" altLang="zh-CN" sz="2000" i="1" dirty="0" smtClean="0">
                <a:latin typeface="Times New Roman" pitchFamily="18" charset="0"/>
              </a:rPr>
              <a:t> —— </a:t>
            </a:r>
            <a:r>
              <a:rPr lang="en-US" altLang="zh-CN" sz="2000" dirty="0" smtClean="0"/>
              <a:t>Sample Time</a:t>
            </a:r>
          </a:p>
          <a:p>
            <a:pPr>
              <a:buNone/>
            </a:pPr>
            <a:r>
              <a:rPr lang="en-US" altLang="zh-CN" sz="2000" i="1" dirty="0" err="1" smtClean="0">
                <a:latin typeface="Times New Roman" pitchFamily="18" charset="0"/>
              </a:rPr>
              <a:t>K</a:t>
            </a:r>
            <a:r>
              <a:rPr lang="en-US" altLang="zh-CN" sz="2000" i="1" baseline="-25000" dirty="0" err="1" smtClean="0">
                <a:latin typeface="Times New Roman" pitchFamily="18" charset="0"/>
              </a:rPr>
              <a:t>p</a:t>
            </a:r>
            <a:r>
              <a:rPr lang="en-US" altLang="zh-CN" sz="2000" i="1" dirty="0" smtClean="0">
                <a:latin typeface="Times New Roman" pitchFamily="18" charset="0"/>
              </a:rPr>
              <a:t>—— </a:t>
            </a:r>
            <a:r>
              <a:rPr lang="en-US" altLang="zh-CN" sz="2000" dirty="0" smtClean="0">
                <a:latin typeface="Times New Roman" pitchFamily="18" charset="0"/>
              </a:rPr>
              <a:t>Proportional gain</a:t>
            </a:r>
          </a:p>
          <a:p>
            <a:pPr>
              <a:buNone/>
            </a:pPr>
            <a:r>
              <a:rPr lang="en-US" altLang="zh-CN" sz="2000" i="1" dirty="0" err="1" smtClean="0">
                <a:latin typeface="Times New Roman" pitchFamily="18" charset="0"/>
              </a:rPr>
              <a:t>K</a:t>
            </a:r>
            <a:r>
              <a:rPr lang="en-US" altLang="zh-CN" sz="2000" i="1" baseline="-25000" dirty="0" err="1" smtClean="0">
                <a:latin typeface="Times New Roman" pitchFamily="18" charset="0"/>
              </a:rPr>
              <a:t>i</a:t>
            </a:r>
            <a:r>
              <a:rPr lang="en-US" altLang="zh-CN" sz="2000" i="1" dirty="0" smtClean="0">
                <a:latin typeface="Times New Roman" pitchFamily="18" charset="0"/>
              </a:rPr>
              <a:t>—— </a:t>
            </a:r>
            <a:r>
              <a:rPr lang="en-US" altLang="zh-CN" sz="2000" dirty="0" smtClean="0">
                <a:latin typeface="Times New Roman" pitchFamily="18" charset="0"/>
              </a:rPr>
              <a:t>Integral gain</a:t>
            </a:r>
            <a:endParaRPr lang="zh-CN" altLang="en-US" sz="2000" dirty="0">
              <a:latin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Building a Block Diagram Model of the System</a:t>
            </a:r>
            <a:endParaRPr lang="zh-CN" altLang="en-US" dirty="0"/>
          </a:p>
        </p:txBody>
      </p:sp>
      <p:pic>
        <p:nvPicPr>
          <p:cNvPr id="4099" name="Picture 3"/>
          <p:cNvPicPr>
            <a:picLocks noChangeAspect="1" noChangeArrowheads="1"/>
          </p:cNvPicPr>
          <p:nvPr/>
        </p:nvPicPr>
        <p:blipFill>
          <a:blip r:embed="rId2" cstate="print"/>
          <a:srcRect/>
          <a:stretch>
            <a:fillRect/>
          </a:stretch>
        </p:blipFill>
        <p:spPr bwMode="auto">
          <a:xfrm>
            <a:off x="827584" y="4725144"/>
            <a:ext cx="1352550" cy="992187"/>
          </a:xfrm>
          <a:prstGeom prst="rect">
            <a:avLst/>
          </a:prstGeom>
          <a:noFill/>
          <a:ln w="9525">
            <a:noFill/>
            <a:miter lim="800000"/>
            <a:headEnd/>
            <a:tailEnd/>
          </a:ln>
          <a:effectLst/>
        </p:spPr>
      </p:pic>
      <p:pic>
        <p:nvPicPr>
          <p:cNvPr id="25602" name="Picture 2"/>
          <p:cNvPicPr>
            <a:picLocks noChangeAspect="1" noChangeArrowheads="1"/>
          </p:cNvPicPr>
          <p:nvPr/>
        </p:nvPicPr>
        <p:blipFill>
          <a:blip r:embed="rId3" cstate="print"/>
          <a:srcRect/>
          <a:stretch>
            <a:fillRect/>
          </a:stretch>
        </p:blipFill>
        <p:spPr bwMode="auto">
          <a:xfrm>
            <a:off x="251520" y="1916832"/>
            <a:ext cx="8448675" cy="2095500"/>
          </a:xfrm>
          <a:prstGeom prst="rect">
            <a:avLst/>
          </a:prstGeom>
          <a:noFill/>
          <a:ln w="9525">
            <a:noFill/>
            <a:miter lim="800000"/>
            <a:headEnd/>
            <a:tailEnd/>
          </a:ln>
        </p:spPr>
      </p:pic>
      <p:sp>
        <p:nvSpPr>
          <p:cNvPr id="6" name="矩形 5"/>
          <p:cNvSpPr/>
          <p:nvPr/>
        </p:nvSpPr>
        <p:spPr>
          <a:xfrm>
            <a:off x="3275856" y="4005064"/>
            <a:ext cx="4572000" cy="2600199"/>
          </a:xfrm>
          <a:prstGeom prst="rect">
            <a:avLst/>
          </a:prstGeom>
        </p:spPr>
        <p:txBody>
          <a:bodyPr>
            <a:spAutoFit/>
          </a:bodyPr>
          <a:lstStyle/>
          <a:p>
            <a:pPr>
              <a:lnSpc>
                <a:spcPct val="150000"/>
              </a:lnSpc>
              <a:buNone/>
            </a:pPr>
            <a:r>
              <a:rPr lang="en-US" altLang="zh-CN" sz="2800" i="1" dirty="0" smtClean="0">
                <a:latin typeface="Times New Roman" pitchFamily="18" charset="0"/>
              </a:rPr>
              <a:t>y(k)=</a:t>
            </a:r>
            <a:r>
              <a:rPr lang="en-US" altLang="zh-CN" sz="2800" i="1" dirty="0" err="1" smtClean="0">
                <a:latin typeface="Times New Roman" pitchFamily="18" charset="0"/>
              </a:rPr>
              <a:t>y</a:t>
            </a:r>
            <a:r>
              <a:rPr lang="en-US" altLang="zh-CN" sz="2800" i="1" baseline="-25000" dirty="0" err="1" smtClean="0">
                <a:latin typeface="Times New Roman" pitchFamily="18" charset="0"/>
              </a:rPr>
              <a:t>p</a:t>
            </a:r>
            <a:r>
              <a:rPr lang="en-US" altLang="zh-CN" sz="2800" i="1" dirty="0" smtClean="0">
                <a:latin typeface="Times New Roman" pitchFamily="18" charset="0"/>
              </a:rPr>
              <a:t>(k)+</a:t>
            </a:r>
            <a:r>
              <a:rPr lang="en-US" altLang="zh-CN" sz="2800" i="1" dirty="0" err="1" smtClean="0">
                <a:latin typeface="Times New Roman" pitchFamily="18" charset="0"/>
              </a:rPr>
              <a:t>y</a:t>
            </a:r>
            <a:r>
              <a:rPr lang="en-US" altLang="zh-CN" sz="2800" i="1" baseline="-25000" dirty="0" err="1" smtClean="0">
                <a:latin typeface="Times New Roman" pitchFamily="18" charset="0"/>
              </a:rPr>
              <a:t>i</a:t>
            </a:r>
            <a:r>
              <a:rPr lang="en-US" altLang="zh-CN" sz="2800" i="1" dirty="0" smtClean="0">
                <a:latin typeface="Times New Roman" pitchFamily="18" charset="0"/>
              </a:rPr>
              <a:t> (k)</a:t>
            </a:r>
          </a:p>
          <a:p>
            <a:pPr>
              <a:lnSpc>
                <a:spcPct val="150000"/>
              </a:lnSpc>
              <a:buNone/>
            </a:pPr>
            <a:r>
              <a:rPr lang="en-US" altLang="zh-CN" sz="2800" i="1" dirty="0" err="1" smtClean="0">
                <a:latin typeface="Times New Roman" pitchFamily="18" charset="0"/>
              </a:rPr>
              <a:t>y</a:t>
            </a:r>
            <a:r>
              <a:rPr lang="en-US" altLang="zh-CN" sz="2800" i="1" baseline="-25000" dirty="0" err="1" smtClean="0">
                <a:latin typeface="Times New Roman" pitchFamily="18" charset="0"/>
              </a:rPr>
              <a:t>p</a:t>
            </a:r>
            <a:r>
              <a:rPr lang="en-US" altLang="zh-CN" sz="2800" i="1" dirty="0" smtClean="0">
                <a:latin typeface="Times New Roman" pitchFamily="18" charset="0"/>
              </a:rPr>
              <a:t>(k)=</a:t>
            </a:r>
            <a:r>
              <a:rPr lang="en-US" altLang="zh-CN" sz="2800" i="1" dirty="0" err="1" smtClean="0">
                <a:latin typeface="Times New Roman" pitchFamily="18" charset="0"/>
              </a:rPr>
              <a:t>K</a:t>
            </a:r>
            <a:r>
              <a:rPr lang="en-US" altLang="zh-CN" sz="2800" i="1" baseline="-25000" dirty="0" err="1" smtClean="0">
                <a:latin typeface="Times New Roman" pitchFamily="18" charset="0"/>
              </a:rPr>
              <a:t>p</a:t>
            </a:r>
            <a:r>
              <a:rPr lang="en-US" altLang="zh-CN" sz="2800" i="1" dirty="0" err="1" smtClean="0">
                <a:latin typeface="Times New Roman" pitchFamily="18" charset="0"/>
              </a:rPr>
              <a:t>e</a:t>
            </a:r>
            <a:r>
              <a:rPr lang="en-US" altLang="zh-CN" sz="2800" i="1" dirty="0" smtClean="0">
                <a:latin typeface="Times New Roman" pitchFamily="18" charset="0"/>
              </a:rPr>
              <a:t>(k)</a:t>
            </a:r>
          </a:p>
          <a:p>
            <a:pPr>
              <a:lnSpc>
                <a:spcPct val="150000"/>
              </a:lnSpc>
              <a:buNone/>
            </a:pPr>
            <a:r>
              <a:rPr lang="en-US" altLang="zh-CN" sz="2800" i="1" dirty="0" err="1" smtClean="0">
                <a:latin typeface="Times New Roman" pitchFamily="18" charset="0"/>
              </a:rPr>
              <a:t>y</a:t>
            </a:r>
            <a:r>
              <a:rPr lang="en-US" altLang="zh-CN" sz="2800" i="1" baseline="-25000" dirty="0" err="1" smtClean="0">
                <a:latin typeface="Times New Roman" pitchFamily="18" charset="0"/>
              </a:rPr>
              <a:t>i</a:t>
            </a:r>
            <a:r>
              <a:rPr lang="en-US" altLang="zh-CN" sz="2800" i="1" dirty="0" smtClean="0">
                <a:latin typeface="Times New Roman" pitchFamily="18" charset="0"/>
              </a:rPr>
              <a:t>(k)=</a:t>
            </a:r>
            <a:r>
              <a:rPr lang="en-US" altLang="zh-CN" sz="2800" i="1" dirty="0" err="1" smtClean="0">
                <a:latin typeface="Times New Roman" pitchFamily="18" charset="0"/>
              </a:rPr>
              <a:t>y</a:t>
            </a:r>
            <a:r>
              <a:rPr lang="en-US" altLang="zh-CN" sz="2800" i="1" baseline="-25000" dirty="0" err="1" smtClean="0">
                <a:latin typeface="Times New Roman" pitchFamily="18" charset="0"/>
              </a:rPr>
              <a:t>i</a:t>
            </a:r>
            <a:r>
              <a:rPr lang="en-US" altLang="zh-CN" sz="2800" i="1" dirty="0" smtClean="0">
                <a:latin typeface="Times New Roman" pitchFamily="18" charset="0"/>
              </a:rPr>
              <a:t>(k-1)+</a:t>
            </a:r>
            <a:r>
              <a:rPr lang="en-US" altLang="zh-CN" sz="2800" i="1" dirty="0" err="1" smtClean="0">
                <a:latin typeface="Times New Roman" pitchFamily="18" charset="0"/>
              </a:rPr>
              <a:t>K</a:t>
            </a:r>
            <a:r>
              <a:rPr lang="en-US" altLang="zh-CN" sz="2800" i="1" baseline="-25000" dirty="0" err="1" smtClean="0">
                <a:latin typeface="Times New Roman" pitchFamily="18" charset="0"/>
              </a:rPr>
              <a:t>i</a:t>
            </a:r>
            <a:r>
              <a:rPr lang="en-US" altLang="zh-CN" sz="2800" i="1" dirty="0" err="1" smtClean="0">
                <a:latin typeface="Times New Roman" pitchFamily="18" charset="0"/>
              </a:rPr>
              <a:t>T</a:t>
            </a:r>
            <a:r>
              <a:rPr lang="en-US" altLang="zh-CN" sz="2800" i="1" baseline="-25000" dirty="0" err="1" smtClean="0">
                <a:latin typeface="Times New Roman" pitchFamily="18" charset="0"/>
              </a:rPr>
              <a:t>s</a:t>
            </a:r>
            <a:r>
              <a:rPr lang="en-US" altLang="zh-CN" sz="2800" i="1" dirty="0" err="1" smtClean="0">
                <a:latin typeface="Times New Roman" pitchFamily="18" charset="0"/>
              </a:rPr>
              <a:t>e</a:t>
            </a:r>
            <a:r>
              <a:rPr lang="en-US" altLang="zh-CN" sz="2800" i="1" dirty="0" smtClean="0">
                <a:latin typeface="Times New Roman" pitchFamily="18" charset="0"/>
              </a:rPr>
              <a:t>(k)</a:t>
            </a:r>
          </a:p>
          <a:p>
            <a:pPr>
              <a:lnSpc>
                <a:spcPct val="150000"/>
              </a:lnSpc>
              <a:buNone/>
            </a:pPr>
            <a:r>
              <a:rPr lang="en-US" altLang="zh-CN" sz="2800" i="1" dirty="0" smtClean="0">
                <a:latin typeface="Times New Roman" pitchFamily="18" charset="0"/>
              </a:rPr>
              <a:t>-1&lt;</a:t>
            </a:r>
            <a:r>
              <a:rPr lang="en-US" altLang="zh-CN" sz="2800" i="1" dirty="0" err="1" smtClean="0">
                <a:latin typeface="Times New Roman" pitchFamily="18" charset="0"/>
              </a:rPr>
              <a:t>y</a:t>
            </a:r>
            <a:r>
              <a:rPr lang="en-US" altLang="zh-CN" sz="2800" i="1" baseline="-25000" dirty="0" err="1" smtClean="0">
                <a:latin typeface="Times New Roman" pitchFamily="18" charset="0"/>
              </a:rPr>
              <a:t>i</a:t>
            </a:r>
            <a:r>
              <a:rPr lang="en-US" altLang="zh-CN" sz="2800" i="1" dirty="0" smtClean="0">
                <a:latin typeface="Times New Roman" pitchFamily="18" charset="0"/>
              </a:rPr>
              <a:t>(k)&lt;1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Throttle system</a:t>
            </a:r>
            <a:endParaRPr lang="zh-CN" altLang="en-US" dirty="0"/>
          </a:p>
        </p:txBody>
      </p:sp>
      <p:sp>
        <p:nvSpPr>
          <p:cNvPr id="3" name="内容占位符 2"/>
          <p:cNvSpPr>
            <a:spLocks noGrp="1"/>
          </p:cNvSpPr>
          <p:nvPr>
            <p:ph idx="1"/>
          </p:nvPr>
        </p:nvSpPr>
        <p:spPr>
          <a:xfrm>
            <a:off x="457200" y="1600201"/>
            <a:ext cx="8229600" cy="2257428"/>
          </a:xfrm>
        </p:spPr>
        <p:txBody>
          <a:bodyPr>
            <a:normAutofit/>
          </a:bodyPr>
          <a:lstStyle/>
          <a:p>
            <a:r>
              <a:rPr lang="en-US" altLang="zh-CN" sz="2400" dirty="0" smtClean="0"/>
              <a:t>Define the throttle system</a:t>
            </a:r>
          </a:p>
          <a:p>
            <a:r>
              <a:rPr lang="en-US" altLang="zh-CN" sz="2400" dirty="0" smtClean="0"/>
              <a:t>Create a model of the throttle system</a:t>
            </a:r>
          </a:p>
          <a:p>
            <a:r>
              <a:rPr lang="en-US" altLang="zh-CN" sz="2400" dirty="0" smtClean="0"/>
              <a:t>Define continuous states</a:t>
            </a:r>
          </a:p>
          <a:p>
            <a:r>
              <a:rPr lang="en-US" altLang="zh-CN" sz="2400" dirty="0" smtClean="0"/>
              <a:t>Simulate the model and analyze results</a:t>
            </a:r>
          </a:p>
          <a:p>
            <a:r>
              <a:rPr lang="en-US" altLang="zh-CN" sz="2400" dirty="0" smtClean="0"/>
              <a:t>Model impact dynamics</a:t>
            </a:r>
            <a:endParaRPr lang="zh-CN" altLang="en-US" sz="2400" dirty="0"/>
          </a:p>
        </p:txBody>
      </p:sp>
      <p:pic>
        <p:nvPicPr>
          <p:cNvPr id="26626" name="Picture 2"/>
          <p:cNvPicPr>
            <a:picLocks noChangeAspect="1" noChangeArrowheads="1"/>
          </p:cNvPicPr>
          <p:nvPr/>
        </p:nvPicPr>
        <p:blipFill>
          <a:blip r:embed="rId2" cstate="print"/>
          <a:srcRect/>
          <a:stretch>
            <a:fillRect/>
          </a:stretch>
        </p:blipFill>
        <p:spPr bwMode="auto">
          <a:xfrm>
            <a:off x="1619672" y="3933056"/>
            <a:ext cx="5667375" cy="247650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Defining the System</a:t>
            </a:r>
            <a:endParaRPr lang="zh-CN" altLang="en-US" dirty="0"/>
          </a:p>
        </p:txBody>
      </p:sp>
      <p:sp>
        <p:nvSpPr>
          <p:cNvPr id="3" name="内容占位符 2"/>
          <p:cNvSpPr>
            <a:spLocks noGrp="1"/>
          </p:cNvSpPr>
          <p:nvPr>
            <p:ph idx="1"/>
          </p:nvPr>
        </p:nvSpPr>
        <p:spPr>
          <a:xfrm>
            <a:off x="457200" y="1600201"/>
            <a:ext cx="8229600" cy="1400172"/>
          </a:xfrm>
        </p:spPr>
        <p:txBody>
          <a:bodyPr>
            <a:normAutofit/>
          </a:bodyPr>
          <a:lstStyle/>
          <a:p>
            <a:r>
              <a:rPr lang="en-US" altLang="zh-CN" sz="2400" dirty="0" smtClean="0"/>
              <a:t>The electronic throttle body opens and closes the throttle plate valve in accordance with the accelerator pedal effort, and controls the amount of an inducted into the engine.</a:t>
            </a:r>
            <a:endParaRPr lang="zh-CN" altLang="en-US" sz="2400" dirty="0"/>
          </a:p>
        </p:txBody>
      </p:sp>
      <p:pic>
        <p:nvPicPr>
          <p:cNvPr id="2050" name="Picture 2"/>
          <p:cNvPicPr>
            <a:picLocks noChangeAspect="1" noChangeArrowheads="1"/>
          </p:cNvPicPr>
          <p:nvPr/>
        </p:nvPicPr>
        <p:blipFill>
          <a:blip r:embed="rId2" cstate="print"/>
          <a:srcRect/>
          <a:stretch>
            <a:fillRect/>
          </a:stretch>
        </p:blipFill>
        <p:spPr bwMode="auto">
          <a:xfrm>
            <a:off x="3571868" y="3143248"/>
            <a:ext cx="1590675" cy="1865313"/>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115616" y="4581128"/>
            <a:ext cx="5922865" cy="1143008"/>
          </a:xfrm>
          <a:prstGeom prst="rect">
            <a:avLst/>
          </a:prstGeom>
          <a:noFill/>
          <a:ln w="9525">
            <a:noFill/>
            <a:miter lim="800000"/>
            <a:headEnd/>
            <a:tailEnd/>
          </a:ln>
          <a:effectLst/>
        </p:spPr>
      </p:pic>
      <p:sp>
        <p:nvSpPr>
          <p:cNvPr id="2" name="标题 1"/>
          <p:cNvSpPr>
            <a:spLocks noGrp="1"/>
          </p:cNvSpPr>
          <p:nvPr>
            <p:ph type="title"/>
          </p:nvPr>
        </p:nvSpPr>
        <p:spPr/>
        <p:txBody>
          <a:bodyPr>
            <a:normAutofit fontScale="90000"/>
          </a:bodyPr>
          <a:lstStyle/>
          <a:p>
            <a:r>
              <a:rPr lang="en-US" altLang="zh-CN" dirty="0" smtClean="0"/>
              <a:t>Defining Continuous-State System Characteristics</a:t>
            </a:r>
            <a:endParaRPr lang="zh-CN" altLang="en-US" dirty="0"/>
          </a:p>
        </p:txBody>
      </p:sp>
      <p:sp>
        <p:nvSpPr>
          <p:cNvPr id="3" name="内容占位符 2"/>
          <p:cNvSpPr>
            <a:spLocks noGrp="1"/>
          </p:cNvSpPr>
          <p:nvPr>
            <p:ph idx="1"/>
          </p:nvPr>
        </p:nvSpPr>
        <p:spPr>
          <a:xfrm>
            <a:off x="457200" y="1600201"/>
            <a:ext cx="8229600" cy="4186254"/>
          </a:xfrm>
        </p:spPr>
        <p:txBody>
          <a:bodyPr>
            <a:normAutofit/>
          </a:bodyPr>
          <a:lstStyle/>
          <a:p>
            <a:r>
              <a:rPr lang="en-US" altLang="zh-CN" sz="2400" dirty="0" smtClean="0"/>
              <a:t>Dynamics are updated at an infinitesimal time interval.</a:t>
            </a:r>
          </a:p>
          <a:p>
            <a:r>
              <a:rPr lang="en-US" altLang="zh-CN" sz="2400" dirty="0" smtClean="0"/>
              <a:t>System outputs depend on memory elements referred to as continuous states, system inputs, and/or time.</a:t>
            </a:r>
          </a:p>
          <a:p>
            <a:r>
              <a:rPr lang="en-US" altLang="zh-CN" sz="2400" dirty="0" smtClean="0"/>
              <a:t>Rates of continuous states govern the variation of system dynamics.</a:t>
            </a:r>
          </a:p>
          <a:p>
            <a:r>
              <a:rPr lang="en-US" altLang="zh-CN" sz="2400" dirty="0" smtClean="0"/>
              <a:t>The mathematical representation of a continuous-state system is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zh-CN" smtClean="0"/>
              <a:t>Difference equation(</a:t>
            </a:r>
            <a:r>
              <a:rPr lang="zh-CN" altLang="en-US" smtClean="0"/>
              <a:t>差分方程</a:t>
            </a:r>
            <a:r>
              <a:rPr lang="en-US" altLang="zh-CN" smtClean="0"/>
              <a:t>)</a:t>
            </a:r>
          </a:p>
        </p:txBody>
      </p:sp>
      <p:sp>
        <p:nvSpPr>
          <p:cNvPr id="49155" name="Content Placeholder 2"/>
          <p:cNvSpPr>
            <a:spLocks noGrp="1"/>
          </p:cNvSpPr>
          <p:nvPr>
            <p:ph idx="1"/>
          </p:nvPr>
        </p:nvSpPr>
        <p:spPr/>
        <p:txBody>
          <a:bodyPr>
            <a:normAutofit lnSpcReduction="10000"/>
          </a:bodyPr>
          <a:lstStyle/>
          <a:p>
            <a:r>
              <a:rPr lang="en-US" altLang="zh-CN" dirty="0" smtClean="0"/>
              <a:t>Definition</a:t>
            </a:r>
          </a:p>
          <a:p>
            <a:pPr lvl="1"/>
            <a:r>
              <a:rPr lang="zh-CN" altLang="en-US" dirty="0" smtClean="0"/>
              <a:t>微分方程的离散化，一个微分方程不一定可以解出精确地解，但把它变成差分方程，离散化后，就可以求出近似的解。</a:t>
            </a:r>
            <a:endParaRPr lang="en-US" altLang="zh-CN" dirty="0" smtClean="0"/>
          </a:p>
          <a:p>
            <a:r>
              <a:rPr lang="zh-CN" altLang="en-US" dirty="0" smtClean="0"/>
              <a:t> </a:t>
            </a:r>
            <a:r>
              <a:rPr lang="en-US" altLang="zh-CN" dirty="0" err="1" smtClean="0"/>
              <a:t>dy+y</a:t>
            </a:r>
            <a:r>
              <a:rPr lang="en-US" altLang="zh-CN" dirty="0" smtClean="0"/>
              <a:t>*</a:t>
            </a:r>
            <a:r>
              <a:rPr lang="en-US" altLang="zh-CN" dirty="0" err="1" smtClean="0"/>
              <a:t>dx</a:t>
            </a:r>
            <a:r>
              <a:rPr lang="en-US" altLang="zh-CN" dirty="0" smtClean="0"/>
              <a:t>=0 ,y(0)=1 </a:t>
            </a:r>
            <a:r>
              <a:rPr lang="zh-CN" altLang="en-US" dirty="0" smtClean="0"/>
              <a:t>是一个微分方程的， </a:t>
            </a:r>
            <a:r>
              <a:rPr lang="en-US" altLang="zh-CN" dirty="0" smtClean="0"/>
              <a:t>x</a:t>
            </a:r>
            <a:r>
              <a:rPr lang="zh-CN" altLang="en-US" dirty="0" smtClean="0"/>
              <a:t>取值</a:t>
            </a:r>
            <a:r>
              <a:rPr lang="en-US" altLang="zh-CN" dirty="0" smtClean="0"/>
              <a:t>[0,1] (</a:t>
            </a:r>
            <a:r>
              <a:rPr lang="zh-CN" altLang="en-US" dirty="0" smtClean="0"/>
              <a:t>注： 解为</a:t>
            </a:r>
            <a:r>
              <a:rPr lang="en-US" altLang="zh-CN" dirty="0" smtClean="0"/>
              <a:t>y(x)=e^(-x)); </a:t>
            </a:r>
          </a:p>
          <a:p>
            <a:r>
              <a:rPr lang="zh-CN" altLang="en-US" dirty="0" smtClean="0"/>
              <a:t>要实现微分方程的离散化，可以把</a:t>
            </a:r>
            <a:r>
              <a:rPr lang="en-US" altLang="zh-CN" dirty="0" smtClean="0"/>
              <a:t>x</a:t>
            </a:r>
            <a:r>
              <a:rPr lang="zh-CN" altLang="en-US" dirty="0" smtClean="0"/>
              <a:t>的区间分割为许多小区间 </a:t>
            </a:r>
            <a:r>
              <a:rPr lang="en-US" altLang="zh-CN" dirty="0" smtClean="0"/>
              <a:t>[0,1/n],[1/n,2/n],...[(n-1)/n,1]</a:t>
            </a:r>
          </a:p>
        </p:txBody>
      </p:sp>
    </p:spTree>
    <p:extLst>
      <p:ext uri="{BB962C8B-B14F-4D97-AF65-F5344CB8AC3E}">
        <p14:creationId xmlns:p14="http://schemas.microsoft.com/office/powerpoint/2010/main" val="11802758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zh-CN" smtClean="0"/>
              <a:t>Difference equation(</a:t>
            </a:r>
            <a:r>
              <a:rPr lang="zh-CN" altLang="en-US" smtClean="0"/>
              <a:t>差分方程</a:t>
            </a:r>
            <a:r>
              <a:rPr lang="en-US" altLang="zh-CN" smtClean="0"/>
              <a:t>)</a:t>
            </a:r>
          </a:p>
        </p:txBody>
      </p:sp>
      <p:sp>
        <p:nvSpPr>
          <p:cNvPr id="50179" name="Content Placeholder 2"/>
          <p:cNvSpPr>
            <a:spLocks noGrp="1"/>
          </p:cNvSpPr>
          <p:nvPr>
            <p:ph idx="1"/>
          </p:nvPr>
        </p:nvSpPr>
        <p:spPr/>
        <p:txBody>
          <a:bodyPr/>
          <a:lstStyle/>
          <a:p>
            <a:r>
              <a:rPr lang="zh-CN" altLang="en-US" dirty="0" smtClean="0"/>
              <a:t>微分方程可以离散化为差分方程：</a:t>
            </a:r>
          </a:p>
          <a:p>
            <a:r>
              <a:rPr lang="en-US" altLang="zh-CN" dirty="0" smtClean="0"/>
              <a:t>y((k+1)/n)-y(k/n)+y(k/n)*(1/n)=0</a:t>
            </a:r>
            <a:r>
              <a:rPr lang="zh-CN" altLang="en-US" dirty="0" smtClean="0"/>
              <a:t>， </a:t>
            </a:r>
            <a:r>
              <a:rPr lang="en-US" altLang="zh-CN" dirty="0" smtClean="0"/>
              <a:t>k</a:t>
            </a:r>
            <a:r>
              <a:rPr lang="zh-CN" altLang="en-US" dirty="0" smtClean="0"/>
              <a:t>＝</a:t>
            </a:r>
            <a:r>
              <a:rPr lang="en-US" altLang="zh-CN" dirty="0" smtClean="0"/>
              <a:t>0,1,2,...,n-1 </a:t>
            </a:r>
            <a:r>
              <a:rPr lang="zh-CN" altLang="en-US" dirty="0" smtClean="0"/>
              <a:t>（</a:t>
            </a:r>
            <a:r>
              <a:rPr lang="en-US" altLang="zh-CN" dirty="0" smtClean="0"/>
              <a:t>n </a:t>
            </a:r>
            <a:r>
              <a:rPr lang="zh-CN" altLang="en-US" dirty="0" smtClean="0"/>
              <a:t>个离散方程组）</a:t>
            </a:r>
            <a:endParaRPr lang="en-US" altLang="zh-CN" dirty="0" smtClean="0"/>
          </a:p>
          <a:p>
            <a:r>
              <a:rPr lang="zh-CN" altLang="en-US" dirty="0" smtClean="0"/>
              <a:t>利用</a:t>
            </a:r>
            <a:r>
              <a:rPr lang="en-US" altLang="zh-CN" dirty="0" smtClean="0"/>
              <a:t>y(0)=1</a:t>
            </a:r>
            <a:r>
              <a:rPr lang="zh-CN" altLang="en-US" dirty="0" smtClean="0"/>
              <a:t>的条件，以及上面的差分方程，就可以计算出 </a:t>
            </a:r>
            <a:r>
              <a:rPr lang="en-US" altLang="zh-CN" dirty="0" smtClean="0"/>
              <a:t>y(k/n) </a:t>
            </a:r>
            <a:r>
              <a:rPr lang="zh-CN" altLang="en-US" dirty="0" smtClean="0"/>
              <a:t>的近似值了。</a:t>
            </a:r>
          </a:p>
        </p:txBody>
      </p:sp>
    </p:spTree>
    <p:extLst>
      <p:ext uri="{BB962C8B-B14F-4D97-AF65-F5344CB8AC3E}">
        <p14:creationId xmlns:p14="http://schemas.microsoft.com/office/powerpoint/2010/main" val="32350384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Modeling Differential Equations</a:t>
            </a:r>
            <a:endParaRPr lang="zh-CN" altLang="en-US" dirty="0"/>
          </a:p>
        </p:txBody>
      </p:sp>
      <p:sp>
        <p:nvSpPr>
          <p:cNvPr id="3" name="内容占位符 2"/>
          <p:cNvSpPr>
            <a:spLocks noGrp="1"/>
          </p:cNvSpPr>
          <p:nvPr>
            <p:ph idx="1"/>
          </p:nvPr>
        </p:nvSpPr>
        <p:spPr/>
        <p:txBody>
          <a:bodyPr>
            <a:normAutofit/>
          </a:bodyPr>
          <a:lstStyle/>
          <a:p>
            <a:pPr marL="457200" indent="-457200">
              <a:buFont typeface="+mj-lt"/>
              <a:buAutoNum type="arabicPeriod"/>
            </a:pPr>
            <a:r>
              <a:rPr lang="en-US" altLang="zh-CN" sz="2400" dirty="0" smtClean="0"/>
              <a:t>Solve the equation for the highest order derivative term.</a:t>
            </a:r>
          </a:p>
          <a:p>
            <a:pPr marL="457200" indent="-457200">
              <a:buFont typeface="+mj-lt"/>
              <a:buAutoNum type="arabicPeriod"/>
            </a:pPr>
            <a:r>
              <a:rPr lang="en-US" altLang="zh-CN" sz="2400" dirty="0" smtClean="0"/>
              <a:t>Determine the number of </a:t>
            </a:r>
            <a:r>
              <a:rPr lang="en-US" altLang="zh-CN" sz="2400" b="1" dirty="0" smtClean="0"/>
              <a:t>Integrator</a:t>
            </a:r>
            <a:r>
              <a:rPr lang="en-US" altLang="zh-CN" sz="2400" dirty="0" smtClean="0"/>
              <a:t> blocks required (one for each order of derivative) which blocks are in the </a:t>
            </a:r>
            <a:r>
              <a:rPr lang="en-US" altLang="zh-CN" sz="2400" b="1" dirty="0" smtClean="0"/>
              <a:t>continuous</a:t>
            </a:r>
            <a:r>
              <a:rPr lang="en-US" altLang="zh-CN" sz="2400" dirty="0" smtClean="0"/>
              <a:t> library.</a:t>
            </a:r>
          </a:p>
          <a:p>
            <a:pPr marL="457200" indent="-457200">
              <a:buFont typeface="+mj-lt"/>
              <a:buAutoNum type="arabicPeriod"/>
            </a:pPr>
            <a:r>
              <a:rPr lang="en-US" altLang="zh-CN" sz="2400" dirty="0" smtClean="0"/>
              <a:t>Starting with the Integrator blocks, provide proper labels to their input and output signals.</a:t>
            </a:r>
          </a:p>
          <a:p>
            <a:pPr marL="457200" indent="-457200">
              <a:buFont typeface="+mj-lt"/>
              <a:buAutoNum type="arabicPeriod"/>
            </a:pPr>
            <a:r>
              <a:rPr lang="en-US" altLang="zh-CN" sz="2400" dirty="0" smtClean="0"/>
              <a:t>One ordinary differential equation at a time, construct its right-hand side.</a:t>
            </a:r>
          </a:p>
          <a:p>
            <a:pPr marL="457200" indent="-457200">
              <a:buFont typeface="+mj-lt"/>
              <a:buAutoNum type="arabicPeriod"/>
            </a:pPr>
            <a:r>
              <a:rPr lang="en-US" altLang="zh-CN" sz="2400" dirty="0" smtClean="0"/>
              <a:t>Connect returned signal of its right side as a source to its left side if necessary</a:t>
            </a:r>
          </a:p>
          <a:p>
            <a:pPr marL="457200" indent="-457200">
              <a:buFont typeface="+mj-lt"/>
              <a:buAutoNum type="arabicPeriod"/>
            </a:pPr>
            <a:r>
              <a:rPr lang="en-US" altLang="zh-CN" sz="2400" dirty="0" smtClean="0"/>
              <a:t>Assign initial conditions.</a:t>
            </a:r>
            <a:endParaRPr lang="zh-CN" altLang="en-US" sz="2400" dirty="0"/>
          </a:p>
        </p:txBody>
      </p:sp>
      <p:pic>
        <p:nvPicPr>
          <p:cNvPr id="27651" name="Picture 3"/>
          <p:cNvPicPr>
            <a:picLocks noChangeAspect="1" noChangeArrowheads="1"/>
          </p:cNvPicPr>
          <p:nvPr/>
        </p:nvPicPr>
        <p:blipFill>
          <a:blip r:embed="rId2" cstate="print"/>
          <a:srcRect/>
          <a:stretch>
            <a:fillRect/>
          </a:stretch>
        </p:blipFill>
        <p:spPr bwMode="auto">
          <a:xfrm>
            <a:off x="5436096" y="5445224"/>
            <a:ext cx="2181225" cy="1000125"/>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Identifying the System Components</a:t>
            </a:r>
            <a:endParaRPr lang="zh-CN" altLang="en-US" dirty="0"/>
          </a:p>
        </p:txBody>
      </p:sp>
      <p:sp>
        <p:nvSpPr>
          <p:cNvPr id="3" name="内容占位符 2"/>
          <p:cNvSpPr>
            <a:spLocks noGrp="1"/>
          </p:cNvSpPr>
          <p:nvPr>
            <p:ph idx="1"/>
          </p:nvPr>
        </p:nvSpPr>
        <p:spPr>
          <a:xfrm>
            <a:off x="457200" y="1600201"/>
            <a:ext cx="8229600" cy="900106"/>
          </a:xfrm>
        </p:spPr>
        <p:txBody>
          <a:bodyPr>
            <a:normAutofit/>
          </a:bodyPr>
          <a:lstStyle/>
          <a:p>
            <a:pPr>
              <a:buNone/>
            </a:pPr>
            <a:r>
              <a:rPr lang="en-US" altLang="zh-CN" sz="1800" dirty="0" smtClean="0"/>
              <a:t>System Input:</a:t>
            </a:r>
          </a:p>
          <a:p>
            <a:pPr>
              <a:buNone/>
            </a:pPr>
            <a:r>
              <a:rPr lang="en-US" altLang="zh-CN" sz="1800" i="1" dirty="0" smtClean="0">
                <a:latin typeface="Times New Roman" pitchFamily="18" charset="0"/>
              </a:rPr>
              <a:t>T(t)</a:t>
            </a:r>
            <a:r>
              <a:rPr lang="en-US" altLang="zh-CN" sz="1800" dirty="0" smtClean="0"/>
              <a:t> = Torque</a:t>
            </a:r>
            <a:endParaRPr lang="zh-CN" altLang="en-US" sz="1800" dirty="0"/>
          </a:p>
        </p:txBody>
      </p:sp>
      <p:pic>
        <p:nvPicPr>
          <p:cNvPr id="28674" name="Picture 2"/>
          <p:cNvPicPr>
            <a:picLocks noChangeAspect="1" noChangeArrowheads="1"/>
          </p:cNvPicPr>
          <p:nvPr/>
        </p:nvPicPr>
        <p:blipFill>
          <a:blip r:embed="rId2" cstate="print"/>
          <a:srcRect/>
          <a:stretch>
            <a:fillRect/>
          </a:stretch>
        </p:blipFill>
        <p:spPr bwMode="auto">
          <a:xfrm>
            <a:off x="395536" y="2348880"/>
            <a:ext cx="5629275" cy="3667125"/>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29600" cy="706090"/>
          </a:xfrm>
        </p:spPr>
        <p:txBody>
          <a:bodyPr>
            <a:normAutofit fontScale="90000"/>
          </a:bodyPr>
          <a:lstStyle/>
          <a:p>
            <a:r>
              <a:rPr lang="en-US" altLang="zh-CN" dirty="0" smtClean="0"/>
              <a:t>Modeling the System with Equations</a:t>
            </a:r>
            <a:endParaRPr lang="zh-CN" altLang="en-US" dirty="0"/>
          </a:p>
        </p:txBody>
      </p:sp>
      <p:pic>
        <p:nvPicPr>
          <p:cNvPr id="29698" name="Picture 2"/>
          <p:cNvPicPr>
            <a:picLocks noChangeAspect="1" noChangeArrowheads="1"/>
          </p:cNvPicPr>
          <p:nvPr/>
        </p:nvPicPr>
        <p:blipFill>
          <a:blip r:embed="rId3" cstate="print"/>
          <a:srcRect/>
          <a:stretch>
            <a:fillRect/>
          </a:stretch>
        </p:blipFill>
        <p:spPr bwMode="auto">
          <a:xfrm>
            <a:off x="2267744" y="4962525"/>
            <a:ext cx="4400550" cy="1895475"/>
          </a:xfrm>
          <a:prstGeom prst="rect">
            <a:avLst/>
          </a:prstGeom>
          <a:noFill/>
          <a:ln w="9525">
            <a:noFill/>
            <a:miter lim="800000"/>
            <a:headEnd/>
            <a:tailEnd/>
          </a:ln>
        </p:spPr>
      </p:pic>
      <p:graphicFrame>
        <p:nvGraphicFramePr>
          <p:cNvPr id="7" name="对象 6"/>
          <p:cNvGraphicFramePr>
            <a:graphicFrameLocks noChangeAspect="1"/>
          </p:cNvGraphicFramePr>
          <p:nvPr/>
        </p:nvGraphicFramePr>
        <p:xfrm>
          <a:off x="827584" y="908720"/>
          <a:ext cx="6840760" cy="4084770"/>
        </p:xfrm>
        <a:graphic>
          <a:graphicData uri="http://schemas.openxmlformats.org/presentationml/2006/ole">
            <mc:AlternateContent xmlns:mc="http://schemas.openxmlformats.org/markup-compatibility/2006">
              <mc:Choice xmlns:v="urn:schemas-microsoft-com:vml" Requires="v">
                <p:oleObj spid="_x0000_s29707" name="Equation" r:id="rId4" imgW="3530520" imgH="2108160" progId="Equation.DSMT4">
                  <p:embed/>
                </p:oleObj>
              </mc:Choice>
              <mc:Fallback>
                <p:oleObj name="Equation" r:id="rId4" imgW="3530520" imgH="21081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908720"/>
                        <a:ext cx="6840760" cy="40847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Continuous blocks</a:t>
            </a:r>
            <a:endParaRPr lang="zh-CN" altLang="en-US" dirty="0"/>
          </a:p>
        </p:txBody>
      </p:sp>
      <p:sp>
        <p:nvSpPr>
          <p:cNvPr id="3" name="内容占位符 2"/>
          <p:cNvSpPr>
            <a:spLocks noGrp="1"/>
          </p:cNvSpPr>
          <p:nvPr>
            <p:ph idx="1"/>
          </p:nvPr>
        </p:nvSpPr>
        <p:spPr/>
        <p:txBody>
          <a:bodyPr/>
          <a:lstStyle/>
          <a:p>
            <a:r>
              <a:rPr lang="en-US" altLang="zh-CN" dirty="0" smtClean="0"/>
              <a:t>Integrator:</a:t>
            </a:r>
            <a:r>
              <a:rPr lang="zh-CN" altLang="en-US" dirty="0" smtClean="0"/>
              <a:t>只有初始条件</a:t>
            </a:r>
            <a:endParaRPr lang="en-US" altLang="zh-CN" dirty="0" smtClean="0"/>
          </a:p>
          <a:p>
            <a:endParaRPr lang="en-US" altLang="zh-CN" dirty="0" smtClean="0"/>
          </a:p>
          <a:p>
            <a:endParaRPr lang="en-US" altLang="zh-CN" dirty="0" smtClean="0"/>
          </a:p>
          <a:p>
            <a:endParaRPr lang="en-US" altLang="zh-CN" dirty="0" smtClean="0"/>
          </a:p>
          <a:p>
            <a:r>
              <a:rPr lang="en-US" altLang="zh-CN" dirty="0" smtClean="0"/>
              <a:t>Integrator Limited: </a:t>
            </a:r>
            <a:r>
              <a:rPr lang="zh-CN" altLang="en-US" dirty="0" smtClean="0"/>
              <a:t>上下界是有限制的。</a:t>
            </a:r>
            <a:r>
              <a:rPr lang="en-US" altLang="zh-CN" dirty="0" smtClean="0"/>
              <a:t> </a:t>
            </a:r>
            <a:endParaRPr lang="zh-CN" altLang="en-US" dirty="0"/>
          </a:p>
        </p:txBody>
      </p:sp>
      <p:pic>
        <p:nvPicPr>
          <p:cNvPr id="4" name="Picture 3"/>
          <p:cNvPicPr>
            <a:picLocks noChangeAspect="1" noChangeArrowheads="1"/>
          </p:cNvPicPr>
          <p:nvPr/>
        </p:nvPicPr>
        <p:blipFill>
          <a:blip r:embed="rId2" cstate="print"/>
          <a:srcRect/>
          <a:stretch>
            <a:fillRect/>
          </a:stretch>
        </p:blipFill>
        <p:spPr bwMode="auto">
          <a:xfrm>
            <a:off x="1403648" y="2636912"/>
            <a:ext cx="2181225" cy="1000125"/>
          </a:xfrm>
          <a:prstGeom prst="rect">
            <a:avLst/>
          </a:prstGeom>
          <a:noFill/>
          <a:ln w="9525">
            <a:noFill/>
            <a:miter lim="800000"/>
            <a:headEnd/>
            <a:tailEnd/>
          </a:ln>
        </p:spPr>
      </p:pic>
      <p:pic>
        <p:nvPicPr>
          <p:cNvPr id="113666" name="Picture 2"/>
          <p:cNvPicPr>
            <a:picLocks noChangeAspect="1" noChangeArrowheads="1"/>
          </p:cNvPicPr>
          <p:nvPr/>
        </p:nvPicPr>
        <p:blipFill>
          <a:blip r:embed="rId3" cstate="print"/>
          <a:srcRect/>
          <a:stretch>
            <a:fillRect/>
          </a:stretch>
        </p:blipFill>
        <p:spPr bwMode="auto">
          <a:xfrm>
            <a:off x="3923928" y="4869160"/>
            <a:ext cx="2634605" cy="1140351"/>
          </a:xfrm>
          <a:prstGeom prst="rect">
            <a:avLst/>
          </a:prstGeom>
          <a:noFill/>
          <a:ln w="9525">
            <a:noFill/>
            <a:miter lim="800000"/>
            <a:headEnd/>
            <a:tailEnd/>
          </a:ln>
        </p:spPr>
      </p:pic>
      <p:pic>
        <p:nvPicPr>
          <p:cNvPr id="113667" name="Picture 3"/>
          <p:cNvPicPr>
            <a:picLocks noChangeAspect="1" noChangeArrowheads="1"/>
          </p:cNvPicPr>
          <p:nvPr/>
        </p:nvPicPr>
        <p:blipFill>
          <a:blip r:embed="rId4" cstate="print"/>
          <a:srcRect/>
          <a:stretch>
            <a:fillRect/>
          </a:stretch>
        </p:blipFill>
        <p:spPr bwMode="auto">
          <a:xfrm>
            <a:off x="5148064" y="1700808"/>
            <a:ext cx="3030370" cy="2232248"/>
          </a:xfrm>
          <a:prstGeom prst="rect">
            <a:avLst/>
          </a:prstGeom>
          <a:noFill/>
          <a:ln w="9525">
            <a:noFill/>
            <a:miter lim="800000"/>
            <a:headEnd/>
            <a:tailEnd/>
          </a:ln>
        </p:spPr>
      </p:pic>
      <p:pic>
        <p:nvPicPr>
          <p:cNvPr id="113668" name="Picture 4"/>
          <p:cNvPicPr>
            <a:picLocks noChangeAspect="1" noChangeArrowheads="1"/>
          </p:cNvPicPr>
          <p:nvPr/>
        </p:nvPicPr>
        <p:blipFill>
          <a:blip r:embed="rId5" cstate="print"/>
          <a:srcRect/>
          <a:stretch>
            <a:fillRect/>
          </a:stretch>
        </p:blipFill>
        <p:spPr bwMode="auto">
          <a:xfrm>
            <a:off x="539552" y="4509120"/>
            <a:ext cx="3070954" cy="2232248"/>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8686800" cy="778098"/>
          </a:xfrm>
        </p:spPr>
        <p:txBody>
          <a:bodyPr>
            <a:normAutofit fontScale="90000"/>
          </a:bodyPr>
          <a:lstStyle/>
          <a:p>
            <a:r>
              <a:rPr lang="en-US" altLang="zh-CN" dirty="0" smtClean="0"/>
              <a:t>Building a Block Diagram form the Model</a:t>
            </a:r>
            <a:endParaRPr lang="zh-CN" altLang="en-US" dirty="0"/>
          </a:p>
        </p:txBody>
      </p:sp>
      <p:pic>
        <p:nvPicPr>
          <p:cNvPr id="3075" name="Picture 3"/>
          <p:cNvPicPr>
            <a:picLocks noChangeAspect="1" noChangeArrowheads="1"/>
          </p:cNvPicPr>
          <p:nvPr/>
        </p:nvPicPr>
        <p:blipFill>
          <a:blip r:embed="rId3" cstate="print"/>
          <a:srcRect/>
          <a:stretch>
            <a:fillRect/>
          </a:stretch>
        </p:blipFill>
        <p:spPr bwMode="auto">
          <a:xfrm>
            <a:off x="1187624" y="2060848"/>
            <a:ext cx="6765925" cy="4071942"/>
          </a:xfrm>
          <a:prstGeom prst="rect">
            <a:avLst/>
          </a:prstGeom>
          <a:noFill/>
          <a:ln w="9525">
            <a:noFill/>
            <a:miter lim="800000"/>
            <a:headEnd/>
            <a:tailEnd/>
          </a:ln>
          <a:effectLst/>
        </p:spPr>
      </p:pic>
      <p:graphicFrame>
        <p:nvGraphicFramePr>
          <p:cNvPr id="30722" name="Object 2"/>
          <p:cNvGraphicFramePr>
            <a:graphicFrameLocks noChangeAspect="1"/>
          </p:cNvGraphicFramePr>
          <p:nvPr/>
        </p:nvGraphicFramePr>
        <p:xfrm>
          <a:off x="683568" y="1196752"/>
          <a:ext cx="7103241" cy="792088"/>
        </p:xfrm>
        <a:graphic>
          <a:graphicData uri="http://schemas.openxmlformats.org/presentationml/2006/ole">
            <mc:AlternateContent xmlns:mc="http://schemas.openxmlformats.org/markup-compatibility/2006">
              <mc:Choice xmlns:v="urn:schemas-microsoft-com:vml" Requires="v">
                <p:oleObj spid="_x0000_s30730" name="Equation" r:id="rId4" imgW="3530520" imgH="393480" progId="Equation.DSMT4">
                  <p:embed/>
                </p:oleObj>
              </mc:Choice>
              <mc:Fallback>
                <p:oleObj name="Equation" r:id="rId4" imgW="3530520" imgH="39348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1196752"/>
                        <a:ext cx="7103241"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Defining Block Parameters</a:t>
            </a:r>
            <a:endParaRPr lang="zh-CN" altLang="en-US" dirty="0"/>
          </a:p>
        </p:txBody>
      </p:sp>
      <p:pic>
        <p:nvPicPr>
          <p:cNvPr id="4098" name="Picture 2"/>
          <p:cNvPicPr>
            <a:picLocks noChangeAspect="1" noChangeArrowheads="1"/>
          </p:cNvPicPr>
          <p:nvPr/>
        </p:nvPicPr>
        <p:blipFill>
          <a:blip r:embed="rId3" cstate="print"/>
          <a:srcRect/>
          <a:stretch>
            <a:fillRect/>
          </a:stretch>
        </p:blipFill>
        <p:spPr bwMode="auto">
          <a:xfrm>
            <a:off x="9324528" y="980728"/>
            <a:ext cx="3035300" cy="2052637"/>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cstate="print"/>
          <a:srcRect/>
          <a:stretch>
            <a:fillRect/>
          </a:stretch>
        </p:blipFill>
        <p:spPr bwMode="auto">
          <a:xfrm>
            <a:off x="1108099" y="3643314"/>
            <a:ext cx="6821487" cy="3054350"/>
          </a:xfrm>
          <a:prstGeom prst="rect">
            <a:avLst/>
          </a:prstGeom>
          <a:noFill/>
          <a:ln w="9525">
            <a:noFill/>
            <a:miter lim="800000"/>
            <a:headEnd/>
            <a:tailEnd/>
          </a:ln>
          <a:effectLst/>
        </p:spPr>
      </p:pic>
      <p:sp>
        <p:nvSpPr>
          <p:cNvPr id="3" name="文本框 2"/>
          <p:cNvSpPr txBox="1"/>
          <p:nvPr/>
        </p:nvSpPr>
        <p:spPr>
          <a:xfrm>
            <a:off x="364704" y="1417638"/>
            <a:ext cx="1903040" cy="523220"/>
          </a:xfrm>
          <a:prstGeom prst="rect">
            <a:avLst/>
          </a:prstGeom>
          <a:noFill/>
        </p:spPr>
        <p:txBody>
          <a:bodyPr wrap="square" rtlCol="0">
            <a:spAutoFit/>
          </a:bodyPr>
          <a:lstStyle/>
          <a:p>
            <a:r>
              <a:rPr lang="zh-CN" altLang="en-US" sz="2800" dirty="0" smtClean="0"/>
              <a:t>初始条件： </a:t>
            </a:r>
            <a:endParaRPr lang="zh-CN" altLang="en-US" sz="2800" dirty="0"/>
          </a:p>
        </p:txBody>
      </p:sp>
      <p:graphicFrame>
        <p:nvGraphicFramePr>
          <p:cNvPr id="4" name="对象 3"/>
          <p:cNvGraphicFramePr>
            <a:graphicFrameLocks noChangeAspect="1"/>
          </p:cNvGraphicFramePr>
          <p:nvPr>
            <p:extLst>
              <p:ext uri="{D42A27DB-BD31-4B8C-83A1-F6EECF244321}">
                <p14:modId xmlns:p14="http://schemas.microsoft.com/office/powerpoint/2010/main" val="1667159156"/>
              </p:ext>
            </p:extLst>
          </p:nvPr>
        </p:nvGraphicFramePr>
        <p:xfrm>
          <a:off x="2379663" y="1298575"/>
          <a:ext cx="3468687" cy="666750"/>
        </p:xfrm>
        <a:graphic>
          <a:graphicData uri="http://schemas.openxmlformats.org/presentationml/2006/ole">
            <mc:AlternateContent xmlns:mc="http://schemas.openxmlformats.org/markup-compatibility/2006">
              <mc:Choice xmlns:v="urn:schemas-microsoft-com:vml" Requires="v">
                <p:oleObj spid="_x0000_s31752" name="Equation" r:id="rId5" imgW="1714320" imgH="330120" progId="Equation.DSMT4">
                  <p:embed/>
                </p:oleObj>
              </mc:Choice>
              <mc:Fallback>
                <p:oleObj name="Equation" r:id="rId5" imgW="1714320" imgH="330120" progId="Equation.DSMT4">
                  <p:embed/>
                  <p:pic>
                    <p:nvPicPr>
                      <p:cNvPr id="0" name=""/>
                      <p:cNvPicPr/>
                      <p:nvPr/>
                    </p:nvPicPr>
                    <p:blipFill>
                      <a:blip r:embed="rId6"/>
                      <a:stretch>
                        <a:fillRect/>
                      </a:stretch>
                    </p:blipFill>
                    <p:spPr>
                      <a:xfrm>
                        <a:off x="2379663" y="1298575"/>
                        <a:ext cx="3468687" cy="666750"/>
                      </a:xfrm>
                      <a:prstGeom prst="rect">
                        <a:avLst/>
                      </a:prstGeom>
                    </p:spPr>
                  </p:pic>
                </p:oleObj>
              </mc:Fallback>
            </mc:AlternateContent>
          </a:graphicData>
        </a:graphic>
      </p:graphicFrame>
      <p:sp>
        <p:nvSpPr>
          <p:cNvPr id="7" name="文本框 6"/>
          <p:cNvSpPr txBox="1"/>
          <p:nvPr/>
        </p:nvSpPr>
        <p:spPr>
          <a:xfrm>
            <a:off x="364703" y="2100476"/>
            <a:ext cx="1398983" cy="523220"/>
          </a:xfrm>
          <a:prstGeom prst="rect">
            <a:avLst/>
          </a:prstGeom>
          <a:noFill/>
        </p:spPr>
        <p:txBody>
          <a:bodyPr wrap="square" rtlCol="0">
            <a:spAutoFit/>
          </a:bodyPr>
          <a:lstStyle/>
          <a:p>
            <a:r>
              <a:rPr lang="zh-CN" altLang="en-US" sz="2800" dirty="0" smtClean="0"/>
              <a:t>参  数： </a:t>
            </a:r>
            <a:endParaRPr lang="zh-CN" altLang="en-US" sz="2800" dirty="0"/>
          </a:p>
        </p:txBody>
      </p:sp>
      <p:graphicFrame>
        <p:nvGraphicFramePr>
          <p:cNvPr id="5" name="对象 4"/>
          <p:cNvGraphicFramePr>
            <a:graphicFrameLocks noChangeAspect="1"/>
          </p:cNvGraphicFramePr>
          <p:nvPr>
            <p:extLst>
              <p:ext uri="{D42A27DB-BD31-4B8C-83A1-F6EECF244321}">
                <p14:modId xmlns:p14="http://schemas.microsoft.com/office/powerpoint/2010/main" val="3693590963"/>
              </p:ext>
            </p:extLst>
          </p:nvPr>
        </p:nvGraphicFramePr>
        <p:xfrm>
          <a:off x="1763685" y="2172136"/>
          <a:ext cx="4928878" cy="1256864"/>
        </p:xfrm>
        <a:graphic>
          <a:graphicData uri="http://schemas.openxmlformats.org/presentationml/2006/ole">
            <mc:AlternateContent xmlns:mc="http://schemas.openxmlformats.org/markup-compatibility/2006">
              <mc:Choice xmlns:v="urn:schemas-microsoft-com:vml" Requires="v">
                <p:oleObj spid="_x0000_s31753" name="Equation" r:id="rId7" imgW="2539800" imgH="647640" progId="Equation.DSMT4">
                  <p:embed/>
                </p:oleObj>
              </mc:Choice>
              <mc:Fallback>
                <p:oleObj name="Equation" r:id="rId7" imgW="2539800" imgH="647640" progId="Equation.DSMT4">
                  <p:embed/>
                  <p:pic>
                    <p:nvPicPr>
                      <p:cNvPr id="0" name=""/>
                      <p:cNvPicPr/>
                      <p:nvPr/>
                    </p:nvPicPr>
                    <p:blipFill>
                      <a:blip r:embed="rId8"/>
                      <a:stretch>
                        <a:fillRect/>
                      </a:stretch>
                    </p:blipFill>
                    <p:spPr>
                      <a:xfrm>
                        <a:off x="1763685" y="2172136"/>
                        <a:ext cx="4928878" cy="1256864"/>
                      </a:xfrm>
                      <a:prstGeom prst="rect">
                        <a:avLst/>
                      </a:prstGeom>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Defining the System I/O</a:t>
            </a:r>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rot="-60000">
            <a:off x="34445" y="2176272"/>
            <a:ext cx="5010150" cy="399097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a:stretch>
            <a:fillRect/>
          </a:stretch>
        </p:blipFill>
        <p:spPr bwMode="auto">
          <a:xfrm rot="-60000">
            <a:off x="5511543" y="2721176"/>
            <a:ext cx="1408113" cy="406400"/>
          </a:xfrm>
          <a:prstGeom prst="rect">
            <a:avLst/>
          </a:prstGeom>
          <a:noFill/>
          <a:ln w="9525">
            <a:noFill/>
            <a:miter lim="800000"/>
            <a:headEnd/>
            <a:tailEnd/>
          </a:ln>
          <a:effectLst/>
        </p:spPr>
      </p:pic>
      <p:sp>
        <p:nvSpPr>
          <p:cNvPr id="5" name="矩形 4"/>
          <p:cNvSpPr/>
          <p:nvPr/>
        </p:nvSpPr>
        <p:spPr>
          <a:xfrm>
            <a:off x="107504" y="1772816"/>
            <a:ext cx="8640960" cy="461665"/>
          </a:xfrm>
          <a:prstGeom prst="rect">
            <a:avLst/>
          </a:prstGeom>
        </p:spPr>
        <p:txBody>
          <a:bodyPr wrap="square">
            <a:spAutoFit/>
          </a:bodyPr>
          <a:lstStyle/>
          <a:p>
            <a:pPr lvl="1">
              <a:buFont typeface="Arial" pitchFamily="34" charset="0"/>
              <a:buChar char="•"/>
            </a:pPr>
            <a:r>
              <a:rPr lang="en-US" altLang="zh-CN" sz="2400" b="1" dirty="0" smtClean="0">
                <a:sym typeface="Symbol"/>
              </a:rPr>
              <a:t>Simulation Configuration Parameters Data Import/Export</a:t>
            </a:r>
          </a:p>
        </p:txBody>
      </p:sp>
      <p:pic>
        <p:nvPicPr>
          <p:cNvPr id="31746" name="Picture 2"/>
          <p:cNvPicPr>
            <a:picLocks noChangeAspect="1" noChangeArrowheads="1"/>
          </p:cNvPicPr>
          <p:nvPr/>
        </p:nvPicPr>
        <p:blipFill>
          <a:blip r:embed="rId4" cstate="print"/>
          <a:srcRect/>
          <a:stretch>
            <a:fillRect/>
          </a:stretch>
        </p:blipFill>
        <p:spPr bwMode="auto">
          <a:xfrm>
            <a:off x="5292080" y="4221088"/>
            <a:ext cx="3657600" cy="619125"/>
          </a:xfrm>
          <a:prstGeom prst="rect">
            <a:avLst/>
          </a:prstGeom>
          <a:noFill/>
          <a:ln w="9525">
            <a:noFill/>
            <a:miter lim="800000"/>
            <a:headEnd/>
            <a:tailEnd/>
          </a:ln>
        </p:spPr>
      </p:pic>
      <p:cxnSp>
        <p:nvCxnSpPr>
          <p:cNvPr id="8" name="直接箭头连接符 7"/>
          <p:cNvCxnSpPr/>
          <p:nvPr/>
        </p:nvCxnSpPr>
        <p:spPr>
          <a:xfrm>
            <a:off x="6156176" y="3212976"/>
            <a:ext cx="360040" cy="8640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Modeling Physical Boundaries</a:t>
            </a:r>
            <a:br>
              <a:rPr lang="en-US" altLang="zh-CN" dirty="0" smtClean="0"/>
            </a:br>
            <a:r>
              <a:rPr lang="en-US" altLang="zh-CN" dirty="0" smtClean="0"/>
              <a:t>(Integrator, Second-Order)</a:t>
            </a:r>
            <a:endParaRPr lang="zh-CN" altLang="en-US" dirty="0"/>
          </a:p>
        </p:txBody>
      </p:sp>
      <p:sp>
        <p:nvSpPr>
          <p:cNvPr id="3" name="内容占位符 2"/>
          <p:cNvSpPr>
            <a:spLocks noGrp="1"/>
          </p:cNvSpPr>
          <p:nvPr>
            <p:ph idx="1"/>
          </p:nvPr>
        </p:nvSpPr>
        <p:spPr>
          <a:xfrm>
            <a:off x="1214414" y="1714488"/>
            <a:ext cx="3971924" cy="757229"/>
          </a:xfrm>
        </p:spPr>
        <p:txBody>
          <a:bodyPr>
            <a:normAutofit lnSpcReduction="10000"/>
          </a:bodyPr>
          <a:lstStyle/>
          <a:p>
            <a:pPr>
              <a:buNone/>
            </a:pPr>
            <a:r>
              <a:rPr lang="en-US" altLang="zh-CN" sz="2400" dirty="0" smtClean="0"/>
              <a:t>Angular velocity is zero when angle is saturated.</a:t>
            </a:r>
            <a:endParaRPr lang="zh-CN" altLang="en-US" sz="2400" dirty="0"/>
          </a:p>
        </p:txBody>
      </p:sp>
      <p:pic>
        <p:nvPicPr>
          <p:cNvPr id="7170" name="Picture 2"/>
          <p:cNvPicPr>
            <a:picLocks noChangeAspect="1" noChangeArrowheads="1"/>
          </p:cNvPicPr>
          <p:nvPr/>
        </p:nvPicPr>
        <p:blipFill>
          <a:blip r:embed="rId2" cstate="print"/>
          <a:srcRect/>
          <a:stretch>
            <a:fillRect/>
          </a:stretch>
        </p:blipFill>
        <p:spPr bwMode="auto">
          <a:xfrm rot="-120000">
            <a:off x="849798" y="2428868"/>
            <a:ext cx="7023100" cy="3790950"/>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zh-CN" smtClean="0"/>
              <a:t>Introducing Subsystems</a:t>
            </a:r>
          </a:p>
        </p:txBody>
      </p:sp>
      <p:sp>
        <p:nvSpPr>
          <p:cNvPr id="68611" name="Content Placeholder 2"/>
          <p:cNvSpPr>
            <a:spLocks noGrp="1"/>
          </p:cNvSpPr>
          <p:nvPr>
            <p:ph idx="1"/>
          </p:nvPr>
        </p:nvSpPr>
        <p:spPr/>
        <p:txBody>
          <a:bodyPr/>
          <a:lstStyle/>
          <a:p>
            <a:r>
              <a:rPr lang="en-US" altLang="zh-CN" dirty="0" smtClean="0"/>
              <a:t>Using subsystems has these advantages:</a:t>
            </a:r>
          </a:p>
          <a:p>
            <a:pPr lvl="1"/>
            <a:r>
              <a:rPr lang="en-US" altLang="zh-CN" dirty="0" smtClean="0"/>
              <a:t>It helps reduce the number of blocks displayed in you model window</a:t>
            </a:r>
          </a:p>
          <a:p>
            <a:pPr lvl="1"/>
            <a:r>
              <a:rPr lang="en-US" altLang="zh-CN" dirty="0" smtClean="0"/>
              <a:t>It allows you to keep  functionality  related blocks together</a:t>
            </a:r>
          </a:p>
          <a:p>
            <a:pPr lvl="1"/>
            <a:r>
              <a:rPr lang="en-US" altLang="zh-CN" dirty="0" smtClean="0"/>
              <a:t>It enables you to establish a hierarchical block diagram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zh-CN" smtClean="0"/>
              <a:t>Creating subsystems</a:t>
            </a:r>
          </a:p>
        </p:txBody>
      </p:sp>
      <p:sp>
        <p:nvSpPr>
          <p:cNvPr id="69635" name="Content Placeholder 2"/>
          <p:cNvSpPr>
            <a:spLocks noGrp="1"/>
          </p:cNvSpPr>
          <p:nvPr>
            <p:ph idx="1"/>
          </p:nvPr>
        </p:nvSpPr>
        <p:spPr/>
        <p:txBody>
          <a:bodyPr/>
          <a:lstStyle/>
          <a:p>
            <a:r>
              <a:rPr lang="en-US" altLang="zh-CN" smtClean="0"/>
              <a:t>Add a subsystem block to your model, open that block, and add the blocks to the subsystem window</a:t>
            </a:r>
          </a:p>
          <a:p>
            <a:r>
              <a:rPr lang="en-US" altLang="zh-CN" smtClean="0"/>
              <a:t>Select the blocks that make up the subsystem, and then select </a:t>
            </a:r>
            <a:r>
              <a:rPr lang="en-US" altLang="zh-CN" b="1" smtClean="0"/>
              <a:t>Edit→Creat subsystem</a:t>
            </a:r>
          </a:p>
          <a:p>
            <a:r>
              <a:rPr lang="en-US" altLang="zh-CN" smtClean="0"/>
              <a:t>Example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endParaRPr lang="zh-CN" altLang="zh-CN" smtClean="0"/>
          </a:p>
        </p:txBody>
      </p:sp>
      <p:sp>
        <p:nvSpPr>
          <p:cNvPr id="70659" name="Content Placeholder 2"/>
          <p:cNvSpPr>
            <a:spLocks noGrp="1"/>
          </p:cNvSpPr>
          <p:nvPr>
            <p:ph idx="1"/>
          </p:nvPr>
        </p:nvSpPr>
        <p:spPr/>
        <p:txBody>
          <a:bodyPr/>
          <a:lstStyle/>
          <a:p>
            <a:endParaRPr lang="zh-CN" altLang="zh-CN" smtClean="0"/>
          </a:p>
        </p:txBody>
      </p:sp>
      <p:pic>
        <p:nvPicPr>
          <p:cNvPr id="70660" name="Picture 2"/>
          <p:cNvPicPr>
            <a:picLocks noChangeAspect="1" noChangeArrowheads="1"/>
          </p:cNvPicPr>
          <p:nvPr/>
        </p:nvPicPr>
        <p:blipFill>
          <a:blip r:embed="rId2" cstate="print"/>
          <a:srcRect/>
          <a:stretch>
            <a:fillRect/>
          </a:stretch>
        </p:blipFill>
        <p:spPr bwMode="auto">
          <a:xfrm>
            <a:off x="1447800" y="152400"/>
            <a:ext cx="6553200" cy="648335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zh-CN" smtClean="0"/>
              <a:t>Handling cross-system gateways</a:t>
            </a:r>
          </a:p>
        </p:txBody>
      </p:sp>
      <p:sp>
        <p:nvSpPr>
          <p:cNvPr id="71683" name="Content Placeholder 2"/>
          <p:cNvSpPr>
            <a:spLocks noGrp="1"/>
          </p:cNvSpPr>
          <p:nvPr>
            <p:ph idx="1"/>
          </p:nvPr>
        </p:nvSpPr>
        <p:spPr/>
        <p:txBody>
          <a:bodyPr/>
          <a:lstStyle/>
          <a:p>
            <a:r>
              <a:rPr lang="en-US" altLang="zh-CN" smtClean="0"/>
              <a:t>After creating a subsystem, notice that inports and outports are automatically inserted and connected.</a:t>
            </a:r>
          </a:p>
          <a:p>
            <a:r>
              <a:rPr lang="en-US" altLang="zh-CN" smtClean="0"/>
              <a:t>Inport and outport are the gateways between the subsystem and its parent</a:t>
            </a:r>
          </a:p>
          <a:p>
            <a:r>
              <a:rPr lang="en-US" altLang="zh-CN" smtClean="0"/>
              <a:t>Each inport/outport is associated with an input/output port of the subsystem</a:t>
            </a:r>
          </a:p>
          <a:p>
            <a:r>
              <a:rPr lang="en-US" altLang="zh-CN" smtClean="0"/>
              <a:t>The block label is the same as the port name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normAutofit fontScale="90000"/>
          </a:bodyPr>
          <a:lstStyle/>
          <a:p>
            <a:r>
              <a:rPr lang="en-US" altLang="zh-CN" smtClean="0"/>
              <a:t>Using subsystems to create a visual hierarchy</a:t>
            </a:r>
          </a:p>
        </p:txBody>
      </p:sp>
      <p:sp>
        <p:nvSpPr>
          <p:cNvPr id="72707" name="Content Placeholder 2"/>
          <p:cNvSpPr>
            <a:spLocks noGrp="1"/>
          </p:cNvSpPr>
          <p:nvPr>
            <p:ph idx="1"/>
          </p:nvPr>
        </p:nvSpPr>
        <p:spPr/>
        <p:txBody>
          <a:bodyPr/>
          <a:lstStyle/>
          <a:p>
            <a:r>
              <a:rPr lang="en-US" altLang="zh-CN" smtClean="0"/>
              <a:t>Subsystem can been dragged and dropped into other models.</a:t>
            </a:r>
          </a:p>
          <a:p>
            <a:r>
              <a:rPr lang="en-US" altLang="zh-CN" smtClean="0"/>
              <a:t>Ways</a:t>
            </a:r>
          </a:p>
          <a:p>
            <a:pPr lvl="1"/>
            <a:r>
              <a:rPr lang="en-US" altLang="zh-CN" smtClean="0"/>
              <a:t>Open two models</a:t>
            </a:r>
          </a:p>
          <a:p>
            <a:pPr lvl="1"/>
            <a:r>
              <a:rPr lang="en-US" altLang="zh-CN" smtClean="0"/>
              <a:t>Copy the subsystem into the other model</a:t>
            </a:r>
          </a:p>
          <a:p>
            <a:pPr lvl="1"/>
            <a:r>
              <a:rPr lang="en-US" altLang="zh-CN" smtClean="0"/>
              <a:t>Simplify the diagram by making a subsystem</a:t>
            </a:r>
          </a:p>
          <a:p>
            <a:r>
              <a:rPr lang="en-US" altLang="zh-CN" smtClean="0"/>
              <a:t>example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endParaRPr lang="zh-CN" altLang="zh-CN" smtClean="0"/>
          </a:p>
        </p:txBody>
      </p:sp>
      <p:sp>
        <p:nvSpPr>
          <p:cNvPr id="73731" name="Content Placeholder 2"/>
          <p:cNvSpPr>
            <a:spLocks noGrp="1"/>
          </p:cNvSpPr>
          <p:nvPr>
            <p:ph idx="1"/>
          </p:nvPr>
        </p:nvSpPr>
        <p:spPr/>
        <p:txBody>
          <a:bodyPr/>
          <a:lstStyle/>
          <a:p>
            <a:endParaRPr lang="zh-CN" altLang="zh-CN" smtClean="0"/>
          </a:p>
        </p:txBody>
      </p:sp>
      <p:pic>
        <p:nvPicPr>
          <p:cNvPr id="73732" name="Picture 2"/>
          <p:cNvPicPr>
            <a:picLocks noChangeAspect="1" noChangeArrowheads="1"/>
          </p:cNvPicPr>
          <p:nvPr/>
        </p:nvPicPr>
        <p:blipFill>
          <a:blip r:embed="rId2" cstate="print"/>
          <a:srcRect/>
          <a:stretch>
            <a:fillRect/>
          </a:stretch>
        </p:blipFill>
        <p:spPr bwMode="auto">
          <a:xfrm>
            <a:off x="228600" y="152400"/>
            <a:ext cx="8126413" cy="1955800"/>
          </a:xfrm>
          <a:prstGeom prst="rect">
            <a:avLst/>
          </a:prstGeom>
          <a:noFill/>
          <a:ln w="9525">
            <a:noFill/>
            <a:miter lim="800000"/>
            <a:headEnd/>
            <a:tailEnd/>
          </a:ln>
        </p:spPr>
      </p:pic>
      <p:pic>
        <p:nvPicPr>
          <p:cNvPr id="73733" name="Picture 3"/>
          <p:cNvPicPr>
            <a:picLocks noChangeAspect="1" noChangeArrowheads="1"/>
          </p:cNvPicPr>
          <p:nvPr/>
        </p:nvPicPr>
        <p:blipFill>
          <a:blip r:embed="rId3" cstate="print"/>
          <a:srcRect/>
          <a:stretch>
            <a:fillRect/>
          </a:stretch>
        </p:blipFill>
        <p:spPr bwMode="auto">
          <a:xfrm>
            <a:off x="3886200" y="2133600"/>
            <a:ext cx="4991100" cy="1270000"/>
          </a:xfrm>
          <a:prstGeom prst="rect">
            <a:avLst/>
          </a:prstGeom>
          <a:noFill/>
          <a:ln w="9525">
            <a:noFill/>
            <a:miter lim="800000"/>
            <a:headEnd/>
            <a:tailEnd/>
          </a:ln>
        </p:spPr>
      </p:pic>
      <p:pic>
        <p:nvPicPr>
          <p:cNvPr id="73734" name="Picture 4"/>
          <p:cNvPicPr>
            <a:picLocks noChangeAspect="1" noChangeArrowheads="1"/>
          </p:cNvPicPr>
          <p:nvPr/>
        </p:nvPicPr>
        <p:blipFill>
          <a:blip r:embed="rId4" cstate="print"/>
          <a:srcRect/>
          <a:stretch>
            <a:fillRect/>
          </a:stretch>
        </p:blipFill>
        <p:spPr bwMode="auto">
          <a:xfrm>
            <a:off x="304800" y="4343400"/>
            <a:ext cx="7820025" cy="2238375"/>
          </a:xfrm>
          <a:prstGeom prst="rect">
            <a:avLst/>
          </a:prstGeom>
          <a:noFill/>
          <a:ln w="9525">
            <a:noFill/>
            <a:miter lim="800000"/>
            <a:headEnd/>
            <a:tailEnd/>
          </a:ln>
        </p:spPr>
      </p:pic>
      <p:cxnSp>
        <p:nvCxnSpPr>
          <p:cNvPr id="8" name="Straight Connector 7"/>
          <p:cNvCxnSpPr/>
          <p:nvPr/>
        </p:nvCxnSpPr>
        <p:spPr>
          <a:xfrm rot="10800000" flipV="1">
            <a:off x="4038600" y="1600200"/>
            <a:ext cx="12192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781800" y="1600200"/>
            <a:ext cx="20574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114300" y="2095500"/>
            <a:ext cx="2438400" cy="2057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886200" y="1828800"/>
            <a:ext cx="4419600" cy="25146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04800" y="4343400"/>
            <a:ext cx="8001000" cy="2209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cs typeface="Arial" charset="0"/>
            </a:endParaRPr>
          </a:p>
        </p:txBody>
      </p:sp>
      <p:sp>
        <p:nvSpPr>
          <p:cNvPr id="19" name="Rectangle 18"/>
          <p:cNvSpPr/>
          <p:nvPr/>
        </p:nvSpPr>
        <p:spPr>
          <a:xfrm>
            <a:off x="3962400" y="2286000"/>
            <a:ext cx="48768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cs typeface="Arial"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Summary </a:t>
            </a:r>
            <a:endParaRPr lang="zh-CN" altLang="en-US" dirty="0"/>
          </a:p>
        </p:txBody>
      </p:sp>
      <p:sp>
        <p:nvSpPr>
          <p:cNvPr id="3" name="内容占位符 2"/>
          <p:cNvSpPr>
            <a:spLocks noGrp="1"/>
          </p:cNvSpPr>
          <p:nvPr>
            <p:ph idx="1"/>
          </p:nvPr>
        </p:nvSpPr>
        <p:spPr/>
        <p:txBody>
          <a:bodyPr/>
          <a:lstStyle/>
          <a:p>
            <a:r>
              <a:rPr lang="en-US" altLang="zh-CN" dirty="0" smtClean="0"/>
              <a:t>Build a continuous system</a:t>
            </a:r>
          </a:p>
          <a:p>
            <a:r>
              <a:rPr lang="en-US" altLang="zh-CN" dirty="0" smtClean="0"/>
              <a:t>Build a discrete system</a:t>
            </a:r>
          </a:p>
          <a:p>
            <a:r>
              <a:rPr lang="en-US" altLang="zh-CN" smtClean="0"/>
              <a:t>Build subsystem</a:t>
            </a:r>
            <a:endParaRPr lang="en-US" altLang="zh-CN" dirty="0" smtClean="0"/>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2617</TotalTime>
  <Words>2307</Words>
  <Application>Microsoft Office PowerPoint</Application>
  <PresentationFormat>全屏显示(4:3)</PresentationFormat>
  <Paragraphs>274</Paragraphs>
  <Slides>80</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88" baseType="lpstr">
      <vt:lpstr>宋体</vt:lpstr>
      <vt:lpstr>Arial</vt:lpstr>
      <vt:lpstr>Calibri</vt:lpstr>
      <vt:lpstr>Symbol</vt:lpstr>
      <vt:lpstr>Times New Roman</vt:lpstr>
      <vt:lpstr>Office 主题</vt:lpstr>
      <vt:lpstr>Equation</vt:lpstr>
      <vt:lpstr>MathType 6.0 Equation</vt:lpstr>
      <vt:lpstr>Introduction to System Modeling using Simulink</vt:lpstr>
      <vt:lpstr>Simulink介绍</vt:lpstr>
      <vt:lpstr>Simulink模块库</vt:lpstr>
      <vt:lpstr>仿真模型的构成</vt:lpstr>
      <vt:lpstr>基本特点</vt:lpstr>
      <vt:lpstr>建立仿真的基本过程</vt:lpstr>
      <vt:lpstr>模块库简介—Commonly Used blocks</vt:lpstr>
      <vt:lpstr>模块库简介—Continuous</vt:lpstr>
      <vt:lpstr>模块库简介—Discontinues</vt:lpstr>
      <vt:lpstr>模块库简介--Discrete</vt:lpstr>
      <vt:lpstr>模块库简介—Logic and Bit Operation</vt:lpstr>
      <vt:lpstr>模块库简介—Lookup Tables</vt:lpstr>
      <vt:lpstr>模块库简介—Math Operations</vt:lpstr>
      <vt:lpstr>模块库简介—Sources</vt:lpstr>
      <vt:lpstr>模块库简介—Sinks</vt:lpstr>
      <vt:lpstr>Overview of a General Dynamic System</vt:lpstr>
      <vt:lpstr>Electronic Throttle Control (电子油门控制系统)</vt:lpstr>
      <vt:lpstr>PowerPoint 演示文稿</vt:lpstr>
      <vt:lpstr>Layout</vt:lpstr>
      <vt:lpstr>Modeling Sensor</vt:lpstr>
      <vt:lpstr>Defining the System and Identifying Its Components</vt:lpstr>
      <vt:lpstr>Modeling the System with Equations</vt:lpstr>
      <vt:lpstr>Starting Simulink</vt:lpstr>
      <vt:lpstr>Using the Simulink Library Browser</vt:lpstr>
      <vt:lpstr>Building a Block Diagram for the Model</vt:lpstr>
      <vt:lpstr>Adding Blocks</vt:lpstr>
      <vt:lpstr>blocks</vt:lpstr>
      <vt:lpstr>Connecting Blocks</vt:lpstr>
      <vt:lpstr>Defining the Block Parameters</vt:lpstr>
      <vt:lpstr>Defining the Lookup Table Parameters</vt:lpstr>
      <vt:lpstr>Defining the parameter Values Using MATLAB®</vt:lpstr>
      <vt:lpstr>Labeling Blocks and Signals</vt:lpstr>
      <vt:lpstr>Defining the System Output</vt:lpstr>
      <vt:lpstr>Defining the System Output</vt:lpstr>
      <vt:lpstr>Simulating the Model and visualizing the Response</vt:lpstr>
      <vt:lpstr>Adding Signal Viewers</vt:lpstr>
      <vt:lpstr>Modifying the Viewer Parameters</vt:lpstr>
      <vt:lpstr>Controlling the Vertical Limits of the Viewer</vt:lpstr>
      <vt:lpstr>Data from file</vt:lpstr>
      <vt:lpstr>Overview of Simulink® Solver</vt:lpstr>
      <vt:lpstr>Modeling PWM conversion system</vt:lpstr>
      <vt:lpstr>Approaches to Modeling Programming Constructs</vt:lpstr>
      <vt:lpstr>Modeling Comparisons</vt:lpstr>
      <vt:lpstr>Modeling Decision Statements</vt:lpstr>
      <vt:lpstr>Modeling Decision Statements</vt:lpstr>
      <vt:lpstr>Extracting and Combining Data Using Vectors</vt:lpstr>
      <vt:lpstr>Defining the System and Identifying Its Components</vt:lpstr>
      <vt:lpstr>Modeling the System with Equations</vt:lpstr>
      <vt:lpstr>blocks</vt:lpstr>
      <vt:lpstr>Building a Block Diagram for the Model</vt:lpstr>
      <vt:lpstr>Zero Crossing Detection</vt:lpstr>
      <vt:lpstr>Modeling Logic with Embedded MATLAB® Function Blocks</vt:lpstr>
      <vt:lpstr>Understanding the Embedded MATLAB® Function Block</vt:lpstr>
      <vt:lpstr>PI controller system modeling</vt:lpstr>
      <vt:lpstr>Defining the System</vt:lpstr>
      <vt:lpstr>Defining Discrete System Characteristics</vt:lpstr>
      <vt:lpstr>Modeling Difference Equations</vt:lpstr>
      <vt:lpstr>Modeling Difference Equations (Continued)</vt:lpstr>
      <vt:lpstr>Modeling the System with Equations</vt:lpstr>
      <vt:lpstr>Building a Block Diagram Model of the System</vt:lpstr>
      <vt:lpstr>Modeling Throttle system</vt:lpstr>
      <vt:lpstr>Defining the System</vt:lpstr>
      <vt:lpstr>Defining Continuous-State System Characteristics</vt:lpstr>
      <vt:lpstr>Difference equation(差分方程)</vt:lpstr>
      <vt:lpstr>Difference equation(差分方程)</vt:lpstr>
      <vt:lpstr>Modeling Differential Equations</vt:lpstr>
      <vt:lpstr>Identifying the System Components</vt:lpstr>
      <vt:lpstr>Modeling the System with Equations</vt:lpstr>
      <vt:lpstr>Continuous blocks</vt:lpstr>
      <vt:lpstr>Building a Block Diagram form the Model</vt:lpstr>
      <vt:lpstr>Defining Block Parameters</vt:lpstr>
      <vt:lpstr>Defining the System I/O</vt:lpstr>
      <vt:lpstr>Modeling Physical Boundaries (Integrator, Second-Order)</vt:lpstr>
      <vt:lpstr>Introducing Subsystems</vt:lpstr>
      <vt:lpstr>Creating subsystems</vt:lpstr>
      <vt:lpstr>PowerPoint 演示文稿</vt:lpstr>
      <vt:lpstr>Handling cross-system gateways</vt:lpstr>
      <vt:lpstr>Using subsystems to create a visual hierarchy</vt:lpstr>
      <vt:lpstr>PowerPoint 演示文稿</vt:lpstr>
      <vt:lpstr>Summary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Modeling</dc:title>
  <dc:creator>jguo</dc:creator>
  <cp:lastModifiedBy>cjz</cp:lastModifiedBy>
  <cp:revision>227</cp:revision>
  <dcterms:modified xsi:type="dcterms:W3CDTF">2014-05-22T08:48:29Z</dcterms:modified>
</cp:coreProperties>
</file>